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  <Relationship Id="rId16"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future of iPhone. Today we're introducing iPhone 16 Pro and iPhone 16 Pro Max — built from the ground up for Apple Intelligence. These are the most powerful, most capable iPhones we've ever made. Let's dive in.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heart of iPhone 16 Pro is Apple Intelligence — a personal intelligence system that transforms how you work, communicate, and create. Powered by the A18 Pro's 16-core Neural Engine delivering 35 trillion operations per second. Everything runs on-device by default — your data is private, never stored, never shared. From Writing Tools to the completely reimagined Siri, Genmoji to ChatGPT integration — this is intelligence designed for everyone, built with privacy at its core.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A18 Pro is a generational leap. Second-generation 3-nanometer technology. 15% faster CPU, 20% faster GPU with hardware-accelerated ray tracing, and a 16-core Neural Engine. And it's 20% more energy efficient than A17 Pro. USB 3 speeds up to 10 gigabits per second. A new thermal architecture with recycled aluminum delivers 20% better sustained performance. This is desktop-class silicon in your pocket.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largest iPhone displays we've ever made. iPhone 16 Pro at 6.3 inches, iPhone 16 Pro Max at 6.9 inches — with the thinnest bezels on any Apple product thanks to Border Reduction Structure technology. 2000 nits peak brightness outdoors, Ceramic Shield that's twice as tough as any smartphone glass. ProMotion, Always-On, Dynamic Island — every display technology we've pioneered, now bigger and better.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Camera Control. A dedicated tactile button with sapphire crystal, capacitive touch, and haptic feedback. Click to launch — even from lock screen. Light press locks focus and exposure, just like a DSLR. Slide to adjust zoom or depth of field. And coming later this year: Visual Intelligence — point your camera at anything and get contextual information instantly. We're also opening this to developers — Halide, Snapchat, Instagram are already building for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time, both Pro models get the exact same pro camera system. 48-megapixel Fusion camera, new 48-megapixel Ultra Wide with autofocus, and the 5x Telephoto at 120 millimeters — now on both iPhone 16 Pro and iPhone 16 Pro Max. No feature gating. 4K120 Dolby Vision — an iPhone first — with playback speed control you can adjust after capture. ProRes, Log encoding, ACES. Spatial photo and video capture for Apple Vision Pro. This is the most powerful camera system we've ever built.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iPhone 16 Pro Max delivers up to 33 hours of video playback — the best battery life ever on an iPhone. iPhone 16 Pro at 27 hours. That's a 17% improvement over the previous generation. Larger physical batteries enabled by the bigger chassis, plus A18 Pro's efficiency gains. MagSafe at 25 watts, USB-C fast charging — 50% in about 30 minutes. All-day battery life that professionals can truly rely 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5 Titanium — the same alloy used in aerospace. Four stunning finishes including the new Desert Titanium. Ceramic Shield, IP68, matte glass back — built to last. And we're serious about the environment: 100% recycled rare earths, 100% recycled cobalt in the battery, 100% recycled aluminum in the thermal structure. Fiber-based packaging. And we're on track to be carbon neutral across our entire product lifecycle by 2030.</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iPhone 16 Pro starts at $999. iPhone 16 Pro Max starts at $1,199. Pre-orders begin Friday, September 13th, with availability on September 20th in about 60 countries. Apple Trade In offers up to $650 toward your new iPhone. Apple Card Monthly Installments at 0% APR. Carrier partners are offering up to $1,000 off with eligible trade-in. Pre-order now at apple.com — and experience the most powerful iPhone ever.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B0D"/>
          </a:solidFill>
          <a:ln>
            <a:noFill/>
          </a:ln>
        </p:spPr>
      </p:sp>
      <p:sp>
        <p:nvSpPr>
          <p:cNvPr id="3" name="Rectangle 3"/>
          <p:cNvSpPr/>
          <p:nvPr/>
        </p:nvSpPr>
        <p:spPr>
          <a:xfrm>
            <a:off x="0" y="0"/>
            <a:ext cx="12192000" cy="6858000"/>
          </a:xfrm>
          <a:prstGeom prst="rect">
            <a:avLst/>
          </a:prstGeom>
          <a:gradFill>
            <a:gsLst>
              <a:gs pos="0">
                <a:srgbClr val="4DA6FF">
                  <a:alpha val="10000"/>
                </a:srgbClr>
              </a:gs>
              <a:gs pos="50000">
                <a:srgbClr val="D4A853">
                  <a:alpha val="4000"/>
                </a:srgbClr>
              </a:gs>
              <a:gs pos="100000">
                <a:srgbClr val="0B0B0D">
                  <a:alpha val="0"/>
                </a:srgbClr>
              </a:gs>
            </a:gsLst>
            <a:path path="circle">
              <a:fillToRect l="50000" t="50000" r="50000" b="50000"/>
            </a:path>
          </a:gradFill>
          <a:ln>
            <a:noFill/>
          </a:ln>
        </p:spPr>
      </p:sp>
      <p:sp>
        <p:nvSpPr>
          <p:cNvPr id="4" name="Rectangle 4"/>
          <p:cNvSpPr/>
          <p:nvPr/>
        </p:nvSpPr>
        <p:spPr>
          <a:xfrm>
            <a:off x="0" y="0"/>
            <a:ext cx="12192000" cy="6858000"/>
          </a:xfrm>
          <a:prstGeom prst="rect">
            <a:avLst/>
          </a:prstGeom>
          <a:gradFill>
            <a:gsLst>
              <a:gs pos="0">
                <a:srgbClr val="A78BFA">
                  <a:alpha val="8000"/>
                </a:srgbClr>
              </a:gs>
              <a:gs pos="100000">
                <a:srgbClr val="0B0B0D">
                  <a:alpha val="0"/>
                </a:srgbClr>
              </a:gs>
            </a:gsLst>
            <a:path path="circle">
              <a:fillToRect l="50000" t="50000" r="50000" b="50000"/>
            </a:path>
          </a:gradFill>
          <a:ln>
            <a:noFill/>
          </a:ln>
        </p:spPr>
      </p:sp>
      <p:sp>
        <p:nvSpPr>
          <p:cNvPr id="5" name="Line 5"/>
          <p:cNvSpPr/>
          <p:nvPr/>
        </p:nvSpPr>
        <p:spPr>
          <a:xfrm>
            <a:off x="952500" y="2095500"/>
            <a:ext cx="1333500" cy="9525"/>
          </a:xfrm>
          <a:custGeom>
            <a:avLst/>
            <a:gdLst/>
            <a:ahLst/>
            <a:cxnLst/>
            <a:rect l="l" t="t" r="r" b="b"/>
            <a:pathLst>
              <a:path w="1333500" h="9525">
                <a:moveTo>
                  <a:pt x="0" y="0"/>
                </a:moveTo>
                <a:lnTo>
                  <a:pt x="1333500" y="0"/>
                </a:lnTo>
              </a:path>
            </a:pathLst>
          </a:custGeom>
          <a:noFill/>
          <a:ln w="9525">
            <a:solidFill>
              <a:srgbClr val="D4A853">
                <a:alpha val="30000"/>
              </a:srgbClr>
            </a:solidFill>
          </a:ln>
        </p:spPr>
      </p:sp>
      <p:sp>
        <p:nvSpPr>
          <p:cNvPr id="6" name="Line 6"/>
          <p:cNvSpPr/>
          <p:nvPr/>
        </p:nvSpPr>
        <p:spPr>
          <a:xfrm>
            <a:off x="952500" y="5334000"/>
            <a:ext cx="10287000" cy="9525"/>
          </a:xfrm>
          <a:custGeom>
            <a:avLst/>
            <a:gdLst/>
            <a:ahLst/>
            <a:cxnLst/>
            <a:rect l="l" t="t" r="r" b="b"/>
            <a:pathLst>
              <a:path w="10287000" h="9525">
                <a:moveTo>
                  <a:pt x="0" y="0"/>
                </a:moveTo>
                <a:lnTo>
                  <a:pt x="10287000" y="0"/>
                </a:lnTo>
              </a:path>
            </a:pathLst>
          </a:custGeom>
          <a:noFill/>
          <a:ln w="9525">
            <a:solidFill>
              <a:srgbClr val="2C2C32"/>
            </a:solidFill>
          </a:ln>
        </p:spPr>
      </p:sp>
      <p:sp>
        <p:nvSpPr>
          <p:cNvPr id="7" name="TextBox 7"/>
          <p:cNvSpPr txBox="1"/>
          <p:nvPr/>
        </p:nvSpPr>
        <p:spPr>
          <a:xfrm>
            <a:off x="935355" y="1568768"/>
            <a:ext cx="3049067" cy="274320"/>
          </a:xfrm>
          <a:prstGeom prst="rect">
            <a:avLst/>
          </a:prstGeom>
          <a:noFill/>
          <a:ln>
            <a:noFill/>
          </a:ln>
        </p:spPr>
        <p:txBody>
          <a:bodyPr wrap="none" lIns="0" tIns="0" rIns="0" bIns="0" anchor="t" anchorCtr="0">
            <a:spAutoFit/>
          </a:bodyPr>
          <a:lstStyle/>
          <a:p>
            <a:pPr algn="l"/>
            <a:r>
              <a:rPr lang="en-US" sz="1350" spc="450" dirty="0">
                <a:solidFill>
                  <a:srgbClr val="98989E"/>
                </a:solidFill>
                <a:latin typeface="Segoe UI"/>
                <a:ea typeface="Segoe UI"/>
                <a:cs typeface="Segoe UI"/>
              </a:rPr>
              <a:t>APPLE SPECIAL EVENT</a:t>
            </a:r>
          </a:p>
        </p:txBody>
      </p:sp>
      <p:sp>
        <p:nvSpPr>
          <p:cNvPr id="8" name="TextBox 8"/>
          <p:cNvSpPr txBox="1"/>
          <p:nvPr/>
        </p:nvSpPr>
        <p:spPr>
          <a:xfrm>
            <a:off x="872490" y="2272665"/>
            <a:ext cx="6053877" cy="1280160"/>
          </a:xfrm>
          <a:prstGeom prst="rect">
            <a:avLst/>
          </a:prstGeom>
          <a:noFill/>
          <a:ln>
            <a:noFill/>
          </a:ln>
        </p:spPr>
        <p:txBody>
          <a:bodyPr wrap="none" lIns="0" tIns="0" rIns="0" bIns="0" anchor="t" anchorCtr="0">
            <a:spAutoFit/>
          </a:bodyPr>
          <a:lstStyle/>
          <a:p>
            <a:pPr algn="l"/>
            <a:r>
              <a:rPr lang="en-US" sz="6300" b="1" spc="-75" dirty="0">
                <a:gradFill>
                  <a:gsLst>
                    <a:gs pos="0">
                      <a:srgbClr val="D4A853"/>
                    </a:gs>
                    <a:gs pos="50000">
                      <a:srgbClr val="F5C973"/>
                    </a:gs>
                    <a:gs pos="100000">
                      <a:srgbClr val="D4A853"/>
                    </a:gs>
                  </a:gsLst>
                  <a:lin ang="0" scaled="1"/>
                </a:gradFill>
                <a:latin typeface="Segoe UI"/>
                <a:ea typeface="Segoe UI"/>
                <a:cs typeface="Segoe UI"/>
              </a:rPr>
              <a:t>iPhone 16 Pro</a:t>
            </a:r>
          </a:p>
        </p:txBody>
      </p:sp>
      <p:sp>
        <p:nvSpPr>
          <p:cNvPr id="9" name="TextBox 9"/>
          <p:cNvSpPr txBox="1"/>
          <p:nvPr/>
        </p:nvSpPr>
        <p:spPr>
          <a:xfrm>
            <a:off x="922020" y="3265170"/>
            <a:ext cx="3538728" cy="487680"/>
          </a:xfrm>
          <a:prstGeom prst="rect">
            <a:avLst/>
          </a:prstGeom>
          <a:noFill/>
          <a:ln>
            <a:noFill/>
          </a:ln>
        </p:spPr>
        <p:txBody>
          <a:bodyPr wrap="none" lIns="0" tIns="0" rIns="0" bIns="0" anchor="t" anchorCtr="0">
            <a:spAutoFit/>
          </a:bodyPr>
          <a:lstStyle/>
          <a:p>
            <a:pPr algn="l"/>
            <a:r>
              <a:rPr lang="en-US" sz="2400" spc="-38" dirty="0">
                <a:solidFill>
                  <a:srgbClr val="EDEDF0"/>
                </a:solidFill>
                <a:latin typeface="Segoe UI"/>
                <a:ea typeface="Segoe UI"/>
                <a:cs typeface="Segoe UI"/>
              </a:rPr>
              <a:t>and iPhone 16 Pro Max</a:t>
            </a:r>
          </a:p>
        </p:txBody>
      </p:sp>
      <p:sp>
        <p:nvSpPr>
          <p:cNvPr id="10" name="TextBox 10"/>
          <p:cNvSpPr txBox="1"/>
          <p:nvPr/>
        </p:nvSpPr>
        <p:spPr>
          <a:xfrm>
            <a:off x="925830" y="4011930"/>
            <a:ext cx="4220261" cy="426720"/>
          </a:xfrm>
          <a:prstGeom prst="rect">
            <a:avLst/>
          </a:prstGeom>
          <a:noFill/>
          <a:ln>
            <a:noFill/>
          </a:ln>
        </p:spPr>
        <p:txBody>
          <a:bodyPr wrap="none" lIns="0" tIns="0" rIns="0" bIns="0" anchor="t" anchorCtr="0">
            <a:spAutoFit/>
          </a:bodyPr>
          <a:lstStyle/>
          <a:p>
            <a:pPr algn="l"/>
            <a:r>
              <a:rPr lang="en-US" sz="2100" spc="38" dirty="0">
                <a:solidFill>
                  <a:srgbClr val="4DA6FF"/>
                </a:solidFill>
                <a:latin typeface="Segoe UI"/>
                <a:ea typeface="Segoe UI"/>
                <a:cs typeface="Segoe UI"/>
              </a:rPr>
              <a:t>Built for Apple Intelligence.</a:t>
            </a:r>
          </a:p>
        </p:txBody>
      </p:sp>
      <p:sp>
        <p:nvSpPr>
          <p:cNvPr id="11" name="TextBox 11"/>
          <p:cNvSpPr txBox="1"/>
          <p:nvPr/>
        </p:nvSpPr>
        <p:spPr>
          <a:xfrm>
            <a:off x="933450" y="4505325"/>
            <a:ext cx="4849368" cy="304800"/>
          </a:xfrm>
          <a:prstGeom prst="rect">
            <a:avLst/>
          </a:prstGeom>
          <a:noFill/>
          <a:ln>
            <a:noFill/>
          </a:ln>
        </p:spPr>
        <p:txBody>
          <a:bodyPr wrap="none" lIns="0" tIns="0" rIns="0" bIns="0" anchor="t" anchorCtr="0">
            <a:spAutoFit/>
          </a:bodyPr>
          <a:lstStyle/>
          <a:p>
            <a:pPr algn="l"/>
            <a:r>
              <a:rPr lang="en-US" sz="1500" dirty="0">
                <a:solidFill>
                  <a:srgbClr val="98989E"/>
                </a:solidFill>
                <a:latin typeface="Segoe UI"/>
                <a:ea typeface="Segoe UI"/>
                <a:cs typeface="Segoe UI"/>
              </a:rPr>
              <a:t>The most powerful, most capable iPhone ever.</a:t>
            </a:r>
          </a:p>
        </p:txBody>
      </p:sp>
      <p:sp>
        <p:nvSpPr>
          <p:cNvPr id="12" name="TextBox 12"/>
          <p:cNvSpPr txBox="1"/>
          <p:nvPr/>
        </p:nvSpPr>
        <p:spPr>
          <a:xfrm>
            <a:off x="937260" y="6442710"/>
            <a:ext cx="5159654" cy="243840"/>
          </a:xfrm>
          <a:prstGeom prst="rect">
            <a:avLst/>
          </a:prstGeom>
          <a:noFill/>
          <a:ln>
            <a:noFill/>
          </a:ln>
        </p:spPr>
        <p:txBody>
          <a:bodyPr wrap="none" lIns="0" tIns="0" rIns="0" bIns="0" anchor="t" anchorCtr="0">
            <a:spAutoFit/>
          </a:bodyPr>
          <a:lstStyle/>
          <a:p>
            <a:pPr algn="l"/>
            <a:r>
              <a:rPr lang="en-US" sz="1200" dirty="0">
                <a:solidFill>
                  <a:srgbClr val="6B6B72"/>
                </a:solidFill>
                <a:latin typeface="Segoe UI"/>
                <a:ea typeface="Segoe UI"/>
                <a:cs typeface="Segoe UI"/>
              </a:rPr>
              <a:t>Pre-order September 13 · Available September 20 · From $999</a:t>
            </a:r>
          </a:p>
        </p:txBody>
      </p:sp>
      <p:sp>
        <p:nvSpPr>
          <p:cNvPr id="13" name="Ellipse 13"/>
          <p:cNvSpPr/>
          <p:nvPr/>
        </p:nvSpPr>
        <p:spPr>
          <a:xfrm>
            <a:off x="10163175" y="1876425"/>
            <a:ext cx="57150" cy="57150"/>
          </a:xfrm>
          <a:prstGeom prst="ellipse">
            <a:avLst/>
          </a:prstGeom>
          <a:solidFill>
            <a:srgbClr val="4DA6FF">
              <a:alpha val="60000"/>
            </a:srgbClr>
          </a:solidFill>
          <a:ln>
            <a:noFill/>
          </a:ln>
        </p:spPr>
      </p:sp>
      <p:sp>
        <p:nvSpPr>
          <p:cNvPr id="14" name="Ellipse 14"/>
          <p:cNvSpPr/>
          <p:nvPr/>
        </p:nvSpPr>
        <p:spPr>
          <a:xfrm>
            <a:off x="10353675" y="1876425"/>
            <a:ext cx="57150" cy="57150"/>
          </a:xfrm>
          <a:prstGeom prst="ellipse">
            <a:avLst/>
          </a:prstGeom>
          <a:solidFill>
            <a:srgbClr val="A78BFA">
              <a:alpha val="40000"/>
            </a:srgbClr>
          </a:solidFill>
          <a:ln>
            <a:noFill/>
          </a:ln>
        </p:spPr>
      </p:sp>
      <p:sp>
        <p:nvSpPr>
          <p:cNvPr id="15" name="Ellipse 15"/>
          <p:cNvSpPr/>
          <p:nvPr/>
        </p:nvSpPr>
        <p:spPr>
          <a:xfrm>
            <a:off x="10544175" y="1876425"/>
            <a:ext cx="57150" cy="57150"/>
          </a:xfrm>
          <a:prstGeom prst="ellipse">
            <a:avLst/>
          </a:prstGeom>
          <a:solidFill>
            <a:srgbClr val="D4A853">
              <a:alpha val="50000"/>
            </a:srgbClr>
          </a:solidFill>
          <a:ln>
            <a:noFill/>
          </a:ln>
        </p:spPr>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B0D"/>
          </a:solidFill>
          <a:ln>
            <a:noFill/>
          </a:ln>
        </p:spPr>
      </p:sp>
      <p:sp>
        <p:nvSpPr>
          <p:cNvPr id="3" name="Rectangle 3"/>
          <p:cNvSpPr/>
          <p:nvPr/>
        </p:nvSpPr>
        <p:spPr>
          <a:xfrm>
            <a:off x="0" y="0"/>
            <a:ext cx="12192000" cy="6858000"/>
          </a:xfrm>
          <a:prstGeom prst="rect">
            <a:avLst/>
          </a:prstGeom>
          <a:gradFill>
            <a:gsLst>
              <a:gs pos="0">
                <a:srgbClr val="A78BFA">
                  <a:alpha val="8000"/>
                </a:srgbClr>
              </a:gs>
              <a:gs pos="100000">
                <a:srgbClr val="0B0B0D">
                  <a:alpha val="0"/>
                </a:srgbClr>
              </a:gs>
            </a:gsLst>
            <a:path path="circle">
              <a:fillToRect l="50000" t="50000" r="50000" b="50000"/>
            </a:path>
          </a:gradFill>
          <a:ln>
            <a:noFill/>
          </a:ln>
        </p:spPr>
      </p:sp>
      <p:sp>
        <p:nvSpPr>
          <p:cNvPr id="4" name="Line 4"/>
          <p:cNvSpPr/>
          <p:nvPr/>
        </p:nvSpPr>
        <p:spPr>
          <a:xfrm>
            <a:off x="609600" y="762000"/>
            <a:ext cx="1295400" cy="9525"/>
          </a:xfrm>
          <a:custGeom>
            <a:avLst/>
            <a:gdLst/>
            <a:ahLst/>
            <a:cxnLst/>
            <a:rect l="l" t="t" r="r" b="b"/>
            <a:pathLst>
              <a:path w="1295400" h="9525">
                <a:moveTo>
                  <a:pt x="0" y="0"/>
                </a:moveTo>
                <a:lnTo>
                  <a:pt x="1295400" y="0"/>
                </a:lnTo>
              </a:path>
            </a:pathLst>
          </a:custGeom>
          <a:noFill/>
          <a:ln w="19050">
            <a:solidFill>
              <a:srgbClr val="D4A853">
                <a:alpha val="50000"/>
              </a:srgbClr>
            </a:solidFill>
          </a:ln>
        </p:spPr>
      </p:sp>
      <p:sp>
        <p:nvSpPr>
          <p:cNvPr id="5" name="TextBox 5"/>
          <p:cNvSpPr txBox="1"/>
          <p:nvPr/>
        </p:nvSpPr>
        <p:spPr>
          <a:xfrm>
            <a:off x="594360" y="556260"/>
            <a:ext cx="2499055" cy="243840"/>
          </a:xfrm>
          <a:prstGeom prst="rect">
            <a:avLst/>
          </a:prstGeom>
          <a:noFill/>
          <a:ln>
            <a:noFill/>
          </a:ln>
        </p:spPr>
        <p:txBody>
          <a:bodyPr wrap="none" lIns="0" tIns="0" rIns="0" bIns="0" anchor="t" anchorCtr="0">
            <a:spAutoFit/>
          </a:bodyPr>
          <a:lstStyle/>
          <a:p>
            <a:pPr algn="l"/>
            <a:r>
              <a:rPr lang="en-US" sz="1200" spc="375" dirty="0">
                <a:solidFill>
                  <a:srgbClr val="98989E"/>
                </a:solidFill>
                <a:latin typeface="Segoe UI"/>
                <a:ea typeface="Segoe UI"/>
                <a:cs typeface="Segoe UI"/>
              </a:rPr>
              <a:t>APPLE INTELLIGENCE</a:t>
            </a:r>
          </a:p>
        </p:txBody>
      </p:sp>
      <p:sp>
        <p:nvSpPr>
          <p:cNvPr id="6" name="TextBox 6"/>
          <p:cNvSpPr txBox="1"/>
          <p:nvPr/>
        </p:nvSpPr>
        <p:spPr>
          <a:xfrm>
            <a:off x="569595" y="993458"/>
            <a:ext cx="5066873" cy="640080"/>
          </a:xfrm>
          <a:prstGeom prst="rect">
            <a:avLst/>
          </a:prstGeom>
          <a:noFill/>
          <a:ln>
            <a:noFill/>
          </a:ln>
        </p:spPr>
        <p:txBody>
          <a:bodyPr wrap="none" lIns="0" tIns="0" rIns="0" bIns="0" anchor="t" anchorCtr="0">
            <a:spAutoFit/>
          </a:bodyPr>
          <a:lstStyle/>
          <a:p>
            <a:pPr algn="l"/>
            <a:r>
              <a:rPr lang="en-US" sz="3150" b="1" dirty="0">
                <a:solidFill>
                  <a:srgbClr val="EDEDF0"/>
                </a:solidFill>
                <a:latin typeface="Segoe UI"/>
                <a:ea typeface="Segoe UI"/>
                <a:cs typeface="Segoe UI"/>
              </a:rPr>
              <a:t>Personal intelligence,</a:t>
            </a:r>
          </a:p>
        </p:txBody>
      </p:sp>
      <p:sp>
        <p:nvSpPr>
          <p:cNvPr id="7" name="TextBox 7"/>
          <p:cNvSpPr txBox="1"/>
          <p:nvPr/>
        </p:nvSpPr>
        <p:spPr>
          <a:xfrm>
            <a:off x="569595" y="1488758"/>
            <a:ext cx="4737552" cy="640080"/>
          </a:xfrm>
          <a:prstGeom prst="rect">
            <a:avLst/>
          </a:prstGeom>
          <a:noFill/>
          <a:ln>
            <a:noFill/>
          </a:ln>
        </p:spPr>
        <p:txBody>
          <a:bodyPr wrap="none" lIns="0" tIns="0" rIns="0" bIns="0" anchor="t" anchorCtr="0">
            <a:spAutoFit/>
          </a:bodyPr>
          <a:lstStyle/>
          <a:p>
            <a:pPr algn="l"/>
            <a:r>
              <a:rPr lang="en-US" sz="3150" b="1" dirty="0">
                <a:solidFill>
                  <a:srgbClr val="EDEDF0"/>
                </a:solidFill>
                <a:latin typeface="Segoe UI"/>
                <a:ea typeface="Segoe UI"/>
                <a:cs typeface="Segoe UI"/>
              </a:rPr>
              <a:t xml:space="preserve">powered by </a:t>
            </a:r>
            <a:r>
              <a:rPr lang="en-US" sz="3150" b="1" dirty="0">
                <a:gradFill>
                  <a:gsLst>
                    <a:gs pos="0">
                      <a:srgbClr val="A78BFA"/>
                    </a:gs>
                    <a:gs pos="100000">
                      <a:srgbClr val="4DA6FF"/>
                    </a:gs>
                  </a:gsLst>
                  <a:lin ang="2700000" scaled="1"/>
                </a:gradFill>
                <a:latin typeface="Segoe UI"/>
                <a:ea typeface="Segoe UI"/>
                <a:cs typeface="Segoe UI"/>
              </a:rPr>
              <a:t>A18 Pro</a:t>
            </a:r>
            <a:r>
              <a:rPr lang="en-US" sz="3150" b="1" dirty="0">
                <a:solidFill>
                  <a:srgbClr val="EDEDF0"/>
                </a:solidFill>
                <a:latin typeface="Segoe UI"/>
                <a:ea typeface="Segoe UI"/>
                <a:cs typeface="Segoe UI"/>
              </a:rPr>
              <a:t>.</a:t>
            </a:r>
          </a:p>
        </p:txBody>
      </p:sp>
      <p:sp>
        <p:nvSpPr>
          <p:cNvPr id="8" name="TextBox 8"/>
          <p:cNvSpPr txBox="1"/>
          <p:nvPr/>
        </p:nvSpPr>
        <p:spPr>
          <a:xfrm>
            <a:off x="590550" y="2124075"/>
            <a:ext cx="8401812" cy="304800"/>
          </a:xfrm>
          <a:prstGeom prst="rect">
            <a:avLst/>
          </a:prstGeom>
          <a:noFill/>
          <a:ln>
            <a:noFill/>
          </a:ln>
        </p:spPr>
        <p:txBody>
          <a:bodyPr wrap="none" lIns="0" tIns="0" rIns="0" bIns="0" anchor="t" anchorCtr="0">
            <a:spAutoFit/>
          </a:bodyPr>
          <a:lstStyle/>
          <a:p>
            <a:pPr algn="l"/>
            <a:r>
              <a:rPr lang="en-US" sz="1500" dirty="0">
                <a:solidFill>
                  <a:srgbClr val="98989E"/>
                </a:solidFill>
                <a:latin typeface="Segoe UI"/>
                <a:ea typeface="Segoe UI"/>
                <a:cs typeface="Segoe UI"/>
              </a:rPr>
              <a:t>16-core Neural Engine · 35 trillion operations per second · On-device processing</a:t>
            </a:r>
          </a:p>
        </p:txBody>
      </p:sp>
      <p:grpSp>
        <p:nvGrpSpPr>
          <p:cNvPr id="13" name="Group 13"/>
          <p:cNvGrpSpPr/>
          <p:nvPr/>
        </p:nvGrpSpPr>
        <p:grpSpPr>
          <a:xfrm>
            <a:off x="609600" y="2762250"/>
            <a:ext cx="3908184" cy="1143000"/>
            <a:chOff x="609600" y="2762250"/>
            <a:chExt cx="3908184" cy="1143000"/>
          </a:xfrm>
        </p:grpSpPr>
        <p:sp>
          <p:nvSpPr>
            <p:cNvPr id="9" name="Rectangle 9"/>
            <p:cNvSpPr/>
            <p:nvPr/>
          </p:nvSpPr>
          <p:spPr>
            <a:xfrm>
              <a:off x="609600" y="2762250"/>
              <a:ext cx="3390900" cy="1143000"/>
            </a:xfrm>
            <a:prstGeom prst="roundRect">
              <a:avLst>
                <a:gd name="adj" fmla="val 6667"/>
              </a:avLst>
            </a:prstGeom>
            <a:solidFill>
              <a:srgbClr val="16161A"/>
            </a:solidFill>
            <a:ln w="9525">
              <a:solidFill>
                <a:srgbClr val="2C2C32"/>
              </a:solidFill>
            </a:ln>
          </p:spPr>
        </p:sp>
        <p:sp>
          <p:nvSpPr>
            <p:cNvPr id="10" name="TextBox 10"/>
            <p:cNvSpPr txBox="1"/>
            <p:nvPr/>
          </p:nvSpPr>
          <p:spPr>
            <a:xfrm>
              <a:off x="817245" y="2927032"/>
              <a:ext cx="1606746" cy="335280"/>
            </a:xfrm>
            <a:prstGeom prst="rect">
              <a:avLst/>
            </a:prstGeom>
            <a:noFill/>
            <a:ln>
              <a:noFill/>
            </a:ln>
          </p:spPr>
          <p:txBody>
            <a:bodyPr wrap="none" lIns="0" tIns="0" rIns="0" bIns="0" anchor="t" anchorCtr="0">
              <a:spAutoFit/>
            </a:bodyPr>
            <a:lstStyle/>
            <a:p>
              <a:pPr algn="l"/>
              <a:r>
                <a:rPr lang="en-US" sz="1650" b="1" dirty="0">
                  <a:solidFill>
                    <a:srgbClr val="EDEDF0"/>
                  </a:solidFill>
                  <a:latin typeface="Segoe UI"/>
                  <a:ea typeface="Segoe UI"/>
                  <a:cs typeface="Segoe UI"/>
                </a:rPr>
                <a:t>Writing Tools</a:t>
              </a:r>
            </a:p>
          </p:txBody>
        </p:sp>
        <p:sp>
          <p:nvSpPr>
            <p:cNvPr id="11" name="TextBox 11"/>
            <p:cNvSpPr txBox="1"/>
            <p:nvPr/>
          </p:nvSpPr>
          <p:spPr>
            <a:xfrm>
              <a:off x="822008" y="3234214"/>
              <a:ext cx="3505352"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Rewrite, proofread, summarize across</a:t>
              </a:r>
            </a:p>
          </p:txBody>
        </p:sp>
        <p:sp>
          <p:nvSpPr>
            <p:cNvPr id="12" name="TextBox 12"/>
            <p:cNvSpPr txBox="1"/>
            <p:nvPr/>
          </p:nvSpPr>
          <p:spPr>
            <a:xfrm>
              <a:off x="822008" y="3462814"/>
              <a:ext cx="3695776"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Mail, Notes, Pages, and third-party apps</a:t>
              </a:r>
            </a:p>
          </p:txBody>
        </p:sp>
      </p:grpSp>
      <p:grpSp>
        <p:nvGrpSpPr>
          <p:cNvPr id="18" name="Group 18"/>
          <p:cNvGrpSpPr/>
          <p:nvPr/>
        </p:nvGrpSpPr>
        <p:grpSpPr>
          <a:xfrm>
            <a:off x="4229100" y="2762250"/>
            <a:ext cx="3744964" cy="1143000"/>
            <a:chOff x="4229100" y="2762250"/>
            <a:chExt cx="3744964" cy="1143000"/>
          </a:xfrm>
        </p:grpSpPr>
        <p:sp>
          <p:nvSpPr>
            <p:cNvPr id="14" name="Rectangle 14"/>
            <p:cNvSpPr/>
            <p:nvPr/>
          </p:nvSpPr>
          <p:spPr>
            <a:xfrm>
              <a:off x="4229100" y="2762250"/>
              <a:ext cx="3390900" cy="1143000"/>
            </a:xfrm>
            <a:prstGeom prst="roundRect">
              <a:avLst>
                <a:gd name="adj" fmla="val 6667"/>
              </a:avLst>
            </a:prstGeom>
            <a:solidFill>
              <a:srgbClr val="16161A"/>
            </a:solidFill>
            <a:ln w="9525">
              <a:solidFill>
                <a:srgbClr val="2C2C32"/>
              </a:solidFill>
            </a:ln>
          </p:spPr>
        </p:sp>
        <p:sp>
          <p:nvSpPr>
            <p:cNvPr id="15" name="TextBox 15"/>
            <p:cNvSpPr txBox="1"/>
            <p:nvPr/>
          </p:nvSpPr>
          <p:spPr>
            <a:xfrm>
              <a:off x="4436745" y="2927032"/>
              <a:ext cx="1606746" cy="335280"/>
            </a:xfrm>
            <a:prstGeom prst="rect">
              <a:avLst/>
            </a:prstGeom>
            <a:noFill/>
            <a:ln>
              <a:noFill/>
            </a:ln>
          </p:spPr>
          <p:txBody>
            <a:bodyPr wrap="none" lIns="0" tIns="0" rIns="0" bIns="0" anchor="t" anchorCtr="0">
              <a:spAutoFit/>
            </a:bodyPr>
            <a:lstStyle/>
            <a:p>
              <a:pPr algn="l"/>
              <a:r>
                <a:rPr lang="en-US" sz="1650" b="1" dirty="0">
                  <a:solidFill>
                    <a:srgbClr val="EDEDF0"/>
                  </a:solidFill>
                  <a:latin typeface="Segoe UI"/>
                  <a:ea typeface="Segoe UI"/>
                  <a:cs typeface="Segoe UI"/>
                </a:rPr>
                <a:t>Siri Overhaul</a:t>
              </a:r>
            </a:p>
          </p:txBody>
        </p:sp>
        <p:sp>
          <p:nvSpPr>
            <p:cNvPr id="16" name="TextBox 16"/>
            <p:cNvSpPr txBox="1"/>
            <p:nvPr/>
          </p:nvSpPr>
          <p:spPr>
            <a:xfrm>
              <a:off x="4441508" y="3234214"/>
              <a:ext cx="3532556"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Richer language, on-screen awareness,</a:t>
              </a:r>
            </a:p>
          </p:txBody>
        </p:sp>
        <p:sp>
          <p:nvSpPr>
            <p:cNvPr id="17" name="TextBox 17"/>
            <p:cNvSpPr txBox="1"/>
            <p:nvPr/>
          </p:nvSpPr>
          <p:spPr>
            <a:xfrm>
              <a:off x="4441508" y="3462814"/>
              <a:ext cx="3441878"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type-to-Siri, hundreds of new actions</a:t>
              </a:r>
            </a:p>
          </p:txBody>
        </p:sp>
      </p:grpSp>
      <p:grpSp>
        <p:nvGrpSpPr>
          <p:cNvPr id="23" name="Group 23"/>
          <p:cNvGrpSpPr/>
          <p:nvPr/>
        </p:nvGrpSpPr>
        <p:grpSpPr>
          <a:xfrm>
            <a:off x="7848600" y="2762250"/>
            <a:ext cx="3835642" cy="1143000"/>
            <a:chOff x="7848600" y="2762250"/>
            <a:chExt cx="3835642" cy="1143000"/>
          </a:xfrm>
        </p:grpSpPr>
        <p:sp>
          <p:nvSpPr>
            <p:cNvPr id="19" name="Rectangle 19"/>
            <p:cNvSpPr/>
            <p:nvPr/>
          </p:nvSpPr>
          <p:spPr>
            <a:xfrm>
              <a:off x="7848600" y="2762250"/>
              <a:ext cx="3390900" cy="1143000"/>
            </a:xfrm>
            <a:prstGeom prst="roundRect">
              <a:avLst>
                <a:gd name="adj" fmla="val 6667"/>
              </a:avLst>
            </a:prstGeom>
            <a:solidFill>
              <a:srgbClr val="16161A"/>
            </a:solidFill>
            <a:ln w="9525">
              <a:solidFill>
                <a:srgbClr val="2C2C32"/>
              </a:solidFill>
            </a:ln>
          </p:spPr>
        </p:sp>
        <p:sp>
          <p:nvSpPr>
            <p:cNvPr id="20" name="TextBox 20"/>
            <p:cNvSpPr txBox="1"/>
            <p:nvPr/>
          </p:nvSpPr>
          <p:spPr>
            <a:xfrm>
              <a:off x="8056245" y="2927032"/>
              <a:ext cx="3233189" cy="335280"/>
            </a:xfrm>
            <a:prstGeom prst="rect">
              <a:avLst/>
            </a:prstGeom>
            <a:noFill/>
            <a:ln>
              <a:noFill/>
            </a:ln>
          </p:spPr>
          <p:txBody>
            <a:bodyPr wrap="none" lIns="0" tIns="0" rIns="0" bIns="0" anchor="t" anchorCtr="0">
              <a:spAutoFit/>
            </a:bodyPr>
            <a:lstStyle/>
            <a:p>
              <a:pPr algn="l"/>
              <a:r>
                <a:rPr lang="en-US" sz="1650" b="1" dirty="0">
                  <a:solidFill>
                    <a:srgbClr val="EDEDF0"/>
                  </a:solidFill>
                  <a:latin typeface="Segoe UI"/>
                  <a:ea typeface="Segoe UI"/>
                  <a:cs typeface="Segoe UI"/>
                </a:rPr>
                <a:t>Genmoji &amp; Image Playground</a:t>
              </a:r>
            </a:p>
          </p:txBody>
        </p:sp>
        <p:sp>
          <p:nvSpPr>
            <p:cNvPr id="21" name="TextBox 21"/>
            <p:cNvSpPr txBox="1"/>
            <p:nvPr/>
          </p:nvSpPr>
          <p:spPr>
            <a:xfrm>
              <a:off x="8061008" y="3234214"/>
              <a:ext cx="3623234"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Create custom emoji by describing them;</a:t>
              </a:r>
            </a:p>
          </p:txBody>
        </p:sp>
        <p:sp>
          <p:nvSpPr>
            <p:cNvPr id="22" name="TextBox 22"/>
            <p:cNvSpPr txBox="1"/>
            <p:nvPr/>
          </p:nvSpPr>
          <p:spPr>
            <a:xfrm>
              <a:off x="8061008" y="3462814"/>
              <a:ext cx="3197047"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AI-generated images in three styles</a:t>
              </a:r>
            </a:p>
          </p:txBody>
        </p:sp>
      </p:grpSp>
      <p:grpSp>
        <p:nvGrpSpPr>
          <p:cNvPr id="28" name="Group 28"/>
          <p:cNvGrpSpPr/>
          <p:nvPr/>
        </p:nvGrpSpPr>
        <p:grpSpPr>
          <a:xfrm>
            <a:off x="609600" y="4095750"/>
            <a:ext cx="4118519" cy="1143000"/>
            <a:chOff x="609600" y="4095750"/>
            <a:chExt cx="4118519" cy="1143000"/>
          </a:xfrm>
        </p:grpSpPr>
        <p:sp>
          <p:nvSpPr>
            <p:cNvPr id="24" name="Rectangle 24"/>
            <p:cNvSpPr/>
            <p:nvPr/>
          </p:nvSpPr>
          <p:spPr>
            <a:xfrm>
              <a:off x="609600" y="4095750"/>
              <a:ext cx="3390900" cy="1143000"/>
            </a:xfrm>
            <a:prstGeom prst="roundRect">
              <a:avLst>
                <a:gd name="adj" fmla="val 6667"/>
              </a:avLst>
            </a:prstGeom>
            <a:solidFill>
              <a:srgbClr val="16161A"/>
            </a:solidFill>
            <a:ln w="9525">
              <a:solidFill>
                <a:srgbClr val="2C2C32"/>
              </a:solidFill>
            </a:ln>
          </p:spPr>
        </p:sp>
        <p:sp>
          <p:nvSpPr>
            <p:cNvPr id="25" name="TextBox 25"/>
            <p:cNvSpPr txBox="1"/>
            <p:nvPr/>
          </p:nvSpPr>
          <p:spPr>
            <a:xfrm>
              <a:off x="817245" y="4260532"/>
              <a:ext cx="3910874" cy="335280"/>
            </a:xfrm>
            <a:prstGeom prst="rect">
              <a:avLst/>
            </a:prstGeom>
            <a:noFill/>
            <a:ln>
              <a:noFill/>
            </a:ln>
          </p:spPr>
          <p:txBody>
            <a:bodyPr wrap="none" lIns="0" tIns="0" rIns="0" bIns="0" anchor="t" anchorCtr="0">
              <a:spAutoFit/>
            </a:bodyPr>
            <a:lstStyle/>
            <a:p>
              <a:pPr algn="l"/>
              <a:r>
                <a:rPr lang="en-US" sz="1650" b="1" dirty="0">
                  <a:solidFill>
                    <a:srgbClr val="EDEDF0"/>
                  </a:solidFill>
                  <a:latin typeface="Segoe UI"/>
                  <a:ea typeface="Segoe UI"/>
                  <a:cs typeface="Segoe UI"/>
                </a:rPr>
                <a:t>Priority Messages &amp; Smart Reply</a:t>
              </a:r>
            </a:p>
          </p:txBody>
        </p:sp>
        <p:sp>
          <p:nvSpPr>
            <p:cNvPr id="26" name="TextBox 26"/>
            <p:cNvSpPr txBox="1"/>
            <p:nvPr/>
          </p:nvSpPr>
          <p:spPr>
            <a:xfrm>
              <a:off x="822008" y="4567714"/>
              <a:ext cx="2879674"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Time-sensitive emails surfaced;</a:t>
              </a:r>
            </a:p>
          </p:txBody>
        </p:sp>
        <p:sp>
          <p:nvSpPr>
            <p:cNvPr id="27" name="TextBox 27"/>
            <p:cNvSpPr txBox="1"/>
            <p:nvPr/>
          </p:nvSpPr>
          <p:spPr>
            <a:xfrm>
              <a:off x="822008" y="4796314"/>
              <a:ext cx="2979420"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context-aware reply suggestions</a:t>
              </a:r>
            </a:p>
          </p:txBody>
        </p:sp>
      </p:grpSp>
      <p:grpSp>
        <p:nvGrpSpPr>
          <p:cNvPr id="33" name="Group 33"/>
          <p:cNvGrpSpPr/>
          <p:nvPr/>
        </p:nvGrpSpPr>
        <p:grpSpPr>
          <a:xfrm>
            <a:off x="4229100" y="4095750"/>
            <a:ext cx="3971659" cy="1143000"/>
            <a:chOff x="4229100" y="4095750"/>
            <a:chExt cx="3971659" cy="1143000"/>
          </a:xfrm>
        </p:grpSpPr>
        <p:sp>
          <p:nvSpPr>
            <p:cNvPr id="29" name="Rectangle 29"/>
            <p:cNvSpPr/>
            <p:nvPr/>
          </p:nvSpPr>
          <p:spPr>
            <a:xfrm>
              <a:off x="4229100" y="4095750"/>
              <a:ext cx="3390900" cy="1143000"/>
            </a:xfrm>
            <a:prstGeom prst="roundRect">
              <a:avLst>
                <a:gd name="adj" fmla="val 6667"/>
              </a:avLst>
            </a:prstGeom>
            <a:solidFill>
              <a:srgbClr val="16161A"/>
            </a:solidFill>
            <a:ln w="9525">
              <a:solidFill>
                <a:srgbClr val="2C2C32"/>
              </a:solidFill>
            </a:ln>
          </p:spPr>
        </p:sp>
        <p:sp>
          <p:nvSpPr>
            <p:cNvPr id="30" name="TextBox 30"/>
            <p:cNvSpPr txBox="1"/>
            <p:nvPr/>
          </p:nvSpPr>
          <p:spPr>
            <a:xfrm>
              <a:off x="4436745" y="4260532"/>
              <a:ext cx="2432289" cy="335280"/>
            </a:xfrm>
            <a:prstGeom prst="rect">
              <a:avLst/>
            </a:prstGeom>
            <a:noFill/>
            <a:ln>
              <a:noFill/>
            </a:ln>
          </p:spPr>
          <p:txBody>
            <a:bodyPr wrap="none" lIns="0" tIns="0" rIns="0" bIns="0" anchor="t" anchorCtr="0">
              <a:spAutoFit/>
            </a:bodyPr>
            <a:lstStyle/>
            <a:p>
              <a:pPr algn="l"/>
              <a:r>
                <a:rPr lang="en-US" sz="1650" b="1" dirty="0">
                  <a:solidFill>
                    <a:srgbClr val="EDEDF0"/>
                  </a:solidFill>
                  <a:latin typeface="Segoe UI"/>
                  <a:ea typeface="Segoe UI"/>
                  <a:cs typeface="Segoe UI"/>
                </a:rPr>
                <a:t>ChatGPT Integration</a:t>
              </a:r>
            </a:p>
          </p:txBody>
        </p:sp>
        <p:sp>
          <p:nvSpPr>
            <p:cNvPr id="31" name="TextBox 31"/>
            <p:cNvSpPr txBox="1"/>
            <p:nvPr/>
          </p:nvSpPr>
          <p:spPr>
            <a:xfrm>
              <a:off x="4441508" y="4567714"/>
              <a:ext cx="3759251"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Optional GPT-4o via Siri and Writing Tools;</a:t>
              </a:r>
            </a:p>
          </p:txBody>
        </p:sp>
        <p:sp>
          <p:nvSpPr>
            <p:cNvPr id="32" name="TextBox 32"/>
            <p:cNvSpPr txBox="1"/>
            <p:nvPr/>
          </p:nvSpPr>
          <p:spPr>
            <a:xfrm>
              <a:off x="4441508" y="4796314"/>
              <a:ext cx="2598572"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no account needed for basics</a:t>
              </a:r>
            </a:p>
          </p:txBody>
        </p:sp>
      </p:grpSp>
      <p:grpSp>
        <p:nvGrpSpPr>
          <p:cNvPr id="38" name="Group 38"/>
          <p:cNvGrpSpPr/>
          <p:nvPr/>
        </p:nvGrpSpPr>
        <p:grpSpPr>
          <a:xfrm>
            <a:off x="7848600" y="4095750"/>
            <a:ext cx="3527337" cy="1143000"/>
            <a:chOff x="7848600" y="4095750"/>
            <a:chExt cx="3527337" cy="1143000"/>
          </a:xfrm>
        </p:grpSpPr>
        <p:sp>
          <p:nvSpPr>
            <p:cNvPr id="34" name="Rectangle 34"/>
            <p:cNvSpPr/>
            <p:nvPr/>
          </p:nvSpPr>
          <p:spPr>
            <a:xfrm>
              <a:off x="7848600" y="4095750"/>
              <a:ext cx="3390900" cy="1143000"/>
            </a:xfrm>
            <a:prstGeom prst="roundRect">
              <a:avLst>
                <a:gd name="adj" fmla="val 6667"/>
              </a:avLst>
            </a:prstGeom>
            <a:solidFill>
              <a:srgbClr val="16161A"/>
            </a:solidFill>
            <a:ln w="9525">
              <a:solidFill>
                <a:srgbClr val="2C2C32"/>
              </a:solidFill>
            </a:ln>
          </p:spPr>
        </p:sp>
        <p:sp>
          <p:nvSpPr>
            <p:cNvPr id="35" name="TextBox 35"/>
            <p:cNvSpPr txBox="1"/>
            <p:nvPr/>
          </p:nvSpPr>
          <p:spPr>
            <a:xfrm>
              <a:off x="8056245" y="4260532"/>
              <a:ext cx="2691041" cy="335280"/>
            </a:xfrm>
            <a:prstGeom prst="rect">
              <a:avLst/>
            </a:prstGeom>
            <a:noFill/>
            <a:ln>
              <a:noFill/>
            </a:ln>
          </p:spPr>
          <p:txBody>
            <a:bodyPr wrap="none" lIns="0" tIns="0" rIns="0" bIns="0" anchor="t" anchorCtr="0">
              <a:spAutoFit/>
            </a:bodyPr>
            <a:lstStyle/>
            <a:p>
              <a:pPr algn="l"/>
              <a:r>
                <a:rPr lang="en-US" sz="1650" b="1" dirty="0">
                  <a:solidFill>
                    <a:srgbClr val="EDEDF0"/>
                  </a:solidFill>
                  <a:latin typeface="Segoe UI"/>
                  <a:ea typeface="Segoe UI"/>
                  <a:cs typeface="Segoe UI"/>
                </a:rPr>
                <a:t>Private Cloud Compute</a:t>
              </a:r>
            </a:p>
          </p:txBody>
        </p:sp>
        <p:sp>
          <p:nvSpPr>
            <p:cNvPr id="36" name="TextBox 36"/>
            <p:cNvSpPr txBox="1"/>
            <p:nvPr/>
          </p:nvSpPr>
          <p:spPr>
            <a:xfrm>
              <a:off x="8061008" y="4567714"/>
              <a:ext cx="3314929"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Complex queries scale to Apple silicon</a:t>
              </a:r>
            </a:p>
          </p:txBody>
        </p:sp>
        <p:sp>
          <p:nvSpPr>
            <p:cNvPr id="37" name="TextBox 37"/>
            <p:cNvSpPr txBox="1"/>
            <p:nvPr/>
          </p:nvSpPr>
          <p:spPr>
            <a:xfrm>
              <a:off x="8061008" y="4796314"/>
              <a:ext cx="2997556"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servers — your data never stored</a:t>
              </a:r>
            </a:p>
          </p:txBody>
        </p:sp>
      </p:grpSp>
      <p:sp>
        <p:nvSpPr>
          <p:cNvPr id="39" name="Rectangle 39"/>
          <p:cNvSpPr/>
          <p:nvPr/>
        </p:nvSpPr>
        <p:spPr>
          <a:xfrm>
            <a:off x="609600" y="5524500"/>
            <a:ext cx="10972800" cy="533400"/>
          </a:xfrm>
          <a:prstGeom prst="roundRect">
            <a:avLst>
              <a:gd name="adj" fmla="val 14286"/>
            </a:avLst>
          </a:prstGeom>
          <a:solidFill>
            <a:srgbClr val="16161A"/>
          </a:solidFill>
          <a:ln w="9525">
            <a:solidFill>
              <a:srgbClr val="2C2C32"/>
            </a:solidFill>
          </a:ln>
        </p:spPr>
      </p:sp>
      <p:sp>
        <p:nvSpPr>
          <p:cNvPr id="40" name="TextBox 40"/>
          <p:cNvSpPr txBox="1"/>
          <p:nvPr/>
        </p:nvSpPr>
        <p:spPr>
          <a:xfrm>
            <a:off x="1445171" y="5695950"/>
            <a:ext cx="9301658" cy="304800"/>
          </a:xfrm>
          <a:prstGeom prst="rect">
            <a:avLst/>
          </a:prstGeom>
          <a:noFill/>
          <a:ln>
            <a:noFill/>
          </a:ln>
        </p:spPr>
        <p:txBody>
          <a:bodyPr wrap="none" lIns="0" tIns="0" rIns="0" bIns="0" anchor="t" anchorCtr="0">
            <a:spAutoFit/>
          </a:bodyPr>
          <a:lstStyle/>
          <a:p>
            <a:pPr algn="ctr"/>
            <a:r>
              <a:rPr lang="en-US" sz="1500" b="1" dirty="0">
                <a:solidFill>
                  <a:srgbClr val="4DA6FF"/>
                </a:solidFill>
                <a:latin typeface="Segoe UI"/>
                <a:ea typeface="Segoe UI"/>
                <a:cs typeface="Segoe UI"/>
              </a:rPr>
              <a:t>Privacy-first by design. On-device as default. Your data is never stored or shared.</a:t>
            </a:r>
          </a:p>
        </p:txBody>
      </p:sp>
      <p:sp>
        <p:nvSpPr>
          <p:cNvPr id="41" name="TextBox 41"/>
          <p:cNvSpPr txBox="1"/>
          <p:nvPr/>
        </p:nvSpPr>
        <p:spPr>
          <a:xfrm>
            <a:off x="11183112" y="6442710"/>
            <a:ext cx="414528" cy="243840"/>
          </a:xfrm>
          <a:prstGeom prst="rect">
            <a:avLst/>
          </a:prstGeom>
          <a:noFill/>
          <a:ln>
            <a:noFill/>
          </a:ln>
        </p:spPr>
        <p:txBody>
          <a:bodyPr wrap="none" lIns="0" tIns="0" rIns="0" bIns="0" anchor="t" anchorCtr="0">
            <a:spAutoFit/>
          </a:bodyPr>
          <a:lstStyle/>
          <a:p>
            <a:pPr algn="r"/>
            <a:r>
              <a:rPr lang="en-US" sz="1200" dirty="0">
                <a:solidFill>
                  <a:srgbClr val="6B6B72"/>
                </a:solidFill>
                <a:latin typeface="Segoe UI"/>
                <a:ea typeface="Segoe UI"/>
                <a:cs typeface="Segoe UI"/>
              </a:rPr>
              <a:t>2 / 9</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B0D"/>
          </a:solidFill>
          <a:ln>
            <a:noFill/>
          </a:ln>
        </p:spPr>
      </p:sp>
      <p:sp>
        <p:nvSpPr>
          <p:cNvPr id="3" name="Rectangle 3"/>
          <p:cNvSpPr/>
          <p:nvPr/>
        </p:nvSpPr>
        <p:spPr>
          <a:xfrm>
            <a:off x="0" y="0"/>
            <a:ext cx="12192000" cy="6858000"/>
          </a:xfrm>
          <a:prstGeom prst="rect">
            <a:avLst/>
          </a:prstGeom>
          <a:gradFill>
            <a:gsLst>
              <a:gs pos="0">
                <a:srgbClr val="4DA6FF">
                  <a:alpha val="6000"/>
                </a:srgbClr>
              </a:gs>
              <a:gs pos="100000">
                <a:srgbClr val="0B0B0D">
                  <a:alpha val="0"/>
                </a:srgbClr>
              </a:gs>
            </a:gsLst>
            <a:path path="circle">
              <a:fillToRect l="50000" t="50000" r="50000" b="50000"/>
            </a:path>
          </a:gradFill>
          <a:ln>
            <a:noFill/>
          </a:ln>
        </p:spPr>
      </p:sp>
      <p:sp>
        <p:nvSpPr>
          <p:cNvPr id="4" name="Line 4"/>
          <p:cNvSpPr/>
          <p:nvPr/>
        </p:nvSpPr>
        <p:spPr>
          <a:xfrm>
            <a:off x="609600" y="762000"/>
            <a:ext cx="1295400" cy="9525"/>
          </a:xfrm>
          <a:custGeom>
            <a:avLst/>
            <a:gdLst/>
            <a:ahLst/>
            <a:cxnLst/>
            <a:rect l="l" t="t" r="r" b="b"/>
            <a:pathLst>
              <a:path w="1295400" h="9525">
                <a:moveTo>
                  <a:pt x="0" y="0"/>
                </a:moveTo>
                <a:lnTo>
                  <a:pt x="1295400" y="0"/>
                </a:lnTo>
              </a:path>
            </a:pathLst>
          </a:custGeom>
          <a:noFill/>
          <a:ln w="19050">
            <a:solidFill>
              <a:srgbClr val="D4A853">
                <a:alpha val="50000"/>
              </a:srgbClr>
            </a:solidFill>
          </a:ln>
        </p:spPr>
      </p:sp>
      <p:sp>
        <p:nvSpPr>
          <p:cNvPr id="5" name="TextBox 5"/>
          <p:cNvSpPr txBox="1"/>
          <p:nvPr/>
        </p:nvSpPr>
        <p:spPr>
          <a:xfrm>
            <a:off x="594360" y="556260"/>
            <a:ext cx="1664818" cy="243840"/>
          </a:xfrm>
          <a:prstGeom prst="rect">
            <a:avLst/>
          </a:prstGeom>
          <a:noFill/>
          <a:ln>
            <a:noFill/>
          </a:ln>
        </p:spPr>
        <p:txBody>
          <a:bodyPr wrap="none" lIns="0" tIns="0" rIns="0" bIns="0" anchor="t" anchorCtr="0">
            <a:spAutoFit/>
          </a:bodyPr>
          <a:lstStyle/>
          <a:p>
            <a:pPr algn="l"/>
            <a:r>
              <a:rPr lang="en-US" sz="1200" spc="375" dirty="0">
                <a:solidFill>
                  <a:srgbClr val="98989E"/>
                </a:solidFill>
                <a:latin typeface="Segoe UI"/>
                <a:ea typeface="Segoe UI"/>
                <a:cs typeface="Segoe UI"/>
              </a:rPr>
              <a:t>PERFORMANCE</a:t>
            </a:r>
          </a:p>
        </p:txBody>
      </p:sp>
      <p:sp>
        <p:nvSpPr>
          <p:cNvPr id="6" name="TextBox 6"/>
          <p:cNvSpPr txBox="1"/>
          <p:nvPr/>
        </p:nvSpPr>
        <p:spPr>
          <a:xfrm>
            <a:off x="569595" y="1041083"/>
            <a:ext cx="2032414" cy="640080"/>
          </a:xfrm>
          <a:prstGeom prst="rect">
            <a:avLst/>
          </a:prstGeom>
          <a:noFill/>
          <a:ln>
            <a:noFill/>
          </a:ln>
        </p:spPr>
        <p:txBody>
          <a:bodyPr wrap="none" lIns="0" tIns="0" rIns="0" bIns="0" anchor="t" anchorCtr="0">
            <a:spAutoFit/>
          </a:bodyPr>
          <a:lstStyle/>
          <a:p>
            <a:pPr algn="l"/>
            <a:r>
              <a:rPr lang="en-US" sz="3150" b="1" dirty="0">
                <a:solidFill>
                  <a:srgbClr val="EDEDF0"/>
                </a:solidFill>
                <a:latin typeface="Segoe UI"/>
                <a:ea typeface="Segoe UI"/>
                <a:cs typeface="Segoe UI"/>
              </a:rPr>
              <a:t>A18 Pro.</a:t>
            </a:r>
          </a:p>
        </p:txBody>
      </p:sp>
      <p:sp>
        <p:nvSpPr>
          <p:cNvPr id="7" name="TextBox 7"/>
          <p:cNvSpPr txBox="1"/>
          <p:nvPr/>
        </p:nvSpPr>
        <p:spPr>
          <a:xfrm>
            <a:off x="579120" y="1617345"/>
            <a:ext cx="8919667" cy="487680"/>
          </a:xfrm>
          <a:prstGeom prst="rect">
            <a:avLst/>
          </a:prstGeom>
          <a:noFill/>
          <a:ln>
            <a:noFill/>
          </a:ln>
        </p:spPr>
        <p:txBody>
          <a:bodyPr wrap="none" lIns="0" tIns="0" rIns="0" bIns="0" anchor="t" anchorCtr="0">
            <a:spAutoFit/>
          </a:bodyPr>
          <a:lstStyle/>
          <a:p>
            <a:pPr algn="l"/>
            <a:r>
              <a:rPr lang="en-US" sz="2400" dirty="0">
                <a:solidFill>
                  <a:srgbClr val="98989E"/>
                </a:solidFill>
                <a:latin typeface="Segoe UI"/>
                <a:ea typeface="Segoe UI"/>
                <a:cs typeface="Segoe UI"/>
              </a:rPr>
              <a:t>Industry-first second-generation 3-nanometer chip.</a:t>
            </a:r>
          </a:p>
        </p:txBody>
      </p:sp>
      <p:grpSp>
        <p:nvGrpSpPr>
          <p:cNvPr id="12" name="Group 12"/>
          <p:cNvGrpSpPr/>
          <p:nvPr/>
        </p:nvGrpSpPr>
        <p:grpSpPr>
          <a:xfrm>
            <a:off x="609600" y="2453640"/>
            <a:ext cx="2495550" cy="1451610"/>
            <a:chOff x="609600" y="2453640"/>
            <a:chExt cx="2495550" cy="1451610"/>
          </a:xfrm>
        </p:grpSpPr>
        <p:sp>
          <p:nvSpPr>
            <p:cNvPr id="8" name="Rectangle 8"/>
            <p:cNvSpPr/>
            <p:nvPr/>
          </p:nvSpPr>
          <p:spPr>
            <a:xfrm>
              <a:off x="609600" y="2571750"/>
              <a:ext cx="2495550" cy="1333500"/>
            </a:xfrm>
            <a:prstGeom prst="roundRect">
              <a:avLst>
                <a:gd name="adj" fmla="val 7143"/>
              </a:avLst>
            </a:prstGeom>
            <a:solidFill>
              <a:srgbClr val="16161A"/>
            </a:solidFill>
            <a:ln w="9525">
              <a:solidFill>
                <a:srgbClr val="2C2C32"/>
              </a:solidFill>
            </a:ln>
          </p:spPr>
        </p:sp>
        <p:sp>
          <p:nvSpPr>
            <p:cNvPr id="9" name="TextBox 9"/>
            <p:cNvSpPr txBox="1"/>
            <p:nvPr/>
          </p:nvSpPr>
          <p:spPr>
            <a:xfrm>
              <a:off x="1133292" y="2453640"/>
              <a:ext cx="1448166" cy="975360"/>
            </a:xfrm>
            <a:prstGeom prst="rect">
              <a:avLst/>
            </a:prstGeom>
            <a:noFill/>
            <a:ln>
              <a:noFill/>
            </a:ln>
          </p:spPr>
          <p:txBody>
            <a:bodyPr wrap="none" lIns="0" tIns="0" rIns="0" bIns="0" anchor="t" anchorCtr="0">
              <a:spAutoFit/>
            </a:bodyPr>
            <a:lstStyle/>
            <a:p>
              <a:pPr algn="ctr"/>
              <a:r>
                <a:rPr lang="en-US" sz="4800" b="1" dirty="0">
                  <a:gradFill>
                    <a:gsLst>
                      <a:gs pos="0">
                        <a:srgbClr val="4DA6FF"/>
                      </a:gs>
                      <a:gs pos="100000">
                        <a:srgbClr val="A78BFA"/>
                      </a:gs>
                    </a:gsLst>
                    <a:lin ang="2700000" scaled="1"/>
                  </a:gradFill>
                  <a:latin typeface="Segoe UI"/>
                  <a:ea typeface="Segoe UI"/>
                  <a:cs typeface="Segoe UI"/>
                </a:rPr>
                <a:t>15%</a:t>
              </a:r>
            </a:p>
          </p:txBody>
        </p:sp>
        <p:sp>
          <p:nvSpPr>
            <p:cNvPr id="10" name="TextBox 10"/>
            <p:cNvSpPr txBox="1"/>
            <p:nvPr/>
          </p:nvSpPr>
          <p:spPr>
            <a:xfrm>
              <a:off x="1310964" y="3168968"/>
              <a:ext cx="1092822" cy="274320"/>
            </a:xfrm>
            <a:prstGeom prst="rect">
              <a:avLst/>
            </a:prstGeom>
            <a:noFill/>
            <a:ln>
              <a:noFill/>
            </a:ln>
          </p:spPr>
          <p:txBody>
            <a:bodyPr wrap="none" lIns="0" tIns="0" rIns="0" bIns="0" anchor="t" anchorCtr="0">
              <a:spAutoFit/>
            </a:bodyPr>
            <a:lstStyle/>
            <a:p>
              <a:pPr algn="ctr"/>
              <a:r>
                <a:rPr lang="en-US" sz="1350" b="1" dirty="0">
                  <a:solidFill>
                    <a:srgbClr val="EDEDF0"/>
                  </a:solidFill>
                  <a:latin typeface="Segoe UI"/>
                  <a:ea typeface="Segoe UI"/>
                  <a:cs typeface="Segoe UI"/>
                </a:rPr>
                <a:t>Faster CPU</a:t>
              </a:r>
            </a:p>
          </p:txBody>
        </p:sp>
        <p:sp>
          <p:nvSpPr>
            <p:cNvPr id="11" name="TextBox 11"/>
            <p:cNvSpPr txBox="1"/>
            <p:nvPr/>
          </p:nvSpPr>
          <p:spPr>
            <a:xfrm>
              <a:off x="988695" y="3470910"/>
              <a:ext cx="1737360" cy="243840"/>
            </a:xfrm>
            <a:prstGeom prst="rect">
              <a:avLst/>
            </a:prstGeom>
            <a:noFill/>
            <a:ln>
              <a:noFill/>
            </a:ln>
          </p:spPr>
          <p:txBody>
            <a:bodyPr wrap="none" lIns="0" tIns="0" rIns="0" bIns="0" anchor="t" anchorCtr="0">
              <a:spAutoFit/>
            </a:bodyPr>
            <a:lstStyle/>
            <a:p>
              <a:pPr algn="ctr"/>
              <a:r>
                <a:rPr lang="en-US" sz="1200" dirty="0">
                  <a:solidFill>
                    <a:srgbClr val="98989E"/>
                  </a:solidFill>
                  <a:latin typeface="Segoe UI"/>
                  <a:ea typeface="Segoe UI"/>
                  <a:cs typeface="Segoe UI"/>
                </a:rPr>
                <a:t>vs. A17 Pro · 6-core</a:t>
              </a:r>
            </a:p>
          </p:txBody>
        </p:sp>
      </p:grpSp>
      <p:grpSp>
        <p:nvGrpSpPr>
          <p:cNvPr id="17" name="Group 17"/>
          <p:cNvGrpSpPr/>
          <p:nvPr/>
        </p:nvGrpSpPr>
        <p:grpSpPr>
          <a:xfrm>
            <a:off x="3314700" y="2453640"/>
            <a:ext cx="2495550" cy="1451610"/>
            <a:chOff x="3314700" y="2453640"/>
            <a:chExt cx="2495550" cy="1451610"/>
          </a:xfrm>
        </p:grpSpPr>
        <p:sp>
          <p:nvSpPr>
            <p:cNvPr id="13" name="Rectangle 13"/>
            <p:cNvSpPr/>
            <p:nvPr/>
          </p:nvSpPr>
          <p:spPr>
            <a:xfrm>
              <a:off x="3314700" y="2571750"/>
              <a:ext cx="2495550" cy="1333500"/>
            </a:xfrm>
            <a:prstGeom prst="roundRect">
              <a:avLst>
                <a:gd name="adj" fmla="val 7143"/>
              </a:avLst>
            </a:prstGeom>
            <a:solidFill>
              <a:srgbClr val="16161A"/>
            </a:solidFill>
            <a:ln w="9525">
              <a:solidFill>
                <a:srgbClr val="2C2C32"/>
              </a:solidFill>
            </a:ln>
          </p:spPr>
        </p:sp>
        <p:sp>
          <p:nvSpPr>
            <p:cNvPr id="14" name="TextBox 14"/>
            <p:cNvSpPr txBox="1"/>
            <p:nvPr/>
          </p:nvSpPr>
          <p:spPr>
            <a:xfrm>
              <a:off x="3838392" y="2453640"/>
              <a:ext cx="1448166" cy="975360"/>
            </a:xfrm>
            <a:prstGeom prst="rect">
              <a:avLst/>
            </a:prstGeom>
            <a:noFill/>
            <a:ln>
              <a:noFill/>
            </a:ln>
          </p:spPr>
          <p:txBody>
            <a:bodyPr wrap="none" lIns="0" tIns="0" rIns="0" bIns="0" anchor="t" anchorCtr="0">
              <a:spAutoFit/>
            </a:bodyPr>
            <a:lstStyle/>
            <a:p>
              <a:pPr algn="ctr"/>
              <a:r>
                <a:rPr lang="en-US" sz="4800" b="1" dirty="0">
                  <a:gradFill>
                    <a:gsLst>
                      <a:gs pos="0">
                        <a:srgbClr val="4DA6FF"/>
                      </a:gs>
                      <a:gs pos="100000">
                        <a:srgbClr val="A78BFA"/>
                      </a:gs>
                    </a:gsLst>
                    <a:lin ang="2700000" scaled="1"/>
                  </a:gradFill>
                  <a:latin typeface="Segoe UI"/>
                  <a:ea typeface="Segoe UI"/>
                  <a:cs typeface="Segoe UI"/>
                </a:rPr>
                <a:t>20%</a:t>
              </a:r>
            </a:p>
          </p:txBody>
        </p:sp>
        <p:sp>
          <p:nvSpPr>
            <p:cNvPr id="15" name="TextBox 15"/>
            <p:cNvSpPr txBox="1"/>
            <p:nvPr/>
          </p:nvSpPr>
          <p:spPr>
            <a:xfrm>
              <a:off x="4016064" y="3168968"/>
              <a:ext cx="1092822" cy="274320"/>
            </a:xfrm>
            <a:prstGeom prst="rect">
              <a:avLst/>
            </a:prstGeom>
            <a:noFill/>
            <a:ln>
              <a:noFill/>
            </a:ln>
          </p:spPr>
          <p:txBody>
            <a:bodyPr wrap="none" lIns="0" tIns="0" rIns="0" bIns="0" anchor="t" anchorCtr="0">
              <a:spAutoFit/>
            </a:bodyPr>
            <a:lstStyle/>
            <a:p>
              <a:pPr algn="ctr"/>
              <a:r>
                <a:rPr lang="en-US" sz="1350" b="1" dirty="0">
                  <a:solidFill>
                    <a:srgbClr val="EDEDF0"/>
                  </a:solidFill>
                  <a:latin typeface="Segoe UI"/>
                  <a:ea typeface="Segoe UI"/>
                  <a:cs typeface="Segoe UI"/>
                </a:rPr>
                <a:t>Faster GPU</a:t>
              </a:r>
            </a:p>
          </p:txBody>
        </p:sp>
        <p:sp>
          <p:nvSpPr>
            <p:cNvPr id="16" name="TextBox 16"/>
            <p:cNvSpPr txBox="1"/>
            <p:nvPr/>
          </p:nvSpPr>
          <p:spPr>
            <a:xfrm>
              <a:off x="3557245" y="3470910"/>
              <a:ext cx="2010461" cy="243840"/>
            </a:xfrm>
            <a:prstGeom prst="rect">
              <a:avLst/>
            </a:prstGeom>
            <a:noFill/>
            <a:ln>
              <a:noFill/>
            </a:ln>
          </p:spPr>
          <p:txBody>
            <a:bodyPr wrap="none" lIns="0" tIns="0" rIns="0" bIns="0" anchor="t" anchorCtr="0">
              <a:spAutoFit/>
            </a:bodyPr>
            <a:lstStyle/>
            <a:p>
              <a:pPr algn="ctr"/>
              <a:r>
                <a:rPr lang="en-US" sz="1200" dirty="0">
                  <a:solidFill>
                    <a:srgbClr val="98989E"/>
                  </a:solidFill>
                  <a:latin typeface="Segoe UI"/>
                  <a:ea typeface="Segoe UI"/>
                  <a:cs typeface="Segoe UI"/>
                </a:rPr>
                <a:t>HW ray tracing · 6-core</a:t>
              </a:r>
            </a:p>
          </p:txBody>
        </p:sp>
      </p:grpSp>
      <p:grpSp>
        <p:nvGrpSpPr>
          <p:cNvPr id="22" name="Group 22"/>
          <p:cNvGrpSpPr/>
          <p:nvPr/>
        </p:nvGrpSpPr>
        <p:grpSpPr>
          <a:xfrm>
            <a:off x="6019800" y="2453640"/>
            <a:ext cx="2495550" cy="1451610"/>
            <a:chOff x="6019800" y="2453640"/>
            <a:chExt cx="2495550" cy="1451610"/>
          </a:xfrm>
        </p:grpSpPr>
        <p:sp>
          <p:nvSpPr>
            <p:cNvPr id="18" name="Rectangle 18"/>
            <p:cNvSpPr/>
            <p:nvPr/>
          </p:nvSpPr>
          <p:spPr>
            <a:xfrm>
              <a:off x="6019800" y="2571750"/>
              <a:ext cx="2495550" cy="1333500"/>
            </a:xfrm>
            <a:prstGeom prst="roundRect">
              <a:avLst>
                <a:gd name="adj" fmla="val 7143"/>
              </a:avLst>
            </a:prstGeom>
            <a:solidFill>
              <a:srgbClr val="16161A"/>
            </a:solidFill>
            <a:ln w="9525">
              <a:solidFill>
                <a:srgbClr val="2C2C32"/>
              </a:solidFill>
            </a:ln>
          </p:spPr>
        </p:sp>
        <p:sp>
          <p:nvSpPr>
            <p:cNvPr id="19" name="TextBox 19"/>
            <p:cNvSpPr txBox="1"/>
            <p:nvPr/>
          </p:nvSpPr>
          <p:spPr>
            <a:xfrm>
              <a:off x="6812326" y="2453640"/>
              <a:ext cx="910499" cy="975360"/>
            </a:xfrm>
            <a:prstGeom prst="rect">
              <a:avLst/>
            </a:prstGeom>
            <a:noFill/>
            <a:ln>
              <a:noFill/>
            </a:ln>
          </p:spPr>
          <p:txBody>
            <a:bodyPr wrap="none" lIns="0" tIns="0" rIns="0" bIns="0" anchor="t" anchorCtr="0">
              <a:spAutoFit/>
            </a:bodyPr>
            <a:lstStyle/>
            <a:p>
              <a:pPr algn="ctr"/>
              <a:r>
                <a:rPr lang="en-US" sz="4800" b="1" dirty="0">
                  <a:gradFill>
                    <a:gsLst>
                      <a:gs pos="0">
                        <a:srgbClr val="4DA6FF"/>
                      </a:gs>
                      <a:gs pos="100000">
                        <a:srgbClr val="A78BFA"/>
                      </a:gs>
                    </a:gsLst>
                    <a:lin ang="2700000" scaled="1"/>
                  </a:gradFill>
                  <a:latin typeface="Segoe UI"/>
                  <a:ea typeface="Segoe UI"/>
                  <a:cs typeface="Segoe UI"/>
                </a:rPr>
                <a:t>35</a:t>
              </a:r>
            </a:p>
          </p:txBody>
        </p:sp>
        <p:sp>
          <p:nvSpPr>
            <p:cNvPr id="20" name="TextBox 20"/>
            <p:cNvSpPr txBox="1"/>
            <p:nvPr/>
          </p:nvSpPr>
          <p:spPr>
            <a:xfrm>
              <a:off x="7008480" y="3168968"/>
              <a:ext cx="518190" cy="274320"/>
            </a:xfrm>
            <a:prstGeom prst="rect">
              <a:avLst/>
            </a:prstGeom>
            <a:noFill/>
            <a:ln>
              <a:noFill/>
            </a:ln>
          </p:spPr>
          <p:txBody>
            <a:bodyPr wrap="none" lIns="0" tIns="0" rIns="0" bIns="0" anchor="t" anchorCtr="0">
              <a:spAutoFit/>
            </a:bodyPr>
            <a:lstStyle/>
            <a:p>
              <a:pPr algn="ctr"/>
              <a:r>
                <a:rPr lang="en-US" sz="1350" b="1" dirty="0">
                  <a:solidFill>
                    <a:srgbClr val="EDEDF0"/>
                  </a:solidFill>
                  <a:latin typeface="Segoe UI"/>
                  <a:ea typeface="Segoe UI"/>
                  <a:cs typeface="Segoe UI"/>
                </a:rPr>
                <a:t>TOPS</a:t>
              </a:r>
            </a:p>
          </p:txBody>
        </p:sp>
        <p:sp>
          <p:nvSpPr>
            <p:cNvPr id="21" name="TextBox 21"/>
            <p:cNvSpPr txBox="1"/>
            <p:nvPr/>
          </p:nvSpPr>
          <p:spPr>
            <a:xfrm>
              <a:off x="6351956" y="3470910"/>
              <a:ext cx="1831238" cy="243840"/>
            </a:xfrm>
            <a:prstGeom prst="rect">
              <a:avLst/>
            </a:prstGeom>
            <a:noFill/>
            <a:ln>
              <a:noFill/>
            </a:ln>
          </p:spPr>
          <p:txBody>
            <a:bodyPr wrap="none" lIns="0" tIns="0" rIns="0" bIns="0" anchor="t" anchorCtr="0">
              <a:spAutoFit/>
            </a:bodyPr>
            <a:lstStyle/>
            <a:p>
              <a:pPr algn="ctr"/>
              <a:r>
                <a:rPr lang="en-US" sz="1200" dirty="0">
                  <a:solidFill>
                    <a:srgbClr val="98989E"/>
                  </a:solidFill>
                  <a:latin typeface="Segoe UI"/>
                  <a:ea typeface="Segoe UI"/>
                  <a:cs typeface="Segoe UI"/>
                </a:rPr>
                <a:t>16-core Neural Engine</a:t>
              </a:r>
            </a:p>
          </p:txBody>
        </p:sp>
      </p:grpSp>
      <p:grpSp>
        <p:nvGrpSpPr>
          <p:cNvPr id="27" name="Group 27"/>
          <p:cNvGrpSpPr/>
          <p:nvPr/>
        </p:nvGrpSpPr>
        <p:grpSpPr>
          <a:xfrm>
            <a:off x="8724900" y="2453640"/>
            <a:ext cx="2495550" cy="1451610"/>
            <a:chOff x="8724900" y="2453640"/>
            <a:chExt cx="2495550" cy="1451610"/>
          </a:xfrm>
        </p:grpSpPr>
        <p:sp>
          <p:nvSpPr>
            <p:cNvPr id="23" name="Rectangle 23"/>
            <p:cNvSpPr/>
            <p:nvPr/>
          </p:nvSpPr>
          <p:spPr>
            <a:xfrm>
              <a:off x="8724900" y="2571750"/>
              <a:ext cx="2495550" cy="1333500"/>
            </a:xfrm>
            <a:prstGeom prst="roundRect">
              <a:avLst>
                <a:gd name="adj" fmla="val 7143"/>
              </a:avLst>
            </a:prstGeom>
            <a:solidFill>
              <a:srgbClr val="16161A"/>
            </a:solidFill>
            <a:ln w="9525">
              <a:solidFill>
                <a:srgbClr val="2C2C32"/>
              </a:solidFill>
            </a:ln>
          </p:spPr>
        </p:sp>
        <p:sp>
          <p:nvSpPr>
            <p:cNvPr id="24" name="TextBox 24"/>
            <p:cNvSpPr txBox="1"/>
            <p:nvPr/>
          </p:nvSpPr>
          <p:spPr>
            <a:xfrm>
              <a:off x="9248592" y="2453640"/>
              <a:ext cx="1448166" cy="975360"/>
            </a:xfrm>
            <a:prstGeom prst="rect">
              <a:avLst/>
            </a:prstGeom>
            <a:noFill/>
            <a:ln>
              <a:noFill/>
            </a:ln>
          </p:spPr>
          <p:txBody>
            <a:bodyPr wrap="none" lIns="0" tIns="0" rIns="0" bIns="0" anchor="t" anchorCtr="0">
              <a:spAutoFit/>
            </a:bodyPr>
            <a:lstStyle/>
            <a:p>
              <a:pPr algn="ctr"/>
              <a:r>
                <a:rPr lang="en-US" sz="4800" b="1" dirty="0">
                  <a:solidFill>
                    <a:srgbClr val="34C759"/>
                  </a:solidFill>
                  <a:latin typeface="Segoe UI"/>
                  <a:ea typeface="Segoe UI"/>
                  <a:cs typeface="Segoe UI"/>
                </a:rPr>
                <a:t>20%</a:t>
              </a:r>
            </a:p>
          </p:txBody>
        </p:sp>
        <p:sp>
          <p:nvSpPr>
            <p:cNvPr id="25" name="TextBox 25"/>
            <p:cNvSpPr txBox="1"/>
            <p:nvPr/>
          </p:nvSpPr>
          <p:spPr>
            <a:xfrm>
              <a:off x="9234720" y="3168968"/>
              <a:ext cx="1475910" cy="274320"/>
            </a:xfrm>
            <a:prstGeom prst="rect">
              <a:avLst/>
            </a:prstGeom>
            <a:noFill/>
            <a:ln>
              <a:noFill/>
            </a:ln>
          </p:spPr>
          <p:txBody>
            <a:bodyPr wrap="none" lIns="0" tIns="0" rIns="0" bIns="0" anchor="t" anchorCtr="0">
              <a:spAutoFit/>
            </a:bodyPr>
            <a:lstStyle/>
            <a:p>
              <a:pPr algn="ctr"/>
              <a:r>
                <a:rPr lang="en-US" sz="1350" b="1" dirty="0">
                  <a:solidFill>
                    <a:srgbClr val="EDEDF0"/>
                  </a:solidFill>
                  <a:latin typeface="Segoe UI"/>
                  <a:ea typeface="Segoe UI"/>
                  <a:cs typeface="Segoe UI"/>
                </a:rPr>
                <a:t>More Efficient</a:t>
              </a:r>
            </a:p>
          </p:txBody>
        </p:sp>
        <p:sp>
          <p:nvSpPr>
            <p:cNvPr id="26" name="TextBox 26"/>
            <p:cNvSpPr txBox="1"/>
            <p:nvPr/>
          </p:nvSpPr>
          <p:spPr>
            <a:xfrm>
              <a:off x="8843696" y="3470910"/>
              <a:ext cx="2257958" cy="243840"/>
            </a:xfrm>
            <a:prstGeom prst="rect">
              <a:avLst/>
            </a:prstGeom>
            <a:noFill/>
            <a:ln>
              <a:noFill/>
            </a:ln>
          </p:spPr>
          <p:txBody>
            <a:bodyPr wrap="none" lIns="0" tIns="0" rIns="0" bIns="0" anchor="t" anchorCtr="0">
              <a:spAutoFit/>
            </a:bodyPr>
            <a:lstStyle/>
            <a:p>
              <a:pPr algn="ctr"/>
              <a:r>
                <a:rPr lang="en-US" sz="1200" dirty="0">
                  <a:solidFill>
                    <a:srgbClr val="98989E"/>
                  </a:solidFill>
                  <a:latin typeface="Segoe UI"/>
                  <a:ea typeface="Segoe UI"/>
                  <a:cs typeface="Segoe UI"/>
                </a:rPr>
                <a:t>Energy savings vs. A17 Pro</a:t>
              </a:r>
            </a:p>
          </p:txBody>
        </p:sp>
      </p:grpSp>
      <p:grpSp>
        <p:nvGrpSpPr>
          <p:cNvPr id="31" name="Group 31"/>
          <p:cNvGrpSpPr/>
          <p:nvPr/>
        </p:nvGrpSpPr>
        <p:grpSpPr>
          <a:xfrm>
            <a:off x="609600" y="4238625"/>
            <a:ext cx="3390900" cy="952500"/>
            <a:chOff x="609600" y="4238625"/>
            <a:chExt cx="3390900" cy="952500"/>
          </a:xfrm>
        </p:grpSpPr>
        <p:sp>
          <p:nvSpPr>
            <p:cNvPr id="28" name="Rectangle 28"/>
            <p:cNvSpPr/>
            <p:nvPr/>
          </p:nvSpPr>
          <p:spPr>
            <a:xfrm>
              <a:off x="609600" y="4238625"/>
              <a:ext cx="3390900" cy="952500"/>
            </a:xfrm>
            <a:prstGeom prst="roundRect">
              <a:avLst>
                <a:gd name="adj" fmla="val 8000"/>
              </a:avLst>
            </a:prstGeom>
            <a:solidFill>
              <a:srgbClr val="16161A"/>
            </a:solidFill>
            <a:ln w="9525">
              <a:solidFill>
                <a:srgbClr val="2C2C32"/>
              </a:solidFill>
            </a:ln>
          </p:spPr>
        </p:sp>
        <p:sp>
          <p:nvSpPr>
            <p:cNvPr id="29" name="TextBox 29"/>
            <p:cNvSpPr txBox="1"/>
            <p:nvPr/>
          </p:nvSpPr>
          <p:spPr>
            <a:xfrm>
              <a:off x="819150" y="4419600"/>
              <a:ext cx="2289581" cy="304800"/>
            </a:xfrm>
            <a:prstGeom prst="rect">
              <a:avLst/>
            </a:prstGeom>
            <a:noFill/>
            <a:ln>
              <a:noFill/>
            </a:ln>
          </p:spPr>
          <p:txBody>
            <a:bodyPr wrap="none" lIns="0" tIns="0" rIns="0" bIns="0" anchor="t" anchorCtr="0">
              <a:spAutoFit/>
            </a:bodyPr>
            <a:lstStyle/>
            <a:p>
              <a:pPr algn="l"/>
              <a:r>
                <a:rPr lang="en-US" sz="1500" b="1" dirty="0">
                  <a:solidFill>
                    <a:srgbClr val="EDEDF0"/>
                  </a:solidFill>
                  <a:latin typeface="Segoe UI"/>
                  <a:ea typeface="Segoe UI"/>
                  <a:cs typeface="Segoe UI"/>
                </a:rPr>
                <a:t>USB 3 — up to 10 Gbps</a:t>
              </a:r>
            </a:p>
          </p:txBody>
        </p:sp>
        <p:sp>
          <p:nvSpPr>
            <p:cNvPr id="30" name="TextBox 30"/>
            <p:cNvSpPr txBox="1"/>
            <p:nvPr/>
          </p:nvSpPr>
          <p:spPr>
            <a:xfrm>
              <a:off x="822008" y="4710589"/>
              <a:ext cx="2689250"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Fast wired transfer via USB-C</a:t>
              </a:r>
            </a:p>
          </p:txBody>
        </p:sp>
      </p:grpSp>
      <p:grpSp>
        <p:nvGrpSpPr>
          <p:cNvPr id="35" name="Group 35"/>
          <p:cNvGrpSpPr/>
          <p:nvPr/>
        </p:nvGrpSpPr>
        <p:grpSpPr>
          <a:xfrm>
            <a:off x="4229100" y="4238625"/>
            <a:ext cx="3418523" cy="952500"/>
            <a:chOff x="4229100" y="4238625"/>
            <a:chExt cx="3418523" cy="952500"/>
          </a:xfrm>
        </p:grpSpPr>
        <p:sp>
          <p:nvSpPr>
            <p:cNvPr id="32" name="Rectangle 32"/>
            <p:cNvSpPr/>
            <p:nvPr/>
          </p:nvSpPr>
          <p:spPr>
            <a:xfrm>
              <a:off x="4229100" y="4238625"/>
              <a:ext cx="3390900" cy="952500"/>
            </a:xfrm>
            <a:prstGeom prst="roundRect">
              <a:avLst>
                <a:gd name="adj" fmla="val 8000"/>
              </a:avLst>
            </a:prstGeom>
            <a:solidFill>
              <a:srgbClr val="16161A"/>
            </a:solidFill>
            <a:ln w="9525">
              <a:solidFill>
                <a:srgbClr val="2C2C32"/>
              </a:solidFill>
            </a:ln>
          </p:spPr>
        </p:sp>
        <p:sp>
          <p:nvSpPr>
            <p:cNvPr id="33" name="TextBox 33"/>
            <p:cNvSpPr txBox="1"/>
            <p:nvPr/>
          </p:nvSpPr>
          <p:spPr>
            <a:xfrm>
              <a:off x="4438650" y="4419600"/>
              <a:ext cx="2446401" cy="304800"/>
            </a:xfrm>
            <a:prstGeom prst="rect">
              <a:avLst/>
            </a:prstGeom>
            <a:noFill/>
            <a:ln>
              <a:noFill/>
            </a:ln>
          </p:spPr>
          <p:txBody>
            <a:bodyPr wrap="none" lIns="0" tIns="0" rIns="0" bIns="0" anchor="t" anchorCtr="0">
              <a:spAutoFit/>
            </a:bodyPr>
            <a:lstStyle/>
            <a:p>
              <a:pPr algn="l"/>
              <a:r>
                <a:rPr lang="en-US" sz="1500" b="1" dirty="0">
                  <a:solidFill>
                    <a:srgbClr val="EDEDF0"/>
                  </a:solidFill>
                  <a:latin typeface="Segoe UI"/>
                  <a:ea typeface="Segoe UI"/>
                  <a:cs typeface="Segoe UI"/>
                </a:rPr>
                <a:t>Advanced Media Engine</a:t>
              </a:r>
            </a:p>
          </p:txBody>
        </p:sp>
        <p:sp>
          <p:nvSpPr>
            <p:cNvPr id="34" name="TextBox 34"/>
            <p:cNvSpPr txBox="1"/>
            <p:nvPr/>
          </p:nvSpPr>
          <p:spPr>
            <a:xfrm>
              <a:off x="4441508" y="4710589"/>
              <a:ext cx="3206115"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ProMotion, Always-On, AV1 decoder</a:t>
              </a:r>
            </a:p>
          </p:txBody>
        </p:sp>
      </p:grpSp>
      <p:grpSp>
        <p:nvGrpSpPr>
          <p:cNvPr id="39" name="Group 39"/>
          <p:cNvGrpSpPr/>
          <p:nvPr/>
        </p:nvGrpSpPr>
        <p:grpSpPr>
          <a:xfrm>
            <a:off x="7848600" y="4238625"/>
            <a:ext cx="4978185" cy="952500"/>
            <a:chOff x="7848600" y="4238625"/>
            <a:chExt cx="4978185" cy="952500"/>
          </a:xfrm>
        </p:grpSpPr>
        <p:sp>
          <p:nvSpPr>
            <p:cNvPr id="36" name="Rectangle 36"/>
            <p:cNvSpPr/>
            <p:nvPr/>
          </p:nvSpPr>
          <p:spPr>
            <a:xfrm>
              <a:off x="7848600" y="4238625"/>
              <a:ext cx="3390900" cy="952500"/>
            </a:xfrm>
            <a:prstGeom prst="roundRect">
              <a:avLst>
                <a:gd name="adj" fmla="val 8000"/>
              </a:avLst>
            </a:prstGeom>
            <a:solidFill>
              <a:srgbClr val="16161A"/>
            </a:solidFill>
            <a:ln w="9525">
              <a:solidFill>
                <a:srgbClr val="2C2C32"/>
              </a:solidFill>
            </a:ln>
          </p:spPr>
        </p:sp>
        <p:sp>
          <p:nvSpPr>
            <p:cNvPr id="37" name="TextBox 37"/>
            <p:cNvSpPr txBox="1"/>
            <p:nvPr/>
          </p:nvSpPr>
          <p:spPr>
            <a:xfrm>
              <a:off x="8058150" y="4419600"/>
              <a:ext cx="2379193" cy="304800"/>
            </a:xfrm>
            <a:prstGeom prst="rect">
              <a:avLst/>
            </a:prstGeom>
            <a:noFill/>
            <a:ln>
              <a:noFill/>
            </a:ln>
          </p:spPr>
          <p:txBody>
            <a:bodyPr wrap="none" lIns="0" tIns="0" rIns="0" bIns="0" anchor="t" anchorCtr="0">
              <a:spAutoFit/>
            </a:bodyPr>
            <a:lstStyle/>
            <a:p>
              <a:pPr algn="l"/>
              <a:r>
                <a:rPr lang="en-US" sz="1500" b="1" dirty="0">
                  <a:solidFill>
                    <a:srgbClr val="EDEDF0"/>
                  </a:solidFill>
                  <a:latin typeface="Segoe UI"/>
                  <a:ea typeface="Segoe UI"/>
                  <a:cs typeface="Segoe UI"/>
                </a:rPr>
                <a:t>Thermal Architecture</a:t>
              </a:r>
            </a:p>
          </p:txBody>
        </p:sp>
        <p:sp>
          <p:nvSpPr>
            <p:cNvPr id="38" name="TextBox 38"/>
            <p:cNvSpPr txBox="1"/>
            <p:nvPr/>
          </p:nvSpPr>
          <p:spPr>
            <a:xfrm>
              <a:off x="8061008" y="4710589"/>
              <a:ext cx="4765777"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100% recycled aluminum · 20% better sustained perf.</a:t>
              </a:r>
            </a:p>
          </p:txBody>
        </p:sp>
      </p:grpSp>
      <p:sp>
        <p:nvSpPr>
          <p:cNvPr id="40" name="TextBox 40"/>
          <p:cNvSpPr txBox="1"/>
          <p:nvPr/>
        </p:nvSpPr>
        <p:spPr>
          <a:xfrm>
            <a:off x="11183112" y="6442710"/>
            <a:ext cx="414528" cy="243840"/>
          </a:xfrm>
          <a:prstGeom prst="rect">
            <a:avLst/>
          </a:prstGeom>
          <a:noFill/>
          <a:ln>
            <a:noFill/>
          </a:ln>
        </p:spPr>
        <p:txBody>
          <a:bodyPr wrap="none" lIns="0" tIns="0" rIns="0" bIns="0" anchor="t" anchorCtr="0">
            <a:spAutoFit/>
          </a:bodyPr>
          <a:lstStyle/>
          <a:p>
            <a:pPr algn="r"/>
            <a:r>
              <a:rPr lang="en-US" sz="1200" dirty="0">
                <a:solidFill>
                  <a:srgbClr val="6B6B72"/>
                </a:solidFill>
                <a:latin typeface="Segoe UI"/>
                <a:ea typeface="Segoe UI"/>
                <a:cs typeface="Segoe UI"/>
              </a:rPr>
              <a:t>3 / 9</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B0D"/>
          </a:solidFill>
          <a:ln>
            <a:noFill/>
          </a:ln>
        </p:spPr>
      </p:sp>
      <p:sp>
        <p:nvSpPr>
          <p:cNvPr id="3" name="Rectangle 3"/>
          <p:cNvSpPr/>
          <p:nvPr/>
        </p:nvSpPr>
        <p:spPr>
          <a:xfrm>
            <a:off x="0" y="0"/>
            <a:ext cx="12192000" cy="6858000"/>
          </a:xfrm>
          <a:prstGeom prst="rect">
            <a:avLst/>
          </a:prstGeom>
          <a:gradFill>
            <a:gsLst>
              <a:gs pos="0">
                <a:srgbClr val="D4A853">
                  <a:alpha val="6000"/>
                </a:srgbClr>
              </a:gs>
              <a:gs pos="100000">
                <a:srgbClr val="0B0B0D">
                  <a:alpha val="0"/>
                </a:srgbClr>
              </a:gs>
            </a:gsLst>
            <a:path path="circle">
              <a:fillToRect l="50000" t="50000" r="50000" b="50000"/>
            </a:path>
          </a:gradFill>
          <a:ln>
            <a:noFill/>
          </a:ln>
        </p:spPr>
      </p:sp>
      <p:sp>
        <p:nvSpPr>
          <p:cNvPr id="4" name="Line 4"/>
          <p:cNvSpPr/>
          <p:nvPr/>
        </p:nvSpPr>
        <p:spPr>
          <a:xfrm>
            <a:off x="609600" y="762000"/>
            <a:ext cx="1295400" cy="9525"/>
          </a:xfrm>
          <a:custGeom>
            <a:avLst/>
            <a:gdLst/>
            <a:ahLst/>
            <a:cxnLst/>
            <a:rect l="l" t="t" r="r" b="b"/>
            <a:pathLst>
              <a:path w="1295400" h="9525">
                <a:moveTo>
                  <a:pt x="0" y="0"/>
                </a:moveTo>
                <a:lnTo>
                  <a:pt x="1295400" y="0"/>
                </a:lnTo>
              </a:path>
            </a:pathLst>
          </a:custGeom>
          <a:noFill/>
          <a:ln w="19050">
            <a:solidFill>
              <a:srgbClr val="D4A853">
                <a:alpha val="50000"/>
              </a:srgbClr>
            </a:solidFill>
          </a:ln>
        </p:spPr>
      </p:sp>
      <p:sp>
        <p:nvSpPr>
          <p:cNvPr id="5" name="TextBox 5"/>
          <p:cNvSpPr txBox="1"/>
          <p:nvPr/>
        </p:nvSpPr>
        <p:spPr>
          <a:xfrm>
            <a:off x="594360" y="556260"/>
            <a:ext cx="964997" cy="243840"/>
          </a:xfrm>
          <a:prstGeom prst="rect">
            <a:avLst/>
          </a:prstGeom>
          <a:noFill/>
          <a:ln>
            <a:noFill/>
          </a:ln>
        </p:spPr>
        <p:txBody>
          <a:bodyPr wrap="none" lIns="0" tIns="0" rIns="0" bIns="0" anchor="t" anchorCtr="0">
            <a:spAutoFit/>
          </a:bodyPr>
          <a:lstStyle/>
          <a:p>
            <a:pPr algn="l"/>
            <a:r>
              <a:rPr lang="en-US" sz="1200" spc="375" dirty="0">
                <a:solidFill>
                  <a:srgbClr val="98989E"/>
                </a:solidFill>
                <a:latin typeface="Segoe UI"/>
                <a:ea typeface="Segoe UI"/>
                <a:cs typeface="Segoe UI"/>
              </a:rPr>
              <a:t>DISPLAY</a:t>
            </a:r>
          </a:p>
        </p:txBody>
      </p:sp>
      <p:sp>
        <p:nvSpPr>
          <p:cNvPr id="6" name="TextBox 6"/>
          <p:cNvSpPr txBox="1"/>
          <p:nvPr/>
        </p:nvSpPr>
        <p:spPr>
          <a:xfrm>
            <a:off x="569595" y="1069658"/>
            <a:ext cx="4267093" cy="640080"/>
          </a:xfrm>
          <a:prstGeom prst="rect">
            <a:avLst/>
          </a:prstGeom>
          <a:noFill/>
          <a:ln>
            <a:noFill/>
          </a:ln>
        </p:spPr>
        <p:txBody>
          <a:bodyPr wrap="none" lIns="0" tIns="0" rIns="0" bIns="0" anchor="t" anchorCtr="0">
            <a:spAutoFit/>
          </a:bodyPr>
          <a:lstStyle/>
          <a:p>
            <a:pPr algn="l"/>
            <a:r>
              <a:rPr lang="en-US" sz="3150" b="1" dirty="0">
                <a:solidFill>
                  <a:srgbClr val="EDEDF0"/>
                </a:solidFill>
                <a:latin typeface="Segoe UI"/>
                <a:ea typeface="Segoe UI"/>
                <a:cs typeface="Segoe UI"/>
              </a:rPr>
              <a:t>The largest iPhone</a:t>
            </a:r>
          </a:p>
        </p:txBody>
      </p:sp>
      <p:sp>
        <p:nvSpPr>
          <p:cNvPr id="7" name="TextBox 7"/>
          <p:cNvSpPr txBox="1"/>
          <p:nvPr/>
        </p:nvSpPr>
        <p:spPr>
          <a:xfrm>
            <a:off x="569595" y="1564958"/>
            <a:ext cx="3349699" cy="640080"/>
          </a:xfrm>
          <a:prstGeom prst="rect">
            <a:avLst/>
          </a:prstGeom>
          <a:noFill/>
          <a:ln>
            <a:noFill/>
          </a:ln>
        </p:spPr>
        <p:txBody>
          <a:bodyPr wrap="none" lIns="0" tIns="0" rIns="0" bIns="0" anchor="t" anchorCtr="0">
            <a:spAutoFit/>
          </a:bodyPr>
          <a:lstStyle/>
          <a:p>
            <a:pPr algn="l"/>
            <a:r>
              <a:rPr lang="en-US" sz="3150" b="1" dirty="0">
                <a:solidFill>
                  <a:srgbClr val="EDEDF0"/>
                </a:solidFill>
                <a:latin typeface="Segoe UI"/>
                <a:ea typeface="Segoe UI"/>
                <a:cs typeface="Segoe UI"/>
              </a:rPr>
              <a:t>displays ever.</a:t>
            </a:r>
          </a:p>
        </p:txBody>
      </p:sp>
      <p:sp>
        <p:nvSpPr>
          <p:cNvPr id="8" name="TextBox 8"/>
          <p:cNvSpPr txBox="1"/>
          <p:nvPr/>
        </p:nvSpPr>
        <p:spPr>
          <a:xfrm>
            <a:off x="590550" y="2200275"/>
            <a:ext cx="8924544" cy="304800"/>
          </a:xfrm>
          <a:prstGeom prst="rect">
            <a:avLst/>
          </a:prstGeom>
          <a:noFill/>
          <a:ln>
            <a:noFill/>
          </a:ln>
        </p:spPr>
        <p:txBody>
          <a:bodyPr wrap="none" lIns="0" tIns="0" rIns="0" bIns="0" anchor="t" anchorCtr="0">
            <a:spAutoFit/>
          </a:bodyPr>
          <a:lstStyle/>
          <a:p>
            <a:pPr algn="l"/>
            <a:r>
              <a:rPr lang="en-US" sz="1500" dirty="0">
                <a:solidFill>
                  <a:srgbClr val="98989E"/>
                </a:solidFill>
                <a:latin typeface="Segoe UI"/>
                <a:ea typeface="Segoe UI"/>
                <a:cs typeface="Segoe UI"/>
              </a:rPr>
              <a:t>Thinnest bezels on any Apple product — Border Reduction Structure (BRS) technology.</a:t>
            </a:r>
          </a:p>
        </p:txBody>
      </p:sp>
      <p:grpSp>
        <p:nvGrpSpPr>
          <p:cNvPr id="16" name="Group 16"/>
          <p:cNvGrpSpPr/>
          <p:nvPr/>
        </p:nvGrpSpPr>
        <p:grpSpPr>
          <a:xfrm>
            <a:off x="609600" y="2762250"/>
            <a:ext cx="5526862" cy="2095500"/>
            <a:chOff x="609600" y="2762250"/>
            <a:chExt cx="5526862" cy="2095500"/>
          </a:xfrm>
        </p:grpSpPr>
        <p:sp>
          <p:nvSpPr>
            <p:cNvPr id="9" name="Rectangle 9"/>
            <p:cNvSpPr/>
            <p:nvPr/>
          </p:nvSpPr>
          <p:spPr>
            <a:xfrm>
              <a:off x="609600" y="2762250"/>
              <a:ext cx="5219700" cy="2095500"/>
            </a:xfrm>
            <a:prstGeom prst="roundRect">
              <a:avLst>
                <a:gd name="adj" fmla="val 5455"/>
              </a:avLst>
            </a:prstGeom>
            <a:solidFill>
              <a:srgbClr val="16161A"/>
            </a:solidFill>
            <a:ln w="9525">
              <a:solidFill>
                <a:srgbClr val="2C2C32"/>
              </a:solidFill>
            </a:ln>
          </p:spPr>
        </p:sp>
        <p:sp>
          <p:nvSpPr>
            <p:cNvPr id="10" name="Rectangle 10"/>
            <p:cNvSpPr/>
            <p:nvPr/>
          </p:nvSpPr>
          <p:spPr>
            <a:xfrm>
              <a:off x="1085850" y="3105150"/>
              <a:ext cx="1714500" cy="1409700"/>
            </a:xfrm>
            <a:prstGeom prst="roundRect">
              <a:avLst>
                <a:gd name="adj" fmla="val 4054"/>
              </a:avLst>
            </a:prstGeom>
            <a:solidFill>
              <a:srgbClr val="0B0B0D"/>
            </a:solidFill>
            <a:ln w="9525">
              <a:solidFill>
                <a:srgbClr val="2C2C32"/>
              </a:solidFill>
            </a:ln>
          </p:spPr>
        </p:sp>
        <p:sp>
          <p:nvSpPr>
            <p:cNvPr id="11" name="TextBox 11"/>
            <p:cNvSpPr txBox="1"/>
            <p:nvPr/>
          </p:nvSpPr>
          <p:spPr>
            <a:xfrm>
              <a:off x="1252850" y="3465195"/>
              <a:ext cx="1380500" cy="792480"/>
            </a:xfrm>
            <a:prstGeom prst="rect">
              <a:avLst/>
            </a:prstGeom>
            <a:noFill/>
            <a:ln>
              <a:noFill/>
            </a:ln>
          </p:spPr>
          <p:txBody>
            <a:bodyPr wrap="none" lIns="0" tIns="0" rIns="0" bIns="0" anchor="t" anchorCtr="0">
              <a:spAutoFit/>
            </a:bodyPr>
            <a:lstStyle/>
            <a:p>
              <a:pPr algn="ctr"/>
              <a:r>
                <a:rPr lang="en-US" sz="3900" b="1" dirty="0">
                  <a:gradFill>
                    <a:gsLst>
                      <a:gs pos="0">
                        <a:srgbClr val="4DA6FF"/>
                      </a:gs>
                      <a:gs pos="100000">
                        <a:srgbClr val="A78BFA"/>
                      </a:gs>
                    </a:gsLst>
                    <a:lin ang="0" scaled="1"/>
                  </a:gradFill>
                  <a:latin typeface="Segoe UI"/>
                  <a:ea typeface="Segoe UI"/>
                  <a:cs typeface="Segoe UI"/>
                </a:rPr>
                <a:t>6.3"</a:t>
              </a:r>
            </a:p>
          </p:txBody>
        </p:sp>
        <p:sp>
          <p:nvSpPr>
            <p:cNvPr id="12" name="TextBox 12"/>
            <p:cNvSpPr txBox="1"/>
            <p:nvPr/>
          </p:nvSpPr>
          <p:spPr>
            <a:xfrm>
              <a:off x="3158490" y="3234690"/>
              <a:ext cx="1766255" cy="365760"/>
            </a:xfrm>
            <a:prstGeom prst="rect">
              <a:avLst/>
            </a:prstGeom>
            <a:noFill/>
            <a:ln>
              <a:noFill/>
            </a:ln>
          </p:spPr>
          <p:txBody>
            <a:bodyPr wrap="none" lIns="0" tIns="0" rIns="0" bIns="0" anchor="t" anchorCtr="0">
              <a:spAutoFit/>
            </a:bodyPr>
            <a:lstStyle/>
            <a:p>
              <a:pPr algn="l"/>
              <a:r>
                <a:rPr lang="en-US" sz="1800" b="1" dirty="0">
                  <a:solidFill>
                    <a:srgbClr val="EDEDF0"/>
                  </a:solidFill>
                  <a:latin typeface="Segoe UI"/>
                  <a:ea typeface="Segoe UI"/>
                  <a:cs typeface="Segoe UI"/>
                </a:rPr>
                <a:t>iPhone 16 Pro</a:t>
              </a:r>
            </a:p>
          </p:txBody>
        </p:sp>
        <p:sp>
          <p:nvSpPr>
            <p:cNvPr id="13" name="TextBox 13"/>
            <p:cNvSpPr txBox="1"/>
            <p:nvPr/>
          </p:nvSpPr>
          <p:spPr>
            <a:xfrm>
              <a:off x="3164205" y="3607118"/>
              <a:ext cx="1580083" cy="274320"/>
            </a:xfrm>
            <a:prstGeom prst="rect">
              <a:avLst/>
            </a:prstGeom>
            <a:noFill/>
            <a:ln>
              <a:noFill/>
            </a:ln>
          </p:spPr>
          <p:txBody>
            <a:bodyPr wrap="none" lIns="0" tIns="0" rIns="0" bIns="0" anchor="t" anchorCtr="0">
              <a:spAutoFit/>
            </a:bodyPr>
            <a:lstStyle/>
            <a:p>
              <a:pPr algn="l"/>
              <a:r>
                <a:rPr lang="en-US" sz="1350" dirty="0">
                  <a:solidFill>
                    <a:srgbClr val="98989E"/>
                  </a:solidFill>
                  <a:latin typeface="Segoe UI"/>
                  <a:ea typeface="Segoe UI"/>
                  <a:cs typeface="Segoe UI"/>
                </a:rPr>
                <a:t>Super Retina XDR</a:t>
              </a:r>
            </a:p>
          </p:txBody>
        </p:sp>
        <p:sp>
          <p:nvSpPr>
            <p:cNvPr id="14" name="TextBox 14"/>
            <p:cNvSpPr txBox="1"/>
            <p:nvPr/>
          </p:nvSpPr>
          <p:spPr>
            <a:xfrm>
              <a:off x="3164205" y="3892868"/>
              <a:ext cx="2799436" cy="274320"/>
            </a:xfrm>
            <a:prstGeom prst="rect">
              <a:avLst/>
            </a:prstGeom>
            <a:noFill/>
            <a:ln>
              <a:noFill/>
            </a:ln>
          </p:spPr>
          <p:txBody>
            <a:bodyPr wrap="none" lIns="0" tIns="0" rIns="0" bIns="0" anchor="t" anchorCtr="0">
              <a:spAutoFit/>
            </a:bodyPr>
            <a:lstStyle/>
            <a:p>
              <a:pPr algn="l"/>
              <a:r>
                <a:rPr lang="en-US" sz="1350" dirty="0">
                  <a:solidFill>
                    <a:srgbClr val="98989E"/>
                  </a:solidFill>
                  <a:latin typeface="Segoe UI"/>
                  <a:ea typeface="Segoe UI"/>
                  <a:cs typeface="Segoe UI"/>
                </a:rPr>
                <a:t>Up from 6.1" on iPhone 15 Pro</a:t>
              </a:r>
            </a:p>
          </p:txBody>
        </p:sp>
        <p:sp>
          <p:nvSpPr>
            <p:cNvPr id="15" name="TextBox 15"/>
            <p:cNvSpPr txBox="1"/>
            <p:nvPr/>
          </p:nvSpPr>
          <p:spPr>
            <a:xfrm>
              <a:off x="3164205" y="4216718"/>
              <a:ext cx="2972257" cy="274320"/>
            </a:xfrm>
            <a:prstGeom prst="rect">
              <a:avLst/>
            </a:prstGeom>
            <a:noFill/>
            <a:ln>
              <a:noFill/>
            </a:ln>
          </p:spPr>
          <p:txBody>
            <a:bodyPr wrap="none" lIns="0" tIns="0" rIns="0" bIns="0" anchor="t" anchorCtr="0">
              <a:spAutoFit/>
            </a:bodyPr>
            <a:lstStyle/>
            <a:p>
              <a:pPr algn="l"/>
              <a:r>
                <a:rPr lang="en-US" sz="1350" dirty="0">
                  <a:solidFill>
                    <a:srgbClr val="98989E"/>
                  </a:solidFill>
                  <a:latin typeface="Segoe UI"/>
                  <a:ea typeface="Segoe UI"/>
                  <a:cs typeface="Segoe UI"/>
                </a:rPr>
                <a:t>ProMotion 1–120Hz · Always-On</a:t>
              </a:r>
            </a:p>
          </p:txBody>
        </p:sp>
      </p:grpSp>
      <p:grpSp>
        <p:nvGrpSpPr>
          <p:cNvPr id="24" name="Group 24"/>
          <p:cNvGrpSpPr/>
          <p:nvPr/>
        </p:nvGrpSpPr>
        <p:grpSpPr>
          <a:xfrm>
            <a:off x="6096000" y="2762250"/>
            <a:ext cx="5862142" cy="2095500"/>
            <a:chOff x="6096000" y="2762250"/>
            <a:chExt cx="5862142" cy="2095500"/>
          </a:xfrm>
        </p:grpSpPr>
        <p:sp>
          <p:nvSpPr>
            <p:cNvPr id="17" name="Rectangle 17"/>
            <p:cNvSpPr/>
            <p:nvPr/>
          </p:nvSpPr>
          <p:spPr>
            <a:xfrm>
              <a:off x="6096000" y="2762250"/>
              <a:ext cx="5219700" cy="2095500"/>
            </a:xfrm>
            <a:prstGeom prst="roundRect">
              <a:avLst>
                <a:gd name="adj" fmla="val 5455"/>
              </a:avLst>
            </a:prstGeom>
            <a:solidFill>
              <a:srgbClr val="16161A"/>
            </a:solidFill>
            <a:ln w="9525">
              <a:solidFill>
                <a:srgbClr val="2C2C32"/>
              </a:solidFill>
            </a:ln>
          </p:spPr>
        </p:sp>
        <p:sp>
          <p:nvSpPr>
            <p:cNvPr id="18" name="Rectangle 18"/>
            <p:cNvSpPr/>
            <p:nvPr/>
          </p:nvSpPr>
          <p:spPr>
            <a:xfrm>
              <a:off x="6572250" y="3028950"/>
              <a:ext cx="1809750" cy="1562100"/>
            </a:xfrm>
            <a:prstGeom prst="roundRect">
              <a:avLst>
                <a:gd name="adj" fmla="val 3659"/>
              </a:avLst>
            </a:prstGeom>
            <a:solidFill>
              <a:srgbClr val="0B0B0D"/>
            </a:solidFill>
            <a:ln w="9525">
              <a:solidFill>
                <a:srgbClr val="2C2C32"/>
              </a:solidFill>
            </a:ln>
          </p:spPr>
        </p:sp>
        <p:sp>
          <p:nvSpPr>
            <p:cNvPr id="19" name="TextBox 19"/>
            <p:cNvSpPr txBox="1"/>
            <p:nvPr/>
          </p:nvSpPr>
          <p:spPr>
            <a:xfrm>
              <a:off x="6733779" y="3451860"/>
              <a:ext cx="1486692" cy="853440"/>
            </a:xfrm>
            <a:prstGeom prst="rect">
              <a:avLst/>
            </a:prstGeom>
            <a:noFill/>
            <a:ln>
              <a:noFill/>
            </a:ln>
          </p:spPr>
          <p:txBody>
            <a:bodyPr wrap="none" lIns="0" tIns="0" rIns="0" bIns="0" anchor="t" anchorCtr="0">
              <a:spAutoFit/>
            </a:bodyPr>
            <a:lstStyle/>
            <a:p>
              <a:pPr algn="ctr"/>
              <a:r>
                <a:rPr lang="en-US" sz="4200" b="1" dirty="0">
                  <a:gradFill>
                    <a:gsLst>
                      <a:gs pos="0">
                        <a:srgbClr val="D4A853"/>
                      </a:gs>
                      <a:gs pos="100000">
                        <a:srgbClr val="F5C973"/>
                      </a:gs>
                    </a:gsLst>
                    <a:lin ang="0" scaled="1"/>
                  </a:gradFill>
                  <a:latin typeface="Segoe UI"/>
                  <a:ea typeface="Segoe UI"/>
                  <a:cs typeface="Segoe UI"/>
                </a:rPr>
                <a:t>6.9"</a:t>
              </a:r>
            </a:p>
          </p:txBody>
        </p:sp>
        <p:sp>
          <p:nvSpPr>
            <p:cNvPr id="20" name="TextBox 20"/>
            <p:cNvSpPr txBox="1"/>
            <p:nvPr/>
          </p:nvSpPr>
          <p:spPr>
            <a:xfrm>
              <a:off x="8740140" y="3234690"/>
              <a:ext cx="2344247" cy="365760"/>
            </a:xfrm>
            <a:prstGeom prst="rect">
              <a:avLst/>
            </a:prstGeom>
            <a:noFill/>
            <a:ln>
              <a:noFill/>
            </a:ln>
          </p:spPr>
          <p:txBody>
            <a:bodyPr wrap="none" lIns="0" tIns="0" rIns="0" bIns="0" anchor="t" anchorCtr="0">
              <a:spAutoFit/>
            </a:bodyPr>
            <a:lstStyle/>
            <a:p>
              <a:pPr algn="l"/>
              <a:r>
                <a:rPr lang="en-US" sz="1800" b="1" dirty="0">
                  <a:solidFill>
                    <a:srgbClr val="EDEDF0"/>
                  </a:solidFill>
                  <a:latin typeface="Segoe UI"/>
                  <a:ea typeface="Segoe UI"/>
                  <a:cs typeface="Segoe UI"/>
                </a:rPr>
                <a:t>iPhone 16 Pro Max</a:t>
              </a:r>
            </a:p>
          </p:txBody>
        </p:sp>
        <p:sp>
          <p:nvSpPr>
            <p:cNvPr id="21" name="TextBox 21"/>
            <p:cNvSpPr txBox="1"/>
            <p:nvPr/>
          </p:nvSpPr>
          <p:spPr>
            <a:xfrm>
              <a:off x="8745855" y="3607118"/>
              <a:ext cx="1580083" cy="274320"/>
            </a:xfrm>
            <a:prstGeom prst="rect">
              <a:avLst/>
            </a:prstGeom>
            <a:noFill/>
            <a:ln>
              <a:noFill/>
            </a:ln>
          </p:spPr>
          <p:txBody>
            <a:bodyPr wrap="none" lIns="0" tIns="0" rIns="0" bIns="0" anchor="t" anchorCtr="0">
              <a:spAutoFit/>
            </a:bodyPr>
            <a:lstStyle/>
            <a:p>
              <a:pPr algn="l"/>
              <a:r>
                <a:rPr lang="en-US" sz="1350" dirty="0">
                  <a:solidFill>
                    <a:srgbClr val="98989E"/>
                  </a:solidFill>
                  <a:latin typeface="Segoe UI"/>
                  <a:ea typeface="Segoe UI"/>
                  <a:cs typeface="Segoe UI"/>
                </a:rPr>
                <a:t>Super Retina XDR</a:t>
              </a:r>
            </a:p>
          </p:txBody>
        </p:sp>
        <p:sp>
          <p:nvSpPr>
            <p:cNvPr id="22" name="TextBox 22"/>
            <p:cNvSpPr txBox="1"/>
            <p:nvPr/>
          </p:nvSpPr>
          <p:spPr>
            <a:xfrm>
              <a:off x="8745855" y="3892868"/>
              <a:ext cx="3212287" cy="274320"/>
            </a:xfrm>
            <a:prstGeom prst="rect">
              <a:avLst/>
            </a:prstGeom>
            <a:noFill/>
            <a:ln>
              <a:noFill/>
            </a:ln>
          </p:spPr>
          <p:txBody>
            <a:bodyPr wrap="none" lIns="0" tIns="0" rIns="0" bIns="0" anchor="t" anchorCtr="0">
              <a:spAutoFit/>
            </a:bodyPr>
            <a:lstStyle/>
            <a:p>
              <a:pPr algn="l"/>
              <a:r>
                <a:rPr lang="en-US" sz="1350" dirty="0">
                  <a:solidFill>
                    <a:srgbClr val="98989E"/>
                  </a:solidFill>
                  <a:latin typeface="Segoe UI"/>
                  <a:ea typeface="Segoe UI"/>
                  <a:cs typeface="Segoe UI"/>
                </a:rPr>
                <a:t>Up from 6.7" on iPhone 15 Pro Max</a:t>
              </a:r>
            </a:p>
          </p:txBody>
        </p:sp>
        <p:sp>
          <p:nvSpPr>
            <p:cNvPr id="23" name="TextBox 23"/>
            <p:cNvSpPr txBox="1"/>
            <p:nvPr/>
          </p:nvSpPr>
          <p:spPr>
            <a:xfrm>
              <a:off x="8745855" y="4216718"/>
              <a:ext cx="2597810" cy="274320"/>
            </a:xfrm>
            <a:prstGeom prst="rect">
              <a:avLst/>
            </a:prstGeom>
            <a:noFill/>
            <a:ln>
              <a:noFill/>
            </a:ln>
          </p:spPr>
          <p:txBody>
            <a:bodyPr wrap="none" lIns="0" tIns="0" rIns="0" bIns="0" anchor="t" anchorCtr="0">
              <a:spAutoFit/>
            </a:bodyPr>
            <a:lstStyle/>
            <a:p>
              <a:pPr algn="l"/>
              <a:r>
                <a:rPr lang="en-US" sz="1350" dirty="0">
                  <a:solidFill>
                    <a:srgbClr val="98989E"/>
                  </a:solidFill>
                  <a:latin typeface="Segoe UI"/>
                  <a:ea typeface="Segoe UI"/>
                  <a:cs typeface="Segoe UI"/>
                </a:rPr>
                <a:t>Largest iPhone display ever</a:t>
              </a:r>
            </a:p>
          </p:txBody>
        </p:sp>
      </p:grpSp>
      <p:sp>
        <p:nvSpPr>
          <p:cNvPr id="25" name="Rectangle 25"/>
          <p:cNvSpPr/>
          <p:nvPr/>
        </p:nvSpPr>
        <p:spPr>
          <a:xfrm>
            <a:off x="609600" y="5191125"/>
            <a:ext cx="10972800" cy="762000"/>
          </a:xfrm>
          <a:prstGeom prst="roundRect">
            <a:avLst>
              <a:gd name="adj" fmla="val 12500"/>
            </a:avLst>
          </a:prstGeom>
          <a:solidFill>
            <a:srgbClr val="16161A"/>
          </a:solidFill>
          <a:ln w="9525">
            <a:solidFill>
              <a:srgbClr val="2C2C32"/>
            </a:solidFill>
          </a:ln>
        </p:spPr>
      </p:sp>
      <p:grpSp>
        <p:nvGrpSpPr>
          <p:cNvPr id="28" name="Group 28"/>
          <p:cNvGrpSpPr/>
          <p:nvPr/>
        </p:nvGrpSpPr>
        <p:grpSpPr>
          <a:xfrm>
            <a:off x="971550" y="5457825"/>
            <a:ext cx="2065477" cy="542925"/>
            <a:chOff x="971550" y="5457825"/>
            <a:chExt cx="2065477" cy="542925"/>
          </a:xfrm>
        </p:grpSpPr>
        <p:sp>
          <p:nvSpPr>
            <p:cNvPr id="26" name="TextBox 26"/>
            <p:cNvSpPr txBox="1"/>
            <p:nvPr/>
          </p:nvSpPr>
          <p:spPr>
            <a:xfrm>
              <a:off x="971550" y="5457825"/>
              <a:ext cx="1158240" cy="304800"/>
            </a:xfrm>
            <a:prstGeom prst="rect">
              <a:avLst/>
            </a:prstGeom>
            <a:noFill/>
            <a:ln>
              <a:noFill/>
            </a:ln>
          </p:spPr>
          <p:txBody>
            <a:bodyPr wrap="none" lIns="0" tIns="0" rIns="0" bIns="0" anchor="t" anchorCtr="0">
              <a:spAutoFit/>
            </a:bodyPr>
            <a:lstStyle/>
            <a:p>
              <a:pPr algn="l"/>
              <a:r>
                <a:rPr lang="en-US" sz="1500" b="1" dirty="0">
                  <a:solidFill>
                    <a:srgbClr val="EDEDF0"/>
                  </a:solidFill>
                  <a:latin typeface="Segoe UI"/>
                  <a:ea typeface="Segoe UI"/>
                  <a:cs typeface="Segoe UI"/>
                </a:rPr>
                <a:t>2,000 nits</a:t>
              </a:r>
            </a:p>
          </p:txBody>
        </p:sp>
        <p:sp>
          <p:nvSpPr>
            <p:cNvPr id="27" name="TextBox 27"/>
            <p:cNvSpPr txBox="1"/>
            <p:nvPr/>
          </p:nvSpPr>
          <p:spPr>
            <a:xfrm>
              <a:off x="975360" y="5756910"/>
              <a:ext cx="2061667" cy="243840"/>
            </a:xfrm>
            <a:prstGeom prst="rect">
              <a:avLst/>
            </a:prstGeom>
            <a:noFill/>
            <a:ln>
              <a:noFill/>
            </a:ln>
          </p:spPr>
          <p:txBody>
            <a:bodyPr wrap="none" lIns="0" tIns="0" rIns="0" bIns="0" anchor="t" anchorCtr="0">
              <a:spAutoFit/>
            </a:bodyPr>
            <a:lstStyle/>
            <a:p>
              <a:pPr algn="l"/>
              <a:r>
                <a:rPr lang="en-US" sz="1200" dirty="0">
                  <a:solidFill>
                    <a:srgbClr val="98989E"/>
                  </a:solidFill>
                  <a:latin typeface="Segoe UI"/>
                  <a:ea typeface="Segoe UI"/>
                  <a:cs typeface="Segoe UI"/>
                </a:rPr>
                <a:t>Peak outdoor brightness</a:t>
              </a:r>
            </a:p>
          </p:txBody>
        </p:sp>
      </p:grpSp>
      <p:grpSp>
        <p:nvGrpSpPr>
          <p:cNvPr id="31" name="Group 31"/>
          <p:cNvGrpSpPr/>
          <p:nvPr/>
        </p:nvGrpSpPr>
        <p:grpSpPr>
          <a:xfrm>
            <a:off x="3600450" y="5457825"/>
            <a:ext cx="3192018" cy="542925"/>
            <a:chOff x="3600450" y="5457825"/>
            <a:chExt cx="3192018" cy="542925"/>
          </a:xfrm>
        </p:grpSpPr>
        <p:sp>
          <p:nvSpPr>
            <p:cNvPr id="29" name="TextBox 29"/>
            <p:cNvSpPr txBox="1"/>
            <p:nvPr/>
          </p:nvSpPr>
          <p:spPr>
            <a:xfrm>
              <a:off x="3600450" y="5457825"/>
              <a:ext cx="1583893" cy="304800"/>
            </a:xfrm>
            <a:prstGeom prst="rect">
              <a:avLst/>
            </a:prstGeom>
            <a:noFill/>
            <a:ln>
              <a:noFill/>
            </a:ln>
          </p:spPr>
          <p:txBody>
            <a:bodyPr wrap="none" lIns="0" tIns="0" rIns="0" bIns="0" anchor="t" anchorCtr="0">
              <a:spAutoFit/>
            </a:bodyPr>
            <a:lstStyle/>
            <a:p>
              <a:pPr algn="l"/>
              <a:r>
                <a:rPr lang="en-US" sz="1500" b="1" dirty="0">
                  <a:solidFill>
                    <a:srgbClr val="EDEDF0"/>
                  </a:solidFill>
                  <a:latin typeface="Segoe UI"/>
                  <a:ea typeface="Segoe UI"/>
                  <a:cs typeface="Segoe UI"/>
                </a:rPr>
                <a:t>Ceramic Shield</a:t>
              </a:r>
            </a:p>
          </p:txBody>
        </p:sp>
        <p:sp>
          <p:nvSpPr>
            <p:cNvPr id="30" name="TextBox 30"/>
            <p:cNvSpPr txBox="1"/>
            <p:nvPr/>
          </p:nvSpPr>
          <p:spPr>
            <a:xfrm>
              <a:off x="3604260" y="5756910"/>
              <a:ext cx="3188208" cy="243840"/>
            </a:xfrm>
            <a:prstGeom prst="rect">
              <a:avLst/>
            </a:prstGeom>
            <a:noFill/>
            <a:ln>
              <a:noFill/>
            </a:ln>
          </p:spPr>
          <p:txBody>
            <a:bodyPr wrap="none" lIns="0" tIns="0" rIns="0" bIns="0" anchor="t" anchorCtr="0">
              <a:spAutoFit/>
            </a:bodyPr>
            <a:lstStyle/>
            <a:p>
              <a:pPr algn="l"/>
              <a:r>
                <a:rPr lang="en-US" sz="1200" dirty="0">
                  <a:solidFill>
                    <a:srgbClr val="98989E"/>
                  </a:solidFill>
                  <a:latin typeface="Segoe UI"/>
                  <a:ea typeface="Segoe UI"/>
                  <a:cs typeface="Segoe UI"/>
                </a:rPr>
                <a:t>2× tougher than any smartphone glass</a:t>
              </a:r>
            </a:p>
          </p:txBody>
        </p:sp>
      </p:grpSp>
      <p:grpSp>
        <p:nvGrpSpPr>
          <p:cNvPr id="34" name="Group 34"/>
          <p:cNvGrpSpPr/>
          <p:nvPr/>
        </p:nvGrpSpPr>
        <p:grpSpPr>
          <a:xfrm>
            <a:off x="6457950" y="5457825"/>
            <a:ext cx="2944520" cy="542925"/>
            <a:chOff x="6457950" y="5457825"/>
            <a:chExt cx="2944520" cy="542925"/>
          </a:xfrm>
        </p:grpSpPr>
        <p:sp>
          <p:nvSpPr>
            <p:cNvPr id="32" name="TextBox 32"/>
            <p:cNvSpPr txBox="1"/>
            <p:nvPr/>
          </p:nvSpPr>
          <p:spPr>
            <a:xfrm>
              <a:off x="6457950" y="5457825"/>
              <a:ext cx="1583893" cy="304800"/>
            </a:xfrm>
            <a:prstGeom prst="rect">
              <a:avLst/>
            </a:prstGeom>
            <a:noFill/>
            <a:ln>
              <a:noFill/>
            </a:ln>
          </p:spPr>
          <p:txBody>
            <a:bodyPr wrap="none" lIns="0" tIns="0" rIns="0" bIns="0" anchor="t" anchorCtr="0">
              <a:spAutoFit/>
            </a:bodyPr>
            <a:lstStyle/>
            <a:p>
              <a:pPr algn="l"/>
              <a:r>
                <a:rPr lang="en-US" sz="1500" b="1" dirty="0">
                  <a:solidFill>
                    <a:srgbClr val="EDEDF0"/>
                  </a:solidFill>
                  <a:latin typeface="Segoe UI"/>
                  <a:ea typeface="Segoe UI"/>
                  <a:cs typeface="Segoe UI"/>
                </a:rPr>
                <a:t>Dynamic Island</a:t>
              </a:r>
            </a:p>
          </p:txBody>
        </p:sp>
        <p:sp>
          <p:nvSpPr>
            <p:cNvPr id="33" name="TextBox 33"/>
            <p:cNvSpPr txBox="1"/>
            <p:nvPr/>
          </p:nvSpPr>
          <p:spPr>
            <a:xfrm>
              <a:off x="6461760" y="5756910"/>
              <a:ext cx="2940710" cy="243840"/>
            </a:xfrm>
            <a:prstGeom prst="rect">
              <a:avLst/>
            </a:prstGeom>
            <a:noFill/>
            <a:ln>
              <a:noFill/>
            </a:ln>
          </p:spPr>
          <p:txBody>
            <a:bodyPr wrap="none" lIns="0" tIns="0" rIns="0" bIns="0" anchor="t" anchorCtr="0">
              <a:spAutoFit/>
            </a:bodyPr>
            <a:lstStyle/>
            <a:p>
              <a:pPr algn="l"/>
              <a:r>
                <a:rPr lang="en-US" sz="1200" dirty="0">
                  <a:solidFill>
                    <a:srgbClr val="98989E"/>
                  </a:solidFill>
                  <a:latin typeface="Segoe UI"/>
                  <a:ea typeface="Segoe UI"/>
                  <a:cs typeface="Segoe UI"/>
                </a:rPr>
                <a:t>Interactive alerts &amp; Live Activities</a:t>
              </a:r>
            </a:p>
          </p:txBody>
        </p:sp>
      </p:grpSp>
      <p:grpSp>
        <p:nvGrpSpPr>
          <p:cNvPr id="37" name="Group 37"/>
          <p:cNvGrpSpPr/>
          <p:nvPr/>
        </p:nvGrpSpPr>
        <p:grpSpPr>
          <a:xfrm>
            <a:off x="9220200" y="5457825"/>
            <a:ext cx="2620213" cy="542925"/>
            <a:chOff x="9220200" y="5457825"/>
            <a:chExt cx="2620213" cy="542925"/>
          </a:xfrm>
        </p:grpSpPr>
        <p:sp>
          <p:nvSpPr>
            <p:cNvPr id="35" name="TextBox 35"/>
            <p:cNvSpPr txBox="1"/>
            <p:nvPr/>
          </p:nvSpPr>
          <p:spPr>
            <a:xfrm>
              <a:off x="9220200" y="5457825"/>
              <a:ext cx="1494282" cy="304800"/>
            </a:xfrm>
            <a:prstGeom prst="rect">
              <a:avLst/>
            </a:prstGeom>
            <a:noFill/>
            <a:ln>
              <a:noFill/>
            </a:ln>
          </p:spPr>
          <p:txBody>
            <a:bodyPr wrap="none" lIns="0" tIns="0" rIns="0" bIns="0" anchor="t" anchorCtr="0">
              <a:spAutoFit/>
            </a:bodyPr>
            <a:lstStyle/>
            <a:p>
              <a:pPr algn="l"/>
              <a:r>
                <a:rPr lang="en-US" sz="1500" b="1" dirty="0">
                  <a:solidFill>
                    <a:srgbClr val="EDEDF0"/>
                  </a:solidFill>
                  <a:latin typeface="Segoe UI"/>
                  <a:ea typeface="Segoe UI"/>
                  <a:cs typeface="Segoe UI"/>
                </a:rPr>
                <a:t>1 nit minimum</a:t>
              </a:r>
            </a:p>
          </p:txBody>
        </p:sp>
        <p:sp>
          <p:nvSpPr>
            <p:cNvPr id="36" name="TextBox 36"/>
            <p:cNvSpPr txBox="1"/>
            <p:nvPr/>
          </p:nvSpPr>
          <p:spPr>
            <a:xfrm>
              <a:off x="9224010" y="5756910"/>
              <a:ext cx="2616403" cy="243840"/>
            </a:xfrm>
            <a:prstGeom prst="rect">
              <a:avLst/>
            </a:prstGeom>
            <a:noFill/>
            <a:ln>
              <a:noFill/>
            </a:ln>
          </p:spPr>
          <p:txBody>
            <a:bodyPr wrap="none" lIns="0" tIns="0" rIns="0" bIns="0" anchor="t" anchorCtr="0">
              <a:spAutoFit/>
            </a:bodyPr>
            <a:lstStyle/>
            <a:p>
              <a:pPr algn="l"/>
              <a:r>
                <a:rPr lang="en-US" sz="1200" dirty="0">
                  <a:solidFill>
                    <a:srgbClr val="98989E"/>
                  </a:solidFill>
                  <a:latin typeface="Segoe UI"/>
                  <a:ea typeface="Segoe UI"/>
                  <a:cs typeface="Segoe UI"/>
                </a:rPr>
                <a:t>Perfect for dark environments</a:t>
              </a:r>
            </a:p>
          </p:txBody>
        </p:sp>
      </p:grpSp>
      <p:sp>
        <p:nvSpPr>
          <p:cNvPr id="38" name="TextBox 38"/>
          <p:cNvSpPr txBox="1"/>
          <p:nvPr/>
        </p:nvSpPr>
        <p:spPr>
          <a:xfrm>
            <a:off x="11183112" y="6442710"/>
            <a:ext cx="414528" cy="243840"/>
          </a:xfrm>
          <a:prstGeom prst="rect">
            <a:avLst/>
          </a:prstGeom>
          <a:noFill/>
          <a:ln>
            <a:noFill/>
          </a:ln>
        </p:spPr>
        <p:txBody>
          <a:bodyPr wrap="none" lIns="0" tIns="0" rIns="0" bIns="0" anchor="t" anchorCtr="0">
            <a:spAutoFit/>
          </a:bodyPr>
          <a:lstStyle/>
          <a:p>
            <a:pPr algn="r"/>
            <a:r>
              <a:rPr lang="en-US" sz="1200" dirty="0">
                <a:solidFill>
                  <a:srgbClr val="6B6B72"/>
                </a:solidFill>
                <a:latin typeface="Segoe UI"/>
                <a:ea typeface="Segoe UI"/>
                <a:cs typeface="Segoe UI"/>
              </a:rPr>
              <a:t>4 / 9</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B0D"/>
          </a:solidFill>
          <a:ln>
            <a:noFill/>
          </a:ln>
        </p:spPr>
      </p:sp>
      <p:sp>
        <p:nvSpPr>
          <p:cNvPr id="3" name="Rectangle 3"/>
          <p:cNvSpPr/>
          <p:nvPr/>
        </p:nvSpPr>
        <p:spPr>
          <a:xfrm>
            <a:off x="0" y="0"/>
            <a:ext cx="12192000" cy="6858000"/>
          </a:xfrm>
          <a:prstGeom prst="rect">
            <a:avLst/>
          </a:prstGeom>
          <a:gradFill>
            <a:gsLst>
              <a:gs pos="0">
                <a:srgbClr val="D4A853">
                  <a:alpha val="7000"/>
                </a:srgbClr>
              </a:gs>
              <a:gs pos="50000">
                <a:srgbClr val="4DA6FF">
                  <a:alpha val="3000"/>
                </a:srgbClr>
              </a:gs>
              <a:gs pos="100000">
                <a:srgbClr val="0B0B0D">
                  <a:alpha val="0"/>
                </a:srgbClr>
              </a:gs>
            </a:gsLst>
            <a:path path="circle">
              <a:fillToRect l="50000" t="50000" r="50000" b="50000"/>
            </a:path>
          </a:gradFill>
          <a:ln>
            <a:noFill/>
          </a:ln>
        </p:spPr>
      </p:sp>
      <p:sp>
        <p:nvSpPr>
          <p:cNvPr id="4" name="Line 4"/>
          <p:cNvSpPr/>
          <p:nvPr/>
        </p:nvSpPr>
        <p:spPr>
          <a:xfrm>
            <a:off x="609600" y="762000"/>
            <a:ext cx="1295400" cy="9525"/>
          </a:xfrm>
          <a:custGeom>
            <a:avLst/>
            <a:gdLst/>
            <a:ahLst/>
            <a:cxnLst/>
            <a:rect l="l" t="t" r="r" b="b"/>
            <a:pathLst>
              <a:path w="1295400" h="9525">
                <a:moveTo>
                  <a:pt x="0" y="0"/>
                </a:moveTo>
                <a:lnTo>
                  <a:pt x="1295400" y="0"/>
                </a:lnTo>
              </a:path>
            </a:pathLst>
          </a:custGeom>
          <a:noFill/>
          <a:ln w="19050">
            <a:solidFill>
              <a:srgbClr val="D4A853">
                <a:alpha val="50000"/>
              </a:srgbClr>
            </a:solidFill>
          </a:ln>
        </p:spPr>
      </p:sp>
      <p:sp>
        <p:nvSpPr>
          <p:cNvPr id="5" name="TextBox 5"/>
          <p:cNvSpPr txBox="1"/>
          <p:nvPr/>
        </p:nvSpPr>
        <p:spPr>
          <a:xfrm>
            <a:off x="594360" y="556260"/>
            <a:ext cx="2097938" cy="243840"/>
          </a:xfrm>
          <a:prstGeom prst="rect">
            <a:avLst/>
          </a:prstGeom>
          <a:noFill/>
          <a:ln>
            <a:noFill/>
          </a:ln>
        </p:spPr>
        <p:txBody>
          <a:bodyPr wrap="none" lIns="0" tIns="0" rIns="0" bIns="0" anchor="t" anchorCtr="0">
            <a:spAutoFit/>
          </a:bodyPr>
          <a:lstStyle/>
          <a:p>
            <a:pPr algn="l"/>
            <a:r>
              <a:rPr lang="en-US" sz="1200" spc="375" dirty="0">
                <a:solidFill>
                  <a:srgbClr val="98989E"/>
                </a:solidFill>
                <a:latin typeface="Segoe UI"/>
                <a:ea typeface="Segoe UI"/>
                <a:cs typeface="Segoe UI"/>
              </a:rPr>
              <a:t>CAMERA CONTROL</a:t>
            </a:r>
          </a:p>
        </p:txBody>
      </p:sp>
      <p:sp>
        <p:nvSpPr>
          <p:cNvPr id="6" name="TextBox 6"/>
          <p:cNvSpPr txBox="1"/>
          <p:nvPr/>
        </p:nvSpPr>
        <p:spPr>
          <a:xfrm>
            <a:off x="569595" y="1088708"/>
            <a:ext cx="5231534" cy="640080"/>
          </a:xfrm>
          <a:prstGeom prst="rect">
            <a:avLst/>
          </a:prstGeom>
          <a:noFill/>
          <a:ln>
            <a:noFill/>
          </a:ln>
        </p:spPr>
        <p:txBody>
          <a:bodyPr wrap="none" lIns="0" tIns="0" rIns="0" bIns="0" anchor="t" anchorCtr="0">
            <a:spAutoFit/>
          </a:bodyPr>
          <a:lstStyle/>
          <a:p>
            <a:pPr algn="l"/>
            <a:r>
              <a:rPr lang="en-US" sz="3150" b="1" dirty="0">
                <a:solidFill>
                  <a:srgbClr val="EDEDF0"/>
                </a:solidFill>
                <a:latin typeface="Segoe UI"/>
                <a:ea typeface="Segoe UI"/>
                <a:cs typeface="Segoe UI"/>
              </a:rPr>
              <a:t>A new way to capture.</a:t>
            </a:r>
          </a:p>
        </p:txBody>
      </p:sp>
      <p:sp>
        <p:nvSpPr>
          <p:cNvPr id="7" name="TextBox 7"/>
          <p:cNvSpPr txBox="1"/>
          <p:nvPr/>
        </p:nvSpPr>
        <p:spPr>
          <a:xfrm>
            <a:off x="588645" y="1726882"/>
            <a:ext cx="8960358" cy="335280"/>
          </a:xfrm>
          <a:prstGeom prst="rect">
            <a:avLst/>
          </a:prstGeom>
          <a:noFill/>
          <a:ln>
            <a:noFill/>
          </a:ln>
        </p:spPr>
        <p:txBody>
          <a:bodyPr wrap="none" lIns="0" tIns="0" rIns="0" bIns="0" anchor="t" anchorCtr="0">
            <a:spAutoFit/>
          </a:bodyPr>
          <a:lstStyle/>
          <a:p>
            <a:pPr algn="l"/>
            <a:r>
              <a:rPr lang="en-US" sz="1650" dirty="0">
                <a:solidFill>
                  <a:srgbClr val="98989E"/>
                </a:solidFill>
                <a:latin typeface="Segoe UI"/>
                <a:ea typeface="Segoe UI"/>
                <a:cs typeface="Segoe UI"/>
              </a:rPr>
              <a:t>All-new tactile Camera Control button — capacitive, haptic, sapphire crystal.</a:t>
            </a:r>
          </a:p>
        </p:txBody>
      </p:sp>
      <p:grpSp>
        <p:nvGrpSpPr>
          <p:cNvPr id="18" name="Group 18"/>
          <p:cNvGrpSpPr/>
          <p:nvPr/>
        </p:nvGrpSpPr>
        <p:grpSpPr>
          <a:xfrm>
            <a:off x="7572375" y="2619375"/>
            <a:ext cx="2000250" cy="2000250"/>
            <a:chOff x="7572375" y="2619375"/>
            <a:chExt cx="2000250" cy="2000250"/>
          </a:xfrm>
        </p:grpSpPr>
        <p:sp>
          <p:nvSpPr>
            <p:cNvPr id="8" name="Ellipse 8"/>
            <p:cNvSpPr/>
            <p:nvPr/>
          </p:nvSpPr>
          <p:spPr>
            <a:xfrm>
              <a:off x="7572375" y="2619375"/>
              <a:ext cx="2000250" cy="2000250"/>
            </a:xfrm>
            <a:prstGeom prst="ellipse">
              <a:avLst/>
            </a:prstGeom>
            <a:noFill/>
            <a:ln w="19050">
              <a:solidFill>
                <a:srgbClr val="D4A853">
                  <a:alpha val="15000"/>
                </a:srgbClr>
              </a:solidFill>
            </a:ln>
          </p:spPr>
        </p:sp>
        <p:sp>
          <p:nvSpPr>
            <p:cNvPr id="9" name="Ellipse 9"/>
            <p:cNvSpPr/>
            <p:nvPr/>
          </p:nvSpPr>
          <p:spPr>
            <a:xfrm>
              <a:off x="7715250" y="2762250"/>
              <a:ext cx="1714500" cy="1714500"/>
            </a:xfrm>
            <a:prstGeom prst="ellipse">
              <a:avLst/>
            </a:prstGeom>
            <a:noFill/>
            <a:ln w="9525">
              <a:solidFill>
                <a:srgbClr val="D4A853">
                  <a:alpha val="8000"/>
                </a:srgbClr>
              </a:solidFill>
            </a:ln>
          </p:spPr>
        </p:sp>
        <p:sp>
          <p:nvSpPr>
            <p:cNvPr id="10" name="Rectangle 10"/>
            <p:cNvSpPr/>
            <p:nvPr/>
          </p:nvSpPr>
          <p:spPr>
            <a:xfrm>
              <a:off x="7953375" y="2857500"/>
              <a:ext cx="1238250" cy="1524000"/>
            </a:xfrm>
            <a:prstGeom prst="roundRect">
              <a:avLst>
                <a:gd name="adj" fmla="val 50000"/>
              </a:avLst>
            </a:prstGeom>
            <a:solidFill>
              <a:srgbClr val="1A1A1E"/>
            </a:solidFill>
            <a:ln w="14288">
              <a:solidFill>
                <a:srgbClr val="D4A853">
                  <a:alpha val="40000"/>
                </a:srgbClr>
              </a:solidFill>
            </a:ln>
          </p:spPr>
        </p:sp>
        <p:sp>
          <p:nvSpPr>
            <p:cNvPr id="11" name="Rectangle 11"/>
            <p:cNvSpPr/>
            <p:nvPr/>
          </p:nvSpPr>
          <p:spPr>
            <a:xfrm>
              <a:off x="8096250" y="3000375"/>
              <a:ext cx="952500" cy="952500"/>
            </a:xfrm>
            <a:prstGeom prst="roundRect">
              <a:avLst>
                <a:gd name="adj" fmla="val 50000"/>
              </a:avLst>
            </a:prstGeom>
            <a:solidFill>
              <a:srgbClr val="0B0B0D"/>
            </a:solidFill>
            <a:ln w="14288">
              <a:solidFill>
                <a:srgbClr val="D4A853">
                  <a:alpha val="60000"/>
                </a:srgbClr>
              </a:solidFill>
            </a:ln>
          </p:spPr>
        </p:sp>
        <p:sp>
          <p:nvSpPr>
            <p:cNvPr id="12" name="Ellipse 12"/>
            <p:cNvSpPr/>
            <p:nvPr/>
          </p:nvSpPr>
          <p:spPr>
            <a:xfrm>
              <a:off x="8343900" y="3200400"/>
              <a:ext cx="457200" cy="457200"/>
            </a:xfrm>
            <a:prstGeom prst="ellipse">
              <a:avLst/>
            </a:prstGeom>
            <a:noFill/>
            <a:ln w="28575">
              <a:solidFill>
                <a:srgbClr val="D4A853"/>
              </a:solidFill>
            </a:ln>
          </p:spPr>
        </p:sp>
        <p:sp>
          <p:nvSpPr>
            <p:cNvPr id="13" name="Ellipse 13"/>
            <p:cNvSpPr/>
            <p:nvPr/>
          </p:nvSpPr>
          <p:spPr>
            <a:xfrm>
              <a:off x="8420100" y="3276600"/>
              <a:ext cx="304800" cy="304800"/>
            </a:xfrm>
            <a:prstGeom prst="ellipse">
              <a:avLst/>
            </a:prstGeom>
            <a:noFill/>
            <a:ln w="14288">
              <a:solidFill>
                <a:srgbClr val="D4A853">
                  <a:alpha val="40000"/>
                </a:srgbClr>
              </a:solidFill>
            </a:ln>
          </p:spPr>
        </p:sp>
        <p:sp>
          <p:nvSpPr>
            <p:cNvPr id="14" name="Ellipse 14"/>
            <p:cNvSpPr/>
            <p:nvPr/>
          </p:nvSpPr>
          <p:spPr>
            <a:xfrm>
              <a:off x="8782050" y="3219450"/>
              <a:ext cx="76200" cy="76200"/>
            </a:xfrm>
            <a:prstGeom prst="ellipse">
              <a:avLst/>
            </a:prstGeom>
            <a:solidFill>
              <a:srgbClr val="D4A853">
                <a:alpha val="80000"/>
              </a:srgbClr>
            </a:solidFill>
            <a:ln>
              <a:noFill/>
            </a:ln>
          </p:spPr>
        </p:sp>
        <p:sp>
          <p:nvSpPr>
            <p:cNvPr id="15" name="Line 15"/>
            <p:cNvSpPr/>
            <p:nvPr/>
          </p:nvSpPr>
          <p:spPr>
            <a:xfrm>
              <a:off x="8239125" y="4000500"/>
              <a:ext cx="666750" cy="9525"/>
            </a:xfrm>
            <a:custGeom>
              <a:avLst/>
              <a:gdLst/>
              <a:ahLst/>
              <a:cxnLst/>
              <a:rect l="l" t="t" r="r" b="b"/>
              <a:pathLst>
                <a:path w="666750" h="9525">
                  <a:moveTo>
                    <a:pt x="0" y="0"/>
                  </a:moveTo>
                  <a:lnTo>
                    <a:pt x="666750" y="0"/>
                  </a:lnTo>
                </a:path>
              </a:pathLst>
            </a:custGeom>
            <a:noFill/>
            <a:ln w="9525">
              <a:solidFill>
                <a:srgbClr val="D4A853">
                  <a:alpha val="30000"/>
                </a:srgbClr>
              </a:solidFill>
            </a:ln>
          </p:spPr>
        </p:sp>
        <p:sp>
          <p:nvSpPr>
            <p:cNvPr id="16" name="Line 16"/>
            <p:cNvSpPr/>
            <p:nvPr/>
          </p:nvSpPr>
          <p:spPr>
            <a:xfrm>
              <a:off x="8210550" y="4076700"/>
              <a:ext cx="723900" cy="9525"/>
            </a:xfrm>
            <a:custGeom>
              <a:avLst/>
              <a:gdLst/>
              <a:ahLst/>
              <a:cxnLst/>
              <a:rect l="l" t="t" r="r" b="b"/>
              <a:pathLst>
                <a:path w="723900" h="9525">
                  <a:moveTo>
                    <a:pt x="0" y="0"/>
                  </a:moveTo>
                  <a:lnTo>
                    <a:pt x="723900" y="0"/>
                  </a:lnTo>
                </a:path>
              </a:pathLst>
            </a:custGeom>
            <a:noFill/>
            <a:ln w="9525">
              <a:solidFill>
                <a:srgbClr val="D4A853">
                  <a:alpha val="20000"/>
                </a:srgbClr>
              </a:solidFill>
            </a:ln>
          </p:spPr>
        </p:sp>
        <p:sp>
          <p:nvSpPr>
            <p:cNvPr id="17" name="Line 17"/>
            <p:cNvSpPr/>
            <p:nvPr/>
          </p:nvSpPr>
          <p:spPr>
            <a:xfrm>
              <a:off x="8239125" y="4152900"/>
              <a:ext cx="666750" cy="9525"/>
            </a:xfrm>
            <a:custGeom>
              <a:avLst/>
              <a:gdLst/>
              <a:ahLst/>
              <a:cxnLst/>
              <a:rect l="l" t="t" r="r" b="b"/>
              <a:pathLst>
                <a:path w="666750" h="9525">
                  <a:moveTo>
                    <a:pt x="0" y="0"/>
                  </a:moveTo>
                  <a:lnTo>
                    <a:pt x="666750" y="0"/>
                  </a:lnTo>
                </a:path>
              </a:pathLst>
            </a:custGeom>
            <a:noFill/>
            <a:ln w="9525">
              <a:solidFill>
                <a:srgbClr val="D4A853">
                  <a:alpha val="15000"/>
                </a:srgbClr>
              </a:solidFill>
            </a:ln>
          </p:spPr>
        </p:sp>
      </p:grpSp>
      <p:grpSp>
        <p:nvGrpSpPr>
          <p:cNvPr id="23" name="Group 23"/>
          <p:cNvGrpSpPr/>
          <p:nvPr/>
        </p:nvGrpSpPr>
        <p:grpSpPr>
          <a:xfrm>
            <a:off x="609600" y="2476500"/>
            <a:ext cx="4627474" cy="685800"/>
            <a:chOff x="609600" y="2476500"/>
            <a:chExt cx="4627474" cy="685800"/>
          </a:xfrm>
        </p:grpSpPr>
        <p:sp>
          <p:nvSpPr>
            <p:cNvPr id="19" name="Rectangle 19"/>
            <p:cNvSpPr/>
            <p:nvPr/>
          </p:nvSpPr>
          <p:spPr>
            <a:xfrm>
              <a:off x="609600" y="2476500"/>
              <a:ext cx="3238500" cy="685800"/>
            </a:xfrm>
            <a:prstGeom prst="roundRect">
              <a:avLst>
                <a:gd name="adj" fmla="val 11111"/>
              </a:avLst>
            </a:prstGeom>
            <a:solidFill>
              <a:srgbClr val="16161A"/>
            </a:solidFill>
            <a:ln w="9525">
              <a:solidFill>
                <a:srgbClr val="2C2C32"/>
              </a:solidFill>
            </a:ln>
          </p:spPr>
        </p:sp>
        <p:sp>
          <p:nvSpPr>
            <p:cNvPr id="20" name="Ellipse 20"/>
            <p:cNvSpPr/>
            <p:nvPr/>
          </p:nvSpPr>
          <p:spPr>
            <a:xfrm>
              <a:off x="933450" y="2762250"/>
              <a:ext cx="114300" cy="114300"/>
            </a:xfrm>
            <a:prstGeom prst="ellipse">
              <a:avLst/>
            </a:prstGeom>
            <a:solidFill>
              <a:srgbClr val="D4A853"/>
            </a:solidFill>
            <a:ln>
              <a:noFill/>
            </a:ln>
          </p:spPr>
        </p:sp>
        <p:sp>
          <p:nvSpPr>
            <p:cNvPr id="21" name="TextBox 21"/>
            <p:cNvSpPr txBox="1"/>
            <p:nvPr/>
          </p:nvSpPr>
          <p:spPr>
            <a:xfrm>
              <a:off x="1200150" y="2638425"/>
              <a:ext cx="542163" cy="304800"/>
            </a:xfrm>
            <a:prstGeom prst="rect">
              <a:avLst/>
            </a:prstGeom>
            <a:noFill/>
            <a:ln>
              <a:noFill/>
            </a:ln>
          </p:spPr>
          <p:txBody>
            <a:bodyPr wrap="none" lIns="0" tIns="0" rIns="0" bIns="0" anchor="t" anchorCtr="0">
              <a:spAutoFit/>
            </a:bodyPr>
            <a:lstStyle/>
            <a:p>
              <a:pPr algn="l"/>
              <a:r>
                <a:rPr lang="en-US" sz="1500" b="1" dirty="0">
                  <a:solidFill>
                    <a:srgbClr val="EDEDF0"/>
                  </a:solidFill>
                  <a:latin typeface="Segoe UI"/>
                  <a:ea typeface="Segoe UI"/>
                  <a:cs typeface="Segoe UI"/>
                </a:rPr>
                <a:t>Click</a:t>
              </a:r>
            </a:p>
          </p:txBody>
        </p:sp>
        <p:sp>
          <p:nvSpPr>
            <p:cNvPr id="22" name="TextBox 22"/>
            <p:cNvSpPr txBox="1"/>
            <p:nvPr/>
          </p:nvSpPr>
          <p:spPr>
            <a:xfrm>
              <a:off x="1203960" y="2880360"/>
              <a:ext cx="4033114" cy="243840"/>
            </a:xfrm>
            <a:prstGeom prst="rect">
              <a:avLst/>
            </a:prstGeom>
            <a:noFill/>
            <a:ln>
              <a:noFill/>
            </a:ln>
          </p:spPr>
          <p:txBody>
            <a:bodyPr wrap="none" lIns="0" tIns="0" rIns="0" bIns="0" anchor="t" anchorCtr="0">
              <a:spAutoFit/>
            </a:bodyPr>
            <a:lstStyle/>
            <a:p>
              <a:pPr algn="l"/>
              <a:r>
                <a:rPr lang="en-US" sz="1200" dirty="0">
                  <a:solidFill>
                    <a:srgbClr val="98989E"/>
                  </a:solidFill>
                  <a:latin typeface="Segoe UI"/>
                  <a:ea typeface="Segoe UI"/>
                  <a:cs typeface="Segoe UI"/>
                </a:rPr>
                <a:t>Launch Camera instantly, even from lock screen</a:t>
              </a:r>
            </a:p>
          </p:txBody>
        </p:sp>
      </p:grpSp>
      <p:grpSp>
        <p:nvGrpSpPr>
          <p:cNvPr id="28" name="Group 28"/>
          <p:cNvGrpSpPr/>
          <p:nvPr/>
        </p:nvGrpSpPr>
        <p:grpSpPr>
          <a:xfrm>
            <a:off x="609600" y="3314700"/>
            <a:ext cx="4507992" cy="685800"/>
            <a:chOff x="609600" y="3314700"/>
            <a:chExt cx="4507992" cy="685800"/>
          </a:xfrm>
        </p:grpSpPr>
        <p:sp>
          <p:nvSpPr>
            <p:cNvPr id="24" name="Rectangle 24"/>
            <p:cNvSpPr/>
            <p:nvPr/>
          </p:nvSpPr>
          <p:spPr>
            <a:xfrm>
              <a:off x="609600" y="3314700"/>
              <a:ext cx="3238500" cy="685800"/>
            </a:xfrm>
            <a:prstGeom prst="roundRect">
              <a:avLst>
                <a:gd name="adj" fmla="val 11111"/>
              </a:avLst>
            </a:prstGeom>
            <a:solidFill>
              <a:srgbClr val="16161A"/>
            </a:solidFill>
            <a:ln w="9525">
              <a:solidFill>
                <a:srgbClr val="2C2C32"/>
              </a:solidFill>
            </a:ln>
          </p:spPr>
        </p:sp>
        <p:sp>
          <p:nvSpPr>
            <p:cNvPr id="25" name="Ellipse 25"/>
            <p:cNvSpPr/>
            <p:nvPr/>
          </p:nvSpPr>
          <p:spPr>
            <a:xfrm>
              <a:off x="933450" y="3600450"/>
              <a:ext cx="114300" cy="114300"/>
            </a:xfrm>
            <a:prstGeom prst="ellipse">
              <a:avLst/>
            </a:prstGeom>
            <a:solidFill>
              <a:srgbClr val="D4A853"/>
            </a:solidFill>
            <a:ln>
              <a:noFill/>
            </a:ln>
          </p:spPr>
        </p:sp>
        <p:sp>
          <p:nvSpPr>
            <p:cNvPr id="26" name="TextBox 26"/>
            <p:cNvSpPr txBox="1"/>
            <p:nvPr/>
          </p:nvSpPr>
          <p:spPr>
            <a:xfrm>
              <a:off x="1200150" y="3476625"/>
              <a:ext cx="1281455" cy="304800"/>
            </a:xfrm>
            <a:prstGeom prst="rect">
              <a:avLst/>
            </a:prstGeom>
            <a:noFill/>
            <a:ln>
              <a:noFill/>
            </a:ln>
          </p:spPr>
          <p:txBody>
            <a:bodyPr wrap="none" lIns="0" tIns="0" rIns="0" bIns="0" anchor="t" anchorCtr="0">
              <a:spAutoFit/>
            </a:bodyPr>
            <a:lstStyle/>
            <a:p>
              <a:pPr algn="l"/>
              <a:r>
                <a:rPr lang="en-US" sz="1500" b="1" dirty="0">
                  <a:solidFill>
                    <a:srgbClr val="EDEDF0"/>
                  </a:solidFill>
                  <a:latin typeface="Segoe UI"/>
                  <a:ea typeface="Segoe UI"/>
                  <a:cs typeface="Segoe UI"/>
                </a:rPr>
                <a:t>Light press</a:t>
              </a:r>
            </a:p>
          </p:txBody>
        </p:sp>
        <p:sp>
          <p:nvSpPr>
            <p:cNvPr id="27" name="TextBox 27"/>
            <p:cNvSpPr txBox="1"/>
            <p:nvPr/>
          </p:nvSpPr>
          <p:spPr>
            <a:xfrm>
              <a:off x="1203960" y="3718560"/>
              <a:ext cx="3913632" cy="243840"/>
            </a:xfrm>
            <a:prstGeom prst="rect">
              <a:avLst/>
            </a:prstGeom>
            <a:noFill/>
            <a:ln>
              <a:noFill/>
            </a:ln>
          </p:spPr>
          <p:txBody>
            <a:bodyPr wrap="none" lIns="0" tIns="0" rIns="0" bIns="0" anchor="t" anchorCtr="0">
              <a:spAutoFit/>
            </a:bodyPr>
            <a:lstStyle/>
            <a:p>
              <a:pPr algn="l"/>
              <a:r>
                <a:rPr lang="en-US" sz="1200" dirty="0">
                  <a:solidFill>
                    <a:srgbClr val="98989E"/>
                  </a:solidFill>
                  <a:latin typeface="Segoe UI"/>
                  <a:ea typeface="Segoe UI"/>
                  <a:cs typeface="Segoe UI"/>
                </a:rPr>
                <a:t>Lock focus &amp; exposure — DSLR-style half-press</a:t>
              </a:r>
            </a:p>
          </p:txBody>
        </p:sp>
      </p:grpSp>
      <p:grpSp>
        <p:nvGrpSpPr>
          <p:cNvPr id="33" name="Group 33"/>
          <p:cNvGrpSpPr/>
          <p:nvPr/>
        </p:nvGrpSpPr>
        <p:grpSpPr>
          <a:xfrm>
            <a:off x="609600" y="4152900"/>
            <a:ext cx="4874971" cy="685800"/>
            <a:chOff x="609600" y="4152900"/>
            <a:chExt cx="4874971" cy="685800"/>
          </a:xfrm>
        </p:grpSpPr>
        <p:sp>
          <p:nvSpPr>
            <p:cNvPr id="29" name="Rectangle 29"/>
            <p:cNvSpPr/>
            <p:nvPr/>
          </p:nvSpPr>
          <p:spPr>
            <a:xfrm>
              <a:off x="609600" y="4152900"/>
              <a:ext cx="3238500" cy="685800"/>
            </a:xfrm>
            <a:prstGeom prst="roundRect">
              <a:avLst>
                <a:gd name="adj" fmla="val 11111"/>
              </a:avLst>
            </a:prstGeom>
            <a:solidFill>
              <a:srgbClr val="16161A"/>
            </a:solidFill>
            <a:ln w="9525">
              <a:solidFill>
                <a:srgbClr val="2C2C32"/>
              </a:solidFill>
            </a:ln>
          </p:spPr>
        </p:sp>
        <p:sp>
          <p:nvSpPr>
            <p:cNvPr id="30" name="Ellipse 30"/>
            <p:cNvSpPr/>
            <p:nvPr/>
          </p:nvSpPr>
          <p:spPr>
            <a:xfrm>
              <a:off x="933450" y="4438650"/>
              <a:ext cx="114300" cy="114300"/>
            </a:xfrm>
            <a:prstGeom prst="ellipse">
              <a:avLst/>
            </a:prstGeom>
            <a:solidFill>
              <a:srgbClr val="D4A853"/>
            </a:solidFill>
            <a:ln>
              <a:noFill/>
            </a:ln>
          </p:spPr>
        </p:sp>
        <p:sp>
          <p:nvSpPr>
            <p:cNvPr id="31" name="TextBox 31"/>
            <p:cNvSpPr txBox="1"/>
            <p:nvPr/>
          </p:nvSpPr>
          <p:spPr>
            <a:xfrm>
              <a:off x="1200150" y="4314825"/>
              <a:ext cx="1471879" cy="304800"/>
            </a:xfrm>
            <a:prstGeom prst="rect">
              <a:avLst/>
            </a:prstGeom>
            <a:noFill/>
            <a:ln>
              <a:noFill/>
            </a:ln>
          </p:spPr>
          <p:txBody>
            <a:bodyPr wrap="none" lIns="0" tIns="0" rIns="0" bIns="0" anchor="t" anchorCtr="0">
              <a:spAutoFit/>
            </a:bodyPr>
            <a:lstStyle/>
            <a:p>
              <a:pPr algn="l"/>
              <a:r>
                <a:rPr lang="en-US" sz="1500" b="1" dirty="0">
                  <a:solidFill>
                    <a:srgbClr val="EDEDF0"/>
                  </a:solidFill>
                  <a:latin typeface="Segoe UI"/>
                  <a:ea typeface="Segoe UI"/>
                  <a:cs typeface="Segoe UI"/>
                </a:rPr>
                <a:t>Slide gesture</a:t>
              </a:r>
            </a:p>
          </p:txBody>
        </p:sp>
        <p:sp>
          <p:nvSpPr>
            <p:cNvPr id="32" name="TextBox 32"/>
            <p:cNvSpPr txBox="1"/>
            <p:nvPr/>
          </p:nvSpPr>
          <p:spPr>
            <a:xfrm>
              <a:off x="1203960" y="4556760"/>
              <a:ext cx="4280611" cy="243840"/>
            </a:xfrm>
            <a:prstGeom prst="rect">
              <a:avLst/>
            </a:prstGeom>
            <a:noFill/>
            <a:ln>
              <a:noFill/>
            </a:ln>
          </p:spPr>
          <p:txBody>
            <a:bodyPr wrap="none" lIns="0" tIns="0" rIns="0" bIns="0" anchor="t" anchorCtr="0">
              <a:spAutoFit/>
            </a:bodyPr>
            <a:lstStyle/>
            <a:p>
              <a:pPr algn="l"/>
              <a:r>
                <a:rPr lang="en-US" sz="1200" dirty="0">
                  <a:solidFill>
                    <a:srgbClr val="98989E"/>
                  </a:solidFill>
                  <a:latin typeface="Segoe UI"/>
                  <a:ea typeface="Segoe UI"/>
                  <a:cs typeface="Segoe UI"/>
                </a:rPr>
                <a:t>Adjust zoom, exposure, depth of field with haptics</a:t>
              </a:r>
            </a:p>
          </p:txBody>
        </p:sp>
      </p:grpSp>
      <p:grpSp>
        <p:nvGrpSpPr>
          <p:cNvPr id="38" name="Group 38"/>
          <p:cNvGrpSpPr/>
          <p:nvPr/>
        </p:nvGrpSpPr>
        <p:grpSpPr>
          <a:xfrm>
            <a:off x="609600" y="4991100"/>
            <a:ext cx="3238500" cy="685800"/>
            <a:chOff x="609600" y="4991100"/>
            <a:chExt cx="3238500" cy="685800"/>
          </a:xfrm>
        </p:grpSpPr>
        <p:sp>
          <p:nvSpPr>
            <p:cNvPr id="34" name="Rectangle 34"/>
            <p:cNvSpPr/>
            <p:nvPr/>
          </p:nvSpPr>
          <p:spPr>
            <a:xfrm>
              <a:off x="609600" y="4991100"/>
              <a:ext cx="3238500" cy="685800"/>
            </a:xfrm>
            <a:prstGeom prst="roundRect">
              <a:avLst>
                <a:gd name="adj" fmla="val 11111"/>
              </a:avLst>
            </a:prstGeom>
            <a:solidFill>
              <a:srgbClr val="16161A"/>
            </a:solidFill>
            <a:ln w="9525">
              <a:solidFill>
                <a:srgbClr val="2C2C32"/>
              </a:solidFill>
            </a:ln>
          </p:spPr>
        </p:sp>
        <p:sp>
          <p:nvSpPr>
            <p:cNvPr id="35" name="Ellipse 35"/>
            <p:cNvSpPr/>
            <p:nvPr/>
          </p:nvSpPr>
          <p:spPr>
            <a:xfrm>
              <a:off x="933450" y="5276850"/>
              <a:ext cx="114300" cy="114300"/>
            </a:xfrm>
            <a:prstGeom prst="ellipse">
              <a:avLst/>
            </a:prstGeom>
            <a:solidFill>
              <a:srgbClr val="D4A853"/>
            </a:solidFill>
            <a:ln>
              <a:noFill/>
            </a:ln>
          </p:spPr>
        </p:sp>
        <p:sp>
          <p:nvSpPr>
            <p:cNvPr id="36" name="TextBox 36"/>
            <p:cNvSpPr txBox="1"/>
            <p:nvPr/>
          </p:nvSpPr>
          <p:spPr>
            <a:xfrm>
              <a:off x="1200150" y="5153025"/>
              <a:ext cx="1236650" cy="304800"/>
            </a:xfrm>
            <a:prstGeom prst="rect">
              <a:avLst/>
            </a:prstGeom>
            <a:noFill/>
            <a:ln>
              <a:noFill/>
            </a:ln>
          </p:spPr>
          <p:txBody>
            <a:bodyPr wrap="none" lIns="0" tIns="0" rIns="0" bIns="0" anchor="t" anchorCtr="0">
              <a:spAutoFit/>
            </a:bodyPr>
            <a:lstStyle/>
            <a:p>
              <a:pPr algn="l"/>
              <a:r>
                <a:rPr lang="en-US" sz="1500" b="1" dirty="0">
                  <a:solidFill>
                    <a:srgbClr val="EDEDF0"/>
                  </a:solidFill>
                  <a:latin typeface="Segoe UI"/>
                  <a:ea typeface="Segoe UI"/>
                  <a:cs typeface="Segoe UI"/>
                </a:rPr>
                <a:t>Click &amp; hold</a:t>
              </a:r>
            </a:p>
          </p:txBody>
        </p:sp>
        <p:sp>
          <p:nvSpPr>
            <p:cNvPr id="37" name="TextBox 37"/>
            <p:cNvSpPr txBox="1"/>
            <p:nvPr/>
          </p:nvSpPr>
          <p:spPr>
            <a:xfrm>
              <a:off x="1203960" y="5394960"/>
              <a:ext cx="1882445" cy="243840"/>
            </a:xfrm>
            <a:prstGeom prst="rect">
              <a:avLst/>
            </a:prstGeom>
            <a:noFill/>
            <a:ln>
              <a:noFill/>
            </a:ln>
          </p:spPr>
          <p:txBody>
            <a:bodyPr wrap="none" lIns="0" tIns="0" rIns="0" bIns="0" anchor="t" anchorCtr="0">
              <a:spAutoFit/>
            </a:bodyPr>
            <a:lstStyle/>
            <a:p>
              <a:pPr algn="l"/>
              <a:r>
                <a:rPr lang="en-US" sz="1200" dirty="0">
                  <a:solidFill>
                    <a:srgbClr val="98989E"/>
                  </a:solidFill>
                  <a:latin typeface="Segoe UI"/>
                  <a:ea typeface="Segoe UI"/>
                  <a:cs typeface="Segoe UI"/>
                </a:rPr>
                <a:t>Instantly record video</a:t>
              </a:r>
            </a:p>
          </p:txBody>
        </p:sp>
      </p:grpSp>
      <p:grpSp>
        <p:nvGrpSpPr>
          <p:cNvPr id="43" name="Group 43"/>
          <p:cNvGrpSpPr/>
          <p:nvPr/>
        </p:nvGrpSpPr>
        <p:grpSpPr>
          <a:xfrm>
            <a:off x="6870040" y="4762500"/>
            <a:ext cx="5119421" cy="952500"/>
            <a:chOff x="6870040" y="4762500"/>
            <a:chExt cx="5119421" cy="952500"/>
          </a:xfrm>
        </p:grpSpPr>
        <p:sp>
          <p:nvSpPr>
            <p:cNvPr id="39" name="Rectangle 39"/>
            <p:cNvSpPr/>
            <p:nvPr/>
          </p:nvSpPr>
          <p:spPr>
            <a:xfrm>
              <a:off x="7429500" y="4762500"/>
              <a:ext cx="4000500" cy="952500"/>
            </a:xfrm>
            <a:prstGeom prst="roundRect">
              <a:avLst>
                <a:gd name="adj" fmla="val 10000"/>
              </a:avLst>
            </a:prstGeom>
            <a:solidFill>
              <a:srgbClr val="16161A"/>
            </a:solidFill>
            <a:ln w="9525">
              <a:solidFill>
                <a:srgbClr val="A78BFA">
                  <a:alpha val="30000"/>
                </a:srgbClr>
              </a:solidFill>
            </a:ln>
          </p:spPr>
        </p:sp>
        <p:sp>
          <p:nvSpPr>
            <p:cNvPr id="40" name="TextBox 40"/>
            <p:cNvSpPr txBox="1"/>
            <p:nvPr/>
          </p:nvSpPr>
          <p:spPr>
            <a:xfrm>
              <a:off x="8436178" y="4943475"/>
              <a:ext cx="1987144" cy="304800"/>
            </a:xfrm>
            <a:prstGeom prst="rect">
              <a:avLst/>
            </a:prstGeom>
            <a:noFill/>
            <a:ln>
              <a:noFill/>
            </a:ln>
          </p:spPr>
          <p:txBody>
            <a:bodyPr wrap="none" lIns="0" tIns="0" rIns="0" bIns="0" anchor="t" anchorCtr="0">
              <a:spAutoFit/>
            </a:bodyPr>
            <a:lstStyle/>
            <a:p>
              <a:pPr algn="ctr"/>
              <a:r>
                <a:rPr lang="en-US" sz="1500" b="1" dirty="0">
                  <a:solidFill>
                    <a:srgbClr val="A78BFA"/>
                  </a:solidFill>
                  <a:latin typeface="Segoe UI"/>
                  <a:ea typeface="Segoe UI"/>
                  <a:cs typeface="Segoe UI"/>
                </a:rPr>
                <a:t>Visual Intelligence</a:t>
              </a:r>
            </a:p>
          </p:txBody>
        </p:sp>
        <p:sp>
          <p:nvSpPr>
            <p:cNvPr id="41" name="TextBox 41"/>
            <p:cNvSpPr txBox="1"/>
            <p:nvPr/>
          </p:nvSpPr>
          <p:spPr>
            <a:xfrm>
              <a:off x="6870040" y="5234464"/>
              <a:ext cx="5119421" cy="259080"/>
            </a:xfrm>
            <a:prstGeom prst="rect">
              <a:avLst/>
            </a:prstGeom>
            <a:noFill/>
            <a:ln>
              <a:noFill/>
            </a:ln>
          </p:spPr>
          <p:txBody>
            <a:bodyPr wrap="none" lIns="0" tIns="0" rIns="0" bIns="0" anchor="t" anchorCtr="0">
              <a:spAutoFit/>
            </a:bodyPr>
            <a:lstStyle/>
            <a:p>
              <a:pPr algn="ctr"/>
              <a:r>
                <a:rPr lang="en-US" sz="1280" dirty="0">
                  <a:solidFill>
                    <a:srgbClr val="98989E"/>
                  </a:solidFill>
                  <a:latin typeface="Segoe UI"/>
                  <a:ea typeface="Segoe UI"/>
                  <a:cs typeface="Segoe UI"/>
                </a:rPr>
                <a:t>Point camera at anything — get contextual info instantly.</a:t>
              </a:r>
            </a:p>
          </p:txBody>
        </p:sp>
        <p:sp>
          <p:nvSpPr>
            <p:cNvPr id="42" name="TextBox 42"/>
            <p:cNvSpPr txBox="1"/>
            <p:nvPr/>
          </p:nvSpPr>
          <p:spPr>
            <a:xfrm>
              <a:off x="8639366" y="5479256"/>
              <a:ext cx="1580769" cy="228600"/>
            </a:xfrm>
            <a:prstGeom prst="rect">
              <a:avLst/>
            </a:prstGeom>
            <a:noFill/>
            <a:ln>
              <a:noFill/>
            </a:ln>
          </p:spPr>
          <p:txBody>
            <a:bodyPr wrap="none" lIns="0" tIns="0" rIns="0" bIns="0" anchor="t" anchorCtr="0">
              <a:spAutoFit/>
            </a:bodyPr>
            <a:lstStyle/>
            <a:p>
              <a:pPr algn="ctr"/>
              <a:r>
                <a:rPr lang="en-US" sz="1120" dirty="0">
                  <a:solidFill>
                    <a:srgbClr val="6B6B72"/>
                  </a:solidFill>
                  <a:latin typeface="Segoe UI"/>
                  <a:ea typeface="Segoe UI"/>
                  <a:cs typeface="Segoe UI"/>
                </a:rPr>
                <a:t>Coming later in 2024</a:t>
              </a:r>
            </a:p>
          </p:txBody>
        </p:sp>
      </p:grpSp>
      <p:sp>
        <p:nvSpPr>
          <p:cNvPr id="44" name="TextBox 44"/>
          <p:cNvSpPr txBox="1"/>
          <p:nvPr/>
        </p:nvSpPr>
        <p:spPr>
          <a:xfrm>
            <a:off x="593408" y="5863114"/>
            <a:ext cx="7068998" cy="259080"/>
          </a:xfrm>
          <a:prstGeom prst="rect">
            <a:avLst/>
          </a:prstGeom>
          <a:noFill/>
          <a:ln>
            <a:noFill/>
          </a:ln>
        </p:spPr>
        <p:txBody>
          <a:bodyPr wrap="none" lIns="0" tIns="0" rIns="0" bIns="0" anchor="t" anchorCtr="0">
            <a:spAutoFit/>
          </a:bodyPr>
          <a:lstStyle/>
          <a:p>
            <a:pPr algn="l"/>
            <a:r>
              <a:rPr lang="en-US" sz="1280" dirty="0">
                <a:solidFill>
                  <a:srgbClr val="6B6B72"/>
                </a:solidFill>
                <a:latin typeface="Segoe UI"/>
                <a:ea typeface="Segoe UI"/>
                <a:cs typeface="Segoe UI"/>
              </a:rPr>
              <a:t>Third-party developer API available for Halide, Snapchat, Instagram, and more.</a:t>
            </a:r>
          </a:p>
        </p:txBody>
      </p:sp>
      <p:sp>
        <p:nvSpPr>
          <p:cNvPr id="45" name="TextBox 45"/>
          <p:cNvSpPr txBox="1"/>
          <p:nvPr/>
        </p:nvSpPr>
        <p:spPr>
          <a:xfrm>
            <a:off x="11183112" y="6442710"/>
            <a:ext cx="414528" cy="243840"/>
          </a:xfrm>
          <a:prstGeom prst="rect">
            <a:avLst/>
          </a:prstGeom>
          <a:noFill/>
          <a:ln>
            <a:noFill/>
          </a:ln>
        </p:spPr>
        <p:txBody>
          <a:bodyPr wrap="none" lIns="0" tIns="0" rIns="0" bIns="0" anchor="t" anchorCtr="0">
            <a:spAutoFit/>
          </a:bodyPr>
          <a:lstStyle/>
          <a:p>
            <a:pPr algn="r"/>
            <a:r>
              <a:rPr lang="en-US" sz="1200" dirty="0">
                <a:solidFill>
                  <a:srgbClr val="6B6B72"/>
                </a:solidFill>
                <a:latin typeface="Segoe UI"/>
                <a:ea typeface="Segoe UI"/>
                <a:cs typeface="Segoe UI"/>
              </a:rPr>
              <a:t>5 / 9</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B0D"/>
          </a:solidFill>
          <a:ln>
            <a:noFill/>
          </a:ln>
        </p:spPr>
      </p:sp>
      <p:sp>
        <p:nvSpPr>
          <p:cNvPr id="3" name="Rectangle 3"/>
          <p:cNvSpPr/>
          <p:nvPr/>
        </p:nvSpPr>
        <p:spPr>
          <a:xfrm>
            <a:off x="0" y="0"/>
            <a:ext cx="12192000" cy="6858000"/>
          </a:xfrm>
          <a:prstGeom prst="rect">
            <a:avLst/>
          </a:prstGeom>
          <a:gradFill>
            <a:gsLst>
              <a:gs pos="0">
                <a:srgbClr val="4DA6FF">
                  <a:alpha val="6000"/>
                </a:srgbClr>
              </a:gs>
              <a:gs pos="100000">
                <a:srgbClr val="0B0B0D">
                  <a:alpha val="0"/>
                </a:srgbClr>
              </a:gs>
            </a:gsLst>
            <a:path path="circle">
              <a:fillToRect l="50000" t="50000" r="50000" b="50000"/>
            </a:path>
          </a:gradFill>
          <a:ln>
            <a:noFill/>
          </a:ln>
        </p:spPr>
      </p:sp>
      <p:sp>
        <p:nvSpPr>
          <p:cNvPr id="4" name="Line 4"/>
          <p:cNvSpPr/>
          <p:nvPr/>
        </p:nvSpPr>
        <p:spPr>
          <a:xfrm>
            <a:off x="609600" y="762000"/>
            <a:ext cx="1295400" cy="9525"/>
          </a:xfrm>
          <a:custGeom>
            <a:avLst/>
            <a:gdLst/>
            <a:ahLst/>
            <a:cxnLst/>
            <a:rect l="l" t="t" r="r" b="b"/>
            <a:pathLst>
              <a:path w="1295400" h="9525">
                <a:moveTo>
                  <a:pt x="0" y="0"/>
                </a:moveTo>
                <a:lnTo>
                  <a:pt x="1295400" y="0"/>
                </a:lnTo>
              </a:path>
            </a:pathLst>
          </a:custGeom>
          <a:noFill/>
          <a:ln w="19050">
            <a:solidFill>
              <a:srgbClr val="D4A853">
                <a:alpha val="50000"/>
              </a:srgbClr>
            </a:solidFill>
          </a:ln>
        </p:spPr>
      </p:sp>
      <p:sp>
        <p:nvSpPr>
          <p:cNvPr id="5" name="TextBox 5"/>
          <p:cNvSpPr txBox="1"/>
          <p:nvPr/>
        </p:nvSpPr>
        <p:spPr>
          <a:xfrm>
            <a:off x="594360" y="556260"/>
            <a:ext cx="2496922" cy="243840"/>
          </a:xfrm>
          <a:prstGeom prst="rect">
            <a:avLst/>
          </a:prstGeom>
          <a:noFill/>
          <a:ln>
            <a:noFill/>
          </a:ln>
        </p:spPr>
        <p:txBody>
          <a:bodyPr wrap="none" lIns="0" tIns="0" rIns="0" bIns="0" anchor="t" anchorCtr="0">
            <a:spAutoFit/>
          </a:bodyPr>
          <a:lstStyle/>
          <a:p>
            <a:pPr algn="l"/>
            <a:r>
              <a:rPr lang="en-US" sz="1200" spc="375" dirty="0">
                <a:solidFill>
                  <a:srgbClr val="98989E"/>
                </a:solidFill>
                <a:latin typeface="Segoe UI"/>
                <a:ea typeface="Segoe UI"/>
                <a:cs typeface="Segoe UI"/>
              </a:rPr>
              <a:t>PRO CAMERA SYSTEM</a:t>
            </a:r>
          </a:p>
        </p:txBody>
      </p:sp>
      <p:sp>
        <p:nvSpPr>
          <p:cNvPr id="6" name="TextBox 6"/>
          <p:cNvSpPr txBox="1"/>
          <p:nvPr/>
        </p:nvSpPr>
        <p:spPr>
          <a:xfrm>
            <a:off x="569595" y="1041083"/>
            <a:ext cx="6266543" cy="640080"/>
          </a:xfrm>
          <a:prstGeom prst="rect">
            <a:avLst/>
          </a:prstGeom>
          <a:noFill/>
          <a:ln>
            <a:noFill/>
          </a:ln>
        </p:spPr>
        <p:txBody>
          <a:bodyPr wrap="none" lIns="0" tIns="0" rIns="0" bIns="0" anchor="t" anchorCtr="0">
            <a:spAutoFit/>
          </a:bodyPr>
          <a:lstStyle/>
          <a:p>
            <a:pPr algn="l"/>
            <a:r>
              <a:rPr lang="en-US" sz="3150" b="1" dirty="0">
                <a:solidFill>
                  <a:srgbClr val="EDEDF0"/>
                </a:solidFill>
                <a:latin typeface="Segoe UI"/>
                <a:ea typeface="Segoe UI"/>
                <a:cs typeface="Segoe UI"/>
              </a:rPr>
              <a:t>Pro camera. Same on both.</a:t>
            </a:r>
          </a:p>
        </p:txBody>
      </p:sp>
      <p:sp>
        <p:nvSpPr>
          <p:cNvPr id="7" name="TextBox 7"/>
          <p:cNvSpPr txBox="1"/>
          <p:nvPr/>
        </p:nvSpPr>
        <p:spPr>
          <a:xfrm>
            <a:off x="590550" y="1647825"/>
            <a:ext cx="7271004" cy="304800"/>
          </a:xfrm>
          <a:prstGeom prst="rect">
            <a:avLst/>
          </a:prstGeom>
          <a:noFill/>
          <a:ln>
            <a:noFill/>
          </a:ln>
        </p:spPr>
        <p:txBody>
          <a:bodyPr wrap="none" lIns="0" tIns="0" rIns="0" bIns="0" anchor="t" anchorCtr="0">
            <a:spAutoFit/>
          </a:bodyPr>
          <a:lstStyle/>
          <a:p>
            <a:pPr algn="l"/>
            <a:r>
              <a:rPr lang="en-US" sz="1500" dirty="0">
                <a:solidFill>
                  <a:srgbClr val="98989E"/>
                </a:solidFill>
                <a:latin typeface="Segoe UI"/>
                <a:ea typeface="Segoe UI"/>
                <a:cs typeface="Segoe UI"/>
              </a:rPr>
              <a:t>48MP Fusion + 48MP Ultra Wide + 5× Telephoto now on both Pro models.</a:t>
            </a:r>
          </a:p>
        </p:txBody>
      </p:sp>
      <p:grpSp>
        <p:nvGrpSpPr>
          <p:cNvPr id="47" name="Group 47"/>
          <p:cNvGrpSpPr/>
          <p:nvPr/>
        </p:nvGrpSpPr>
        <p:grpSpPr>
          <a:xfrm>
            <a:off x="609600" y="2190750"/>
            <a:ext cx="10972800" cy="5029200"/>
            <a:chOff x="609600" y="2190750"/>
            <a:chExt cx="10972800" cy="5029200"/>
          </a:xfrm>
        </p:grpSpPr>
        <p:sp>
          <p:nvSpPr>
            <p:cNvPr id="8" name="Rectangle 8"/>
            <p:cNvSpPr/>
            <p:nvPr/>
          </p:nvSpPr>
          <p:spPr>
            <a:xfrm>
              <a:off x="609600" y="2190750"/>
              <a:ext cx="10972800" cy="457200"/>
            </a:xfrm>
            <a:prstGeom prst="roundRect">
              <a:avLst>
                <a:gd name="adj" fmla="val 12500"/>
              </a:avLst>
            </a:prstGeom>
            <a:solidFill>
              <a:srgbClr val="1A1A1E"/>
            </a:solidFill>
            <a:ln>
              <a:noFill/>
            </a:ln>
          </p:spPr>
        </p:sp>
        <p:sp>
          <p:nvSpPr>
            <p:cNvPr id="9" name="TextBox 9"/>
            <p:cNvSpPr txBox="1"/>
            <p:nvPr/>
          </p:nvSpPr>
          <p:spPr>
            <a:xfrm>
              <a:off x="3794051" y="2338864"/>
              <a:ext cx="1251097" cy="259080"/>
            </a:xfrm>
            <a:prstGeom prst="rect">
              <a:avLst/>
            </a:prstGeom>
            <a:noFill/>
            <a:ln>
              <a:noFill/>
            </a:ln>
          </p:spPr>
          <p:txBody>
            <a:bodyPr wrap="none" lIns="0" tIns="0" rIns="0" bIns="0" anchor="t" anchorCtr="0">
              <a:spAutoFit/>
            </a:bodyPr>
            <a:lstStyle/>
            <a:p>
              <a:pPr algn="ctr"/>
              <a:r>
                <a:rPr lang="en-US" sz="1280" b="1" dirty="0">
                  <a:solidFill>
                    <a:srgbClr val="98989E"/>
                  </a:solidFill>
                  <a:latin typeface="Segoe UI"/>
                  <a:ea typeface="Segoe UI"/>
                  <a:cs typeface="Segoe UI"/>
                </a:rPr>
                <a:t>iPhone 16 Pro</a:t>
              </a:r>
            </a:p>
          </p:txBody>
        </p:sp>
        <p:sp>
          <p:nvSpPr>
            <p:cNvPr id="10" name="TextBox 10"/>
            <p:cNvSpPr txBox="1"/>
            <p:nvPr/>
          </p:nvSpPr>
          <p:spPr>
            <a:xfrm>
              <a:off x="7208846" y="2338864"/>
              <a:ext cx="1660508" cy="259080"/>
            </a:xfrm>
            <a:prstGeom prst="rect">
              <a:avLst/>
            </a:prstGeom>
            <a:noFill/>
            <a:ln>
              <a:noFill/>
            </a:ln>
          </p:spPr>
          <p:txBody>
            <a:bodyPr wrap="none" lIns="0" tIns="0" rIns="0" bIns="0" anchor="t" anchorCtr="0">
              <a:spAutoFit/>
            </a:bodyPr>
            <a:lstStyle/>
            <a:p>
              <a:pPr algn="ctr"/>
              <a:r>
                <a:rPr lang="en-US" sz="1280" b="1" dirty="0">
                  <a:solidFill>
                    <a:srgbClr val="98989E"/>
                  </a:solidFill>
                  <a:latin typeface="Segoe UI"/>
                  <a:ea typeface="Segoe UI"/>
                  <a:cs typeface="Segoe UI"/>
                </a:rPr>
                <a:t>iPhone 16 Pro Max</a:t>
              </a:r>
            </a:p>
          </p:txBody>
        </p:sp>
        <p:sp>
          <p:nvSpPr>
            <p:cNvPr id="11" name="Rectangle 11"/>
            <p:cNvSpPr/>
            <p:nvPr/>
          </p:nvSpPr>
          <p:spPr>
            <a:xfrm>
              <a:off x="609600" y="2686050"/>
              <a:ext cx="10972800" cy="533400"/>
            </a:xfrm>
            <a:prstGeom prst="rect">
              <a:avLst/>
            </a:prstGeom>
            <a:solidFill>
              <a:srgbClr val="16161A"/>
            </a:solidFill>
            <a:ln>
              <a:noFill/>
            </a:ln>
          </p:spPr>
        </p:sp>
        <p:sp>
          <p:nvSpPr>
            <p:cNvPr id="12" name="TextBox 12"/>
            <p:cNvSpPr txBox="1"/>
            <p:nvPr/>
          </p:nvSpPr>
          <p:spPr>
            <a:xfrm>
              <a:off x="821055" y="2854642"/>
              <a:ext cx="2131192" cy="274320"/>
            </a:xfrm>
            <a:prstGeom prst="rect">
              <a:avLst/>
            </a:prstGeom>
            <a:noFill/>
            <a:ln>
              <a:noFill/>
            </a:ln>
          </p:spPr>
          <p:txBody>
            <a:bodyPr wrap="none" lIns="0" tIns="0" rIns="0" bIns="0" anchor="t" anchorCtr="0">
              <a:spAutoFit/>
            </a:bodyPr>
            <a:lstStyle/>
            <a:p>
              <a:pPr algn="l"/>
              <a:r>
                <a:rPr lang="en-US" sz="1350" b="1" dirty="0">
                  <a:solidFill>
                    <a:srgbClr val="EDEDF0"/>
                  </a:solidFill>
                  <a:latin typeface="Segoe UI"/>
                  <a:ea typeface="Segoe UI"/>
                  <a:cs typeface="Segoe UI"/>
                </a:rPr>
                <a:t>Main (Fusion) Camera</a:t>
              </a:r>
            </a:p>
          </p:txBody>
        </p:sp>
        <p:sp>
          <p:nvSpPr>
            <p:cNvPr id="13" name="TextBox 13"/>
            <p:cNvSpPr txBox="1"/>
            <p:nvPr/>
          </p:nvSpPr>
          <p:spPr>
            <a:xfrm>
              <a:off x="3442221" y="2862739"/>
              <a:ext cx="1954759" cy="259080"/>
            </a:xfrm>
            <a:prstGeom prst="rect">
              <a:avLst/>
            </a:prstGeom>
            <a:noFill/>
            <a:ln>
              <a:noFill/>
            </a:ln>
          </p:spPr>
          <p:txBody>
            <a:bodyPr wrap="none" lIns="0" tIns="0" rIns="0" bIns="0" anchor="t" anchorCtr="0">
              <a:spAutoFit/>
            </a:bodyPr>
            <a:lstStyle/>
            <a:p>
              <a:pPr algn="ctr"/>
              <a:r>
                <a:rPr lang="en-US" sz="1280" dirty="0">
                  <a:solidFill>
                    <a:srgbClr val="EDEDF0"/>
                  </a:solidFill>
                  <a:latin typeface="Segoe UI"/>
                  <a:ea typeface="Segoe UI"/>
                  <a:cs typeface="Segoe UI"/>
                </a:rPr>
                <a:t>48MP · f/1.78 · 24mm</a:t>
              </a:r>
            </a:p>
          </p:txBody>
        </p:sp>
        <p:sp>
          <p:nvSpPr>
            <p:cNvPr id="14" name="TextBox 14"/>
            <p:cNvSpPr txBox="1"/>
            <p:nvPr/>
          </p:nvSpPr>
          <p:spPr>
            <a:xfrm>
              <a:off x="7061721" y="2862739"/>
              <a:ext cx="1954759" cy="259080"/>
            </a:xfrm>
            <a:prstGeom prst="rect">
              <a:avLst/>
            </a:prstGeom>
            <a:noFill/>
            <a:ln>
              <a:noFill/>
            </a:ln>
          </p:spPr>
          <p:txBody>
            <a:bodyPr wrap="none" lIns="0" tIns="0" rIns="0" bIns="0" anchor="t" anchorCtr="0">
              <a:spAutoFit/>
            </a:bodyPr>
            <a:lstStyle/>
            <a:p>
              <a:pPr algn="ctr"/>
              <a:r>
                <a:rPr lang="en-US" sz="1280" dirty="0">
                  <a:solidFill>
                    <a:srgbClr val="EDEDF0"/>
                  </a:solidFill>
                  <a:latin typeface="Segoe UI"/>
                  <a:ea typeface="Segoe UI"/>
                  <a:cs typeface="Segoe UI"/>
                </a:rPr>
                <a:t>48MP · f/1.78 · 24mm</a:t>
              </a:r>
            </a:p>
          </p:txBody>
        </p:sp>
        <p:sp>
          <p:nvSpPr>
            <p:cNvPr id="15" name="Rectangle 15"/>
            <p:cNvSpPr/>
            <p:nvPr/>
          </p:nvSpPr>
          <p:spPr>
            <a:xfrm>
              <a:off x="609600" y="3257550"/>
              <a:ext cx="10972800" cy="533400"/>
            </a:xfrm>
            <a:prstGeom prst="rect">
              <a:avLst/>
            </a:prstGeom>
            <a:solidFill>
              <a:srgbClr val="16161A"/>
            </a:solidFill>
            <a:ln>
              <a:noFill/>
            </a:ln>
          </p:spPr>
        </p:sp>
        <p:sp>
          <p:nvSpPr>
            <p:cNvPr id="16" name="TextBox 16"/>
            <p:cNvSpPr txBox="1"/>
            <p:nvPr/>
          </p:nvSpPr>
          <p:spPr>
            <a:xfrm>
              <a:off x="821055" y="3426142"/>
              <a:ext cx="1032335" cy="274320"/>
            </a:xfrm>
            <a:prstGeom prst="rect">
              <a:avLst/>
            </a:prstGeom>
            <a:noFill/>
            <a:ln>
              <a:noFill/>
            </a:ln>
          </p:spPr>
          <p:txBody>
            <a:bodyPr wrap="none" lIns="0" tIns="0" rIns="0" bIns="0" anchor="t" anchorCtr="0">
              <a:spAutoFit/>
            </a:bodyPr>
            <a:lstStyle/>
            <a:p>
              <a:pPr algn="l"/>
              <a:r>
                <a:rPr lang="en-US" sz="1350" b="1" dirty="0">
                  <a:solidFill>
                    <a:srgbClr val="EDEDF0"/>
                  </a:solidFill>
                  <a:latin typeface="Segoe UI"/>
                  <a:ea typeface="Segoe UI"/>
                  <a:cs typeface="Segoe UI"/>
                </a:rPr>
                <a:t>Ultra Wide</a:t>
              </a:r>
            </a:p>
          </p:txBody>
        </p:sp>
        <p:sp>
          <p:nvSpPr>
            <p:cNvPr id="17" name="TextBox 17"/>
            <p:cNvSpPr txBox="1"/>
            <p:nvPr/>
          </p:nvSpPr>
          <p:spPr>
            <a:xfrm>
              <a:off x="3492094" y="3434239"/>
              <a:ext cx="1855013" cy="259080"/>
            </a:xfrm>
            <a:prstGeom prst="rect">
              <a:avLst/>
            </a:prstGeom>
            <a:noFill/>
            <a:ln>
              <a:noFill/>
            </a:ln>
          </p:spPr>
          <p:txBody>
            <a:bodyPr wrap="none" lIns="0" tIns="0" rIns="0" bIns="0" anchor="t" anchorCtr="0">
              <a:spAutoFit/>
            </a:bodyPr>
            <a:lstStyle/>
            <a:p>
              <a:pPr algn="ctr"/>
              <a:r>
                <a:rPr lang="en-US" sz="1280" dirty="0">
                  <a:solidFill>
                    <a:srgbClr val="4DA6FF"/>
                  </a:solidFill>
                  <a:latin typeface="Segoe UI"/>
                  <a:ea typeface="Segoe UI"/>
                  <a:cs typeface="Segoe UI"/>
                </a:rPr>
                <a:t>48MP · f/2.2 · 13mm</a:t>
              </a:r>
            </a:p>
          </p:txBody>
        </p:sp>
        <p:sp>
          <p:nvSpPr>
            <p:cNvPr id="18" name="TextBox 18"/>
            <p:cNvSpPr txBox="1"/>
            <p:nvPr/>
          </p:nvSpPr>
          <p:spPr>
            <a:xfrm>
              <a:off x="7111594" y="3434239"/>
              <a:ext cx="1855013" cy="259080"/>
            </a:xfrm>
            <a:prstGeom prst="rect">
              <a:avLst/>
            </a:prstGeom>
            <a:noFill/>
            <a:ln>
              <a:noFill/>
            </a:ln>
          </p:spPr>
          <p:txBody>
            <a:bodyPr wrap="none" lIns="0" tIns="0" rIns="0" bIns="0" anchor="t" anchorCtr="0">
              <a:spAutoFit/>
            </a:bodyPr>
            <a:lstStyle/>
            <a:p>
              <a:pPr algn="ctr"/>
              <a:r>
                <a:rPr lang="en-US" sz="1280" dirty="0">
                  <a:solidFill>
                    <a:srgbClr val="4DA6FF"/>
                  </a:solidFill>
                  <a:latin typeface="Segoe UI"/>
                  <a:ea typeface="Segoe UI"/>
                  <a:cs typeface="Segoe UI"/>
                </a:rPr>
                <a:t>48MP · f/2.2 · 13mm</a:t>
              </a:r>
            </a:p>
          </p:txBody>
        </p:sp>
        <p:sp>
          <p:nvSpPr>
            <p:cNvPr id="19" name="Rectangle 19"/>
            <p:cNvSpPr/>
            <p:nvPr/>
          </p:nvSpPr>
          <p:spPr>
            <a:xfrm>
              <a:off x="609600" y="3829050"/>
              <a:ext cx="10972800" cy="533400"/>
            </a:xfrm>
            <a:prstGeom prst="rect">
              <a:avLst/>
            </a:prstGeom>
            <a:solidFill>
              <a:srgbClr val="16161A"/>
            </a:solidFill>
            <a:ln>
              <a:noFill/>
            </a:ln>
          </p:spPr>
        </p:sp>
        <p:sp>
          <p:nvSpPr>
            <p:cNvPr id="20" name="TextBox 20"/>
            <p:cNvSpPr txBox="1"/>
            <p:nvPr/>
          </p:nvSpPr>
          <p:spPr>
            <a:xfrm>
              <a:off x="821055" y="3997642"/>
              <a:ext cx="981928" cy="274320"/>
            </a:xfrm>
            <a:prstGeom prst="rect">
              <a:avLst/>
            </a:prstGeom>
            <a:noFill/>
            <a:ln>
              <a:noFill/>
            </a:ln>
          </p:spPr>
          <p:txBody>
            <a:bodyPr wrap="none" lIns="0" tIns="0" rIns="0" bIns="0" anchor="t" anchorCtr="0">
              <a:spAutoFit/>
            </a:bodyPr>
            <a:lstStyle/>
            <a:p>
              <a:pPr algn="l"/>
              <a:r>
                <a:rPr lang="en-US" sz="1350" b="1" dirty="0">
                  <a:solidFill>
                    <a:srgbClr val="EDEDF0"/>
                  </a:solidFill>
                  <a:latin typeface="Segoe UI"/>
                  <a:ea typeface="Segoe UI"/>
                  <a:cs typeface="Segoe UI"/>
                </a:rPr>
                <a:t>Telephoto</a:t>
              </a:r>
            </a:p>
          </p:txBody>
        </p:sp>
        <p:sp>
          <p:nvSpPr>
            <p:cNvPr id="21" name="TextBox 21"/>
            <p:cNvSpPr txBox="1"/>
            <p:nvPr/>
          </p:nvSpPr>
          <p:spPr>
            <a:xfrm>
              <a:off x="3560102" y="4005739"/>
              <a:ext cx="1718996" cy="259080"/>
            </a:xfrm>
            <a:prstGeom prst="rect">
              <a:avLst/>
            </a:prstGeom>
            <a:noFill/>
            <a:ln>
              <a:noFill/>
            </a:ln>
          </p:spPr>
          <p:txBody>
            <a:bodyPr wrap="none" lIns="0" tIns="0" rIns="0" bIns="0" anchor="t" anchorCtr="0">
              <a:spAutoFit/>
            </a:bodyPr>
            <a:lstStyle/>
            <a:p>
              <a:pPr algn="ctr"/>
              <a:r>
                <a:rPr lang="en-US" sz="1280" dirty="0">
                  <a:solidFill>
                    <a:srgbClr val="D4A853"/>
                  </a:solidFill>
                  <a:latin typeface="Segoe UI"/>
                  <a:ea typeface="Segoe UI"/>
                  <a:cs typeface="Segoe UI"/>
                </a:rPr>
                <a:t>5× · f/2.8 · 120mm</a:t>
              </a:r>
            </a:p>
          </p:txBody>
        </p:sp>
        <p:sp>
          <p:nvSpPr>
            <p:cNvPr id="22" name="TextBox 22"/>
            <p:cNvSpPr txBox="1"/>
            <p:nvPr/>
          </p:nvSpPr>
          <p:spPr>
            <a:xfrm>
              <a:off x="7179602" y="4005739"/>
              <a:ext cx="1718996" cy="259080"/>
            </a:xfrm>
            <a:prstGeom prst="rect">
              <a:avLst/>
            </a:prstGeom>
            <a:noFill/>
            <a:ln>
              <a:noFill/>
            </a:ln>
          </p:spPr>
          <p:txBody>
            <a:bodyPr wrap="none" lIns="0" tIns="0" rIns="0" bIns="0" anchor="t" anchorCtr="0">
              <a:spAutoFit/>
            </a:bodyPr>
            <a:lstStyle/>
            <a:p>
              <a:pPr algn="ctr"/>
              <a:r>
                <a:rPr lang="en-US" sz="1280" dirty="0">
                  <a:solidFill>
                    <a:srgbClr val="D4A853"/>
                  </a:solidFill>
                  <a:latin typeface="Segoe UI"/>
                  <a:ea typeface="Segoe UI"/>
                  <a:cs typeface="Segoe UI"/>
                </a:rPr>
                <a:t>5× · f/2.8 · 120mm</a:t>
              </a:r>
            </a:p>
          </p:txBody>
        </p:sp>
        <p:sp>
          <p:nvSpPr>
            <p:cNvPr id="23" name="Rectangle 23"/>
            <p:cNvSpPr/>
            <p:nvPr/>
          </p:nvSpPr>
          <p:spPr>
            <a:xfrm>
              <a:off x="609600" y="4400550"/>
              <a:ext cx="10972800" cy="533400"/>
            </a:xfrm>
            <a:prstGeom prst="rect">
              <a:avLst/>
            </a:prstGeom>
            <a:solidFill>
              <a:srgbClr val="16161A"/>
            </a:solidFill>
            <a:ln>
              <a:noFill/>
            </a:ln>
          </p:spPr>
        </p:sp>
        <p:sp>
          <p:nvSpPr>
            <p:cNvPr id="24" name="TextBox 24"/>
            <p:cNvSpPr txBox="1"/>
            <p:nvPr/>
          </p:nvSpPr>
          <p:spPr>
            <a:xfrm>
              <a:off x="821055" y="4569142"/>
              <a:ext cx="2050542" cy="274320"/>
            </a:xfrm>
            <a:prstGeom prst="rect">
              <a:avLst/>
            </a:prstGeom>
            <a:noFill/>
            <a:ln>
              <a:noFill/>
            </a:ln>
          </p:spPr>
          <p:txBody>
            <a:bodyPr wrap="none" lIns="0" tIns="0" rIns="0" bIns="0" anchor="t" anchorCtr="0">
              <a:spAutoFit/>
            </a:bodyPr>
            <a:lstStyle/>
            <a:p>
              <a:pPr algn="l"/>
              <a:r>
                <a:rPr lang="en-US" sz="1350" b="1" dirty="0">
                  <a:solidFill>
                    <a:srgbClr val="EDEDF0"/>
                  </a:solidFill>
                  <a:latin typeface="Segoe UI"/>
                  <a:ea typeface="Segoe UI"/>
                  <a:cs typeface="Segoe UI"/>
                </a:rPr>
                <a:t>Optical Stabilization</a:t>
              </a:r>
            </a:p>
          </p:txBody>
        </p:sp>
        <p:sp>
          <p:nvSpPr>
            <p:cNvPr id="25" name="TextBox 25"/>
            <p:cNvSpPr txBox="1"/>
            <p:nvPr/>
          </p:nvSpPr>
          <p:spPr>
            <a:xfrm>
              <a:off x="2916288" y="4577239"/>
              <a:ext cx="3006623" cy="259080"/>
            </a:xfrm>
            <a:prstGeom prst="rect">
              <a:avLst/>
            </a:prstGeom>
            <a:noFill/>
            <a:ln>
              <a:noFill/>
            </a:ln>
          </p:spPr>
          <p:txBody>
            <a:bodyPr wrap="none" lIns="0" tIns="0" rIns="0" bIns="0" anchor="t" anchorCtr="0">
              <a:spAutoFit/>
            </a:bodyPr>
            <a:lstStyle/>
            <a:p>
              <a:pPr algn="ctr"/>
              <a:r>
                <a:rPr lang="en-US" sz="1280" dirty="0">
                  <a:solidFill>
                    <a:srgbClr val="EDEDF0"/>
                  </a:solidFill>
                  <a:latin typeface="Segoe UI"/>
                  <a:ea typeface="Segoe UI"/>
                  <a:cs typeface="Segoe UI"/>
                </a:rPr>
                <a:t>2nd-gen sensor-shift (all lenses)</a:t>
              </a:r>
            </a:p>
          </p:txBody>
        </p:sp>
        <p:sp>
          <p:nvSpPr>
            <p:cNvPr id="26" name="TextBox 26"/>
            <p:cNvSpPr txBox="1"/>
            <p:nvPr/>
          </p:nvSpPr>
          <p:spPr>
            <a:xfrm>
              <a:off x="6535788" y="4577239"/>
              <a:ext cx="3006623" cy="259080"/>
            </a:xfrm>
            <a:prstGeom prst="rect">
              <a:avLst/>
            </a:prstGeom>
            <a:noFill/>
            <a:ln>
              <a:noFill/>
            </a:ln>
          </p:spPr>
          <p:txBody>
            <a:bodyPr wrap="none" lIns="0" tIns="0" rIns="0" bIns="0" anchor="t" anchorCtr="0">
              <a:spAutoFit/>
            </a:bodyPr>
            <a:lstStyle/>
            <a:p>
              <a:pPr algn="ctr"/>
              <a:r>
                <a:rPr lang="en-US" sz="1280" dirty="0">
                  <a:solidFill>
                    <a:srgbClr val="EDEDF0"/>
                  </a:solidFill>
                  <a:latin typeface="Segoe UI"/>
                  <a:ea typeface="Segoe UI"/>
                  <a:cs typeface="Segoe UI"/>
                </a:rPr>
                <a:t>2nd-gen sensor-shift (all lenses)</a:t>
              </a:r>
            </a:p>
          </p:txBody>
        </p:sp>
        <p:sp>
          <p:nvSpPr>
            <p:cNvPr id="27" name="Rectangle 27"/>
            <p:cNvSpPr/>
            <p:nvPr/>
          </p:nvSpPr>
          <p:spPr>
            <a:xfrm>
              <a:off x="609600" y="4972050"/>
              <a:ext cx="10972800" cy="533400"/>
            </a:xfrm>
            <a:prstGeom prst="rect">
              <a:avLst/>
            </a:prstGeom>
            <a:solidFill>
              <a:srgbClr val="16161A"/>
            </a:solidFill>
            <a:ln>
              <a:noFill/>
            </a:ln>
          </p:spPr>
        </p:sp>
        <p:sp>
          <p:nvSpPr>
            <p:cNvPr id="28" name="TextBox 28"/>
            <p:cNvSpPr txBox="1"/>
            <p:nvPr/>
          </p:nvSpPr>
          <p:spPr>
            <a:xfrm>
              <a:off x="821055" y="5140642"/>
              <a:ext cx="1778348" cy="274320"/>
            </a:xfrm>
            <a:prstGeom prst="rect">
              <a:avLst/>
            </a:prstGeom>
            <a:noFill/>
            <a:ln>
              <a:noFill/>
            </a:ln>
          </p:spPr>
          <p:txBody>
            <a:bodyPr wrap="none" lIns="0" tIns="0" rIns="0" bIns="0" anchor="t" anchorCtr="0">
              <a:spAutoFit/>
            </a:bodyPr>
            <a:lstStyle/>
            <a:p>
              <a:pPr algn="l"/>
              <a:r>
                <a:rPr lang="en-US" sz="1350" b="1" dirty="0">
                  <a:solidFill>
                    <a:srgbClr val="EDEDF0"/>
                  </a:solidFill>
                  <a:latin typeface="Segoe UI"/>
                  <a:ea typeface="Segoe UI"/>
                  <a:cs typeface="Segoe UI"/>
                </a:rPr>
                <a:t>4K120 Dolby Vision</a:t>
              </a:r>
            </a:p>
          </p:txBody>
        </p:sp>
        <p:sp>
          <p:nvSpPr>
            <p:cNvPr id="29" name="Rectangle 29"/>
            <p:cNvSpPr/>
            <p:nvPr/>
          </p:nvSpPr>
          <p:spPr>
            <a:xfrm>
              <a:off x="4133850" y="5124450"/>
              <a:ext cx="571500" cy="228600"/>
            </a:xfrm>
            <a:prstGeom prst="roundRect">
              <a:avLst>
                <a:gd name="adj" fmla="val 16667"/>
              </a:avLst>
            </a:prstGeom>
            <a:solidFill>
              <a:srgbClr val="34C759">
                <a:alpha val="15000"/>
              </a:srgbClr>
            </a:solidFill>
            <a:ln>
              <a:noFill/>
            </a:ln>
          </p:spPr>
        </p:sp>
        <p:sp>
          <p:nvSpPr>
            <p:cNvPr id="30" name="TextBox 30"/>
            <p:cNvSpPr txBox="1"/>
            <p:nvPr/>
          </p:nvSpPr>
          <p:spPr>
            <a:xfrm>
              <a:off x="4249893" y="5164931"/>
              <a:ext cx="339414" cy="228600"/>
            </a:xfrm>
            <a:prstGeom prst="rect">
              <a:avLst/>
            </a:prstGeom>
            <a:noFill/>
            <a:ln>
              <a:noFill/>
            </a:ln>
          </p:spPr>
          <p:txBody>
            <a:bodyPr wrap="none" lIns="0" tIns="0" rIns="0" bIns="0" anchor="t" anchorCtr="0">
              <a:spAutoFit/>
            </a:bodyPr>
            <a:lstStyle/>
            <a:p>
              <a:pPr algn="ctr"/>
              <a:r>
                <a:rPr lang="en-US" sz="1120" b="1" dirty="0">
                  <a:solidFill>
                    <a:srgbClr val="34C759"/>
                  </a:solidFill>
                  <a:latin typeface="Segoe UI"/>
                  <a:ea typeface="Segoe UI"/>
                  <a:cs typeface="Segoe UI"/>
                </a:rPr>
                <a:t>NEW</a:t>
              </a:r>
            </a:p>
          </p:txBody>
        </p:sp>
        <p:sp>
          <p:nvSpPr>
            <p:cNvPr id="31" name="TextBox 31"/>
            <p:cNvSpPr txBox="1"/>
            <p:nvPr/>
          </p:nvSpPr>
          <p:spPr>
            <a:xfrm>
              <a:off x="5546408" y="5148739"/>
              <a:ext cx="331622" cy="259080"/>
            </a:xfrm>
            <a:prstGeom prst="rect">
              <a:avLst/>
            </a:prstGeom>
            <a:noFill/>
            <a:ln>
              <a:noFill/>
            </a:ln>
          </p:spPr>
          <p:txBody>
            <a:bodyPr wrap="none" lIns="0" tIns="0" rIns="0" bIns="0" anchor="t" anchorCtr="0">
              <a:spAutoFit/>
            </a:bodyPr>
            <a:lstStyle/>
            <a:p>
              <a:pPr algn="l"/>
              <a:r>
                <a:rPr lang="en-US" sz="1280" dirty="0">
                  <a:solidFill>
                    <a:srgbClr val="EDEDF0"/>
                  </a:solidFill>
                  <a:latin typeface="Segoe UI"/>
                  <a:ea typeface="Segoe UI"/>
                  <a:cs typeface="Segoe UI"/>
                </a:rPr>
                <a:t>Yes</a:t>
              </a:r>
            </a:p>
          </p:txBody>
        </p:sp>
        <p:sp>
          <p:nvSpPr>
            <p:cNvPr id="32" name="Rectangle 32"/>
            <p:cNvSpPr/>
            <p:nvPr/>
          </p:nvSpPr>
          <p:spPr>
            <a:xfrm>
              <a:off x="7753350" y="5124450"/>
              <a:ext cx="571500" cy="228600"/>
            </a:xfrm>
            <a:prstGeom prst="roundRect">
              <a:avLst>
                <a:gd name="adj" fmla="val 16667"/>
              </a:avLst>
            </a:prstGeom>
            <a:solidFill>
              <a:srgbClr val="34C759">
                <a:alpha val="15000"/>
              </a:srgbClr>
            </a:solidFill>
            <a:ln>
              <a:noFill/>
            </a:ln>
          </p:spPr>
        </p:sp>
        <p:sp>
          <p:nvSpPr>
            <p:cNvPr id="33" name="TextBox 33"/>
            <p:cNvSpPr txBox="1"/>
            <p:nvPr/>
          </p:nvSpPr>
          <p:spPr>
            <a:xfrm>
              <a:off x="7869393" y="5164931"/>
              <a:ext cx="339414" cy="228600"/>
            </a:xfrm>
            <a:prstGeom prst="rect">
              <a:avLst/>
            </a:prstGeom>
            <a:noFill/>
            <a:ln>
              <a:noFill/>
            </a:ln>
          </p:spPr>
          <p:txBody>
            <a:bodyPr wrap="none" lIns="0" tIns="0" rIns="0" bIns="0" anchor="t" anchorCtr="0">
              <a:spAutoFit/>
            </a:bodyPr>
            <a:lstStyle/>
            <a:p>
              <a:pPr algn="ctr"/>
              <a:r>
                <a:rPr lang="en-US" sz="1120" b="1" dirty="0">
                  <a:solidFill>
                    <a:srgbClr val="34C759"/>
                  </a:solidFill>
                  <a:latin typeface="Segoe UI"/>
                  <a:ea typeface="Segoe UI"/>
                  <a:cs typeface="Segoe UI"/>
                </a:rPr>
                <a:t>NEW</a:t>
              </a:r>
            </a:p>
          </p:txBody>
        </p:sp>
        <p:sp>
          <p:nvSpPr>
            <p:cNvPr id="34" name="TextBox 34"/>
            <p:cNvSpPr txBox="1"/>
            <p:nvPr/>
          </p:nvSpPr>
          <p:spPr>
            <a:xfrm>
              <a:off x="9165908" y="5148739"/>
              <a:ext cx="331622" cy="259080"/>
            </a:xfrm>
            <a:prstGeom prst="rect">
              <a:avLst/>
            </a:prstGeom>
            <a:noFill/>
            <a:ln>
              <a:noFill/>
            </a:ln>
          </p:spPr>
          <p:txBody>
            <a:bodyPr wrap="none" lIns="0" tIns="0" rIns="0" bIns="0" anchor="t" anchorCtr="0">
              <a:spAutoFit/>
            </a:bodyPr>
            <a:lstStyle/>
            <a:p>
              <a:pPr algn="l"/>
              <a:r>
                <a:rPr lang="en-US" sz="1280" dirty="0">
                  <a:solidFill>
                    <a:srgbClr val="EDEDF0"/>
                  </a:solidFill>
                  <a:latin typeface="Segoe UI"/>
                  <a:ea typeface="Segoe UI"/>
                  <a:cs typeface="Segoe UI"/>
                </a:rPr>
                <a:t>Yes</a:t>
              </a:r>
            </a:p>
          </p:txBody>
        </p:sp>
        <p:sp>
          <p:nvSpPr>
            <p:cNvPr id="35" name="Rectangle 35"/>
            <p:cNvSpPr/>
            <p:nvPr/>
          </p:nvSpPr>
          <p:spPr>
            <a:xfrm>
              <a:off x="609600" y="5543550"/>
              <a:ext cx="10972800" cy="533400"/>
            </a:xfrm>
            <a:prstGeom prst="rect">
              <a:avLst/>
            </a:prstGeom>
            <a:solidFill>
              <a:srgbClr val="16161A"/>
            </a:solidFill>
            <a:ln>
              <a:noFill/>
            </a:ln>
          </p:spPr>
        </p:sp>
        <p:sp>
          <p:nvSpPr>
            <p:cNvPr id="36" name="TextBox 36"/>
            <p:cNvSpPr txBox="1"/>
            <p:nvPr/>
          </p:nvSpPr>
          <p:spPr>
            <a:xfrm>
              <a:off x="821055" y="5712142"/>
              <a:ext cx="1203716" cy="274320"/>
            </a:xfrm>
            <a:prstGeom prst="rect">
              <a:avLst/>
            </a:prstGeom>
            <a:noFill/>
            <a:ln>
              <a:noFill/>
            </a:ln>
          </p:spPr>
          <p:txBody>
            <a:bodyPr wrap="none" lIns="0" tIns="0" rIns="0" bIns="0" anchor="t" anchorCtr="0">
              <a:spAutoFit/>
            </a:bodyPr>
            <a:lstStyle/>
            <a:p>
              <a:pPr algn="l"/>
              <a:r>
                <a:rPr lang="en-US" sz="1350" b="1" dirty="0">
                  <a:solidFill>
                    <a:srgbClr val="EDEDF0"/>
                  </a:solidFill>
                  <a:latin typeface="Segoe UI"/>
                  <a:ea typeface="Segoe UI"/>
                  <a:cs typeface="Segoe UI"/>
                </a:rPr>
                <a:t>ProRes 4K60</a:t>
              </a:r>
            </a:p>
          </p:txBody>
        </p:sp>
        <p:sp>
          <p:nvSpPr>
            <p:cNvPr id="37" name="TextBox 37"/>
            <p:cNvSpPr txBox="1"/>
            <p:nvPr/>
          </p:nvSpPr>
          <p:spPr>
            <a:xfrm>
              <a:off x="3374212" y="5720239"/>
              <a:ext cx="2090776" cy="259080"/>
            </a:xfrm>
            <a:prstGeom prst="rect">
              <a:avLst/>
            </a:prstGeom>
            <a:noFill/>
            <a:ln>
              <a:noFill/>
            </a:ln>
          </p:spPr>
          <p:txBody>
            <a:bodyPr wrap="none" lIns="0" tIns="0" rIns="0" bIns="0" anchor="t" anchorCtr="0">
              <a:spAutoFit/>
            </a:bodyPr>
            <a:lstStyle/>
            <a:p>
              <a:pPr algn="ctr"/>
              <a:r>
                <a:rPr lang="en-US" sz="1280" dirty="0">
                  <a:solidFill>
                    <a:srgbClr val="EDEDF0"/>
                  </a:solidFill>
                  <a:latin typeface="Segoe UI"/>
                  <a:ea typeface="Segoe UI"/>
                  <a:cs typeface="Segoe UI"/>
                </a:rPr>
                <a:t>Yes (external storage)</a:t>
              </a:r>
            </a:p>
          </p:txBody>
        </p:sp>
        <p:sp>
          <p:nvSpPr>
            <p:cNvPr id="38" name="TextBox 38"/>
            <p:cNvSpPr txBox="1"/>
            <p:nvPr/>
          </p:nvSpPr>
          <p:spPr>
            <a:xfrm>
              <a:off x="6993712" y="5720239"/>
              <a:ext cx="2090776" cy="259080"/>
            </a:xfrm>
            <a:prstGeom prst="rect">
              <a:avLst/>
            </a:prstGeom>
            <a:noFill/>
            <a:ln>
              <a:noFill/>
            </a:ln>
          </p:spPr>
          <p:txBody>
            <a:bodyPr wrap="none" lIns="0" tIns="0" rIns="0" bIns="0" anchor="t" anchorCtr="0">
              <a:spAutoFit/>
            </a:bodyPr>
            <a:lstStyle/>
            <a:p>
              <a:pPr algn="ctr"/>
              <a:r>
                <a:rPr lang="en-US" sz="1280" dirty="0">
                  <a:solidFill>
                    <a:srgbClr val="EDEDF0"/>
                  </a:solidFill>
                  <a:latin typeface="Segoe UI"/>
                  <a:ea typeface="Segoe UI"/>
                  <a:cs typeface="Segoe UI"/>
                </a:rPr>
                <a:t>Yes (external storage)</a:t>
              </a:r>
            </a:p>
          </p:txBody>
        </p:sp>
        <p:sp>
          <p:nvSpPr>
            <p:cNvPr id="39" name="Rectangle 39"/>
            <p:cNvSpPr/>
            <p:nvPr/>
          </p:nvSpPr>
          <p:spPr>
            <a:xfrm>
              <a:off x="609600" y="6115050"/>
              <a:ext cx="10972800" cy="533400"/>
            </a:xfrm>
            <a:prstGeom prst="rect">
              <a:avLst/>
            </a:prstGeom>
            <a:solidFill>
              <a:srgbClr val="16161A"/>
            </a:solidFill>
            <a:ln>
              <a:noFill/>
            </a:ln>
          </p:spPr>
        </p:sp>
        <p:sp>
          <p:nvSpPr>
            <p:cNvPr id="40" name="TextBox 40"/>
            <p:cNvSpPr txBox="1"/>
            <p:nvPr/>
          </p:nvSpPr>
          <p:spPr>
            <a:xfrm>
              <a:off x="821055" y="6283642"/>
              <a:ext cx="2171517" cy="274320"/>
            </a:xfrm>
            <a:prstGeom prst="rect">
              <a:avLst/>
            </a:prstGeom>
            <a:noFill/>
            <a:ln>
              <a:noFill/>
            </a:ln>
          </p:spPr>
          <p:txBody>
            <a:bodyPr wrap="none" lIns="0" tIns="0" rIns="0" bIns="0" anchor="t" anchorCtr="0">
              <a:spAutoFit/>
            </a:bodyPr>
            <a:lstStyle/>
            <a:p>
              <a:pPr algn="l"/>
              <a:r>
                <a:rPr lang="en-US" sz="1350" b="1" dirty="0">
                  <a:solidFill>
                    <a:srgbClr val="EDEDF0"/>
                  </a:solidFill>
                  <a:latin typeface="Segoe UI"/>
                  <a:ea typeface="Segoe UI"/>
                  <a:cs typeface="Segoe UI"/>
                </a:rPr>
                <a:t>Spatial Photos &amp; Video</a:t>
              </a:r>
            </a:p>
          </p:txBody>
        </p:sp>
        <p:sp>
          <p:nvSpPr>
            <p:cNvPr id="41" name="TextBox 41"/>
            <p:cNvSpPr txBox="1"/>
            <p:nvPr/>
          </p:nvSpPr>
          <p:spPr>
            <a:xfrm>
              <a:off x="4253789" y="6291739"/>
              <a:ext cx="331622" cy="259080"/>
            </a:xfrm>
            <a:prstGeom prst="rect">
              <a:avLst/>
            </a:prstGeom>
            <a:noFill/>
            <a:ln>
              <a:noFill/>
            </a:ln>
          </p:spPr>
          <p:txBody>
            <a:bodyPr wrap="none" lIns="0" tIns="0" rIns="0" bIns="0" anchor="t" anchorCtr="0">
              <a:spAutoFit/>
            </a:bodyPr>
            <a:lstStyle/>
            <a:p>
              <a:pPr algn="ctr"/>
              <a:r>
                <a:rPr lang="en-US" sz="1280" dirty="0">
                  <a:solidFill>
                    <a:srgbClr val="EDEDF0"/>
                  </a:solidFill>
                  <a:latin typeface="Segoe UI"/>
                  <a:ea typeface="Segoe UI"/>
                  <a:cs typeface="Segoe UI"/>
                </a:rPr>
                <a:t>Yes</a:t>
              </a:r>
            </a:p>
          </p:txBody>
        </p:sp>
        <p:sp>
          <p:nvSpPr>
            <p:cNvPr id="42" name="TextBox 42"/>
            <p:cNvSpPr txBox="1"/>
            <p:nvPr/>
          </p:nvSpPr>
          <p:spPr>
            <a:xfrm>
              <a:off x="7873289" y="6291739"/>
              <a:ext cx="331622" cy="259080"/>
            </a:xfrm>
            <a:prstGeom prst="rect">
              <a:avLst/>
            </a:prstGeom>
            <a:noFill/>
            <a:ln>
              <a:noFill/>
            </a:ln>
          </p:spPr>
          <p:txBody>
            <a:bodyPr wrap="none" lIns="0" tIns="0" rIns="0" bIns="0" anchor="t" anchorCtr="0">
              <a:spAutoFit/>
            </a:bodyPr>
            <a:lstStyle/>
            <a:p>
              <a:pPr algn="ctr"/>
              <a:r>
                <a:rPr lang="en-US" sz="1280" dirty="0">
                  <a:solidFill>
                    <a:srgbClr val="EDEDF0"/>
                  </a:solidFill>
                  <a:latin typeface="Segoe UI"/>
                  <a:ea typeface="Segoe UI"/>
                  <a:cs typeface="Segoe UI"/>
                </a:rPr>
                <a:t>Yes</a:t>
              </a:r>
            </a:p>
          </p:txBody>
        </p:sp>
        <p:sp>
          <p:nvSpPr>
            <p:cNvPr id="43" name="Rectangle 43"/>
            <p:cNvSpPr/>
            <p:nvPr/>
          </p:nvSpPr>
          <p:spPr>
            <a:xfrm>
              <a:off x="609600" y="6686550"/>
              <a:ext cx="10972800" cy="533400"/>
            </a:xfrm>
            <a:prstGeom prst="roundRect">
              <a:avLst>
                <a:gd name="adj" fmla="val 10714"/>
              </a:avLst>
            </a:prstGeom>
            <a:solidFill>
              <a:srgbClr val="16161A"/>
            </a:solidFill>
            <a:ln>
              <a:noFill/>
            </a:ln>
          </p:spPr>
        </p:sp>
        <p:sp>
          <p:nvSpPr>
            <p:cNvPr id="44" name="TextBox 44"/>
            <p:cNvSpPr txBox="1"/>
            <p:nvPr/>
          </p:nvSpPr>
          <p:spPr>
            <a:xfrm>
              <a:off x="821055" y="6855142"/>
              <a:ext cx="2252167" cy="274320"/>
            </a:xfrm>
            <a:prstGeom prst="rect">
              <a:avLst/>
            </a:prstGeom>
            <a:noFill/>
            <a:ln>
              <a:noFill/>
            </a:ln>
          </p:spPr>
          <p:txBody>
            <a:bodyPr wrap="none" lIns="0" tIns="0" rIns="0" bIns="0" anchor="t" anchorCtr="0">
              <a:spAutoFit/>
            </a:bodyPr>
            <a:lstStyle/>
            <a:p>
              <a:pPr algn="l"/>
              <a:r>
                <a:rPr lang="en-US" sz="1350" b="1" dirty="0">
                  <a:solidFill>
                    <a:srgbClr val="EDEDF0"/>
                  </a:solidFill>
                  <a:latin typeface="Segoe UI"/>
                  <a:ea typeface="Segoe UI"/>
                  <a:cs typeface="Segoe UI"/>
                </a:rPr>
                <a:t>Camera Control Button</a:t>
              </a:r>
            </a:p>
          </p:txBody>
        </p:sp>
        <p:sp>
          <p:nvSpPr>
            <p:cNvPr id="45" name="TextBox 45"/>
            <p:cNvSpPr txBox="1"/>
            <p:nvPr/>
          </p:nvSpPr>
          <p:spPr>
            <a:xfrm>
              <a:off x="4253789" y="6863239"/>
              <a:ext cx="331622" cy="259080"/>
            </a:xfrm>
            <a:prstGeom prst="rect">
              <a:avLst/>
            </a:prstGeom>
            <a:noFill/>
            <a:ln>
              <a:noFill/>
            </a:ln>
          </p:spPr>
          <p:txBody>
            <a:bodyPr wrap="none" lIns="0" tIns="0" rIns="0" bIns="0" anchor="t" anchorCtr="0">
              <a:spAutoFit/>
            </a:bodyPr>
            <a:lstStyle/>
            <a:p>
              <a:pPr algn="ctr"/>
              <a:r>
                <a:rPr lang="en-US" sz="1280" dirty="0">
                  <a:solidFill>
                    <a:srgbClr val="EDEDF0"/>
                  </a:solidFill>
                  <a:latin typeface="Segoe UI"/>
                  <a:ea typeface="Segoe UI"/>
                  <a:cs typeface="Segoe UI"/>
                </a:rPr>
                <a:t>Yes</a:t>
              </a:r>
            </a:p>
          </p:txBody>
        </p:sp>
        <p:sp>
          <p:nvSpPr>
            <p:cNvPr id="46" name="TextBox 46"/>
            <p:cNvSpPr txBox="1"/>
            <p:nvPr/>
          </p:nvSpPr>
          <p:spPr>
            <a:xfrm>
              <a:off x="7873289" y="6863239"/>
              <a:ext cx="331622" cy="259080"/>
            </a:xfrm>
            <a:prstGeom prst="rect">
              <a:avLst/>
            </a:prstGeom>
            <a:noFill/>
            <a:ln>
              <a:noFill/>
            </a:ln>
          </p:spPr>
          <p:txBody>
            <a:bodyPr wrap="none" lIns="0" tIns="0" rIns="0" bIns="0" anchor="t" anchorCtr="0">
              <a:spAutoFit/>
            </a:bodyPr>
            <a:lstStyle/>
            <a:p>
              <a:pPr algn="ctr"/>
              <a:r>
                <a:rPr lang="en-US" sz="1280" dirty="0">
                  <a:solidFill>
                    <a:srgbClr val="EDEDF0"/>
                  </a:solidFill>
                  <a:latin typeface="Segoe UI"/>
                  <a:ea typeface="Segoe UI"/>
                  <a:cs typeface="Segoe UI"/>
                </a:rPr>
                <a:t>Yes</a:t>
              </a:r>
            </a:p>
          </p:txBody>
        </p:sp>
      </p:grpSp>
      <p:sp>
        <p:nvSpPr>
          <p:cNvPr id="48" name="TextBox 48"/>
          <p:cNvSpPr txBox="1"/>
          <p:nvPr/>
        </p:nvSpPr>
        <p:spPr>
          <a:xfrm>
            <a:off x="3227299" y="5426392"/>
            <a:ext cx="5737403" cy="274320"/>
          </a:xfrm>
          <a:prstGeom prst="rect">
            <a:avLst/>
          </a:prstGeom>
          <a:noFill/>
          <a:ln>
            <a:noFill/>
          </a:ln>
        </p:spPr>
        <p:txBody>
          <a:bodyPr wrap="none" lIns="0" tIns="0" rIns="0" bIns="0" anchor="t" anchorCtr="0">
            <a:spAutoFit/>
          </a:bodyPr>
          <a:lstStyle/>
          <a:p>
            <a:pPr algn="ctr"/>
            <a:r>
              <a:rPr lang="en-US" sz="1350" dirty="0">
                <a:solidFill>
                  <a:srgbClr val="D4A853"/>
                </a:solidFill>
                <a:latin typeface="Segoe UI"/>
                <a:ea typeface="Segoe UI"/>
                <a:cs typeface="Segoe UI"/>
              </a:rPr>
              <a:t>Same pro camera system on both models — no feature gating.</a:t>
            </a:r>
          </a:p>
        </p:txBody>
      </p:sp>
      <p:sp>
        <p:nvSpPr>
          <p:cNvPr id="49" name="TextBox 49"/>
          <p:cNvSpPr txBox="1"/>
          <p:nvPr/>
        </p:nvSpPr>
        <p:spPr>
          <a:xfrm>
            <a:off x="594360" y="5680710"/>
            <a:ext cx="1310640" cy="243840"/>
          </a:xfrm>
          <a:prstGeom prst="rect">
            <a:avLst/>
          </a:prstGeom>
          <a:noFill/>
          <a:ln>
            <a:noFill/>
          </a:ln>
        </p:spPr>
        <p:txBody>
          <a:bodyPr wrap="none" lIns="0" tIns="0" rIns="0" bIns="0" anchor="t" anchorCtr="0">
            <a:spAutoFit/>
          </a:bodyPr>
          <a:lstStyle/>
          <a:p>
            <a:pPr algn="l"/>
            <a:r>
              <a:rPr lang="en-US" sz="1200" dirty="0">
                <a:solidFill>
                  <a:srgbClr val="6B6B72"/>
                </a:solidFill>
                <a:latin typeface="Segoe UI"/>
                <a:ea typeface="Segoe UI"/>
                <a:cs typeface="Segoe UI"/>
              </a:rPr>
              <a:t>Photonic Engine</a:t>
            </a:r>
          </a:p>
        </p:txBody>
      </p:sp>
      <p:sp>
        <p:nvSpPr>
          <p:cNvPr id="50" name="TextBox 50"/>
          <p:cNvSpPr txBox="1"/>
          <p:nvPr/>
        </p:nvSpPr>
        <p:spPr>
          <a:xfrm>
            <a:off x="2842260" y="5680710"/>
            <a:ext cx="1011936" cy="243840"/>
          </a:xfrm>
          <a:prstGeom prst="rect">
            <a:avLst/>
          </a:prstGeom>
          <a:noFill/>
          <a:ln>
            <a:noFill/>
          </a:ln>
        </p:spPr>
        <p:txBody>
          <a:bodyPr wrap="none" lIns="0" tIns="0" rIns="0" bIns="0" anchor="t" anchorCtr="0">
            <a:spAutoFit/>
          </a:bodyPr>
          <a:lstStyle/>
          <a:p>
            <a:pPr algn="l"/>
            <a:r>
              <a:rPr lang="en-US" sz="1200" dirty="0">
                <a:solidFill>
                  <a:srgbClr val="6B6B72"/>
                </a:solidFill>
                <a:latin typeface="Segoe UI"/>
                <a:ea typeface="Segoe UI"/>
                <a:cs typeface="Segoe UI"/>
              </a:rPr>
              <a:t>Smart HDR 5</a:t>
            </a:r>
          </a:p>
        </p:txBody>
      </p:sp>
      <p:sp>
        <p:nvSpPr>
          <p:cNvPr id="51" name="TextBox 51"/>
          <p:cNvSpPr txBox="1"/>
          <p:nvPr/>
        </p:nvSpPr>
        <p:spPr>
          <a:xfrm>
            <a:off x="4747260" y="5680710"/>
            <a:ext cx="1634947" cy="243840"/>
          </a:xfrm>
          <a:prstGeom prst="rect">
            <a:avLst/>
          </a:prstGeom>
          <a:noFill/>
          <a:ln>
            <a:noFill/>
          </a:ln>
        </p:spPr>
        <p:txBody>
          <a:bodyPr wrap="none" lIns="0" tIns="0" rIns="0" bIns="0" anchor="t" anchorCtr="0">
            <a:spAutoFit/>
          </a:bodyPr>
          <a:lstStyle/>
          <a:p>
            <a:pPr algn="l"/>
            <a:r>
              <a:rPr lang="en-US" sz="1200" dirty="0">
                <a:solidFill>
                  <a:srgbClr val="6B6B72"/>
                </a:solidFill>
                <a:latin typeface="Segoe UI"/>
                <a:ea typeface="Segoe UI"/>
                <a:cs typeface="Segoe UI"/>
              </a:rPr>
              <a:t>Next-gen Portraits</a:t>
            </a:r>
          </a:p>
        </p:txBody>
      </p:sp>
      <p:sp>
        <p:nvSpPr>
          <p:cNvPr id="52" name="TextBox 52"/>
          <p:cNvSpPr txBox="1"/>
          <p:nvPr/>
        </p:nvSpPr>
        <p:spPr>
          <a:xfrm>
            <a:off x="7128510" y="5680710"/>
            <a:ext cx="1617878" cy="243840"/>
          </a:xfrm>
          <a:prstGeom prst="rect">
            <a:avLst/>
          </a:prstGeom>
          <a:noFill/>
          <a:ln>
            <a:noFill/>
          </a:ln>
        </p:spPr>
        <p:txBody>
          <a:bodyPr wrap="none" lIns="0" tIns="0" rIns="0" bIns="0" anchor="t" anchorCtr="0">
            <a:spAutoFit/>
          </a:bodyPr>
          <a:lstStyle/>
          <a:p>
            <a:pPr algn="l"/>
            <a:r>
              <a:rPr lang="en-US" sz="1200" dirty="0">
                <a:solidFill>
                  <a:srgbClr val="6B6B72"/>
                </a:solidFill>
                <a:latin typeface="Segoe UI"/>
                <a:ea typeface="Segoe UI"/>
                <a:cs typeface="Segoe UI"/>
              </a:rPr>
              <a:t>Macro Photography</a:t>
            </a:r>
          </a:p>
        </p:txBody>
      </p:sp>
      <p:sp>
        <p:nvSpPr>
          <p:cNvPr id="53" name="TextBox 53"/>
          <p:cNvSpPr txBox="1"/>
          <p:nvPr/>
        </p:nvSpPr>
        <p:spPr>
          <a:xfrm>
            <a:off x="9319260" y="5680710"/>
            <a:ext cx="1361846" cy="243840"/>
          </a:xfrm>
          <a:prstGeom prst="rect">
            <a:avLst/>
          </a:prstGeom>
          <a:noFill/>
          <a:ln>
            <a:noFill/>
          </a:ln>
        </p:spPr>
        <p:txBody>
          <a:bodyPr wrap="none" lIns="0" tIns="0" rIns="0" bIns="0" anchor="t" anchorCtr="0">
            <a:spAutoFit/>
          </a:bodyPr>
          <a:lstStyle/>
          <a:p>
            <a:pPr algn="l"/>
            <a:r>
              <a:rPr lang="en-US" sz="1200" dirty="0">
                <a:solidFill>
                  <a:srgbClr val="6B6B72"/>
                </a:solidFill>
                <a:latin typeface="Segoe UI"/>
                <a:ea typeface="Segoe UI"/>
                <a:cs typeface="Segoe UI"/>
              </a:rPr>
              <a:t>Log Video + ACES</a:t>
            </a:r>
          </a:p>
        </p:txBody>
      </p:sp>
      <p:sp>
        <p:nvSpPr>
          <p:cNvPr id="54" name="TextBox 54"/>
          <p:cNvSpPr txBox="1"/>
          <p:nvPr/>
        </p:nvSpPr>
        <p:spPr>
          <a:xfrm>
            <a:off x="11183112" y="6442710"/>
            <a:ext cx="414528" cy="243840"/>
          </a:xfrm>
          <a:prstGeom prst="rect">
            <a:avLst/>
          </a:prstGeom>
          <a:noFill/>
          <a:ln>
            <a:noFill/>
          </a:ln>
        </p:spPr>
        <p:txBody>
          <a:bodyPr wrap="none" lIns="0" tIns="0" rIns="0" bIns="0" anchor="t" anchorCtr="0">
            <a:spAutoFit/>
          </a:bodyPr>
          <a:lstStyle/>
          <a:p>
            <a:pPr algn="r"/>
            <a:r>
              <a:rPr lang="en-US" sz="1200" dirty="0">
                <a:solidFill>
                  <a:srgbClr val="6B6B72"/>
                </a:solidFill>
                <a:latin typeface="Segoe UI"/>
                <a:ea typeface="Segoe UI"/>
                <a:cs typeface="Segoe UI"/>
              </a:rPr>
              <a:t>6 / 9</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B0D"/>
          </a:solidFill>
          <a:ln>
            <a:noFill/>
          </a:ln>
        </p:spPr>
      </p:sp>
      <p:sp>
        <p:nvSpPr>
          <p:cNvPr id="3" name="Rectangle 3"/>
          <p:cNvSpPr/>
          <p:nvPr/>
        </p:nvSpPr>
        <p:spPr>
          <a:xfrm>
            <a:off x="0" y="0"/>
            <a:ext cx="12192000" cy="6858000"/>
          </a:xfrm>
          <a:prstGeom prst="rect">
            <a:avLst/>
          </a:prstGeom>
          <a:gradFill>
            <a:gsLst>
              <a:gs pos="0">
                <a:srgbClr val="34C759">
                  <a:alpha val="6000"/>
                </a:srgbClr>
              </a:gs>
              <a:gs pos="100000">
                <a:srgbClr val="0B0B0D">
                  <a:alpha val="0"/>
                </a:srgbClr>
              </a:gs>
            </a:gsLst>
            <a:path path="circle">
              <a:fillToRect l="50000" t="50000" r="50000" b="50000"/>
            </a:path>
          </a:gradFill>
          <a:ln>
            <a:noFill/>
          </a:ln>
        </p:spPr>
      </p:sp>
      <p:sp>
        <p:nvSpPr>
          <p:cNvPr id="4" name="Line 4"/>
          <p:cNvSpPr/>
          <p:nvPr/>
        </p:nvSpPr>
        <p:spPr>
          <a:xfrm>
            <a:off x="609600" y="762000"/>
            <a:ext cx="1295400" cy="9525"/>
          </a:xfrm>
          <a:custGeom>
            <a:avLst/>
            <a:gdLst/>
            <a:ahLst/>
            <a:cxnLst/>
            <a:rect l="l" t="t" r="r" b="b"/>
            <a:pathLst>
              <a:path w="1295400" h="9525">
                <a:moveTo>
                  <a:pt x="0" y="0"/>
                </a:moveTo>
                <a:lnTo>
                  <a:pt x="1295400" y="0"/>
                </a:lnTo>
              </a:path>
            </a:pathLst>
          </a:custGeom>
          <a:noFill/>
          <a:ln w="19050">
            <a:solidFill>
              <a:srgbClr val="D4A853">
                <a:alpha val="50000"/>
              </a:srgbClr>
            </a:solidFill>
          </a:ln>
        </p:spPr>
      </p:sp>
      <p:sp>
        <p:nvSpPr>
          <p:cNvPr id="5" name="TextBox 5"/>
          <p:cNvSpPr txBox="1"/>
          <p:nvPr/>
        </p:nvSpPr>
        <p:spPr>
          <a:xfrm>
            <a:off x="594360" y="556260"/>
            <a:ext cx="1658417" cy="243840"/>
          </a:xfrm>
          <a:prstGeom prst="rect">
            <a:avLst/>
          </a:prstGeom>
          <a:noFill/>
          <a:ln>
            <a:noFill/>
          </a:ln>
        </p:spPr>
        <p:txBody>
          <a:bodyPr wrap="none" lIns="0" tIns="0" rIns="0" bIns="0" anchor="t" anchorCtr="0">
            <a:spAutoFit/>
          </a:bodyPr>
          <a:lstStyle/>
          <a:p>
            <a:pPr algn="l"/>
            <a:r>
              <a:rPr lang="en-US" sz="1200" spc="375" dirty="0">
                <a:solidFill>
                  <a:srgbClr val="98989E"/>
                </a:solidFill>
                <a:latin typeface="Segoe UI"/>
                <a:ea typeface="Segoe UI"/>
                <a:cs typeface="Segoe UI"/>
              </a:rPr>
              <a:t>BATTERY LIFE</a:t>
            </a:r>
          </a:p>
        </p:txBody>
      </p:sp>
      <p:sp>
        <p:nvSpPr>
          <p:cNvPr id="6" name="TextBox 6"/>
          <p:cNvSpPr txBox="1"/>
          <p:nvPr/>
        </p:nvSpPr>
        <p:spPr>
          <a:xfrm>
            <a:off x="569595" y="1088708"/>
            <a:ext cx="4008341" cy="640080"/>
          </a:xfrm>
          <a:prstGeom prst="rect">
            <a:avLst/>
          </a:prstGeom>
          <a:noFill/>
          <a:ln>
            <a:noFill/>
          </a:ln>
        </p:spPr>
        <p:txBody>
          <a:bodyPr wrap="none" lIns="0" tIns="0" rIns="0" bIns="0" anchor="t" anchorCtr="0">
            <a:spAutoFit/>
          </a:bodyPr>
          <a:lstStyle/>
          <a:p>
            <a:pPr algn="l"/>
            <a:r>
              <a:rPr lang="en-US" sz="3150" b="1" dirty="0">
                <a:solidFill>
                  <a:srgbClr val="EDEDF0"/>
                </a:solidFill>
                <a:latin typeface="Segoe UI"/>
                <a:ea typeface="Segoe UI"/>
                <a:cs typeface="Segoe UI"/>
              </a:rPr>
              <a:t>Best battery life</a:t>
            </a:r>
          </a:p>
        </p:txBody>
      </p:sp>
      <p:sp>
        <p:nvSpPr>
          <p:cNvPr id="7" name="TextBox 7"/>
          <p:cNvSpPr txBox="1"/>
          <p:nvPr/>
        </p:nvSpPr>
        <p:spPr>
          <a:xfrm>
            <a:off x="569595" y="1584008"/>
            <a:ext cx="3608451" cy="640080"/>
          </a:xfrm>
          <a:prstGeom prst="rect">
            <a:avLst/>
          </a:prstGeom>
          <a:noFill/>
          <a:ln>
            <a:noFill/>
          </a:ln>
        </p:spPr>
        <p:txBody>
          <a:bodyPr wrap="none" lIns="0" tIns="0" rIns="0" bIns="0" anchor="t" anchorCtr="0">
            <a:spAutoFit/>
          </a:bodyPr>
          <a:lstStyle/>
          <a:p>
            <a:pPr algn="l"/>
            <a:r>
              <a:rPr lang="en-US" sz="3150" b="1" dirty="0">
                <a:solidFill>
                  <a:srgbClr val="EDEDF0"/>
                </a:solidFill>
                <a:latin typeface="Segoe UI"/>
                <a:ea typeface="Segoe UI"/>
                <a:cs typeface="Segoe UI"/>
              </a:rPr>
              <a:t>ever on iPhone.</a:t>
            </a:r>
          </a:p>
        </p:txBody>
      </p:sp>
      <p:grpSp>
        <p:nvGrpSpPr>
          <p:cNvPr id="13" name="Group 13"/>
          <p:cNvGrpSpPr/>
          <p:nvPr/>
        </p:nvGrpSpPr>
        <p:grpSpPr>
          <a:xfrm>
            <a:off x="609600" y="2388870"/>
            <a:ext cx="3333750" cy="1611630"/>
            <a:chOff x="609600" y="2388870"/>
            <a:chExt cx="3333750" cy="1611630"/>
          </a:xfrm>
        </p:grpSpPr>
        <p:sp>
          <p:nvSpPr>
            <p:cNvPr id="8" name="Rectangle 8"/>
            <p:cNvSpPr/>
            <p:nvPr/>
          </p:nvSpPr>
          <p:spPr>
            <a:xfrm>
              <a:off x="609600" y="2476500"/>
              <a:ext cx="3333750" cy="1524000"/>
            </a:xfrm>
            <a:prstGeom prst="roundRect">
              <a:avLst>
                <a:gd name="adj" fmla="val 7500"/>
              </a:avLst>
            </a:prstGeom>
            <a:solidFill>
              <a:srgbClr val="16161A"/>
            </a:solidFill>
            <a:ln w="9525">
              <a:solidFill>
                <a:srgbClr val="2C2C32"/>
              </a:solidFill>
            </a:ln>
          </p:spPr>
        </p:sp>
        <p:sp>
          <p:nvSpPr>
            <p:cNvPr id="9" name="TextBox 9"/>
            <p:cNvSpPr txBox="1"/>
            <p:nvPr/>
          </p:nvSpPr>
          <p:spPr>
            <a:xfrm>
              <a:off x="1764320" y="2388870"/>
              <a:ext cx="1024311" cy="1097280"/>
            </a:xfrm>
            <a:prstGeom prst="rect">
              <a:avLst/>
            </a:prstGeom>
            <a:noFill/>
            <a:ln>
              <a:noFill/>
            </a:ln>
          </p:spPr>
          <p:txBody>
            <a:bodyPr wrap="none" lIns="0" tIns="0" rIns="0" bIns="0" anchor="t" anchorCtr="0">
              <a:spAutoFit/>
            </a:bodyPr>
            <a:lstStyle/>
            <a:p>
              <a:pPr algn="ctr"/>
              <a:r>
                <a:rPr lang="en-US" sz="5400" b="1" dirty="0">
                  <a:solidFill>
                    <a:srgbClr val="4DA6FF"/>
                  </a:solidFill>
                  <a:latin typeface="Segoe UI"/>
                  <a:ea typeface="Segoe UI"/>
                  <a:cs typeface="Segoe UI"/>
                </a:rPr>
                <a:t>27</a:t>
              </a:r>
            </a:p>
          </p:txBody>
        </p:sp>
        <p:sp>
          <p:nvSpPr>
            <p:cNvPr id="10" name="TextBox 10"/>
            <p:cNvSpPr txBox="1"/>
            <p:nvPr/>
          </p:nvSpPr>
          <p:spPr>
            <a:xfrm>
              <a:off x="1949386" y="3133725"/>
              <a:ext cx="654177" cy="304800"/>
            </a:xfrm>
            <a:prstGeom prst="rect">
              <a:avLst/>
            </a:prstGeom>
            <a:noFill/>
            <a:ln>
              <a:noFill/>
            </a:ln>
          </p:spPr>
          <p:txBody>
            <a:bodyPr wrap="none" lIns="0" tIns="0" rIns="0" bIns="0" anchor="t" anchorCtr="0">
              <a:spAutoFit/>
            </a:bodyPr>
            <a:lstStyle/>
            <a:p>
              <a:pPr algn="ctr"/>
              <a:r>
                <a:rPr lang="en-US" sz="1500" b="1" dirty="0">
                  <a:solidFill>
                    <a:srgbClr val="EDEDF0"/>
                  </a:solidFill>
                  <a:latin typeface="Segoe UI"/>
                  <a:ea typeface="Segoe UI"/>
                  <a:cs typeface="Segoe UI"/>
                </a:rPr>
                <a:t>hours</a:t>
              </a:r>
            </a:p>
          </p:txBody>
        </p:sp>
        <p:sp>
          <p:nvSpPr>
            <p:cNvPr id="11" name="TextBox 11"/>
            <p:cNvSpPr txBox="1"/>
            <p:nvPr/>
          </p:nvSpPr>
          <p:spPr>
            <a:xfrm>
              <a:off x="1679943" y="3481864"/>
              <a:ext cx="1193063" cy="259080"/>
            </a:xfrm>
            <a:prstGeom prst="rect">
              <a:avLst/>
            </a:prstGeom>
            <a:noFill/>
            <a:ln>
              <a:noFill/>
            </a:ln>
          </p:spPr>
          <p:txBody>
            <a:bodyPr wrap="none" lIns="0" tIns="0" rIns="0" bIns="0" anchor="t" anchorCtr="0">
              <a:spAutoFit/>
            </a:bodyPr>
            <a:lstStyle/>
            <a:p>
              <a:pPr algn="ctr"/>
              <a:r>
                <a:rPr lang="en-US" sz="1280" dirty="0">
                  <a:solidFill>
                    <a:srgbClr val="98989E"/>
                  </a:solidFill>
                  <a:latin typeface="Segoe UI"/>
                  <a:ea typeface="Segoe UI"/>
                  <a:cs typeface="Segoe UI"/>
                </a:rPr>
                <a:t>iPhone 16 Pro</a:t>
              </a:r>
            </a:p>
          </p:txBody>
        </p:sp>
        <p:sp>
          <p:nvSpPr>
            <p:cNvPr id="12" name="TextBox 12"/>
            <p:cNvSpPr txBox="1"/>
            <p:nvPr/>
          </p:nvSpPr>
          <p:spPr>
            <a:xfrm>
              <a:off x="1378077" y="3726656"/>
              <a:ext cx="1796796" cy="228600"/>
            </a:xfrm>
            <a:prstGeom prst="rect">
              <a:avLst/>
            </a:prstGeom>
            <a:noFill/>
            <a:ln>
              <a:noFill/>
            </a:ln>
          </p:spPr>
          <p:txBody>
            <a:bodyPr wrap="none" lIns="0" tIns="0" rIns="0" bIns="0" anchor="t" anchorCtr="0">
              <a:spAutoFit/>
            </a:bodyPr>
            <a:lstStyle/>
            <a:p>
              <a:pPr algn="ctr"/>
              <a:r>
                <a:rPr lang="en-US" sz="1120" dirty="0">
                  <a:solidFill>
                    <a:srgbClr val="34C759"/>
                  </a:solidFill>
                  <a:latin typeface="Segoe UI"/>
                  <a:ea typeface="Segoe UI"/>
                  <a:cs typeface="Segoe UI"/>
                </a:rPr>
                <a:t>+17% vs. iPhone 15 Pro</a:t>
              </a:r>
            </a:p>
          </p:txBody>
        </p:sp>
      </p:grpSp>
      <p:grpSp>
        <p:nvGrpSpPr>
          <p:cNvPr id="19" name="Group 19"/>
          <p:cNvGrpSpPr/>
          <p:nvPr/>
        </p:nvGrpSpPr>
        <p:grpSpPr>
          <a:xfrm>
            <a:off x="4248150" y="2388870"/>
            <a:ext cx="3333750" cy="1611630"/>
            <a:chOff x="4248150" y="2388870"/>
            <a:chExt cx="3333750" cy="1611630"/>
          </a:xfrm>
        </p:grpSpPr>
        <p:sp>
          <p:nvSpPr>
            <p:cNvPr id="14" name="Rectangle 14"/>
            <p:cNvSpPr/>
            <p:nvPr/>
          </p:nvSpPr>
          <p:spPr>
            <a:xfrm>
              <a:off x="4248150" y="2476500"/>
              <a:ext cx="3333750" cy="1524000"/>
            </a:xfrm>
            <a:prstGeom prst="roundRect">
              <a:avLst>
                <a:gd name="adj" fmla="val 7500"/>
              </a:avLst>
            </a:prstGeom>
            <a:solidFill>
              <a:srgbClr val="16161A"/>
            </a:solidFill>
            <a:ln w="9525">
              <a:solidFill>
                <a:srgbClr val="2C2C32"/>
              </a:solidFill>
            </a:ln>
          </p:spPr>
        </p:sp>
        <p:sp>
          <p:nvSpPr>
            <p:cNvPr id="15" name="TextBox 15"/>
            <p:cNvSpPr txBox="1"/>
            <p:nvPr/>
          </p:nvSpPr>
          <p:spPr>
            <a:xfrm>
              <a:off x="5402870" y="2388870"/>
              <a:ext cx="1024311" cy="1097280"/>
            </a:xfrm>
            <a:prstGeom prst="rect">
              <a:avLst/>
            </a:prstGeom>
            <a:noFill/>
            <a:ln>
              <a:noFill/>
            </a:ln>
          </p:spPr>
          <p:txBody>
            <a:bodyPr wrap="none" lIns="0" tIns="0" rIns="0" bIns="0" anchor="t" anchorCtr="0">
              <a:spAutoFit/>
            </a:bodyPr>
            <a:lstStyle/>
            <a:p>
              <a:pPr algn="ctr"/>
              <a:r>
                <a:rPr lang="en-US" sz="5400" b="1" dirty="0">
                  <a:solidFill>
                    <a:srgbClr val="D4A853"/>
                  </a:solidFill>
                  <a:latin typeface="Segoe UI"/>
                  <a:ea typeface="Segoe UI"/>
                  <a:cs typeface="Segoe UI"/>
                </a:rPr>
                <a:t>33</a:t>
              </a:r>
            </a:p>
          </p:txBody>
        </p:sp>
        <p:sp>
          <p:nvSpPr>
            <p:cNvPr id="16" name="TextBox 16"/>
            <p:cNvSpPr txBox="1"/>
            <p:nvPr/>
          </p:nvSpPr>
          <p:spPr>
            <a:xfrm>
              <a:off x="5587936" y="3133725"/>
              <a:ext cx="654177" cy="304800"/>
            </a:xfrm>
            <a:prstGeom prst="rect">
              <a:avLst/>
            </a:prstGeom>
            <a:noFill/>
            <a:ln>
              <a:noFill/>
            </a:ln>
          </p:spPr>
          <p:txBody>
            <a:bodyPr wrap="none" lIns="0" tIns="0" rIns="0" bIns="0" anchor="t" anchorCtr="0">
              <a:spAutoFit/>
            </a:bodyPr>
            <a:lstStyle/>
            <a:p>
              <a:pPr algn="ctr"/>
              <a:r>
                <a:rPr lang="en-US" sz="1500" b="1" dirty="0">
                  <a:solidFill>
                    <a:srgbClr val="EDEDF0"/>
                  </a:solidFill>
                  <a:latin typeface="Segoe UI"/>
                  <a:ea typeface="Segoe UI"/>
                  <a:cs typeface="Segoe UI"/>
                </a:rPr>
                <a:t>hours</a:t>
              </a:r>
            </a:p>
          </p:txBody>
        </p:sp>
        <p:sp>
          <p:nvSpPr>
            <p:cNvPr id="17" name="TextBox 17"/>
            <p:cNvSpPr txBox="1"/>
            <p:nvPr/>
          </p:nvSpPr>
          <p:spPr>
            <a:xfrm>
              <a:off x="5123536" y="3481864"/>
              <a:ext cx="1582979" cy="259080"/>
            </a:xfrm>
            <a:prstGeom prst="rect">
              <a:avLst/>
            </a:prstGeom>
            <a:noFill/>
            <a:ln>
              <a:noFill/>
            </a:ln>
          </p:spPr>
          <p:txBody>
            <a:bodyPr wrap="none" lIns="0" tIns="0" rIns="0" bIns="0" anchor="t" anchorCtr="0">
              <a:spAutoFit/>
            </a:bodyPr>
            <a:lstStyle/>
            <a:p>
              <a:pPr algn="ctr"/>
              <a:r>
                <a:rPr lang="en-US" sz="1280" dirty="0">
                  <a:solidFill>
                    <a:srgbClr val="98989E"/>
                  </a:solidFill>
                  <a:latin typeface="Segoe UI"/>
                  <a:ea typeface="Segoe UI"/>
                  <a:cs typeface="Segoe UI"/>
                </a:rPr>
                <a:t>iPhone 16 Pro Max</a:t>
              </a:r>
            </a:p>
          </p:txBody>
        </p:sp>
        <p:sp>
          <p:nvSpPr>
            <p:cNvPr id="18" name="TextBox 18"/>
            <p:cNvSpPr txBox="1"/>
            <p:nvPr/>
          </p:nvSpPr>
          <p:spPr>
            <a:xfrm>
              <a:off x="4844606" y="3726656"/>
              <a:ext cx="2140839" cy="228600"/>
            </a:xfrm>
            <a:prstGeom prst="rect">
              <a:avLst/>
            </a:prstGeom>
            <a:noFill/>
            <a:ln>
              <a:noFill/>
            </a:ln>
          </p:spPr>
          <p:txBody>
            <a:bodyPr wrap="none" lIns="0" tIns="0" rIns="0" bIns="0" anchor="t" anchorCtr="0">
              <a:spAutoFit/>
            </a:bodyPr>
            <a:lstStyle/>
            <a:p>
              <a:pPr algn="ctr"/>
              <a:r>
                <a:rPr lang="en-US" sz="1120" dirty="0">
                  <a:solidFill>
                    <a:srgbClr val="34C759"/>
                  </a:solidFill>
                  <a:latin typeface="Segoe UI"/>
                  <a:ea typeface="Segoe UI"/>
                  <a:cs typeface="Segoe UI"/>
                </a:rPr>
                <a:t>+14% vs. iPhone 15 Pro Max</a:t>
              </a:r>
            </a:p>
          </p:txBody>
        </p:sp>
      </p:grpSp>
      <p:grpSp>
        <p:nvGrpSpPr>
          <p:cNvPr id="38" name="Group 38"/>
          <p:cNvGrpSpPr/>
          <p:nvPr/>
        </p:nvGrpSpPr>
        <p:grpSpPr>
          <a:xfrm>
            <a:off x="609600" y="4286250"/>
            <a:ext cx="10972800" cy="1762125"/>
            <a:chOff x="609600" y="4286250"/>
            <a:chExt cx="10972800" cy="1762125"/>
          </a:xfrm>
        </p:grpSpPr>
        <p:sp>
          <p:nvSpPr>
            <p:cNvPr id="20" name="Rectangle 20"/>
            <p:cNvSpPr/>
            <p:nvPr/>
          </p:nvSpPr>
          <p:spPr>
            <a:xfrm>
              <a:off x="609600" y="4286250"/>
              <a:ext cx="10972800" cy="1762125"/>
            </a:xfrm>
            <a:prstGeom prst="roundRect">
              <a:avLst>
                <a:gd name="adj" fmla="val 5405"/>
              </a:avLst>
            </a:prstGeom>
            <a:solidFill>
              <a:srgbClr val="16161A"/>
            </a:solidFill>
            <a:ln w="9525">
              <a:solidFill>
                <a:srgbClr val="2C2C32"/>
              </a:solidFill>
            </a:ln>
          </p:spPr>
        </p:sp>
        <p:sp>
          <p:nvSpPr>
            <p:cNvPr id="21" name="TextBox 21"/>
            <p:cNvSpPr txBox="1"/>
            <p:nvPr/>
          </p:nvSpPr>
          <p:spPr>
            <a:xfrm>
              <a:off x="2829062" y="4461510"/>
              <a:ext cx="1276076" cy="243840"/>
            </a:xfrm>
            <a:prstGeom prst="rect">
              <a:avLst/>
            </a:prstGeom>
            <a:noFill/>
            <a:ln>
              <a:noFill/>
            </a:ln>
          </p:spPr>
          <p:txBody>
            <a:bodyPr wrap="none" lIns="0" tIns="0" rIns="0" bIns="0" anchor="t" anchorCtr="0">
              <a:spAutoFit/>
            </a:bodyPr>
            <a:lstStyle/>
            <a:p>
              <a:pPr algn="ctr"/>
              <a:r>
                <a:rPr lang="en-US" sz="1200" b="1" dirty="0">
                  <a:solidFill>
                    <a:srgbClr val="98989E"/>
                  </a:solidFill>
                  <a:latin typeface="Segoe UI"/>
                  <a:ea typeface="Segoe UI"/>
                  <a:cs typeface="Segoe UI"/>
                </a:rPr>
                <a:t>Video Playback</a:t>
              </a:r>
            </a:p>
          </p:txBody>
        </p:sp>
        <p:sp>
          <p:nvSpPr>
            <p:cNvPr id="22" name="TextBox 22"/>
            <p:cNvSpPr txBox="1"/>
            <p:nvPr/>
          </p:nvSpPr>
          <p:spPr>
            <a:xfrm>
              <a:off x="5686562" y="4461510"/>
              <a:ext cx="1276076" cy="243840"/>
            </a:xfrm>
            <a:prstGeom prst="rect">
              <a:avLst/>
            </a:prstGeom>
            <a:noFill/>
            <a:ln>
              <a:noFill/>
            </a:ln>
          </p:spPr>
          <p:txBody>
            <a:bodyPr wrap="none" lIns="0" tIns="0" rIns="0" bIns="0" anchor="t" anchorCtr="0">
              <a:spAutoFit/>
            </a:bodyPr>
            <a:lstStyle/>
            <a:p>
              <a:pPr algn="ctr"/>
              <a:r>
                <a:rPr lang="en-US" sz="1200" b="1" dirty="0">
                  <a:solidFill>
                    <a:srgbClr val="98989E"/>
                  </a:solidFill>
                  <a:latin typeface="Segoe UI"/>
                  <a:ea typeface="Segoe UI"/>
                  <a:cs typeface="Segoe UI"/>
                </a:rPr>
                <a:t>Audio Playback</a:t>
              </a:r>
            </a:p>
          </p:txBody>
        </p:sp>
        <p:sp>
          <p:nvSpPr>
            <p:cNvPr id="23" name="TextBox 23"/>
            <p:cNvSpPr txBox="1"/>
            <p:nvPr/>
          </p:nvSpPr>
          <p:spPr>
            <a:xfrm>
              <a:off x="8803935" y="4461510"/>
              <a:ext cx="756331" cy="243840"/>
            </a:xfrm>
            <a:prstGeom prst="rect">
              <a:avLst/>
            </a:prstGeom>
            <a:noFill/>
            <a:ln>
              <a:noFill/>
            </a:ln>
          </p:spPr>
          <p:txBody>
            <a:bodyPr wrap="none" lIns="0" tIns="0" rIns="0" bIns="0" anchor="t" anchorCtr="0">
              <a:spAutoFit/>
            </a:bodyPr>
            <a:lstStyle/>
            <a:p>
              <a:pPr algn="ctr"/>
              <a:r>
                <a:rPr lang="en-US" sz="1200" b="1" dirty="0">
                  <a:solidFill>
                    <a:srgbClr val="98989E"/>
                  </a:solidFill>
                  <a:latin typeface="Segoe UI"/>
                  <a:ea typeface="Segoe UI"/>
                  <a:cs typeface="Segoe UI"/>
                </a:rPr>
                <a:t>MagSafe</a:t>
              </a:r>
            </a:p>
          </p:txBody>
        </p:sp>
        <p:sp>
          <p:nvSpPr>
            <p:cNvPr id="24" name="Line 24"/>
            <p:cNvSpPr/>
            <p:nvPr/>
          </p:nvSpPr>
          <p:spPr>
            <a:xfrm>
              <a:off x="990600" y="4743450"/>
              <a:ext cx="10210800" cy="9525"/>
            </a:xfrm>
            <a:custGeom>
              <a:avLst/>
              <a:gdLst/>
              <a:ahLst/>
              <a:cxnLst/>
              <a:rect l="l" t="t" r="r" b="b"/>
              <a:pathLst>
                <a:path w="10210800" h="9525">
                  <a:moveTo>
                    <a:pt x="0" y="0"/>
                  </a:moveTo>
                  <a:lnTo>
                    <a:pt x="10210800" y="0"/>
                  </a:lnTo>
                </a:path>
              </a:pathLst>
            </a:custGeom>
            <a:noFill/>
            <a:ln w="9525">
              <a:solidFill>
                <a:srgbClr val="2C2C32"/>
              </a:solidFill>
            </a:ln>
          </p:spPr>
        </p:sp>
        <p:sp>
          <p:nvSpPr>
            <p:cNvPr id="25" name="TextBox 25"/>
            <p:cNvSpPr txBox="1"/>
            <p:nvPr/>
          </p:nvSpPr>
          <p:spPr>
            <a:xfrm>
              <a:off x="973455" y="4902518"/>
              <a:ext cx="1324691" cy="274320"/>
            </a:xfrm>
            <a:prstGeom prst="rect">
              <a:avLst/>
            </a:prstGeom>
            <a:noFill/>
            <a:ln>
              <a:noFill/>
            </a:ln>
          </p:spPr>
          <p:txBody>
            <a:bodyPr wrap="none" lIns="0" tIns="0" rIns="0" bIns="0" anchor="t" anchorCtr="0">
              <a:spAutoFit/>
            </a:bodyPr>
            <a:lstStyle/>
            <a:p>
              <a:pPr algn="l"/>
              <a:r>
                <a:rPr lang="en-US" sz="1350" b="1" dirty="0">
                  <a:solidFill>
                    <a:srgbClr val="EDEDF0"/>
                  </a:solidFill>
                  <a:latin typeface="Segoe UI"/>
                  <a:ea typeface="Segoe UI"/>
                  <a:cs typeface="Segoe UI"/>
                </a:rPr>
                <a:t>iPhone 16 Pro</a:t>
              </a:r>
            </a:p>
          </p:txBody>
        </p:sp>
        <p:sp>
          <p:nvSpPr>
            <p:cNvPr id="26" name="TextBox 26"/>
            <p:cNvSpPr txBox="1"/>
            <p:nvPr/>
          </p:nvSpPr>
          <p:spPr>
            <a:xfrm>
              <a:off x="3106407" y="4886325"/>
              <a:ext cx="721385" cy="304800"/>
            </a:xfrm>
            <a:prstGeom prst="rect">
              <a:avLst/>
            </a:prstGeom>
            <a:noFill/>
            <a:ln>
              <a:noFill/>
            </a:ln>
          </p:spPr>
          <p:txBody>
            <a:bodyPr wrap="none" lIns="0" tIns="0" rIns="0" bIns="0" anchor="t" anchorCtr="0">
              <a:spAutoFit/>
            </a:bodyPr>
            <a:lstStyle/>
            <a:p>
              <a:pPr algn="ctr"/>
              <a:r>
                <a:rPr lang="en-US" sz="1500" b="1" dirty="0">
                  <a:solidFill>
                    <a:srgbClr val="4DA6FF"/>
                  </a:solidFill>
                  <a:latin typeface="Segoe UI"/>
                  <a:ea typeface="Segoe UI"/>
                  <a:cs typeface="Segoe UI"/>
                </a:rPr>
                <a:t>27 hrs</a:t>
              </a:r>
            </a:p>
          </p:txBody>
        </p:sp>
        <p:sp>
          <p:nvSpPr>
            <p:cNvPr id="27" name="TextBox 27"/>
            <p:cNvSpPr txBox="1"/>
            <p:nvPr/>
          </p:nvSpPr>
          <p:spPr>
            <a:xfrm>
              <a:off x="6014618" y="4902518"/>
              <a:ext cx="619963" cy="274320"/>
            </a:xfrm>
            <a:prstGeom prst="rect">
              <a:avLst/>
            </a:prstGeom>
            <a:noFill/>
            <a:ln>
              <a:noFill/>
            </a:ln>
          </p:spPr>
          <p:txBody>
            <a:bodyPr wrap="none" lIns="0" tIns="0" rIns="0" bIns="0" anchor="t" anchorCtr="0">
              <a:spAutoFit/>
            </a:bodyPr>
            <a:lstStyle/>
            <a:p>
              <a:pPr algn="ctr"/>
              <a:r>
                <a:rPr lang="en-US" sz="1350" dirty="0">
                  <a:solidFill>
                    <a:srgbClr val="EDEDF0"/>
                  </a:solidFill>
                  <a:latin typeface="Segoe UI"/>
                  <a:ea typeface="Segoe UI"/>
                  <a:cs typeface="Segoe UI"/>
                </a:rPr>
                <a:t>85 hrs</a:t>
              </a:r>
            </a:p>
          </p:txBody>
        </p:sp>
        <p:sp>
          <p:nvSpPr>
            <p:cNvPr id="28" name="TextBox 28"/>
            <p:cNvSpPr txBox="1"/>
            <p:nvPr/>
          </p:nvSpPr>
          <p:spPr>
            <a:xfrm>
              <a:off x="8987333" y="4902518"/>
              <a:ext cx="389534" cy="274320"/>
            </a:xfrm>
            <a:prstGeom prst="rect">
              <a:avLst/>
            </a:prstGeom>
            <a:noFill/>
            <a:ln>
              <a:noFill/>
            </a:ln>
          </p:spPr>
          <p:txBody>
            <a:bodyPr wrap="none" lIns="0" tIns="0" rIns="0" bIns="0" anchor="t" anchorCtr="0">
              <a:spAutoFit/>
            </a:bodyPr>
            <a:lstStyle/>
            <a:p>
              <a:pPr algn="ctr"/>
              <a:r>
                <a:rPr lang="en-US" sz="1350" dirty="0">
                  <a:solidFill>
                    <a:srgbClr val="EDEDF0"/>
                  </a:solidFill>
                  <a:latin typeface="Segoe UI"/>
                  <a:ea typeface="Segoe UI"/>
                  <a:cs typeface="Segoe UI"/>
                </a:rPr>
                <a:t>25W</a:t>
              </a:r>
            </a:p>
          </p:txBody>
        </p:sp>
        <p:sp>
          <p:nvSpPr>
            <p:cNvPr id="29" name="TextBox 29"/>
            <p:cNvSpPr txBox="1"/>
            <p:nvPr/>
          </p:nvSpPr>
          <p:spPr>
            <a:xfrm>
              <a:off x="973455" y="5283518"/>
              <a:ext cx="1758185" cy="274320"/>
            </a:xfrm>
            <a:prstGeom prst="rect">
              <a:avLst/>
            </a:prstGeom>
            <a:noFill/>
            <a:ln>
              <a:noFill/>
            </a:ln>
          </p:spPr>
          <p:txBody>
            <a:bodyPr wrap="none" lIns="0" tIns="0" rIns="0" bIns="0" anchor="t" anchorCtr="0">
              <a:spAutoFit/>
            </a:bodyPr>
            <a:lstStyle/>
            <a:p>
              <a:pPr algn="l"/>
              <a:r>
                <a:rPr lang="en-US" sz="1350" b="1" dirty="0">
                  <a:solidFill>
                    <a:srgbClr val="EDEDF0"/>
                  </a:solidFill>
                  <a:latin typeface="Segoe UI"/>
                  <a:ea typeface="Segoe UI"/>
                  <a:cs typeface="Segoe UI"/>
                </a:rPr>
                <a:t>iPhone 16 Pro Max</a:t>
              </a:r>
            </a:p>
          </p:txBody>
        </p:sp>
        <p:sp>
          <p:nvSpPr>
            <p:cNvPr id="30" name="TextBox 30"/>
            <p:cNvSpPr txBox="1"/>
            <p:nvPr/>
          </p:nvSpPr>
          <p:spPr>
            <a:xfrm>
              <a:off x="3106407" y="5267325"/>
              <a:ext cx="721385" cy="304800"/>
            </a:xfrm>
            <a:prstGeom prst="rect">
              <a:avLst/>
            </a:prstGeom>
            <a:noFill/>
            <a:ln>
              <a:noFill/>
            </a:ln>
          </p:spPr>
          <p:txBody>
            <a:bodyPr wrap="none" lIns="0" tIns="0" rIns="0" bIns="0" anchor="t" anchorCtr="0">
              <a:spAutoFit/>
            </a:bodyPr>
            <a:lstStyle/>
            <a:p>
              <a:pPr algn="ctr"/>
              <a:r>
                <a:rPr lang="en-US" sz="1500" b="1" dirty="0">
                  <a:solidFill>
                    <a:srgbClr val="D4A853"/>
                  </a:solidFill>
                  <a:latin typeface="Segoe UI"/>
                  <a:ea typeface="Segoe UI"/>
                  <a:cs typeface="Segoe UI"/>
                </a:rPr>
                <a:t>33 hrs</a:t>
              </a:r>
            </a:p>
          </p:txBody>
        </p:sp>
        <p:sp>
          <p:nvSpPr>
            <p:cNvPr id="31" name="TextBox 31"/>
            <p:cNvSpPr txBox="1"/>
            <p:nvPr/>
          </p:nvSpPr>
          <p:spPr>
            <a:xfrm>
              <a:off x="5961812" y="5283518"/>
              <a:ext cx="725576" cy="274320"/>
            </a:xfrm>
            <a:prstGeom prst="rect">
              <a:avLst/>
            </a:prstGeom>
            <a:noFill/>
            <a:ln>
              <a:noFill/>
            </a:ln>
          </p:spPr>
          <p:txBody>
            <a:bodyPr wrap="none" lIns="0" tIns="0" rIns="0" bIns="0" anchor="t" anchorCtr="0">
              <a:spAutoFit/>
            </a:bodyPr>
            <a:lstStyle/>
            <a:p>
              <a:pPr algn="ctr"/>
              <a:r>
                <a:rPr lang="en-US" sz="1350" dirty="0">
                  <a:solidFill>
                    <a:srgbClr val="EDEDF0"/>
                  </a:solidFill>
                  <a:latin typeface="Segoe UI"/>
                  <a:ea typeface="Segoe UI"/>
                  <a:cs typeface="Segoe UI"/>
                </a:rPr>
                <a:t>105 hrs</a:t>
              </a:r>
            </a:p>
          </p:txBody>
        </p:sp>
        <p:sp>
          <p:nvSpPr>
            <p:cNvPr id="32" name="TextBox 32"/>
            <p:cNvSpPr txBox="1"/>
            <p:nvPr/>
          </p:nvSpPr>
          <p:spPr>
            <a:xfrm>
              <a:off x="8987333" y="5283518"/>
              <a:ext cx="389534" cy="274320"/>
            </a:xfrm>
            <a:prstGeom prst="rect">
              <a:avLst/>
            </a:prstGeom>
            <a:noFill/>
            <a:ln>
              <a:noFill/>
            </a:ln>
          </p:spPr>
          <p:txBody>
            <a:bodyPr wrap="none" lIns="0" tIns="0" rIns="0" bIns="0" anchor="t" anchorCtr="0">
              <a:spAutoFit/>
            </a:bodyPr>
            <a:lstStyle/>
            <a:p>
              <a:pPr algn="ctr"/>
              <a:r>
                <a:rPr lang="en-US" sz="1350" dirty="0">
                  <a:solidFill>
                    <a:srgbClr val="EDEDF0"/>
                  </a:solidFill>
                  <a:latin typeface="Segoe UI"/>
                  <a:ea typeface="Segoe UI"/>
                  <a:cs typeface="Segoe UI"/>
                </a:rPr>
                <a:t>25W</a:t>
              </a:r>
            </a:p>
          </p:txBody>
        </p:sp>
        <p:sp>
          <p:nvSpPr>
            <p:cNvPr id="33" name="Line 33"/>
            <p:cNvSpPr/>
            <p:nvPr/>
          </p:nvSpPr>
          <p:spPr>
            <a:xfrm>
              <a:off x="990600" y="5619750"/>
              <a:ext cx="10210800" cy="9525"/>
            </a:xfrm>
            <a:custGeom>
              <a:avLst/>
              <a:gdLst/>
              <a:ahLst/>
              <a:cxnLst/>
              <a:rect l="l" t="t" r="r" b="b"/>
              <a:pathLst>
                <a:path w="10210800" h="9525">
                  <a:moveTo>
                    <a:pt x="0" y="0"/>
                  </a:moveTo>
                  <a:lnTo>
                    <a:pt x="10210800" y="0"/>
                  </a:lnTo>
                </a:path>
              </a:pathLst>
            </a:custGeom>
            <a:noFill/>
            <a:ln w="9525">
              <a:solidFill>
                <a:srgbClr val="2C2C32"/>
              </a:solidFill>
            </a:ln>
          </p:spPr>
        </p:sp>
        <p:sp>
          <p:nvSpPr>
            <p:cNvPr id="34" name="TextBox 34"/>
            <p:cNvSpPr txBox="1"/>
            <p:nvPr/>
          </p:nvSpPr>
          <p:spPr>
            <a:xfrm>
              <a:off x="976312" y="5784056"/>
              <a:ext cx="2684907" cy="228600"/>
            </a:xfrm>
            <a:prstGeom prst="rect">
              <a:avLst/>
            </a:prstGeom>
            <a:noFill/>
            <a:ln>
              <a:noFill/>
            </a:ln>
          </p:spPr>
          <p:txBody>
            <a:bodyPr wrap="none" lIns="0" tIns="0" rIns="0" bIns="0" anchor="t" anchorCtr="0">
              <a:spAutoFit/>
            </a:bodyPr>
            <a:lstStyle/>
            <a:p>
              <a:pPr algn="l"/>
              <a:r>
                <a:rPr lang="en-US" sz="1120" dirty="0">
                  <a:solidFill>
                    <a:srgbClr val="6B6B72"/>
                  </a:solidFill>
                  <a:latin typeface="Segoe UI"/>
                  <a:ea typeface="Segoe UI"/>
                  <a:cs typeface="Segoe UI"/>
                </a:rPr>
                <a:t>iPhone 15 Pro Max (previous best)</a:t>
              </a:r>
            </a:p>
          </p:txBody>
        </p:sp>
        <p:sp>
          <p:nvSpPr>
            <p:cNvPr id="35" name="TextBox 35"/>
            <p:cNvSpPr txBox="1"/>
            <p:nvPr/>
          </p:nvSpPr>
          <p:spPr>
            <a:xfrm>
              <a:off x="3208782" y="5784056"/>
              <a:ext cx="516636" cy="228600"/>
            </a:xfrm>
            <a:prstGeom prst="rect">
              <a:avLst/>
            </a:prstGeom>
            <a:noFill/>
            <a:ln>
              <a:noFill/>
            </a:ln>
          </p:spPr>
          <p:txBody>
            <a:bodyPr wrap="none" lIns="0" tIns="0" rIns="0" bIns="0" anchor="t" anchorCtr="0">
              <a:spAutoFit/>
            </a:bodyPr>
            <a:lstStyle/>
            <a:p>
              <a:pPr algn="ctr"/>
              <a:r>
                <a:rPr lang="en-US" sz="1120" dirty="0">
                  <a:solidFill>
                    <a:srgbClr val="6B6B72"/>
                  </a:solidFill>
                  <a:latin typeface="Segoe UI"/>
                  <a:ea typeface="Segoe UI"/>
                  <a:cs typeface="Segoe UI"/>
                </a:rPr>
                <a:t>29 hrs</a:t>
              </a:r>
            </a:p>
          </p:txBody>
        </p:sp>
        <p:sp>
          <p:nvSpPr>
            <p:cNvPr id="36" name="TextBox 36"/>
            <p:cNvSpPr txBox="1"/>
            <p:nvPr/>
          </p:nvSpPr>
          <p:spPr>
            <a:xfrm>
              <a:off x="6066282" y="5784056"/>
              <a:ext cx="516636" cy="228600"/>
            </a:xfrm>
            <a:prstGeom prst="rect">
              <a:avLst/>
            </a:prstGeom>
            <a:noFill/>
            <a:ln>
              <a:noFill/>
            </a:ln>
          </p:spPr>
          <p:txBody>
            <a:bodyPr wrap="none" lIns="0" tIns="0" rIns="0" bIns="0" anchor="t" anchorCtr="0">
              <a:spAutoFit/>
            </a:bodyPr>
            <a:lstStyle/>
            <a:p>
              <a:pPr algn="ctr"/>
              <a:r>
                <a:rPr lang="en-US" sz="1120" dirty="0">
                  <a:solidFill>
                    <a:srgbClr val="6B6B72"/>
                  </a:solidFill>
                  <a:latin typeface="Segoe UI"/>
                  <a:ea typeface="Segoe UI"/>
                  <a:cs typeface="Segoe UI"/>
                </a:rPr>
                <a:t>95 hrs</a:t>
              </a:r>
            </a:p>
          </p:txBody>
        </p:sp>
        <p:sp>
          <p:nvSpPr>
            <p:cNvPr id="37" name="TextBox 37"/>
            <p:cNvSpPr txBox="1"/>
            <p:nvPr/>
          </p:nvSpPr>
          <p:spPr>
            <a:xfrm>
              <a:off x="9019794" y="5784056"/>
              <a:ext cx="324612" cy="228600"/>
            </a:xfrm>
            <a:prstGeom prst="rect">
              <a:avLst/>
            </a:prstGeom>
            <a:noFill/>
            <a:ln>
              <a:noFill/>
            </a:ln>
          </p:spPr>
          <p:txBody>
            <a:bodyPr wrap="none" lIns="0" tIns="0" rIns="0" bIns="0" anchor="t" anchorCtr="0">
              <a:spAutoFit/>
            </a:bodyPr>
            <a:lstStyle/>
            <a:p>
              <a:pPr algn="ctr"/>
              <a:r>
                <a:rPr lang="en-US" sz="1120" dirty="0">
                  <a:solidFill>
                    <a:srgbClr val="6B6B72"/>
                  </a:solidFill>
                  <a:latin typeface="Segoe UI"/>
                  <a:ea typeface="Segoe UI"/>
                  <a:cs typeface="Segoe UI"/>
                </a:rPr>
                <a:t>15W</a:t>
              </a:r>
            </a:p>
          </p:txBody>
        </p:sp>
      </p:grpSp>
      <p:sp>
        <p:nvSpPr>
          <p:cNvPr id="39" name="TextBox 39"/>
          <p:cNvSpPr txBox="1"/>
          <p:nvPr/>
        </p:nvSpPr>
        <p:spPr>
          <a:xfrm>
            <a:off x="593408" y="6339364"/>
            <a:ext cx="7214083" cy="259080"/>
          </a:xfrm>
          <a:prstGeom prst="rect">
            <a:avLst/>
          </a:prstGeom>
          <a:noFill/>
          <a:ln>
            <a:noFill/>
          </a:ln>
        </p:spPr>
        <p:txBody>
          <a:bodyPr wrap="none" lIns="0" tIns="0" rIns="0" bIns="0" anchor="t" anchorCtr="0">
            <a:spAutoFit/>
          </a:bodyPr>
          <a:lstStyle/>
          <a:p>
            <a:pPr algn="l"/>
            <a:r>
              <a:rPr lang="en-US" sz="1280" dirty="0">
                <a:solidFill>
                  <a:srgbClr val="6B6B72"/>
                </a:solidFill>
                <a:latin typeface="Segoe UI"/>
                <a:ea typeface="Segoe UI"/>
                <a:cs typeface="Segoe UI"/>
              </a:rPr>
              <a:t>USB-C fast charging: ~50% in ~30 minutes with 20W+ adapter · Qi2 (15W) support</a:t>
            </a:r>
          </a:p>
        </p:txBody>
      </p:sp>
      <p:sp>
        <p:nvSpPr>
          <p:cNvPr id="40" name="TextBox 40"/>
          <p:cNvSpPr txBox="1"/>
          <p:nvPr/>
        </p:nvSpPr>
        <p:spPr>
          <a:xfrm>
            <a:off x="11183112" y="6442710"/>
            <a:ext cx="414528" cy="243840"/>
          </a:xfrm>
          <a:prstGeom prst="rect">
            <a:avLst/>
          </a:prstGeom>
          <a:noFill/>
          <a:ln>
            <a:noFill/>
          </a:ln>
        </p:spPr>
        <p:txBody>
          <a:bodyPr wrap="none" lIns="0" tIns="0" rIns="0" bIns="0" anchor="t" anchorCtr="0">
            <a:spAutoFit/>
          </a:bodyPr>
          <a:lstStyle/>
          <a:p>
            <a:pPr algn="r"/>
            <a:r>
              <a:rPr lang="en-US" sz="1200" dirty="0">
                <a:solidFill>
                  <a:srgbClr val="6B6B72"/>
                </a:solidFill>
                <a:latin typeface="Segoe UI"/>
                <a:ea typeface="Segoe UI"/>
                <a:cs typeface="Segoe UI"/>
              </a:rPr>
              <a:t>7 / 9</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B0D"/>
          </a:solidFill>
          <a:ln>
            <a:noFill/>
          </a:ln>
        </p:spPr>
      </p:sp>
      <p:sp>
        <p:nvSpPr>
          <p:cNvPr id="3" name="Rectangle 3"/>
          <p:cNvSpPr/>
          <p:nvPr/>
        </p:nvSpPr>
        <p:spPr>
          <a:xfrm>
            <a:off x="0" y="0"/>
            <a:ext cx="12192000" cy="6858000"/>
          </a:xfrm>
          <a:prstGeom prst="rect">
            <a:avLst/>
          </a:prstGeom>
          <a:gradFill>
            <a:gsLst>
              <a:gs pos="0">
                <a:srgbClr val="D4A853">
                  <a:alpha val="5000"/>
                </a:srgbClr>
              </a:gs>
              <a:gs pos="100000">
                <a:srgbClr val="0B0B0D">
                  <a:alpha val="0"/>
                </a:srgbClr>
              </a:gs>
            </a:gsLst>
            <a:path path="circle">
              <a:fillToRect l="50000" t="50000" r="50000" b="50000"/>
            </a:path>
          </a:gradFill>
          <a:ln>
            <a:noFill/>
          </a:ln>
        </p:spPr>
      </p:sp>
      <p:sp>
        <p:nvSpPr>
          <p:cNvPr id="4" name="Line 4"/>
          <p:cNvSpPr/>
          <p:nvPr/>
        </p:nvSpPr>
        <p:spPr>
          <a:xfrm>
            <a:off x="609600" y="762000"/>
            <a:ext cx="1295400" cy="9525"/>
          </a:xfrm>
          <a:custGeom>
            <a:avLst/>
            <a:gdLst/>
            <a:ahLst/>
            <a:cxnLst/>
            <a:rect l="l" t="t" r="r" b="b"/>
            <a:pathLst>
              <a:path w="1295400" h="9525">
                <a:moveTo>
                  <a:pt x="0" y="0"/>
                </a:moveTo>
                <a:lnTo>
                  <a:pt x="1295400" y="0"/>
                </a:lnTo>
              </a:path>
            </a:pathLst>
          </a:custGeom>
          <a:noFill/>
          <a:ln w="19050">
            <a:solidFill>
              <a:srgbClr val="D4A853">
                <a:alpha val="50000"/>
              </a:srgbClr>
            </a:solidFill>
          </a:ln>
        </p:spPr>
      </p:sp>
      <p:sp>
        <p:nvSpPr>
          <p:cNvPr id="5" name="TextBox 5"/>
          <p:cNvSpPr txBox="1"/>
          <p:nvPr/>
        </p:nvSpPr>
        <p:spPr>
          <a:xfrm>
            <a:off x="594360" y="556260"/>
            <a:ext cx="4562246" cy="243840"/>
          </a:xfrm>
          <a:prstGeom prst="rect">
            <a:avLst/>
          </a:prstGeom>
          <a:noFill/>
          <a:ln>
            <a:noFill/>
          </a:ln>
        </p:spPr>
        <p:txBody>
          <a:bodyPr wrap="none" lIns="0" tIns="0" rIns="0" bIns="0" anchor="t" anchorCtr="0">
            <a:spAutoFit/>
          </a:bodyPr>
          <a:lstStyle/>
          <a:p>
            <a:pPr algn="l"/>
            <a:r>
              <a:rPr lang="en-US" sz="1200" spc="375" dirty="0">
                <a:solidFill>
                  <a:srgbClr val="98989E"/>
                </a:solidFill>
                <a:latin typeface="Segoe UI"/>
                <a:ea typeface="Segoe UI"/>
                <a:cs typeface="Segoe UI"/>
              </a:rPr>
              <a:t>DESIGN · DURABILITY · ENVIRONMENT</a:t>
            </a:r>
          </a:p>
        </p:txBody>
      </p:sp>
      <p:sp>
        <p:nvSpPr>
          <p:cNvPr id="6" name="TextBox 6"/>
          <p:cNvSpPr txBox="1"/>
          <p:nvPr/>
        </p:nvSpPr>
        <p:spPr>
          <a:xfrm>
            <a:off x="569595" y="1069658"/>
            <a:ext cx="4102433" cy="640080"/>
          </a:xfrm>
          <a:prstGeom prst="rect">
            <a:avLst/>
          </a:prstGeom>
          <a:noFill/>
          <a:ln>
            <a:noFill/>
          </a:ln>
        </p:spPr>
        <p:txBody>
          <a:bodyPr wrap="none" lIns="0" tIns="0" rIns="0" bIns="0" anchor="t" anchorCtr="0">
            <a:spAutoFit/>
          </a:bodyPr>
          <a:lstStyle/>
          <a:p>
            <a:pPr algn="l"/>
            <a:r>
              <a:rPr lang="en-US" sz="3150" b="1" dirty="0">
                <a:solidFill>
                  <a:srgbClr val="EDEDF0"/>
                </a:solidFill>
                <a:latin typeface="Segoe UI"/>
                <a:ea typeface="Segoe UI"/>
                <a:cs typeface="Segoe UI"/>
              </a:rPr>
              <a:t>Grade 5 Titanium.</a:t>
            </a:r>
          </a:p>
        </p:txBody>
      </p:sp>
      <p:sp>
        <p:nvSpPr>
          <p:cNvPr id="7" name="TextBox 7"/>
          <p:cNvSpPr txBox="1"/>
          <p:nvPr/>
        </p:nvSpPr>
        <p:spPr>
          <a:xfrm>
            <a:off x="579120" y="1645920"/>
            <a:ext cx="6376416" cy="487680"/>
          </a:xfrm>
          <a:prstGeom prst="rect">
            <a:avLst/>
          </a:prstGeom>
          <a:noFill/>
          <a:ln>
            <a:noFill/>
          </a:ln>
        </p:spPr>
        <p:txBody>
          <a:bodyPr wrap="none" lIns="0" tIns="0" rIns="0" bIns="0" anchor="t" anchorCtr="0">
            <a:spAutoFit/>
          </a:bodyPr>
          <a:lstStyle/>
          <a:p>
            <a:pPr algn="l"/>
            <a:r>
              <a:rPr lang="en-US" sz="2400" dirty="0">
                <a:solidFill>
                  <a:srgbClr val="98989E"/>
                </a:solidFill>
                <a:latin typeface="Segoe UI"/>
                <a:ea typeface="Segoe UI"/>
                <a:cs typeface="Segoe UI"/>
              </a:rPr>
              <a:t>Aerospace-grade. Lighter. Stronger.</a:t>
            </a:r>
          </a:p>
        </p:txBody>
      </p:sp>
      <p:grpSp>
        <p:nvGrpSpPr>
          <p:cNvPr id="22" name="Group 22"/>
          <p:cNvGrpSpPr/>
          <p:nvPr/>
        </p:nvGrpSpPr>
        <p:grpSpPr>
          <a:xfrm>
            <a:off x="609600" y="2428875"/>
            <a:ext cx="3627462" cy="2286000"/>
            <a:chOff x="609600" y="2428875"/>
            <a:chExt cx="3627462" cy="2286000"/>
          </a:xfrm>
        </p:grpSpPr>
        <p:sp>
          <p:nvSpPr>
            <p:cNvPr id="8" name="Rectangle 8"/>
            <p:cNvSpPr/>
            <p:nvPr/>
          </p:nvSpPr>
          <p:spPr>
            <a:xfrm>
              <a:off x="609600" y="2428875"/>
              <a:ext cx="3429000" cy="2286000"/>
            </a:xfrm>
            <a:prstGeom prst="roundRect">
              <a:avLst>
                <a:gd name="adj" fmla="val 4167"/>
              </a:avLst>
            </a:prstGeom>
            <a:solidFill>
              <a:srgbClr val="16161A"/>
            </a:solidFill>
            <a:ln w="9525">
              <a:solidFill>
                <a:srgbClr val="2C2C32"/>
              </a:solidFill>
            </a:ln>
          </p:spPr>
        </p:sp>
        <p:sp>
          <p:nvSpPr>
            <p:cNvPr id="9" name="TextBox 9"/>
            <p:cNvSpPr txBox="1"/>
            <p:nvPr/>
          </p:nvSpPr>
          <p:spPr>
            <a:xfrm>
              <a:off x="1927338" y="2631758"/>
              <a:ext cx="793524" cy="335280"/>
            </a:xfrm>
            <a:prstGeom prst="rect">
              <a:avLst/>
            </a:prstGeom>
            <a:noFill/>
            <a:ln>
              <a:noFill/>
            </a:ln>
          </p:spPr>
          <p:txBody>
            <a:bodyPr wrap="none" lIns="0" tIns="0" rIns="0" bIns="0" anchor="t" anchorCtr="0">
              <a:spAutoFit/>
            </a:bodyPr>
            <a:lstStyle/>
            <a:p>
              <a:pPr algn="ctr"/>
              <a:r>
                <a:rPr lang="en-US" sz="1650" b="1" dirty="0">
                  <a:solidFill>
                    <a:srgbClr val="D4A853"/>
                  </a:solidFill>
                  <a:latin typeface="Segoe UI"/>
                  <a:ea typeface="Segoe UI"/>
                  <a:cs typeface="Segoe UI"/>
                </a:rPr>
                <a:t>DESIGN</a:t>
              </a:r>
            </a:p>
          </p:txBody>
        </p:sp>
        <p:sp>
          <p:nvSpPr>
            <p:cNvPr id="10" name="Line 10"/>
            <p:cNvSpPr/>
            <p:nvPr/>
          </p:nvSpPr>
          <p:spPr>
            <a:xfrm>
              <a:off x="1181100" y="2981325"/>
              <a:ext cx="2286000" cy="9525"/>
            </a:xfrm>
            <a:custGeom>
              <a:avLst/>
              <a:gdLst/>
              <a:ahLst/>
              <a:cxnLst/>
              <a:rect l="l" t="t" r="r" b="b"/>
              <a:pathLst>
                <a:path w="2286000" h="9525">
                  <a:moveTo>
                    <a:pt x="0" y="0"/>
                  </a:moveTo>
                  <a:lnTo>
                    <a:pt x="2286000" y="0"/>
                  </a:lnTo>
                </a:path>
              </a:pathLst>
            </a:custGeom>
            <a:noFill/>
            <a:ln w="9525">
              <a:solidFill>
                <a:srgbClr val="2C2C32"/>
              </a:solidFill>
            </a:ln>
          </p:spPr>
        </p:sp>
        <p:sp>
          <p:nvSpPr>
            <p:cNvPr id="11" name="TextBox 11"/>
            <p:cNvSpPr txBox="1"/>
            <p:nvPr/>
          </p:nvSpPr>
          <p:spPr>
            <a:xfrm>
              <a:off x="878205" y="3121342"/>
              <a:ext cx="2357780" cy="274320"/>
            </a:xfrm>
            <a:prstGeom prst="rect">
              <a:avLst/>
            </a:prstGeom>
            <a:noFill/>
            <a:ln>
              <a:noFill/>
            </a:ln>
          </p:spPr>
          <p:txBody>
            <a:bodyPr wrap="none" lIns="0" tIns="0" rIns="0" bIns="0" anchor="t" anchorCtr="0">
              <a:spAutoFit/>
            </a:bodyPr>
            <a:lstStyle/>
            <a:p>
              <a:pPr algn="l"/>
              <a:r>
                <a:rPr lang="en-US" sz="1350" dirty="0">
                  <a:solidFill>
                    <a:srgbClr val="EDEDF0"/>
                  </a:solidFill>
                  <a:latin typeface="Segoe UI"/>
                  <a:ea typeface="Segoe UI"/>
                  <a:cs typeface="Segoe UI"/>
                </a:rPr>
                <a:t>· Grade 5 Titanium frame</a:t>
              </a:r>
            </a:p>
          </p:txBody>
        </p:sp>
        <p:sp>
          <p:nvSpPr>
            <p:cNvPr id="12" name="TextBox 12"/>
            <p:cNvSpPr txBox="1"/>
            <p:nvPr/>
          </p:nvSpPr>
          <p:spPr>
            <a:xfrm>
              <a:off x="878205" y="3388042"/>
              <a:ext cx="2396185" cy="274320"/>
            </a:xfrm>
            <a:prstGeom prst="rect">
              <a:avLst/>
            </a:prstGeom>
            <a:noFill/>
            <a:ln>
              <a:noFill/>
            </a:ln>
          </p:spPr>
          <p:txBody>
            <a:bodyPr wrap="none" lIns="0" tIns="0" rIns="0" bIns="0" anchor="t" anchorCtr="0">
              <a:spAutoFit/>
            </a:bodyPr>
            <a:lstStyle/>
            <a:p>
              <a:pPr algn="l"/>
              <a:r>
                <a:rPr lang="en-US" sz="1350" dirty="0">
                  <a:solidFill>
                    <a:srgbClr val="EDEDF0"/>
                  </a:solidFill>
                  <a:latin typeface="Segoe UI"/>
                  <a:ea typeface="Segoe UI"/>
                  <a:cs typeface="Segoe UI"/>
                </a:rPr>
                <a:t>· Four finishes available:</a:t>
              </a:r>
            </a:p>
          </p:txBody>
        </p:sp>
        <p:sp>
          <p:nvSpPr>
            <p:cNvPr id="13" name="Ellipse 13"/>
            <p:cNvSpPr/>
            <p:nvPr/>
          </p:nvSpPr>
          <p:spPr>
            <a:xfrm>
              <a:off x="1009650" y="3743325"/>
              <a:ext cx="152400" cy="152400"/>
            </a:xfrm>
            <a:prstGeom prst="ellipse">
              <a:avLst/>
            </a:prstGeom>
            <a:solidFill>
              <a:srgbClr val="1A1A1E"/>
            </a:solidFill>
            <a:ln w="14288">
              <a:solidFill>
                <a:srgbClr val="4DA6FF"/>
              </a:solidFill>
            </a:ln>
          </p:spPr>
        </p:sp>
        <p:sp>
          <p:nvSpPr>
            <p:cNvPr id="14" name="TextBox 14"/>
            <p:cNvSpPr txBox="1"/>
            <p:nvPr/>
          </p:nvSpPr>
          <p:spPr>
            <a:xfrm>
              <a:off x="1243012" y="3745706"/>
              <a:ext cx="1132713" cy="228600"/>
            </a:xfrm>
            <a:prstGeom prst="rect">
              <a:avLst/>
            </a:prstGeom>
            <a:noFill/>
            <a:ln>
              <a:noFill/>
            </a:ln>
          </p:spPr>
          <p:txBody>
            <a:bodyPr wrap="none" lIns="0" tIns="0" rIns="0" bIns="0" anchor="t" anchorCtr="0">
              <a:spAutoFit/>
            </a:bodyPr>
            <a:lstStyle/>
            <a:p>
              <a:pPr algn="l"/>
              <a:r>
                <a:rPr lang="en-US" sz="1120" dirty="0">
                  <a:solidFill>
                    <a:srgbClr val="98989E"/>
                  </a:solidFill>
                  <a:latin typeface="Segoe UI"/>
                  <a:ea typeface="Segoe UI"/>
                  <a:cs typeface="Segoe UI"/>
                </a:rPr>
                <a:t>Black Titanium</a:t>
              </a:r>
            </a:p>
          </p:txBody>
        </p:sp>
        <p:sp>
          <p:nvSpPr>
            <p:cNvPr id="15" name="Ellipse 15"/>
            <p:cNvSpPr/>
            <p:nvPr/>
          </p:nvSpPr>
          <p:spPr>
            <a:xfrm>
              <a:off x="2438400" y="3743325"/>
              <a:ext cx="152400" cy="152400"/>
            </a:xfrm>
            <a:prstGeom prst="ellipse">
              <a:avLst/>
            </a:prstGeom>
            <a:solidFill>
              <a:srgbClr val="F0F0E8"/>
            </a:solidFill>
            <a:ln w="14288">
              <a:solidFill>
                <a:srgbClr val="D4A853"/>
              </a:solidFill>
            </a:ln>
          </p:spPr>
        </p:sp>
        <p:sp>
          <p:nvSpPr>
            <p:cNvPr id="16" name="TextBox 16"/>
            <p:cNvSpPr txBox="1"/>
            <p:nvPr/>
          </p:nvSpPr>
          <p:spPr>
            <a:xfrm>
              <a:off x="2671762" y="3745706"/>
              <a:ext cx="1164717" cy="228600"/>
            </a:xfrm>
            <a:prstGeom prst="rect">
              <a:avLst/>
            </a:prstGeom>
            <a:noFill/>
            <a:ln>
              <a:noFill/>
            </a:ln>
          </p:spPr>
          <p:txBody>
            <a:bodyPr wrap="none" lIns="0" tIns="0" rIns="0" bIns="0" anchor="t" anchorCtr="0">
              <a:spAutoFit/>
            </a:bodyPr>
            <a:lstStyle/>
            <a:p>
              <a:pPr algn="l"/>
              <a:r>
                <a:rPr lang="en-US" sz="1120" dirty="0">
                  <a:solidFill>
                    <a:srgbClr val="98989E"/>
                  </a:solidFill>
                  <a:latin typeface="Segoe UI"/>
                  <a:ea typeface="Segoe UI"/>
                  <a:cs typeface="Segoe UI"/>
                </a:rPr>
                <a:t>White Titanium</a:t>
              </a:r>
            </a:p>
          </p:txBody>
        </p:sp>
        <p:sp>
          <p:nvSpPr>
            <p:cNvPr id="17" name="Ellipse 17"/>
            <p:cNvSpPr/>
            <p:nvPr/>
          </p:nvSpPr>
          <p:spPr>
            <a:xfrm>
              <a:off x="1009650" y="4010025"/>
              <a:ext cx="152400" cy="152400"/>
            </a:xfrm>
            <a:prstGeom prst="ellipse">
              <a:avLst/>
            </a:prstGeom>
            <a:solidFill>
              <a:srgbClr val="C8B69A"/>
            </a:solidFill>
            <a:ln w="14288">
              <a:solidFill>
                <a:srgbClr val="D4A853"/>
              </a:solidFill>
            </a:ln>
          </p:spPr>
        </p:sp>
        <p:sp>
          <p:nvSpPr>
            <p:cNvPr id="18" name="TextBox 18"/>
            <p:cNvSpPr txBox="1"/>
            <p:nvPr/>
          </p:nvSpPr>
          <p:spPr>
            <a:xfrm>
              <a:off x="1243012" y="4012406"/>
              <a:ext cx="1308735" cy="228600"/>
            </a:xfrm>
            <a:prstGeom prst="rect">
              <a:avLst/>
            </a:prstGeom>
            <a:noFill/>
            <a:ln>
              <a:noFill/>
            </a:ln>
          </p:spPr>
          <p:txBody>
            <a:bodyPr wrap="none" lIns="0" tIns="0" rIns="0" bIns="0" anchor="t" anchorCtr="0">
              <a:spAutoFit/>
            </a:bodyPr>
            <a:lstStyle/>
            <a:p>
              <a:pPr algn="l"/>
              <a:r>
                <a:rPr lang="en-US" sz="1120" dirty="0">
                  <a:solidFill>
                    <a:srgbClr val="98989E"/>
                  </a:solidFill>
                  <a:latin typeface="Segoe UI"/>
                  <a:ea typeface="Segoe UI"/>
                  <a:cs typeface="Segoe UI"/>
                </a:rPr>
                <a:t>Natural Titanium</a:t>
              </a:r>
            </a:p>
          </p:txBody>
        </p:sp>
        <p:sp>
          <p:nvSpPr>
            <p:cNvPr id="19" name="Ellipse 19"/>
            <p:cNvSpPr/>
            <p:nvPr/>
          </p:nvSpPr>
          <p:spPr>
            <a:xfrm>
              <a:off x="2438400" y="4010025"/>
              <a:ext cx="152400" cy="152400"/>
            </a:xfrm>
            <a:prstGeom prst="ellipse">
              <a:avLst/>
            </a:prstGeom>
            <a:solidFill>
              <a:srgbClr val="C4965A"/>
            </a:solidFill>
            <a:ln w="14288">
              <a:solidFill>
                <a:srgbClr val="D4A853"/>
              </a:solidFill>
            </a:ln>
          </p:spPr>
        </p:sp>
        <p:sp>
          <p:nvSpPr>
            <p:cNvPr id="20" name="TextBox 20"/>
            <p:cNvSpPr txBox="1"/>
            <p:nvPr/>
          </p:nvSpPr>
          <p:spPr>
            <a:xfrm>
              <a:off x="2671762" y="4012406"/>
              <a:ext cx="1565300" cy="228600"/>
            </a:xfrm>
            <a:prstGeom prst="rect">
              <a:avLst/>
            </a:prstGeom>
            <a:noFill/>
            <a:ln>
              <a:noFill/>
            </a:ln>
          </p:spPr>
          <p:txBody>
            <a:bodyPr wrap="none" lIns="0" tIns="0" rIns="0" bIns="0" anchor="t" anchorCtr="0">
              <a:spAutoFit/>
            </a:bodyPr>
            <a:lstStyle/>
            <a:p>
              <a:pPr algn="l"/>
              <a:r>
                <a:rPr lang="en-US" sz="1120" dirty="0">
                  <a:solidFill>
                    <a:srgbClr val="D4A853"/>
                  </a:solidFill>
                  <a:latin typeface="Segoe UI"/>
                  <a:ea typeface="Segoe UI"/>
                  <a:cs typeface="Segoe UI"/>
                </a:rPr>
                <a:t xml:space="preserve">Desert Titanium </a:t>
              </a:r>
              <a:r>
                <a:rPr lang="en-US" sz="980" dirty="0">
                  <a:solidFill>
                    <a:srgbClr val="34C759"/>
                  </a:solidFill>
                  <a:latin typeface="Segoe UI"/>
                  <a:ea typeface="Segoe UI"/>
                  <a:cs typeface="Segoe UI"/>
                </a:rPr>
                <a:t>NEW</a:t>
              </a:r>
            </a:p>
          </p:txBody>
        </p:sp>
        <p:sp>
          <p:nvSpPr>
            <p:cNvPr id="21" name="TextBox 21"/>
            <p:cNvSpPr txBox="1"/>
            <p:nvPr/>
          </p:nvSpPr>
          <p:spPr>
            <a:xfrm>
              <a:off x="878205" y="4302442"/>
              <a:ext cx="3116275" cy="274320"/>
            </a:xfrm>
            <a:prstGeom prst="rect">
              <a:avLst/>
            </a:prstGeom>
            <a:noFill/>
            <a:ln>
              <a:noFill/>
            </a:ln>
          </p:spPr>
          <p:txBody>
            <a:bodyPr wrap="none" lIns="0" tIns="0" rIns="0" bIns="0" anchor="t" anchorCtr="0">
              <a:spAutoFit/>
            </a:bodyPr>
            <a:lstStyle/>
            <a:p>
              <a:pPr algn="l"/>
              <a:r>
                <a:rPr lang="en-US" sz="1350" dirty="0">
                  <a:solidFill>
                    <a:srgbClr val="EDEDF0"/>
                  </a:solidFill>
                  <a:latin typeface="Segoe UI"/>
                  <a:ea typeface="Segoe UI"/>
                  <a:cs typeface="Segoe UI"/>
                </a:rPr>
                <a:t>· Action Button + Camera Control</a:t>
              </a:r>
            </a:p>
          </p:txBody>
        </p:sp>
      </p:grpSp>
      <p:grpSp>
        <p:nvGrpSpPr>
          <p:cNvPr id="32" name="Group 32"/>
          <p:cNvGrpSpPr/>
          <p:nvPr/>
        </p:nvGrpSpPr>
        <p:grpSpPr>
          <a:xfrm>
            <a:off x="4267200" y="2428875"/>
            <a:ext cx="3429000" cy="2319337"/>
            <a:chOff x="4267200" y="2428875"/>
            <a:chExt cx="3429000" cy="2319337"/>
          </a:xfrm>
        </p:grpSpPr>
        <p:sp>
          <p:nvSpPr>
            <p:cNvPr id="23" name="Rectangle 23"/>
            <p:cNvSpPr/>
            <p:nvPr/>
          </p:nvSpPr>
          <p:spPr>
            <a:xfrm>
              <a:off x="4267200" y="2428875"/>
              <a:ext cx="3429000" cy="2286000"/>
            </a:xfrm>
            <a:prstGeom prst="roundRect">
              <a:avLst>
                <a:gd name="adj" fmla="val 4167"/>
              </a:avLst>
            </a:prstGeom>
            <a:solidFill>
              <a:srgbClr val="16161A"/>
            </a:solidFill>
            <a:ln w="9525">
              <a:solidFill>
                <a:srgbClr val="2C2C32"/>
              </a:solidFill>
            </a:ln>
          </p:spPr>
        </p:sp>
        <p:sp>
          <p:nvSpPr>
            <p:cNvPr id="24" name="TextBox 24"/>
            <p:cNvSpPr txBox="1"/>
            <p:nvPr/>
          </p:nvSpPr>
          <p:spPr>
            <a:xfrm>
              <a:off x="5344668" y="2631758"/>
              <a:ext cx="1274064" cy="335280"/>
            </a:xfrm>
            <a:prstGeom prst="rect">
              <a:avLst/>
            </a:prstGeom>
            <a:noFill/>
            <a:ln>
              <a:noFill/>
            </a:ln>
          </p:spPr>
          <p:txBody>
            <a:bodyPr wrap="none" lIns="0" tIns="0" rIns="0" bIns="0" anchor="t" anchorCtr="0">
              <a:spAutoFit/>
            </a:bodyPr>
            <a:lstStyle/>
            <a:p>
              <a:pPr algn="ctr"/>
              <a:r>
                <a:rPr lang="en-US" sz="1650" b="1" dirty="0">
                  <a:solidFill>
                    <a:srgbClr val="4DA6FF"/>
                  </a:solidFill>
                  <a:latin typeface="Segoe UI"/>
                  <a:ea typeface="Segoe UI"/>
                  <a:cs typeface="Segoe UI"/>
                </a:rPr>
                <a:t>DURABILITY</a:t>
              </a:r>
            </a:p>
          </p:txBody>
        </p:sp>
        <p:sp>
          <p:nvSpPr>
            <p:cNvPr id="25" name="Line 25"/>
            <p:cNvSpPr/>
            <p:nvPr/>
          </p:nvSpPr>
          <p:spPr>
            <a:xfrm>
              <a:off x="4838700" y="2981325"/>
              <a:ext cx="2286000" cy="9525"/>
            </a:xfrm>
            <a:custGeom>
              <a:avLst/>
              <a:gdLst/>
              <a:ahLst/>
              <a:cxnLst/>
              <a:rect l="l" t="t" r="r" b="b"/>
              <a:pathLst>
                <a:path w="2286000" h="9525">
                  <a:moveTo>
                    <a:pt x="0" y="0"/>
                  </a:moveTo>
                  <a:lnTo>
                    <a:pt x="2286000" y="0"/>
                  </a:lnTo>
                </a:path>
              </a:pathLst>
            </a:custGeom>
            <a:noFill/>
            <a:ln w="9525">
              <a:solidFill>
                <a:srgbClr val="2C2C32"/>
              </a:solidFill>
            </a:ln>
          </p:spPr>
        </p:sp>
        <p:sp>
          <p:nvSpPr>
            <p:cNvPr id="26" name="TextBox 26"/>
            <p:cNvSpPr txBox="1"/>
            <p:nvPr/>
          </p:nvSpPr>
          <p:spPr>
            <a:xfrm>
              <a:off x="4535805" y="3121342"/>
              <a:ext cx="2693822" cy="274320"/>
            </a:xfrm>
            <a:prstGeom prst="rect">
              <a:avLst/>
            </a:prstGeom>
            <a:noFill/>
            <a:ln>
              <a:noFill/>
            </a:ln>
          </p:spPr>
          <p:txBody>
            <a:bodyPr wrap="none" lIns="0" tIns="0" rIns="0" bIns="0" anchor="t" anchorCtr="0">
              <a:spAutoFit/>
            </a:bodyPr>
            <a:lstStyle/>
            <a:p>
              <a:pPr algn="l"/>
              <a:r>
                <a:rPr lang="en-US" sz="1350" dirty="0">
                  <a:solidFill>
                    <a:srgbClr val="EDEDF0"/>
                  </a:solidFill>
                  <a:latin typeface="Segoe UI"/>
                  <a:ea typeface="Segoe UI"/>
                  <a:cs typeface="Segoe UI"/>
                </a:rPr>
                <a:t>· Ceramic Shield front cover</a:t>
              </a:r>
            </a:p>
          </p:txBody>
        </p:sp>
        <p:sp>
          <p:nvSpPr>
            <p:cNvPr id="27" name="TextBox 27"/>
            <p:cNvSpPr txBox="1"/>
            <p:nvPr/>
          </p:nvSpPr>
          <p:spPr>
            <a:xfrm>
              <a:off x="4785360" y="3385185"/>
              <a:ext cx="1686154" cy="243840"/>
            </a:xfrm>
            <a:prstGeom prst="rect">
              <a:avLst/>
            </a:prstGeom>
            <a:noFill/>
            <a:ln>
              <a:noFill/>
            </a:ln>
          </p:spPr>
          <p:txBody>
            <a:bodyPr wrap="none" lIns="0" tIns="0" rIns="0" bIns="0" anchor="t" anchorCtr="0">
              <a:spAutoFit/>
            </a:bodyPr>
            <a:lstStyle/>
            <a:p>
              <a:pPr algn="l"/>
              <a:r>
                <a:rPr lang="en-US" sz="1200" dirty="0">
                  <a:solidFill>
                    <a:srgbClr val="98989E"/>
                  </a:solidFill>
                  <a:latin typeface="Segoe UI"/>
                  <a:ea typeface="Segoe UI"/>
                  <a:cs typeface="Segoe UI"/>
                </a:rPr>
                <a:t>2× tougher than any</a:t>
              </a:r>
            </a:p>
          </p:txBody>
        </p:sp>
        <p:sp>
          <p:nvSpPr>
            <p:cNvPr id="28" name="TextBox 28"/>
            <p:cNvSpPr txBox="1"/>
            <p:nvPr/>
          </p:nvSpPr>
          <p:spPr>
            <a:xfrm>
              <a:off x="4785360" y="3594735"/>
              <a:ext cx="1481328" cy="243840"/>
            </a:xfrm>
            <a:prstGeom prst="rect">
              <a:avLst/>
            </a:prstGeom>
            <a:noFill/>
            <a:ln>
              <a:noFill/>
            </a:ln>
          </p:spPr>
          <p:txBody>
            <a:bodyPr wrap="none" lIns="0" tIns="0" rIns="0" bIns="0" anchor="t" anchorCtr="0">
              <a:spAutoFit/>
            </a:bodyPr>
            <a:lstStyle/>
            <a:p>
              <a:pPr algn="l"/>
              <a:r>
                <a:rPr lang="en-US" sz="1200" dirty="0">
                  <a:solidFill>
                    <a:srgbClr val="98989E"/>
                  </a:solidFill>
                  <a:latin typeface="Segoe UI"/>
                  <a:ea typeface="Segoe UI"/>
                  <a:cs typeface="Segoe UI"/>
                </a:rPr>
                <a:t>smartphone glass</a:t>
              </a:r>
            </a:p>
          </p:txBody>
        </p:sp>
        <p:sp>
          <p:nvSpPr>
            <p:cNvPr id="29" name="TextBox 29"/>
            <p:cNvSpPr txBox="1"/>
            <p:nvPr/>
          </p:nvSpPr>
          <p:spPr>
            <a:xfrm>
              <a:off x="4535805" y="3921442"/>
              <a:ext cx="2905049" cy="274320"/>
            </a:xfrm>
            <a:prstGeom prst="rect">
              <a:avLst/>
            </a:prstGeom>
            <a:noFill/>
            <a:ln>
              <a:noFill/>
            </a:ln>
          </p:spPr>
          <p:txBody>
            <a:bodyPr wrap="none" lIns="0" tIns="0" rIns="0" bIns="0" anchor="t" anchorCtr="0">
              <a:spAutoFit/>
            </a:bodyPr>
            <a:lstStyle/>
            <a:p>
              <a:pPr algn="l"/>
              <a:r>
                <a:rPr lang="en-US" sz="1350" dirty="0">
                  <a:solidFill>
                    <a:srgbClr val="EDEDF0"/>
                  </a:solidFill>
                  <a:latin typeface="Segoe UI"/>
                  <a:ea typeface="Segoe UI"/>
                  <a:cs typeface="Segoe UI"/>
                </a:rPr>
                <a:t>· IP68 water &amp; dust resistance</a:t>
              </a:r>
            </a:p>
          </p:txBody>
        </p:sp>
        <p:sp>
          <p:nvSpPr>
            <p:cNvPr id="30" name="TextBox 30"/>
            <p:cNvSpPr txBox="1"/>
            <p:nvPr/>
          </p:nvSpPr>
          <p:spPr>
            <a:xfrm>
              <a:off x="4785360" y="4185285"/>
              <a:ext cx="2522525" cy="243840"/>
            </a:xfrm>
            <a:prstGeom prst="rect">
              <a:avLst/>
            </a:prstGeom>
            <a:noFill/>
            <a:ln>
              <a:noFill/>
            </a:ln>
          </p:spPr>
          <p:txBody>
            <a:bodyPr wrap="none" lIns="0" tIns="0" rIns="0" bIns="0" anchor="t" anchorCtr="0">
              <a:spAutoFit/>
            </a:bodyPr>
            <a:lstStyle/>
            <a:p>
              <a:pPr algn="l"/>
              <a:r>
                <a:rPr lang="en-US" sz="1200" dirty="0">
                  <a:solidFill>
                    <a:srgbClr val="98989E"/>
                  </a:solidFill>
                  <a:latin typeface="Segoe UI"/>
                  <a:ea typeface="Segoe UI"/>
                  <a:cs typeface="Segoe UI"/>
                </a:rPr>
                <a:t>Up to 6 meters for 30 minutes</a:t>
              </a:r>
            </a:p>
          </p:txBody>
        </p:sp>
        <p:sp>
          <p:nvSpPr>
            <p:cNvPr id="31" name="TextBox 31"/>
            <p:cNvSpPr txBox="1"/>
            <p:nvPr/>
          </p:nvSpPr>
          <p:spPr>
            <a:xfrm>
              <a:off x="4535805" y="4473892"/>
              <a:ext cx="2684221" cy="274320"/>
            </a:xfrm>
            <a:prstGeom prst="rect">
              <a:avLst/>
            </a:prstGeom>
            <a:noFill/>
            <a:ln>
              <a:noFill/>
            </a:ln>
          </p:spPr>
          <p:txBody>
            <a:bodyPr wrap="none" lIns="0" tIns="0" rIns="0" bIns="0" anchor="t" anchorCtr="0">
              <a:spAutoFit/>
            </a:bodyPr>
            <a:lstStyle/>
            <a:p>
              <a:pPr algn="l"/>
              <a:r>
                <a:rPr lang="en-US" sz="1350" dirty="0">
                  <a:solidFill>
                    <a:srgbClr val="EDEDF0"/>
                  </a:solidFill>
                  <a:latin typeface="Segoe UI"/>
                  <a:ea typeface="Segoe UI"/>
                  <a:cs typeface="Segoe UI"/>
                </a:rPr>
                <a:t>· Matte textured glass back</a:t>
              </a:r>
            </a:p>
          </p:txBody>
        </p:sp>
      </p:grpSp>
      <p:grpSp>
        <p:nvGrpSpPr>
          <p:cNvPr id="42" name="Group 42"/>
          <p:cNvGrpSpPr/>
          <p:nvPr/>
        </p:nvGrpSpPr>
        <p:grpSpPr>
          <a:xfrm>
            <a:off x="7924800" y="2428875"/>
            <a:ext cx="3442487" cy="2286000"/>
            <a:chOff x="7924800" y="2428875"/>
            <a:chExt cx="3442487" cy="2286000"/>
          </a:xfrm>
        </p:grpSpPr>
        <p:sp>
          <p:nvSpPr>
            <p:cNvPr id="33" name="Rectangle 33"/>
            <p:cNvSpPr/>
            <p:nvPr/>
          </p:nvSpPr>
          <p:spPr>
            <a:xfrm>
              <a:off x="7924800" y="2428875"/>
              <a:ext cx="3429000" cy="2286000"/>
            </a:xfrm>
            <a:prstGeom prst="roundRect">
              <a:avLst>
                <a:gd name="adj" fmla="val 4167"/>
              </a:avLst>
            </a:prstGeom>
            <a:solidFill>
              <a:srgbClr val="16161A"/>
            </a:solidFill>
            <a:ln w="9525">
              <a:solidFill>
                <a:srgbClr val="2C2C32"/>
              </a:solidFill>
            </a:ln>
          </p:spPr>
        </p:sp>
        <p:sp>
          <p:nvSpPr>
            <p:cNvPr id="34" name="TextBox 34"/>
            <p:cNvSpPr txBox="1"/>
            <p:nvPr/>
          </p:nvSpPr>
          <p:spPr>
            <a:xfrm>
              <a:off x="8854410" y="2631758"/>
              <a:ext cx="1569781" cy="335280"/>
            </a:xfrm>
            <a:prstGeom prst="rect">
              <a:avLst/>
            </a:prstGeom>
            <a:noFill/>
            <a:ln>
              <a:noFill/>
            </a:ln>
          </p:spPr>
          <p:txBody>
            <a:bodyPr wrap="none" lIns="0" tIns="0" rIns="0" bIns="0" anchor="t" anchorCtr="0">
              <a:spAutoFit/>
            </a:bodyPr>
            <a:lstStyle/>
            <a:p>
              <a:pPr algn="ctr"/>
              <a:r>
                <a:rPr lang="en-US" sz="1650" b="1" dirty="0">
                  <a:solidFill>
                    <a:srgbClr val="34C759"/>
                  </a:solidFill>
                  <a:latin typeface="Segoe UI"/>
                  <a:ea typeface="Segoe UI"/>
                  <a:cs typeface="Segoe UI"/>
                </a:rPr>
                <a:t>ENVIRONMENT</a:t>
              </a:r>
            </a:p>
          </p:txBody>
        </p:sp>
        <p:sp>
          <p:nvSpPr>
            <p:cNvPr id="35" name="Line 35"/>
            <p:cNvSpPr/>
            <p:nvPr/>
          </p:nvSpPr>
          <p:spPr>
            <a:xfrm>
              <a:off x="8496300" y="2981325"/>
              <a:ext cx="2286000" cy="9525"/>
            </a:xfrm>
            <a:custGeom>
              <a:avLst/>
              <a:gdLst/>
              <a:ahLst/>
              <a:cxnLst/>
              <a:rect l="l" t="t" r="r" b="b"/>
              <a:pathLst>
                <a:path w="2286000" h="9525">
                  <a:moveTo>
                    <a:pt x="0" y="0"/>
                  </a:moveTo>
                  <a:lnTo>
                    <a:pt x="2286000" y="0"/>
                  </a:lnTo>
                </a:path>
              </a:pathLst>
            </a:custGeom>
            <a:noFill/>
            <a:ln w="9525">
              <a:solidFill>
                <a:srgbClr val="2C2C32"/>
              </a:solidFill>
            </a:ln>
          </p:spPr>
        </p:sp>
        <p:sp>
          <p:nvSpPr>
            <p:cNvPr id="36" name="TextBox 36"/>
            <p:cNvSpPr txBox="1"/>
            <p:nvPr/>
          </p:nvSpPr>
          <p:spPr>
            <a:xfrm>
              <a:off x="8193405" y="3121342"/>
              <a:ext cx="2684221" cy="274320"/>
            </a:xfrm>
            <a:prstGeom prst="rect">
              <a:avLst/>
            </a:prstGeom>
            <a:noFill/>
            <a:ln>
              <a:noFill/>
            </a:ln>
          </p:spPr>
          <p:txBody>
            <a:bodyPr wrap="none" lIns="0" tIns="0" rIns="0" bIns="0" anchor="t" anchorCtr="0">
              <a:spAutoFit/>
            </a:bodyPr>
            <a:lstStyle/>
            <a:p>
              <a:pPr algn="l"/>
              <a:r>
                <a:rPr lang="en-US" sz="1350" dirty="0">
                  <a:solidFill>
                    <a:srgbClr val="EDEDF0"/>
                  </a:solidFill>
                  <a:latin typeface="Segoe UI"/>
                  <a:ea typeface="Segoe UI"/>
                  <a:cs typeface="Segoe UI"/>
                </a:rPr>
                <a:t>· 100% recycled rare earths</a:t>
              </a:r>
            </a:p>
          </p:txBody>
        </p:sp>
        <p:sp>
          <p:nvSpPr>
            <p:cNvPr id="37" name="TextBox 37"/>
            <p:cNvSpPr txBox="1"/>
            <p:nvPr/>
          </p:nvSpPr>
          <p:spPr>
            <a:xfrm>
              <a:off x="8193405" y="3388042"/>
              <a:ext cx="3173882" cy="274320"/>
            </a:xfrm>
            <a:prstGeom prst="rect">
              <a:avLst/>
            </a:prstGeom>
            <a:noFill/>
            <a:ln>
              <a:noFill/>
            </a:ln>
          </p:spPr>
          <p:txBody>
            <a:bodyPr wrap="none" lIns="0" tIns="0" rIns="0" bIns="0" anchor="t" anchorCtr="0">
              <a:spAutoFit/>
            </a:bodyPr>
            <a:lstStyle/>
            <a:p>
              <a:pPr algn="l"/>
              <a:r>
                <a:rPr lang="en-US" sz="1350" dirty="0">
                  <a:solidFill>
                    <a:srgbClr val="EDEDF0"/>
                  </a:solidFill>
                  <a:latin typeface="Segoe UI"/>
                  <a:ea typeface="Segoe UI"/>
                  <a:cs typeface="Segoe UI"/>
                </a:rPr>
                <a:t>· 100% recycled cobalt in battery</a:t>
              </a:r>
            </a:p>
          </p:txBody>
        </p:sp>
        <p:sp>
          <p:nvSpPr>
            <p:cNvPr id="38" name="TextBox 38"/>
            <p:cNvSpPr txBox="1"/>
            <p:nvPr/>
          </p:nvSpPr>
          <p:spPr>
            <a:xfrm>
              <a:off x="8193405" y="3654742"/>
              <a:ext cx="2396185" cy="274320"/>
            </a:xfrm>
            <a:prstGeom prst="rect">
              <a:avLst/>
            </a:prstGeom>
            <a:noFill/>
            <a:ln>
              <a:noFill/>
            </a:ln>
          </p:spPr>
          <p:txBody>
            <a:bodyPr wrap="none" lIns="0" tIns="0" rIns="0" bIns="0" anchor="t" anchorCtr="0">
              <a:spAutoFit/>
            </a:bodyPr>
            <a:lstStyle/>
            <a:p>
              <a:pPr algn="l"/>
              <a:r>
                <a:rPr lang="en-US" sz="1350" dirty="0">
                  <a:solidFill>
                    <a:srgbClr val="EDEDF0"/>
                  </a:solidFill>
                  <a:latin typeface="Segoe UI"/>
                  <a:ea typeface="Segoe UI"/>
                  <a:cs typeface="Segoe UI"/>
                </a:rPr>
                <a:t>· 100% recycled aluminum</a:t>
              </a:r>
            </a:p>
          </p:txBody>
        </p:sp>
        <p:sp>
          <p:nvSpPr>
            <p:cNvPr id="39" name="TextBox 39"/>
            <p:cNvSpPr txBox="1"/>
            <p:nvPr/>
          </p:nvSpPr>
          <p:spPr>
            <a:xfrm>
              <a:off x="8442960" y="3918585"/>
              <a:ext cx="2573731" cy="243840"/>
            </a:xfrm>
            <a:prstGeom prst="rect">
              <a:avLst/>
            </a:prstGeom>
            <a:noFill/>
            <a:ln>
              <a:noFill/>
            </a:ln>
          </p:spPr>
          <p:txBody>
            <a:bodyPr wrap="none" lIns="0" tIns="0" rIns="0" bIns="0" anchor="t" anchorCtr="0">
              <a:spAutoFit/>
            </a:bodyPr>
            <a:lstStyle/>
            <a:p>
              <a:pPr algn="l"/>
              <a:r>
                <a:rPr lang="en-US" sz="1200" dirty="0">
                  <a:solidFill>
                    <a:srgbClr val="98989E"/>
                  </a:solidFill>
                  <a:latin typeface="Segoe UI"/>
                  <a:ea typeface="Segoe UI"/>
                  <a:cs typeface="Segoe UI"/>
                </a:rPr>
                <a:t>Internal thermal substructure</a:t>
              </a:r>
            </a:p>
          </p:txBody>
        </p:sp>
        <p:sp>
          <p:nvSpPr>
            <p:cNvPr id="40" name="TextBox 40"/>
            <p:cNvSpPr txBox="1"/>
            <p:nvPr/>
          </p:nvSpPr>
          <p:spPr>
            <a:xfrm>
              <a:off x="8193405" y="4169092"/>
              <a:ext cx="2271370" cy="274320"/>
            </a:xfrm>
            <a:prstGeom prst="rect">
              <a:avLst/>
            </a:prstGeom>
            <a:noFill/>
            <a:ln>
              <a:noFill/>
            </a:ln>
          </p:spPr>
          <p:txBody>
            <a:bodyPr wrap="none" lIns="0" tIns="0" rIns="0" bIns="0" anchor="t" anchorCtr="0">
              <a:spAutoFit/>
            </a:bodyPr>
            <a:lstStyle/>
            <a:p>
              <a:pPr algn="l"/>
              <a:r>
                <a:rPr lang="en-US" sz="1350" dirty="0">
                  <a:solidFill>
                    <a:srgbClr val="EDEDF0"/>
                  </a:solidFill>
                  <a:latin typeface="Segoe UI"/>
                  <a:ea typeface="Segoe UI"/>
                  <a:cs typeface="Segoe UI"/>
                </a:rPr>
                <a:t>· Fiber-based packaging</a:t>
              </a:r>
            </a:p>
          </p:txBody>
        </p:sp>
        <p:sp>
          <p:nvSpPr>
            <p:cNvPr id="41" name="TextBox 41"/>
            <p:cNvSpPr txBox="1"/>
            <p:nvPr/>
          </p:nvSpPr>
          <p:spPr>
            <a:xfrm>
              <a:off x="8193405" y="4435792"/>
              <a:ext cx="2703424" cy="274320"/>
            </a:xfrm>
            <a:prstGeom prst="rect">
              <a:avLst/>
            </a:prstGeom>
            <a:noFill/>
            <a:ln>
              <a:noFill/>
            </a:ln>
          </p:spPr>
          <p:txBody>
            <a:bodyPr wrap="none" lIns="0" tIns="0" rIns="0" bIns="0" anchor="t" anchorCtr="0">
              <a:spAutoFit/>
            </a:bodyPr>
            <a:lstStyle/>
            <a:p>
              <a:pPr algn="l"/>
              <a:r>
                <a:rPr lang="en-US" sz="1350" dirty="0">
                  <a:solidFill>
                    <a:srgbClr val="34C759"/>
                  </a:solidFill>
                  <a:latin typeface="Segoe UI"/>
                  <a:ea typeface="Segoe UI"/>
                  <a:cs typeface="Segoe UI"/>
                </a:rPr>
                <a:t>· Apple 2030: Carbon neutral</a:t>
              </a:r>
            </a:p>
          </p:txBody>
        </p:sp>
      </p:grpSp>
      <p:sp>
        <p:nvSpPr>
          <p:cNvPr id="43" name="Rectangle 43"/>
          <p:cNvSpPr/>
          <p:nvPr/>
        </p:nvSpPr>
        <p:spPr>
          <a:xfrm>
            <a:off x="609600" y="5048250"/>
            <a:ext cx="10972800" cy="609600"/>
          </a:xfrm>
          <a:prstGeom prst="roundRect">
            <a:avLst>
              <a:gd name="adj" fmla="val 15625"/>
            </a:avLst>
          </a:prstGeom>
          <a:solidFill>
            <a:srgbClr val="16161A"/>
          </a:solidFill>
          <a:ln w="9525">
            <a:solidFill>
              <a:srgbClr val="2C2C32"/>
            </a:solidFill>
          </a:ln>
        </p:spPr>
      </p:sp>
      <p:sp>
        <p:nvSpPr>
          <p:cNvPr id="44" name="TextBox 44"/>
          <p:cNvSpPr txBox="1"/>
          <p:nvPr/>
        </p:nvSpPr>
        <p:spPr>
          <a:xfrm>
            <a:off x="2717425" y="5251132"/>
            <a:ext cx="6757149" cy="335280"/>
          </a:xfrm>
          <a:prstGeom prst="rect">
            <a:avLst/>
          </a:prstGeom>
          <a:noFill/>
          <a:ln>
            <a:noFill/>
          </a:ln>
        </p:spPr>
        <p:txBody>
          <a:bodyPr wrap="none" lIns="0" tIns="0" rIns="0" bIns="0" anchor="t" anchorCtr="0">
            <a:spAutoFit/>
          </a:bodyPr>
          <a:lstStyle/>
          <a:p>
            <a:pPr algn="ctr"/>
            <a:r>
              <a:rPr lang="en-US" sz="1650" b="1" dirty="0">
                <a:solidFill>
                  <a:srgbClr val="34C759"/>
                </a:solidFill>
                <a:latin typeface="Segoe UI"/>
                <a:ea typeface="Segoe UI"/>
                <a:cs typeface="Segoe UI"/>
              </a:rPr>
              <a:t>Carbon neutral across entire product lifecycle by 2030.</a:t>
            </a:r>
          </a:p>
        </p:txBody>
      </p:sp>
      <p:sp>
        <p:nvSpPr>
          <p:cNvPr id="45" name="TextBox 45"/>
          <p:cNvSpPr txBox="1"/>
          <p:nvPr/>
        </p:nvSpPr>
        <p:spPr>
          <a:xfrm>
            <a:off x="11183112" y="6442710"/>
            <a:ext cx="414528" cy="243840"/>
          </a:xfrm>
          <a:prstGeom prst="rect">
            <a:avLst/>
          </a:prstGeom>
          <a:noFill/>
          <a:ln>
            <a:noFill/>
          </a:ln>
        </p:spPr>
        <p:txBody>
          <a:bodyPr wrap="none" lIns="0" tIns="0" rIns="0" bIns="0" anchor="t" anchorCtr="0">
            <a:spAutoFit/>
          </a:bodyPr>
          <a:lstStyle/>
          <a:p>
            <a:pPr algn="r"/>
            <a:r>
              <a:rPr lang="en-US" sz="1200" dirty="0">
                <a:solidFill>
                  <a:srgbClr val="6B6B72"/>
                </a:solidFill>
                <a:latin typeface="Segoe UI"/>
                <a:ea typeface="Segoe UI"/>
                <a:cs typeface="Segoe UI"/>
              </a:rPr>
              <a:t>8 / 9</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B0D"/>
          </a:solidFill>
          <a:ln>
            <a:noFill/>
          </a:ln>
        </p:spPr>
      </p:sp>
      <p:sp>
        <p:nvSpPr>
          <p:cNvPr id="3" name="Rectangle 3"/>
          <p:cNvSpPr/>
          <p:nvPr/>
        </p:nvSpPr>
        <p:spPr>
          <a:xfrm>
            <a:off x="0" y="0"/>
            <a:ext cx="12192000" cy="6858000"/>
          </a:xfrm>
          <a:prstGeom prst="rect">
            <a:avLst/>
          </a:prstGeom>
          <a:gradFill>
            <a:gsLst>
              <a:gs pos="0">
                <a:srgbClr val="D4A853">
                  <a:alpha val="8000"/>
                </a:srgbClr>
              </a:gs>
              <a:gs pos="50000">
                <a:srgbClr val="4DA6FF">
                  <a:alpha val="3000"/>
                </a:srgbClr>
              </a:gs>
              <a:gs pos="100000">
                <a:srgbClr val="0B0B0D">
                  <a:alpha val="0"/>
                </a:srgbClr>
              </a:gs>
            </a:gsLst>
            <a:path path="circle">
              <a:fillToRect l="50000" t="50000" r="50000" b="50000"/>
            </a:path>
          </a:gradFill>
          <a:ln>
            <a:noFill/>
          </a:ln>
        </p:spPr>
      </p:sp>
      <p:sp>
        <p:nvSpPr>
          <p:cNvPr id="4" name="Line 4"/>
          <p:cNvSpPr/>
          <p:nvPr/>
        </p:nvSpPr>
        <p:spPr>
          <a:xfrm>
            <a:off x="609600" y="762000"/>
            <a:ext cx="1295400" cy="9525"/>
          </a:xfrm>
          <a:custGeom>
            <a:avLst/>
            <a:gdLst/>
            <a:ahLst/>
            <a:cxnLst/>
            <a:rect l="l" t="t" r="r" b="b"/>
            <a:pathLst>
              <a:path w="1295400" h="9525">
                <a:moveTo>
                  <a:pt x="0" y="0"/>
                </a:moveTo>
                <a:lnTo>
                  <a:pt x="1295400" y="0"/>
                </a:lnTo>
              </a:path>
            </a:pathLst>
          </a:custGeom>
          <a:noFill/>
          <a:ln w="19050">
            <a:solidFill>
              <a:srgbClr val="D4A853">
                <a:alpha val="50000"/>
              </a:srgbClr>
            </a:solidFill>
          </a:ln>
        </p:spPr>
      </p:sp>
      <p:sp>
        <p:nvSpPr>
          <p:cNvPr id="5" name="TextBox 5"/>
          <p:cNvSpPr txBox="1"/>
          <p:nvPr/>
        </p:nvSpPr>
        <p:spPr>
          <a:xfrm>
            <a:off x="594360" y="556260"/>
            <a:ext cx="2917241" cy="243840"/>
          </a:xfrm>
          <a:prstGeom prst="rect">
            <a:avLst/>
          </a:prstGeom>
          <a:noFill/>
          <a:ln>
            <a:noFill/>
          </a:ln>
        </p:spPr>
        <p:txBody>
          <a:bodyPr wrap="none" lIns="0" tIns="0" rIns="0" bIns="0" anchor="t" anchorCtr="0">
            <a:spAutoFit/>
          </a:bodyPr>
          <a:lstStyle/>
          <a:p>
            <a:pPr algn="l"/>
            <a:r>
              <a:rPr lang="en-US" sz="1200" spc="375" dirty="0">
                <a:solidFill>
                  <a:srgbClr val="98989E"/>
                </a:solidFill>
                <a:latin typeface="Segoe UI"/>
                <a:ea typeface="Segoe UI"/>
                <a:cs typeface="Segoe UI"/>
              </a:rPr>
              <a:t>PRICING &amp; AVAILABILITY</a:t>
            </a:r>
          </a:p>
        </p:txBody>
      </p:sp>
      <p:sp>
        <p:nvSpPr>
          <p:cNvPr id="6" name="TextBox 6"/>
          <p:cNvSpPr txBox="1"/>
          <p:nvPr/>
        </p:nvSpPr>
        <p:spPr>
          <a:xfrm>
            <a:off x="569595" y="1069658"/>
            <a:ext cx="3679020" cy="640080"/>
          </a:xfrm>
          <a:prstGeom prst="rect">
            <a:avLst/>
          </a:prstGeom>
          <a:noFill/>
          <a:ln>
            <a:noFill/>
          </a:ln>
        </p:spPr>
        <p:txBody>
          <a:bodyPr wrap="none" lIns="0" tIns="0" rIns="0" bIns="0" anchor="t" anchorCtr="0">
            <a:spAutoFit/>
          </a:bodyPr>
          <a:lstStyle/>
          <a:p>
            <a:pPr algn="l"/>
            <a:r>
              <a:rPr lang="en-US" sz="3150" b="1" dirty="0">
                <a:solidFill>
                  <a:srgbClr val="EDEDF0"/>
                </a:solidFill>
                <a:latin typeface="Segoe UI"/>
                <a:ea typeface="Segoe UI"/>
                <a:cs typeface="Segoe UI"/>
              </a:rPr>
              <a:t>Pre-order now.</a:t>
            </a:r>
          </a:p>
        </p:txBody>
      </p:sp>
      <p:grpSp>
        <p:nvGrpSpPr>
          <p:cNvPr id="25" name="Group 25"/>
          <p:cNvGrpSpPr/>
          <p:nvPr/>
        </p:nvGrpSpPr>
        <p:grpSpPr>
          <a:xfrm>
            <a:off x="609600" y="1809750"/>
            <a:ext cx="10972800" cy="1685925"/>
            <a:chOff x="609600" y="1809750"/>
            <a:chExt cx="10972800" cy="1685925"/>
          </a:xfrm>
        </p:grpSpPr>
        <p:sp>
          <p:nvSpPr>
            <p:cNvPr id="7" name="Rectangle 7"/>
            <p:cNvSpPr/>
            <p:nvPr/>
          </p:nvSpPr>
          <p:spPr>
            <a:xfrm>
              <a:off x="609600" y="1809750"/>
              <a:ext cx="10972800" cy="419100"/>
            </a:xfrm>
            <a:prstGeom prst="roundRect">
              <a:avLst>
                <a:gd name="adj" fmla="val 13636"/>
              </a:avLst>
            </a:prstGeom>
            <a:solidFill>
              <a:srgbClr val="1A1A1E"/>
            </a:solidFill>
            <a:ln>
              <a:noFill/>
            </a:ln>
          </p:spPr>
        </p:sp>
        <p:sp>
          <p:nvSpPr>
            <p:cNvPr id="8" name="TextBox 8"/>
            <p:cNvSpPr txBox="1"/>
            <p:nvPr/>
          </p:nvSpPr>
          <p:spPr>
            <a:xfrm>
              <a:off x="2062429" y="1946910"/>
              <a:ext cx="523342" cy="243840"/>
            </a:xfrm>
            <a:prstGeom prst="rect">
              <a:avLst/>
            </a:prstGeom>
            <a:noFill/>
            <a:ln>
              <a:noFill/>
            </a:ln>
          </p:spPr>
          <p:txBody>
            <a:bodyPr wrap="none" lIns="0" tIns="0" rIns="0" bIns="0" anchor="t" anchorCtr="0">
              <a:spAutoFit/>
            </a:bodyPr>
            <a:lstStyle/>
            <a:p>
              <a:pPr algn="ctr"/>
              <a:r>
                <a:rPr lang="en-US" sz="1200" b="1" dirty="0">
                  <a:solidFill>
                    <a:srgbClr val="98989E"/>
                  </a:solidFill>
                  <a:latin typeface="Segoe UI"/>
                  <a:ea typeface="Segoe UI"/>
                  <a:cs typeface="Segoe UI"/>
                </a:rPr>
                <a:t>128GB</a:t>
              </a:r>
            </a:p>
          </p:txBody>
        </p:sp>
        <p:sp>
          <p:nvSpPr>
            <p:cNvPr id="9" name="TextBox 9"/>
            <p:cNvSpPr txBox="1"/>
            <p:nvPr/>
          </p:nvSpPr>
          <p:spPr>
            <a:xfrm>
              <a:off x="4348429" y="1946910"/>
              <a:ext cx="523342" cy="243840"/>
            </a:xfrm>
            <a:prstGeom prst="rect">
              <a:avLst/>
            </a:prstGeom>
            <a:noFill/>
            <a:ln>
              <a:noFill/>
            </a:ln>
          </p:spPr>
          <p:txBody>
            <a:bodyPr wrap="none" lIns="0" tIns="0" rIns="0" bIns="0" anchor="t" anchorCtr="0">
              <a:spAutoFit/>
            </a:bodyPr>
            <a:lstStyle/>
            <a:p>
              <a:pPr algn="ctr"/>
              <a:r>
                <a:rPr lang="en-US" sz="1200" b="1" dirty="0">
                  <a:solidFill>
                    <a:srgbClr val="98989E"/>
                  </a:solidFill>
                  <a:latin typeface="Segoe UI"/>
                  <a:ea typeface="Segoe UI"/>
                  <a:cs typeface="Segoe UI"/>
                </a:rPr>
                <a:t>256GB</a:t>
              </a:r>
            </a:p>
          </p:txBody>
        </p:sp>
        <p:sp>
          <p:nvSpPr>
            <p:cNvPr id="10" name="TextBox 10"/>
            <p:cNvSpPr txBox="1"/>
            <p:nvPr/>
          </p:nvSpPr>
          <p:spPr>
            <a:xfrm>
              <a:off x="6634429" y="1946910"/>
              <a:ext cx="523342" cy="243840"/>
            </a:xfrm>
            <a:prstGeom prst="rect">
              <a:avLst/>
            </a:prstGeom>
            <a:noFill/>
            <a:ln>
              <a:noFill/>
            </a:ln>
          </p:spPr>
          <p:txBody>
            <a:bodyPr wrap="none" lIns="0" tIns="0" rIns="0" bIns="0" anchor="t" anchorCtr="0">
              <a:spAutoFit/>
            </a:bodyPr>
            <a:lstStyle/>
            <a:p>
              <a:pPr algn="ctr"/>
              <a:r>
                <a:rPr lang="en-US" sz="1200" b="1" dirty="0">
                  <a:solidFill>
                    <a:srgbClr val="98989E"/>
                  </a:solidFill>
                  <a:latin typeface="Segoe UI"/>
                  <a:ea typeface="Segoe UI"/>
                  <a:cs typeface="Segoe UI"/>
                </a:rPr>
                <a:t>512GB</a:t>
              </a:r>
            </a:p>
          </p:txBody>
        </p:sp>
        <p:sp>
          <p:nvSpPr>
            <p:cNvPr id="11" name="TextBox 11"/>
            <p:cNvSpPr txBox="1"/>
            <p:nvPr/>
          </p:nvSpPr>
          <p:spPr>
            <a:xfrm>
              <a:off x="9019002" y="1946910"/>
              <a:ext cx="326197" cy="243840"/>
            </a:xfrm>
            <a:prstGeom prst="rect">
              <a:avLst/>
            </a:prstGeom>
            <a:noFill/>
            <a:ln>
              <a:noFill/>
            </a:ln>
          </p:spPr>
          <p:txBody>
            <a:bodyPr wrap="none" lIns="0" tIns="0" rIns="0" bIns="0" anchor="t" anchorCtr="0">
              <a:spAutoFit/>
            </a:bodyPr>
            <a:lstStyle/>
            <a:p>
              <a:pPr algn="ctr"/>
              <a:r>
                <a:rPr lang="en-US" sz="1200" b="1" dirty="0">
                  <a:solidFill>
                    <a:srgbClr val="98989E"/>
                  </a:solidFill>
                  <a:latin typeface="Segoe UI"/>
                  <a:ea typeface="Segoe UI"/>
                  <a:cs typeface="Segoe UI"/>
                </a:rPr>
                <a:t>1TB</a:t>
              </a:r>
            </a:p>
          </p:txBody>
        </p:sp>
        <p:sp>
          <p:nvSpPr>
            <p:cNvPr id="12" name="Rectangle 12"/>
            <p:cNvSpPr/>
            <p:nvPr/>
          </p:nvSpPr>
          <p:spPr>
            <a:xfrm>
              <a:off x="609600" y="2266950"/>
              <a:ext cx="10972800" cy="571500"/>
            </a:xfrm>
            <a:prstGeom prst="rect">
              <a:avLst/>
            </a:prstGeom>
            <a:solidFill>
              <a:srgbClr val="16161A"/>
            </a:solidFill>
            <a:ln>
              <a:noFill/>
            </a:ln>
          </p:spPr>
        </p:sp>
        <p:sp>
          <p:nvSpPr>
            <p:cNvPr id="13" name="TextBox 13"/>
            <p:cNvSpPr txBox="1"/>
            <p:nvPr/>
          </p:nvSpPr>
          <p:spPr>
            <a:xfrm>
              <a:off x="876300" y="2447925"/>
              <a:ext cx="1471879" cy="304800"/>
            </a:xfrm>
            <a:prstGeom prst="rect">
              <a:avLst/>
            </a:prstGeom>
            <a:noFill/>
            <a:ln>
              <a:noFill/>
            </a:ln>
          </p:spPr>
          <p:txBody>
            <a:bodyPr wrap="none" lIns="0" tIns="0" rIns="0" bIns="0" anchor="t" anchorCtr="0">
              <a:spAutoFit/>
            </a:bodyPr>
            <a:lstStyle/>
            <a:p>
              <a:pPr algn="l"/>
              <a:r>
                <a:rPr lang="en-US" sz="1500" b="1" dirty="0">
                  <a:solidFill>
                    <a:srgbClr val="EDEDF0"/>
                  </a:solidFill>
                  <a:latin typeface="Segoe UI"/>
                  <a:ea typeface="Segoe UI"/>
                  <a:cs typeface="Segoe UI"/>
                </a:rPr>
                <a:t>iPhone 16 Pro</a:t>
              </a:r>
            </a:p>
          </p:txBody>
        </p:sp>
        <p:sp>
          <p:nvSpPr>
            <p:cNvPr id="14" name="TextBox 14"/>
            <p:cNvSpPr txBox="1"/>
            <p:nvPr/>
          </p:nvSpPr>
          <p:spPr>
            <a:xfrm>
              <a:off x="2032071" y="2431732"/>
              <a:ext cx="584058" cy="335280"/>
            </a:xfrm>
            <a:prstGeom prst="rect">
              <a:avLst/>
            </a:prstGeom>
            <a:noFill/>
            <a:ln>
              <a:noFill/>
            </a:ln>
          </p:spPr>
          <p:txBody>
            <a:bodyPr wrap="none" lIns="0" tIns="0" rIns="0" bIns="0" anchor="t" anchorCtr="0">
              <a:spAutoFit/>
            </a:bodyPr>
            <a:lstStyle/>
            <a:p>
              <a:pPr algn="ctr"/>
              <a:r>
                <a:rPr lang="en-US" sz="1650" b="1" dirty="0">
                  <a:solidFill>
                    <a:srgbClr val="4DA6FF"/>
                  </a:solidFill>
                  <a:latin typeface="Segoe UI"/>
                  <a:ea typeface="Segoe UI"/>
                  <a:cs typeface="Segoe UI"/>
                </a:rPr>
                <a:t>$999</a:t>
              </a:r>
            </a:p>
          </p:txBody>
        </p:sp>
        <p:sp>
          <p:nvSpPr>
            <p:cNvPr id="15" name="TextBox 15"/>
            <p:cNvSpPr txBox="1"/>
            <p:nvPr/>
          </p:nvSpPr>
          <p:spPr>
            <a:xfrm>
              <a:off x="4182534" y="2431732"/>
              <a:ext cx="855132" cy="335280"/>
            </a:xfrm>
            <a:prstGeom prst="rect">
              <a:avLst/>
            </a:prstGeom>
            <a:noFill/>
            <a:ln>
              <a:noFill/>
            </a:ln>
          </p:spPr>
          <p:txBody>
            <a:bodyPr wrap="none" lIns="0" tIns="0" rIns="0" bIns="0" anchor="t" anchorCtr="0">
              <a:spAutoFit/>
            </a:bodyPr>
            <a:lstStyle/>
            <a:p>
              <a:pPr algn="ctr"/>
              <a:r>
                <a:rPr lang="en-US" sz="1650" b="1" dirty="0">
                  <a:solidFill>
                    <a:srgbClr val="EDEDF0"/>
                  </a:solidFill>
                  <a:latin typeface="Segoe UI"/>
                  <a:ea typeface="Segoe UI"/>
                  <a:cs typeface="Segoe UI"/>
                </a:rPr>
                <a:t>$1,099</a:t>
              </a:r>
            </a:p>
          </p:txBody>
        </p:sp>
        <p:sp>
          <p:nvSpPr>
            <p:cNvPr id="16" name="TextBox 16"/>
            <p:cNvSpPr txBox="1"/>
            <p:nvPr/>
          </p:nvSpPr>
          <p:spPr>
            <a:xfrm>
              <a:off x="6468534" y="2431732"/>
              <a:ext cx="855132" cy="335280"/>
            </a:xfrm>
            <a:prstGeom prst="rect">
              <a:avLst/>
            </a:prstGeom>
            <a:noFill/>
            <a:ln>
              <a:noFill/>
            </a:ln>
          </p:spPr>
          <p:txBody>
            <a:bodyPr wrap="none" lIns="0" tIns="0" rIns="0" bIns="0" anchor="t" anchorCtr="0">
              <a:spAutoFit/>
            </a:bodyPr>
            <a:lstStyle/>
            <a:p>
              <a:pPr algn="ctr"/>
              <a:r>
                <a:rPr lang="en-US" sz="1650" b="1" dirty="0">
                  <a:solidFill>
                    <a:srgbClr val="EDEDF0"/>
                  </a:solidFill>
                  <a:latin typeface="Segoe UI"/>
                  <a:ea typeface="Segoe UI"/>
                  <a:cs typeface="Segoe UI"/>
                </a:rPr>
                <a:t>$1,299</a:t>
              </a:r>
            </a:p>
          </p:txBody>
        </p:sp>
        <p:sp>
          <p:nvSpPr>
            <p:cNvPr id="17" name="TextBox 17"/>
            <p:cNvSpPr txBox="1"/>
            <p:nvPr/>
          </p:nvSpPr>
          <p:spPr>
            <a:xfrm>
              <a:off x="8754534" y="2431732"/>
              <a:ext cx="855132" cy="335280"/>
            </a:xfrm>
            <a:prstGeom prst="rect">
              <a:avLst/>
            </a:prstGeom>
            <a:noFill/>
            <a:ln>
              <a:noFill/>
            </a:ln>
          </p:spPr>
          <p:txBody>
            <a:bodyPr wrap="none" lIns="0" tIns="0" rIns="0" bIns="0" anchor="t" anchorCtr="0">
              <a:spAutoFit/>
            </a:bodyPr>
            <a:lstStyle/>
            <a:p>
              <a:pPr algn="ctr"/>
              <a:r>
                <a:rPr lang="en-US" sz="1650" b="1" dirty="0">
                  <a:solidFill>
                    <a:srgbClr val="EDEDF0"/>
                  </a:solidFill>
                  <a:latin typeface="Segoe UI"/>
                  <a:ea typeface="Segoe UI"/>
                  <a:cs typeface="Segoe UI"/>
                </a:rPr>
                <a:t>$1,499</a:t>
              </a:r>
            </a:p>
          </p:txBody>
        </p:sp>
        <p:sp>
          <p:nvSpPr>
            <p:cNvPr id="18" name="Rectangle 18"/>
            <p:cNvSpPr/>
            <p:nvPr/>
          </p:nvSpPr>
          <p:spPr>
            <a:xfrm>
              <a:off x="609600" y="2876550"/>
              <a:ext cx="10972800" cy="571500"/>
            </a:xfrm>
            <a:prstGeom prst="rect">
              <a:avLst/>
            </a:prstGeom>
            <a:solidFill>
              <a:srgbClr val="16161A"/>
            </a:solidFill>
            <a:ln>
              <a:noFill/>
            </a:ln>
          </p:spPr>
        </p:sp>
        <p:sp>
          <p:nvSpPr>
            <p:cNvPr id="19" name="TextBox 19"/>
            <p:cNvSpPr txBox="1"/>
            <p:nvPr/>
          </p:nvSpPr>
          <p:spPr>
            <a:xfrm>
              <a:off x="876300" y="3057525"/>
              <a:ext cx="1953539" cy="304800"/>
            </a:xfrm>
            <a:prstGeom prst="rect">
              <a:avLst/>
            </a:prstGeom>
            <a:noFill/>
            <a:ln>
              <a:noFill/>
            </a:ln>
          </p:spPr>
          <p:txBody>
            <a:bodyPr wrap="none" lIns="0" tIns="0" rIns="0" bIns="0" anchor="t" anchorCtr="0">
              <a:spAutoFit/>
            </a:bodyPr>
            <a:lstStyle/>
            <a:p>
              <a:pPr algn="l"/>
              <a:r>
                <a:rPr lang="en-US" sz="1500" b="1" dirty="0">
                  <a:solidFill>
                    <a:srgbClr val="EDEDF0"/>
                  </a:solidFill>
                  <a:latin typeface="Segoe UI"/>
                  <a:ea typeface="Segoe UI"/>
                  <a:cs typeface="Segoe UI"/>
                </a:rPr>
                <a:t>iPhone 16 Pro Max</a:t>
              </a:r>
            </a:p>
          </p:txBody>
        </p:sp>
        <p:sp>
          <p:nvSpPr>
            <p:cNvPr id="20" name="TextBox 20"/>
            <p:cNvSpPr txBox="1"/>
            <p:nvPr/>
          </p:nvSpPr>
          <p:spPr>
            <a:xfrm>
              <a:off x="1896534" y="3041332"/>
              <a:ext cx="855132" cy="335280"/>
            </a:xfrm>
            <a:prstGeom prst="rect">
              <a:avLst/>
            </a:prstGeom>
            <a:noFill/>
            <a:ln>
              <a:noFill/>
            </a:ln>
          </p:spPr>
          <p:txBody>
            <a:bodyPr wrap="none" lIns="0" tIns="0" rIns="0" bIns="0" anchor="t" anchorCtr="0">
              <a:spAutoFit/>
            </a:bodyPr>
            <a:lstStyle/>
            <a:p>
              <a:pPr algn="ctr"/>
              <a:r>
                <a:rPr lang="en-US" sz="1650" b="1" dirty="0">
                  <a:solidFill>
                    <a:srgbClr val="D4A853"/>
                  </a:solidFill>
                  <a:latin typeface="Segoe UI"/>
                  <a:ea typeface="Segoe UI"/>
                  <a:cs typeface="Segoe UI"/>
                </a:rPr>
                <a:t>$1,199</a:t>
              </a:r>
            </a:p>
          </p:txBody>
        </p:sp>
        <p:sp>
          <p:nvSpPr>
            <p:cNvPr id="21" name="TextBox 21"/>
            <p:cNvSpPr txBox="1"/>
            <p:nvPr/>
          </p:nvSpPr>
          <p:spPr>
            <a:xfrm>
              <a:off x="4182534" y="3041332"/>
              <a:ext cx="855132" cy="335280"/>
            </a:xfrm>
            <a:prstGeom prst="rect">
              <a:avLst/>
            </a:prstGeom>
            <a:noFill/>
            <a:ln>
              <a:noFill/>
            </a:ln>
          </p:spPr>
          <p:txBody>
            <a:bodyPr wrap="none" lIns="0" tIns="0" rIns="0" bIns="0" anchor="t" anchorCtr="0">
              <a:spAutoFit/>
            </a:bodyPr>
            <a:lstStyle/>
            <a:p>
              <a:pPr algn="ctr"/>
              <a:r>
                <a:rPr lang="en-US" sz="1650" b="1" dirty="0">
                  <a:solidFill>
                    <a:srgbClr val="EDEDF0"/>
                  </a:solidFill>
                  <a:latin typeface="Segoe UI"/>
                  <a:ea typeface="Segoe UI"/>
                  <a:cs typeface="Segoe UI"/>
                </a:rPr>
                <a:t>$1,299</a:t>
              </a:r>
            </a:p>
          </p:txBody>
        </p:sp>
        <p:sp>
          <p:nvSpPr>
            <p:cNvPr id="22" name="TextBox 22"/>
            <p:cNvSpPr txBox="1"/>
            <p:nvPr/>
          </p:nvSpPr>
          <p:spPr>
            <a:xfrm>
              <a:off x="6468534" y="3041332"/>
              <a:ext cx="855132" cy="335280"/>
            </a:xfrm>
            <a:prstGeom prst="rect">
              <a:avLst/>
            </a:prstGeom>
            <a:noFill/>
            <a:ln>
              <a:noFill/>
            </a:ln>
          </p:spPr>
          <p:txBody>
            <a:bodyPr wrap="none" lIns="0" tIns="0" rIns="0" bIns="0" anchor="t" anchorCtr="0">
              <a:spAutoFit/>
            </a:bodyPr>
            <a:lstStyle/>
            <a:p>
              <a:pPr algn="ctr"/>
              <a:r>
                <a:rPr lang="en-US" sz="1650" b="1" dirty="0">
                  <a:solidFill>
                    <a:srgbClr val="EDEDF0"/>
                  </a:solidFill>
                  <a:latin typeface="Segoe UI"/>
                  <a:ea typeface="Segoe UI"/>
                  <a:cs typeface="Segoe UI"/>
                </a:rPr>
                <a:t>$1,499</a:t>
              </a:r>
            </a:p>
          </p:txBody>
        </p:sp>
        <p:sp>
          <p:nvSpPr>
            <p:cNvPr id="23" name="TextBox 23"/>
            <p:cNvSpPr txBox="1"/>
            <p:nvPr/>
          </p:nvSpPr>
          <p:spPr>
            <a:xfrm>
              <a:off x="8754534" y="3041332"/>
              <a:ext cx="855132" cy="335280"/>
            </a:xfrm>
            <a:prstGeom prst="rect">
              <a:avLst/>
            </a:prstGeom>
            <a:noFill/>
            <a:ln>
              <a:noFill/>
            </a:ln>
          </p:spPr>
          <p:txBody>
            <a:bodyPr wrap="none" lIns="0" tIns="0" rIns="0" bIns="0" anchor="t" anchorCtr="0">
              <a:spAutoFit/>
            </a:bodyPr>
            <a:lstStyle/>
            <a:p>
              <a:pPr algn="ctr"/>
              <a:r>
                <a:rPr lang="en-US" sz="1650" b="1" dirty="0">
                  <a:solidFill>
                    <a:srgbClr val="EDEDF0"/>
                  </a:solidFill>
                  <a:latin typeface="Segoe UI"/>
                  <a:ea typeface="Segoe UI"/>
                  <a:cs typeface="Segoe UI"/>
                </a:rPr>
                <a:t>$1,699</a:t>
              </a:r>
            </a:p>
          </p:txBody>
        </p:sp>
        <p:sp>
          <p:nvSpPr>
            <p:cNvPr id="24" name="Line 24"/>
            <p:cNvSpPr/>
            <p:nvPr/>
          </p:nvSpPr>
          <p:spPr>
            <a:xfrm>
              <a:off x="609600" y="3486150"/>
              <a:ext cx="10972800" cy="9525"/>
            </a:xfrm>
            <a:custGeom>
              <a:avLst/>
              <a:gdLst/>
              <a:ahLst/>
              <a:cxnLst/>
              <a:rect l="l" t="t" r="r" b="b"/>
              <a:pathLst>
                <a:path w="10972800" h="9525">
                  <a:moveTo>
                    <a:pt x="0" y="0"/>
                  </a:moveTo>
                  <a:lnTo>
                    <a:pt x="10972800" y="0"/>
                  </a:lnTo>
                </a:path>
              </a:pathLst>
            </a:custGeom>
            <a:noFill/>
            <a:ln w="9525">
              <a:solidFill>
                <a:srgbClr val="2C2C32"/>
              </a:solidFill>
            </a:ln>
          </p:spPr>
        </p:sp>
      </p:grpSp>
      <p:grpSp>
        <p:nvGrpSpPr>
          <p:cNvPr id="30" name="Group 30"/>
          <p:cNvGrpSpPr/>
          <p:nvPr/>
        </p:nvGrpSpPr>
        <p:grpSpPr>
          <a:xfrm>
            <a:off x="609600" y="3619500"/>
            <a:ext cx="3429000" cy="1047750"/>
            <a:chOff x="609600" y="3619500"/>
            <a:chExt cx="3429000" cy="1047750"/>
          </a:xfrm>
        </p:grpSpPr>
        <p:sp>
          <p:nvSpPr>
            <p:cNvPr id="26" name="Rectangle 26"/>
            <p:cNvSpPr/>
            <p:nvPr/>
          </p:nvSpPr>
          <p:spPr>
            <a:xfrm>
              <a:off x="609600" y="3619500"/>
              <a:ext cx="3429000" cy="1047750"/>
            </a:xfrm>
            <a:prstGeom prst="roundRect">
              <a:avLst>
                <a:gd name="adj" fmla="val 9091"/>
              </a:avLst>
            </a:prstGeom>
            <a:solidFill>
              <a:srgbClr val="16161A"/>
            </a:solidFill>
            <a:ln w="9525">
              <a:solidFill>
                <a:srgbClr val="2C2C32"/>
              </a:solidFill>
            </a:ln>
          </p:spPr>
        </p:sp>
        <p:sp>
          <p:nvSpPr>
            <p:cNvPr id="27" name="TextBox 27"/>
            <p:cNvSpPr txBox="1"/>
            <p:nvPr/>
          </p:nvSpPr>
          <p:spPr>
            <a:xfrm>
              <a:off x="879158" y="3843814"/>
              <a:ext cx="930097"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Pre-order</a:t>
              </a:r>
            </a:p>
          </p:txBody>
        </p:sp>
        <p:sp>
          <p:nvSpPr>
            <p:cNvPr id="28" name="TextBox 28"/>
            <p:cNvSpPr txBox="1"/>
            <p:nvPr/>
          </p:nvSpPr>
          <p:spPr>
            <a:xfrm>
              <a:off x="868680" y="4078605"/>
              <a:ext cx="2107677" cy="426720"/>
            </a:xfrm>
            <a:prstGeom prst="rect">
              <a:avLst/>
            </a:prstGeom>
            <a:noFill/>
            <a:ln>
              <a:noFill/>
            </a:ln>
          </p:spPr>
          <p:txBody>
            <a:bodyPr wrap="none" lIns="0" tIns="0" rIns="0" bIns="0" anchor="t" anchorCtr="0">
              <a:spAutoFit/>
            </a:bodyPr>
            <a:lstStyle/>
            <a:p>
              <a:pPr algn="l"/>
              <a:r>
                <a:rPr lang="en-US" sz="2100" b="1" dirty="0">
                  <a:solidFill>
                    <a:srgbClr val="EDEDF0"/>
                  </a:solidFill>
                  <a:latin typeface="Segoe UI"/>
                  <a:ea typeface="Segoe UI"/>
                  <a:cs typeface="Segoe UI"/>
                </a:rPr>
                <a:t>September 13</a:t>
              </a:r>
            </a:p>
          </p:txBody>
        </p:sp>
        <p:sp>
          <p:nvSpPr>
            <p:cNvPr id="29" name="TextBox 29"/>
            <p:cNvSpPr txBox="1"/>
            <p:nvPr/>
          </p:nvSpPr>
          <p:spPr>
            <a:xfrm>
              <a:off x="881062" y="4412456"/>
              <a:ext cx="1748790" cy="228600"/>
            </a:xfrm>
            <a:prstGeom prst="rect">
              <a:avLst/>
            </a:prstGeom>
            <a:noFill/>
            <a:ln>
              <a:noFill/>
            </a:ln>
          </p:spPr>
          <p:txBody>
            <a:bodyPr wrap="none" lIns="0" tIns="0" rIns="0" bIns="0" anchor="t" anchorCtr="0">
              <a:spAutoFit/>
            </a:bodyPr>
            <a:lstStyle/>
            <a:p>
              <a:pPr algn="l"/>
              <a:r>
                <a:rPr lang="en-US" sz="1120" dirty="0">
                  <a:solidFill>
                    <a:srgbClr val="6B6B72"/>
                  </a:solidFill>
                  <a:latin typeface="Segoe UI"/>
                  <a:ea typeface="Segoe UI"/>
                  <a:cs typeface="Segoe UI"/>
                </a:rPr>
                <a:t>Friday, 5:00 a.m. PDT</a:t>
              </a:r>
            </a:p>
          </p:txBody>
        </p:sp>
      </p:grpSp>
      <p:grpSp>
        <p:nvGrpSpPr>
          <p:cNvPr id="35" name="Group 35"/>
          <p:cNvGrpSpPr/>
          <p:nvPr/>
        </p:nvGrpSpPr>
        <p:grpSpPr>
          <a:xfrm>
            <a:off x="4267200" y="3619500"/>
            <a:ext cx="3429000" cy="1047750"/>
            <a:chOff x="4267200" y="3619500"/>
            <a:chExt cx="3429000" cy="1047750"/>
          </a:xfrm>
        </p:grpSpPr>
        <p:sp>
          <p:nvSpPr>
            <p:cNvPr id="31" name="Rectangle 31"/>
            <p:cNvSpPr/>
            <p:nvPr/>
          </p:nvSpPr>
          <p:spPr>
            <a:xfrm>
              <a:off x="4267200" y="3619500"/>
              <a:ext cx="3429000" cy="1047750"/>
            </a:xfrm>
            <a:prstGeom prst="roundRect">
              <a:avLst>
                <a:gd name="adj" fmla="val 9091"/>
              </a:avLst>
            </a:prstGeom>
            <a:solidFill>
              <a:srgbClr val="16161A"/>
            </a:solidFill>
            <a:ln w="9525">
              <a:solidFill>
                <a:srgbClr val="2C2C32"/>
              </a:solidFill>
            </a:ln>
          </p:spPr>
        </p:sp>
        <p:sp>
          <p:nvSpPr>
            <p:cNvPr id="32" name="TextBox 32"/>
            <p:cNvSpPr txBox="1"/>
            <p:nvPr/>
          </p:nvSpPr>
          <p:spPr>
            <a:xfrm>
              <a:off x="4536758" y="3843814"/>
              <a:ext cx="794080"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Available</a:t>
              </a:r>
            </a:p>
          </p:txBody>
        </p:sp>
        <p:sp>
          <p:nvSpPr>
            <p:cNvPr id="33" name="TextBox 33"/>
            <p:cNvSpPr txBox="1"/>
            <p:nvPr/>
          </p:nvSpPr>
          <p:spPr>
            <a:xfrm>
              <a:off x="4526280" y="4078605"/>
              <a:ext cx="2107677" cy="426720"/>
            </a:xfrm>
            <a:prstGeom prst="rect">
              <a:avLst/>
            </a:prstGeom>
            <a:noFill/>
            <a:ln>
              <a:noFill/>
            </a:ln>
          </p:spPr>
          <p:txBody>
            <a:bodyPr wrap="none" lIns="0" tIns="0" rIns="0" bIns="0" anchor="t" anchorCtr="0">
              <a:spAutoFit/>
            </a:bodyPr>
            <a:lstStyle/>
            <a:p>
              <a:pPr algn="l"/>
              <a:r>
                <a:rPr lang="en-US" sz="2100" b="1" dirty="0">
                  <a:solidFill>
                    <a:srgbClr val="EDEDF0"/>
                  </a:solidFill>
                  <a:latin typeface="Segoe UI"/>
                  <a:ea typeface="Segoe UI"/>
                  <a:cs typeface="Segoe UI"/>
                </a:rPr>
                <a:t>September 20</a:t>
              </a:r>
            </a:p>
          </p:txBody>
        </p:sp>
        <p:sp>
          <p:nvSpPr>
            <p:cNvPr id="34" name="TextBox 34"/>
            <p:cNvSpPr txBox="1"/>
            <p:nvPr/>
          </p:nvSpPr>
          <p:spPr>
            <a:xfrm>
              <a:off x="4538662" y="4412456"/>
              <a:ext cx="2748915" cy="228600"/>
            </a:xfrm>
            <a:prstGeom prst="rect">
              <a:avLst/>
            </a:prstGeom>
            <a:noFill/>
            <a:ln>
              <a:noFill/>
            </a:ln>
          </p:spPr>
          <p:txBody>
            <a:bodyPr wrap="none" lIns="0" tIns="0" rIns="0" bIns="0" anchor="t" anchorCtr="0">
              <a:spAutoFit/>
            </a:bodyPr>
            <a:lstStyle/>
            <a:p>
              <a:pPr algn="l"/>
              <a:r>
                <a:rPr lang="en-US" sz="1120" dirty="0">
                  <a:solidFill>
                    <a:srgbClr val="6B6B72"/>
                  </a:solidFill>
                  <a:latin typeface="Segoe UI"/>
                  <a:ea typeface="Segoe UI"/>
                  <a:cs typeface="Segoe UI"/>
                </a:rPr>
                <a:t>In-store &amp; delivery · ~60 countries</a:t>
              </a:r>
            </a:p>
          </p:txBody>
        </p:sp>
      </p:grpSp>
      <p:grpSp>
        <p:nvGrpSpPr>
          <p:cNvPr id="40" name="Group 40"/>
          <p:cNvGrpSpPr/>
          <p:nvPr/>
        </p:nvGrpSpPr>
        <p:grpSpPr>
          <a:xfrm>
            <a:off x="7924800" y="3619500"/>
            <a:ext cx="3429000" cy="1047750"/>
            <a:chOff x="7924800" y="3619500"/>
            <a:chExt cx="3429000" cy="1047750"/>
          </a:xfrm>
        </p:grpSpPr>
        <p:sp>
          <p:nvSpPr>
            <p:cNvPr id="36" name="Rectangle 36"/>
            <p:cNvSpPr/>
            <p:nvPr/>
          </p:nvSpPr>
          <p:spPr>
            <a:xfrm>
              <a:off x="7924800" y="3619500"/>
              <a:ext cx="3429000" cy="1047750"/>
            </a:xfrm>
            <a:prstGeom prst="roundRect">
              <a:avLst>
                <a:gd name="adj" fmla="val 9091"/>
              </a:avLst>
            </a:prstGeom>
            <a:solidFill>
              <a:srgbClr val="16161A"/>
            </a:solidFill>
            <a:ln w="9525">
              <a:solidFill>
                <a:srgbClr val="D4A853">
                  <a:alpha val="30000"/>
                </a:srgbClr>
              </a:solidFill>
            </a:ln>
          </p:spPr>
        </p:sp>
        <p:sp>
          <p:nvSpPr>
            <p:cNvPr id="37" name="TextBox 37"/>
            <p:cNvSpPr txBox="1"/>
            <p:nvPr/>
          </p:nvSpPr>
          <p:spPr>
            <a:xfrm>
              <a:off x="8194358" y="3843814"/>
              <a:ext cx="1247470" cy="259080"/>
            </a:xfrm>
            <a:prstGeom prst="rect">
              <a:avLst/>
            </a:prstGeom>
            <a:noFill/>
            <a:ln>
              <a:noFill/>
            </a:ln>
          </p:spPr>
          <p:txBody>
            <a:bodyPr wrap="none" lIns="0" tIns="0" rIns="0" bIns="0" anchor="t" anchorCtr="0">
              <a:spAutoFit/>
            </a:bodyPr>
            <a:lstStyle/>
            <a:p>
              <a:pPr algn="l"/>
              <a:r>
                <a:rPr lang="en-US" sz="1280" dirty="0">
                  <a:solidFill>
                    <a:srgbClr val="98989E"/>
                  </a:solidFill>
                  <a:latin typeface="Segoe UI"/>
                  <a:ea typeface="Segoe UI"/>
                  <a:cs typeface="Segoe UI"/>
                </a:rPr>
                <a:t>Apple Trade In</a:t>
              </a:r>
            </a:p>
          </p:txBody>
        </p:sp>
        <p:sp>
          <p:nvSpPr>
            <p:cNvPr id="38" name="TextBox 38"/>
            <p:cNvSpPr txBox="1"/>
            <p:nvPr/>
          </p:nvSpPr>
          <p:spPr>
            <a:xfrm>
              <a:off x="8183880" y="4078605"/>
              <a:ext cx="1621536" cy="426720"/>
            </a:xfrm>
            <a:prstGeom prst="rect">
              <a:avLst/>
            </a:prstGeom>
            <a:noFill/>
            <a:ln>
              <a:noFill/>
            </a:ln>
          </p:spPr>
          <p:txBody>
            <a:bodyPr wrap="none" lIns="0" tIns="0" rIns="0" bIns="0" anchor="t" anchorCtr="0">
              <a:spAutoFit/>
            </a:bodyPr>
            <a:lstStyle/>
            <a:p>
              <a:pPr algn="l"/>
              <a:r>
                <a:rPr lang="en-US" sz="2100" b="1" dirty="0">
                  <a:solidFill>
                    <a:srgbClr val="D4A853"/>
                  </a:solidFill>
                  <a:latin typeface="Segoe UI"/>
                  <a:ea typeface="Segoe UI"/>
                  <a:cs typeface="Segoe UI"/>
                </a:rPr>
                <a:t>Up to $650</a:t>
              </a:r>
            </a:p>
          </p:txBody>
        </p:sp>
        <p:sp>
          <p:nvSpPr>
            <p:cNvPr id="39" name="TextBox 39"/>
            <p:cNvSpPr txBox="1"/>
            <p:nvPr/>
          </p:nvSpPr>
          <p:spPr>
            <a:xfrm>
              <a:off x="8196262" y="4412456"/>
              <a:ext cx="2636901" cy="228600"/>
            </a:xfrm>
            <a:prstGeom prst="rect">
              <a:avLst/>
            </a:prstGeom>
            <a:noFill/>
            <a:ln>
              <a:noFill/>
            </a:ln>
          </p:spPr>
          <p:txBody>
            <a:bodyPr wrap="none" lIns="0" tIns="0" rIns="0" bIns="0" anchor="t" anchorCtr="0">
              <a:spAutoFit/>
            </a:bodyPr>
            <a:lstStyle/>
            <a:p>
              <a:pPr algn="l"/>
              <a:r>
                <a:rPr lang="en-US" sz="1120" dirty="0">
                  <a:solidFill>
                    <a:srgbClr val="6B6B72"/>
                  </a:solidFill>
                  <a:latin typeface="Segoe UI"/>
                  <a:ea typeface="Segoe UI"/>
                  <a:cs typeface="Segoe UI"/>
                </a:rPr>
                <a:t>When trading in iPhone 14 Pro Max</a:t>
              </a:r>
            </a:p>
          </p:txBody>
        </p:sp>
      </p:grpSp>
      <p:sp>
        <p:nvSpPr>
          <p:cNvPr id="41" name="Rectangle 41"/>
          <p:cNvSpPr/>
          <p:nvPr/>
        </p:nvSpPr>
        <p:spPr>
          <a:xfrm>
            <a:off x="609600" y="5048250"/>
            <a:ext cx="10972800" cy="685800"/>
          </a:xfrm>
          <a:prstGeom prst="roundRect">
            <a:avLst>
              <a:gd name="adj" fmla="val 16667"/>
            </a:avLst>
          </a:prstGeom>
          <a:gradFill>
            <a:gsLst>
              <a:gs pos="0">
                <a:srgbClr val="D4A853">
                  <a:alpha val="12000"/>
                </a:srgbClr>
              </a:gs>
              <a:gs pos="100000">
                <a:srgbClr val="F5A623">
                  <a:alpha val="12000"/>
                </a:srgbClr>
              </a:gs>
            </a:gsLst>
            <a:lin ang="2700000" scaled="1"/>
          </a:gradFill>
          <a:ln w="14288">
            <a:solidFill>
              <a:srgbClr val="D4A853">
                <a:alpha val="40000"/>
              </a:srgbClr>
            </a:solidFill>
          </a:ln>
        </p:spPr>
      </p:sp>
      <p:sp>
        <p:nvSpPr>
          <p:cNvPr id="42" name="TextBox 42"/>
          <p:cNvSpPr txBox="1"/>
          <p:nvPr/>
        </p:nvSpPr>
        <p:spPr>
          <a:xfrm>
            <a:off x="3995501" y="5217795"/>
            <a:ext cx="4200997" cy="487680"/>
          </a:xfrm>
          <a:prstGeom prst="rect">
            <a:avLst/>
          </a:prstGeom>
          <a:noFill/>
          <a:ln>
            <a:noFill/>
          </a:ln>
        </p:spPr>
        <p:txBody>
          <a:bodyPr wrap="none" lIns="0" tIns="0" rIns="0" bIns="0" anchor="t" anchorCtr="0">
            <a:spAutoFit/>
          </a:bodyPr>
          <a:lstStyle/>
          <a:p>
            <a:pPr algn="ctr"/>
            <a:r>
              <a:rPr lang="en-US" sz="2400" b="1" dirty="0">
                <a:solidFill>
                  <a:srgbClr val="D4A853"/>
                </a:solidFill>
                <a:latin typeface="Segoe UI"/>
                <a:ea typeface="Segoe UI"/>
                <a:cs typeface="Segoe UI"/>
              </a:rPr>
              <a:t>Pre-order at apple.com</a:t>
            </a:r>
          </a:p>
        </p:txBody>
      </p:sp>
      <p:grpSp>
        <p:nvGrpSpPr>
          <p:cNvPr id="45" name="Group 45"/>
          <p:cNvGrpSpPr/>
          <p:nvPr/>
        </p:nvGrpSpPr>
        <p:grpSpPr>
          <a:xfrm>
            <a:off x="594360" y="5823585"/>
            <a:ext cx="6806794" cy="472440"/>
            <a:chOff x="594360" y="5823585"/>
            <a:chExt cx="6806794" cy="472440"/>
          </a:xfrm>
        </p:grpSpPr>
        <p:sp>
          <p:nvSpPr>
            <p:cNvPr id="43" name="TextBox 43"/>
            <p:cNvSpPr txBox="1"/>
            <p:nvPr/>
          </p:nvSpPr>
          <p:spPr>
            <a:xfrm>
              <a:off x="594360" y="5823585"/>
              <a:ext cx="4639056" cy="243840"/>
            </a:xfrm>
            <a:prstGeom prst="rect">
              <a:avLst/>
            </a:prstGeom>
            <a:noFill/>
            <a:ln>
              <a:noFill/>
            </a:ln>
          </p:spPr>
          <p:txBody>
            <a:bodyPr wrap="none" lIns="0" tIns="0" rIns="0" bIns="0" anchor="t" anchorCtr="0">
              <a:spAutoFit/>
            </a:bodyPr>
            <a:lstStyle/>
            <a:p>
              <a:pPr algn="l"/>
              <a:r>
                <a:rPr lang="en-US" sz="1200" dirty="0">
                  <a:solidFill>
                    <a:srgbClr val="6B6B72"/>
                  </a:solidFill>
                  <a:latin typeface="Segoe UI"/>
                  <a:ea typeface="Segoe UI"/>
                  <a:cs typeface="Segoe UI"/>
                </a:rPr>
                <a:t>Apple Card Monthly Installments · 0% APR for 24 months</a:t>
              </a:r>
            </a:p>
          </p:txBody>
        </p:sp>
        <p:sp>
          <p:nvSpPr>
            <p:cNvPr id="44" name="TextBox 44"/>
            <p:cNvSpPr txBox="1"/>
            <p:nvPr/>
          </p:nvSpPr>
          <p:spPr>
            <a:xfrm>
              <a:off x="594360" y="6052185"/>
              <a:ext cx="6806794" cy="243840"/>
            </a:xfrm>
            <a:prstGeom prst="rect">
              <a:avLst/>
            </a:prstGeom>
            <a:noFill/>
            <a:ln>
              <a:noFill/>
            </a:ln>
          </p:spPr>
          <p:txBody>
            <a:bodyPr wrap="none" lIns="0" tIns="0" rIns="0" bIns="0" anchor="t" anchorCtr="0">
              <a:spAutoFit/>
            </a:bodyPr>
            <a:lstStyle/>
            <a:p>
              <a:pPr algn="l"/>
              <a:r>
                <a:rPr lang="en-US" sz="1200" dirty="0">
                  <a:solidFill>
                    <a:srgbClr val="6B6B72"/>
                  </a:solidFill>
                  <a:latin typeface="Segoe UI"/>
                  <a:ea typeface="Segoe UI"/>
                  <a:cs typeface="Segoe UI"/>
                </a:rPr>
                <a:t>Carrier offers: up to $1,000 off with eligible trade-in (AT&amp;T, Verizon, T-Mobile)</a:t>
              </a:r>
            </a:p>
          </p:txBody>
        </p:sp>
      </p:grpSp>
      <p:sp>
        <p:nvSpPr>
          <p:cNvPr id="46" name="TextBox 46"/>
          <p:cNvSpPr txBox="1"/>
          <p:nvPr/>
        </p:nvSpPr>
        <p:spPr>
          <a:xfrm>
            <a:off x="11183112" y="6442710"/>
            <a:ext cx="414528" cy="243840"/>
          </a:xfrm>
          <a:prstGeom prst="rect">
            <a:avLst/>
          </a:prstGeom>
          <a:noFill/>
          <a:ln>
            <a:noFill/>
          </a:ln>
        </p:spPr>
        <p:txBody>
          <a:bodyPr wrap="none" lIns="0" tIns="0" rIns="0" bIns="0" anchor="t" anchorCtr="0">
            <a:spAutoFit/>
          </a:bodyPr>
          <a:lstStyle/>
          <a:p>
            <a:pPr algn="r"/>
            <a:r>
              <a:rPr lang="en-US" sz="1200" dirty="0">
                <a:solidFill>
                  <a:srgbClr val="6B6B72"/>
                </a:solidFill>
                <a:latin typeface="Segoe UI"/>
                <a:ea typeface="Segoe UI"/>
                <a:cs typeface="Segoe UI"/>
              </a:rPr>
              <a:t>9 / 9</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2026-07-04T03:37:50Z</dcterms:created>
  <dcterms:modified xsi:type="dcterms:W3CDTF">2026-07-04T03:37:50Z</dcterms:modified>
  <cp:category/>
  <cp:contentStatus/>
</cp:coreProperties>
</file>
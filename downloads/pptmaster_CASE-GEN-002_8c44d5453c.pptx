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Default Extension="jpg" ContentType="image/jpe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notesSlides/_rels/notesSlide1.xml.rels><?xml version="1.0" encoding="UTF-8" standalone="yes"?>
<Relationships xmlns="http://schemas.openxmlformats.org/package/2006/relationships">
  <Relationship Id="rId1"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iPhone 16 Pro and iPhone 16 Pro Max are positioned around Apple Intelligence, A18 Pro, a more capable camera system, and premium titanium design. This deck stays inside the Apple source PDF and frames the story for consumer tech media, channel partners, and sales teams.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launch thesis is that Apple Intelligence becomes more useful when it is paired with dedicated silicon and privacy architecture. The source highlights Apple-built generative models, Private Cloud Compute, and A18 Pro metrics including a faster Neural Engine, more memory bandwidth, faster GPU performance, and a more efficient CPU.</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hardware story gives the Pro line a larger canvas and a stronger premium signal. Apple calls out the 6.3-inch and 6.9-inch displays, thinnest borders, titanium finishes, a tougher Ceramic Shield, and a battery headline that is strongest on iPhone 16 Pro Max.</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Camera Control is the clearest interaction change in the launch narrative. It gives users a dedicated way to open the camera, capture media, surface controls such as zoom or exposure, and later connect to visual intelligence features under user control.</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camera section connects specifications to creator use cases. The source supports 48MP Fusion, 48MP Ultra Wide, 5x Telephoto on both Pro models, 4K120 fps Dolby Vision, studio-quality mics, Spatial Audio, and Photographic Styles.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A18 Pro is not only a speed claim; it is the platform behind the Apple Intelligence positioning. For more complex requests, the source describes Private Cloud Compute as server-based processing on Apple silicon, while simpler or more personal tasks can stay on device.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For sales and channel enablement, the comparison should stay clean and source-backed. The table compares the two Pro models on display size, starting price, capacity options, telephoto capability, battery headline, finishes, and launch timing without introducing unsupported competitor claims.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environmental story supports the premium design message rather than replacing it. Apple cites recycled content by weight, recycled aluminum in the internal frame, recycled cobalt and lithium in the battery, fiber-based packaging, and renewable electricity across Apple facilities.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closing message is practical for launch readiness. Lead with Apple Intelligence, Camera Control, pro camera workflows, larger displays, and source-backed pricing and availability: pre-orders begin September thirteenth, with availability beginning September twentieth in first-wave markets.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b3e923513a1ff58a.jp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bbe223e7a07c253a.jpg"/>
  <Relationship Id="rId3"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3f0127b4f9b9fc2e.jpg"/>
  <Relationship Id="rId3"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a37787fad7c3e413.jpg"/>
  <Relationship Id="rId3" Type="http://schemas.openxmlformats.org/officeDocument/2006/relationships/image" Target="../media/image_f83ae7839ac3e684.jpg"/>
  <Relationship Id="rId4" Type="http://schemas.openxmlformats.org/officeDocument/2006/relationships/image" Target="../media/image_8315fc60454acb82.jpg"/>
  <Relationship Id="rId5"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b3e923513a1ff58a.jpg"/>
  <Relationship Id="rId3" Type="http://schemas.openxmlformats.org/officeDocument/2006/relationships/notesSlide" Target="../notesSlides/notesSlide9.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50506"/>
          </a:solidFill>
          <a:ln>
            <a:noFill/>
          </a:ln>
        </p:spPr>
      </p:sp>
      <p:pic>
        <p:nvPicPr>
          <p:cNvPr id="3" name="Image 3"/>
          <p:cNvPicPr>
            <a:picLocks noChangeAspect="1"/>
          </p:cNvPicPr>
          <p:nvPr/>
        </p:nvPicPr>
        <p:blipFill>
          <a:blip r:embed="rId2"/>
          <a:stretch>
            <a:fillRect/>
          </a:stretch>
        </p:blipFill>
        <p:spPr>
          <a:xfrm>
            <a:off x="6762750" y="704850"/>
            <a:ext cx="3714750" cy="5200650"/>
          </a:xfrm>
          <a:prstGeom prst="rect">
            <a:avLst/>
          </a:prstGeom>
        </p:spPr>
      </p:pic>
      <p:sp>
        <p:nvSpPr>
          <p:cNvPr id="4" name="Rectangle 4"/>
          <p:cNvSpPr/>
          <p:nvPr/>
        </p:nvSpPr>
        <p:spPr>
          <a:xfrm>
            <a:off x="0" y="0"/>
            <a:ext cx="6096000" cy="6858000"/>
          </a:xfrm>
          <a:prstGeom prst="rect">
            <a:avLst/>
          </a:prstGeom>
          <a:solidFill>
            <a:srgbClr val="050506"/>
          </a:solidFill>
          <a:ln>
            <a:noFill/>
          </a:ln>
        </p:spPr>
      </p:sp>
      <p:sp>
        <p:nvSpPr>
          <p:cNvPr id="5" name="TextBox 5"/>
          <p:cNvSpPr txBox="1"/>
          <p:nvPr/>
        </p:nvSpPr>
        <p:spPr>
          <a:xfrm>
            <a:off x="595312" y="659606"/>
            <a:ext cx="3139589" cy="228600"/>
          </a:xfrm>
          <a:prstGeom prst="rect">
            <a:avLst/>
          </a:prstGeom>
          <a:noFill/>
          <a:ln>
            <a:noFill/>
          </a:ln>
        </p:spPr>
        <p:txBody>
          <a:bodyPr wrap="none" lIns="0" tIns="0" rIns="0" bIns="0" anchor="t" anchorCtr="0">
            <a:spAutoFit/>
          </a:bodyPr>
          <a:lstStyle/>
          <a:p>
            <a:pPr algn="l"/>
            <a:r>
              <a:rPr lang="zh-CN" sz="1125" b="1" dirty="0">
                <a:solidFill>
                  <a:srgbClr val="A1A1A6"/>
                </a:solidFill>
                <a:latin typeface="Arial"/>
                <a:ea typeface="Microsoft YaHei"/>
                <a:cs typeface="Arial"/>
              </a:rPr>
              <a:t>APPLE PRODUCT LAUNCH | SOURCE PDF ONLY</a:t>
            </a:r>
          </a:p>
        </p:txBody>
      </p:sp>
      <p:sp>
        <p:nvSpPr>
          <p:cNvPr id="6" name="TextBox 6"/>
          <p:cNvSpPr txBox="1"/>
          <p:nvPr/>
        </p:nvSpPr>
        <p:spPr>
          <a:xfrm>
            <a:off x="554355" y="1225868"/>
            <a:ext cx="4008577" cy="883920"/>
          </a:xfrm>
          <a:prstGeom prst="rect">
            <a:avLst/>
          </a:prstGeom>
          <a:noFill/>
          <a:ln>
            <a:noFill/>
          </a:ln>
        </p:spPr>
        <p:txBody>
          <a:bodyPr wrap="none" lIns="0" tIns="0" rIns="0" bIns="0" anchor="t" anchorCtr="0">
            <a:spAutoFit/>
          </a:bodyPr>
          <a:lstStyle/>
          <a:p>
            <a:pPr algn="l"/>
            <a:r>
              <a:rPr lang="zh-CN" sz="4350" b="1" dirty="0">
                <a:solidFill>
                  <a:srgbClr val="F5F5F7"/>
                </a:solidFill>
                <a:latin typeface="Arial"/>
                <a:ea typeface="Microsoft YaHei"/>
                <a:cs typeface="Arial"/>
              </a:rPr>
              <a:t>iPhone 16 Pro</a:t>
            </a:r>
          </a:p>
        </p:txBody>
      </p:sp>
      <p:sp>
        <p:nvSpPr>
          <p:cNvPr id="7" name="TextBox 7"/>
          <p:cNvSpPr txBox="1"/>
          <p:nvPr/>
        </p:nvSpPr>
        <p:spPr>
          <a:xfrm>
            <a:off x="554355" y="1816418"/>
            <a:ext cx="3612678" cy="883920"/>
          </a:xfrm>
          <a:prstGeom prst="rect">
            <a:avLst/>
          </a:prstGeom>
          <a:noFill/>
          <a:ln>
            <a:noFill/>
          </a:ln>
        </p:spPr>
        <p:txBody>
          <a:bodyPr wrap="none" lIns="0" tIns="0" rIns="0" bIns="0" anchor="t" anchorCtr="0">
            <a:spAutoFit/>
          </a:bodyPr>
          <a:lstStyle/>
          <a:p>
            <a:pPr algn="l"/>
            <a:r>
              <a:rPr lang="zh-CN" sz="4350" b="1" dirty="0">
                <a:solidFill>
                  <a:srgbClr val="F5F5F7"/>
                </a:solidFill>
                <a:latin typeface="Arial"/>
                <a:ea typeface="Microsoft YaHei"/>
                <a:cs typeface="Arial"/>
              </a:rPr>
              <a:t>and Pro Max</a:t>
            </a:r>
          </a:p>
        </p:txBody>
      </p:sp>
      <p:sp>
        <p:nvSpPr>
          <p:cNvPr id="8" name="TextBox 8"/>
          <p:cNvSpPr txBox="1"/>
          <p:nvPr/>
        </p:nvSpPr>
        <p:spPr>
          <a:xfrm>
            <a:off x="626745" y="2679382"/>
            <a:ext cx="5553599" cy="335280"/>
          </a:xfrm>
          <a:prstGeom prst="rect">
            <a:avLst/>
          </a:prstGeom>
          <a:noFill/>
          <a:ln>
            <a:noFill/>
          </a:ln>
        </p:spPr>
        <p:txBody>
          <a:bodyPr wrap="none" lIns="0" tIns="0" rIns="0" bIns="0" anchor="t" anchorCtr="0">
            <a:spAutoFit/>
          </a:bodyPr>
          <a:lstStyle/>
          <a:p>
            <a:pPr algn="l"/>
            <a:r>
              <a:rPr lang="zh-CN" sz="1650" dirty="0">
                <a:solidFill>
                  <a:srgbClr val="A1A1A6"/>
                </a:solidFill>
                <a:latin typeface="Arial"/>
                <a:ea typeface="Microsoft YaHei"/>
                <a:cs typeface="Arial"/>
              </a:rPr>
              <a:t>Built for Apple Intelligence and powered by A18 Pro.</a:t>
            </a:r>
          </a:p>
        </p:txBody>
      </p:sp>
      <p:sp>
        <p:nvSpPr>
          <p:cNvPr id="9" name="Rectangle 9"/>
          <p:cNvSpPr/>
          <p:nvPr/>
        </p:nvSpPr>
        <p:spPr>
          <a:xfrm>
            <a:off x="628650" y="3390900"/>
            <a:ext cx="4610100" cy="1143000"/>
          </a:xfrm>
          <a:prstGeom prst="roundRect">
            <a:avLst>
              <a:gd name="adj" fmla="val 13333"/>
            </a:avLst>
          </a:prstGeom>
          <a:solidFill>
            <a:srgbClr val="121214"/>
          </a:solidFill>
          <a:ln w="19050">
            <a:solidFill>
              <a:srgbClr val="3A3A3C"/>
            </a:solidFill>
          </a:ln>
        </p:spPr>
      </p:sp>
      <p:sp>
        <p:nvSpPr>
          <p:cNvPr id="10" name="TextBox 10"/>
          <p:cNvSpPr txBox="1"/>
          <p:nvPr/>
        </p:nvSpPr>
        <p:spPr>
          <a:xfrm>
            <a:off x="910590" y="3577590"/>
            <a:ext cx="2288800" cy="365760"/>
          </a:xfrm>
          <a:prstGeom prst="rect">
            <a:avLst/>
          </a:prstGeom>
          <a:noFill/>
          <a:ln>
            <a:noFill/>
          </a:ln>
        </p:spPr>
        <p:txBody>
          <a:bodyPr wrap="none" lIns="0" tIns="0" rIns="0" bIns="0" anchor="t" anchorCtr="0">
            <a:spAutoFit/>
          </a:bodyPr>
          <a:lstStyle/>
          <a:p>
            <a:pPr algn="l"/>
            <a:r>
              <a:rPr lang="zh-CN" sz="1800" b="1" dirty="0">
                <a:solidFill>
                  <a:srgbClr val="F5F5F7"/>
                </a:solidFill>
                <a:latin typeface="Arial"/>
                <a:ea typeface="Microsoft YaHei"/>
                <a:cs typeface="Arial"/>
              </a:rPr>
              <a:t>Launch positioning</a:t>
            </a:r>
          </a:p>
        </p:txBody>
      </p:sp>
      <p:sp>
        <p:nvSpPr>
          <p:cNvPr id="11" name="TextBox 11"/>
          <p:cNvSpPr txBox="1"/>
          <p:nvPr/>
        </p:nvSpPr>
        <p:spPr>
          <a:xfrm>
            <a:off x="915352" y="3980021"/>
            <a:ext cx="4473250" cy="289560"/>
          </a:xfrm>
          <a:prstGeom prst="rect">
            <a:avLst/>
          </a:prstGeom>
          <a:noFill/>
          <a:ln>
            <a:noFill/>
          </a:ln>
        </p:spPr>
        <p:txBody>
          <a:bodyPr wrap="none" lIns="0" tIns="0" rIns="0" bIns="0" anchor="t" anchorCtr="0">
            <a:spAutoFit/>
          </a:bodyPr>
          <a:lstStyle/>
          <a:p>
            <a:pPr algn="l"/>
            <a:r>
              <a:rPr lang="zh-CN" sz="1425" dirty="0">
                <a:solidFill>
                  <a:srgbClr val="A1A1A6"/>
                </a:solidFill>
                <a:latin typeface="Arial"/>
                <a:ea typeface="Microsoft YaHei"/>
                <a:cs typeface="Arial"/>
              </a:rPr>
              <a:t>Apple frames the Pro lineup around intelligence,</a:t>
            </a:r>
          </a:p>
        </p:txBody>
      </p:sp>
      <p:sp>
        <p:nvSpPr>
          <p:cNvPr id="12" name="TextBox 12"/>
          <p:cNvSpPr txBox="1"/>
          <p:nvPr/>
        </p:nvSpPr>
        <p:spPr>
          <a:xfrm>
            <a:off x="915352" y="4246721"/>
            <a:ext cx="4938808" cy="289560"/>
          </a:xfrm>
          <a:prstGeom prst="rect">
            <a:avLst/>
          </a:prstGeom>
          <a:noFill/>
          <a:ln>
            <a:noFill/>
          </a:ln>
        </p:spPr>
        <p:txBody>
          <a:bodyPr wrap="none" lIns="0" tIns="0" rIns="0" bIns="0" anchor="t" anchorCtr="0">
            <a:spAutoFit/>
          </a:bodyPr>
          <a:lstStyle/>
          <a:p>
            <a:pPr algn="l"/>
            <a:r>
              <a:rPr lang="zh-CN" sz="1425" dirty="0">
                <a:solidFill>
                  <a:srgbClr val="A1A1A6"/>
                </a:solidFill>
                <a:latin typeface="Arial"/>
                <a:ea typeface="Microsoft YaHei"/>
                <a:cs typeface="Arial"/>
              </a:rPr>
              <a:t>pro camera capability, larger displays, and battery.</a:t>
            </a:r>
          </a:p>
        </p:txBody>
      </p:sp>
      <p:sp>
        <p:nvSpPr>
          <p:cNvPr id="13" name="Rectangle 13"/>
          <p:cNvSpPr/>
          <p:nvPr/>
        </p:nvSpPr>
        <p:spPr>
          <a:xfrm>
            <a:off x="609600" y="5029200"/>
            <a:ext cx="1371600" cy="400050"/>
          </a:xfrm>
          <a:prstGeom prst="roundRect">
            <a:avLst>
              <a:gd name="adj" fmla="val 47619"/>
            </a:avLst>
          </a:prstGeom>
          <a:solidFill>
            <a:srgbClr val="1E1E22"/>
          </a:solidFill>
          <a:ln w="19050">
            <a:solidFill>
              <a:srgbClr val="2997FF"/>
            </a:solidFill>
          </a:ln>
        </p:spPr>
      </p:sp>
      <p:sp>
        <p:nvSpPr>
          <p:cNvPr id="14" name="TextBox 14"/>
          <p:cNvSpPr txBox="1"/>
          <p:nvPr/>
        </p:nvSpPr>
        <p:spPr>
          <a:xfrm>
            <a:off x="997577" y="5164931"/>
            <a:ext cx="595646" cy="228600"/>
          </a:xfrm>
          <a:prstGeom prst="rect">
            <a:avLst/>
          </a:prstGeom>
          <a:noFill/>
          <a:ln>
            <a:noFill/>
          </a:ln>
        </p:spPr>
        <p:txBody>
          <a:bodyPr wrap="none" lIns="0" tIns="0" rIns="0" bIns="0" anchor="t" anchorCtr="0">
            <a:spAutoFit/>
          </a:bodyPr>
          <a:lstStyle/>
          <a:p>
            <a:pPr algn="ctr"/>
            <a:r>
              <a:rPr lang="zh-CN" sz="1125" b="1" dirty="0">
                <a:solidFill>
                  <a:srgbClr val="2997FF"/>
                </a:solidFill>
                <a:latin typeface="Arial"/>
                <a:ea typeface="Microsoft YaHei"/>
                <a:cs typeface="Arial"/>
              </a:rPr>
              <a:t>A18 Pro</a:t>
            </a:r>
          </a:p>
        </p:txBody>
      </p:sp>
      <p:sp>
        <p:nvSpPr>
          <p:cNvPr id="15" name="Rectangle 15"/>
          <p:cNvSpPr/>
          <p:nvPr/>
        </p:nvSpPr>
        <p:spPr>
          <a:xfrm>
            <a:off x="2133600" y="5029200"/>
            <a:ext cx="2000250" cy="400050"/>
          </a:xfrm>
          <a:prstGeom prst="roundRect">
            <a:avLst>
              <a:gd name="adj" fmla="val 47619"/>
            </a:avLst>
          </a:prstGeom>
          <a:solidFill>
            <a:srgbClr val="1E1E22"/>
          </a:solidFill>
          <a:ln w="19050">
            <a:solidFill>
              <a:srgbClr val="D8C6A3"/>
            </a:solidFill>
          </a:ln>
        </p:spPr>
      </p:sp>
      <p:sp>
        <p:nvSpPr>
          <p:cNvPr id="16" name="TextBox 16"/>
          <p:cNvSpPr txBox="1"/>
          <p:nvPr/>
        </p:nvSpPr>
        <p:spPr>
          <a:xfrm>
            <a:off x="2465731" y="5164931"/>
            <a:ext cx="1335988" cy="228600"/>
          </a:xfrm>
          <a:prstGeom prst="rect">
            <a:avLst/>
          </a:prstGeom>
          <a:noFill/>
          <a:ln>
            <a:noFill/>
          </a:ln>
        </p:spPr>
        <p:txBody>
          <a:bodyPr wrap="none" lIns="0" tIns="0" rIns="0" bIns="0" anchor="t" anchorCtr="0">
            <a:spAutoFit/>
          </a:bodyPr>
          <a:lstStyle/>
          <a:p>
            <a:pPr algn="ctr"/>
            <a:r>
              <a:rPr lang="zh-CN" sz="1125" b="1" dirty="0">
                <a:solidFill>
                  <a:srgbClr val="D8C6A3"/>
                </a:solidFill>
                <a:latin typeface="Arial"/>
                <a:ea typeface="Microsoft YaHei"/>
                <a:cs typeface="Arial"/>
              </a:rPr>
              <a:t>Titanium finishes</a:t>
            </a:r>
          </a:p>
        </p:txBody>
      </p:sp>
      <p:sp>
        <p:nvSpPr>
          <p:cNvPr id="17" name="Rectangle 17"/>
          <p:cNvSpPr/>
          <p:nvPr/>
        </p:nvSpPr>
        <p:spPr>
          <a:xfrm>
            <a:off x="4286250" y="5029200"/>
            <a:ext cx="1790700" cy="400050"/>
          </a:xfrm>
          <a:prstGeom prst="roundRect">
            <a:avLst>
              <a:gd name="adj" fmla="val 47619"/>
            </a:avLst>
          </a:prstGeom>
          <a:solidFill>
            <a:srgbClr val="1E1E22"/>
          </a:solidFill>
          <a:ln w="19050">
            <a:solidFill>
              <a:srgbClr val="2997FF"/>
            </a:solidFill>
          </a:ln>
        </p:spPr>
      </p:sp>
      <p:sp>
        <p:nvSpPr>
          <p:cNvPr id="18" name="TextBox 18"/>
          <p:cNvSpPr txBox="1"/>
          <p:nvPr/>
        </p:nvSpPr>
        <p:spPr>
          <a:xfrm>
            <a:off x="4584490" y="5164931"/>
            <a:ext cx="1194221" cy="228600"/>
          </a:xfrm>
          <a:prstGeom prst="rect">
            <a:avLst/>
          </a:prstGeom>
          <a:noFill/>
          <a:ln>
            <a:noFill/>
          </a:ln>
        </p:spPr>
        <p:txBody>
          <a:bodyPr wrap="none" lIns="0" tIns="0" rIns="0" bIns="0" anchor="t" anchorCtr="0">
            <a:spAutoFit/>
          </a:bodyPr>
          <a:lstStyle/>
          <a:p>
            <a:pPr algn="ctr"/>
            <a:r>
              <a:rPr lang="zh-CN" sz="1125" b="1" dirty="0">
                <a:solidFill>
                  <a:srgbClr val="2997FF"/>
                </a:solidFill>
                <a:latin typeface="Arial"/>
                <a:ea typeface="Microsoft YaHei"/>
                <a:cs typeface="Arial"/>
              </a:rPr>
              <a:t>Camera Control</a:t>
            </a:r>
          </a:p>
        </p:txBody>
      </p:sp>
      <p:sp>
        <p:nvSpPr>
          <p:cNvPr id="19" name="TextBox 19"/>
          <p:cNvSpPr txBox="1"/>
          <p:nvPr/>
        </p:nvSpPr>
        <p:spPr>
          <a:xfrm>
            <a:off x="597218" y="6257449"/>
            <a:ext cx="2800612" cy="198120"/>
          </a:xfrm>
          <a:prstGeom prst="rect">
            <a:avLst/>
          </a:prstGeom>
          <a:noFill/>
          <a:ln>
            <a:noFill/>
          </a:ln>
        </p:spPr>
        <p:txBody>
          <a:bodyPr wrap="none" lIns="0" tIns="0" rIns="0" bIns="0" anchor="t" anchorCtr="0">
            <a:spAutoFit/>
          </a:bodyPr>
          <a:lstStyle/>
          <a:p>
            <a:pPr algn="l"/>
            <a:r>
              <a:rPr lang="zh-CN" sz="975" dirty="0">
                <a:solidFill>
                  <a:srgbClr val="A1A1A6"/>
                </a:solidFill>
                <a:latin typeface="Arial"/>
                <a:ea typeface="Microsoft YaHei"/>
                <a:cs typeface="Arial"/>
              </a:rPr>
              <a:t>Source image: Apple press release, Figure 1</a:t>
            </a:r>
          </a:p>
        </p:txBody>
      </p:sp>
      <p:sp>
        <p:nvSpPr>
          <p:cNvPr id="20" name="TextBox 20"/>
          <p:cNvSpPr txBox="1"/>
          <p:nvPr/>
        </p:nvSpPr>
        <p:spPr>
          <a:xfrm>
            <a:off x="11398568" y="6257449"/>
            <a:ext cx="460319" cy="198120"/>
          </a:xfrm>
          <a:prstGeom prst="rect">
            <a:avLst/>
          </a:prstGeom>
          <a:noFill/>
          <a:ln>
            <a:noFill/>
          </a:ln>
        </p:spPr>
        <p:txBody>
          <a:bodyPr wrap="none" lIns="0" tIns="0" rIns="0" bIns="0" anchor="t" anchorCtr="0">
            <a:spAutoFit/>
          </a:bodyPr>
          <a:lstStyle/>
          <a:p>
            <a:pPr algn="l"/>
            <a:r>
              <a:rPr lang="zh-CN" sz="975" dirty="0">
                <a:solidFill>
                  <a:srgbClr val="A1A1A6"/>
                </a:solidFill>
                <a:latin typeface="Consolas"/>
                <a:ea typeface="Microsoft YaHei"/>
                <a:cs typeface="Consolas"/>
              </a:rPr>
              <a:t>01 / 09</a:t>
            </a: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50506"/>
          </a:solidFill>
          <a:ln>
            <a:noFill/>
          </a:ln>
        </p:spPr>
      </p:sp>
      <p:sp>
        <p:nvSpPr>
          <p:cNvPr id="3" name="Rectangle 3"/>
          <p:cNvSpPr/>
          <p:nvPr/>
        </p:nvSpPr>
        <p:spPr>
          <a:xfrm>
            <a:off x="0" y="0"/>
            <a:ext cx="12192000" cy="6858000"/>
          </a:xfrm>
          <a:prstGeom prst="rect">
            <a:avLst/>
          </a:prstGeom>
          <a:gradFill>
            <a:gsLst>
              <a:gs pos="0">
                <a:srgbClr val="121214"/>
              </a:gs>
              <a:gs pos="100000">
                <a:srgbClr val="050506"/>
              </a:gs>
            </a:gsLst>
            <a:lin ang="0" scaled="1"/>
          </a:gradFill>
          <a:ln>
            <a:noFill/>
          </a:ln>
        </p:spPr>
      </p:sp>
      <p:grpSp>
        <p:nvGrpSpPr>
          <p:cNvPr id="6" name="Group 6"/>
          <p:cNvGrpSpPr/>
          <p:nvPr/>
        </p:nvGrpSpPr>
        <p:grpSpPr>
          <a:xfrm>
            <a:off x="653415" y="553402"/>
            <a:ext cx="11205472" cy="213360"/>
            <a:chOff x="653415" y="553402"/>
            <a:chExt cx="11205472" cy="213360"/>
          </a:xfrm>
        </p:grpSpPr>
        <p:sp>
          <p:nvSpPr>
            <p:cNvPr id="4" name="TextBox 4"/>
            <p:cNvSpPr txBox="1"/>
            <p:nvPr/>
          </p:nvSpPr>
          <p:spPr>
            <a:xfrm>
              <a:off x="653415" y="553402"/>
              <a:ext cx="1004342" cy="213360"/>
            </a:xfrm>
            <a:prstGeom prst="rect">
              <a:avLst/>
            </a:prstGeom>
            <a:noFill/>
            <a:ln>
              <a:noFill/>
            </a:ln>
          </p:spPr>
          <p:txBody>
            <a:bodyPr wrap="none" lIns="0" tIns="0" rIns="0" bIns="0" anchor="t" anchorCtr="0">
              <a:spAutoFit/>
            </a:bodyPr>
            <a:lstStyle/>
            <a:p>
              <a:pPr algn="l"/>
              <a:r>
                <a:rPr lang="zh-CN" sz="1050" b="1" dirty="0">
                  <a:solidFill>
                    <a:srgbClr val="A1A1A6"/>
                  </a:solidFill>
                  <a:latin typeface="Arial"/>
                  <a:ea typeface="Microsoft YaHei"/>
                  <a:cs typeface="Arial"/>
                </a:rPr>
                <a:t>LAUNCH THESIS</a:t>
              </a:r>
            </a:p>
          </p:txBody>
        </p:sp>
        <p:sp>
          <p:nvSpPr>
            <p:cNvPr id="5" name="TextBox 5"/>
            <p:cNvSpPr txBox="1"/>
            <p:nvPr/>
          </p:nvSpPr>
          <p:spPr>
            <a:xfrm>
              <a:off x="11398568" y="561499"/>
              <a:ext cx="460319" cy="198120"/>
            </a:xfrm>
            <a:prstGeom prst="rect">
              <a:avLst/>
            </a:prstGeom>
            <a:noFill/>
            <a:ln>
              <a:noFill/>
            </a:ln>
          </p:spPr>
          <p:txBody>
            <a:bodyPr wrap="none" lIns="0" tIns="0" rIns="0" bIns="0" anchor="t" anchorCtr="0">
              <a:spAutoFit/>
            </a:bodyPr>
            <a:lstStyle/>
            <a:p>
              <a:pPr algn="l"/>
              <a:r>
                <a:rPr lang="zh-CN" sz="975" dirty="0">
                  <a:solidFill>
                    <a:srgbClr val="A1A1A6"/>
                  </a:solidFill>
                  <a:latin typeface="Consolas"/>
                  <a:ea typeface="Microsoft YaHei"/>
                  <a:cs typeface="Consolas"/>
                </a:rPr>
                <a:t>02 / 09</a:t>
              </a:r>
            </a:p>
          </p:txBody>
        </p:sp>
      </p:grpSp>
      <p:grpSp>
        <p:nvGrpSpPr>
          <p:cNvPr id="11" name="Group 11"/>
          <p:cNvGrpSpPr/>
          <p:nvPr/>
        </p:nvGrpSpPr>
        <p:grpSpPr>
          <a:xfrm>
            <a:off x="621030" y="1211580"/>
            <a:ext cx="6871087" cy="1891189"/>
            <a:chOff x="621030" y="1211580"/>
            <a:chExt cx="6871087" cy="1891189"/>
          </a:xfrm>
        </p:grpSpPr>
        <p:sp>
          <p:nvSpPr>
            <p:cNvPr id="7" name="TextBox 7"/>
            <p:cNvSpPr txBox="1"/>
            <p:nvPr/>
          </p:nvSpPr>
          <p:spPr>
            <a:xfrm>
              <a:off x="621030" y="1211580"/>
              <a:ext cx="6871087" cy="731520"/>
            </a:xfrm>
            <a:prstGeom prst="rect">
              <a:avLst/>
            </a:prstGeom>
            <a:noFill/>
            <a:ln>
              <a:noFill/>
            </a:ln>
          </p:spPr>
          <p:txBody>
            <a:bodyPr wrap="none" lIns="0" tIns="0" rIns="0" bIns="0" anchor="t" anchorCtr="0">
              <a:spAutoFit/>
            </a:bodyPr>
            <a:lstStyle/>
            <a:p>
              <a:pPr algn="l"/>
              <a:r>
                <a:rPr lang="zh-CN" sz="3600" b="1" dirty="0">
                  <a:solidFill>
                    <a:srgbClr val="F5F5F7"/>
                  </a:solidFill>
                  <a:latin typeface="Arial"/>
                  <a:ea typeface="Microsoft YaHei"/>
                  <a:cs typeface="Arial"/>
                </a:rPr>
                <a:t>Built for Apple Intelligence.</a:t>
              </a:r>
            </a:p>
          </p:txBody>
        </p:sp>
        <p:sp>
          <p:nvSpPr>
            <p:cNvPr id="8" name="TextBox 8"/>
            <p:cNvSpPr txBox="1"/>
            <p:nvPr/>
          </p:nvSpPr>
          <p:spPr>
            <a:xfrm>
              <a:off x="621030" y="1764030"/>
              <a:ext cx="4577601" cy="731520"/>
            </a:xfrm>
            <a:prstGeom prst="rect">
              <a:avLst/>
            </a:prstGeom>
            <a:noFill/>
            <a:ln>
              <a:noFill/>
            </a:ln>
          </p:spPr>
          <p:txBody>
            <a:bodyPr wrap="none" lIns="0" tIns="0" rIns="0" bIns="0" anchor="t" anchorCtr="0">
              <a:spAutoFit/>
            </a:bodyPr>
            <a:lstStyle/>
            <a:p>
              <a:pPr algn="l"/>
              <a:r>
                <a:rPr lang="zh-CN" sz="3600" b="1" dirty="0">
                  <a:solidFill>
                    <a:srgbClr val="F5F5F7"/>
                  </a:solidFill>
                  <a:latin typeface="Arial"/>
                  <a:ea typeface="Microsoft YaHei"/>
                  <a:cs typeface="Arial"/>
                </a:rPr>
                <a:t>Driven by A18 Pro.</a:t>
              </a:r>
            </a:p>
          </p:txBody>
        </p:sp>
        <p:sp>
          <p:nvSpPr>
            <p:cNvPr id="9" name="TextBox 9"/>
            <p:cNvSpPr txBox="1"/>
            <p:nvPr/>
          </p:nvSpPr>
          <p:spPr>
            <a:xfrm>
              <a:off x="684848" y="2477929"/>
              <a:ext cx="6771346" cy="320040"/>
            </a:xfrm>
            <a:prstGeom prst="rect">
              <a:avLst/>
            </a:prstGeom>
            <a:noFill/>
            <a:ln>
              <a:noFill/>
            </a:ln>
          </p:spPr>
          <p:txBody>
            <a:bodyPr wrap="none" lIns="0" tIns="0" rIns="0" bIns="0" anchor="t" anchorCtr="0">
              <a:spAutoFit/>
            </a:bodyPr>
            <a:lstStyle/>
            <a:p>
              <a:pPr algn="l"/>
              <a:r>
                <a:rPr lang="zh-CN" sz="1575" dirty="0">
                  <a:solidFill>
                    <a:srgbClr val="A1A1A6"/>
                  </a:solidFill>
                  <a:latin typeface="Arial"/>
                  <a:ea typeface="Microsoft YaHei"/>
                  <a:cs typeface="Arial"/>
                </a:rPr>
                <a:t>The Pro story links personal intelligence and privacy architecture</a:t>
              </a:r>
            </a:p>
          </p:txBody>
        </p:sp>
        <p:sp>
          <p:nvSpPr>
            <p:cNvPr id="10" name="TextBox 10"/>
            <p:cNvSpPr txBox="1"/>
            <p:nvPr/>
          </p:nvSpPr>
          <p:spPr>
            <a:xfrm>
              <a:off x="684848" y="2782729"/>
              <a:ext cx="4471559" cy="320040"/>
            </a:xfrm>
            <a:prstGeom prst="rect">
              <a:avLst/>
            </a:prstGeom>
            <a:noFill/>
            <a:ln>
              <a:noFill/>
            </a:ln>
          </p:spPr>
          <p:txBody>
            <a:bodyPr wrap="none" lIns="0" tIns="0" rIns="0" bIns="0" anchor="t" anchorCtr="0">
              <a:spAutoFit/>
            </a:bodyPr>
            <a:lstStyle/>
            <a:p>
              <a:pPr algn="l"/>
              <a:r>
                <a:rPr lang="zh-CN" sz="1575" dirty="0">
                  <a:solidFill>
                    <a:srgbClr val="A1A1A6"/>
                  </a:solidFill>
                  <a:latin typeface="Arial"/>
                  <a:ea typeface="Microsoft YaHei"/>
                  <a:cs typeface="Arial"/>
                </a:rPr>
                <a:t>with a chip platform built for on-device AI.</a:t>
              </a:r>
            </a:p>
          </p:txBody>
        </p:sp>
      </p:grpSp>
      <p:grpSp>
        <p:nvGrpSpPr>
          <p:cNvPr id="18" name="Group 18"/>
          <p:cNvGrpSpPr/>
          <p:nvPr/>
        </p:nvGrpSpPr>
        <p:grpSpPr>
          <a:xfrm>
            <a:off x="704850" y="3276600"/>
            <a:ext cx="5238750" cy="1866900"/>
            <a:chOff x="704850" y="3276600"/>
            <a:chExt cx="5238750" cy="1866900"/>
          </a:xfrm>
        </p:grpSpPr>
        <p:sp>
          <p:nvSpPr>
            <p:cNvPr id="12" name="Rectangle 12"/>
            <p:cNvSpPr/>
            <p:nvPr/>
          </p:nvSpPr>
          <p:spPr>
            <a:xfrm>
              <a:off x="704850" y="3276600"/>
              <a:ext cx="5238750" cy="1866900"/>
            </a:xfrm>
            <a:prstGeom prst="roundRect">
              <a:avLst>
                <a:gd name="adj" fmla="val 12245"/>
              </a:avLst>
            </a:prstGeom>
            <a:solidFill>
              <a:srgbClr val="121214"/>
            </a:solidFill>
            <a:ln w="19050">
              <a:solidFill>
                <a:srgbClr val="3A3A3C"/>
              </a:solidFill>
            </a:ln>
          </p:spPr>
        </p:sp>
        <p:sp>
          <p:nvSpPr>
            <p:cNvPr id="13" name="TextBox 13"/>
            <p:cNvSpPr txBox="1"/>
            <p:nvPr/>
          </p:nvSpPr>
          <p:spPr>
            <a:xfrm>
              <a:off x="1048702" y="3579971"/>
              <a:ext cx="2829544" cy="289560"/>
            </a:xfrm>
            <a:prstGeom prst="rect">
              <a:avLst/>
            </a:prstGeom>
            <a:noFill/>
            <a:ln>
              <a:noFill/>
            </a:ln>
          </p:spPr>
          <p:txBody>
            <a:bodyPr wrap="none" lIns="0" tIns="0" rIns="0" bIns="0" anchor="t" anchorCtr="0">
              <a:spAutoFit/>
            </a:bodyPr>
            <a:lstStyle/>
            <a:p>
              <a:pPr algn="l"/>
              <a:r>
                <a:rPr lang="zh-CN" sz="1425" b="1" dirty="0">
                  <a:solidFill>
                    <a:srgbClr val="2997FF"/>
                  </a:solidFill>
                  <a:latin typeface="Arial"/>
                  <a:ea typeface="Microsoft YaHei"/>
                  <a:cs typeface="Arial"/>
                </a:rPr>
                <a:t>Apple Intelligence positioning</a:t>
              </a:r>
            </a:p>
          </p:txBody>
        </p:sp>
        <p:sp>
          <p:nvSpPr>
            <p:cNvPr id="14" name="TextBox 14"/>
            <p:cNvSpPr txBox="1"/>
            <p:nvPr/>
          </p:nvSpPr>
          <p:spPr>
            <a:xfrm>
              <a:off x="1045845" y="3917632"/>
              <a:ext cx="3992504" cy="335280"/>
            </a:xfrm>
            <a:prstGeom prst="rect">
              <a:avLst/>
            </a:prstGeom>
            <a:noFill/>
            <a:ln>
              <a:noFill/>
            </a:ln>
          </p:spPr>
          <p:txBody>
            <a:bodyPr wrap="none" lIns="0" tIns="0" rIns="0" bIns="0" anchor="t" anchorCtr="0">
              <a:spAutoFit/>
            </a:bodyPr>
            <a:lstStyle/>
            <a:p>
              <a:pPr algn="l"/>
              <a:r>
                <a:rPr lang="zh-CN" sz="1650" b="1" dirty="0">
                  <a:solidFill>
                    <a:srgbClr val="F5F5F7"/>
                  </a:solidFill>
                  <a:latin typeface="Arial"/>
                  <a:ea typeface="Microsoft YaHei"/>
                  <a:cs typeface="Arial"/>
                </a:rPr>
                <a:t>Generative models that understand</a:t>
              </a:r>
            </a:p>
          </p:txBody>
        </p:sp>
        <p:sp>
          <p:nvSpPr>
            <p:cNvPr id="15" name="TextBox 15"/>
            <p:cNvSpPr txBox="1"/>
            <p:nvPr/>
          </p:nvSpPr>
          <p:spPr>
            <a:xfrm>
              <a:off x="1045845" y="4222432"/>
              <a:ext cx="1959450" cy="335280"/>
            </a:xfrm>
            <a:prstGeom prst="rect">
              <a:avLst/>
            </a:prstGeom>
            <a:noFill/>
            <a:ln>
              <a:noFill/>
            </a:ln>
          </p:spPr>
          <p:txBody>
            <a:bodyPr wrap="none" lIns="0" tIns="0" rIns="0" bIns="0" anchor="t" anchorCtr="0">
              <a:spAutoFit/>
            </a:bodyPr>
            <a:lstStyle/>
            <a:p>
              <a:pPr algn="l"/>
              <a:r>
                <a:rPr lang="zh-CN" sz="1650" b="1" dirty="0">
                  <a:solidFill>
                    <a:srgbClr val="F5F5F7"/>
                  </a:solidFill>
                  <a:latin typeface="Arial"/>
                  <a:ea typeface="Microsoft YaHei"/>
                  <a:cs typeface="Arial"/>
                </a:rPr>
                <a:t>personal context</a:t>
              </a:r>
            </a:p>
          </p:txBody>
        </p:sp>
        <p:sp>
          <p:nvSpPr>
            <p:cNvPr id="16" name="TextBox 16"/>
            <p:cNvSpPr txBox="1"/>
            <p:nvPr/>
          </p:nvSpPr>
          <p:spPr>
            <a:xfrm>
              <a:off x="1051560" y="4575810"/>
              <a:ext cx="4199001" cy="243840"/>
            </a:xfrm>
            <a:prstGeom prst="rect">
              <a:avLst/>
            </a:prstGeom>
            <a:noFill/>
            <a:ln>
              <a:noFill/>
            </a:ln>
          </p:spPr>
          <p:txBody>
            <a:bodyPr wrap="none" lIns="0" tIns="0" rIns="0" bIns="0" anchor="t" anchorCtr="0">
              <a:spAutoFit/>
            </a:bodyPr>
            <a:lstStyle/>
            <a:p>
              <a:pPr algn="l"/>
              <a:r>
                <a:rPr lang="zh-CN" sz="1200" dirty="0">
                  <a:solidFill>
                    <a:srgbClr val="A1A1A6"/>
                  </a:solidFill>
                  <a:latin typeface="Arial"/>
                  <a:ea typeface="Microsoft YaHei"/>
                  <a:cs typeface="Arial"/>
                </a:rPr>
                <a:t>Useful, relevant assistance with privacy protections</a:t>
              </a:r>
            </a:p>
          </p:txBody>
        </p:sp>
        <p:sp>
          <p:nvSpPr>
            <p:cNvPr id="17" name="TextBox 17"/>
            <p:cNvSpPr txBox="1"/>
            <p:nvPr/>
          </p:nvSpPr>
          <p:spPr>
            <a:xfrm>
              <a:off x="1051560" y="4804410"/>
              <a:ext cx="3254883" cy="243840"/>
            </a:xfrm>
            <a:prstGeom prst="rect">
              <a:avLst/>
            </a:prstGeom>
            <a:noFill/>
            <a:ln>
              <a:noFill/>
            </a:ln>
          </p:spPr>
          <p:txBody>
            <a:bodyPr wrap="none" lIns="0" tIns="0" rIns="0" bIns="0" anchor="t" anchorCtr="0">
              <a:spAutoFit/>
            </a:bodyPr>
            <a:lstStyle/>
            <a:p>
              <a:pPr algn="l"/>
              <a:r>
                <a:rPr lang="zh-CN" sz="1200" dirty="0">
                  <a:solidFill>
                    <a:srgbClr val="A1A1A6"/>
                  </a:solidFill>
                  <a:latin typeface="Arial"/>
                  <a:ea typeface="Microsoft YaHei"/>
                  <a:cs typeface="Arial"/>
                </a:rPr>
                <a:t>extended through Private Cloud Compute.</a:t>
              </a:r>
            </a:p>
          </p:txBody>
        </p:sp>
      </p:grpSp>
      <p:grpSp>
        <p:nvGrpSpPr>
          <p:cNvPr id="23" name="Group 23"/>
          <p:cNvGrpSpPr/>
          <p:nvPr/>
        </p:nvGrpSpPr>
        <p:grpSpPr>
          <a:xfrm>
            <a:off x="704850" y="5314950"/>
            <a:ext cx="5238750" cy="857250"/>
            <a:chOff x="704850" y="5314950"/>
            <a:chExt cx="5238750" cy="857250"/>
          </a:xfrm>
        </p:grpSpPr>
        <p:sp>
          <p:nvSpPr>
            <p:cNvPr id="19" name="Rectangle 19"/>
            <p:cNvSpPr/>
            <p:nvPr/>
          </p:nvSpPr>
          <p:spPr>
            <a:xfrm>
              <a:off x="704850" y="5314950"/>
              <a:ext cx="5238750" cy="819150"/>
            </a:xfrm>
            <a:prstGeom prst="roundRect">
              <a:avLst>
                <a:gd name="adj" fmla="val 20930"/>
              </a:avLst>
            </a:prstGeom>
            <a:solidFill>
              <a:srgbClr val="1E1E22"/>
            </a:solidFill>
            <a:ln w="19050">
              <a:solidFill>
                <a:srgbClr val="D8C6A3"/>
              </a:solidFill>
            </a:ln>
          </p:spPr>
        </p:sp>
        <p:sp>
          <p:nvSpPr>
            <p:cNvPr id="20" name="TextBox 20"/>
            <p:cNvSpPr txBox="1"/>
            <p:nvPr/>
          </p:nvSpPr>
          <p:spPr>
            <a:xfrm>
              <a:off x="1033462" y="5479256"/>
              <a:ext cx="1485632" cy="228600"/>
            </a:xfrm>
            <a:prstGeom prst="rect">
              <a:avLst/>
            </a:prstGeom>
            <a:noFill/>
            <a:ln>
              <a:noFill/>
            </a:ln>
          </p:spPr>
          <p:txBody>
            <a:bodyPr wrap="none" lIns="0" tIns="0" rIns="0" bIns="0" anchor="t" anchorCtr="0">
              <a:spAutoFit/>
            </a:bodyPr>
            <a:lstStyle/>
            <a:p>
              <a:pPr algn="l"/>
              <a:r>
                <a:rPr lang="zh-CN" sz="1125" b="1" dirty="0">
                  <a:solidFill>
                    <a:srgbClr val="D8C6A3"/>
                  </a:solidFill>
                  <a:latin typeface="Arial"/>
                  <a:ea typeface="Microsoft YaHei"/>
                  <a:cs typeface="Arial"/>
                </a:rPr>
                <a:t>SOURCE CONSTRAINT</a:t>
              </a:r>
            </a:p>
          </p:txBody>
        </p:sp>
        <p:sp>
          <p:nvSpPr>
            <p:cNvPr id="21" name="TextBox 21"/>
            <p:cNvSpPr txBox="1"/>
            <p:nvPr/>
          </p:nvSpPr>
          <p:spPr>
            <a:xfrm>
              <a:off x="1032510" y="5737860"/>
              <a:ext cx="3222879" cy="243840"/>
            </a:xfrm>
            <a:prstGeom prst="rect">
              <a:avLst/>
            </a:prstGeom>
            <a:noFill/>
            <a:ln>
              <a:noFill/>
            </a:ln>
          </p:spPr>
          <p:txBody>
            <a:bodyPr wrap="none" lIns="0" tIns="0" rIns="0" bIns="0" anchor="t" anchorCtr="0">
              <a:spAutoFit/>
            </a:bodyPr>
            <a:lstStyle/>
            <a:p>
              <a:pPr algn="l"/>
              <a:r>
                <a:rPr lang="zh-CN" sz="1200" dirty="0">
                  <a:solidFill>
                    <a:srgbClr val="F5F5F7"/>
                  </a:solidFill>
                  <a:latin typeface="Arial"/>
                  <a:ea typeface="Microsoft YaHei"/>
                  <a:cs typeface="Arial"/>
                </a:rPr>
                <a:t>First features arrive in beta next month</a:t>
              </a:r>
            </a:p>
          </p:txBody>
        </p:sp>
        <p:sp>
          <p:nvSpPr>
            <p:cNvPr id="22" name="TextBox 22"/>
            <p:cNvSpPr txBox="1"/>
            <p:nvPr/>
          </p:nvSpPr>
          <p:spPr>
            <a:xfrm>
              <a:off x="1032510" y="5928360"/>
              <a:ext cx="2190750" cy="243840"/>
            </a:xfrm>
            <a:prstGeom prst="rect">
              <a:avLst/>
            </a:prstGeom>
            <a:noFill/>
            <a:ln>
              <a:noFill/>
            </a:ln>
          </p:spPr>
          <p:txBody>
            <a:bodyPr wrap="none" lIns="0" tIns="0" rIns="0" bIns="0" anchor="t" anchorCtr="0">
              <a:spAutoFit/>
            </a:bodyPr>
            <a:lstStyle/>
            <a:p>
              <a:pPr algn="l"/>
              <a:r>
                <a:rPr lang="zh-CN" sz="1200" dirty="0">
                  <a:solidFill>
                    <a:srgbClr val="F5F5F7"/>
                  </a:solidFill>
                  <a:latin typeface="Arial"/>
                  <a:ea typeface="Microsoft YaHei"/>
                  <a:cs typeface="Arial"/>
                </a:rPr>
                <a:t>as a free software update.</a:t>
              </a:r>
            </a:p>
          </p:txBody>
        </p:sp>
      </p:grpSp>
      <p:grpSp>
        <p:nvGrpSpPr>
          <p:cNvPr id="30" name="Group 30"/>
          <p:cNvGrpSpPr/>
          <p:nvPr/>
        </p:nvGrpSpPr>
        <p:grpSpPr>
          <a:xfrm>
            <a:off x="7077075" y="1333500"/>
            <a:ext cx="3467100" cy="3467100"/>
            <a:chOff x="7077075" y="1333500"/>
            <a:chExt cx="3467100" cy="3467100"/>
          </a:xfrm>
        </p:grpSpPr>
        <p:sp>
          <p:nvSpPr>
            <p:cNvPr id="24" name="Ellipse 24"/>
            <p:cNvSpPr/>
            <p:nvPr/>
          </p:nvSpPr>
          <p:spPr>
            <a:xfrm>
              <a:off x="7077075" y="1333500"/>
              <a:ext cx="3467100" cy="3467100"/>
            </a:xfrm>
            <a:prstGeom prst="ellipse">
              <a:avLst/>
            </a:prstGeom>
            <a:solidFill>
              <a:srgbClr val="121214"/>
            </a:solidFill>
            <a:ln w="19050">
              <a:solidFill>
                <a:srgbClr val="3A3A3C"/>
              </a:solidFill>
            </a:ln>
          </p:spPr>
        </p:sp>
        <p:sp>
          <p:nvSpPr>
            <p:cNvPr id="25" name="Ellipse 25"/>
            <p:cNvSpPr/>
            <p:nvPr/>
          </p:nvSpPr>
          <p:spPr>
            <a:xfrm>
              <a:off x="7591425" y="1847850"/>
              <a:ext cx="2438400" cy="2438400"/>
            </a:xfrm>
            <a:prstGeom prst="ellipse">
              <a:avLst/>
            </a:prstGeom>
            <a:solidFill>
              <a:srgbClr val="1E1E22"/>
            </a:solidFill>
            <a:ln w="28575">
              <a:solidFill>
                <a:srgbClr val="2997FF"/>
              </a:solidFill>
            </a:ln>
          </p:spPr>
        </p:sp>
        <p:sp>
          <p:nvSpPr>
            <p:cNvPr id="26" name="Rectangle 26"/>
            <p:cNvSpPr/>
            <p:nvPr/>
          </p:nvSpPr>
          <p:spPr>
            <a:xfrm>
              <a:off x="8020050" y="2362200"/>
              <a:ext cx="1581150" cy="1409700"/>
            </a:xfrm>
            <a:prstGeom prst="roundRect">
              <a:avLst>
                <a:gd name="adj" fmla="val 16216"/>
              </a:avLst>
            </a:prstGeom>
            <a:solidFill>
              <a:srgbClr val="050506"/>
            </a:solidFill>
            <a:ln w="28575">
              <a:solidFill>
                <a:srgbClr val="D8C6A3"/>
              </a:solidFill>
            </a:ln>
          </p:spPr>
        </p:sp>
        <p:sp>
          <p:nvSpPr>
            <p:cNvPr id="27" name="TextBox 27"/>
            <p:cNvSpPr txBox="1"/>
            <p:nvPr/>
          </p:nvSpPr>
          <p:spPr>
            <a:xfrm>
              <a:off x="8175269" y="2646045"/>
              <a:ext cx="1270711" cy="487680"/>
            </a:xfrm>
            <a:prstGeom prst="rect">
              <a:avLst/>
            </a:prstGeom>
            <a:noFill/>
            <a:ln>
              <a:noFill/>
            </a:ln>
          </p:spPr>
          <p:txBody>
            <a:bodyPr wrap="none" lIns="0" tIns="0" rIns="0" bIns="0" anchor="t" anchorCtr="0">
              <a:spAutoFit/>
            </a:bodyPr>
            <a:lstStyle/>
            <a:p>
              <a:pPr algn="ctr"/>
              <a:r>
                <a:rPr lang="zh-CN" sz="2400" b="1" dirty="0">
                  <a:solidFill>
                    <a:srgbClr val="F5F5F7"/>
                  </a:solidFill>
                  <a:latin typeface="Arial"/>
                  <a:ea typeface="Microsoft YaHei"/>
                  <a:cs typeface="Arial"/>
                </a:rPr>
                <a:t>A18 Pro</a:t>
              </a:r>
            </a:p>
          </p:txBody>
        </p:sp>
        <p:sp>
          <p:nvSpPr>
            <p:cNvPr id="28" name="TextBox 28"/>
            <p:cNvSpPr txBox="1"/>
            <p:nvPr/>
          </p:nvSpPr>
          <p:spPr>
            <a:xfrm>
              <a:off x="8199310" y="3128010"/>
              <a:ext cx="1222629" cy="243840"/>
            </a:xfrm>
            <a:prstGeom prst="rect">
              <a:avLst/>
            </a:prstGeom>
            <a:noFill/>
            <a:ln>
              <a:noFill/>
            </a:ln>
          </p:spPr>
          <p:txBody>
            <a:bodyPr wrap="none" lIns="0" tIns="0" rIns="0" bIns="0" anchor="t" anchorCtr="0">
              <a:spAutoFit/>
            </a:bodyPr>
            <a:lstStyle/>
            <a:p>
              <a:pPr algn="ctr"/>
              <a:r>
                <a:rPr lang="zh-CN" sz="1200" dirty="0">
                  <a:solidFill>
                    <a:srgbClr val="A1A1A6"/>
                  </a:solidFill>
                  <a:latin typeface="Arial"/>
                  <a:ea typeface="Microsoft YaHei"/>
                  <a:cs typeface="Arial"/>
                </a:rPr>
                <a:t>2nd-generation</a:t>
              </a:r>
            </a:p>
          </p:txBody>
        </p:sp>
        <p:sp>
          <p:nvSpPr>
            <p:cNvPr id="29" name="TextBox 29"/>
            <p:cNvSpPr txBox="1"/>
            <p:nvPr/>
          </p:nvSpPr>
          <p:spPr>
            <a:xfrm>
              <a:off x="8423338" y="3375660"/>
              <a:ext cx="774573" cy="243840"/>
            </a:xfrm>
            <a:prstGeom prst="rect">
              <a:avLst/>
            </a:prstGeom>
            <a:noFill/>
            <a:ln>
              <a:noFill/>
            </a:ln>
          </p:spPr>
          <p:txBody>
            <a:bodyPr wrap="none" lIns="0" tIns="0" rIns="0" bIns="0" anchor="t" anchorCtr="0">
              <a:spAutoFit/>
            </a:bodyPr>
            <a:lstStyle/>
            <a:p>
              <a:pPr algn="ctr"/>
              <a:r>
                <a:rPr lang="zh-CN" sz="1200" dirty="0">
                  <a:solidFill>
                    <a:srgbClr val="A1A1A6"/>
                  </a:solidFill>
                  <a:latin typeface="Arial"/>
                  <a:ea typeface="Microsoft YaHei"/>
                  <a:cs typeface="Arial"/>
                </a:rPr>
                <a:t>3-nm chip</a:t>
              </a:r>
            </a:p>
          </p:txBody>
        </p:sp>
      </p:grpSp>
      <p:grpSp>
        <p:nvGrpSpPr>
          <p:cNvPr id="43" name="Group 43"/>
          <p:cNvGrpSpPr/>
          <p:nvPr/>
        </p:nvGrpSpPr>
        <p:grpSpPr>
          <a:xfrm>
            <a:off x="4919424" y="902494"/>
            <a:ext cx="6800136" cy="4786312"/>
            <a:chOff x="4919424" y="902494"/>
            <a:chExt cx="6800136" cy="4786312"/>
          </a:xfrm>
        </p:grpSpPr>
        <p:sp>
          <p:nvSpPr>
            <p:cNvPr id="31" name="Line 31"/>
            <p:cNvSpPr/>
            <p:nvPr/>
          </p:nvSpPr>
          <p:spPr>
            <a:xfrm>
              <a:off x="8810625" y="1285875"/>
              <a:ext cx="9525" cy="581025"/>
            </a:xfrm>
            <a:custGeom>
              <a:avLst/>
              <a:gdLst/>
              <a:ahLst/>
              <a:cxnLst/>
              <a:rect l="l" t="t" r="r" b="b"/>
              <a:pathLst>
                <a:path w="9525" h="581025">
                  <a:moveTo>
                    <a:pt x="0" y="0"/>
                  </a:moveTo>
                  <a:lnTo>
                    <a:pt x="0" y="581025"/>
                  </a:lnTo>
                </a:path>
              </a:pathLst>
            </a:custGeom>
            <a:noFill/>
            <a:ln w="19050">
              <a:solidFill>
                <a:srgbClr val="2997FF"/>
              </a:solidFill>
            </a:ln>
          </p:spPr>
        </p:sp>
        <p:sp>
          <p:nvSpPr>
            <p:cNvPr id="32" name="TextBox 32"/>
            <p:cNvSpPr txBox="1"/>
            <p:nvPr/>
          </p:nvSpPr>
          <p:spPr>
            <a:xfrm>
              <a:off x="7401952" y="902494"/>
              <a:ext cx="2817346" cy="381000"/>
            </a:xfrm>
            <a:prstGeom prst="rect">
              <a:avLst/>
            </a:prstGeom>
            <a:noFill/>
            <a:ln>
              <a:noFill/>
            </a:ln>
          </p:spPr>
          <p:txBody>
            <a:bodyPr wrap="none" lIns="0" tIns="0" rIns="0" bIns="0" anchor="t" anchorCtr="0">
              <a:spAutoFit/>
            </a:bodyPr>
            <a:lstStyle/>
            <a:p>
              <a:pPr algn="ctr"/>
              <a:r>
                <a:rPr lang="zh-CN" sz="1875" b="1" dirty="0">
                  <a:solidFill>
                    <a:srgbClr val="F5F5F7"/>
                  </a:solidFill>
                  <a:latin typeface="Arial"/>
                  <a:ea typeface="Microsoft YaHei"/>
                  <a:cs typeface="Arial"/>
                </a:rPr>
                <a:t>16-core Neural Engine</a:t>
              </a:r>
            </a:p>
          </p:txBody>
        </p:sp>
        <p:sp>
          <p:nvSpPr>
            <p:cNvPr id="33" name="TextBox 33"/>
            <p:cNvSpPr txBox="1"/>
            <p:nvPr/>
          </p:nvSpPr>
          <p:spPr>
            <a:xfrm>
              <a:off x="7044869" y="1269206"/>
              <a:ext cx="3531513" cy="228600"/>
            </a:xfrm>
            <a:prstGeom prst="rect">
              <a:avLst/>
            </a:prstGeom>
            <a:noFill/>
            <a:ln>
              <a:noFill/>
            </a:ln>
          </p:spPr>
          <p:txBody>
            <a:bodyPr wrap="none" lIns="0" tIns="0" rIns="0" bIns="0" anchor="t" anchorCtr="0">
              <a:spAutoFit/>
            </a:bodyPr>
            <a:lstStyle/>
            <a:p>
              <a:pPr algn="ctr"/>
              <a:r>
                <a:rPr lang="zh-CN" sz="1125" dirty="0">
                  <a:solidFill>
                    <a:srgbClr val="A1A1A6"/>
                  </a:solidFill>
                  <a:latin typeface="Arial"/>
                  <a:ea typeface="Microsoft YaHei"/>
                  <a:cs typeface="Arial"/>
                </a:rPr>
                <a:t>faster and more efficient for Apple Intelligence</a:t>
              </a:r>
            </a:p>
          </p:txBody>
        </p:sp>
        <p:sp>
          <p:nvSpPr>
            <p:cNvPr id="34" name="Line 34"/>
            <p:cNvSpPr/>
            <p:nvPr/>
          </p:nvSpPr>
          <p:spPr>
            <a:xfrm>
              <a:off x="6962775" y="3067050"/>
              <a:ext cx="600075" cy="9525"/>
            </a:xfrm>
            <a:custGeom>
              <a:avLst/>
              <a:gdLst/>
              <a:ahLst/>
              <a:cxnLst/>
              <a:rect l="l" t="t" r="r" b="b"/>
              <a:pathLst>
                <a:path w="600075" h="9525">
                  <a:moveTo>
                    <a:pt x="0" y="0"/>
                  </a:moveTo>
                  <a:lnTo>
                    <a:pt x="600075" y="0"/>
                  </a:lnTo>
                </a:path>
              </a:pathLst>
            </a:custGeom>
            <a:noFill/>
            <a:ln w="19050">
              <a:solidFill>
                <a:srgbClr val="2997FF"/>
              </a:solidFill>
            </a:ln>
          </p:spPr>
        </p:sp>
        <p:sp>
          <p:nvSpPr>
            <p:cNvPr id="35" name="TextBox 35"/>
            <p:cNvSpPr txBox="1"/>
            <p:nvPr/>
          </p:nvSpPr>
          <p:spPr>
            <a:xfrm>
              <a:off x="6185059" y="2759869"/>
              <a:ext cx="677704" cy="381000"/>
            </a:xfrm>
            <a:prstGeom prst="rect">
              <a:avLst/>
            </a:prstGeom>
            <a:noFill/>
            <a:ln>
              <a:noFill/>
            </a:ln>
          </p:spPr>
          <p:txBody>
            <a:bodyPr wrap="none" lIns="0" tIns="0" rIns="0" bIns="0" anchor="t" anchorCtr="0">
              <a:spAutoFit/>
            </a:bodyPr>
            <a:lstStyle/>
            <a:p>
              <a:pPr algn="r"/>
              <a:r>
                <a:rPr lang="zh-CN" sz="1875" b="1" dirty="0">
                  <a:solidFill>
                    <a:srgbClr val="F5F5F7"/>
                  </a:solidFill>
                  <a:latin typeface="Arial"/>
                  <a:ea typeface="Microsoft YaHei"/>
                  <a:cs typeface="Arial"/>
                </a:rPr>
                <a:t>+17%</a:t>
              </a:r>
            </a:p>
          </p:txBody>
        </p:sp>
        <p:sp>
          <p:nvSpPr>
            <p:cNvPr id="36" name="TextBox 36"/>
            <p:cNvSpPr txBox="1"/>
            <p:nvPr/>
          </p:nvSpPr>
          <p:spPr>
            <a:xfrm>
              <a:off x="4919424" y="3117056"/>
              <a:ext cx="1933813" cy="228600"/>
            </a:xfrm>
            <a:prstGeom prst="rect">
              <a:avLst/>
            </a:prstGeom>
            <a:noFill/>
            <a:ln>
              <a:noFill/>
            </a:ln>
          </p:spPr>
          <p:txBody>
            <a:bodyPr wrap="none" lIns="0" tIns="0" rIns="0" bIns="0" anchor="t" anchorCtr="0">
              <a:spAutoFit/>
            </a:bodyPr>
            <a:lstStyle/>
            <a:p>
              <a:pPr algn="r"/>
              <a:r>
                <a:rPr lang="zh-CN" sz="1125" dirty="0">
                  <a:solidFill>
                    <a:srgbClr val="A1A1A6"/>
                  </a:solidFill>
                  <a:latin typeface="Arial"/>
                  <a:ea typeface="Microsoft YaHei"/>
                  <a:cs typeface="Arial"/>
                </a:rPr>
                <a:t>system memory bandwidth</a:t>
              </a:r>
            </a:p>
          </p:txBody>
        </p:sp>
        <p:sp>
          <p:nvSpPr>
            <p:cNvPr id="37" name="Line 37"/>
            <p:cNvSpPr/>
            <p:nvPr/>
          </p:nvSpPr>
          <p:spPr>
            <a:xfrm>
              <a:off x="10058400" y="3067050"/>
              <a:ext cx="533400" cy="9525"/>
            </a:xfrm>
            <a:custGeom>
              <a:avLst/>
              <a:gdLst/>
              <a:ahLst/>
              <a:cxnLst/>
              <a:rect l="l" t="t" r="r" b="b"/>
              <a:pathLst>
                <a:path w="533400" h="9525">
                  <a:moveTo>
                    <a:pt x="0" y="0"/>
                  </a:moveTo>
                  <a:lnTo>
                    <a:pt x="533400" y="0"/>
                  </a:lnTo>
                </a:path>
              </a:pathLst>
            </a:custGeom>
            <a:noFill/>
            <a:ln w="19050">
              <a:solidFill>
                <a:srgbClr val="2997FF"/>
              </a:solidFill>
            </a:ln>
          </p:spPr>
        </p:sp>
        <p:sp>
          <p:nvSpPr>
            <p:cNvPr id="38" name="TextBox 38"/>
            <p:cNvSpPr txBox="1"/>
            <p:nvPr/>
          </p:nvSpPr>
          <p:spPr>
            <a:xfrm>
              <a:off x="10577503" y="2767965"/>
              <a:ext cx="1142057" cy="365760"/>
            </a:xfrm>
            <a:prstGeom prst="rect">
              <a:avLst/>
            </a:prstGeom>
            <a:noFill/>
            <a:ln>
              <a:noFill/>
            </a:ln>
          </p:spPr>
          <p:txBody>
            <a:bodyPr wrap="none" lIns="0" tIns="0" rIns="0" bIns="0" anchor="t" anchorCtr="0">
              <a:spAutoFit/>
            </a:bodyPr>
            <a:lstStyle/>
            <a:p>
              <a:pPr algn="r"/>
              <a:r>
                <a:rPr lang="zh-CN" sz="1800" b="1" dirty="0">
                  <a:solidFill>
                    <a:srgbClr val="F5F5F7"/>
                  </a:solidFill>
                  <a:latin typeface="Arial"/>
                  <a:ea typeface="Microsoft YaHei"/>
                  <a:cs typeface="Arial"/>
                </a:rPr>
                <a:t>GPU +20%</a:t>
              </a:r>
            </a:p>
          </p:txBody>
        </p:sp>
        <p:sp>
          <p:nvSpPr>
            <p:cNvPr id="39" name="TextBox 39"/>
            <p:cNvSpPr txBox="1"/>
            <p:nvPr/>
          </p:nvSpPr>
          <p:spPr>
            <a:xfrm>
              <a:off x="10017204" y="3117056"/>
              <a:ext cx="1693783" cy="228600"/>
            </a:xfrm>
            <a:prstGeom prst="rect">
              <a:avLst/>
            </a:prstGeom>
            <a:noFill/>
            <a:ln>
              <a:noFill/>
            </a:ln>
          </p:spPr>
          <p:txBody>
            <a:bodyPr wrap="none" lIns="0" tIns="0" rIns="0" bIns="0" anchor="t" anchorCtr="0">
              <a:spAutoFit/>
            </a:bodyPr>
            <a:lstStyle/>
            <a:p>
              <a:pPr algn="r"/>
              <a:r>
                <a:rPr lang="zh-CN" sz="1125" dirty="0">
                  <a:solidFill>
                    <a:srgbClr val="A1A1A6"/>
                  </a:solidFill>
                  <a:latin typeface="Arial"/>
                  <a:ea typeface="Microsoft YaHei"/>
                  <a:cs typeface="Arial"/>
                </a:rPr>
                <a:t>up to, 6-core graphics</a:t>
              </a:r>
            </a:p>
          </p:txBody>
        </p:sp>
        <p:sp>
          <p:nvSpPr>
            <p:cNvPr id="40" name="Line 40"/>
            <p:cNvSpPr/>
            <p:nvPr/>
          </p:nvSpPr>
          <p:spPr>
            <a:xfrm>
              <a:off x="8810625" y="4276725"/>
              <a:ext cx="9525" cy="600075"/>
            </a:xfrm>
            <a:custGeom>
              <a:avLst/>
              <a:gdLst/>
              <a:ahLst/>
              <a:cxnLst/>
              <a:rect l="l" t="t" r="r" b="b"/>
              <a:pathLst>
                <a:path w="9525" h="600075">
                  <a:moveTo>
                    <a:pt x="0" y="0"/>
                  </a:moveTo>
                  <a:lnTo>
                    <a:pt x="0" y="600075"/>
                  </a:lnTo>
                </a:path>
              </a:pathLst>
            </a:custGeom>
            <a:noFill/>
            <a:ln w="19050">
              <a:solidFill>
                <a:srgbClr val="2997FF"/>
              </a:solidFill>
            </a:ln>
          </p:spPr>
        </p:sp>
        <p:sp>
          <p:nvSpPr>
            <p:cNvPr id="41" name="TextBox 41"/>
            <p:cNvSpPr txBox="1"/>
            <p:nvPr/>
          </p:nvSpPr>
          <p:spPr>
            <a:xfrm>
              <a:off x="7447895" y="5093494"/>
              <a:ext cx="2725460" cy="381000"/>
            </a:xfrm>
            <a:prstGeom prst="rect">
              <a:avLst/>
            </a:prstGeom>
            <a:noFill/>
            <a:ln>
              <a:noFill/>
            </a:ln>
          </p:spPr>
          <p:txBody>
            <a:bodyPr wrap="none" lIns="0" tIns="0" rIns="0" bIns="0" anchor="t" anchorCtr="0">
              <a:spAutoFit/>
            </a:bodyPr>
            <a:lstStyle/>
            <a:p>
              <a:pPr algn="ctr"/>
              <a:r>
                <a:rPr lang="zh-CN" sz="1875" b="1" dirty="0">
                  <a:solidFill>
                    <a:srgbClr val="F5F5F7"/>
                  </a:solidFill>
                  <a:latin typeface="Arial"/>
                  <a:ea typeface="Microsoft YaHei"/>
                  <a:cs typeface="Arial"/>
                </a:rPr>
                <a:t>CPU up to 15% faster</a:t>
              </a:r>
            </a:p>
          </p:txBody>
        </p:sp>
        <p:sp>
          <p:nvSpPr>
            <p:cNvPr id="42" name="TextBox 42"/>
            <p:cNvSpPr txBox="1"/>
            <p:nvPr/>
          </p:nvSpPr>
          <p:spPr>
            <a:xfrm>
              <a:off x="6804839" y="5460206"/>
              <a:ext cx="4011573" cy="228600"/>
            </a:xfrm>
            <a:prstGeom prst="rect">
              <a:avLst/>
            </a:prstGeom>
            <a:noFill/>
            <a:ln>
              <a:noFill/>
            </a:ln>
          </p:spPr>
          <p:txBody>
            <a:bodyPr wrap="none" lIns="0" tIns="0" rIns="0" bIns="0" anchor="t" anchorCtr="0">
              <a:spAutoFit/>
            </a:bodyPr>
            <a:lstStyle/>
            <a:p>
              <a:pPr algn="ctr"/>
              <a:r>
                <a:rPr lang="zh-CN" sz="1125" dirty="0">
                  <a:solidFill>
                    <a:srgbClr val="A1A1A6"/>
                  </a:solidFill>
                  <a:latin typeface="Arial"/>
                  <a:ea typeface="Microsoft YaHei"/>
                  <a:cs typeface="Arial"/>
                </a:rPr>
                <a:t>and up to 20% less power than the previous generation</a:t>
              </a:r>
            </a:p>
          </p:txBody>
        </p:sp>
      </p:grpSp>
      <p:sp>
        <p:nvSpPr>
          <p:cNvPr id="44" name="TextBox 44"/>
          <p:cNvSpPr txBox="1"/>
          <p:nvPr/>
        </p:nvSpPr>
        <p:spPr>
          <a:xfrm>
            <a:off x="654368" y="6276499"/>
            <a:ext cx="4588335" cy="198120"/>
          </a:xfrm>
          <a:prstGeom prst="rect">
            <a:avLst/>
          </a:prstGeom>
          <a:noFill/>
          <a:ln>
            <a:noFill/>
          </a:ln>
        </p:spPr>
        <p:txBody>
          <a:bodyPr wrap="none" lIns="0" tIns="0" rIns="0" bIns="0" anchor="t" anchorCtr="0">
            <a:spAutoFit/>
          </a:bodyPr>
          <a:lstStyle/>
          <a:p>
            <a:pPr algn="l"/>
            <a:r>
              <a:rPr lang="zh-CN" sz="975" dirty="0">
                <a:solidFill>
                  <a:srgbClr val="A1A1A6"/>
                </a:solidFill>
                <a:latin typeface="Arial"/>
                <a:ea typeface="Microsoft YaHei"/>
                <a:cs typeface="Arial"/>
              </a:rPr>
              <a:t>Source: Apple press release PDF, Apple Intelligence and A18 Pro sections</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ipe(left)">
                                      <p:cBhvr>
                                        <p:cTn id="11" dur="400"/>
                                        <p:tgtEl>
                                          <p:spTgt spid="18"/>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childTnLst>
                          </p:cTn>
                        </p:par>
                        <p:par>
                          <p:cTn id="16" fill="hold">
                            <p:stCondLst>
                              <p:cond delay="2700"/>
                            </p:stCondLst>
                            <p:childTnLst>
                              <p:par>
                                <p:cTn id="17" presetID="23" presetClass="entr" presetSubtype="0" fill="hold" nodeType="after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image">
                                      <p:cBhvr>
                                        <p:cTn id="19" dur="400"/>
                                        <p:tgtEl>
                                          <p:spTgt spid="30"/>
                                        </p:tgtEl>
                                      </p:cBhvr>
                                    </p:animEffect>
                                  </p:childTnLst>
                                </p:cTn>
                              </p:par>
                            </p:childTnLst>
                          </p:cTn>
                        </p:par>
                        <p:par>
                          <p:cTn id="20" fill="hold">
                            <p:stCondLst>
                              <p:cond delay="3600"/>
                            </p:stCondLst>
                            <p:childTnLst>
                              <p:par>
                                <p:cTn id="21" presetID="10" presetClass="entr" presetSubtype="0" fill="hold" nodeType="afterEffect">
                                  <p:stCondLst>
                                    <p:cond delay="0"/>
                                  </p:stCondLst>
                                  <p:childTnLst>
                                    <p:set>
                                      <p:cBhvr>
                                        <p:cTn id="22" dur="1" fill="hold">
                                          <p:stCondLst>
                                            <p:cond delay="0"/>
                                          </p:stCondLst>
                                        </p:cTn>
                                        <p:tgtEl>
                                          <p:spTgt spid="43"/>
                                        </p:tgtEl>
                                        <p:attrNameLst>
                                          <p:attrName>style.visibility</p:attrName>
                                        </p:attrNameLst>
                                      </p:cBhvr>
                                      <p:to>
                                        <p:strVal val="visible"/>
                                      </p:to>
                                    </p:set>
                                    <p:animEffect transition="in" filter="fade">
                                      <p:cBhvr>
                                        <p:cTn id="23" dur="4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8" grpId="0"/>
      <p:bldP spid="23" grpId="0"/>
      <p:bldP spid="30" grpId="0"/>
      <p:bldP spid="4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50506"/>
          </a:solidFill>
          <a:ln>
            <a:noFill/>
          </a:ln>
        </p:spPr>
      </p:sp>
      <p:grpSp>
        <p:nvGrpSpPr>
          <p:cNvPr id="5" name="Group 5"/>
          <p:cNvGrpSpPr/>
          <p:nvPr/>
        </p:nvGrpSpPr>
        <p:grpSpPr>
          <a:xfrm>
            <a:off x="539115" y="439102"/>
            <a:ext cx="11319772" cy="213360"/>
            <a:chOff x="539115" y="439102"/>
            <a:chExt cx="11319772" cy="213360"/>
          </a:xfrm>
        </p:grpSpPr>
        <p:sp>
          <p:nvSpPr>
            <p:cNvPr id="3" name="TextBox 3"/>
            <p:cNvSpPr txBox="1"/>
            <p:nvPr/>
          </p:nvSpPr>
          <p:spPr>
            <a:xfrm>
              <a:off x="539115" y="439102"/>
              <a:ext cx="1989365" cy="213360"/>
            </a:xfrm>
            <a:prstGeom prst="rect">
              <a:avLst/>
            </a:prstGeom>
            <a:noFill/>
            <a:ln>
              <a:noFill/>
            </a:ln>
          </p:spPr>
          <p:txBody>
            <a:bodyPr wrap="none" lIns="0" tIns="0" rIns="0" bIns="0" anchor="t" anchorCtr="0">
              <a:spAutoFit/>
            </a:bodyPr>
            <a:lstStyle/>
            <a:p>
              <a:pPr algn="l"/>
              <a:r>
                <a:rPr lang="zh-CN" sz="1050" b="1" dirty="0">
                  <a:solidFill>
                    <a:srgbClr val="A1A1A6"/>
                  </a:solidFill>
                  <a:latin typeface="Arial"/>
                  <a:ea typeface="Microsoft YaHei"/>
                  <a:cs typeface="Arial"/>
                </a:rPr>
                <a:t>DESIGN, DISPLAY, DURABILITY</a:t>
              </a:r>
            </a:p>
          </p:txBody>
        </p:sp>
        <p:sp>
          <p:nvSpPr>
            <p:cNvPr id="4" name="TextBox 4"/>
            <p:cNvSpPr txBox="1"/>
            <p:nvPr/>
          </p:nvSpPr>
          <p:spPr>
            <a:xfrm>
              <a:off x="11398568" y="447199"/>
              <a:ext cx="460319" cy="198120"/>
            </a:xfrm>
            <a:prstGeom prst="rect">
              <a:avLst/>
            </a:prstGeom>
            <a:noFill/>
            <a:ln>
              <a:noFill/>
            </a:ln>
          </p:spPr>
          <p:txBody>
            <a:bodyPr wrap="none" lIns="0" tIns="0" rIns="0" bIns="0" anchor="t" anchorCtr="0">
              <a:spAutoFit/>
            </a:bodyPr>
            <a:lstStyle/>
            <a:p>
              <a:pPr algn="l"/>
              <a:r>
                <a:rPr lang="zh-CN" sz="975" dirty="0">
                  <a:solidFill>
                    <a:srgbClr val="A1A1A6"/>
                  </a:solidFill>
                  <a:latin typeface="Consolas"/>
                  <a:ea typeface="Microsoft YaHei"/>
                  <a:cs typeface="Consolas"/>
                </a:rPr>
                <a:t>03 / 09</a:t>
              </a:r>
            </a:p>
          </p:txBody>
        </p:sp>
      </p:grpSp>
      <p:grpSp>
        <p:nvGrpSpPr>
          <p:cNvPr id="9" name="Group 9"/>
          <p:cNvGrpSpPr/>
          <p:nvPr/>
        </p:nvGrpSpPr>
        <p:grpSpPr>
          <a:xfrm>
            <a:off x="516255" y="816292"/>
            <a:ext cx="7857315" cy="1036320"/>
            <a:chOff x="516255" y="816292"/>
            <a:chExt cx="7857315" cy="1036320"/>
          </a:xfrm>
        </p:grpSpPr>
        <p:sp>
          <p:nvSpPr>
            <p:cNvPr id="6" name="TextBox 6"/>
            <p:cNvSpPr txBox="1"/>
            <p:nvPr/>
          </p:nvSpPr>
          <p:spPr>
            <a:xfrm>
              <a:off x="516255" y="816292"/>
              <a:ext cx="7634385" cy="579120"/>
            </a:xfrm>
            <a:prstGeom prst="rect">
              <a:avLst/>
            </a:prstGeom>
            <a:noFill/>
            <a:ln>
              <a:noFill/>
            </a:ln>
          </p:spPr>
          <p:txBody>
            <a:bodyPr wrap="none" lIns="0" tIns="0" rIns="0" bIns="0" anchor="t" anchorCtr="0">
              <a:spAutoFit/>
            </a:bodyPr>
            <a:lstStyle/>
            <a:p>
              <a:pPr algn="l"/>
              <a:r>
                <a:rPr lang="zh-CN" sz="2850" b="1" dirty="0">
                  <a:solidFill>
                    <a:srgbClr val="F5F5F7"/>
                  </a:solidFill>
                  <a:latin typeface="Arial"/>
                  <a:ea typeface="Microsoft YaHei"/>
                  <a:cs typeface="Arial"/>
                </a:rPr>
                <a:t>A larger Pro canvas in a titanium build.</a:t>
              </a:r>
            </a:p>
          </p:txBody>
        </p:sp>
        <p:sp>
          <p:nvSpPr>
            <p:cNvPr id="7" name="TextBox 7"/>
            <p:cNvSpPr txBox="1"/>
            <p:nvPr/>
          </p:nvSpPr>
          <p:spPr>
            <a:xfrm>
              <a:off x="535305" y="1311592"/>
              <a:ext cx="7838265" cy="274320"/>
            </a:xfrm>
            <a:prstGeom prst="rect">
              <a:avLst/>
            </a:prstGeom>
            <a:noFill/>
            <a:ln>
              <a:noFill/>
            </a:ln>
          </p:spPr>
          <p:txBody>
            <a:bodyPr wrap="none" lIns="0" tIns="0" rIns="0" bIns="0" anchor="t" anchorCtr="0">
              <a:spAutoFit/>
            </a:bodyPr>
            <a:lstStyle/>
            <a:p>
              <a:pPr algn="l"/>
              <a:r>
                <a:rPr lang="zh-CN" sz="1350" dirty="0">
                  <a:solidFill>
                    <a:srgbClr val="A1A1A6"/>
                  </a:solidFill>
                  <a:latin typeface="Arial"/>
                  <a:ea typeface="Microsoft YaHei"/>
                  <a:cs typeface="Arial"/>
                </a:rPr>
                <a:t>Apple positions the line as a premium physical product: bigger displays, thinner borders,</a:t>
              </a:r>
            </a:p>
          </p:txBody>
        </p:sp>
        <p:sp>
          <p:nvSpPr>
            <p:cNvPr id="8" name="TextBox 8"/>
            <p:cNvSpPr txBox="1"/>
            <p:nvPr/>
          </p:nvSpPr>
          <p:spPr>
            <a:xfrm>
              <a:off x="535305" y="1578292"/>
              <a:ext cx="3328702" cy="274320"/>
            </a:xfrm>
            <a:prstGeom prst="rect">
              <a:avLst/>
            </a:prstGeom>
            <a:noFill/>
            <a:ln>
              <a:noFill/>
            </a:ln>
          </p:spPr>
          <p:txBody>
            <a:bodyPr wrap="none" lIns="0" tIns="0" rIns="0" bIns="0" anchor="t" anchorCtr="0">
              <a:spAutoFit/>
            </a:bodyPr>
            <a:lstStyle/>
            <a:p>
              <a:pPr algn="l"/>
              <a:r>
                <a:rPr lang="zh-CN" sz="1350" dirty="0">
                  <a:solidFill>
                    <a:srgbClr val="A1A1A6"/>
                  </a:solidFill>
                  <a:latin typeface="Arial"/>
                  <a:ea typeface="Microsoft YaHei"/>
                  <a:cs typeface="Arial"/>
                </a:rPr>
                <a:t>more durable glass, and Pro finishes.</a:t>
              </a:r>
            </a:p>
          </p:txBody>
        </p:sp>
      </p:grpSp>
      <p:grpSp>
        <p:nvGrpSpPr>
          <p:cNvPr id="13" name="Group 13"/>
          <p:cNvGrpSpPr/>
          <p:nvPr/>
        </p:nvGrpSpPr>
        <p:grpSpPr>
          <a:xfrm>
            <a:off x="552450" y="1866900"/>
            <a:ext cx="5219700" cy="3486150"/>
            <a:chOff x="552450" y="1866900"/>
            <a:chExt cx="5219700" cy="3486150"/>
          </a:xfrm>
        </p:grpSpPr>
        <p:sp>
          <p:nvSpPr>
            <p:cNvPr id="10" name="Rectangle 10"/>
            <p:cNvSpPr/>
            <p:nvPr/>
          </p:nvSpPr>
          <p:spPr>
            <a:xfrm>
              <a:off x="552450" y="1866900"/>
              <a:ext cx="5219700" cy="3486150"/>
            </a:xfrm>
            <a:prstGeom prst="roundRect">
              <a:avLst>
                <a:gd name="adj" fmla="val 7104"/>
              </a:avLst>
            </a:prstGeom>
            <a:solidFill>
              <a:srgbClr val="121214"/>
            </a:solidFill>
            <a:ln w="19050">
              <a:solidFill>
                <a:srgbClr val="3A3A3C"/>
              </a:solidFill>
            </a:ln>
          </p:spPr>
        </p:sp>
        <p:pic>
          <p:nvPicPr>
            <p:cNvPr id="11" name="Image 11"/>
            <p:cNvPicPr>
              <a:picLocks noChangeAspect="1"/>
            </p:cNvPicPr>
            <p:nvPr/>
          </p:nvPicPr>
          <p:blipFill>
            <a:blip r:embed="rId2"/>
            <a:stretch>
              <a:fillRect/>
            </a:stretch>
          </p:blipFill>
          <p:spPr>
            <a:xfrm>
              <a:off x="1018081" y="2114550"/>
              <a:ext cx="4288438" cy="2857500"/>
            </a:xfrm>
            <a:prstGeom prst="rect">
              <a:avLst/>
            </a:prstGeom>
          </p:spPr>
        </p:pic>
        <p:sp>
          <p:nvSpPr>
            <p:cNvPr id="12" name="TextBox 12"/>
            <p:cNvSpPr txBox="1"/>
            <p:nvPr/>
          </p:nvSpPr>
          <p:spPr>
            <a:xfrm>
              <a:off x="863918" y="5114449"/>
              <a:ext cx="3951256" cy="198120"/>
            </a:xfrm>
            <a:prstGeom prst="rect">
              <a:avLst/>
            </a:prstGeom>
            <a:noFill/>
            <a:ln>
              <a:noFill/>
            </a:ln>
          </p:spPr>
          <p:txBody>
            <a:bodyPr wrap="none" lIns="0" tIns="0" rIns="0" bIns="0" anchor="t" anchorCtr="0">
              <a:spAutoFit/>
            </a:bodyPr>
            <a:lstStyle/>
            <a:p>
              <a:pPr algn="l"/>
              <a:r>
                <a:rPr lang="zh-CN" sz="975" dirty="0">
                  <a:solidFill>
                    <a:srgbClr val="A1A1A6"/>
                  </a:solidFill>
                  <a:latin typeface="Arial"/>
                  <a:ea typeface="Microsoft YaHei"/>
                  <a:cs typeface="Arial"/>
                </a:rPr>
                <a:t>Source image: iPhone 16 Pro finishes from Apple press release</a:t>
              </a:r>
            </a:p>
          </p:txBody>
        </p:sp>
      </p:grpSp>
      <p:grpSp>
        <p:nvGrpSpPr>
          <p:cNvPr id="18" name="Group 18"/>
          <p:cNvGrpSpPr/>
          <p:nvPr/>
        </p:nvGrpSpPr>
        <p:grpSpPr>
          <a:xfrm>
            <a:off x="6172200" y="1866900"/>
            <a:ext cx="2362200" cy="1447800"/>
            <a:chOff x="6172200" y="1866900"/>
            <a:chExt cx="2362200" cy="1447800"/>
          </a:xfrm>
        </p:grpSpPr>
        <p:sp>
          <p:nvSpPr>
            <p:cNvPr id="14" name="Rectangle 14"/>
            <p:cNvSpPr/>
            <p:nvPr/>
          </p:nvSpPr>
          <p:spPr>
            <a:xfrm>
              <a:off x="6172200" y="1866900"/>
              <a:ext cx="2362200" cy="1447800"/>
            </a:xfrm>
            <a:prstGeom prst="roundRect">
              <a:avLst>
                <a:gd name="adj" fmla="val 11842"/>
              </a:avLst>
            </a:prstGeom>
            <a:solidFill>
              <a:srgbClr val="121214"/>
            </a:solidFill>
            <a:ln w="19050">
              <a:solidFill>
                <a:srgbClr val="3A3A3C"/>
              </a:solidFill>
            </a:ln>
          </p:spPr>
        </p:sp>
        <p:sp>
          <p:nvSpPr>
            <p:cNvPr id="15" name="TextBox 15"/>
            <p:cNvSpPr txBox="1"/>
            <p:nvPr/>
          </p:nvSpPr>
          <p:spPr>
            <a:xfrm>
              <a:off x="6443662" y="2164556"/>
              <a:ext cx="595646" cy="228600"/>
            </a:xfrm>
            <a:prstGeom prst="rect">
              <a:avLst/>
            </a:prstGeom>
            <a:noFill/>
            <a:ln>
              <a:noFill/>
            </a:ln>
          </p:spPr>
          <p:txBody>
            <a:bodyPr wrap="none" lIns="0" tIns="0" rIns="0" bIns="0" anchor="t" anchorCtr="0">
              <a:spAutoFit/>
            </a:bodyPr>
            <a:lstStyle/>
            <a:p>
              <a:pPr algn="l"/>
              <a:r>
                <a:rPr lang="zh-CN" sz="1125" b="1" dirty="0">
                  <a:solidFill>
                    <a:srgbClr val="2997FF"/>
                  </a:solidFill>
                  <a:latin typeface="Arial"/>
                  <a:ea typeface="Microsoft YaHei"/>
                  <a:cs typeface="Arial"/>
                </a:rPr>
                <a:t>DISPLAY</a:t>
              </a:r>
            </a:p>
          </p:txBody>
        </p:sp>
        <p:sp>
          <p:nvSpPr>
            <p:cNvPr id="16" name="TextBox 16"/>
            <p:cNvSpPr txBox="1"/>
            <p:nvPr/>
          </p:nvSpPr>
          <p:spPr>
            <a:xfrm>
              <a:off x="6421755" y="2416492"/>
              <a:ext cx="1848162" cy="579120"/>
            </a:xfrm>
            <a:prstGeom prst="rect">
              <a:avLst/>
            </a:prstGeom>
            <a:noFill/>
            <a:ln>
              <a:noFill/>
            </a:ln>
          </p:spPr>
          <p:txBody>
            <a:bodyPr wrap="none" lIns="0" tIns="0" rIns="0" bIns="0" anchor="t" anchorCtr="0">
              <a:spAutoFit/>
            </a:bodyPr>
            <a:lstStyle/>
            <a:p>
              <a:pPr algn="l"/>
              <a:r>
                <a:rPr lang="zh-CN" sz="2850" b="1" dirty="0">
                  <a:solidFill>
                    <a:srgbClr val="F5F5F7"/>
                  </a:solidFill>
                  <a:latin typeface="Arial"/>
                  <a:ea typeface="Microsoft YaHei"/>
                  <a:cs typeface="Arial"/>
                </a:rPr>
                <a:t>6.3 / 6.9</a:t>
              </a:r>
            </a:p>
          </p:txBody>
        </p:sp>
        <p:sp>
          <p:nvSpPr>
            <p:cNvPr id="17" name="TextBox 17"/>
            <p:cNvSpPr txBox="1"/>
            <p:nvPr/>
          </p:nvSpPr>
          <p:spPr>
            <a:xfrm>
              <a:off x="6441758" y="2910364"/>
              <a:ext cx="1792105" cy="259080"/>
            </a:xfrm>
            <a:prstGeom prst="rect">
              <a:avLst/>
            </a:prstGeom>
            <a:noFill/>
            <a:ln>
              <a:noFill/>
            </a:ln>
          </p:spPr>
          <p:txBody>
            <a:bodyPr wrap="none" lIns="0" tIns="0" rIns="0" bIns="0" anchor="t" anchorCtr="0">
              <a:spAutoFit/>
            </a:bodyPr>
            <a:lstStyle/>
            <a:p>
              <a:pPr algn="l"/>
              <a:r>
                <a:rPr lang="zh-CN" sz="1275" dirty="0">
                  <a:solidFill>
                    <a:srgbClr val="A1A1A6"/>
                  </a:solidFill>
                  <a:latin typeface="Arial"/>
                  <a:ea typeface="Microsoft YaHei"/>
                  <a:cs typeface="Arial"/>
                </a:rPr>
                <a:t>inch Pro display sizes</a:t>
              </a:r>
            </a:p>
          </p:txBody>
        </p:sp>
      </p:grpSp>
      <p:grpSp>
        <p:nvGrpSpPr>
          <p:cNvPr id="23" name="Group 23"/>
          <p:cNvGrpSpPr/>
          <p:nvPr/>
        </p:nvGrpSpPr>
        <p:grpSpPr>
          <a:xfrm>
            <a:off x="8839200" y="1866900"/>
            <a:ext cx="3369718" cy="1447800"/>
            <a:chOff x="8839200" y="1866900"/>
            <a:chExt cx="3369718" cy="1447800"/>
          </a:xfrm>
        </p:grpSpPr>
        <p:sp>
          <p:nvSpPr>
            <p:cNvPr id="19" name="Rectangle 19"/>
            <p:cNvSpPr/>
            <p:nvPr/>
          </p:nvSpPr>
          <p:spPr>
            <a:xfrm>
              <a:off x="8839200" y="1866900"/>
              <a:ext cx="2781300" cy="1447800"/>
            </a:xfrm>
            <a:prstGeom prst="roundRect">
              <a:avLst>
                <a:gd name="adj" fmla="val 11842"/>
              </a:avLst>
            </a:prstGeom>
            <a:solidFill>
              <a:srgbClr val="121214"/>
            </a:solidFill>
            <a:ln w="19050">
              <a:solidFill>
                <a:srgbClr val="3A3A3C"/>
              </a:solidFill>
            </a:ln>
          </p:spPr>
        </p:sp>
        <p:sp>
          <p:nvSpPr>
            <p:cNvPr id="20" name="TextBox 20"/>
            <p:cNvSpPr txBox="1"/>
            <p:nvPr/>
          </p:nvSpPr>
          <p:spPr>
            <a:xfrm>
              <a:off x="9110662" y="2164556"/>
              <a:ext cx="942189" cy="228600"/>
            </a:xfrm>
            <a:prstGeom prst="rect">
              <a:avLst/>
            </a:prstGeom>
            <a:noFill/>
            <a:ln>
              <a:noFill/>
            </a:ln>
          </p:spPr>
          <p:txBody>
            <a:bodyPr wrap="none" lIns="0" tIns="0" rIns="0" bIns="0" anchor="t" anchorCtr="0">
              <a:spAutoFit/>
            </a:bodyPr>
            <a:lstStyle/>
            <a:p>
              <a:pPr algn="l"/>
              <a:r>
                <a:rPr lang="zh-CN" sz="1125" b="1" dirty="0">
                  <a:solidFill>
                    <a:srgbClr val="2997FF"/>
                  </a:solidFill>
                  <a:latin typeface="Arial"/>
                  <a:ea typeface="Microsoft YaHei"/>
                  <a:cs typeface="Arial"/>
                </a:rPr>
                <a:t>SCREEN EDGE</a:t>
              </a:r>
            </a:p>
          </p:txBody>
        </p:sp>
        <p:sp>
          <p:nvSpPr>
            <p:cNvPr id="21" name="TextBox 21"/>
            <p:cNvSpPr txBox="1"/>
            <p:nvPr/>
          </p:nvSpPr>
          <p:spPr>
            <a:xfrm>
              <a:off x="9091612" y="2440781"/>
              <a:ext cx="3117306" cy="533400"/>
            </a:xfrm>
            <a:prstGeom prst="rect">
              <a:avLst/>
            </a:prstGeom>
            <a:noFill/>
            <a:ln>
              <a:noFill/>
            </a:ln>
          </p:spPr>
          <p:txBody>
            <a:bodyPr wrap="none" lIns="0" tIns="0" rIns="0" bIns="0" anchor="t" anchorCtr="0">
              <a:spAutoFit/>
            </a:bodyPr>
            <a:lstStyle/>
            <a:p>
              <a:pPr algn="l"/>
              <a:r>
                <a:rPr lang="zh-CN" sz="2625" b="1" dirty="0">
                  <a:solidFill>
                    <a:srgbClr val="F5F5F7"/>
                  </a:solidFill>
                  <a:latin typeface="Arial"/>
                  <a:ea typeface="Microsoft YaHei"/>
                  <a:cs typeface="Arial"/>
                </a:rPr>
                <a:t>Thinnest borders</a:t>
              </a:r>
            </a:p>
          </p:txBody>
        </p:sp>
        <p:sp>
          <p:nvSpPr>
            <p:cNvPr id="22" name="TextBox 22"/>
            <p:cNvSpPr txBox="1"/>
            <p:nvPr/>
          </p:nvSpPr>
          <p:spPr>
            <a:xfrm>
              <a:off x="9108758" y="2910364"/>
              <a:ext cx="1732597" cy="259080"/>
            </a:xfrm>
            <a:prstGeom prst="rect">
              <a:avLst/>
            </a:prstGeom>
            <a:noFill/>
            <a:ln>
              <a:noFill/>
            </a:ln>
          </p:spPr>
          <p:txBody>
            <a:bodyPr wrap="none" lIns="0" tIns="0" rIns="0" bIns="0" anchor="t" anchorCtr="0">
              <a:spAutoFit/>
            </a:bodyPr>
            <a:lstStyle/>
            <a:p>
              <a:pPr algn="l"/>
              <a:r>
                <a:rPr lang="zh-CN" sz="1275" dirty="0">
                  <a:solidFill>
                    <a:srgbClr val="A1A1A6"/>
                  </a:solidFill>
                  <a:latin typeface="Arial"/>
                  <a:ea typeface="Microsoft YaHei"/>
                  <a:cs typeface="Arial"/>
                </a:rPr>
                <a:t>on any Apple product</a:t>
              </a:r>
            </a:p>
          </p:txBody>
        </p:sp>
      </p:grpSp>
      <p:grpSp>
        <p:nvGrpSpPr>
          <p:cNvPr id="29" name="Group 29"/>
          <p:cNvGrpSpPr/>
          <p:nvPr/>
        </p:nvGrpSpPr>
        <p:grpSpPr>
          <a:xfrm>
            <a:off x="6172200" y="3638550"/>
            <a:ext cx="2416957" cy="1540669"/>
            <a:chOff x="6172200" y="3638550"/>
            <a:chExt cx="2416957" cy="1540669"/>
          </a:xfrm>
        </p:grpSpPr>
        <p:sp>
          <p:nvSpPr>
            <p:cNvPr id="24" name="Rectangle 24"/>
            <p:cNvSpPr/>
            <p:nvPr/>
          </p:nvSpPr>
          <p:spPr>
            <a:xfrm>
              <a:off x="6172200" y="3638550"/>
              <a:ext cx="2362200" cy="1466850"/>
            </a:xfrm>
            <a:prstGeom prst="roundRect">
              <a:avLst>
                <a:gd name="adj" fmla="val 11688"/>
              </a:avLst>
            </a:prstGeom>
            <a:solidFill>
              <a:srgbClr val="121214"/>
            </a:solidFill>
            <a:ln w="19050">
              <a:solidFill>
                <a:srgbClr val="3A3A3C"/>
              </a:solidFill>
            </a:ln>
          </p:spPr>
        </p:sp>
        <p:sp>
          <p:nvSpPr>
            <p:cNvPr id="25" name="TextBox 25"/>
            <p:cNvSpPr txBox="1"/>
            <p:nvPr/>
          </p:nvSpPr>
          <p:spPr>
            <a:xfrm>
              <a:off x="6443662" y="3936206"/>
              <a:ext cx="816173" cy="228600"/>
            </a:xfrm>
            <a:prstGeom prst="rect">
              <a:avLst/>
            </a:prstGeom>
            <a:noFill/>
            <a:ln>
              <a:noFill/>
            </a:ln>
          </p:spPr>
          <p:txBody>
            <a:bodyPr wrap="none" lIns="0" tIns="0" rIns="0" bIns="0" anchor="t" anchorCtr="0">
              <a:spAutoFit/>
            </a:bodyPr>
            <a:lstStyle/>
            <a:p>
              <a:pPr algn="l"/>
              <a:r>
                <a:rPr lang="zh-CN" sz="1125" b="1" dirty="0">
                  <a:solidFill>
                    <a:srgbClr val="D8C6A3"/>
                  </a:solidFill>
                  <a:latin typeface="Arial"/>
                  <a:ea typeface="Microsoft YaHei"/>
                  <a:cs typeface="Arial"/>
                </a:rPr>
                <a:t>DURABILITY</a:t>
              </a:r>
            </a:p>
          </p:txBody>
        </p:sp>
        <p:sp>
          <p:nvSpPr>
            <p:cNvPr id="26" name="TextBox 26"/>
            <p:cNvSpPr txBox="1"/>
            <p:nvPr/>
          </p:nvSpPr>
          <p:spPr>
            <a:xfrm>
              <a:off x="6421755" y="4188142"/>
              <a:ext cx="2167402" cy="579120"/>
            </a:xfrm>
            <a:prstGeom prst="rect">
              <a:avLst/>
            </a:prstGeom>
            <a:noFill/>
            <a:ln>
              <a:noFill/>
            </a:ln>
          </p:spPr>
          <p:txBody>
            <a:bodyPr wrap="none" lIns="0" tIns="0" rIns="0" bIns="0" anchor="t" anchorCtr="0">
              <a:spAutoFit/>
            </a:bodyPr>
            <a:lstStyle/>
            <a:p>
              <a:pPr algn="l"/>
              <a:r>
                <a:rPr lang="zh-CN" sz="2850" b="1" dirty="0">
                  <a:solidFill>
                    <a:srgbClr val="F5F5F7"/>
                  </a:solidFill>
                  <a:latin typeface="Arial"/>
                  <a:ea typeface="Microsoft YaHei"/>
                  <a:cs typeface="Arial"/>
                </a:rPr>
                <a:t>2x tougher</a:t>
              </a:r>
            </a:p>
          </p:txBody>
        </p:sp>
        <p:sp>
          <p:nvSpPr>
            <p:cNvPr id="27" name="TextBox 27"/>
            <p:cNvSpPr txBox="1"/>
            <p:nvPr/>
          </p:nvSpPr>
          <p:spPr>
            <a:xfrm>
              <a:off x="6441758" y="4682014"/>
              <a:ext cx="1537073" cy="259080"/>
            </a:xfrm>
            <a:prstGeom prst="rect">
              <a:avLst/>
            </a:prstGeom>
            <a:noFill/>
            <a:ln>
              <a:noFill/>
            </a:ln>
          </p:spPr>
          <p:txBody>
            <a:bodyPr wrap="none" lIns="0" tIns="0" rIns="0" bIns="0" anchor="t" anchorCtr="0">
              <a:spAutoFit/>
            </a:bodyPr>
            <a:lstStyle/>
            <a:p>
              <a:pPr algn="l"/>
              <a:r>
                <a:rPr lang="zh-CN" sz="1275" dirty="0">
                  <a:solidFill>
                    <a:srgbClr val="A1A1A6"/>
                  </a:solidFill>
                  <a:latin typeface="Arial"/>
                  <a:ea typeface="Microsoft YaHei"/>
                  <a:cs typeface="Arial"/>
                </a:rPr>
                <a:t>Ceramic Shield vs.</a:t>
              </a:r>
            </a:p>
          </p:txBody>
        </p:sp>
        <p:sp>
          <p:nvSpPr>
            <p:cNvPr id="28" name="TextBox 28"/>
            <p:cNvSpPr txBox="1"/>
            <p:nvPr/>
          </p:nvSpPr>
          <p:spPr>
            <a:xfrm>
              <a:off x="6441758" y="4920139"/>
              <a:ext cx="2047137" cy="259080"/>
            </a:xfrm>
            <a:prstGeom prst="rect">
              <a:avLst/>
            </a:prstGeom>
            <a:noFill/>
            <a:ln>
              <a:noFill/>
            </a:ln>
          </p:spPr>
          <p:txBody>
            <a:bodyPr wrap="none" lIns="0" tIns="0" rIns="0" bIns="0" anchor="t" anchorCtr="0">
              <a:spAutoFit/>
            </a:bodyPr>
            <a:lstStyle/>
            <a:p>
              <a:pPr algn="l"/>
              <a:r>
                <a:rPr lang="zh-CN" sz="1275" dirty="0">
                  <a:solidFill>
                    <a:srgbClr val="A1A1A6"/>
                  </a:solidFill>
                  <a:latin typeface="Arial"/>
                  <a:ea typeface="Microsoft YaHei"/>
                  <a:cs typeface="Arial"/>
                </a:rPr>
                <a:t>glass on any smartphone</a:t>
              </a:r>
            </a:p>
          </p:txBody>
        </p:sp>
      </p:grpSp>
      <p:grpSp>
        <p:nvGrpSpPr>
          <p:cNvPr id="35" name="Group 35"/>
          <p:cNvGrpSpPr/>
          <p:nvPr/>
        </p:nvGrpSpPr>
        <p:grpSpPr>
          <a:xfrm>
            <a:off x="8839200" y="3638550"/>
            <a:ext cx="2781300" cy="1600200"/>
            <a:chOff x="8839200" y="3638550"/>
            <a:chExt cx="2781300" cy="1600200"/>
          </a:xfrm>
        </p:grpSpPr>
        <p:sp>
          <p:nvSpPr>
            <p:cNvPr id="30" name="Rectangle 30"/>
            <p:cNvSpPr/>
            <p:nvPr/>
          </p:nvSpPr>
          <p:spPr>
            <a:xfrm>
              <a:off x="8839200" y="3638550"/>
              <a:ext cx="2781300" cy="1466850"/>
            </a:xfrm>
            <a:prstGeom prst="roundRect">
              <a:avLst>
                <a:gd name="adj" fmla="val 11688"/>
              </a:avLst>
            </a:prstGeom>
            <a:solidFill>
              <a:srgbClr val="121214"/>
            </a:solidFill>
            <a:ln w="19050">
              <a:solidFill>
                <a:srgbClr val="3A3A3C"/>
              </a:solidFill>
            </a:ln>
          </p:spPr>
        </p:sp>
        <p:sp>
          <p:nvSpPr>
            <p:cNvPr id="31" name="TextBox 31"/>
            <p:cNvSpPr txBox="1"/>
            <p:nvPr/>
          </p:nvSpPr>
          <p:spPr>
            <a:xfrm>
              <a:off x="9110662" y="3936206"/>
              <a:ext cx="1335988" cy="228600"/>
            </a:xfrm>
            <a:prstGeom prst="rect">
              <a:avLst/>
            </a:prstGeom>
            <a:noFill/>
            <a:ln>
              <a:noFill/>
            </a:ln>
          </p:spPr>
          <p:txBody>
            <a:bodyPr wrap="none" lIns="0" tIns="0" rIns="0" bIns="0" anchor="t" anchorCtr="0">
              <a:spAutoFit/>
            </a:bodyPr>
            <a:lstStyle/>
            <a:p>
              <a:pPr algn="l"/>
              <a:r>
                <a:rPr lang="zh-CN" sz="1125" b="1" dirty="0">
                  <a:solidFill>
                    <a:srgbClr val="30D158"/>
                  </a:solidFill>
                  <a:latin typeface="Arial"/>
                  <a:ea typeface="Microsoft YaHei"/>
                  <a:cs typeface="Arial"/>
                </a:rPr>
                <a:t>BATTERY HEADLINE</a:t>
              </a:r>
            </a:p>
          </p:txBody>
        </p:sp>
        <p:sp>
          <p:nvSpPr>
            <p:cNvPr id="32" name="TextBox 32"/>
            <p:cNvSpPr txBox="1"/>
            <p:nvPr/>
          </p:nvSpPr>
          <p:spPr>
            <a:xfrm>
              <a:off x="9094470" y="4236720"/>
              <a:ext cx="2362848" cy="487680"/>
            </a:xfrm>
            <a:prstGeom prst="rect">
              <a:avLst/>
            </a:prstGeom>
            <a:noFill/>
            <a:ln>
              <a:noFill/>
            </a:ln>
          </p:spPr>
          <p:txBody>
            <a:bodyPr wrap="none" lIns="0" tIns="0" rIns="0" bIns="0" anchor="t" anchorCtr="0">
              <a:spAutoFit/>
            </a:bodyPr>
            <a:lstStyle/>
            <a:p>
              <a:pPr algn="l"/>
              <a:r>
                <a:rPr lang="zh-CN" sz="2400" b="1" dirty="0">
                  <a:solidFill>
                    <a:srgbClr val="F5F5F7"/>
                  </a:solidFill>
                  <a:latin typeface="Arial"/>
                  <a:ea typeface="Microsoft YaHei"/>
                  <a:cs typeface="Arial"/>
                </a:rPr>
                <a:t>Pro Max: best</a:t>
              </a:r>
            </a:p>
          </p:txBody>
        </p:sp>
        <p:sp>
          <p:nvSpPr>
            <p:cNvPr id="33" name="TextBox 33"/>
            <p:cNvSpPr txBox="1"/>
            <p:nvPr/>
          </p:nvSpPr>
          <p:spPr>
            <a:xfrm>
              <a:off x="9094470" y="4608195"/>
              <a:ext cx="2480462" cy="487680"/>
            </a:xfrm>
            <a:prstGeom prst="rect">
              <a:avLst/>
            </a:prstGeom>
            <a:noFill/>
            <a:ln>
              <a:noFill/>
            </a:ln>
          </p:spPr>
          <p:txBody>
            <a:bodyPr wrap="none" lIns="0" tIns="0" rIns="0" bIns="0" anchor="t" anchorCtr="0">
              <a:spAutoFit/>
            </a:bodyPr>
            <a:lstStyle/>
            <a:p>
              <a:pPr algn="l"/>
              <a:r>
                <a:rPr lang="zh-CN" sz="2400" b="1" dirty="0">
                  <a:solidFill>
                    <a:srgbClr val="F5F5F7"/>
                  </a:solidFill>
                  <a:latin typeface="Arial"/>
                  <a:ea typeface="Microsoft YaHei"/>
                  <a:cs typeface="Arial"/>
                </a:rPr>
                <a:t>iPhone battery</a:t>
              </a:r>
            </a:p>
          </p:txBody>
        </p:sp>
        <p:sp>
          <p:nvSpPr>
            <p:cNvPr id="34" name="TextBox 34"/>
            <p:cNvSpPr txBox="1"/>
            <p:nvPr/>
          </p:nvSpPr>
          <p:spPr>
            <a:xfrm>
              <a:off x="9109710" y="4994910"/>
              <a:ext cx="1678686" cy="243840"/>
            </a:xfrm>
            <a:prstGeom prst="rect">
              <a:avLst/>
            </a:prstGeom>
            <a:noFill/>
            <a:ln>
              <a:noFill/>
            </a:ln>
          </p:spPr>
          <p:txBody>
            <a:bodyPr wrap="none" lIns="0" tIns="0" rIns="0" bIns="0" anchor="t" anchorCtr="0">
              <a:spAutoFit/>
            </a:bodyPr>
            <a:lstStyle/>
            <a:p>
              <a:pPr algn="l"/>
              <a:r>
                <a:rPr lang="zh-CN" sz="1200" dirty="0">
                  <a:solidFill>
                    <a:srgbClr val="A1A1A6"/>
                  </a:solidFill>
                  <a:latin typeface="Arial"/>
                  <a:ea typeface="Microsoft YaHei"/>
                  <a:cs typeface="Arial"/>
                </a:rPr>
                <a:t>life ever, per source</a:t>
              </a:r>
            </a:p>
          </p:txBody>
        </p:sp>
      </p:grpSp>
      <p:grpSp>
        <p:nvGrpSpPr>
          <p:cNvPr id="39" name="Group 39"/>
          <p:cNvGrpSpPr/>
          <p:nvPr/>
        </p:nvGrpSpPr>
        <p:grpSpPr>
          <a:xfrm>
            <a:off x="6172200" y="5524500"/>
            <a:ext cx="5448300" cy="666750"/>
            <a:chOff x="6172200" y="5524500"/>
            <a:chExt cx="5448300" cy="666750"/>
          </a:xfrm>
        </p:grpSpPr>
        <p:sp>
          <p:nvSpPr>
            <p:cNvPr id="36" name="Rectangle 36"/>
            <p:cNvSpPr/>
            <p:nvPr/>
          </p:nvSpPr>
          <p:spPr>
            <a:xfrm>
              <a:off x="6172200" y="5524500"/>
              <a:ext cx="5448300" cy="666750"/>
            </a:xfrm>
            <a:prstGeom prst="roundRect">
              <a:avLst>
                <a:gd name="adj" fmla="val 25714"/>
              </a:avLst>
            </a:prstGeom>
            <a:solidFill>
              <a:srgbClr val="1E1E22"/>
            </a:solidFill>
            <a:ln w="19050">
              <a:solidFill>
                <a:srgbClr val="3A3A3C"/>
              </a:solidFill>
            </a:ln>
          </p:spPr>
        </p:sp>
        <p:sp>
          <p:nvSpPr>
            <p:cNvPr id="37" name="TextBox 37"/>
            <p:cNvSpPr txBox="1"/>
            <p:nvPr/>
          </p:nvSpPr>
          <p:spPr>
            <a:xfrm>
              <a:off x="6438900" y="5772150"/>
              <a:ext cx="972717" cy="304800"/>
            </a:xfrm>
            <a:prstGeom prst="rect">
              <a:avLst/>
            </a:prstGeom>
            <a:noFill/>
            <a:ln>
              <a:noFill/>
            </a:ln>
          </p:spPr>
          <p:txBody>
            <a:bodyPr wrap="none" lIns="0" tIns="0" rIns="0" bIns="0" anchor="t" anchorCtr="0">
              <a:spAutoFit/>
            </a:bodyPr>
            <a:lstStyle/>
            <a:p>
              <a:pPr algn="l"/>
              <a:r>
                <a:rPr lang="zh-CN" sz="1500" b="1" dirty="0">
                  <a:solidFill>
                    <a:srgbClr val="F5F5F7"/>
                  </a:solidFill>
                  <a:latin typeface="Arial"/>
                  <a:ea typeface="Microsoft YaHei"/>
                  <a:cs typeface="Arial"/>
                </a:rPr>
                <a:t>Finishes:</a:t>
              </a:r>
            </a:p>
          </p:txBody>
        </p:sp>
        <p:sp>
          <p:nvSpPr>
            <p:cNvPr id="38" name="TextBox 38"/>
            <p:cNvSpPr txBox="1"/>
            <p:nvPr/>
          </p:nvSpPr>
          <p:spPr>
            <a:xfrm>
              <a:off x="7372350" y="5772150"/>
              <a:ext cx="4238625" cy="304800"/>
            </a:xfrm>
            <a:prstGeom prst="rect">
              <a:avLst/>
            </a:prstGeom>
            <a:noFill/>
            <a:ln>
              <a:noFill/>
            </a:ln>
          </p:spPr>
          <p:txBody>
            <a:bodyPr wrap="none" lIns="0" tIns="0" rIns="0" bIns="0" anchor="t" anchorCtr="0">
              <a:spAutoFit/>
            </a:bodyPr>
            <a:lstStyle/>
            <a:p>
              <a:pPr algn="l"/>
              <a:r>
                <a:rPr lang="zh-CN" sz="1500" dirty="0">
                  <a:solidFill>
                    <a:srgbClr val="A1A1A6"/>
                  </a:solidFill>
                  <a:latin typeface="Arial"/>
                  <a:ea typeface="Microsoft YaHei"/>
                  <a:cs typeface="Arial"/>
                </a:rPr>
                <a:t>black, natural, white, and desert titanium</a:t>
              </a:r>
            </a:p>
          </p:txBody>
        </p:sp>
      </p:grpSp>
      <p:sp>
        <p:nvSpPr>
          <p:cNvPr id="40" name="TextBox 40"/>
          <p:cNvSpPr txBox="1"/>
          <p:nvPr/>
        </p:nvSpPr>
        <p:spPr>
          <a:xfrm>
            <a:off x="540068" y="6276499"/>
            <a:ext cx="3860244" cy="198120"/>
          </a:xfrm>
          <a:prstGeom prst="rect">
            <a:avLst/>
          </a:prstGeom>
          <a:noFill/>
          <a:ln>
            <a:noFill/>
          </a:ln>
        </p:spPr>
        <p:txBody>
          <a:bodyPr wrap="none" lIns="0" tIns="0" rIns="0" bIns="0" anchor="t" anchorCtr="0">
            <a:spAutoFit/>
          </a:bodyPr>
          <a:lstStyle/>
          <a:p>
            <a:pPr algn="l"/>
            <a:r>
              <a:rPr lang="zh-CN" sz="975" dirty="0">
                <a:solidFill>
                  <a:srgbClr val="A1A1A6"/>
                </a:solidFill>
                <a:latin typeface="Arial"/>
                <a:ea typeface="Microsoft YaHei"/>
                <a:cs typeface="Arial"/>
              </a:rPr>
              <a:t>Source: Apple press release PDF, design and display sections</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par>
                          <p:cTn id="8" fill="hold">
                            <p:stCondLst>
                              <p:cond delay="900"/>
                            </p:stCondLst>
                            <p:childTnLst>
                              <p:par>
                                <p:cTn id="9" presetID="23" presetClass="entr" presetSubtype="0"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image">
                                      <p:cBhvr>
                                        <p:cTn id="11" dur="400"/>
                                        <p:tgtEl>
                                          <p:spTgt spid="13"/>
                                        </p:tgtEl>
                                      </p:cBhvr>
                                    </p:animEffect>
                                  </p:childTnLst>
                                </p:cTn>
                              </p:par>
                            </p:childTnLst>
                          </p:cTn>
                        </p:par>
                        <p:par>
                          <p:cTn id="12" fill="hold">
                            <p:stCondLst>
                              <p:cond delay="1800"/>
                            </p:stCondLst>
                            <p:childTnLst>
                              <p:par>
                                <p:cTn id="13" presetID="23" presetClass="entr" presetSubtype="0" fill="hold" nodeType="after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image">
                                      <p:cBhvr>
                                        <p:cTn id="15" dur="400"/>
                                        <p:tgtEl>
                                          <p:spTgt spid="18"/>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400"/>
                                        <p:tgtEl>
                                          <p:spTgt spid="23"/>
                                        </p:tgtEl>
                                      </p:cBhvr>
                                    </p:animEffect>
                                  </p:childTnLst>
                                </p:cTn>
                              </p:par>
                            </p:childTnLst>
                          </p:cTn>
                        </p:par>
                        <p:par>
                          <p:cTn id="20" fill="hold">
                            <p:stCondLst>
                              <p:cond delay="3600"/>
                            </p:stCondLst>
                            <p:childTnLst>
                              <p:par>
                                <p:cTn id="21" presetID="22" presetClass="entr" presetSubtype="1" fill="hold" nodeType="afterEffect">
                                  <p:stCondLst>
                                    <p:cond delay="0"/>
                                  </p:stCondLst>
                                  <p:childTnLst>
                                    <p:set>
                                      <p:cBhvr>
                                        <p:cTn id="22" dur="1" fill="hold">
                                          <p:stCondLst>
                                            <p:cond delay="0"/>
                                          </p:stCondLst>
                                        </p:cTn>
                                        <p:tgtEl>
                                          <p:spTgt spid="29"/>
                                        </p:tgtEl>
                                        <p:attrNameLst>
                                          <p:attrName>style.visibility</p:attrName>
                                        </p:attrNameLst>
                                      </p:cBhvr>
                                      <p:to>
                                        <p:strVal val="visible"/>
                                      </p:to>
                                    </p:set>
                                    <p:animEffect transition="in" filter="wipe(left)">
                                      <p:cBhvr>
                                        <p:cTn id="23" dur="400"/>
                                        <p:tgtEl>
                                          <p:spTgt spid="29"/>
                                        </p:tgtEl>
                                      </p:cBhvr>
                                    </p:animEffect>
                                  </p:childTnLst>
                                </p:cTn>
                              </p:par>
                            </p:childTnLst>
                          </p:cTn>
                        </p:par>
                        <p:par>
                          <p:cTn id="24" fill="hold">
                            <p:stCondLst>
                              <p:cond delay="4500"/>
                            </p:stCondLst>
                            <p:childTnLst>
                              <p:par>
                                <p:cTn id="25" presetID="2" presetClass="entr" presetSubtype="4" fill="hold" nodeType="after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slide(fromBottom)">
                                      <p:cBhvr>
                                        <p:cTn id="27" dur="400"/>
                                        <p:tgtEl>
                                          <p:spTgt spid="35"/>
                                        </p:tgtEl>
                                      </p:cBhvr>
                                    </p:animEffect>
                                  </p:childTnLst>
                                </p:cTn>
                              </p:par>
                            </p:childTnLst>
                          </p:cTn>
                        </p:par>
                        <p:par>
                          <p:cTn id="28" fill="hold">
                            <p:stCondLst>
                              <p:cond delay="5400"/>
                            </p:stCondLst>
                            <p:childTnLst>
                              <p:par>
                                <p:cTn id="29" presetID="23" presetClass="entr" presetSubtype="0" fill="hold" nodeType="afterEffect">
                                  <p:stCondLst>
                                    <p:cond delay="0"/>
                                  </p:stCondLst>
                                  <p:childTnLst>
                                    <p:set>
                                      <p:cBhvr>
                                        <p:cTn id="30" dur="1" fill="hold">
                                          <p:stCondLst>
                                            <p:cond delay="0"/>
                                          </p:stCondLst>
                                        </p:cTn>
                                        <p:tgtEl>
                                          <p:spTgt spid="39"/>
                                        </p:tgtEl>
                                        <p:attrNameLst>
                                          <p:attrName>style.visibility</p:attrName>
                                        </p:attrNameLst>
                                      </p:cBhvr>
                                      <p:to>
                                        <p:strVal val="visible"/>
                                      </p:to>
                                    </p:set>
                                    <p:animEffect transition="in" filter="image">
                                      <p:cBhvr>
                                        <p:cTn id="31" dur="4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3" grpId="0"/>
      <p:bldP spid="18" grpId="0"/>
      <p:bldP spid="23" grpId="0"/>
      <p:bldP spid="29" grpId="0"/>
      <p:bldP spid="35" grpId="0"/>
      <p:bldP spid="3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50506"/>
          </a:solidFill>
          <a:ln>
            <a:noFill/>
          </a:ln>
        </p:spPr>
      </p:sp>
      <p:pic>
        <p:nvPicPr>
          <p:cNvPr id="3" name="Image 3"/>
          <p:cNvPicPr>
            <a:picLocks noChangeAspect="1"/>
          </p:cNvPicPr>
          <p:nvPr/>
        </p:nvPicPr>
        <p:blipFill>
          <a:blip r:embed="rId2"/>
          <a:stretch>
            <a:fillRect/>
          </a:stretch>
        </p:blipFill>
        <p:spPr>
          <a:xfrm>
            <a:off x="6356885" y="685800"/>
            <a:ext cx="3402530" cy="4762500"/>
          </a:xfrm>
          <a:prstGeom prst="rect">
            <a:avLst/>
          </a:prstGeom>
        </p:spPr>
      </p:pic>
      <p:sp>
        <p:nvSpPr>
          <p:cNvPr id="4" name="Rectangle 4"/>
          <p:cNvSpPr/>
          <p:nvPr/>
        </p:nvSpPr>
        <p:spPr>
          <a:xfrm>
            <a:off x="0" y="0"/>
            <a:ext cx="12192000" cy="6858000"/>
          </a:xfrm>
          <a:prstGeom prst="rect">
            <a:avLst/>
          </a:prstGeom>
          <a:gradFill>
            <a:gsLst>
              <a:gs pos="0">
                <a:srgbClr val="050506">
                  <a:alpha val="95000"/>
                </a:srgbClr>
              </a:gs>
              <a:gs pos="54000">
                <a:srgbClr val="050506">
                  <a:alpha val="70000"/>
                </a:srgbClr>
              </a:gs>
              <a:gs pos="100000">
                <a:srgbClr val="050506">
                  <a:alpha val="8000"/>
                </a:srgbClr>
              </a:gs>
            </a:gsLst>
            <a:lin ang="0" scaled="1"/>
          </a:gradFill>
          <a:ln>
            <a:noFill/>
          </a:ln>
        </p:spPr>
      </p:sp>
      <p:grpSp>
        <p:nvGrpSpPr>
          <p:cNvPr id="7" name="Group 7"/>
          <p:cNvGrpSpPr/>
          <p:nvPr/>
        </p:nvGrpSpPr>
        <p:grpSpPr>
          <a:xfrm>
            <a:off x="634365" y="515302"/>
            <a:ext cx="11224522" cy="213360"/>
            <a:chOff x="634365" y="515302"/>
            <a:chExt cx="11224522" cy="213360"/>
          </a:xfrm>
        </p:grpSpPr>
        <p:sp>
          <p:nvSpPr>
            <p:cNvPr id="5" name="TextBox 5"/>
            <p:cNvSpPr txBox="1"/>
            <p:nvPr/>
          </p:nvSpPr>
          <p:spPr>
            <a:xfrm>
              <a:off x="634365" y="515302"/>
              <a:ext cx="1695329" cy="213360"/>
            </a:xfrm>
            <a:prstGeom prst="rect">
              <a:avLst/>
            </a:prstGeom>
            <a:noFill/>
            <a:ln>
              <a:noFill/>
            </a:ln>
          </p:spPr>
          <p:txBody>
            <a:bodyPr wrap="none" lIns="0" tIns="0" rIns="0" bIns="0" anchor="t" anchorCtr="0">
              <a:spAutoFit/>
            </a:bodyPr>
            <a:lstStyle/>
            <a:p>
              <a:pPr algn="l"/>
              <a:r>
                <a:rPr lang="zh-CN" sz="1050" b="1" dirty="0">
                  <a:solidFill>
                    <a:srgbClr val="A1A1A6"/>
                  </a:solidFill>
                  <a:latin typeface="Arial"/>
                  <a:ea typeface="Microsoft YaHei"/>
                  <a:cs typeface="Arial"/>
                </a:rPr>
                <a:t>NEW INTERACTION MODEL</a:t>
              </a:r>
            </a:p>
          </p:txBody>
        </p:sp>
        <p:sp>
          <p:nvSpPr>
            <p:cNvPr id="6" name="TextBox 6"/>
            <p:cNvSpPr txBox="1"/>
            <p:nvPr/>
          </p:nvSpPr>
          <p:spPr>
            <a:xfrm>
              <a:off x="11398568" y="523399"/>
              <a:ext cx="460319" cy="198120"/>
            </a:xfrm>
            <a:prstGeom prst="rect">
              <a:avLst/>
            </a:prstGeom>
            <a:noFill/>
            <a:ln>
              <a:noFill/>
            </a:ln>
          </p:spPr>
          <p:txBody>
            <a:bodyPr wrap="none" lIns="0" tIns="0" rIns="0" bIns="0" anchor="t" anchorCtr="0">
              <a:spAutoFit/>
            </a:bodyPr>
            <a:lstStyle/>
            <a:p>
              <a:pPr algn="l"/>
              <a:r>
                <a:rPr lang="zh-CN" sz="975" dirty="0">
                  <a:solidFill>
                    <a:srgbClr val="A1A1A6"/>
                  </a:solidFill>
                  <a:latin typeface="Consolas"/>
                  <a:ea typeface="Microsoft YaHei"/>
                  <a:cs typeface="Consolas"/>
                </a:rPr>
                <a:t>04 / 09</a:t>
              </a:r>
            </a:p>
          </p:txBody>
        </p:sp>
      </p:grpSp>
      <p:grpSp>
        <p:nvGrpSpPr>
          <p:cNvPr id="11" name="Group 11"/>
          <p:cNvGrpSpPr/>
          <p:nvPr/>
        </p:nvGrpSpPr>
        <p:grpSpPr>
          <a:xfrm>
            <a:off x="596265" y="1086802"/>
            <a:ext cx="6238256" cy="1432560"/>
            <a:chOff x="596265" y="1086802"/>
            <a:chExt cx="6238256" cy="1432560"/>
          </a:xfrm>
        </p:grpSpPr>
        <p:sp>
          <p:nvSpPr>
            <p:cNvPr id="8" name="TextBox 8"/>
            <p:cNvSpPr txBox="1"/>
            <p:nvPr/>
          </p:nvSpPr>
          <p:spPr>
            <a:xfrm>
              <a:off x="596265" y="1086802"/>
              <a:ext cx="4299194" cy="822960"/>
            </a:xfrm>
            <a:prstGeom prst="rect">
              <a:avLst/>
            </a:prstGeom>
            <a:noFill/>
            <a:ln>
              <a:noFill/>
            </a:ln>
          </p:spPr>
          <p:txBody>
            <a:bodyPr wrap="none" lIns="0" tIns="0" rIns="0" bIns="0" anchor="t" anchorCtr="0">
              <a:spAutoFit/>
            </a:bodyPr>
            <a:lstStyle/>
            <a:p>
              <a:pPr algn="l"/>
              <a:r>
                <a:rPr lang="zh-CN" sz="4050" b="1" dirty="0">
                  <a:solidFill>
                    <a:srgbClr val="F5F5F7"/>
                  </a:solidFill>
                  <a:latin typeface="Arial"/>
                  <a:ea typeface="Microsoft YaHei"/>
                  <a:cs typeface="Arial"/>
                </a:rPr>
                <a:t>Camera Control</a:t>
              </a:r>
            </a:p>
          </p:txBody>
        </p:sp>
        <p:sp>
          <p:nvSpPr>
            <p:cNvPr id="9" name="TextBox 9"/>
            <p:cNvSpPr txBox="1"/>
            <p:nvPr/>
          </p:nvSpPr>
          <p:spPr>
            <a:xfrm>
              <a:off x="664845" y="1860232"/>
              <a:ext cx="6169676" cy="335280"/>
            </a:xfrm>
            <a:prstGeom prst="rect">
              <a:avLst/>
            </a:prstGeom>
            <a:noFill/>
            <a:ln>
              <a:noFill/>
            </a:ln>
          </p:spPr>
          <p:txBody>
            <a:bodyPr wrap="none" lIns="0" tIns="0" rIns="0" bIns="0" anchor="t" anchorCtr="0">
              <a:spAutoFit/>
            </a:bodyPr>
            <a:lstStyle/>
            <a:p>
              <a:pPr algn="l"/>
              <a:r>
                <a:rPr lang="zh-CN" sz="1650" dirty="0">
                  <a:solidFill>
                    <a:srgbClr val="A1A1A6"/>
                  </a:solidFill>
                  <a:latin typeface="Arial"/>
                  <a:ea typeface="Microsoft YaHei"/>
                  <a:cs typeface="Arial"/>
                </a:rPr>
                <a:t>A dedicated way to launch the camera and capture media,</a:t>
              </a:r>
            </a:p>
          </p:txBody>
        </p:sp>
        <p:sp>
          <p:nvSpPr>
            <p:cNvPr id="10" name="TextBox 10"/>
            <p:cNvSpPr txBox="1"/>
            <p:nvPr/>
          </p:nvSpPr>
          <p:spPr>
            <a:xfrm>
              <a:off x="664845" y="2184082"/>
              <a:ext cx="4695492" cy="335280"/>
            </a:xfrm>
            <a:prstGeom prst="rect">
              <a:avLst/>
            </a:prstGeom>
            <a:noFill/>
            <a:ln>
              <a:noFill/>
            </a:ln>
          </p:spPr>
          <p:txBody>
            <a:bodyPr wrap="none" lIns="0" tIns="0" rIns="0" bIns="0" anchor="t" anchorCtr="0">
              <a:spAutoFit/>
            </a:bodyPr>
            <a:lstStyle/>
            <a:p>
              <a:pPr algn="l"/>
              <a:r>
                <a:rPr lang="zh-CN" sz="1650" dirty="0">
                  <a:solidFill>
                    <a:srgbClr val="A1A1A6"/>
                  </a:solidFill>
                  <a:latin typeface="Arial"/>
                  <a:ea typeface="Microsoft YaHei"/>
                  <a:cs typeface="Arial"/>
                </a:rPr>
                <a:t>then adjust tools while staying in the shot.</a:t>
              </a:r>
            </a:p>
          </p:txBody>
        </p:sp>
      </p:grpSp>
      <p:grpSp>
        <p:nvGrpSpPr>
          <p:cNvPr id="22" name="Group 22"/>
          <p:cNvGrpSpPr/>
          <p:nvPr/>
        </p:nvGrpSpPr>
        <p:grpSpPr>
          <a:xfrm>
            <a:off x="876300" y="2946082"/>
            <a:ext cx="5023509" cy="2261712"/>
            <a:chOff x="876300" y="2946082"/>
            <a:chExt cx="5023509" cy="2261712"/>
          </a:xfrm>
        </p:grpSpPr>
        <p:sp>
          <p:nvSpPr>
            <p:cNvPr id="12" name="Line 12"/>
            <p:cNvSpPr/>
            <p:nvPr/>
          </p:nvSpPr>
          <p:spPr>
            <a:xfrm>
              <a:off x="876300" y="3200400"/>
              <a:ext cx="4219575" cy="9525"/>
            </a:xfrm>
            <a:custGeom>
              <a:avLst/>
              <a:gdLst/>
              <a:ahLst/>
              <a:cxnLst/>
              <a:rect l="l" t="t" r="r" b="b"/>
              <a:pathLst>
                <a:path w="4219575" h="9525">
                  <a:moveTo>
                    <a:pt x="0" y="0"/>
                  </a:moveTo>
                  <a:lnTo>
                    <a:pt x="4219575" y="0"/>
                  </a:lnTo>
                </a:path>
              </a:pathLst>
            </a:custGeom>
            <a:noFill/>
            <a:ln w="38100">
              <a:solidFill>
                <a:srgbClr val="3A3A3C"/>
              </a:solidFill>
            </a:ln>
          </p:spPr>
        </p:sp>
        <p:sp>
          <p:nvSpPr>
            <p:cNvPr id="13" name="Ellipse 13"/>
            <p:cNvSpPr/>
            <p:nvPr/>
          </p:nvSpPr>
          <p:spPr>
            <a:xfrm>
              <a:off x="876300" y="3048000"/>
              <a:ext cx="304800" cy="304800"/>
            </a:xfrm>
            <a:prstGeom prst="ellipse">
              <a:avLst/>
            </a:prstGeom>
            <a:solidFill>
              <a:srgbClr val="2997FF"/>
            </a:solidFill>
            <a:ln>
              <a:noFill/>
            </a:ln>
          </p:spPr>
        </p:sp>
        <p:sp>
          <p:nvSpPr>
            <p:cNvPr id="14" name="TextBox 14"/>
            <p:cNvSpPr txBox="1"/>
            <p:nvPr/>
          </p:nvSpPr>
          <p:spPr>
            <a:xfrm>
              <a:off x="1331595" y="2946082"/>
              <a:ext cx="561725" cy="335280"/>
            </a:xfrm>
            <a:prstGeom prst="rect">
              <a:avLst/>
            </a:prstGeom>
            <a:noFill/>
            <a:ln>
              <a:noFill/>
            </a:ln>
          </p:spPr>
          <p:txBody>
            <a:bodyPr wrap="none" lIns="0" tIns="0" rIns="0" bIns="0" anchor="t" anchorCtr="0">
              <a:spAutoFit/>
            </a:bodyPr>
            <a:lstStyle/>
            <a:p>
              <a:pPr algn="l"/>
              <a:r>
                <a:rPr lang="zh-CN" sz="1650" b="1" dirty="0">
                  <a:solidFill>
                    <a:srgbClr val="F5F5F7"/>
                  </a:solidFill>
                  <a:latin typeface="Arial"/>
                  <a:ea typeface="Microsoft YaHei"/>
                  <a:cs typeface="Arial"/>
                </a:rPr>
                <a:t>Click</a:t>
              </a:r>
            </a:p>
          </p:txBody>
        </p:sp>
        <p:sp>
          <p:nvSpPr>
            <p:cNvPr id="15" name="TextBox 15"/>
            <p:cNvSpPr txBox="1"/>
            <p:nvPr/>
          </p:nvSpPr>
          <p:spPr>
            <a:xfrm>
              <a:off x="1336358" y="3272314"/>
              <a:ext cx="4180904" cy="259080"/>
            </a:xfrm>
            <a:prstGeom prst="rect">
              <a:avLst/>
            </a:prstGeom>
            <a:noFill/>
            <a:ln>
              <a:noFill/>
            </a:ln>
          </p:spPr>
          <p:txBody>
            <a:bodyPr wrap="none" lIns="0" tIns="0" rIns="0" bIns="0" anchor="t" anchorCtr="0">
              <a:spAutoFit/>
            </a:bodyPr>
            <a:lstStyle/>
            <a:p>
              <a:pPr algn="l"/>
              <a:r>
                <a:rPr lang="zh-CN" sz="1275" dirty="0">
                  <a:solidFill>
                    <a:srgbClr val="A1A1A6"/>
                  </a:solidFill>
                  <a:latin typeface="Arial"/>
                  <a:ea typeface="Microsoft YaHei"/>
                  <a:cs typeface="Arial"/>
                </a:rPr>
                <a:t>quickly launch camera, take photo, or start video</a:t>
              </a:r>
            </a:p>
          </p:txBody>
        </p:sp>
        <p:sp>
          <p:nvSpPr>
            <p:cNvPr id="16" name="Ellipse 16"/>
            <p:cNvSpPr/>
            <p:nvPr/>
          </p:nvSpPr>
          <p:spPr>
            <a:xfrm>
              <a:off x="876300" y="3886200"/>
              <a:ext cx="304800" cy="304800"/>
            </a:xfrm>
            <a:prstGeom prst="ellipse">
              <a:avLst/>
            </a:prstGeom>
            <a:solidFill>
              <a:srgbClr val="D8C6A3"/>
            </a:solidFill>
            <a:ln>
              <a:noFill/>
            </a:ln>
          </p:spPr>
        </p:sp>
        <p:sp>
          <p:nvSpPr>
            <p:cNvPr id="17" name="TextBox 17"/>
            <p:cNvSpPr txBox="1"/>
            <p:nvPr/>
          </p:nvSpPr>
          <p:spPr>
            <a:xfrm>
              <a:off x="1331595" y="3784282"/>
              <a:ext cx="1462738" cy="335280"/>
            </a:xfrm>
            <a:prstGeom prst="rect">
              <a:avLst/>
            </a:prstGeom>
            <a:noFill/>
            <a:ln>
              <a:noFill/>
            </a:ln>
          </p:spPr>
          <p:txBody>
            <a:bodyPr wrap="none" lIns="0" tIns="0" rIns="0" bIns="0" anchor="t" anchorCtr="0">
              <a:spAutoFit/>
            </a:bodyPr>
            <a:lstStyle/>
            <a:p>
              <a:pPr algn="l"/>
              <a:r>
                <a:rPr lang="zh-CN" sz="1650" b="1" dirty="0">
                  <a:solidFill>
                    <a:srgbClr val="F5F5F7"/>
                  </a:solidFill>
                  <a:latin typeface="Arial"/>
                  <a:ea typeface="Microsoft YaHei"/>
                  <a:cs typeface="Arial"/>
                </a:rPr>
                <a:t>Press lightly</a:t>
              </a:r>
            </a:p>
          </p:txBody>
        </p:sp>
        <p:sp>
          <p:nvSpPr>
            <p:cNvPr id="18" name="TextBox 18"/>
            <p:cNvSpPr txBox="1"/>
            <p:nvPr/>
          </p:nvSpPr>
          <p:spPr>
            <a:xfrm>
              <a:off x="1336358" y="4110514"/>
              <a:ext cx="4563451" cy="259080"/>
            </a:xfrm>
            <a:prstGeom prst="rect">
              <a:avLst/>
            </a:prstGeom>
            <a:noFill/>
            <a:ln>
              <a:noFill/>
            </a:ln>
          </p:spPr>
          <p:txBody>
            <a:bodyPr wrap="none" lIns="0" tIns="0" rIns="0" bIns="0" anchor="t" anchorCtr="0">
              <a:spAutoFit/>
            </a:bodyPr>
            <a:lstStyle/>
            <a:p>
              <a:pPr algn="l"/>
              <a:r>
                <a:rPr lang="zh-CN" sz="1275" dirty="0">
                  <a:solidFill>
                    <a:srgbClr val="A1A1A6"/>
                  </a:solidFill>
                  <a:latin typeface="Arial"/>
                  <a:ea typeface="Microsoft YaHei"/>
                  <a:cs typeface="Arial"/>
                </a:rPr>
                <a:t>surface options like zoom, exposure, or depth of field</a:t>
              </a:r>
            </a:p>
          </p:txBody>
        </p:sp>
        <p:sp>
          <p:nvSpPr>
            <p:cNvPr id="19" name="Ellipse 19"/>
            <p:cNvSpPr/>
            <p:nvPr/>
          </p:nvSpPr>
          <p:spPr>
            <a:xfrm>
              <a:off x="876300" y="4724400"/>
              <a:ext cx="304800" cy="304800"/>
            </a:xfrm>
            <a:prstGeom prst="ellipse">
              <a:avLst/>
            </a:prstGeom>
            <a:solidFill>
              <a:srgbClr val="30D158"/>
            </a:solidFill>
            <a:ln>
              <a:noFill/>
            </a:ln>
          </p:spPr>
        </p:sp>
        <p:sp>
          <p:nvSpPr>
            <p:cNvPr id="20" name="TextBox 20"/>
            <p:cNvSpPr txBox="1"/>
            <p:nvPr/>
          </p:nvSpPr>
          <p:spPr>
            <a:xfrm>
              <a:off x="1331595" y="4622482"/>
              <a:ext cx="561725" cy="335280"/>
            </a:xfrm>
            <a:prstGeom prst="rect">
              <a:avLst/>
            </a:prstGeom>
            <a:noFill/>
            <a:ln>
              <a:noFill/>
            </a:ln>
          </p:spPr>
          <p:txBody>
            <a:bodyPr wrap="none" lIns="0" tIns="0" rIns="0" bIns="0" anchor="t" anchorCtr="0">
              <a:spAutoFit/>
            </a:bodyPr>
            <a:lstStyle/>
            <a:p>
              <a:pPr algn="l"/>
              <a:r>
                <a:rPr lang="zh-CN" sz="1650" b="1" dirty="0">
                  <a:solidFill>
                    <a:srgbClr val="F5F5F7"/>
                  </a:solidFill>
                  <a:latin typeface="Arial"/>
                  <a:ea typeface="Microsoft YaHei"/>
                  <a:cs typeface="Arial"/>
                </a:rPr>
                <a:t>Slide</a:t>
              </a:r>
            </a:p>
          </p:txBody>
        </p:sp>
        <p:sp>
          <p:nvSpPr>
            <p:cNvPr id="21" name="TextBox 21"/>
            <p:cNvSpPr txBox="1"/>
            <p:nvPr/>
          </p:nvSpPr>
          <p:spPr>
            <a:xfrm>
              <a:off x="1336358" y="4948714"/>
              <a:ext cx="4265914" cy="259080"/>
            </a:xfrm>
            <a:prstGeom prst="rect">
              <a:avLst/>
            </a:prstGeom>
            <a:noFill/>
            <a:ln>
              <a:noFill/>
            </a:ln>
          </p:spPr>
          <p:txBody>
            <a:bodyPr wrap="none" lIns="0" tIns="0" rIns="0" bIns="0" anchor="t" anchorCtr="0">
              <a:spAutoFit/>
            </a:bodyPr>
            <a:lstStyle/>
            <a:p>
              <a:pPr algn="l"/>
              <a:r>
                <a:rPr lang="zh-CN" sz="1275" dirty="0">
                  <a:solidFill>
                    <a:srgbClr val="A1A1A6"/>
                  </a:solidFill>
                  <a:latin typeface="Arial"/>
                  <a:ea typeface="Microsoft YaHei"/>
                  <a:cs typeface="Arial"/>
                </a:rPr>
                <a:t>adjust the selected control while staying composed</a:t>
              </a:r>
            </a:p>
          </p:txBody>
        </p:sp>
      </p:grpSp>
      <p:grpSp>
        <p:nvGrpSpPr>
          <p:cNvPr id="28" name="Group 28"/>
          <p:cNvGrpSpPr/>
          <p:nvPr/>
        </p:nvGrpSpPr>
        <p:grpSpPr>
          <a:xfrm>
            <a:off x="6477000" y="4876800"/>
            <a:ext cx="4762500" cy="1307306"/>
            <a:chOff x="6477000" y="4876800"/>
            <a:chExt cx="4762500" cy="1307306"/>
          </a:xfrm>
        </p:grpSpPr>
        <p:sp>
          <p:nvSpPr>
            <p:cNvPr id="23" name="Rectangle 23"/>
            <p:cNvSpPr/>
            <p:nvPr/>
          </p:nvSpPr>
          <p:spPr>
            <a:xfrm>
              <a:off x="6477000" y="4876800"/>
              <a:ext cx="4762500" cy="1295400"/>
            </a:xfrm>
            <a:prstGeom prst="roundRect">
              <a:avLst>
                <a:gd name="adj" fmla="val 16176"/>
              </a:avLst>
            </a:prstGeom>
            <a:solidFill>
              <a:srgbClr val="121214"/>
            </a:solidFill>
            <a:ln w="19050">
              <a:solidFill>
                <a:srgbClr val="2997FF"/>
              </a:solidFill>
            </a:ln>
          </p:spPr>
        </p:sp>
        <p:sp>
          <p:nvSpPr>
            <p:cNvPr id="24" name="TextBox 24"/>
            <p:cNvSpPr txBox="1"/>
            <p:nvPr/>
          </p:nvSpPr>
          <p:spPr>
            <a:xfrm>
              <a:off x="6786562" y="5098256"/>
              <a:ext cx="1800671" cy="228600"/>
            </a:xfrm>
            <a:prstGeom prst="rect">
              <a:avLst/>
            </a:prstGeom>
            <a:noFill/>
            <a:ln>
              <a:noFill/>
            </a:ln>
          </p:spPr>
          <p:txBody>
            <a:bodyPr wrap="none" lIns="0" tIns="0" rIns="0" bIns="0" anchor="t" anchorCtr="0">
              <a:spAutoFit/>
            </a:bodyPr>
            <a:lstStyle/>
            <a:p>
              <a:pPr algn="l"/>
              <a:r>
                <a:rPr lang="zh-CN" sz="1125" b="1" dirty="0">
                  <a:solidFill>
                    <a:srgbClr val="2997FF"/>
                  </a:solidFill>
                  <a:latin typeface="Arial"/>
                  <a:ea typeface="Microsoft YaHei"/>
                  <a:cs typeface="Arial"/>
                </a:rPr>
                <a:t>COMING LATER THIS YEAR</a:t>
              </a:r>
            </a:p>
          </p:txBody>
        </p:sp>
        <p:sp>
          <p:nvSpPr>
            <p:cNvPr id="25" name="TextBox 25"/>
            <p:cNvSpPr txBox="1"/>
            <p:nvPr/>
          </p:nvSpPr>
          <p:spPr>
            <a:xfrm>
              <a:off x="6782752" y="5389721"/>
              <a:ext cx="4026694" cy="289560"/>
            </a:xfrm>
            <a:prstGeom prst="rect">
              <a:avLst/>
            </a:prstGeom>
            <a:noFill/>
            <a:ln>
              <a:noFill/>
            </a:ln>
          </p:spPr>
          <p:txBody>
            <a:bodyPr wrap="none" lIns="0" tIns="0" rIns="0" bIns="0" anchor="t" anchorCtr="0">
              <a:spAutoFit/>
            </a:bodyPr>
            <a:lstStyle/>
            <a:p>
              <a:pPr algn="l"/>
              <a:r>
                <a:rPr lang="zh-CN" sz="1425" dirty="0">
                  <a:solidFill>
                    <a:srgbClr val="F5F5F7"/>
                  </a:solidFill>
                  <a:latin typeface="Arial"/>
                  <a:ea typeface="Microsoft YaHei"/>
                  <a:cs typeface="Arial"/>
                </a:rPr>
                <a:t>Visual intelligence can help identify places,</a:t>
              </a:r>
            </a:p>
          </p:txBody>
        </p:sp>
        <p:sp>
          <p:nvSpPr>
            <p:cNvPr id="26" name="TextBox 26"/>
            <p:cNvSpPr txBox="1"/>
            <p:nvPr/>
          </p:nvSpPr>
          <p:spPr>
            <a:xfrm>
              <a:off x="6782752" y="5656421"/>
              <a:ext cx="1879425" cy="289560"/>
            </a:xfrm>
            <a:prstGeom prst="rect">
              <a:avLst/>
            </a:prstGeom>
            <a:noFill/>
            <a:ln>
              <a:noFill/>
            </a:ln>
          </p:spPr>
          <p:txBody>
            <a:bodyPr wrap="none" lIns="0" tIns="0" rIns="0" bIns="0" anchor="t" anchorCtr="0">
              <a:spAutoFit/>
            </a:bodyPr>
            <a:lstStyle/>
            <a:p>
              <a:pPr algn="l"/>
              <a:r>
                <a:rPr lang="zh-CN" sz="1425" dirty="0">
                  <a:solidFill>
                    <a:srgbClr val="F5F5F7"/>
                  </a:solidFill>
                  <a:latin typeface="Arial"/>
                  <a:ea typeface="Microsoft YaHei"/>
                  <a:cs typeface="Arial"/>
                </a:rPr>
                <a:t>events, or objects.</a:t>
              </a:r>
            </a:p>
          </p:txBody>
        </p:sp>
        <p:sp>
          <p:nvSpPr>
            <p:cNvPr id="27" name="TextBox 27"/>
            <p:cNvSpPr txBox="1"/>
            <p:nvPr/>
          </p:nvSpPr>
          <p:spPr>
            <a:xfrm>
              <a:off x="6786562" y="5955506"/>
              <a:ext cx="4229100" cy="228600"/>
            </a:xfrm>
            <a:prstGeom prst="rect">
              <a:avLst/>
            </a:prstGeom>
            <a:noFill/>
            <a:ln>
              <a:noFill/>
            </a:ln>
          </p:spPr>
          <p:txBody>
            <a:bodyPr wrap="none" lIns="0" tIns="0" rIns="0" bIns="0" anchor="t" anchorCtr="0">
              <a:spAutoFit/>
            </a:bodyPr>
            <a:lstStyle/>
            <a:p>
              <a:pPr algn="l"/>
              <a:r>
                <a:rPr lang="zh-CN" sz="1125" dirty="0">
                  <a:solidFill>
                    <a:srgbClr val="A1A1A6"/>
                  </a:solidFill>
                  <a:latin typeface="Arial"/>
                  <a:ea typeface="Microsoft YaHei"/>
                  <a:cs typeface="Arial"/>
                </a:rPr>
                <a:t>User-controlled third-party service access, per source.</a:t>
              </a:r>
            </a:p>
          </p:txBody>
        </p:sp>
      </p:grpSp>
      <p:sp>
        <p:nvSpPr>
          <p:cNvPr id="29" name="TextBox 29"/>
          <p:cNvSpPr txBox="1"/>
          <p:nvPr/>
        </p:nvSpPr>
        <p:spPr>
          <a:xfrm>
            <a:off x="635318" y="6276499"/>
            <a:ext cx="5121402" cy="198120"/>
          </a:xfrm>
          <a:prstGeom prst="rect">
            <a:avLst/>
          </a:prstGeom>
          <a:noFill/>
          <a:ln>
            <a:noFill/>
          </a:ln>
        </p:spPr>
        <p:txBody>
          <a:bodyPr wrap="none" lIns="0" tIns="0" rIns="0" bIns="0" anchor="t" anchorCtr="0">
            <a:spAutoFit/>
          </a:bodyPr>
          <a:lstStyle/>
          <a:p>
            <a:pPr algn="l"/>
            <a:r>
              <a:rPr lang="zh-CN" sz="975" dirty="0">
                <a:solidFill>
                  <a:srgbClr val="A1A1A6"/>
                </a:solidFill>
                <a:latin typeface="Arial"/>
                <a:ea typeface="Microsoft YaHei"/>
                <a:cs typeface="Arial"/>
              </a:rPr>
              <a:t>Source: Apple press release PDF, Camera Control and visual intelligence sections</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wipe(left)">
                                      <p:cBhvr>
                                        <p:cTn id="11" dur="400"/>
                                        <p:tgtEl>
                                          <p:spTgt spid="22"/>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28"/>
                                        </p:tgtEl>
                                        <p:attrNameLst>
                                          <p:attrName>style.visibility</p:attrName>
                                        </p:attrNameLst>
                                      </p:cBhvr>
                                      <p:to>
                                        <p:strVal val="visible"/>
                                      </p:to>
                                    </p:set>
                                    <p:animEffect transition="in" filter="fade">
                                      <p:cBhvr>
                                        <p:cTn id="15"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2" grpId="0"/>
      <p:bldP spid="2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50506"/>
          </a:solidFill>
          <a:ln>
            <a:noFill/>
          </a:ln>
        </p:spPr>
      </p:sp>
      <p:grpSp>
        <p:nvGrpSpPr>
          <p:cNvPr id="5" name="Group 5"/>
          <p:cNvGrpSpPr/>
          <p:nvPr/>
        </p:nvGrpSpPr>
        <p:grpSpPr>
          <a:xfrm>
            <a:off x="501015" y="439102"/>
            <a:ext cx="11357872" cy="213360"/>
            <a:chOff x="501015" y="439102"/>
            <a:chExt cx="11357872" cy="213360"/>
          </a:xfrm>
        </p:grpSpPr>
        <p:sp>
          <p:nvSpPr>
            <p:cNvPr id="3" name="TextBox 3"/>
            <p:cNvSpPr txBox="1"/>
            <p:nvPr/>
          </p:nvSpPr>
          <p:spPr>
            <a:xfrm>
              <a:off x="501015" y="439102"/>
              <a:ext cx="1415994" cy="213360"/>
            </a:xfrm>
            <a:prstGeom prst="rect">
              <a:avLst/>
            </a:prstGeom>
            <a:noFill/>
            <a:ln>
              <a:noFill/>
            </a:ln>
          </p:spPr>
          <p:txBody>
            <a:bodyPr wrap="none" lIns="0" tIns="0" rIns="0" bIns="0" anchor="t" anchorCtr="0">
              <a:spAutoFit/>
            </a:bodyPr>
            <a:lstStyle/>
            <a:p>
              <a:pPr algn="l"/>
              <a:r>
                <a:rPr lang="zh-CN" sz="1050" b="1" dirty="0">
                  <a:solidFill>
                    <a:srgbClr val="A1A1A6"/>
                  </a:solidFill>
                  <a:latin typeface="Arial"/>
                  <a:ea typeface="Microsoft YaHei"/>
                  <a:cs typeface="Arial"/>
                </a:rPr>
                <a:t>PRO CAMERA SYSTEM</a:t>
              </a:r>
            </a:p>
          </p:txBody>
        </p:sp>
        <p:sp>
          <p:nvSpPr>
            <p:cNvPr id="4" name="TextBox 4"/>
            <p:cNvSpPr txBox="1"/>
            <p:nvPr/>
          </p:nvSpPr>
          <p:spPr>
            <a:xfrm>
              <a:off x="11398568" y="447199"/>
              <a:ext cx="460319" cy="198120"/>
            </a:xfrm>
            <a:prstGeom prst="rect">
              <a:avLst/>
            </a:prstGeom>
            <a:noFill/>
            <a:ln>
              <a:noFill/>
            </a:ln>
          </p:spPr>
          <p:txBody>
            <a:bodyPr wrap="none" lIns="0" tIns="0" rIns="0" bIns="0" anchor="t" anchorCtr="0">
              <a:spAutoFit/>
            </a:bodyPr>
            <a:lstStyle/>
            <a:p>
              <a:pPr algn="l"/>
              <a:r>
                <a:rPr lang="zh-CN" sz="975" dirty="0">
                  <a:solidFill>
                    <a:srgbClr val="A1A1A6"/>
                  </a:solidFill>
                  <a:latin typeface="Consolas"/>
                  <a:ea typeface="Microsoft YaHei"/>
                  <a:cs typeface="Consolas"/>
                </a:rPr>
                <a:t>05 / 09</a:t>
              </a:r>
            </a:p>
          </p:txBody>
        </p:sp>
      </p:grpSp>
      <p:grpSp>
        <p:nvGrpSpPr>
          <p:cNvPr id="9" name="Group 9"/>
          <p:cNvGrpSpPr/>
          <p:nvPr/>
        </p:nvGrpSpPr>
        <p:grpSpPr>
          <a:xfrm>
            <a:off x="478155" y="797242"/>
            <a:ext cx="9011107" cy="1026796"/>
            <a:chOff x="478155" y="797242"/>
            <a:chExt cx="9011107" cy="1026796"/>
          </a:xfrm>
        </p:grpSpPr>
        <p:sp>
          <p:nvSpPr>
            <p:cNvPr id="6" name="TextBox 6"/>
            <p:cNvSpPr txBox="1"/>
            <p:nvPr/>
          </p:nvSpPr>
          <p:spPr>
            <a:xfrm>
              <a:off x="478155" y="797242"/>
              <a:ext cx="9011107" cy="579120"/>
            </a:xfrm>
            <a:prstGeom prst="rect">
              <a:avLst/>
            </a:prstGeom>
            <a:noFill/>
            <a:ln>
              <a:noFill/>
            </a:ln>
          </p:spPr>
          <p:txBody>
            <a:bodyPr wrap="none" lIns="0" tIns="0" rIns="0" bIns="0" anchor="t" anchorCtr="0">
              <a:spAutoFit/>
            </a:bodyPr>
            <a:lstStyle/>
            <a:p>
              <a:pPr algn="l"/>
              <a:r>
                <a:rPr lang="zh-CN" sz="2850" b="1" dirty="0">
                  <a:solidFill>
                    <a:srgbClr val="F5F5F7"/>
                  </a:solidFill>
                  <a:latin typeface="Arial"/>
                  <a:ea typeface="Microsoft YaHei"/>
                  <a:cs typeface="Arial"/>
                </a:rPr>
                <a:t>From capture hardware to creator workflow.</a:t>
              </a:r>
            </a:p>
          </p:txBody>
        </p:sp>
        <p:sp>
          <p:nvSpPr>
            <p:cNvPr id="7" name="TextBox 7"/>
            <p:cNvSpPr txBox="1"/>
            <p:nvPr/>
          </p:nvSpPr>
          <p:spPr>
            <a:xfrm>
              <a:off x="497205" y="1283018"/>
              <a:ext cx="7577233" cy="274320"/>
            </a:xfrm>
            <a:prstGeom prst="rect">
              <a:avLst/>
            </a:prstGeom>
            <a:noFill/>
            <a:ln>
              <a:noFill/>
            </a:ln>
          </p:spPr>
          <p:txBody>
            <a:bodyPr wrap="none" lIns="0" tIns="0" rIns="0" bIns="0" anchor="t" anchorCtr="0">
              <a:spAutoFit/>
            </a:bodyPr>
            <a:lstStyle/>
            <a:p>
              <a:pPr algn="l"/>
              <a:r>
                <a:rPr lang="zh-CN" sz="1350" dirty="0">
                  <a:solidFill>
                    <a:srgbClr val="A1A1A6"/>
                  </a:solidFill>
                  <a:latin typeface="Arial"/>
                  <a:ea typeface="Microsoft YaHei"/>
                  <a:cs typeface="Arial"/>
                </a:rPr>
                <a:t>The source ties the Pro lineup to higher-resolution photography, cinema-grade video,</a:t>
              </a:r>
            </a:p>
          </p:txBody>
        </p:sp>
        <p:sp>
          <p:nvSpPr>
            <p:cNvPr id="8" name="TextBox 8"/>
            <p:cNvSpPr txBox="1"/>
            <p:nvPr/>
          </p:nvSpPr>
          <p:spPr>
            <a:xfrm>
              <a:off x="497205" y="1549718"/>
              <a:ext cx="3130677" cy="274320"/>
            </a:xfrm>
            <a:prstGeom prst="rect">
              <a:avLst/>
            </a:prstGeom>
            <a:noFill/>
            <a:ln>
              <a:noFill/>
            </a:ln>
          </p:spPr>
          <p:txBody>
            <a:bodyPr wrap="none" lIns="0" tIns="0" rIns="0" bIns="0" anchor="t" anchorCtr="0">
              <a:spAutoFit/>
            </a:bodyPr>
            <a:lstStyle/>
            <a:p>
              <a:pPr algn="l"/>
              <a:r>
                <a:rPr lang="zh-CN" sz="1350" dirty="0">
                  <a:solidFill>
                    <a:srgbClr val="A1A1A6"/>
                  </a:solidFill>
                  <a:latin typeface="Arial"/>
                  <a:ea typeface="Microsoft YaHei"/>
                  <a:cs typeface="Arial"/>
                </a:rPr>
                <a:t>and more flexible creative control.</a:t>
              </a:r>
            </a:p>
          </p:txBody>
        </p:sp>
      </p:grpSp>
      <p:grpSp>
        <p:nvGrpSpPr>
          <p:cNvPr id="14" name="Group 14"/>
          <p:cNvGrpSpPr/>
          <p:nvPr/>
        </p:nvGrpSpPr>
        <p:grpSpPr>
          <a:xfrm>
            <a:off x="514350" y="1809750"/>
            <a:ext cx="4005453" cy="3124200"/>
            <a:chOff x="514350" y="1809750"/>
            <a:chExt cx="4005453" cy="3124200"/>
          </a:xfrm>
        </p:grpSpPr>
        <p:sp>
          <p:nvSpPr>
            <p:cNvPr id="10" name="Rectangle 10"/>
            <p:cNvSpPr/>
            <p:nvPr/>
          </p:nvSpPr>
          <p:spPr>
            <a:xfrm>
              <a:off x="514350" y="1809750"/>
              <a:ext cx="3733800" cy="3124200"/>
            </a:xfrm>
            <a:prstGeom prst="roundRect">
              <a:avLst>
                <a:gd name="adj" fmla="val 7317"/>
              </a:avLst>
            </a:prstGeom>
            <a:solidFill>
              <a:srgbClr val="121214"/>
            </a:solidFill>
            <a:ln w="19050">
              <a:solidFill>
                <a:srgbClr val="3A3A3C"/>
              </a:solidFill>
            </a:ln>
          </p:spPr>
        </p:sp>
        <p:pic>
          <p:nvPicPr>
            <p:cNvPr id="11" name="Image 11"/>
            <p:cNvPicPr>
              <a:picLocks noChangeAspect="1"/>
            </p:cNvPicPr>
            <p:nvPr/>
          </p:nvPicPr>
          <p:blipFill>
            <a:blip r:embed="rId2"/>
            <a:stretch>
              <a:fillRect/>
            </a:stretch>
          </p:blipFill>
          <p:spPr>
            <a:xfrm>
              <a:off x="879913" y="2095500"/>
              <a:ext cx="3002674" cy="2000250"/>
            </a:xfrm>
            <a:prstGeom prst="rect">
              <a:avLst/>
            </a:prstGeom>
          </p:spPr>
        </p:pic>
        <p:sp>
          <p:nvSpPr>
            <p:cNvPr id="12" name="TextBox 12"/>
            <p:cNvSpPr txBox="1"/>
            <p:nvPr/>
          </p:nvSpPr>
          <p:spPr>
            <a:xfrm>
              <a:off x="777240" y="4244340"/>
              <a:ext cx="2654246" cy="365760"/>
            </a:xfrm>
            <a:prstGeom prst="rect">
              <a:avLst/>
            </a:prstGeom>
            <a:noFill/>
            <a:ln>
              <a:noFill/>
            </a:ln>
          </p:spPr>
          <p:txBody>
            <a:bodyPr wrap="none" lIns="0" tIns="0" rIns="0" bIns="0" anchor="t" anchorCtr="0">
              <a:spAutoFit/>
            </a:bodyPr>
            <a:lstStyle/>
            <a:p>
              <a:pPr algn="l"/>
              <a:r>
                <a:rPr lang="zh-CN" sz="1800" b="1" dirty="0">
                  <a:solidFill>
                    <a:srgbClr val="F5F5F7"/>
                  </a:solidFill>
                  <a:latin typeface="Arial"/>
                  <a:ea typeface="Microsoft YaHei"/>
                  <a:cs typeface="Arial"/>
                </a:rPr>
                <a:t>Pro camera hardware</a:t>
              </a:r>
            </a:p>
          </p:txBody>
        </p:sp>
        <p:sp>
          <p:nvSpPr>
            <p:cNvPr id="13" name="TextBox 13"/>
            <p:cNvSpPr txBox="1"/>
            <p:nvPr/>
          </p:nvSpPr>
          <p:spPr>
            <a:xfrm>
              <a:off x="784860" y="4632960"/>
              <a:ext cx="3734943" cy="243840"/>
            </a:xfrm>
            <a:prstGeom prst="rect">
              <a:avLst/>
            </a:prstGeom>
            <a:noFill/>
            <a:ln>
              <a:noFill/>
            </a:ln>
          </p:spPr>
          <p:txBody>
            <a:bodyPr wrap="none" lIns="0" tIns="0" rIns="0" bIns="0" anchor="t" anchorCtr="0">
              <a:spAutoFit/>
            </a:bodyPr>
            <a:lstStyle/>
            <a:p>
              <a:pPr algn="l"/>
              <a:r>
                <a:rPr lang="zh-CN" sz="1200" dirty="0">
                  <a:solidFill>
                    <a:srgbClr val="A1A1A6"/>
                  </a:solidFill>
                  <a:latin typeface="Arial"/>
                  <a:ea typeface="Microsoft YaHei"/>
                  <a:cs typeface="Arial"/>
                </a:rPr>
                <a:t>48MP Fusion, 48MP Ultra Wide, and 5x Telephoto</a:t>
              </a:r>
            </a:p>
          </p:txBody>
        </p:sp>
      </p:grpSp>
      <p:grpSp>
        <p:nvGrpSpPr>
          <p:cNvPr id="19" name="Group 19"/>
          <p:cNvGrpSpPr/>
          <p:nvPr/>
        </p:nvGrpSpPr>
        <p:grpSpPr>
          <a:xfrm>
            <a:off x="4533900" y="1809750"/>
            <a:ext cx="4053459" cy="3124200"/>
            <a:chOff x="4533900" y="1809750"/>
            <a:chExt cx="4053459" cy="3124200"/>
          </a:xfrm>
        </p:grpSpPr>
        <p:sp>
          <p:nvSpPr>
            <p:cNvPr id="15" name="Rectangle 15"/>
            <p:cNvSpPr/>
            <p:nvPr/>
          </p:nvSpPr>
          <p:spPr>
            <a:xfrm>
              <a:off x="4533900" y="1809750"/>
              <a:ext cx="3238500" cy="3124200"/>
            </a:xfrm>
            <a:prstGeom prst="roundRect">
              <a:avLst>
                <a:gd name="adj" fmla="val 7317"/>
              </a:avLst>
            </a:prstGeom>
            <a:solidFill>
              <a:srgbClr val="121214"/>
            </a:solidFill>
            <a:ln w="19050">
              <a:solidFill>
                <a:srgbClr val="3A3A3C"/>
              </a:solidFill>
            </a:ln>
          </p:spPr>
        </p:sp>
        <p:pic>
          <p:nvPicPr>
            <p:cNvPr id="16" name="Image 16"/>
            <p:cNvPicPr>
              <a:picLocks noChangeAspect="1"/>
            </p:cNvPicPr>
            <p:nvPr/>
          </p:nvPicPr>
          <p:blipFill>
            <a:blip r:embed="rId3"/>
            <a:stretch>
              <a:fillRect/>
            </a:stretch>
          </p:blipFill>
          <p:spPr>
            <a:xfrm>
              <a:off x="4819650" y="2095500"/>
              <a:ext cx="2667000" cy="2000250"/>
            </a:xfrm>
            <a:prstGeom prst="rect">
              <a:avLst/>
            </a:prstGeom>
          </p:spPr>
        </p:pic>
        <p:sp>
          <p:nvSpPr>
            <p:cNvPr id="17" name="TextBox 17"/>
            <p:cNvSpPr txBox="1"/>
            <p:nvPr/>
          </p:nvSpPr>
          <p:spPr>
            <a:xfrm>
              <a:off x="4796790" y="4244340"/>
              <a:ext cx="2137581" cy="365760"/>
            </a:xfrm>
            <a:prstGeom prst="rect">
              <a:avLst/>
            </a:prstGeom>
            <a:noFill/>
            <a:ln>
              <a:noFill/>
            </a:ln>
          </p:spPr>
          <p:txBody>
            <a:bodyPr wrap="none" lIns="0" tIns="0" rIns="0" bIns="0" anchor="t" anchorCtr="0">
              <a:spAutoFit/>
            </a:bodyPr>
            <a:lstStyle/>
            <a:p>
              <a:pPr algn="l"/>
              <a:r>
                <a:rPr lang="zh-CN" sz="1800" b="1" dirty="0">
                  <a:solidFill>
                    <a:srgbClr val="F5F5F7"/>
                  </a:solidFill>
                  <a:latin typeface="Arial"/>
                  <a:ea typeface="Microsoft YaHei"/>
                  <a:cs typeface="Arial"/>
                </a:rPr>
                <a:t>Creative capture</a:t>
              </a:r>
            </a:p>
          </p:txBody>
        </p:sp>
        <p:sp>
          <p:nvSpPr>
            <p:cNvPr id="18" name="TextBox 18"/>
            <p:cNvSpPr txBox="1"/>
            <p:nvPr/>
          </p:nvSpPr>
          <p:spPr>
            <a:xfrm>
              <a:off x="4804410" y="4632960"/>
              <a:ext cx="3782949" cy="243840"/>
            </a:xfrm>
            <a:prstGeom prst="rect">
              <a:avLst/>
            </a:prstGeom>
            <a:noFill/>
            <a:ln>
              <a:noFill/>
            </a:ln>
          </p:spPr>
          <p:txBody>
            <a:bodyPr wrap="none" lIns="0" tIns="0" rIns="0" bIns="0" anchor="t" anchorCtr="0">
              <a:spAutoFit/>
            </a:bodyPr>
            <a:lstStyle/>
            <a:p>
              <a:pPr algn="l"/>
              <a:r>
                <a:rPr lang="zh-CN" sz="1200" dirty="0">
                  <a:solidFill>
                    <a:srgbClr val="A1A1A6"/>
                  </a:solidFill>
                  <a:latin typeface="Arial"/>
                  <a:ea typeface="Microsoft YaHei"/>
                  <a:cs typeface="Arial"/>
                </a:rPr>
                <a:t>Photographic Styles and macro-ready Ultra Wide</a:t>
              </a:r>
            </a:p>
          </p:txBody>
        </p:sp>
      </p:grpSp>
      <p:grpSp>
        <p:nvGrpSpPr>
          <p:cNvPr id="24" name="Group 24"/>
          <p:cNvGrpSpPr/>
          <p:nvPr/>
        </p:nvGrpSpPr>
        <p:grpSpPr>
          <a:xfrm>
            <a:off x="8058150" y="1809750"/>
            <a:ext cx="4005453" cy="3124200"/>
            <a:chOff x="8058150" y="1809750"/>
            <a:chExt cx="4005453" cy="3124200"/>
          </a:xfrm>
        </p:grpSpPr>
        <p:sp>
          <p:nvSpPr>
            <p:cNvPr id="20" name="Rectangle 20"/>
            <p:cNvSpPr/>
            <p:nvPr/>
          </p:nvSpPr>
          <p:spPr>
            <a:xfrm>
              <a:off x="8058150" y="1809750"/>
              <a:ext cx="3619500" cy="3124200"/>
            </a:xfrm>
            <a:prstGeom prst="roundRect">
              <a:avLst>
                <a:gd name="adj" fmla="val 7317"/>
              </a:avLst>
            </a:prstGeom>
            <a:solidFill>
              <a:srgbClr val="121214"/>
            </a:solidFill>
            <a:ln w="19050">
              <a:solidFill>
                <a:srgbClr val="3A3A3C"/>
              </a:solidFill>
            </a:ln>
          </p:spPr>
        </p:sp>
        <p:pic>
          <p:nvPicPr>
            <p:cNvPr id="21" name="Image 21"/>
            <p:cNvPicPr>
              <a:picLocks noChangeAspect="1"/>
            </p:cNvPicPr>
            <p:nvPr/>
          </p:nvPicPr>
          <p:blipFill>
            <a:blip r:embed="rId4"/>
            <a:stretch>
              <a:fillRect/>
            </a:stretch>
          </p:blipFill>
          <p:spPr>
            <a:xfrm>
              <a:off x="8534400" y="2095500"/>
              <a:ext cx="2667000" cy="2000250"/>
            </a:xfrm>
            <a:prstGeom prst="rect">
              <a:avLst/>
            </a:prstGeom>
          </p:spPr>
        </p:pic>
        <p:sp>
          <p:nvSpPr>
            <p:cNvPr id="22" name="TextBox 22"/>
            <p:cNvSpPr txBox="1"/>
            <p:nvPr/>
          </p:nvSpPr>
          <p:spPr>
            <a:xfrm>
              <a:off x="8321040" y="4244340"/>
              <a:ext cx="2087175" cy="365760"/>
            </a:xfrm>
            <a:prstGeom prst="rect">
              <a:avLst/>
            </a:prstGeom>
            <a:noFill/>
            <a:ln>
              <a:noFill/>
            </a:ln>
          </p:spPr>
          <p:txBody>
            <a:bodyPr wrap="none" lIns="0" tIns="0" rIns="0" bIns="0" anchor="t" anchorCtr="0">
              <a:spAutoFit/>
            </a:bodyPr>
            <a:lstStyle/>
            <a:p>
              <a:pPr algn="l"/>
              <a:r>
                <a:rPr lang="zh-CN" sz="1800" b="1" dirty="0">
                  <a:solidFill>
                    <a:srgbClr val="F5F5F7"/>
                  </a:solidFill>
                  <a:latin typeface="Arial"/>
                  <a:ea typeface="Microsoft YaHei"/>
                  <a:cs typeface="Arial"/>
                </a:rPr>
                <a:t>Pro video toolkit</a:t>
              </a:r>
            </a:p>
          </p:txBody>
        </p:sp>
        <p:sp>
          <p:nvSpPr>
            <p:cNvPr id="23" name="TextBox 23"/>
            <p:cNvSpPr txBox="1"/>
            <p:nvPr/>
          </p:nvSpPr>
          <p:spPr>
            <a:xfrm>
              <a:off x="8328660" y="4632960"/>
              <a:ext cx="3734943" cy="243840"/>
            </a:xfrm>
            <a:prstGeom prst="rect">
              <a:avLst/>
            </a:prstGeom>
            <a:noFill/>
            <a:ln>
              <a:noFill/>
            </a:ln>
          </p:spPr>
          <p:txBody>
            <a:bodyPr wrap="none" lIns="0" tIns="0" rIns="0" bIns="0" anchor="t" anchorCtr="0">
              <a:spAutoFit/>
            </a:bodyPr>
            <a:lstStyle/>
            <a:p>
              <a:pPr algn="l"/>
              <a:r>
                <a:rPr lang="zh-CN" sz="1200" dirty="0">
                  <a:solidFill>
                    <a:srgbClr val="A1A1A6"/>
                  </a:solidFill>
                  <a:latin typeface="Arial"/>
                  <a:ea typeface="Microsoft YaHei"/>
                  <a:cs typeface="Arial"/>
                </a:rPr>
                <a:t>4K120 fps Dolby Vision and Spatial Audio capture</a:t>
              </a:r>
            </a:p>
          </p:txBody>
        </p:sp>
      </p:grpSp>
      <p:grpSp>
        <p:nvGrpSpPr>
          <p:cNvPr id="28" name="Group 28"/>
          <p:cNvGrpSpPr/>
          <p:nvPr/>
        </p:nvGrpSpPr>
        <p:grpSpPr>
          <a:xfrm>
            <a:off x="514350" y="5353050"/>
            <a:ext cx="11163300" cy="831056"/>
            <a:chOff x="514350" y="5353050"/>
            <a:chExt cx="11163300" cy="831056"/>
          </a:xfrm>
        </p:grpSpPr>
        <p:sp>
          <p:nvSpPr>
            <p:cNvPr id="25" name="Rectangle 25"/>
            <p:cNvSpPr/>
            <p:nvPr/>
          </p:nvSpPr>
          <p:spPr>
            <a:xfrm>
              <a:off x="514350" y="5353050"/>
              <a:ext cx="11163300" cy="819150"/>
            </a:xfrm>
            <a:prstGeom prst="roundRect">
              <a:avLst>
                <a:gd name="adj" fmla="val 23256"/>
              </a:avLst>
            </a:prstGeom>
            <a:solidFill>
              <a:srgbClr val="1E1E22"/>
            </a:solidFill>
            <a:ln w="19050">
              <a:solidFill>
                <a:srgbClr val="3A3A3C"/>
              </a:solidFill>
            </a:ln>
          </p:spPr>
        </p:sp>
        <p:sp>
          <p:nvSpPr>
            <p:cNvPr id="26" name="TextBox 26"/>
            <p:cNvSpPr txBox="1"/>
            <p:nvPr/>
          </p:nvSpPr>
          <p:spPr>
            <a:xfrm>
              <a:off x="822008" y="5596414"/>
              <a:ext cx="2487067" cy="259080"/>
            </a:xfrm>
            <a:prstGeom prst="rect">
              <a:avLst/>
            </a:prstGeom>
            <a:noFill/>
            <a:ln>
              <a:noFill/>
            </a:ln>
          </p:spPr>
          <p:txBody>
            <a:bodyPr wrap="none" lIns="0" tIns="0" rIns="0" bIns="0" anchor="t" anchorCtr="0">
              <a:spAutoFit/>
            </a:bodyPr>
            <a:lstStyle/>
            <a:p>
              <a:pPr algn="l"/>
              <a:r>
                <a:rPr lang="zh-CN" sz="1275" b="1" dirty="0">
                  <a:solidFill>
                    <a:srgbClr val="2997FF"/>
                  </a:solidFill>
                  <a:latin typeface="Arial"/>
                  <a:ea typeface="Microsoft YaHei"/>
                  <a:cs typeface="Arial"/>
                </a:rPr>
                <a:t>CAMERA CLAIMS FROM SOURCE</a:t>
              </a:r>
            </a:p>
          </p:txBody>
        </p:sp>
        <p:sp>
          <p:nvSpPr>
            <p:cNvPr id="27" name="TextBox 27"/>
            <p:cNvSpPr txBox="1"/>
            <p:nvPr/>
          </p:nvSpPr>
          <p:spPr>
            <a:xfrm>
              <a:off x="820102" y="5894546"/>
              <a:ext cx="8169212" cy="289560"/>
            </a:xfrm>
            <a:prstGeom prst="rect">
              <a:avLst/>
            </a:prstGeom>
            <a:noFill/>
            <a:ln>
              <a:noFill/>
            </a:ln>
          </p:spPr>
          <p:txBody>
            <a:bodyPr wrap="none" lIns="0" tIns="0" rIns="0" bIns="0" anchor="t" anchorCtr="0">
              <a:spAutoFit/>
            </a:bodyPr>
            <a:lstStyle/>
            <a:p>
              <a:pPr algn="l"/>
              <a:r>
                <a:rPr lang="zh-CN" sz="1425" dirty="0">
                  <a:solidFill>
                    <a:srgbClr val="F5F5F7"/>
                  </a:solidFill>
                  <a:latin typeface="Arial"/>
                  <a:ea typeface="Microsoft YaHei"/>
                  <a:cs typeface="Arial"/>
                </a:rPr>
                <a:t>48MP Fusion</a:t>
              </a:r>
              <a:r>
                <a:rPr lang="zh-CN" sz="1425" dirty="0">
                  <a:solidFill>
                    <a:srgbClr val="F5F5F7"/>
                  </a:solidFill>
                  <a:latin typeface="Arial"/>
                  <a:ea typeface="Microsoft YaHei"/>
                  <a:cs typeface="Arial"/>
                </a:rPr>
                <a:t xml:space="preserve"> </a:t>
              </a:r>
              <a:r>
                <a:rPr lang="zh-CN" sz="1425" dirty="0">
                  <a:solidFill>
                    <a:srgbClr val="A1A1A6"/>
                  </a:solidFill>
                  <a:latin typeface="Arial"/>
                  <a:ea typeface="Microsoft YaHei"/>
                  <a:cs typeface="Arial"/>
                </a:rPr>
                <a:t xml:space="preserve"> | </a:t>
              </a:r>
              <a:r>
                <a:rPr lang="zh-CN" sz="1425" dirty="0">
                  <a:solidFill>
                    <a:srgbClr val="F5F5F7"/>
                  </a:solidFill>
                  <a:latin typeface="Arial"/>
                  <a:ea typeface="Microsoft YaHei"/>
                  <a:cs typeface="Arial"/>
                </a:rPr>
                <a:t xml:space="preserve"> </a:t>
              </a:r>
              <a:r>
                <a:rPr lang="zh-CN" sz="1425" dirty="0">
                  <a:solidFill>
                    <a:srgbClr val="F5F5F7"/>
                  </a:solidFill>
                  <a:latin typeface="Arial"/>
                  <a:ea typeface="Microsoft YaHei"/>
                  <a:cs typeface="Arial"/>
                </a:rPr>
                <a:t>48MP Ultra Wide</a:t>
              </a:r>
              <a:r>
                <a:rPr lang="zh-CN" sz="1425" dirty="0">
                  <a:solidFill>
                    <a:srgbClr val="F5F5F7"/>
                  </a:solidFill>
                  <a:latin typeface="Arial"/>
                  <a:ea typeface="Microsoft YaHei"/>
                  <a:cs typeface="Arial"/>
                </a:rPr>
                <a:t xml:space="preserve"> </a:t>
              </a:r>
              <a:r>
                <a:rPr lang="zh-CN" sz="1425" dirty="0">
                  <a:solidFill>
                    <a:srgbClr val="A1A1A6"/>
                  </a:solidFill>
                  <a:latin typeface="Arial"/>
                  <a:ea typeface="Microsoft YaHei"/>
                  <a:cs typeface="Arial"/>
                </a:rPr>
                <a:t xml:space="preserve"> | </a:t>
              </a:r>
              <a:r>
                <a:rPr lang="zh-CN" sz="1425" dirty="0">
                  <a:solidFill>
                    <a:srgbClr val="F5F5F7"/>
                  </a:solidFill>
                  <a:latin typeface="Arial"/>
                  <a:ea typeface="Microsoft YaHei"/>
                  <a:cs typeface="Arial"/>
                </a:rPr>
                <a:t xml:space="preserve"> </a:t>
              </a:r>
              <a:r>
                <a:rPr lang="zh-CN" sz="1425" dirty="0">
                  <a:solidFill>
                    <a:srgbClr val="F5F5F7"/>
                  </a:solidFill>
                  <a:latin typeface="Arial"/>
                  <a:ea typeface="Microsoft YaHei"/>
                  <a:cs typeface="Arial"/>
                </a:rPr>
                <a:t>5x Telephoto on both Pro models</a:t>
              </a:r>
              <a:r>
                <a:rPr lang="zh-CN" sz="1425" dirty="0">
                  <a:solidFill>
                    <a:srgbClr val="F5F5F7"/>
                  </a:solidFill>
                  <a:latin typeface="Arial"/>
                  <a:ea typeface="Microsoft YaHei"/>
                  <a:cs typeface="Arial"/>
                </a:rPr>
                <a:t xml:space="preserve"> </a:t>
              </a:r>
              <a:r>
                <a:rPr lang="zh-CN" sz="1425" dirty="0">
                  <a:solidFill>
                    <a:srgbClr val="A1A1A6"/>
                  </a:solidFill>
                  <a:latin typeface="Arial"/>
                  <a:ea typeface="Microsoft YaHei"/>
                  <a:cs typeface="Arial"/>
                </a:rPr>
                <a:t xml:space="preserve"> | </a:t>
              </a:r>
              <a:r>
                <a:rPr lang="zh-CN" sz="1425" dirty="0">
                  <a:solidFill>
                    <a:srgbClr val="F5F5F7"/>
                  </a:solidFill>
                  <a:latin typeface="Arial"/>
                  <a:ea typeface="Microsoft YaHei"/>
                  <a:cs typeface="Arial"/>
                </a:rPr>
                <a:t xml:space="preserve"> </a:t>
              </a:r>
              <a:r>
                <a:rPr lang="zh-CN" sz="1425" dirty="0">
                  <a:solidFill>
                    <a:srgbClr val="F5F5F7"/>
                  </a:solidFill>
                  <a:latin typeface="Arial"/>
                  <a:ea typeface="Microsoft YaHei"/>
                  <a:cs typeface="Arial"/>
                </a:rPr>
                <a:t>studio-quality mics</a:t>
              </a:r>
            </a:p>
          </p:txBody>
        </p:sp>
      </p:grpSp>
      <p:sp>
        <p:nvSpPr>
          <p:cNvPr id="29" name="TextBox 29"/>
          <p:cNvSpPr txBox="1"/>
          <p:nvPr/>
        </p:nvSpPr>
        <p:spPr>
          <a:xfrm>
            <a:off x="501968" y="6352699"/>
            <a:ext cx="4555831" cy="198120"/>
          </a:xfrm>
          <a:prstGeom prst="rect">
            <a:avLst/>
          </a:prstGeom>
          <a:noFill/>
          <a:ln>
            <a:noFill/>
          </a:ln>
        </p:spPr>
        <p:txBody>
          <a:bodyPr wrap="none" lIns="0" tIns="0" rIns="0" bIns="0" anchor="t" anchorCtr="0">
            <a:spAutoFit/>
          </a:bodyPr>
          <a:lstStyle/>
          <a:p>
            <a:pPr algn="l"/>
            <a:r>
              <a:rPr lang="zh-CN" sz="975" dirty="0">
                <a:solidFill>
                  <a:srgbClr val="A1A1A6"/>
                </a:solidFill>
                <a:latin typeface="Arial"/>
                <a:ea typeface="Microsoft YaHei"/>
                <a:cs typeface="Arial"/>
              </a:rPr>
              <a:t>Source: Apple press release PDF, pro camera system and video sections</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400"/>
                                        <p:tgtEl>
                                          <p:spTgt spid="14"/>
                                        </p:tgtEl>
                                      </p:cBhvr>
                                    </p:animEffect>
                                  </p:childTnLst>
                                </p:cTn>
                              </p:par>
                            </p:childTnLst>
                          </p:cTn>
                        </p:par>
                        <p:par>
                          <p:cTn id="12" fill="hold">
                            <p:stCondLst>
                              <p:cond delay="1800"/>
                            </p:stCondLst>
                            <p:childTnLst>
                              <p:par>
                                <p:cTn id="13" presetID="21" presetClass="entr" presetSubtype="0" fill="hold" nodeType="after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wheel(4)">
                                      <p:cBhvr>
                                        <p:cTn id="15" dur="400"/>
                                        <p:tgtEl>
                                          <p:spTgt spid="19"/>
                                        </p:tgtEl>
                                      </p:cBhvr>
                                    </p:animEffect>
                                  </p:childTnLst>
                                </p:cTn>
                              </p:par>
                            </p:childTnLst>
                          </p:cTn>
                        </p:par>
                        <p:par>
                          <p:cTn id="16" fill="hold">
                            <p:stCondLst>
                              <p:cond delay="2700"/>
                            </p:stCondLst>
                            <p:childTnLst>
                              <p:par>
                                <p:cTn id="17" presetID="23" presetClass="entr" presetSubtype="0" fill="hold" nodeType="after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image">
                                      <p:cBhvr>
                                        <p:cTn id="19" dur="400"/>
                                        <p:tgtEl>
                                          <p:spTgt spid="24"/>
                                        </p:tgtEl>
                                      </p:cBhvr>
                                    </p:animEffect>
                                  </p:childTnLst>
                                </p:cTn>
                              </p:par>
                            </p:childTnLst>
                          </p:cTn>
                        </p:par>
                        <p:par>
                          <p:cTn id="20" fill="hold">
                            <p:stCondLst>
                              <p:cond delay="3600"/>
                            </p:stCondLst>
                            <p:childTnLst>
                              <p:par>
                                <p:cTn id="21" presetID="23" presetClass="entr" presetSubtype="0" fill="hold" nodeType="after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image">
                                      <p:cBhvr>
                                        <p:cTn id="23"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4" grpId="0"/>
      <p:bldP spid="19" grpId="0"/>
      <p:bldP spid="24" grpId="0"/>
      <p:bldP spid="2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50506"/>
          </a:solidFill>
          <a:ln>
            <a:noFill/>
          </a:ln>
        </p:spPr>
      </p:sp>
      <p:grpSp>
        <p:nvGrpSpPr>
          <p:cNvPr id="5" name="Group 5"/>
          <p:cNvGrpSpPr/>
          <p:nvPr/>
        </p:nvGrpSpPr>
        <p:grpSpPr>
          <a:xfrm>
            <a:off x="520065" y="439102"/>
            <a:ext cx="11338822" cy="213360"/>
            <a:chOff x="520065" y="439102"/>
            <a:chExt cx="11338822" cy="213360"/>
          </a:xfrm>
        </p:grpSpPr>
        <p:sp>
          <p:nvSpPr>
            <p:cNvPr id="3" name="TextBox 3"/>
            <p:cNvSpPr txBox="1"/>
            <p:nvPr/>
          </p:nvSpPr>
          <p:spPr>
            <a:xfrm>
              <a:off x="520065" y="439102"/>
              <a:ext cx="2650948" cy="213360"/>
            </a:xfrm>
            <a:prstGeom prst="rect">
              <a:avLst/>
            </a:prstGeom>
            <a:noFill/>
            <a:ln>
              <a:noFill/>
            </a:ln>
          </p:spPr>
          <p:txBody>
            <a:bodyPr wrap="none" lIns="0" tIns="0" rIns="0" bIns="0" anchor="t" anchorCtr="0">
              <a:spAutoFit/>
            </a:bodyPr>
            <a:lstStyle/>
            <a:p>
              <a:pPr algn="l"/>
              <a:r>
                <a:rPr lang="zh-CN" sz="1050" b="1" dirty="0">
                  <a:solidFill>
                    <a:srgbClr val="A1A1A6"/>
                  </a:solidFill>
                  <a:latin typeface="Arial"/>
                  <a:ea typeface="Microsoft YaHei"/>
                  <a:cs typeface="Arial"/>
                </a:rPr>
                <a:t>PERFORMANCE + PRIVACY ARCHITECTURE</a:t>
              </a:r>
            </a:p>
          </p:txBody>
        </p:sp>
        <p:sp>
          <p:nvSpPr>
            <p:cNvPr id="4" name="TextBox 4"/>
            <p:cNvSpPr txBox="1"/>
            <p:nvPr/>
          </p:nvSpPr>
          <p:spPr>
            <a:xfrm>
              <a:off x="11398568" y="447199"/>
              <a:ext cx="460319" cy="198120"/>
            </a:xfrm>
            <a:prstGeom prst="rect">
              <a:avLst/>
            </a:prstGeom>
            <a:noFill/>
            <a:ln>
              <a:noFill/>
            </a:ln>
          </p:spPr>
          <p:txBody>
            <a:bodyPr wrap="none" lIns="0" tIns="0" rIns="0" bIns="0" anchor="t" anchorCtr="0">
              <a:spAutoFit/>
            </a:bodyPr>
            <a:lstStyle/>
            <a:p>
              <a:pPr algn="l"/>
              <a:r>
                <a:rPr lang="zh-CN" sz="975" dirty="0">
                  <a:solidFill>
                    <a:srgbClr val="A1A1A6"/>
                  </a:solidFill>
                  <a:latin typeface="Consolas"/>
                  <a:ea typeface="Microsoft YaHei"/>
                  <a:cs typeface="Consolas"/>
                </a:rPr>
                <a:t>06 / 09</a:t>
              </a:r>
            </a:p>
          </p:txBody>
        </p:sp>
      </p:grpSp>
      <p:grpSp>
        <p:nvGrpSpPr>
          <p:cNvPr id="9" name="Group 9"/>
          <p:cNvGrpSpPr/>
          <p:nvPr/>
        </p:nvGrpSpPr>
        <p:grpSpPr>
          <a:xfrm>
            <a:off x="497205" y="797242"/>
            <a:ext cx="10846737" cy="1026796"/>
            <a:chOff x="497205" y="797242"/>
            <a:chExt cx="10846737" cy="1026796"/>
          </a:xfrm>
        </p:grpSpPr>
        <p:sp>
          <p:nvSpPr>
            <p:cNvPr id="6" name="TextBox 6"/>
            <p:cNvSpPr txBox="1"/>
            <p:nvPr/>
          </p:nvSpPr>
          <p:spPr>
            <a:xfrm>
              <a:off x="497205" y="797242"/>
              <a:ext cx="10846737" cy="579120"/>
            </a:xfrm>
            <a:prstGeom prst="rect">
              <a:avLst/>
            </a:prstGeom>
            <a:noFill/>
            <a:ln>
              <a:noFill/>
            </a:ln>
          </p:spPr>
          <p:txBody>
            <a:bodyPr wrap="none" lIns="0" tIns="0" rIns="0" bIns="0" anchor="t" anchorCtr="0">
              <a:spAutoFit/>
            </a:bodyPr>
            <a:lstStyle/>
            <a:p>
              <a:pPr algn="l"/>
              <a:r>
                <a:rPr lang="zh-CN" sz="2850" b="1" dirty="0">
                  <a:solidFill>
                    <a:srgbClr val="F5F5F7"/>
                  </a:solidFill>
                  <a:latin typeface="Arial"/>
                  <a:ea typeface="Microsoft YaHei"/>
                  <a:cs typeface="Arial"/>
                </a:rPr>
                <a:t>A18 Pro is the platform story behind Apple Intelligence.</a:t>
              </a:r>
            </a:p>
          </p:txBody>
        </p:sp>
        <p:sp>
          <p:nvSpPr>
            <p:cNvPr id="7" name="TextBox 7"/>
            <p:cNvSpPr txBox="1"/>
            <p:nvPr/>
          </p:nvSpPr>
          <p:spPr>
            <a:xfrm>
              <a:off x="516255" y="1283018"/>
              <a:ext cx="6083046" cy="274320"/>
            </a:xfrm>
            <a:prstGeom prst="rect">
              <a:avLst/>
            </a:prstGeom>
            <a:noFill/>
            <a:ln>
              <a:noFill/>
            </a:ln>
          </p:spPr>
          <p:txBody>
            <a:bodyPr wrap="none" lIns="0" tIns="0" rIns="0" bIns="0" anchor="t" anchorCtr="0">
              <a:spAutoFit/>
            </a:bodyPr>
            <a:lstStyle/>
            <a:p>
              <a:pPr algn="l"/>
              <a:r>
                <a:rPr lang="zh-CN" sz="1350" dirty="0">
                  <a:solidFill>
                    <a:srgbClr val="A1A1A6"/>
                  </a:solidFill>
                  <a:latin typeface="Arial"/>
                  <a:ea typeface="Microsoft YaHei"/>
                  <a:cs typeface="Arial"/>
                </a:rPr>
                <a:t>The source pairs local silicon and generative models with server-side</a:t>
              </a:r>
            </a:p>
          </p:txBody>
        </p:sp>
        <p:sp>
          <p:nvSpPr>
            <p:cNvPr id="8" name="TextBox 8"/>
            <p:cNvSpPr txBox="1"/>
            <p:nvPr/>
          </p:nvSpPr>
          <p:spPr>
            <a:xfrm>
              <a:off x="516255" y="1549718"/>
              <a:ext cx="3616738" cy="274320"/>
            </a:xfrm>
            <a:prstGeom prst="rect">
              <a:avLst/>
            </a:prstGeom>
            <a:noFill/>
            <a:ln>
              <a:noFill/>
            </a:ln>
          </p:spPr>
          <p:txBody>
            <a:bodyPr wrap="none" lIns="0" tIns="0" rIns="0" bIns="0" anchor="t" anchorCtr="0">
              <a:spAutoFit/>
            </a:bodyPr>
            <a:lstStyle/>
            <a:p>
              <a:pPr algn="l"/>
              <a:r>
                <a:rPr lang="zh-CN" sz="1350" dirty="0">
                  <a:solidFill>
                    <a:srgbClr val="A1A1A6"/>
                  </a:solidFill>
                  <a:latin typeface="Arial"/>
                  <a:ea typeface="Microsoft YaHei"/>
                  <a:cs typeface="Arial"/>
                </a:rPr>
                <a:t>Apple silicon for more complex requests.</a:t>
              </a:r>
            </a:p>
          </p:txBody>
        </p:sp>
      </p:grpSp>
      <p:grpSp>
        <p:nvGrpSpPr>
          <p:cNvPr id="21" name="Group 21"/>
          <p:cNvGrpSpPr/>
          <p:nvPr/>
        </p:nvGrpSpPr>
        <p:grpSpPr>
          <a:xfrm>
            <a:off x="533400" y="1924050"/>
            <a:ext cx="2686050" cy="3879056"/>
            <a:chOff x="533400" y="1924050"/>
            <a:chExt cx="2686050" cy="3879056"/>
          </a:xfrm>
        </p:grpSpPr>
        <p:sp>
          <p:nvSpPr>
            <p:cNvPr id="10" name="Rectangle 10"/>
            <p:cNvSpPr/>
            <p:nvPr/>
          </p:nvSpPr>
          <p:spPr>
            <a:xfrm>
              <a:off x="533400" y="1924050"/>
              <a:ext cx="2686050" cy="1123950"/>
            </a:xfrm>
            <a:prstGeom prst="roundRect">
              <a:avLst>
                <a:gd name="adj" fmla="val 15254"/>
              </a:avLst>
            </a:prstGeom>
            <a:solidFill>
              <a:srgbClr val="121214"/>
            </a:solidFill>
            <a:ln w="19050">
              <a:solidFill>
                <a:srgbClr val="3A3A3C"/>
              </a:solidFill>
            </a:ln>
          </p:spPr>
        </p:sp>
        <p:sp>
          <p:nvSpPr>
            <p:cNvPr id="11" name="TextBox 11"/>
            <p:cNvSpPr txBox="1"/>
            <p:nvPr/>
          </p:nvSpPr>
          <p:spPr>
            <a:xfrm>
              <a:off x="823912" y="2221706"/>
              <a:ext cx="1076081" cy="228600"/>
            </a:xfrm>
            <a:prstGeom prst="rect">
              <a:avLst/>
            </a:prstGeom>
            <a:noFill/>
            <a:ln>
              <a:noFill/>
            </a:ln>
          </p:spPr>
          <p:txBody>
            <a:bodyPr wrap="none" lIns="0" tIns="0" rIns="0" bIns="0" anchor="t" anchorCtr="0">
              <a:spAutoFit/>
            </a:bodyPr>
            <a:lstStyle/>
            <a:p>
              <a:pPr algn="l"/>
              <a:r>
                <a:rPr lang="zh-CN" sz="1125" b="1" dirty="0">
                  <a:solidFill>
                    <a:srgbClr val="2997FF"/>
                  </a:solidFill>
                  <a:latin typeface="Arial"/>
                  <a:ea typeface="Microsoft YaHei"/>
                  <a:cs typeface="Arial"/>
                </a:rPr>
                <a:t>NEURAL ENGINE</a:t>
              </a:r>
            </a:p>
          </p:txBody>
        </p:sp>
        <p:sp>
          <p:nvSpPr>
            <p:cNvPr id="12" name="TextBox 12"/>
            <p:cNvSpPr txBox="1"/>
            <p:nvPr/>
          </p:nvSpPr>
          <p:spPr>
            <a:xfrm>
              <a:off x="807720" y="2465070"/>
              <a:ext cx="1354722" cy="487680"/>
            </a:xfrm>
            <a:prstGeom prst="rect">
              <a:avLst/>
            </a:prstGeom>
            <a:noFill/>
            <a:ln>
              <a:noFill/>
            </a:ln>
          </p:spPr>
          <p:txBody>
            <a:bodyPr wrap="none" lIns="0" tIns="0" rIns="0" bIns="0" anchor="t" anchorCtr="0">
              <a:spAutoFit/>
            </a:bodyPr>
            <a:lstStyle/>
            <a:p>
              <a:pPr algn="l"/>
              <a:r>
                <a:rPr lang="zh-CN" sz="2400" b="1" dirty="0">
                  <a:solidFill>
                    <a:srgbClr val="F5F5F7"/>
                  </a:solidFill>
                  <a:latin typeface="Arial"/>
                  <a:ea typeface="Microsoft YaHei"/>
                  <a:cs typeface="Arial"/>
                </a:rPr>
                <a:t>16-core</a:t>
              </a:r>
            </a:p>
          </p:txBody>
        </p:sp>
        <p:sp>
          <p:nvSpPr>
            <p:cNvPr id="13" name="Rectangle 13"/>
            <p:cNvSpPr/>
            <p:nvPr/>
          </p:nvSpPr>
          <p:spPr>
            <a:xfrm>
              <a:off x="533400" y="3295650"/>
              <a:ext cx="2686050" cy="1123950"/>
            </a:xfrm>
            <a:prstGeom prst="roundRect">
              <a:avLst>
                <a:gd name="adj" fmla="val 15254"/>
              </a:avLst>
            </a:prstGeom>
            <a:solidFill>
              <a:srgbClr val="121214"/>
            </a:solidFill>
            <a:ln w="19050">
              <a:solidFill>
                <a:srgbClr val="3A3A3C"/>
              </a:solidFill>
            </a:ln>
          </p:spPr>
        </p:sp>
        <p:sp>
          <p:nvSpPr>
            <p:cNvPr id="14" name="TextBox 14"/>
            <p:cNvSpPr txBox="1"/>
            <p:nvPr/>
          </p:nvSpPr>
          <p:spPr>
            <a:xfrm>
              <a:off x="823912" y="3593306"/>
              <a:ext cx="642902" cy="228600"/>
            </a:xfrm>
            <a:prstGeom prst="rect">
              <a:avLst/>
            </a:prstGeom>
            <a:noFill/>
            <a:ln>
              <a:noFill/>
            </a:ln>
          </p:spPr>
          <p:txBody>
            <a:bodyPr wrap="none" lIns="0" tIns="0" rIns="0" bIns="0" anchor="t" anchorCtr="0">
              <a:spAutoFit/>
            </a:bodyPr>
            <a:lstStyle/>
            <a:p>
              <a:pPr algn="l"/>
              <a:r>
                <a:rPr lang="zh-CN" sz="1125" b="1" dirty="0">
                  <a:solidFill>
                    <a:srgbClr val="D8C6A3"/>
                  </a:solidFill>
                  <a:latin typeface="Arial"/>
                  <a:ea typeface="Microsoft YaHei"/>
                  <a:cs typeface="Arial"/>
                </a:rPr>
                <a:t>MEMORY</a:t>
              </a:r>
            </a:p>
          </p:txBody>
        </p:sp>
        <p:sp>
          <p:nvSpPr>
            <p:cNvPr id="15" name="TextBox 15"/>
            <p:cNvSpPr txBox="1"/>
            <p:nvPr/>
          </p:nvSpPr>
          <p:spPr>
            <a:xfrm>
              <a:off x="807720" y="3836670"/>
              <a:ext cx="867461" cy="487680"/>
            </a:xfrm>
            <a:prstGeom prst="rect">
              <a:avLst/>
            </a:prstGeom>
            <a:noFill/>
            <a:ln>
              <a:noFill/>
            </a:ln>
          </p:spPr>
          <p:txBody>
            <a:bodyPr wrap="none" lIns="0" tIns="0" rIns="0" bIns="0" anchor="t" anchorCtr="0">
              <a:spAutoFit/>
            </a:bodyPr>
            <a:lstStyle/>
            <a:p>
              <a:pPr algn="l"/>
              <a:r>
                <a:rPr lang="zh-CN" sz="2400" b="1" dirty="0">
                  <a:solidFill>
                    <a:srgbClr val="F5F5F7"/>
                  </a:solidFill>
                  <a:latin typeface="Arial"/>
                  <a:ea typeface="Microsoft YaHei"/>
                  <a:cs typeface="Arial"/>
                </a:rPr>
                <a:t>+17%</a:t>
              </a:r>
            </a:p>
          </p:txBody>
        </p:sp>
        <p:sp>
          <p:nvSpPr>
            <p:cNvPr id="16" name="TextBox 16"/>
            <p:cNvSpPr txBox="1"/>
            <p:nvPr/>
          </p:nvSpPr>
          <p:spPr>
            <a:xfrm>
              <a:off x="1622108" y="3958114"/>
              <a:ext cx="865489" cy="259080"/>
            </a:xfrm>
            <a:prstGeom prst="rect">
              <a:avLst/>
            </a:prstGeom>
            <a:noFill/>
            <a:ln>
              <a:noFill/>
            </a:ln>
          </p:spPr>
          <p:txBody>
            <a:bodyPr wrap="none" lIns="0" tIns="0" rIns="0" bIns="0" anchor="t" anchorCtr="0">
              <a:spAutoFit/>
            </a:bodyPr>
            <a:lstStyle/>
            <a:p>
              <a:pPr algn="l"/>
              <a:r>
                <a:rPr lang="zh-CN" sz="1275" dirty="0">
                  <a:solidFill>
                    <a:srgbClr val="A1A1A6"/>
                  </a:solidFill>
                  <a:latin typeface="Arial"/>
                  <a:ea typeface="Microsoft YaHei"/>
                  <a:cs typeface="Arial"/>
                </a:rPr>
                <a:t>bandwidth</a:t>
              </a:r>
            </a:p>
          </p:txBody>
        </p:sp>
        <p:sp>
          <p:nvSpPr>
            <p:cNvPr id="17" name="Rectangle 17"/>
            <p:cNvSpPr/>
            <p:nvPr/>
          </p:nvSpPr>
          <p:spPr>
            <a:xfrm>
              <a:off x="533400" y="4667250"/>
              <a:ext cx="2686050" cy="1123950"/>
            </a:xfrm>
            <a:prstGeom prst="roundRect">
              <a:avLst>
                <a:gd name="adj" fmla="val 15254"/>
              </a:avLst>
            </a:prstGeom>
            <a:solidFill>
              <a:srgbClr val="121214"/>
            </a:solidFill>
            <a:ln w="19050">
              <a:solidFill>
                <a:srgbClr val="3A3A3C"/>
              </a:solidFill>
            </a:ln>
          </p:spPr>
        </p:sp>
        <p:sp>
          <p:nvSpPr>
            <p:cNvPr id="18" name="TextBox 18"/>
            <p:cNvSpPr txBox="1"/>
            <p:nvPr/>
          </p:nvSpPr>
          <p:spPr>
            <a:xfrm>
              <a:off x="823912" y="4964906"/>
              <a:ext cx="1123337" cy="228600"/>
            </a:xfrm>
            <a:prstGeom prst="rect">
              <a:avLst/>
            </a:prstGeom>
            <a:noFill/>
            <a:ln>
              <a:noFill/>
            </a:ln>
          </p:spPr>
          <p:txBody>
            <a:bodyPr wrap="none" lIns="0" tIns="0" rIns="0" bIns="0" anchor="t" anchorCtr="0">
              <a:spAutoFit/>
            </a:bodyPr>
            <a:lstStyle/>
            <a:p>
              <a:pPr algn="l"/>
              <a:r>
                <a:rPr lang="zh-CN" sz="1125" b="1" dirty="0">
                  <a:solidFill>
                    <a:srgbClr val="30D158"/>
                  </a:solidFill>
                  <a:latin typeface="Arial"/>
                  <a:ea typeface="Microsoft YaHei"/>
                  <a:cs typeface="Arial"/>
                </a:rPr>
                <a:t>CPU EFFICIENCY</a:t>
              </a:r>
            </a:p>
          </p:txBody>
        </p:sp>
        <p:sp>
          <p:nvSpPr>
            <p:cNvPr id="19" name="TextBox 19"/>
            <p:cNvSpPr txBox="1"/>
            <p:nvPr/>
          </p:nvSpPr>
          <p:spPr>
            <a:xfrm>
              <a:off x="807720" y="5208270"/>
              <a:ext cx="1892389" cy="487680"/>
            </a:xfrm>
            <a:prstGeom prst="rect">
              <a:avLst/>
            </a:prstGeom>
            <a:noFill/>
            <a:ln>
              <a:noFill/>
            </a:ln>
          </p:spPr>
          <p:txBody>
            <a:bodyPr wrap="none" lIns="0" tIns="0" rIns="0" bIns="0" anchor="t" anchorCtr="0">
              <a:spAutoFit/>
            </a:bodyPr>
            <a:lstStyle/>
            <a:p>
              <a:pPr algn="l"/>
              <a:r>
                <a:rPr lang="zh-CN" sz="2400" b="1" dirty="0">
                  <a:solidFill>
                    <a:srgbClr val="F5F5F7"/>
                  </a:solidFill>
                  <a:latin typeface="Arial"/>
                  <a:ea typeface="Microsoft YaHei"/>
                  <a:cs typeface="Arial"/>
                </a:rPr>
                <a:t>15% faster</a:t>
              </a:r>
            </a:p>
          </p:txBody>
        </p:sp>
        <p:sp>
          <p:nvSpPr>
            <p:cNvPr id="20" name="TextBox 20"/>
            <p:cNvSpPr txBox="1"/>
            <p:nvPr/>
          </p:nvSpPr>
          <p:spPr>
            <a:xfrm>
              <a:off x="823912" y="5574506"/>
              <a:ext cx="1551265" cy="228600"/>
            </a:xfrm>
            <a:prstGeom prst="rect">
              <a:avLst/>
            </a:prstGeom>
            <a:noFill/>
            <a:ln>
              <a:noFill/>
            </a:ln>
          </p:spPr>
          <p:txBody>
            <a:bodyPr wrap="none" lIns="0" tIns="0" rIns="0" bIns="0" anchor="t" anchorCtr="0">
              <a:spAutoFit/>
            </a:bodyPr>
            <a:lstStyle/>
            <a:p>
              <a:pPr algn="l"/>
              <a:r>
                <a:rPr lang="zh-CN" sz="1125" dirty="0">
                  <a:solidFill>
                    <a:srgbClr val="A1A1A6"/>
                  </a:solidFill>
                  <a:latin typeface="Arial"/>
                  <a:ea typeface="Microsoft YaHei"/>
                  <a:cs typeface="Arial"/>
                </a:rPr>
                <a:t>using 20% less power</a:t>
              </a:r>
            </a:p>
          </p:txBody>
        </p:sp>
      </p:grpSp>
      <p:grpSp>
        <p:nvGrpSpPr>
          <p:cNvPr id="35" name="Group 35"/>
          <p:cNvGrpSpPr/>
          <p:nvPr/>
        </p:nvGrpSpPr>
        <p:grpSpPr>
          <a:xfrm>
            <a:off x="4057650" y="2171700"/>
            <a:ext cx="6896100" cy="2019300"/>
            <a:chOff x="4057650" y="2171700"/>
            <a:chExt cx="6896100" cy="2019300"/>
          </a:xfrm>
        </p:grpSpPr>
        <p:sp>
          <p:nvSpPr>
            <p:cNvPr id="22" name="Rectangle 22"/>
            <p:cNvSpPr/>
            <p:nvPr/>
          </p:nvSpPr>
          <p:spPr>
            <a:xfrm>
              <a:off x="4057650" y="2171700"/>
              <a:ext cx="2266950" cy="2019300"/>
            </a:xfrm>
            <a:prstGeom prst="roundRect">
              <a:avLst>
                <a:gd name="adj" fmla="val 13208"/>
              </a:avLst>
            </a:prstGeom>
            <a:solidFill>
              <a:srgbClr val="121214"/>
            </a:solidFill>
            <a:ln w="28575">
              <a:solidFill>
                <a:srgbClr val="2997FF"/>
              </a:solidFill>
            </a:ln>
          </p:spPr>
        </p:sp>
        <p:sp>
          <p:nvSpPr>
            <p:cNvPr id="23" name="TextBox 23"/>
            <p:cNvSpPr txBox="1"/>
            <p:nvPr/>
          </p:nvSpPr>
          <p:spPr>
            <a:xfrm>
              <a:off x="4444065" y="2497455"/>
              <a:ext cx="1494120" cy="426720"/>
            </a:xfrm>
            <a:prstGeom prst="rect">
              <a:avLst/>
            </a:prstGeom>
            <a:noFill/>
            <a:ln>
              <a:noFill/>
            </a:ln>
          </p:spPr>
          <p:txBody>
            <a:bodyPr wrap="none" lIns="0" tIns="0" rIns="0" bIns="0" anchor="t" anchorCtr="0">
              <a:spAutoFit/>
            </a:bodyPr>
            <a:lstStyle/>
            <a:p>
              <a:pPr algn="ctr"/>
              <a:r>
                <a:rPr lang="zh-CN" sz="2100" b="1" dirty="0">
                  <a:solidFill>
                    <a:srgbClr val="F5F5F7"/>
                  </a:solidFill>
                  <a:latin typeface="Arial"/>
                  <a:ea typeface="Microsoft YaHei"/>
                  <a:cs typeface="Arial"/>
                </a:rPr>
                <a:t>On-device</a:t>
              </a:r>
            </a:p>
          </p:txBody>
        </p:sp>
        <p:sp>
          <p:nvSpPr>
            <p:cNvPr id="24" name="TextBox 24"/>
            <p:cNvSpPr txBox="1"/>
            <p:nvPr/>
          </p:nvSpPr>
          <p:spPr>
            <a:xfrm>
              <a:off x="4469344" y="2938939"/>
              <a:ext cx="1443561" cy="259080"/>
            </a:xfrm>
            <a:prstGeom prst="rect">
              <a:avLst/>
            </a:prstGeom>
            <a:noFill/>
            <a:ln>
              <a:noFill/>
            </a:ln>
          </p:spPr>
          <p:txBody>
            <a:bodyPr wrap="none" lIns="0" tIns="0" rIns="0" bIns="0" anchor="t" anchorCtr="0">
              <a:spAutoFit/>
            </a:bodyPr>
            <a:lstStyle/>
            <a:p>
              <a:pPr algn="ctr"/>
              <a:r>
                <a:rPr lang="zh-CN" sz="1275" dirty="0">
                  <a:solidFill>
                    <a:srgbClr val="A1A1A6"/>
                  </a:solidFill>
                  <a:latin typeface="Arial"/>
                  <a:ea typeface="Microsoft YaHei"/>
                  <a:cs typeface="Arial"/>
                </a:rPr>
                <a:t>personal context</a:t>
              </a:r>
            </a:p>
          </p:txBody>
        </p:sp>
        <p:sp>
          <p:nvSpPr>
            <p:cNvPr id="25" name="TextBox 25"/>
            <p:cNvSpPr txBox="1"/>
            <p:nvPr/>
          </p:nvSpPr>
          <p:spPr>
            <a:xfrm>
              <a:off x="4346079" y="3196114"/>
              <a:ext cx="1690092" cy="259080"/>
            </a:xfrm>
            <a:prstGeom prst="rect">
              <a:avLst/>
            </a:prstGeom>
            <a:noFill/>
            <a:ln>
              <a:noFill/>
            </a:ln>
          </p:spPr>
          <p:txBody>
            <a:bodyPr wrap="none" lIns="0" tIns="0" rIns="0" bIns="0" anchor="t" anchorCtr="0">
              <a:spAutoFit/>
            </a:bodyPr>
            <a:lstStyle/>
            <a:p>
              <a:pPr algn="ctr"/>
              <a:r>
                <a:rPr lang="zh-CN" sz="1275" dirty="0">
                  <a:solidFill>
                    <a:srgbClr val="A1A1A6"/>
                  </a:solidFill>
                  <a:latin typeface="Arial"/>
                  <a:ea typeface="Microsoft YaHei"/>
                  <a:cs typeface="Arial"/>
                </a:rPr>
                <a:t>and fast local tasks</a:t>
              </a:r>
            </a:p>
          </p:txBody>
        </p:sp>
        <p:sp>
          <p:nvSpPr>
            <p:cNvPr id="26" name="Ellipse 26"/>
            <p:cNvSpPr/>
            <p:nvPr/>
          </p:nvSpPr>
          <p:spPr>
            <a:xfrm>
              <a:off x="4943475" y="3505200"/>
              <a:ext cx="495300" cy="495300"/>
            </a:xfrm>
            <a:prstGeom prst="ellipse">
              <a:avLst/>
            </a:prstGeom>
            <a:solidFill>
              <a:srgbClr val="1E1E22"/>
            </a:solidFill>
            <a:ln w="19050">
              <a:solidFill>
                <a:srgbClr val="D8C6A3"/>
              </a:solidFill>
            </a:ln>
          </p:spPr>
        </p:sp>
        <p:sp>
          <p:nvSpPr>
            <p:cNvPr id="27" name="TextBox 27"/>
            <p:cNvSpPr txBox="1"/>
            <p:nvPr/>
          </p:nvSpPr>
          <p:spPr>
            <a:xfrm>
              <a:off x="5093645" y="3692842"/>
              <a:ext cx="194960" cy="274320"/>
            </a:xfrm>
            <a:prstGeom prst="rect">
              <a:avLst/>
            </a:prstGeom>
            <a:noFill/>
            <a:ln>
              <a:noFill/>
            </a:ln>
          </p:spPr>
          <p:txBody>
            <a:bodyPr wrap="none" lIns="0" tIns="0" rIns="0" bIns="0" anchor="t" anchorCtr="0">
              <a:spAutoFit/>
            </a:bodyPr>
            <a:lstStyle/>
            <a:p>
              <a:pPr algn="ctr"/>
              <a:r>
                <a:rPr lang="zh-CN" sz="1350" b="1" dirty="0">
                  <a:solidFill>
                    <a:srgbClr val="D8C6A3"/>
                  </a:solidFill>
                  <a:latin typeface="Arial"/>
                  <a:ea typeface="Microsoft YaHei"/>
                  <a:cs typeface="Arial"/>
                </a:rPr>
                <a:t>AI</a:t>
              </a:r>
            </a:p>
          </p:txBody>
        </p:sp>
        <p:sp>
          <p:nvSpPr>
            <p:cNvPr id="28" name="Line 28"/>
            <p:cNvSpPr/>
            <p:nvPr/>
          </p:nvSpPr>
          <p:spPr>
            <a:xfrm>
              <a:off x="6400800" y="3181350"/>
              <a:ext cx="1257300" cy="1"/>
            </a:xfrm>
            <a:prstGeom prst="line">
              <a:avLst/>
            </a:prstGeom>
            <a:noFill/>
            <a:ln w="38100">
              <a:solidFill>
                <a:srgbClr val="2997FF"/>
              </a:solidFill>
              <a:tailEnd type="triangle" w="lg" len="lg"/>
            </a:ln>
          </p:spPr>
        </p:sp>
        <p:sp>
          <p:nvSpPr>
            <p:cNvPr id="29" name="TextBox 29"/>
            <p:cNvSpPr txBox="1"/>
            <p:nvPr/>
          </p:nvSpPr>
          <p:spPr>
            <a:xfrm>
              <a:off x="5942528" y="2793206"/>
              <a:ext cx="2173843" cy="228600"/>
            </a:xfrm>
            <a:prstGeom prst="rect">
              <a:avLst/>
            </a:prstGeom>
            <a:noFill/>
            <a:ln>
              <a:noFill/>
            </a:ln>
          </p:spPr>
          <p:txBody>
            <a:bodyPr wrap="none" lIns="0" tIns="0" rIns="0" bIns="0" anchor="t" anchorCtr="0">
              <a:spAutoFit/>
            </a:bodyPr>
            <a:lstStyle/>
            <a:p>
              <a:pPr algn="ctr"/>
              <a:r>
                <a:rPr lang="zh-CN" sz="1125" dirty="0">
                  <a:solidFill>
                    <a:srgbClr val="A1A1A6"/>
                  </a:solidFill>
                  <a:latin typeface="Arial"/>
                  <a:ea typeface="Microsoft YaHei"/>
                  <a:cs typeface="Arial"/>
                </a:rPr>
                <a:t>when more capacity is needed</a:t>
              </a:r>
            </a:p>
          </p:txBody>
        </p:sp>
        <p:sp>
          <p:nvSpPr>
            <p:cNvPr id="30" name="Rectangle 30"/>
            <p:cNvSpPr/>
            <p:nvPr/>
          </p:nvSpPr>
          <p:spPr>
            <a:xfrm>
              <a:off x="7810500" y="2171700"/>
              <a:ext cx="3143250" cy="2019300"/>
            </a:xfrm>
            <a:prstGeom prst="roundRect">
              <a:avLst>
                <a:gd name="adj" fmla="val 13208"/>
              </a:avLst>
            </a:prstGeom>
            <a:solidFill>
              <a:srgbClr val="121214"/>
            </a:solidFill>
            <a:ln w="28575">
              <a:solidFill>
                <a:srgbClr val="D8C6A3"/>
              </a:solidFill>
            </a:ln>
          </p:spPr>
        </p:sp>
        <p:sp>
          <p:nvSpPr>
            <p:cNvPr id="31" name="TextBox 31"/>
            <p:cNvSpPr txBox="1"/>
            <p:nvPr/>
          </p:nvSpPr>
          <p:spPr>
            <a:xfrm>
              <a:off x="8414537" y="2497455"/>
              <a:ext cx="1935175" cy="426720"/>
            </a:xfrm>
            <a:prstGeom prst="rect">
              <a:avLst/>
            </a:prstGeom>
            <a:noFill/>
            <a:ln>
              <a:noFill/>
            </a:ln>
          </p:spPr>
          <p:txBody>
            <a:bodyPr wrap="none" lIns="0" tIns="0" rIns="0" bIns="0" anchor="t" anchorCtr="0">
              <a:spAutoFit/>
            </a:bodyPr>
            <a:lstStyle/>
            <a:p>
              <a:pPr algn="ctr"/>
              <a:r>
                <a:rPr lang="zh-CN" sz="2100" b="1" dirty="0">
                  <a:solidFill>
                    <a:srgbClr val="F5F5F7"/>
                  </a:solidFill>
                  <a:latin typeface="Arial"/>
                  <a:ea typeface="Microsoft YaHei"/>
                  <a:cs typeface="Arial"/>
                </a:rPr>
                <a:t>Private Cloud</a:t>
              </a:r>
            </a:p>
          </p:txBody>
        </p:sp>
        <p:sp>
          <p:nvSpPr>
            <p:cNvPr id="32" name="TextBox 32"/>
            <p:cNvSpPr txBox="1"/>
            <p:nvPr/>
          </p:nvSpPr>
          <p:spPr>
            <a:xfrm>
              <a:off x="8760031" y="2821305"/>
              <a:ext cx="1244189" cy="426720"/>
            </a:xfrm>
            <a:prstGeom prst="rect">
              <a:avLst/>
            </a:prstGeom>
            <a:noFill/>
            <a:ln>
              <a:noFill/>
            </a:ln>
          </p:spPr>
          <p:txBody>
            <a:bodyPr wrap="none" lIns="0" tIns="0" rIns="0" bIns="0" anchor="t" anchorCtr="0">
              <a:spAutoFit/>
            </a:bodyPr>
            <a:lstStyle/>
            <a:p>
              <a:pPr algn="ctr"/>
              <a:r>
                <a:rPr lang="zh-CN" sz="2100" b="1" dirty="0">
                  <a:solidFill>
                    <a:srgbClr val="F5F5F7"/>
                  </a:solidFill>
                  <a:latin typeface="Arial"/>
                  <a:ea typeface="Microsoft YaHei"/>
                  <a:cs typeface="Arial"/>
                </a:rPr>
                <a:t>Compute</a:t>
              </a:r>
            </a:p>
          </p:txBody>
        </p:sp>
        <p:sp>
          <p:nvSpPr>
            <p:cNvPr id="33" name="TextBox 33"/>
            <p:cNvSpPr txBox="1"/>
            <p:nvPr/>
          </p:nvSpPr>
          <p:spPr>
            <a:xfrm>
              <a:off x="8218289" y="3272314"/>
              <a:ext cx="2327672" cy="259080"/>
            </a:xfrm>
            <a:prstGeom prst="rect">
              <a:avLst/>
            </a:prstGeom>
            <a:noFill/>
            <a:ln>
              <a:noFill/>
            </a:ln>
          </p:spPr>
          <p:txBody>
            <a:bodyPr wrap="none" lIns="0" tIns="0" rIns="0" bIns="0" anchor="t" anchorCtr="0">
              <a:spAutoFit/>
            </a:bodyPr>
            <a:lstStyle/>
            <a:p>
              <a:pPr algn="ctr"/>
              <a:r>
                <a:rPr lang="zh-CN" sz="1275" dirty="0">
                  <a:solidFill>
                    <a:srgbClr val="A1A1A6"/>
                  </a:solidFill>
                  <a:latin typeface="Arial"/>
                  <a:ea typeface="Microsoft YaHei"/>
                  <a:cs typeface="Arial"/>
                </a:rPr>
                <a:t>larger server-based models</a:t>
              </a:r>
            </a:p>
          </p:txBody>
        </p:sp>
        <p:sp>
          <p:nvSpPr>
            <p:cNvPr id="34" name="TextBox 34"/>
            <p:cNvSpPr txBox="1"/>
            <p:nvPr/>
          </p:nvSpPr>
          <p:spPr>
            <a:xfrm>
              <a:off x="8413814" y="3529489"/>
              <a:ext cx="1936623" cy="259080"/>
            </a:xfrm>
            <a:prstGeom prst="rect">
              <a:avLst/>
            </a:prstGeom>
            <a:noFill/>
            <a:ln>
              <a:noFill/>
            </a:ln>
          </p:spPr>
          <p:txBody>
            <a:bodyPr wrap="none" lIns="0" tIns="0" rIns="0" bIns="0" anchor="t" anchorCtr="0">
              <a:spAutoFit/>
            </a:bodyPr>
            <a:lstStyle/>
            <a:p>
              <a:pPr algn="ctr"/>
              <a:r>
                <a:rPr lang="zh-CN" sz="1275" dirty="0">
                  <a:solidFill>
                    <a:srgbClr val="A1A1A6"/>
                  </a:solidFill>
                  <a:latin typeface="Arial"/>
                  <a:ea typeface="Microsoft YaHei"/>
                  <a:cs typeface="Arial"/>
                </a:rPr>
                <a:t>running on Apple silicon</a:t>
              </a:r>
            </a:p>
          </p:txBody>
        </p:sp>
      </p:grpSp>
      <p:grpSp>
        <p:nvGrpSpPr>
          <p:cNvPr id="40" name="Group 40"/>
          <p:cNvGrpSpPr/>
          <p:nvPr/>
        </p:nvGrpSpPr>
        <p:grpSpPr>
          <a:xfrm>
            <a:off x="4057650" y="4762500"/>
            <a:ext cx="6896100" cy="1069181"/>
            <a:chOff x="4057650" y="4762500"/>
            <a:chExt cx="6896100" cy="1069181"/>
          </a:xfrm>
        </p:grpSpPr>
        <p:sp>
          <p:nvSpPr>
            <p:cNvPr id="36" name="Rectangle 36"/>
            <p:cNvSpPr/>
            <p:nvPr/>
          </p:nvSpPr>
          <p:spPr>
            <a:xfrm>
              <a:off x="4057650" y="4762500"/>
              <a:ext cx="6896100" cy="1009650"/>
            </a:xfrm>
            <a:prstGeom prst="roundRect">
              <a:avLst>
                <a:gd name="adj" fmla="val 20755"/>
              </a:avLst>
            </a:prstGeom>
            <a:solidFill>
              <a:srgbClr val="1E1E22"/>
            </a:solidFill>
            <a:ln w="19050">
              <a:solidFill>
                <a:srgbClr val="3A3A3C"/>
              </a:solidFill>
            </a:ln>
          </p:spPr>
        </p:sp>
        <p:sp>
          <p:nvSpPr>
            <p:cNvPr id="37" name="TextBox 37"/>
            <p:cNvSpPr txBox="1"/>
            <p:nvPr/>
          </p:nvSpPr>
          <p:spPr>
            <a:xfrm>
              <a:off x="4366260" y="5013960"/>
              <a:ext cx="2323967" cy="243840"/>
            </a:xfrm>
            <a:prstGeom prst="rect">
              <a:avLst/>
            </a:prstGeom>
            <a:noFill/>
            <a:ln>
              <a:noFill/>
            </a:ln>
          </p:spPr>
          <p:txBody>
            <a:bodyPr wrap="none" lIns="0" tIns="0" rIns="0" bIns="0" anchor="t" anchorCtr="0">
              <a:spAutoFit/>
            </a:bodyPr>
            <a:lstStyle/>
            <a:p>
              <a:pPr algn="l"/>
              <a:r>
                <a:rPr lang="zh-CN" sz="1200" b="1" dirty="0">
                  <a:solidFill>
                    <a:srgbClr val="2997FF"/>
                  </a:solidFill>
                  <a:latin typeface="Arial"/>
                  <a:ea typeface="Microsoft YaHei"/>
                  <a:cs typeface="Arial"/>
                </a:rPr>
                <a:t>WHAT SALES TEAMS CAN CLAIM</a:t>
              </a:r>
            </a:p>
          </p:txBody>
        </p:sp>
        <p:sp>
          <p:nvSpPr>
            <p:cNvPr id="38" name="TextBox 38"/>
            <p:cNvSpPr txBox="1"/>
            <p:nvPr/>
          </p:nvSpPr>
          <p:spPr>
            <a:xfrm>
              <a:off x="4363402" y="5275421"/>
              <a:ext cx="5936432" cy="289560"/>
            </a:xfrm>
            <a:prstGeom prst="rect">
              <a:avLst/>
            </a:prstGeom>
            <a:noFill/>
            <a:ln>
              <a:noFill/>
            </a:ln>
          </p:spPr>
          <p:txBody>
            <a:bodyPr wrap="none" lIns="0" tIns="0" rIns="0" bIns="0" anchor="t" anchorCtr="0">
              <a:spAutoFit/>
            </a:bodyPr>
            <a:lstStyle/>
            <a:p>
              <a:pPr algn="l"/>
              <a:r>
                <a:rPr lang="zh-CN" sz="1425" dirty="0">
                  <a:solidFill>
                    <a:srgbClr val="F5F5F7"/>
                  </a:solidFill>
                  <a:latin typeface="Arial"/>
                  <a:ea typeface="Microsoft YaHei"/>
                  <a:cs typeface="Arial"/>
                </a:rPr>
                <a:t>Apple-built generative models, privacy safeguards, and A18 Pro</a:t>
              </a:r>
            </a:p>
          </p:txBody>
        </p:sp>
        <p:sp>
          <p:nvSpPr>
            <p:cNvPr id="39" name="TextBox 39"/>
            <p:cNvSpPr txBox="1"/>
            <p:nvPr/>
          </p:nvSpPr>
          <p:spPr>
            <a:xfrm>
              <a:off x="4363402" y="5542121"/>
              <a:ext cx="4558760" cy="289560"/>
            </a:xfrm>
            <a:prstGeom prst="rect">
              <a:avLst/>
            </a:prstGeom>
            <a:noFill/>
            <a:ln>
              <a:noFill/>
            </a:ln>
          </p:spPr>
          <p:txBody>
            <a:bodyPr wrap="none" lIns="0" tIns="0" rIns="0" bIns="0" anchor="t" anchorCtr="0">
              <a:spAutoFit/>
            </a:bodyPr>
            <a:lstStyle/>
            <a:p>
              <a:pPr algn="l"/>
              <a:r>
                <a:rPr lang="zh-CN" sz="1425" dirty="0">
                  <a:solidFill>
                    <a:srgbClr val="F5F5F7"/>
                  </a:solidFill>
                  <a:latin typeface="Arial"/>
                  <a:ea typeface="Microsoft YaHei"/>
                  <a:cs typeface="Arial"/>
                </a:rPr>
                <a:t>performance gains are explicitly source-backed.</a:t>
              </a:r>
            </a:p>
          </p:txBody>
        </p:sp>
      </p:grpSp>
      <p:sp>
        <p:nvSpPr>
          <p:cNvPr id="41" name="TextBox 41"/>
          <p:cNvSpPr txBox="1"/>
          <p:nvPr/>
        </p:nvSpPr>
        <p:spPr>
          <a:xfrm>
            <a:off x="521018" y="6276499"/>
            <a:ext cx="5914501" cy="198120"/>
          </a:xfrm>
          <a:prstGeom prst="rect">
            <a:avLst/>
          </a:prstGeom>
          <a:noFill/>
          <a:ln>
            <a:noFill/>
          </a:ln>
        </p:spPr>
        <p:txBody>
          <a:bodyPr wrap="none" lIns="0" tIns="0" rIns="0" bIns="0" anchor="t" anchorCtr="0">
            <a:spAutoFit/>
          </a:bodyPr>
          <a:lstStyle/>
          <a:p>
            <a:pPr algn="l"/>
            <a:r>
              <a:rPr lang="zh-CN" sz="975" dirty="0">
                <a:solidFill>
                  <a:srgbClr val="A1A1A6"/>
                </a:solidFill>
                <a:latin typeface="Arial"/>
                <a:ea typeface="Microsoft YaHei"/>
                <a:cs typeface="Arial"/>
              </a:rPr>
              <a:t>Source: Apple press release PDF, Apple Intelligence, Private Cloud Compute, A18 Pro sections</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wipe(left)">
                                      <p:cBhvr>
                                        <p:cTn id="11" dur="400"/>
                                        <p:tgtEl>
                                          <p:spTgt spid="21"/>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slide(fromBottom)">
                                      <p:cBhvr>
                                        <p:cTn id="15" dur="400"/>
                                        <p:tgtEl>
                                          <p:spTgt spid="35"/>
                                        </p:tgtEl>
                                      </p:cBhvr>
                                    </p:animEffect>
                                  </p:childTnLst>
                                </p:cTn>
                              </p:par>
                            </p:childTnLst>
                          </p:cTn>
                        </p:par>
                        <p:par>
                          <p:cTn id="16" fill="hold">
                            <p:stCondLst>
                              <p:cond delay="2700"/>
                            </p:stCondLst>
                            <p:childTnLst>
                              <p:par>
                                <p:cTn id="17" presetID="23" presetClass="entr" presetSubtype="0" fill="hold" nodeType="afterEffect">
                                  <p:stCondLst>
                                    <p:cond delay="0"/>
                                  </p:stCondLst>
                                  <p:childTnLst>
                                    <p:set>
                                      <p:cBhvr>
                                        <p:cTn id="18" dur="1" fill="hold">
                                          <p:stCondLst>
                                            <p:cond delay="0"/>
                                          </p:stCondLst>
                                        </p:cTn>
                                        <p:tgtEl>
                                          <p:spTgt spid="40"/>
                                        </p:tgtEl>
                                        <p:attrNameLst>
                                          <p:attrName>style.visibility</p:attrName>
                                        </p:attrNameLst>
                                      </p:cBhvr>
                                      <p:to>
                                        <p:strVal val="visible"/>
                                      </p:to>
                                    </p:set>
                                    <p:animEffect transition="in" filter="image">
                                      <p:cBhvr>
                                        <p:cTn id="19"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1" grpId="0"/>
      <p:bldP spid="35" grpId="0"/>
      <p:bldP spid="4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50506"/>
          </a:solidFill>
          <a:ln>
            <a:noFill/>
          </a:ln>
        </p:spPr>
      </p:sp>
      <p:grpSp>
        <p:nvGrpSpPr>
          <p:cNvPr id="5" name="Group 5"/>
          <p:cNvGrpSpPr/>
          <p:nvPr/>
        </p:nvGrpSpPr>
        <p:grpSpPr>
          <a:xfrm>
            <a:off x="501015" y="439102"/>
            <a:ext cx="11357872" cy="213360"/>
            <a:chOff x="501015" y="439102"/>
            <a:chExt cx="11357872" cy="213360"/>
          </a:xfrm>
        </p:grpSpPr>
        <p:sp>
          <p:nvSpPr>
            <p:cNvPr id="3" name="TextBox 3"/>
            <p:cNvSpPr txBox="1"/>
            <p:nvPr/>
          </p:nvSpPr>
          <p:spPr>
            <a:xfrm>
              <a:off x="501015" y="439102"/>
              <a:ext cx="1945260" cy="213360"/>
            </a:xfrm>
            <a:prstGeom prst="rect">
              <a:avLst/>
            </a:prstGeom>
            <a:noFill/>
            <a:ln>
              <a:noFill/>
            </a:ln>
          </p:spPr>
          <p:txBody>
            <a:bodyPr wrap="none" lIns="0" tIns="0" rIns="0" bIns="0" anchor="t" anchorCtr="0">
              <a:spAutoFit/>
            </a:bodyPr>
            <a:lstStyle/>
            <a:p>
              <a:pPr algn="l"/>
              <a:r>
                <a:rPr lang="zh-CN" sz="1050" b="1" dirty="0">
                  <a:solidFill>
                    <a:srgbClr val="A1A1A6"/>
                  </a:solidFill>
                  <a:latin typeface="Arial"/>
                  <a:ea typeface="Microsoft YaHei"/>
                  <a:cs typeface="Arial"/>
                </a:rPr>
                <a:t>FEATURE COMPARISON TABLE</a:t>
              </a:r>
            </a:p>
          </p:txBody>
        </p:sp>
        <p:sp>
          <p:nvSpPr>
            <p:cNvPr id="4" name="TextBox 4"/>
            <p:cNvSpPr txBox="1"/>
            <p:nvPr/>
          </p:nvSpPr>
          <p:spPr>
            <a:xfrm>
              <a:off x="11398568" y="447199"/>
              <a:ext cx="460319" cy="198120"/>
            </a:xfrm>
            <a:prstGeom prst="rect">
              <a:avLst/>
            </a:prstGeom>
            <a:noFill/>
            <a:ln>
              <a:noFill/>
            </a:ln>
          </p:spPr>
          <p:txBody>
            <a:bodyPr wrap="none" lIns="0" tIns="0" rIns="0" bIns="0" anchor="t" anchorCtr="0">
              <a:spAutoFit/>
            </a:bodyPr>
            <a:lstStyle/>
            <a:p>
              <a:pPr algn="l"/>
              <a:r>
                <a:rPr lang="zh-CN" sz="975" dirty="0">
                  <a:solidFill>
                    <a:srgbClr val="A1A1A6"/>
                  </a:solidFill>
                  <a:latin typeface="Consolas"/>
                  <a:ea typeface="Microsoft YaHei"/>
                  <a:cs typeface="Consolas"/>
                </a:rPr>
                <a:t>07 / 09</a:t>
              </a:r>
            </a:p>
          </p:txBody>
        </p:sp>
      </p:grpSp>
      <p:grpSp>
        <p:nvGrpSpPr>
          <p:cNvPr id="9" name="Group 9"/>
          <p:cNvGrpSpPr/>
          <p:nvPr/>
        </p:nvGrpSpPr>
        <p:grpSpPr>
          <a:xfrm>
            <a:off x="478155" y="797242"/>
            <a:ext cx="7454813" cy="1026796"/>
            <a:chOff x="478155" y="797242"/>
            <a:chExt cx="7454813" cy="1026796"/>
          </a:xfrm>
        </p:grpSpPr>
        <p:sp>
          <p:nvSpPr>
            <p:cNvPr id="6" name="TextBox 6"/>
            <p:cNvSpPr txBox="1"/>
            <p:nvPr/>
          </p:nvSpPr>
          <p:spPr>
            <a:xfrm>
              <a:off x="478155" y="797242"/>
              <a:ext cx="7454813" cy="579120"/>
            </a:xfrm>
            <a:prstGeom prst="rect">
              <a:avLst/>
            </a:prstGeom>
            <a:noFill/>
            <a:ln>
              <a:noFill/>
            </a:ln>
          </p:spPr>
          <p:txBody>
            <a:bodyPr wrap="none" lIns="0" tIns="0" rIns="0" bIns="0" anchor="t" anchorCtr="0">
              <a:spAutoFit/>
            </a:bodyPr>
            <a:lstStyle/>
            <a:p>
              <a:pPr algn="l"/>
              <a:r>
                <a:rPr lang="zh-CN" sz="2850" b="1" dirty="0">
                  <a:solidFill>
                    <a:srgbClr val="F5F5F7"/>
                  </a:solidFill>
                  <a:latin typeface="Arial"/>
                  <a:ea typeface="Microsoft YaHei"/>
                  <a:cs typeface="Arial"/>
                </a:rPr>
                <a:t>Two Pro models, one capability story.</a:t>
              </a:r>
            </a:p>
          </p:txBody>
        </p:sp>
        <p:sp>
          <p:nvSpPr>
            <p:cNvPr id="7" name="TextBox 7"/>
            <p:cNvSpPr txBox="1"/>
            <p:nvPr/>
          </p:nvSpPr>
          <p:spPr>
            <a:xfrm>
              <a:off x="497205" y="1283018"/>
              <a:ext cx="5524976" cy="274320"/>
            </a:xfrm>
            <a:prstGeom prst="rect">
              <a:avLst/>
            </a:prstGeom>
            <a:noFill/>
            <a:ln>
              <a:noFill/>
            </a:ln>
          </p:spPr>
          <p:txBody>
            <a:bodyPr wrap="none" lIns="0" tIns="0" rIns="0" bIns="0" anchor="t" anchorCtr="0">
              <a:spAutoFit/>
            </a:bodyPr>
            <a:lstStyle/>
            <a:p>
              <a:pPr algn="l"/>
              <a:r>
                <a:rPr lang="zh-CN" sz="1350" dirty="0">
                  <a:solidFill>
                    <a:srgbClr val="A1A1A6"/>
                  </a:solidFill>
                  <a:latin typeface="Arial"/>
                  <a:ea typeface="Microsoft YaHei"/>
                  <a:cs typeface="Arial"/>
                </a:rPr>
                <a:t>Use this source-backed table for channel and sales enablement</a:t>
              </a:r>
            </a:p>
          </p:txBody>
        </p:sp>
        <p:sp>
          <p:nvSpPr>
            <p:cNvPr id="8" name="TextBox 8"/>
            <p:cNvSpPr txBox="1"/>
            <p:nvPr/>
          </p:nvSpPr>
          <p:spPr>
            <a:xfrm>
              <a:off x="497205" y="1549718"/>
              <a:ext cx="4192810" cy="274320"/>
            </a:xfrm>
            <a:prstGeom prst="rect">
              <a:avLst/>
            </a:prstGeom>
            <a:noFill/>
            <a:ln>
              <a:noFill/>
            </a:ln>
          </p:spPr>
          <p:txBody>
            <a:bodyPr wrap="none" lIns="0" tIns="0" rIns="0" bIns="0" anchor="t" anchorCtr="0">
              <a:spAutoFit/>
            </a:bodyPr>
            <a:lstStyle/>
            <a:p>
              <a:pPr algn="l"/>
              <a:r>
                <a:rPr lang="zh-CN" sz="1350" dirty="0">
                  <a:solidFill>
                    <a:srgbClr val="A1A1A6"/>
                  </a:solidFill>
                  <a:latin typeface="Arial"/>
                  <a:ea typeface="Microsoft YaHei"/>
                  <a:cs typeface="Arial"/>
                </a:rPr>
                <a:t>without adding unsupported competitor claims.</a:t>
              </a:r>
            </a:p>
          </p:txBody>
        </p:sp>
      </p:grpSp>
      <p:grpSp>
        <p:nvGrpSpPr>
          <p:cNvPr id="42" name="Group 42"/>
          <p:cNvGrpSpPr/>
          <p:nvPr/>
        </p:nvGrpSpPr>
        <p:grpSpPr>
          <a:xfrm>
            <a:off x="514350" y="1790700"/>
            <a:ext cx="11163300" cy="3829050"/>
            <a:chOff x="514350" y="1790700"/>
            <a:chExt cx="11163300" cy="3829050"/>
          </a:xfrm>
        </p:grpSpPr>
        <p:sp>
          <p:nvSpPr>
            <p:cNvPr id="10" name="Rectangle 10"/>
            <p:cNvSpPr/>
            <p:nvPr/>
          </p:nvSpPr>
          <p:spPr>
            <a:xfrm>
              <a:off x="514350" y="1790700"/>
              <a:ext cx="11163300" cy="3829050"/>
            </a:xfrm>
            <a:prstGeom prst="roundRect">
              <a:avLst>
                <a:gd name="adj" fmla="val 5473"/>
              </a:avLst>
            </a:prstGeom>
            <a:solidFill>
              <a:srgbClr val="121214"/>
            </a:solidFill>
            <a:ln w="19050">
              <a:solidFill>
                <a:srgbClr val="3A3A3C"/>
              </a:solidFill>
            </a:ln>
          </p:spPr>
        </p:sp>
        <p:sp>
          <p:nvSpPr>
            <p:cNvPr id="11" name="Rectangle 11"/>
            <p:cNvSpPr/>
            <p:nvPr/>
          </p:nvSpPr>
          <p:spPr>
            <a:xfrm>
              <a:off x="514350" y="1790700"/>
              <a:ext cx="11163300" cy="609600"/>
            </a:xfrm>
            <a:prstGeom prst="roundRect">
              <a:avLst>
                <a:gd name="adj" fmla="val 34375"/>
              </a:avLst>
            </a:prstGeom>
            <a:solidFill>
              <a:srgbClr val="1E1E22"/>
            </a:solidFill>
            <a:ln>
              <a:noFill/>
            </a:ln>
          </p:spPr>
        </p:sp>
        <p:sp>
          <p:nvSpPr>
            <p:cNvPr id="12" name="Rectangle 12"/>
            <p:cNvSpPr/>
            <p:nvPr/>
          </p:nvSpPr>
          <p:spPr>
            <a:xfrm>
              <a:off x="514350" y="2190750"/>
              <a:ext cx="11163300" cy="209550"/>
            </a:xfrm>
            <a:prstGeom prst="rect">
              <a:avLst/>
            </a:prstGeom>
            <a:solidFill>
              <a:srgbClr val="1E1E22"/>
            </a:solidFill>
            <a:ln>
              <a:noFill/>
            </a:ln>
          </p:spPr>
        </p:sp>
        <p:sp>
          <p:nvSpPr>
            <p:cNvPr id="13" name="Line 13"/>
            <p:cNvSpPr/>
            <p:nvPr/>
          </p:nvSpPr>
          <p:spPr>
            <a:xfrm>
              <a:off x="3238500" y="1790700"/>
              <a:ext cx="9525" cy="3829050"/>
            </a:xfrm>
            <a:custGeom>
              <a:avLst/>
              <a:gdLst/>
              <a:ahLst/>
              <a:cxnLst/>
              <a:rect l="l" t="t" r="r" b="b"/>
              <a:pathLst>
                <a:path w="9525" h="3829050">
                  <a:moveTo>
                    <a:pt x="0" y="0"/>
                  </a:moveTo>
                  <a:lnTo>
                    <a:pt x="0" y="3829050"/>
                  </a:lnTo>
                </a:path>
              </a:pathLst>
            </a:custGeom>
            <a:noFill/>
            <a:ln w="19050">
              <a:solidFill>
                <a:srgbClr val="3A3A3C"/>
              </a:solidFill>
            </a:ln>
          </p:spPr>
        </p:sp>
        <p:sp>
          <p:nvSpPr>
            <p:cNvPr id="14" name="Line 14"/>
            <p:cNvSpPr/>
            <p:nvPr/>
          </p:nvSpPr>
          <p:spPr>
            <a:xfrm>
              <a:off x="7429500" y="1790700"/>
              <a:ext cx="9525" cy="3829050"/>
            </a:xfrm>
            <a:custGeom>
              <a:avLst/>
              <a:gdLst/>
              <a:ahLst/>
              <a:cxnLst/>
              <a:rect l="l" t="t" r="r" b="b"/>
              <a:pathLst>
                <a:path w="9525" h="3829050">
                  <a:moveTo>
                    <a:pt x="0" y="0"/>
                  </a:moveTo>
                  <a:lnTo>
                    <a:pt x="0" y="3829050"/>
                  </a:lnTo>
                </a:path>
              </a:pathLst>
            </a:custGeom>
            <a:noFill/>
            <a:ln w="19050">
              <a:solidFill>
                <a:srgbClr val="3A3A3C"/>
              </a:solidFill>
            </a:ln>
          </p:spPr>
        </p:sp>
        <p:sp>
          <p:nvSpPr>
            <p:cNvPr id="15" name="Line 15"/>
            <p:cNvSpPr/>
            <p:nvPr/>
          </p:nvSpPr>
          <p:spPr>
            <a:xfrm>
              <a:off x="514350" y="2400300"/>
              <a:ext cx="11163300" cy="9525"/>
            </a:xfrm>
            <a:custGeom>
              <a:avLst/>
              <a:gdLst/>
              <a:ahLst/>
              <a:cxnLst/>
              <a:rect l="l" t="t" r="r" b="b"/>
              <a:pathLst>
                <a:path w="11163300" h="9525">
                  <a:moveTo>
                    <a:pt x="0" y="0"/>
                  </a:moveTo>
                  <a:lnTo>
                    <a:pt x="11163300" y="0"/>
                  </a:lnTo>
                </a:path>
              </a:pathLst>
            </a:custGeom>
            <a:noFill/>
            <a:ln w="19050">
              <a:solidFill>
                <a:srgbClr val="3A3A3C"/>
              </a:solidFill>
            </a:ln>
          </p:spPr>
        </p:sp>
        <p:sp>
          <p:nvSpPr>
            <p:cNvPr id="16" name="Line 16"/>
            <p:cNvSpPr/>
            <p:nvPr/>
          </p:nvSpPr>
          <p:spPr>
            <a:xfrm>
              <a:off x="514350" y="2914650"/>
              <a:ext cx="11163300" cy="9525"/>
            </a:xfrm>
            <a:custGeom>
              <a:avLst/>
              <a:gdLst/>
              <a:ahLst/>
              <a:cxnLst/>
              <a:rect l="l" t="t" r="r" b="b"/>
              <a:pathLst>
                <a:path w="11163300" h="9525">
                  <a:moveTo>
                    <a:pt x="0" y="0"/>
                  </a:moveTo>
                  <a:lnTo>
                    <a:pt x="11163300" y="0"/>
                  </a:lnTo>
                </a:path>
              </a:pathLst>
            </a:custGeom>
            <a:noFill/>
            <a:ln w="9525">
              <a:solidFill>
                <a:srgbClr val="3A3A3C"/>
              </a:solidFill>
            </a:ln>
          </p:spPr>
        </p:sp>
        <p:sp>
          <p:nvSpPr>
            <p:cNvPr id="17" name="Line 17"/>
            <p:cNvSpPr/>
            <p:nvPr/>
          </p:nvSpPr>
          <p:spPr>
            <a:xfrm>
              <a:off x="514350" y="3429000"/>
              <a:ext cx="11163300" cy="9525"/>
            </a:xfrm>
            <a:custGeom>
              <a:avLst/>
              <a:gdLst/>
              <a:ahLst/>
              <a:cxnLst/>
              <a:rect l="l" t="t" r="r" b="b"/>
              <a:pathLst>
                <a:path w="11163300" h="9525">
                  <a:moveTo>
                    <a:pt x="0" y="0"/>
                  </a:moveTo>
                  <a:lnTo>
                    <a:pt x="11163300" y="0"/>
                  </a:lnTo>
                </a:path>
              </a:pathLst>
            </a:custGeom>
            <a:noFill/>
            <a:ln w="9525">
              <a:solidFill>
                <a:srgbClr val="3A3A3C"/>
              </a:solidFill>
            </a:ln>
          </p:spPr>
        </p:sp>
        <p:sp>
          <p:nvSpPr>
            <p:cNvPr id="18" name="Line 18"/>
            <p:cNvSpPr/>
            <p:nvPr/>
          </p:nvSpPr>
          <p:spPr>
            <a:xfrm>
              <a:off x="514350" y="3943350"/>
              <a:ext cx="11163300" cy="9525"/>
            </a:xfrm>
            <a:custGeom>
              <a:avLst/>
              <a:gdLst/>
              <a:ahLst/>
              <a:cxnLst/>
              <a:rect l="l" t="t" r="r" b="b"/>
              <a:pathLst>
                <a:path w="11163300" h="9525">
                  <a:moveTo>
                    <a:pt x="0" y="0"/>
                  </a:moveTo>
                  <a:lnTo>
                    <a:pt x="11163300" y="0"/>
                  </a:lnTo>
                </a:path>
              </a:pathLst>
            </a:custGeom>
            <a:noFill/>
            <a:ln w="9525">
              <a:solidFill>
                <a:srgbClr val="3A3A3C"/>
              </a:solidFill>
            </a:ln>
          </p:spPr>
        </p:sp>
        <p:sp>
          <p:nvSpPr>
            <p:cNvPr id="19" name="Line 19"/>
            <p:cNvSpPr/>
            <p:nvPr/>
          </p:nvSpPr>
          <p:spPr>
            <a:xfrm>
              <a:off x="514350" y="4457700"/>
              <a:ext cx="11163300" cy="9525"/>
            </a:xfrm>
            <a:custGeom>
              <a:avLst/>
              <a:gdLst/>
              <a:ahLst/>
              <a:cxnLst/>
              <a:rect l="l" t="t" r="r" b="b"/>
              <a:pathLst>
                <a:path w="11163300" h="9525">
                  <a:moveTo>
                    <a:pt x="0" y="0"/>
                  </a:moveTo>
                  <a:lnTo>
                    <a:pt x="11163300" y="0"/>
                  </a:lnTo>
                </a:path>
              </a:pathLst>
            </a:custGeom>
            <a:noFill/>
            <a:ln w="9525">
              <a:solidFill>
                <a:srgbClr val="3A3A3C"/>
              </a:solidFill>
            </a:ln>
          </p:spPr>
        </p:sp>
        <p:sp>
          <p:nvSpPr>
            <p:cNvPr id="20" name="Line 20"/>
            <p:cNvSpPr/>
            <p:nvPr/>
          </p:nvSpPr>
          <p:spPr>
            <a:xfrm>
              <a:off x="514350" y="4972050"/>
              <a:ext cx="11163300" cy="9525"/>
            </a:xfrm>
            <a:custGeom>
              <a:avLst/>
              <a:gdLst/>
              <a:ahLst/>
              <a:cxnLst/>
              <a:rect l="l" t="t" r="r" b="b"/>
              <a:pathLst>
                <a:path w="11163300" h="9525">
                  <a:moveTo>
                    <a:pt x="0" y="0"/>
                  </a:moveTo>
                  <a:lnTo>
                    <a:pt x="11163300" y="0"/>
                  </a:lnTo>
                </a:path>
              </a:pathLst>
            </a:custGeom>
            <a:noFill/>
            <a:ln w="9525">
              <a:solidFill>
                <a:srgbClr val="3A3A3C"/>
              </a:solidFill>
            </a:ln>
          </p:spPr>
        </p:sp>
        <p:sp>
          <p:nvSpPr>
            <p:cNvPr id="21" name="TextBox 21"/>
            <p:cNvSpPr txBox="1"/>
            <p:nvPr/>
          </p:nvSpPr>
          <p:spPr>
            <a:xfrm>
              <a:off x="766762" y="2050256"/>
              <a:ext cx="768918" cy="228600"/>
            </a:xfrm>
            <a:prstGeom prst="rect">
              <a:avLst/>
            </a:prstGeom>
            <a:noFill/>
            <a:ln>
              <a:noFill/>
            </a:ln>
          </p:spPr>
          <p:txBody>
            <a:bodyPr wrap="none" lIns="0" tIns="0" rIns="0" bIns="0" anchor="t" anchorCtr="0">
              <a:spAutoFit/>
            </a:bodyPr>
            <a:lstStyle/>
            <a:p>
              <a:pPr algn="l"/>
              <a:r>
                <a:rPr lang="zh-CN" sz="1125" b="1" dirty="0">
                  <a:solidFill>
                    <a:srgbClr val="A1A1A6"/>
                  </a:solidFill>
                  <a:latin typeface="Arial"/>
                  <a:ea typeface="Microsoft YaHei"/>
                  <a:cs typeface="Arial"/>
                </a:rPr>
                <a:t>ATTRIBUTE</a:t>
              </a:r>
            </a:p>
          </p:txBody>
        </p:sp>
        <p:sp>
          <p:nvSpPr>
            <p:cNvPr id="22" name="TextBox 22"/>
            <p:cNvSpPr txBox="1"/>
            <p:nvPr/>
          </p:nvSpPr>
          <p:spPr>
            <a:xfrm>
              <a:off x="3520440" y="1977390"/>
              <a:ext cx="1658722" cy="365760"/>
            </a:xfrm>
            <a:prstGeom prst="rect">
              <a:avLst/>
            </a:prstGeom>
            <a:noFill/>
            <a:ln>
              <a:noFill/>
            </a:ln>
          </p:spPr>
          <p:txBody>
            <a:bodyPr wrap="none" lIns="0" tIns="0" rIns="0" bIns="0" anchor="t" anchorCtr="0">
              <a:spAutoFit/>
            </a:bodyPr>
            <a:lstStyle/>
            <a:p>
              <a:pPr algn="l"/>
              <a:r>
                <a:rPr lang="zh-CN" sz="1800" b="1" dirty="0">
                  <a:solidFill>
                    <a:srgbClr val="F5F5F7"/>
                  </a:solidFill>
                  <a:latin typeface="Arial"/>
                  <a:ea typeface="Microsoft YaHei"/>
                  <a:cs typeface="Arial"/>
                </a:rPr>
                <a:t>iPhone 16 Pro</a:t>
              </a:r>
            </a:p>
          </p:txBody>
        </p:sp>
        <p:sp>
          <p:nvSpPr>
            <p:cNvPr id="23" name="TextBox 23"/>
            <p:cNvSpPr txBox="1"/>
            <p:nvPr/>
          </p:nvSpPr>
          <p:spPr>
            <a:xfrm>
              <a:off x="7711440" y="1977390"/>
              <a:ext cx="2200589" cy="365760"/>
            </a:xfrm>
            <a:prstGeom prst="rect">
              <a:avLst/>
            </a:prstGeom>
            <a:noFill/>
            <a:ln>
              <a:noFill/>
            </a:ln>
          </p:spPr>
          <p:txBody>
            <a:bodyPr wrap="none" lIns="0" tIns="0" rIns="0" bIns="0" anchor="t" anchorCtr="0">
              <a:spAutoFit/>
            </a:bodyPr>
            <a:lstStyle/>
            <a:p>
              <a:pPr algn="l"/>
              <a:r>
                <a:rPr lang="zh-CN" sz="1800" b="1" dirty="0">
                  <a:solidFill>
                    <a:srgbClr val="F5F5F7"/>
                  </a:solidFill>
                  <a:latin typeface="Arial"/>
                  <a:ea typeface="Microsoft YaHei"/>
                  <a:cs typeface="Arial"/>
                </a:rPr>
                <a:t>iPhone 16 Pro Max</a:t>
              </a:r>
            </a:p>
          </p:txBody>
        </p:sp>
        <p:sp>
          <p:nvSpPr>
            <p:cNvPr id="24" name="TextBox 24"/>
            <p:cNvSpPr txBox="1"/>
            <p:nvPr/>
          </p:nvSpPr>
          <p:spPr>
            <a:xfrm>
              <a:off x="764858" y="2586514"/>
              <a:ext cx="630435" cy="259080"/>
            </a:xfrm>
            <a:prstGeom prst="rect">
              <a:avLst/>
            </a:prstGeom>
            <a:noFill/>
            <a:ln>
              <a:noFill/>
            </a:ln>
          </p:spPr>
          <p:txBody>
            <a:bodyPr wrap="none" lIns="0" tIns="0" rIns="0" bIns="0" anchor="t" anchorCtr="0">
              <a:spAutoFit/>
            </a:bodyPr>
            <a:lstStyle/>
            <a:p>
              <a:pPr algn="l"/>
              <a:r>
                <a:rPr lang="zh-CN" sz="1275" b="1" dirty="0">
                  <a:solidFill>
                    <a:srgbClr val="A1A1A6"/>
                  </a:solidFill>
                  <a:latin typeface="Arial"/>
                  <a:ea typeface="Microsoft YaHei"/>
                  <a:cs typeface="Arial"/>
                </a:rPr>
                <a:t>Display</a:t>
              </a:r>
            </a:p>
          </p:txBody>
        </p:sp>
        <p:sp>
          <p:nvSpPr>
            <p:cNvPr id="25" name="TextBox 25"/>
            <p:cNvSpPr txBox="1"/>
            <p:nvPr/>
          </p:nvSpPr>
          <p:spPr>
            <a:xfrm>
              <a:off x="3526155" y="2578418"/>
              <a:ext cx="1438466" cy="274320"/>
            </a:xfrm>
            <a:prstGeom prst="rect">
              <a:avLst/>
            </a:prstGeom>
            <a:noFill/>
            <a:ln>
              <a:noFill/>
            </a:ln>
          </p:spPr>
          <p:txBody>
            <a:bodyPr wrap="none" lIns="0" tIns="0" rIns="0" bIns="0" anchor="t" anchorCtr="0">
              <a:spAutoFit/>
            </a:bodyPr>
            <a:lstStyle/>
            <a:p>
              <a:pPr algn="l"/>
              <a:r>
                <a:rPr lang="zh-CN" sz="1350" dirty="0">
                  <a:solidFill>
                    <a:srgbClr val="F5F5F7"/>
                  </a:solidFill>
                  <a:latin typeface="Arial"/>
                  <a:ea typeface="Microsoft YaHei"/>
                  <a:cs typeface="Arial"/>
                </a:rPr>
                <a:t>6.3-inch display</a:t>
              </a:r>
            </a:p>
          </p:txBody>
        </p:sp>
        <p:sp>
          <p:nvSpPr>
            <p:cNvPr id="26" name="TextBox 26"/>
            <p:cNvSpPr txBox="1"/>
            <p:nvPr/>
          </p:nvSpPr>
          <p:spPr>
            <a:xfrm>
              <a:off x="7717155" y="2578418"/>
              <a:ext cx="1438466" cy="274320"/>
            </a:xfrm>
            <a:prstGeom prst="rect">
              <a:avLst/>
            </a:prstGeom>
            <a:noFill/>
            <a:ln>
              <a:noFill/>
            </a:ln>
          </p:spPr>
          <p:txBody>
            <a:bodyPr wrap="none" lIns="0" tIns="0" rIns="0" bIns="0" anchor="t" anchorCtr="0">
              <a:spAutoFit/>
            </a:bodyPr>
            <a:lstStyle/>
            <a:p>
              <a:pPr algn="l"/>
              <a:r>
                <a:rPr lang="zh-CN" sz="1350" dirty="0">
                  <a:solidFill>
                    <a:srgbClr val="F5F5F7"/>
                  </a:solidFill>
                  <a:latin typeface="Arial"/>
                  <a:ea typeface="Microsoft YaHei"/>
                  <a:cs typeface="Arial"/>
                </a:rPr>
                <a:t>6.9-inch display</a:t>
              </a:r>
            </a:p>
          </p:txBody>
        </p:sp>
        <p:sp>
          <p:nvSpPr>
            <p:cNvPr id="27" name="TextBox 27"/>
            <p:cNvSpPr txBox="1"/>
            <p:nvPr/>
          </p:nvSpPr>
          <p:spPr>
            <a:xfrm>
              <a:off x="764858" y="3100864"/>
              <a:ext cx="1273115" cy="259080"/>
            </a:xfrm>
            <a:prstGeom prst="rect">
              <a:avLst/>
            </a:prstGeom>
            <a:noFill/>
            <a:ln>
              <a:noFill/>
            </a:ln>
          </p:spPr>
          <p:txBody>
            <a:bodyPr wrap="none" lIns="0" tIns="0" rIns="0" bIns="0" anchor="t" anchorCtr="0">
              <a:spAutoFit/>
            </a:bodyPr>
            <a:lstStyle/>
            <a:p>
              <a:pPr algn="l"/>
              <a:r>
                <a:rPr lang="zh-CN" sz="1275" b="1" dirty="0">
                  <a:solidFill>
                    <a:srgbClr val="A1A1A6"/>
                  </a:solidFill>
                  <a:latin typeface="Arial"/>
                  <a:ea typeface="Microsoft YaHei"/>
                  <a:cs typeface="Arial"/>
                </a:rPr>
                <a:t>Starting price</a:t>
              </a:r>
            </a:p>
          </p:txBody>
        </p:sp>
        <p:sp>
          <p:nvSpPr>
            <p:cNvPr id="28" name="TextBox 28"/>
            <p:cNvSpPr txBox="1"/>
            <p:nvPr/>
          </p:nvSpPr>
          <p:spPr>
            <a:xfrm>
              <a:off x="3526155" y="3092768"/>
              <a:ext cx="2266569" cy="274320"/>
            </a:xfrm>
            <a:prstGeom prst="rect">
              <a:avLst/>
            </a:prstGeom>
            <a:noFill/>
            <a:ln>
              <a:noFill/>
            </a:ln>
          </p:spPr>
          <p:txBody>
            <a:bodyPr wrap="none" lIns="0" tIns="0" rIns="0" bIns="0" anchor="t" anchorCtr="0">
              <a:spAutoFit/>
            </a:bodyPr>
            <a:lstStyle/>
            <a:p>
              <a:pPr algn="l"/>
              <a:r>
                <a:rPr lang="zh-CN" sz="1350" dirty="0">
                  <a:solidFill>
                    <a:srgbClr val="F5F5F7"/>
                  </a:solidFill>
                  <a:latin typeface="Arial"/>
                  <a:ea typeface="Microsoft YaHei"/>
                  <a:cs typeface="Arial"/>
                </a:rPr>
                <a:t>$999 or $41.62 per month</a:t>
              </a:r>
            </a:p>
          </p:txBody>
        </p:sp>
        <p:sp>
          <p:nvSpPr>
            <p:cNvPr id="29" name="TextBox 29"/>
            <p:cNvSpPr txBox="1"/>
            <p:nvPr/>
          </p:nvSpPr>
          <p:spPr>
            <a:xfrm>
              <a:off x="7717155" y="3092768"/>
              <a:ext cx="2464594" cy="274320"/>
            </a:xfrm>
            <a:prstGeom prst="rect">
              <a:avLst/>
            </a:prstGeom>
            <a:noFill/>
            <a:ln>
              <a:noFill/>
            </a:ln>
          </p:spPr>
          <p:txBody>
            <a:bodyPr wrap="none" lIns="0" tIns="0" rIns="0" bIns="0" anchor="t" anchorCtr="0">
              <a:spAutoFit/>
            </a:bodyPr>
            <a:lstStyle/>
            <a:p>
              <a:pPr algn="l"/>
              <a:r>
                <a:rPr lang="zh-CN" sz="1350" dirty="0">
                  <a:solidFill>
                    <a:srgbClr val="F5F5F7"/>
                  </a:solidFill>
                  <a:latin typeface="Arial"/>
                  <a:ea typeface="Microsoft YaHei"/>
                  <a:cs typeface="Arial"/>
                </a:rPr>
                <a:t>$1,199 or $49.95 per month</a:t>
              </a:r>
            </a:p>
          </p:txBody>
        </p:sp>
        <p:sp>
          <p:nvSpPr>
            <p:cNvPr id="30" name="TextBox 30"/>
            <p:cNvSpPr txBox="1"/>
            <p:nvPr/>
          </p:nvSpPr>
          <p:spPr>
            <a:xfrm>
              <a:off x="764858" y="3615214"/>
              <a:ext cx="773253" cy="259080"/>
            </a:xfrm>
            <a:prstGeom prst="rect">
              <a:avLst/>
            </a:prstGeom>
            <a:noFill/>
            <a:ln>
              <a:noFill/>
            </a:ln>
          </p:spPr>
          <p:txBody>
            <a:bodyPr wrap="none" lIns="0" tIns="0" rIns="0" bIns="0" anchor="t" anchorCtr="0">
              <a:spAutoFit/>
            </a:bodyPr>
            <a:lstStyle/>
            <a:p>
              <a:pPr algn="l"/>
              <a:r>
                <a:rPr lang="zh-CN" sz="1275" b="1" dirty="0">
                  <a:solidFill>
                    <a:srgbClr val="A1A1A6"/>
                  </a:solidFill>
                  <a:latin typeface="Arial"/>
                  <a:ea typeface="Microsoft YaHei"/>
                  <a:cs typeface="Arial"/>
                </a:rPr>
                <a:t>Capacity</a:t>
              </a:r>
            </a:p>
          </p:txBody>
        </p:sp>
        <p:sp>
          <p:nvSpPr>
            <p:cNvPr id="31" name="TextBox 31"/>
            <p:cNvSpPr txBox="1"/>
            <p:nvPr/>
          </p:nvSpPr>
          <p:spPr>
            <a:xfrm>
              <a:off x="3526155" y="3607118"/>
              <a:ext cx="2275570" cy="274320"/>
            </a:xfrm>
            <a:prstGeom prst="rect">
              <a:avLst/>
            </a:prstGeom>
            <a:noFill/>
            <a:ln>
              <a:noFill/>
            </a:ln>
          </p:spPr>
          <p:txBody>
            <a:bodyPr wrap="none" lIns="0" tIns="0" rIns="0" bIns="0" anchor="t" anchorCtr="0">
              <a:spAutoFit/>
            </a:bodyPr>
            <a:lstStyle/>
            <a:p>
              <a:pPr algn="l"/>
              <a:r>
                <a:rPr lang="zh-CN" sz="1350" dirty="0">
                  <a:solidFill>
                    <a:srgbClr val="F5F5F7"/>
                  </a:solidFill>
                  <a:latin typeface="Arial"/>
                  <a:ea typeface="Microsoft YaHei"/>
                  <a:cs typeface="Arial"/>
                </a:rPr>
                <a:t>128GB, 256GB, 512GB, 1TB</a:t>
              </a:r>
            </a:p>
          </p:txBody>
        </p:sp>
        <p:sp>
          <p:nvSpPr>
            <p:cNvPr id="32" name="TextBox 32"/>
            <p:cNvSpPr txBox="1"/>
            <p:nvPr/>
          </p:nvSpPr>
          <p:spPr>
            <a:xfrm>
              <a:off x="7717155" y="3607118"/>
              <a:ext cx="1627489" cy="274320"/>
            </a:xfrm>
            <a:prstGeom prst="rect">
              <a:avLst/>
            </a:prstGeom>
            <a:noFill/>
            <a:ln>
              <a:noFill/>
            </a:ln>
          </p:spPr>
          <p:txBody>
            <a:bodyPr wrap="none" lIns="0" tIns="0" rIns="0" bIns="0" anchor="t" anchorCtr="0">
              <a:spAutoFit/>
            </a:bodyPr>
            <a:lstStyle/>
            <a:p>
              <a:pPr algn="l"/>
              <a:r>
                <a:rPr lang="zh-CN" sz="1350" dirty="0">
                  <a:solidFill>
                    <a:srgbClr val="F5F5F7"/>
                  </a:solidFill>
                  <a:latin typeface="Arial"/>
                  <a:ea typeface="Microsoft YaHei"/>
                  <a:cs typeface="Arial"/>
                </a:rPr>
                <a:t>256GB, 512GB, 1TB</a:t>
              </a:r>
            </a:p>
          </p:txBody>
        </p:sp>
        <p:sp>
          <p:nvSpPr>
            <p:cNvPr id="33" name="TextBox 33"/>
            <p:cNvSpPr txBox="1"/>
            <p:nvPr/>
          </p:nvSpPr>
          <p:spPr>
            <a:xfrm>
              <a:off x="764858" y="4129564"/>
              <a:ext cx="871440" cy="259080"/>
            </a:xfrm>
            <a:prstGeom prst="rect">
              <a:avLst/>
            </a:prstGeom>
            <a:noFill/>
            <a:ln>
              <a:noFill/>
            </a:ln>
          </p:spPr>
          <p:txBody>
            <a:bodyPr wrap="none" lIns="0" tIns="0" rIns="0" bIns="0" anchor="t" anchorCtr="0">
              <a:spAutoFit/>
            </a:bodyPr>
            <a:lstStyle/>
            <a:p>
              <a:pPr algn="l"/>
              <a:r>
                <a:rPr lang="zh-CN" sz="1275" b="1" dirty="0">
                  <a:solidFill>
                    <a:srgbClr val="A1A1A6"/>
                  </a:solidFill>
                  <a:latin typeface="Arial"/>
                  <a:ea typeface="Microsoft YaHei"/>
                  <a:cs typeface="Arial"/>
                </a:rPr>
                <a:t>Telephoto</a:t>
              </a:r>
            </a:p>
          </p:txBody>
        </p:sp>
        <p:sp>
          <p:nvSpPr>
            <p:cNvPr id="34" name="TextBox 34"/>
            <p:cNvSpPr txBox="1"/>
            <p:nvPr/>
          </p:nvSpPr>
          <p:spPr>
            <a:xfrm>
              <a:off x="3526155" y="4121468"/>
              <a:ext cx="1816513" cy="274320"/>
            </a:xfrm>
            <a:prstGeom prst="rect">
              <a:avLst/>
            </a:prstGeom>
            <a:noFill/>
            <a:ln>
              <a:noFill/>
            </a:ln>
          </p:spPr>
          <p:txBody>
            <a:bodyPr wrap="none" lIns="0" tIns="0" rIns="0" bIns="0" anchor="t" anchorCtr="0">
              <a:spAutoFit/>
            </a:bodyPr>
            <a:lstStyle/>
            <a:p>
              <a:pPr algn="l"/>
              <a:r>
                <a:rPr lang="zh-CN" sz="1350" dirty="0">
                  <a:solidFill>
                    <a:srgbClr val="F5F5F7"/>
                  </a:solidFill>
                  <a:latin typeface="Arial"/>
                  <a:ea typeface="Microsoft YaHei"/>
                  <a:cs typeface="Arial"/>
                </a:rPr>
                <a:t>5x Telephoto camera</a:t>
              </a:r>
            </a:p>
          </p:txBody>
        </p:sp>
        <p:sp>
          <p:nvSpPr>
            <p:cNvPr id="35" name="TextBox 35"/>
            <p:cNvSpPr txBox="1"/>
            <p:nvPr/>
          </p:nvSpPr>
          <p:spPr>
            <a:xfrm>
              <a:off x="7717155" y="4121468"/>
              <a:ext cx="1816513" cy="274320"/>
            </a:xfrm>
            <a:prstGeom prst="rect">
              <a:avLst/>
            </a:prstGeom>
            <a:noFill/>
            <a:ln>
              <a:noFill/>
            </a:ln>
          </p:spPr>
          <p:txBody>
            <a:bodyPr wrap="none" lIns="0" tIns="0" rIns="0" bIns="0" anchor="t" anchorCtr="0">
              <a:spAutoFit/>
            </a:bodyPr>
            <a:lstStyle/>
            <a:p>
              <a:pPr algn="l"/>
              <a:r>
                <a:rPr lang="zh-CN" sz="1350" dirty="0">
                  <a:solidFill>
                    <a:srgbClr val="F5F5F7"/>
                  </a:solidFill>
                  <a:latin typeface="Arial"/>
                  <a:ea typeface="Microsoft YaHei"/>
                  <a:cs typeface="Arial"/>
                </a:rPr>
                <a:t>5x Telephoto camera</a:t>
              </a:r>
            </a:p>
          </p:txBody>
        </p:sp>
        <p:sp>
          <p:nvSpPr>
            <p:cNvPr id="36" name="TextBox 36"/>
            <p:cNvSpPr txBox="1"/>
            <p:nvPr/>
          </p:nvSpPr>
          <p:spPr>
            <a:xfrm>
              <a:off x="764858" y="4643914"/>
              <a:ext cx="1469490" cy="259080"/>
            </a:xfrm>
            <a:prstGeom prst="rect">
              <a:avLst/>
            </a:prstGeom>
            <a:noFill/>
            <a:ln>
              <a:noFill/>
            </a:ln>
          </p:spPr>
          <p:txBody>
            <a:bodyPr wrap="none" lIns="0" tIns="0" rIns="0" bIns="0" anchor="t" anchorCtr="0">
              <a:spAutoFit/>
            </a:bodyPr>
            <a:lstStyle/>
            <a:p>
              <a:pPr algn="l"/>
              <a:r>
                <a:rPr lang="zh-CN" sz="1275" b="1" dirty="0">
                  <a:solidFill>
                    <a:srgbClr val="A1A1A6"/>
                  </a:solidFill>
                  <a:latin typeface="Arial"/>
                  <a:ea typeface="Microsoft YaHei"/>
                  <a:cs typeface="Arial"/>
                </a:rPr>
                <a:t>Battery headline</a:t>
              </a:r>
            </a:p>
          </p:txBody>
        </p:sp>
        <p:sp>
          <p:nvSpPr>
            <p:cNvPr id="37" name="TextBox 37"/>
            <p:cNvSpPr txBox="1"/>
            <p:nvPr/>
          </p:nvSpPr>
          <p:spPr>
            <a:xfrm>
              <a:off x="3526155" y="4635818"/>
              <a:ext cx="2149554" cy="274320"/>
            </a:xfrm>
            <a:prstGeom prst="rect">
              <a:avLst/>
            </a:prstGeom>
            <a:noFill/>
            <a:ln>
              <a:noFill/>
            </a:ln>
          </p:spPr>
          <p:txBody>
            <a:bodyPr wrap="none" lIns="0" tIns="0" rIns="0" bIns="0" anchor="t" anchorCtr="0">
              <a:spAutoFit/>
            </a:bodyPr>
            <a:lstStyle/>
            <a:p>
              <a:pPr algn="l"/>
              <a:r>
                <a:rPr lang="zh-CN" sz="1350" dirty="0">
                  <a:solidFill>
                    <a:srgbClr val="F5F5F7"/>
                  </a:solidFill>
                  <a:latin typeface="Arial"/>
                  <a:ea typeface="Microsoft YaHei"/>
                  <a:cs typeface="Arial"/>
                </a:rPr>
                <a:t>Huge leap in battery life</a:t>
              </a:r>
            </a:p>
          </p:txBody>
        </p:sp>
        <p:sp>
          <p:nvSpPr>
            <p:cNvPr id="38" name="TextBox 38"/>
            <p:cNvSpPr txBox="1"/>
            <p:nvPr/>
          </p:nvSpPr>
          <p:spPr>
            <a:xfrm>
              <a:off x="7717155" y="4635818"/>
              <a:ext cx="2842641" cy="274320"/>
            </a:xfrm>
            <a:prstGeom prst="rect">
              <a:avLst/>
            </a:prstGeom>
            <a:noFill/>
            <a:ln>
              <a:noFill/>
            </a:ln>
          </p:spPr>
          <p:txBody>
            <a:bodyPr wrap="none" lIns="0" tIns="0" rIns="0" bIns="0" anchor="t" anchorCtr="0">
              <a:spAutoFit/>
            </a:bodyPr>
            <a:lstStyle/>
            <a:p>
              <a:pPr algn="l"/>
              <a:r>
                <a:rPr lang="zh-CN" sz="1350" dirty="0">
                  <a:solidFill>
                    <a:srgbClr val="F5F5F7"/>
                  </a:solidFill>
                  <a:latin typeface="Arial"/>
                  <a:ea typeface="Microsoft YaHei"/>
                  <a:cs typeface="Arial"/>
                </a:rPr>
                <a:t>Best battery life on iPhone ever</a:t>
              </a:r>
            </a:p>
          </p:txBody>
        </p:sp>
        <p:sp>
          <p:nvSpPr>
            <p:cNvPr id="39" name="TextBox 39"/>
            <p:cNvSpPr txBox="1"/>
            <p:nvPr/>
          </p:nvSpPr>
          <p:spPr>
            <a:xfrm>
              <a:off x="764858" y="5158264"/>
              <a:ext cx="728622" cy="259080"/>
            </a:xfrm>
            <a:prstGeom prst="rect">
              <a:avLst/>
            </a:prstGeom>
            <a:noFill/>
            <a:ln>
              <a:noFill/>
            </a:ln>
          </p:spPr>
          <p:txBody>
            <a:bodyPr wrap="none" lIns="0" tIns="0" rIns="0" bIns="0" anchor="t" anchorCtr="0">
              <a:spAutoFit/>
            </a:bodyPr>
            <a:lstStyle/>
            <a:p>
              <a:pPr algn="l"/>
              <a:r>
                <a:rPr lang="zh-CN" sz="1275" b="1" dirty="0">
                  <a:solidFill>
                    <a:srgbClr val="A1A1A6"/>
                  </a:solidFill>
                  <a:latin typeface="Arial"/>
                  <a:ea typeface="Microsoft YaHei"/>
                  <a:cs typeface="Arial"/>
                </a:rPr>
                <a:t>Finishes</a:t>
              </a:r>
            </a:p>
          </p:txBody>
        </p:sp>
        <p:sp>
          <p:nvSpPr>
            <p:cNvPr id="40" name="TextBox 40"/>
            <p:cNvSpPr txBox="1"/>
            <p:nvPr/>
          </p:nvSpPr>
          <p:spPr>
            <a:xfrm>
              <a:off x="3526155" y="5150168"/>
              <a:ext cx="3463719" cy="274320"/>
            </a:xfrm>
            <a:prstGeom prst="rect">
              <a:avLst/>
            </a:prstGeom>
            <a:noFill/>
            <a:ln>
              <a:noFill/>
            </a:ln>
          </p:spPr>
          <p:txBody>
            <a:bodyPr wrap="none" lIns="0" tIns="0" rIns="0" bIns="0" anchor="t" anchorCtr="0">
              <a:spAutoFit/>
            </a:bodyPr>
            <a:lstStyle/>
            <a:p>
              <a:pPr algn="l"/>
              <a:r>
                <a:rPr lang="zh-CN" sz="1350" dirty="0">
                  <a:solidFill>
                    <a:srgbClr val="F5F5F7"/>
                  </a:solidFill>
                  <a:latin typeface="Arial"/>
                  <a:ea typeface="Microsoft YaHei"/>
                  <a:cs typeface="Arial"/>
                </a:rPr>
                <a:t>black, natural, white, desert titanium</a:t>
              </a:r>
            </a:p>
          </p:txBody>
        </p:sp>
        <p:sp>
          <p:nvSpPr>
            <p:cNvPr id="41" name="TextBox 41"/>
            <p:cNvSpPr txBox="1"/>
            <p:nvPr/>
          </p:nvSpPr>
          <p:spPr>
            <a:xfrm>
              <a:off x="7717155" y="5150168"/>
              <a:ext cx="3463719" cy="274320"/>
            </a:xfrm>
            <a:prstGeom prst="rect">
              <a:avLst/>
            </a:prstGeom>
            <a:noFill/>
            <a:ln>
              <a:noFill/>
            </a:ln>
          </p:spPr>
          <p:txBody>
            <a:bodyPr wrap="none" lIns="0" tIns="0" rIns="0" bIns="0" anchor="t" anchorCtr="0">
              <a:spAutoFit/>
            </a:bodyPr>
            <a:lstStyle/>
            <a:p>
              <a:pPr algn="l"/>
              <a:r>
                <a:rPr lang="zh-CN" sz="1350" dirty="0">
                  <a:solidFill>
                    <a:srgbClr val="F5F5F7"/>
                  </a:solidFill>
                  <a:latin typeface="Arial"/>
                  <a:ea typeface="Microsoft YaHei"/>
                  <a:cs typeface="Arial"/>
                </a:rPr>
                <a:t>black, natural, white, desert titanium</a:t>
              </a:r>
            </a:p>
          </p:txBody>
        </p:sp>
      </p:grpSp>
      <p:grpSp>
        <p:nvGrpSpPr>
          <p:cNvPr id="46" name="Group 46"/>
          <p:cNvGrpSpPr/>
          <p:nvPr/>
        </p:nvGrpSpPr>
        <p:grpSpPr>
          <a:xfrm>
            <a:off x="514350" y="5905500"/>
            <a:ext cx="11163300" cy="495300"/>
            <a:chOff x="514350" y="5905500"/>
            <a:chExt cx="11163300" cy="495300"/>
          </a:xfrm>
        </p:grpSpPr>
        <p:sp>
          <p:nvSpPr>
            <p:cNvPr id="43" name="Rectangle 43"/>
            <p:cNvSpPr/>
            <p:nvPr/>
          </p:nvSpPr>
          <p:spPr>
            <a:xfrm>
              <a:off x="514350" y="5905500"/>
              <a:ext cx="11163300" cy="495300"/>
            </a:xfrm>
            <a:prstGeom prst="roundRect">
              <a:avLst>
                <a:gd name="adj" fmla="val 34615"/>
              </a:avLst>
            </a:prstGeom>
            <a:solidFill>
              <a:srgbClr val="1E1E22"/>
            </a:solidFill>
            <a:ln w="19050">
              <a:solidFill>
                <a:srgbClr val="3A3A3C"/>
              </a:solidFill>
            </a:ln>
          </p:spPr>
        </p:sp>
        <p:sp>
          <p:nvSpPr>
            <p:cNvPr id="44" name="TextBox 44"/>
            <p:cNvSpPr txBox="1"/>
            <p:nvPr/>
          </p:nvSpPr>
          <p:spPr>
            <a:xfrm>
              <a:off x="783908" y="6082189"/>
              <a:ext cx="1308820" cy="259080"/>
            </a:xfrm>
            <a:prstGeom prst="rect">
              <a:avLst/>
            </a:prstGeom>
            <a:noFill/>
            <a:ln>
              <a:noFill/>
            </a:ln>
          </p:spPr>
          <p:txBody>
            <a:bodyPr wrap="none" lIns="0" tIns="0" rIns="0" bIns="0" anchor="t" anchorCtr="0">
              <a:spAutoFit/>
            </a:bodyPr>
            <a:lstStyle/>
            <a:p>
              <a:pPr algn="l"/>
              <a:r>
                <a:rPr lang="zh-CN" sz="1275" b="1" dirty="0">
                  <a:solidFill>
                    <a:srgbClr val="D8C6A3"/>
                  </a:solidFill>
                  <a:latin typeface="Arial"/>
                  <a:ea typeface="Microsoft YaHei"/>
                  <a:cs typeface="Arial"/>
                </a:rPr>
                <a:t>Launch timing:</a:t>
              </a:r>
            </a:p>
          </p:txBody>
        </p:sp>
        <p:sp>
          <p:nvSpPr>
            <p:cNvPr id="45" name="TextBox 45"/>
            <p:cNvSpPr txBox="1"/>
            <p:nvPr/>
          </p:nvSpPr>
          <p:spPr>
            <a:xfrm>
              <a:off x="2040255" y="6074092"/>
              <a:ext cx="7838265" cy="274320"/>
            </a:xfrm>
            <a:prstGeom prst="rect">
              <a:avLst/>
            </a:prstGeom>
            <a:noFill/>
            <a:ln>
              <a:noFill/>
            </a:ln>
          </p:spPr>
          <p:txBody>
            <a:bodyPr wrap="none" lIns="0" tIns="0" rIns="0" bIns="0" anchor="t" anchorCtr="0">
              <a:spAutoFit/>
            </a:bodyPr>
            <a:lstStyle/>
            <a:p>
              <a:pPr algn="l"/>
              <a:r>
                <a:rPr lang="zh-CN" sz="1350" dirty="0">
                  <a:solidFill>
                    <a:srgbClr val="F5F5F7"/>
                  </a:solidFill>
                  <a:latin typeface="Arial"/>
                  <a:ea typeface="Microsoft YaHei"/>
                  <a:cs typeface="Arial"/>
                </a:rPr>
                <a:t>pre-order begins September 13; availability begins September 20 in first-wave markets.</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42"/>
                                        </p:tgtEl>
                                        <p:attrNameLst>
                                          <p:attrName>style.visibility</p:attrName>
                                        </p:attrNameLst>
                                      </p:cBhvr>
                                      <p:to>
                                        <p:strVal val="visible"/>
                                      </p:to>
                                    </p:set>
                                    <p:animEffect transition="in" filter="wipe(left)">
                                      <p:cBhvr>
                                        <p:cTn id="11" dur="400"/>
                                        <p:tgtEl>
                                          <p:spTgt spid="42"/>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slide(fromBottom)">
                                      <p:cBhvr>
                                        <p:cTn id="15" dur="4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42" grpId="0"/>
      <p:bldP spid="4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50506"/>
          </a:solidFill>
          <a:ln>
            <a:noFill/>
          </a:ln>
        </p:spPr>
      </p:sp>
      <p:grpSp>
        <p:nvGrpSpPr>
          <p:cNvPr id="5" name="Group 5"/>
          <p:cNvGrpSpPr/>
          <p:nvPr/>
        </p:nvGrpSpPr>
        <p:grpSpPr>
          <a:xfrm>
            <a:off x="615315" y="515302"/>
            <a:ext cx="11243572" cy="213360"/>
            <a:chOff x="615315" y="515302"/>
            <a:chExt cx="11243572" cy="213360"/>
          </a:xfrm>
        </p:grpSpPr>
        <p:sp>
          <p:nvSpPr>
            <p:cNvPr id="3" name="TextBox 3"/>
            <p:cNvSpPr txBox="1"/>
            <p:nvPr/>
          </p:nvSpPr>
          <p:spPr>
            <a:xfrm>
              <a:off x="615315" y="515302"/>
              <a:ext cx="1555661" cy="213360"/>
            </a:xfrm>
            <a:prstGeom prst="rect">
              <a:avLst/>
            </a:prstGeom>
            <a:noFill/>
            <a:ln>
              <a:noFill/>
            </a:ln>
          </p:spPr>
          <p:txBody>
            <a:bodyPr wrap="none" lIns="0" tIns="0" rIns="0" bIns="0" anchor="t" anchorCtr="0">
              <a:spAutoFit/>
            </a:bodyPr>
            <a:lstStyle/>
            <a:p>
              <a:pPr algn="l"/>
              <a:r>
                <a:rPr lang="zh-CN" sz="1050" b="1" dirty="0">
                  <a:solidFill>
                    <a:srgbClr val="A1A1A6"/>
                  </a:solidFill>
                  <a:latin typeface="Arial"/>
                  <a:ea typeface="Microsoft YaHei"/>
                  <a:cs typeface="Arial"/>
                </a:rPr>
                <a:t>DESIGN + ENVIRONMENT</a:t>
              </a:r>
            </a:p>
          </p:txBody>
        </p:sp>
        <p:sp>
          <p:nvSpPr>
            <p:cNvPr id="4" name="TextBox 4"/>
            <p:cNvSpPr txBox="1"/>
            <p:nvPr/>
          </p:nvSpPr>
          <p:spPr>
            <a:xfrm>
              <a:off x="11398568" y="523399"/>
              <a:ext cx="460319" cy="198120"/>
            </a:xfrm>
            <a:prstGeom prst="rect">
              <a:avLst/>
            </a:prstGeom>
            <a:noFill/>
            <a:ln>
              <a:noFill/>
            </a:ln>
          </p:spPr>
          <p:txBody>
            <a:bodyPr wrap="none" lIns="0" tIns="0" rIns="0" bIns="0" anchor="t" anchorCtr="0">
              <a:spAutoFit/>
            </a:bodyPr>
            <a:lstStyle/>
            <a:p>
              <a:pPr algn="l"/>
              <a:r>
                <a:rPr lang="zh-CN" sz="975" dirty="0">
                  <a:solidFill>
                    <a:srgbClr val="A1A1A6"/>
                  </a:solidFill>
                  <a:latin typeface="Consolas"/>
                  <a:ea typeface="Microsoft YaHei"/>
                  <a:cs typeface="Consolas"/>
                </a:rPr>
                <a:t>08 / 09</a:t>
              </a:r>
            </a:p>
          </p:txBody>
        </p:sp>
      </p:grpSp>
      <p:grpSp>
        <p:nvGrpSpPr>
          <p:cNvPr id="10" name="Group 10"/>
          <p:cNvGrpSpPr/>
          <p:nvPr/>
        </p:nvGrpSpPr>
        <p:grpSpPr>
          <a:xfrm>
            <a:off x="603885" y="1094422"/>
            <a:ext cx="7379328" cy="1855947"/>
            <a:chOff x="603885" y="1094422"/>
            <a:chExt cx="7379328" cy="1855947"/>
          </a:xfrm>
        </p:grpSpPr>
        <p:sp>
          <p:nvSpPr>
            <p:cNvPr id="6" name="TextBox 6"/>
            <p:cNvSpPr txBox="1"/>
            <p:nvPr/>
          </p:nvSpPr>
          <p:spPr>
            <a:xfrm>
              <a:off x="603885" y="1094422"/>
              <a:ext cx="6608945" cy="701040"/>
            </a:xfrm>
            <a:prstGeom prst="rect">
              <a:avLst/>
            </a:prstGeom>
            <a:noFill/>
            <a:ln>
              <a:noFill/>
            </a:ln>
          </p:spPr>
          <p:txBody>
            <a:bodyPr wrap="none" lIns="0" tIns="0" rIns="0" bIns="0" anchor="t" anchorCtr="0">
              <a:spAutoFit/>
            </a:bodyPr>
            <a:lstStyle/>
            <a:p>
              <a:pPr algn="l"/>
              <a:r>
                <a:rPr lang="zh-CN" sz="3450" b="1" dirty="0">
                  <a:solidFill>
                    <a:srgbClr val="F5F5F7"/>
                  </a:solidFill>
                  <a:latin typeface="Arial"/>
                  <a:ea typeface="Microsoft YaHei"/>
                  <a:cs typeface="Arial"/>
                </a:rPr>
                <a:t>Premium design also carries</a:t>
              </a:r>
            </a:p>
          </p:txBody>
        </p:sp>
        <p:sp>
          <p:nvSpPr>
            <p:cNvPr id="7" name="TextBox 7"/>
            <p:cNvSpPr txBox="1"/>
            <p:nvPr/>
          </p:nvSpPr>
          <p:spPr>
            <a:xfrm>
              <a:off x="603885" y="1599248"/>
              <a:ext cx="7164464" cy="701040"/>
            </a:xfrm>
            <a:prstGeom prst="rect">
              <a:avLst/>
            </a:prstGeom>
            <a:noFill/>
            <a:ln>
              <a:noFill/>
            </a:ln>
          </p:spPr>
          <p:txBody>
            <a:bodyPr wrap="none" lIns="0" tIns="0" rIns="0" bIns="0" anchor="t" anchorCtr="0">
              <a:spAutoFit/>
            </a:bodyPr>
            <a:lstStyle/>
            <a:p>
              <a:pPr algn="l"/>
              <a:r>
                <a:rPr lang="zh-CN" sz="3450" b="1" dirty="0">
                  <a:solidFill>
                    <a:srgbClr val="F5F5F7"/>
                  </a:solidFill>
                  <a:latin typeface="Arial"/>
                  <a:ea typeface="Microsoft YaHei"/>
                  <a:cs typeface="Arial"/>
                </a:rPr>
                <a:t>an environmental proof point.</a:t>
              </a:r>
            </a:p>
          </p:txBody>
        </p:sp>
        <p:sp>
          <p:nvSpPr>
            <p:cNvPr id="8" name="TextBox 8"/>
            <p:cNvSpPr txBox="1"/>
            <p:nvPr/>
          </p:nvSpPr>
          <p:spPr>
            <a:xfrm>
              <a:off x="665798" y="2325529"/>
              <a:ext cx="7317415" cy="320040"/>
            </a:xfrm>
            <a:prstGeom prst="rect">
              <a:avLst/>
            </a:prstGeom>
            <a:noFill/>
            <a:ln>
              <a:noFill/>
            </a:ln>
          </p:spPr>
          <p:txBody>
            <a:bodyPr wrap="none" lIns="0" tIns="0" rIns="0" bIns="0" anchor="t" anchorCtr="0">
              <a:spAutoFit/>
            </a:bodyPr>
            <a:lstStyle/>
            <a:p>
              <a:pPr algn="l"/>
              <a:r>
                <a:rPr lang="zh-CN" sz="1575" dirty="0">
                  <a:solidFill>
                    <a:srgbClr val="A1A1A6"/>
                  </a:solidFill>
                  <a:latin typeface="Arial"/>
                  <a:ea typeface="Microsoft YaHei"/>
                  <a:cs typeface="Arial"/>
                </a:rPr>
                <a:t>Apple cites recycled materials, renewable electricity, and fiber-based</a:t>
              </a:r>
            </a:p>
          </p:txBody>
        </p:sp>
        <p:sp>
          <p:nvSpPr>
            <p:cNvPr id="9" name="TextBox 9"/>
            <p:cNvSpPr txBox="1"/>
            <p:nvPr/>
          </p:nvSpPr>
          <p:spPr>
            <a:xfrm>
              <a:off x="665798" y="2630329"/>
              <a:ext cx="4660583" cy="320040"/>
            </a:xfrm>
            <a:prstGeom prst="rect">
              <a:avLst/>
            </a:prstGeom>
            <a:noFill/>
            <a:ln>
              <a:noFill/>
            </a:ln>
          </p:spPr>
          <p:txBody>
            <a:bodyPr wrap="none" lIns="0" tIns="0" rIns="0" bIns="0" anchor="t" anchorCtr="0">
              <a:spAutoFit/>
            </a:bodyPr>
            <a:lstStyle/>
            <a:p>
              <a:pPr algn="l"/>
              <a:r>
                <a:rPr lang="zh-CN" sz="1575" dirty="0">
                  <a:solidFill>
                    <a:srgbClr val="A1A1A6"/>
                  </a:solidFill>
                  <a:latin typeface="Arial"/>
                  <a:ea typeface="Microsoft YaHei"/>
                  <a:cs typeface="Arial"/>
                </a:rPr>
                <a:t>packaging in the iPhone 16 Pro launch source.</a:t>
              </a:r>
            </a:p>
          </p:txBody>
        </p:sp>
      </p:grpSp>
      <p:grpSp>
        <p:nvGrpSpPr>
          <p:cNvPr id="17" name="Group 17"/>
          <p:cNvGrpSpPr/>
          <p:nvPr/>
        </p:nvGrpSpPr>
        <p:grpSpPr>
          <a:xfrm>
            <a:off x="1466850" y="3105150"/>
            <a:ext cx="2209800" cy="2209800"/>
            <a:chOff x="1466850" y="3105150"/>
            <a:chExt cx="2209800" cy="2209800"/>
          </a:xfrm>
        </p:grpSpPr>
        <p:sp>
          <p:nvSpPr>
            <p:cNvPr id="11" name="Ellipse 11"/>
            <p:cNvSpPr/>
            <p:nvPr/>
          </p:nvSpPr>
          <p:spPr>
            <a:xfrm>
              <a:off x="1466850" y="3105150"/>
              <a:ext cx="2209800" cy="2209800"/>
            </a:xfrm>
            <a:prstGeom prst="ellipse">
              <a:avLst/>
            </a:prstGeom>
            <a:solidFill>
              <a:srgbClr val="121214"/>
            </a:solidFill>
            <a:ln w="19050">
              <a:solidFill>
                <a:srgbClr val="3A3A3C"/>
              </a:solidFill>
            </a:ln>
          </p:spPr>
        </p:sp>
        <p:sp>
          <p:nvSpPr>
            <p:cNvPr id="12" name="Freeform 12"/>
            <p:cNvSpPr/>
            <p:nvPr/>
          </p:nvSpPr>
          <p:spPr>
            <a:xfrm>
              <a:off x="1466850" y="3105150"/>
              <a:ext cx="2209800" cy="2209800"/>
            </a:xfrm>
            <a:custGeom>
              <a:avLst/>
              <a:gdLst/>
              <a:ahLst/>
              <a:cxnLst/>
              <a:rect l="l" t="t" r="r" b="b"/>
              <a:pathLst>
                <a:path w="2209800" h="2209800">
                  <a:moveTo>
                    <a:pt x="1104900" y="0"/>
                  </a:moveTo>
                  <a:cubicBezTo>
                    <a:pt x="1715119" y="0"/>
                    <a:pt x="2209800" y="494681"/>
                    <a:pt x="2209800" y="1104900"/>
                  </a:cubicBezTo>
                  <a:cubicBezTo>
                    <a:pt x="2209800" y="1715119"/>
                    <a:pt x="1715119" y="2209800"/>
                    <a:pt x="1104900" y="2209800"/>
                  </a:cubicBezTo>
                  <a:cubicBezTo>
                    <a:pt x="494681" y="2209800"/>
                    <a:pt x="0" y="1715119"/>
                    <a:pt x="0" y="1104900"/>
                  </a:cubicBezTo>
                </a:path>
              </a:pathLst>
            </a:custGeom>
            <a:noFill/>
            <a:ln w="171450" cap="rnd">
              <a:solidFill>
                <a:srgbClr val="30D158"/>
              </a:solidFill>
            </a:ln>
          </p:spPr>
        </p:sp>
        <p:sp>
          <p:nvSpPr>
            <p:cNvPr id="13" name="Freeform 13"/>
            <p:cNvSpPr/>
            <p:nvPr/>
          </p:nvSpPr>
          <p:spPr>
            <a:xfrm>
              <a:off x="1466850" y="3105150"/>
              <a:ext cx="1104900" cy="1104900"/>
            </a:xfrm>
            <a:custGeom>
              <a:avLst/>
              <a:gdLst/>
              <a:ahLst/>
              <a:cxnLst/>
              <a:rect l="l" t="t" r="r" b="b"/>
              <a:pathLst>
                <a:path w="1104900" h="1104900">
                  <a:moveTo>
                    <a:pt x="0" y="1104900"/>
                  </a:moveTo>
                  <a:cubicBezTo>
                    <a:pt x="0" y="494681"/>
                    <a:pt x="494681" y="0"/>
                    <a:pt x="1104900" y="0"/>
                  </a:cubicBezTo>
                </a:path>
              </a:pathLst>
            </a:custGeom>
            <a:noFill/>
            <a:ln w="171450" cap="rnd">
              <a:solidFill>
                <a:srgbClr val="3A3A3C"/>
              </a:solidFill>
            </a:ln>
          </p:spPr>
        </p:sp>
        <p:sp>
          <p:nvSpPr>
            <p:cNvPr id="14" name="TextBox 14"/>
            <p:cNvSpPr txBox="1"/>
            <p:nvPr/>
          </p:nvSpPr>
          <p:spPr>
            <a:xfrm>
              <a:off x="1921154" y="3659505"/>
              <a:ext cx="1301191" cy="731520"/>
            </a:xfrm>
            <a:prstGeom prst="rect">
              <a:avLst/>
            </a:prstGeom>
            <a:noFill/>
            <a:ln>
              <a:noFill/>
            </a:ln>
          </p:spPr>
          <p:txBody>
            <a:bodyPr wrap="none" lIns="0" tIns="0" rIns="0" bIns="0" anchor="t" anchorCtr="0">
              <a:spAutoFit/>
            </a:bodyPr>
            <a:lstStyle/>
            <a:p>
              <a:pPr algn="ctr"/>
              <a:r>
                <a:rPr lang="zh-CN" sz="3600" b="1" dirty="0">
                  <a:solidFill>
                    <a:srgbClr val="30D158"/>
                  </a:solidFill>
                  <a:latin typeface="Arial"/>
                  <a:ea typeface="Microsoft YaHei"/>
                  <a:cs typeface="Arial"/>
                </a:rPr>
                <a:t>&gt;25%</a:t>
              </a:r>
            </a:p>
          </p:txBody>
        </p:sp>
        <p:sp>
          <p:nvSpPr>
            <p:cNvPr id="15" name="TextBox 15"/>
            <p:cNvSpPr txBox="1"/>
            <p:nvPr/>
          </p:nvSpPr>
          <p:spPr>
            <a:xfrm>
              <a:off x="1725624" y="4275296"/>
              <a:ext cx="1692252" cy="289560"/>
            </a:xfrm>
            <a:prstGeom prst="rect">
              <a:avLst/>
            </a:prstGeom>
            <a:noFill/>
            <a:ln>
              <a:noFill/>
            </a:ln>
          </p:spPr>
          <p:txBody>
            <a:bodyPr wrap="none" lIns="0" tIns="0" rIns="0" bIns="0" anchor="t" anchorCtr="0">
              <a:spAutoFit/>
            </a:bodyPr>
            <a:lstStyle/>
            <a:p>
              <a:pPr algn="ctr"/>
              <a:r>
                <a:rPr lang="zh-CN" sz="1425" b="1" dirty="0">
                  <a:solidFill>
                    <a:srgbClr val="F5F5F7"/>
                  </a:solidFill>
                  <a:latin typeface="Arial"/>
                  <a:ea typeface="Microsoft YaHei"/>
                  <a:cs typeface="Arial"/>
                </a:rPr>
                <a:t>recycled content</a:t>
              </a:r>
            </a:p>
          </p:txBody>
        </p:sp>
        <p:sp>
          <p:nvSpPr>
            <p:cNvPr id="16" name="TextBox 16"/>
            <p:cNvSpPr txBox="1"/>
            <p:nvPr/>
          </p:nvSpPr>
          <p:spPr>
            <a:xfrm>
              <a:off x="1751112" y="4574381"/>
              <a:ext cx="1641277" cy="228600"/>
            </a:xfrm>
            <a:prstGeom prst="rect">
              <a:avLst/>
            </a:prstGeom>
            <a:noFill/>
            <a:ln>
              <a:noFill/>
            </a:ln>
          </p:spPr>
          <p:txBody>
            <a:bodyPr wrap="none" lIns="0" tIns="0" rIns="0" bIns="0" anchor="t" anchorCtr="0">
              <a:spAutoFit/>
            </a:bodyPr>
            <a:lstStyle/>
            <a:p>
              <a:pPr algn="ctr"/>
              <a:r>
                <a:rPr lang="zh-CN" sz="1125" dirty="0">
                  <a:solidFill>
                    <a:srgbClr val="A1A1A6"/>
                  </a:solidFill>
                  <a:latin typeface="Arial"/>
                  <a:ea typeface="Microsoft YaHei"/>
                  <a:cs typeface="Arial"/>
                </a:rPr>
                <a:t>by weight, per source</a:t>
              </a:r>
            </a:p>
          </p:txBody>
        </p:sp>
      </p:grpSp>
      <p:grpSp>
        <p:nvGrpSpPr>
          <p:cNvPr id="34" name="Group 34"/>
          <p:cNvGrpSpPr/>
          <p:nvPr/>
        </p:nvGrpSpPr>
        <p:grpSpPr>
          <a:xfrm>
            <a:off x="4282380" y="3035618"/>
            <a:ext cx="7076480" cy="1243488"/>
            <a:chOff x="4282380" y="3035618"/>
            <a:chExt cx="7076480" cy="1243488"/>
          </a:xfrm>
        </p:grpSpPr>
        <p:sp>
          <p:nvSpPr>
            <p:cNvPr id="18" name="Line 18"/>
            <p:cNvSpPr/>
            <p:nvPr/>
          </p:nvSpPr>
          <p:spPr>
            <a:xfrm>
              <a:off x="4495800" y="3562350"/>
              <a:ext cx="6267450" cy="9525"/>
            </a:xfrm>
            <a:custGeom>
              <a:avLst/>
              <a:gdLst/>
              <a:ahLst/>
              <a:cxnLst/>
              <a:rect l="l" t="t" r="r" b="b"/>
              <a:pathLst>
                <a:path w="6267450" h="9525">
                  <a:moveTo>
                    <a:pt x="0" y="0"/>
                  </a:moveTo>
                  <a:lnTo>
                    <a:pt x="6267450" y="0"/>
                  </a:lnTo>
                </a:path>
              </a:pathLst>
            </a:custGeom>
            <a:noFill/>
            <a:ln w="19050">
              <a:solidFill>
                <a:srgbClr val="3A3A3C"/>
              </a:solidFill>
            </a:ln>
          </p:spPr>
        </p:sp>
        <p:sp>
          <p:nvSpPr>
            <p:cNvPr id="19" name="Ellipse 19"/>
            <p:cNvSpPr/>
            <p:nvPr/>
          </p:nvSpPr>
          <p:spPr>
            <a:xfrm>
              <a:off x="4838700" y="3448050"/>
              <a:ext cx="228600" cy="228600"/>
            </a:xfrm>
            <a:prstGeom prst="ellipse">
              <a:avLst/>
            </a:prstGeom>
            <a:solidFill>
              <a:srgbClr val="30D158"/>
            </a:solidFill>
            <a:ln>
              <a:noFill/>
            </a:ln>
          </p:spPr>
        </p:sp>
        <p:sp>
          <p:nvSpPr>
            <p:cNvPr id="20" name="TextBox 20"/>
            <p:cNvSpPr txBox="1"/>
            <p:nvPr/>
          </p:nvSpPr>
          <p:spPr>
            <a:xfrm>
              <a:off x="4709027" y="3035618"/>
              <a:ext cx="487947" cy="274320"/>
            </a:xfrm>
            <a:prstGeom prst="rect">
              <a:avLst/>
            </a:prstGeom>
            <a:noFill/>
            <a:ln>
              <a:noFill/>
            </a:ln>
          </p:spPr>
          <p:txBody>
            <a:bodyPr wrap="none" lIns="0" tIns="0" rIns="0" bIns="0" anchor="t" anchorCtr="0">
              <a:spAutoFit/>
            </a:bodyPr>
            <a:lstStyle/>
            <a:p>
              <a:pPr algn="ctr"/>
              <a:r>
                <a:rPr lang="zh-CN" sz="1350" b="1" dirty="0">
                  <a:solidFill>
                    <a:srgbClr val="F5F5F7"/>
                  </a:solidFill>
                  <a:latin typeface="Arial"/>
                  <a:ea typeface="Microsoft YaHei"/>
                  <a:cs typeface="Arial"/>
                </a:rPr>
                <a:t>100%</a:t>
              </a:r>
            </a:p>
          </p:txBody>
        </p:sp>
        <p:sp>
          <p:nvSpPr>
            <p:cNvPr id="21" name="TextBox 21"/>
            <p:cNvSpPr txBox="1"/>
            <p:nvPr/>
          </p:nvSpPr>
          <p:spPr>
            <a:xfrm>
              <a:off x="4282380" y="3840956"/>
              <a:ext cx="1341239" cy="228600"/>
            </a:xfrm>
            <a:prstGeom prst="rect">
              <a:avLst/>
            </a:prstGeom>
            <a:noFill/>
            <a:ln>
              <a:noFill/>
            </a:ln>
          </p:spPr>
          <p:txBody>
            <a:bodyPr wrap="none" lIns="0" tIns="0" rIns="0" bIns="0" anchor="t" anchorCtr="0">
              <a:spAutoFit/>
            </a:bodyPr>
            <a:lstStyle/>
            <a:p>
              <a:pPr algn="ctr"/>
              <a:r>
                <a:rPr lang="zh-CN" sz="1125" dirty="0">
                  <a:solidFill>
                    <a:srgbClr val="A1A1A6"/>
                  </a:solidFill>
                  <a:latin typeface="Arial"/>
                  <a:ea typeface="Microsoft YaHei"/>
                  <a:cs typeface="Arial"/>
                </a:rPr>
                <a:t>recycled aluminum</a:t>
              </a:r>
            </a:p>
          </p:txBody>
        </p:sp>
        <p:sp>
          <p:nvSpPr>
            <p:cNvPr id="22" name="TextBox 22"/>
            <p:cNvSpPr txBox="1"/>
            <p:nvPr/>
          </p:nvSpPr>
          <p:spPr>
            <a:xfrm>
              <a:off x="4402395" y="4050506"/>
              <a:ext cx="1101209" cy="228600"/>
            </a:xfrm>
            <a:prstGeom prst="rect">
              <a:avLst/>
            </a:prstGeom>
            <a:noFill/>
            <a:ln>
              <a:noFill/>
            </a:ln>
          </p:spPr>
          <p:txBody>
            <a:bodyPr wrap="none" lIns="0" tIns="0" rIns="0" bIns="0" anchor="t" anchorCtr="0">
              <a:spAutoFit/>
            </a:bodyPr>
            <a:lstStyle/>
            <a:p>
              <a:pPr algn="ctr"/>
              <a:r>
                <a:rPr lang="zh-CN" sz="1125" dirty="0">
                  <a:solidFill>
                    <a:srgbClr val="A1A1A6"/>
                  </a:solidFill>
                  <a:latin typeface="Arial"/>
                  <a:ea typeface="Microsoft YaHei"/>
                  <a:cs typeface="Arial"/>
                </a:rPr>
                <a:t>internal frame</a:t>
              </a:r>
            </a:p>
          </p:txBody>
        </p:sp>
        <p:sp>
          <p:nvSpPr>
            <p:cNvPr id="23" name="Ellipse 23"/>
            <p:cNvSpPr/>
            <p:nvPr/>
          </p:nvSpPr>
          <p:spPr>
            <a:xfrm>
              <a:off x="6934200" y="3448050"/>
              <a:ext cx="228600" cy="228600"/>
            </a:xfrm>
            <a:prstGeom prst="ellipse">
              <a:avLst/>
            </a:prstGeom>
            <a:solidFill>
              <a:srgbClr val="30D158"/>
            </a:solidFill>
            <a:ln>
              <a:noFill/>
            </a:ln>
          </p:spPr>
        </p:sp>
        <p:sp>
          <p:nvSpPr>
            <p:cNvPr id="24" name="TextBox 24"/>
            <p:cNvSpPr txBox="1"/>
            <p:nvPr/>
          </p:nvSpPr>
          <p:spPr>
            <a:xfrm>
              <a:off x="6804527" y="3035618"/>
              <a:ext cx="487947" cy="274320"/>
            </a:xfrm>
            <a:prstGeom prst="rect">
              <a:avLst/>
            </a:prstGeom>
            <a:noFill/>
            <a:ln>
              <a:noFill/>
            </a:ln>
          </p:spPr>
          <p:txBody>
            <a:bodyPr wrap="none" lIns="0" tIns="0" rIns="0" bIns="0" anchor="t" anchorCtr="0">
              <a:spAutoFit/>
            </a:bodyPr>
            <a:lstStyle/>
            <a:p>
              <a:pPr algn="ctr"/>
              <a:r>
                <a:rPr lang="zh-CN" sz="1350" b="1" dirty="0">
                  <a:solidFill>
                    <a:srgbClr val="F5F5F7"/>
                  </a:solidFill>
                  <a:latin typeface="Arial"/>
                  <a:ea typeface="Microsoft YaHei"/>
                  <a:cs typeface="Arial"/>
                </a:rPr>
                <a:t>100%</a:t>
              </a:r>
            </a:p>
          </p:txBody>
        </p:sp>
        <p:sp>
          <p:nvSpPr>
            <p:cNvPr id="25" name="TextBox 25"/>
            <p:cNvSpPr txBox="1"/>
            <p:nvPr/>
          </p:nvSpPr>
          <p:spPr>
            <a:xfrm>
              <a:off x="6471642" y="3840956"/>
              <a:ext cx="1153716" cy="228600"/>
            </a:xfrm>
            <a:prstGeom prst="rect">
              <a:avLst/>
            </a:prstGeom>
            <a:noFill/>
            <a:ln>
              <a:noFill/>
            </a:ln>
          </p:spPr>
          <p:txBody>
            <a:bodyPr wrap="none" lIns="0" tIns="0" rIns="0" bIns="0" anchor="t" anchorCtr="0">
              <a:spAutoFit/>
            </a:bodyPr>
            <a:lstStyle/>
            <a:p>
              <a:pPr algn="ctr"/>
              <a:r>
                <a:rPr lang="zh-CN" sz="1125" dirty="0">
                  <a:solidFill>
                    <a:srgbClr val="A1A1A6"/>
                  </a:solidFill>
                  <a:latin typeface="Arial"/>
                  <a:ea typeface="Microsoft YaHei"/>
                  <a:cs typeface="Arial"/>
                </a:rPr>
                <a:t>recycled cobalt</a:t>
              </a:r>
            </a:p>
          </p:txBody>
        </p:sp>
        <p:sp>
          <p:nvSpPr>
            <p:cNvPr id="26" name="TextBox 26"/>
            <p:cNvSpPr txBox="1"/>
            <p:nvPr/>
          </p:nvSpPr>
          <p:spPr>
            <a:xfrm>
              <a:off x="6512897" y="4050506"/>
              <a:ext cx="1071205" cy="228600"/>
            </a:xfrm>
            <a:prstGeom prst="rect">
              <a:avLst/>
            </a:prstGeom>
            <a:noFill/>
            <a:ln>
              <a:noFill/>
            </a:ln>
          </p:spPr>
          <p:txBody>
            <a:bodyPr wrap="none" lIns="0" tIns="0" rIns="0" bIns="0" anchor="t" anchorCtr="0">
              <a:spAutoFit/>
            </a:bodyPr>
            <a:lstStyle/>
            <a:p>
              <a:pPr algn="ctr"/>
              <a:r>
                <a:rPr lang="zh-CN" sz="1125" dirty="0">
                  <a:solidFill>
                    <a:srgbClr val="A1A1A6"/>
                  </a:solidFill>
                  <a:latin typeface="Arial"/>
                  <a:ea typeface="Microsoft YaHei"/>
                  <a:cs typeface="Arial"/>
                </a:rPr>
                <a:t>in the battery</a:t>
              </a:r>
            </a:p>
          </p:txBody>
        </p:sp>
        <p:sp>
          <p:nvSpPr>
            <p:cNvPr id="27" name="Ellipse 27"/>
            <p:cNvSpPr/>
            <p:nvPr/>
          </p:nvSpPr>
          <p:spPr>
            <a:xfrm>
              <a:off x="9029700" y="3448050"/>
              <a:ext cx="228600" cy="228600"/>
            </a:xfrm>
            <a:prstGeom prst="ellipse">
              <a:avLst/>
            </a:prstGeom>
            <a:solidFill>
              <a:srgbClr val="30D158"/>
            </a:solidFill>
            <a:ln>
              <a:noFill/>
            </a:ln>
          </p:spPr>
        </p:sp>
        <p:sp>
          <p:nvSpPr>
            <p:cNvPr id="28" name="TextBox 28"/>
            <p:cNvSpPr txBox="1"/>
            <p:nvPr/>
          </p:nvSpPr>
          <p:spPr>
            <a:xfrm>
              <a:off x="8900027" y="3035618"/>
              <a:ext cx="487947" cy="274320"/>
            </a:xfrm>
            <a:prstGeom prst="rect">
              <a:avLst/>
            </a:prstGeom>
            <a:noFill/>
            <a:ln>
              <a:noFill/>
            </a:ln>
          </p:spPr>
          <p:txBody>
            <a:bodyPr wrap="none" lIns="0" tIns="0" rIns="0" bIns="0" anchor="t" anchorCtr="0">
              <a:spAutoFit/>
            </a:bodyPr>
            <a:lstStyle/>
            <a:p>
              <a:pPr algn="ctr"/>
              <a:r>
                <a:rPr lang="zh-CN" sz="1350" b="1" dirty="0">
                  <a:solidFill>
                    <a:srgbClr val="F5F5F7"/>
                  </a:solidFill>
                  <a:latin typeface="Arial"/>
                  <a:ea typeface="Microsoft YaHei"/>
                  <a:cs typeface="Arial"/>
                </a:rPr>
                <a:t>&gt;95%</a:t>
              </a:r>
            </a:p>
          </p:txBody>
        </p:sp>
        <p:sp>
          <p:nvSpPr>
            <p:cNvPr id="29" name="TextBox 29"/>
            <p:cNvSpPr txBox="1"/>
            <p:nvPr/>
          </p:nvSpPr>
          <p:spPr>
            <a:xfrm>
              <a:off x="8548390" y="3840956"/>
              <a:ext cx="1191220" cy="228600"/>
            </a:xfrm>
            <a:prstGeom prst="rect">
              <a:avLst/>
            </a:prstGeom>
            <a:noFill/>
            <a:ln>
              <a:noFill/>
            </a:ln>
          </p:spPr>
          <p:txBody>
            <a:bodyPr wrap="none" lIns="0" tIns="0" rIns="0" bIns="0" anchor="t" anchorCtr="0">
              <a:spAutoFit/>
            </a:bodyPr>
            <a:lstStyle/>
            <a:p>
              <a:pPr algn="ctr"/>
              <a:r>
                <a:rPr lang="zh-CN" sz="1125" dirty="0">
                  <a:solidFill>
                    <a:srgbClr val="A1A1A6"/>
                  </a:solidFill>
                  <a:latin typeface="Arial"/>
                  <a:ea typeface="Microsoft YaHei"/>
                  <a:cs typeface="Arial"/>
                </a:rPr>
                <a:t>recycled lithium</a:t>
              </a:r>
            </a:p>
          </p:txBody>
        </p:sp>
        <p:sp>
          <p:nvSpPr>
            <p:cNvPr id="30" name="TextBox 30"/>
            <p:cNvSpPr txBox="1"/>
            <p:nvPr/>
          </p:nvSpPr>
          <p:spPr>
            <a:xfrm>
              <a:off x="8608397" y="4050506"/>
              <a:ext cx="1071205" cy="228600"/>
            </a:xfrm>
            <a:prstGeom prst="rect">
              <a:avLst/>
            </a:prstGeom>
            <a:noFill/>
            <a:ln>
              <a:noFill/>
            </a:ln>
          </p:spPr>
          <p:txBody>
            <a:bodyPr wrap="none" lIns="0" tIns="0" rIns="0" bIns="0" anchor="t" anchorCtr="0">
              <a:spAutoFit/>
            </a:bodyPr>
            <a:lstStyle/>
            <a:p>
              <a:pPr algn="ctr"/>
              <a:r>
                <a:rPr lang="zh-CN" sz="1125" dirty="0">
                  <a:solidFill>
                    <a:srgbClr val="A1A1A6"/>
                  </a:solidFill>
                  <a:latin typeface="Arial"/>
                  <a:ea typeface="Microsoft YaHei"/>
                  <a:cs typeface="Arial"/>
                </a:rPr>
                <a:t>in the battery</a:t>
              </a:r>
            </a:p>
          </p:txBody>
        </p:sp>
        <p:sp>
          <p:nvSpPr>
            <p:cNvPr id="31" name="Ellipse 31"/>
            <p:cNvSpPr/>
            <p:nvPr/>
          </p:nvSpPr>
          <p:spPr>
            <a:xfrm>
              <a:off x="10648950" y="3448050"/>
              <a:ext cx="228600" cy="228600"/>
            </a:xfrm>
            <a:prstGeom prst="ellipse">
              <a:avLst/>
            </a:prstGeom>
            <a:solidFill>
              <a:srgbClr val="30D158"/>
            </a:solidFill>
            <a:ln>
              <a:noFill/>
            </a:ln>
          </p:spPr>
        </p:sp>
        <p:sp>
          <p:nvSpPr>
            <p:cNvPr id="32" name="TextBox 32"/>
            <p:cNvSpPr txBox="1"/>
            <p:nvPr/>
          </p:nvSpPr>
          <p:spPr>
            <a:xfrm>
              <a:off x="10509825" y="3035618"/>
              <a:ext cx="506849" cy="274320"/>
            </a:xfrm>
            <a:prstGeom prst="rect">
              <a:avLst/>
            </a:prstGeom>
            <a:noFill/>
            <a:ln>
              <a:noFill/>
            </a:ln>
          </p:spPr>
          <p:txBody>
            <a:bodyPr wrap="none" lIns="0" tIns="0" rIns="0" bIns="0" anchor="t" anchorCtr="0">
              <a:spAutoFit/>
            </a:bodyPr>
            <a:lstStyle/>
            <a:p>
              <a:pPr algn="ctr"/>
              <a:r>
                <a:rPr lang="zh-CN" sz="1350" b="1" dirty="0">
                  <a:solidFill>
                    <a:srgbClr val="F5F5F7"/>
                  </a:solidFill>
                  <a:latin typeface="Arial"/>
                  <a:ea typeface="Microsoft YaHei"/>
                  <a:cs typeface="Arial"/>
                </a:rPr>
                <a:t>fiber</a:t>
              </a:r>
            </a:p>
          </p:txBody>
        </p:sp>
        <p:sp>
          <p:nvSpPr>
            <p:cNvPr id="33" name="TextBox 33"/>
            <p:cNvSpPr txBox="1"/>
            <p:nvPr/>
          </p:nvSpPr>
          <p:spPr>
            <a:xfrm>
              <a:off x="10167640" y="3840956"/>
              <a:ext cx="1191220" cy="228600"/>
            </a:xfrm>
            <a:prstGeom prst="rect">
              <a:avLst/>
            </a:prstGeom>
            <a:noFill/>
            <a:ln>
              <a:noFill/>
            </a:ln>
          </p:spPr>
          <p:txBody>
            <a:bodyPr wrap="none" lIns="0" tIns="0" rIns="0" bIns="0" anchor="t" anchorCtr="0">
              <a:spAutoFit/>
            </a:bodyPr>
            <a:lstStyle/>
            <a:p>
              <a:pPr algn="ctr"/>
              <a:r>
                <a:rPr lang="zh-CN" sz="1125" dirty="0">
                  <a:solidFill>
                    <a:srgbClr val="A1A1A6"/>
                  </a:solidFill>
                  <a:latin typeface="Arial"/>
                  <a:ea typeface="Microsoft YaHei"/>
                  <a:cs typeface="Arial"/>
                </a:rPr>
                <a:t>based packaging</a:t>
              </a:r>
            </a:p>
          </p:txBody>
        </p:sp>
      </p:grpSp>
      <p:grpSp>
        <p:nvGrpSpPr>
          <p:cNvPr id="39" name="Group 39"/>
          <p:cNvGrpSpPr/>
          <p:nvPr/>
        </p:nvGrpSpPr>
        <p:grpSpPr>
          <a:xfrm>
            <a:off x="4476750" y="4857750"/>
            <a:ext cx="6543818" cy="966788"/>
            <a:chOff x="4476750" y="4857750"/>
            <a:chExt cx="6543818" cy="966788"/>
          </a:xfrm>
        </p:grpSpPr>
        <p:sp>
          <p:nvSpPr>
            <p:cNvPr id="35" name="Rectangle 35"/>
            <p:cNvSpPr/>
            <p:nvPr/>
          </p:nvSpPr>
          <p:spPr>
            <a:xfrm>
              <a:off x="4476750" y="4857750"/>
              <a:ext cx="6286500" cy="781050"/>
            </a:xfrm>
            <a:prstGeom prst="roundRect">
              <a:avLst>
                <a:gd name="adj" fmla="val 26829"/>
              </a:avLst>
            </a:prstGeom>
            <a:solidFill>
              <a:srgbClr val="121214"/>
            </a:solidFill>
            <a:ln w="19050">
              <a:solidFill>
                <a:srgbClr val="3A3A3C"/>
              </a:solidFill>
            </a:ln>
          </p:spPr>
        </p:sp>
        <p:sp>
          <p:nvSpPr>
            <p:cNvPr id="36" name="TextBox 36"/>
            <p:cNvSpPr txBox="1"/>
            <p:nvPr/>
          </p:nvSpPr>
          <p:spPr>
            <a:xfrm>
              <a:off x="4805362" y="5079206"/>
              <a:ext cx="1540764" cy="228600"/>
            </a:xfrm>
            <a:prstGeom prst="rect">
              <a:avLst/>
            </a:prstGeom>
            <a:noFill/>
            <a:ln>
              <a:noFill/>
            </a:ln>
          </p:spPr>
          <p:txBody>
            <a:bodyPr wrap="none" lIns="0" tIns="0" rIns="0" bIns="0" anchor="t" anchorCtr="0">
              <a:spAutoFit/>
            </a:bodyPr>
            <a:lstStyle/>
            <a:p>
              <a:pPr algn="l"/>
              <a:r>
                <a:rPr lang="zh-CN" sz="1125" b="1" dirty="0">
                  <a:solidFill>
                    <a:srgbClr val="D8C6A3"/>
                  </a:solidFill>
                  <a:latin typeface="Arial"/>
                  <a:ea typeface="Microsoft YaHei"/>
                  <a:cs typeface="Arial"/>
                </a:rPr>
                <a:t>APPLE 2030 CONTEXT</a:t>
              </a:r>
            </a:p>
          </p:txBody>
        </p:sp>
        <p:sp>
          <p:nvSpPr>
            <p:cNvPr id="37" name="TextBox 37"/>
            <p:cNvSpPr txBox="1"/>
            <p:nvPr/>
          </p:nvSpPr>
          <p:spPr>
            <a:xfrm>
              <a:off x="4802505" y="5283518"/>
              <a:ext cx="6218063" cy="274320"/>
            </a:xfrm>
            <a:prstGeom prst="rect">
              <a:avLst/>
            </a:prstGeom>
            <a:noFill/>
            <a:ln>
              <a:noFill/>
            </a:ln>
          </p:spPr>
          <p:txBody>
            <a:bodyPr wrap="none" lIns="0" tIns="0" rIns="0" bIns="0" anchor="t" anchorCtr="0">
              <a:spAutoFit/>
            </a:bodyPr>
            <a:lstStyle/>
            <a:p>
              <a:pPr algn="l"/>
              <a:r>
                <a:rPr lang="zh-CN" sz="1350" dirty="0">
                  <a:solidFill>
                    <a:srgbClr val="F5F5F7"/>
                  </a:solidFill>
                  <a:latin typeface="Arial"/>
                  <a:ea typeface="Microsoft YaHei"/>
                  <a:cs typeface="Arial"/>
                </a:rPr>
                <a:t>All Apple facilities, including data centers powering Apple Intelligence,</a:t>
              </a:r>
            </a:p>
          </p:txBody>
        </p:sp>
        <p:sp>
          <p:nvSpPr>
            <p:cNvPr id="38" name="TextBox 38"/>
            <p:cNvSpPr txBox="1"/>
            <p:nvPr/>
          </p:nvSpPr>
          <p:spPr>
            <a:xfrm>
              <a:off x="4802505" y="5550218"/>
              <a:ext cx="3112675" cy="274320"/>
            </a:xfrm>
            <a:prstGeom prst="rect">
              <a:avLst/>
            </a:prstGeom>
            <a:noFill/>
            <a:ln>
              <a:noFill/>
            </a:ln>
          </p:spPr>
          <p:txBody>
            <a:bodyPr wrap="none" lIns="0" tIns="0" rIns="0" bIns="0" anchor="t" anchorCtr="0">
              <a:spAutoFit/>
            </a:bodyPr>
            <a:lstStyle/>
            <a:p>
              <a:pPr algn="l"/>
              <a:r>
                <a:rPr lang="zh-CN" sz="1350" dirty="0">
                  <a:solidFill>
                    <a:srgbClr val="F5F5F7"/>
                  </a:solidFill>
                  <a:latin typeface="Arial"/>
                  <a:ea typeface="Microsoft YaHei"/>
                  <a:cs typeface="Arial"/>
                </a:rPr>
                <a:t>run on 100% renewable electricity.</a:t>
              </a:r>
            </a:p>
          </p:txBody>
        </p:sp>
      </p:grpSp>
      <p:sp>
        <p:nvSpPr>
          <p:cNvPr id="40" name="TextBox 40"/>
          <p:cNvSpPr txBox="1"/>
          <p:nvPr/>
        </p:nvSpPr>
        <p:spPr>
          <a:xfrm>
            <a:off x="616268" y="6276499"/>
            <a:ext cx="3444192" cy="198120"/>
          </a:xfrm>
          <a:prstGeom prst="rect">
            <a:avLst/>
          </a:prstGeom>
          <a:noFill/>
          <a:ln>
            <a:noFill/>
          </a:ln>
        </p:spPr>
        <p:txBody>
          <a:bodyPr wrap="none" lIns="0" tIns="0" rIns="0" bIns="0" anchor="t" anchorCtr="0">
            <a:spAutoFit/>
          </a:bodyPr>
          <a:lstStyle/>
          <a:p>
            <a:pPr algn="l"/>
            <a:r>
              <a:rPr lang="zh-CN" sz="975" dirty="0">
                <a:solidFill>
                  <a:srgbClr val="A1A1A6"/>
                </a:solidFill>
                <a:latin typeface="Arial"/>
                <a:ea typeface="Microsoft YaHei"/>
                <a:cs typeface="Arial"/>
              </a:rPr>
              <a:t>Source: Apple press release PDF, environment section</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ox(in)">
                                      <p:cBhvr>
                                        <p:cTn id="7" dur="400"/>
                                        <p:tgtEl>
                                          <p:spTgt spid="10"/>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fade">
                                      <p:cBhvr>
                                        <p:cTn id="11" dur="400"/>
                                        <p:tgtEl>
                                          <p:spTgt spid="17"/>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34"/>
                                        </p:tgtEl>
                                        <p:attrNameLst>
                                          <p:attrName>style.visibility</p:attrName>
                                        </p:attrNameLst>
                                      </p:cBhvr>
                                      <p:to>
                                        <p:strVal val="visible"/>
                                      </p:to>
                                    </p:set>
                                    <p:animEffect transition="in" filter="wipe(left)">
                                      <p:cBhvr>
                                        <p:cTn id="15" dur="400"/>
                                        <p:tgtEl>
                                          <p:spTgt spid="34"/>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39"/>
                                        </p:tgtEl>
                                        <p:attrNameLst>
                                          <p:attrName>style.visibility</p:attrName>
                                        </p:attrNameLst>
                                      </p:cBhvr>
                                      <p:to>
                                        <p:strVal val="visible"/>
                                      </p:to>
                                    </p:set>
                                    <p:animEffect transition="in" filter="slide(fromBottom)">
                                      <p:cBhvr>
                                        <p:cTn id="19" dur="4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7" grpId="0"/>
      <p:bldP spid="34" grpId="0"/>
      <p:bldP spid="3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50506"/>
          </a:solidFill>
          <a:ln>
            <a:noFill/>
          </a:ln>
        </p:spPr>
      </p:sp>
      <p:pic>
        <p:nvPicPr>
          <p:cNvPr id="3" name="Image 3"/>
          <p:cNvPicPr>
            <a:picLocks noChangeAspect="1"/>
          </p:cNvPicPr>
          <p:nvPr/>
        </p:nvPicPr>
        <p:blipFill>
          <a:blip r:embed="rId2"/>
          <a:stretch>
            <a:fillRect/>
          </a:stretch>
        </p:blipFill>
        <p:spPr>
          <a:xfrm>
            <a:off x="6800850" y="781050"/>
            <a:ext cx="3733800" cy="5219700"/>
          </a:xfrm>
          <a:prstGeom prst="rect">
            <a:avLst/>
          </a:prstGeom>
        </p:spPr>
      </p:pic>
      <p:sp>
        <p:nvSpPr>
          <p:cNvPr id="4" name="Rectangle 4"/>
          <p:cNvSpPr/>
          <p:nvPr/>
        </p:nvSpPr>
        <p:spPr>
          <a:xfrm>
            <a:off x="0" y="0"/>
            <a:ext cx="12192000" cy="6858000"/>
          </a:xfrm>
          <a:prstGeom prst="rect">
            <a:avLst/>
          </a:prstGeom>
          <a:gradFill>
            <a:gsLst>
              <a:gs pos="0">
                <a:srgbClr val="050506"/>
              </a:gs>
              <a:gs pos="62000">
                <a:srgbClr val="050506">
                  <a:alpha val="80000"/>
                </a:srgbClr>
              </a:gs>
              <a:gs pos="100000">
                <a:srgbClr val="050506">
                  <a:alpha val="12000"/>
                </a:srgbClr>
              </a:gs>
            </a:gsLst>
            <a:lin ang="0" scaled="1"/>
          </a:gradFill>
          <a:ln>
            <a:noFill/>
          </a:ln>
        </p:spPr>
      </p:sp>
      <p:grpSp>
        <p:nvGrpSpPr>
          <p:cNvPr id="7" name="Group 7"/>
          <p:cNvGrpSpPr/>
          <p:nvPr/>
        </p:nvGrpSpPr>
        <p:grpSpPr>
          <a:xfrm>
            <a:off x="615315" y="515302"/>
            <a:ext cx="11243572" cy="213360"/>
            <a:chOff x="615315" y="515302"/>
            <a:chExt cx="11243572" cy="213360"/>
          </a:xfrm>
        </p:grpSpPr>
        <p:sp>
          <p:nvSpPr>
            <p:cNvPr id="5" name="TextBox 5"/>
            <p:cNvSpPr txBox="1"/>
            <p:nvPr/>
          </p:nvSpPr>
          <p:spPr>
            <a:xfrm>
              <a:off x="615315" y="515302"/>
              <a:ext cx="1533608" cy="213360"/>
            </a:xfrm>
            <a:prstGeom prst="rect">
              <a:avLst/>
            </a:prstGeom>
            <a:noFill/>
            <a:ln>
              <a:noFill/>
            </a:ln>
          </p:spPr>
          <p:txBody>
            <a:bodyPr wrap="none" lIns="0" tIns="0" rIns="0" bIns="0" anchor="t" anchorCtr="0">
              <a:spAutoFit/>
            </a:bodyPr>
            <a:lstStyle/>
            <a:p>
              <a:pPr algn="l"/>
              <a:r>
                <a:rPr lang="zh-CN" sz="1050" b="1" dirty="0">
                  <a:solidFill>
                    <a:srgbClr val="A1A1A6"/>
                  </a:solidFill>
                  <a:latin typeface="Arial"/>
                  <a:ea typeface="Microsoft YaHei"/>
                  <a:cs typeface="Arial"/>
                </a:rPr>
                <a:t>LAUNCH READINESS CTA</a:t>
              </a:r>
            </a:p>
          </p:txBody>
        </p:sp>
        <p:sp>
          <p:nvSpPr>
            <p:cNvPr id="6" name="TextBox 6"/>
            <p:cNvSpPr txBox="1"/>
            <p:nvPr/>
          </p:nvSpPr>
          <p:spPr>
            <a:xfrm>
              <a:off x="11398568" y="523399"/>
              <a:ext cx="460319" cy="198120"/>
            </a:xfrm>
            <a:prstGeom prst="rect">
              <a:avLst/>
            </a:prstGeom>
            <a:noFill/>
            <a:ln>
              <a:noFill/>
            </a:ln>
          </p:spPr>
          <p:txBody>
            <a:bodyPr wrap="none" lIns="0" tIns="0" rIns="0" bIns="0" anchor="t" anchorCtr="0">
              <a:spAutoFit/>
            </a:bodyPr>
            <a:lstStyle/>
            <a:p>
              <a:pPr algn="l"/>
              <a:r>
                <a:rPr lang="zh-CN" sz="975" dirty="0">
                  <a:solidFill>
                    <a:srgbClr val="A1A1A6"/>
                  </a:solidFill>
                  <a:latin typeface="Consolas"/>
                  <a:ea typeface="Microsoft YaHei"/>
                  <a:cs typeface="Consolas"/>
                </a:rPr>
                <a:t>09 / 09</a:t>
              </a:r>
            </a:p>
          </p:txBody>
        </p:sp>
      </p:grpSp>
      <p:grpSp>
        <p:nvGrpSpPr>
          <p:cNvPr id="12" name="Group 12"/>
          <p:cNvGrpSpPr/>
          <p:nvPr/>
        </p:nvGrpSpPr>
        <p:grpSpPr>
          <a:xfrm>
            <a:off x="577215" y="1182052"/>
            <a:ext cx="8458081" cy="1996917"/>
            <a:chOff x="577215" y="1182052"/>
            <a:chExt cx="8458081" cy="1996917"/>
          </a:xfrm>
        </p:grpSpPr>
        <p:sp>
          <p:nvSpPr>
            <p:cNvPr id="8" name="TextBox 8"/>
            <p:cNvSpPr txBox="1"/>
            <p:nvPr/>
          </p:nvSpPr>
          <p:spPr>
            <a:xfrm>
              <a:off x="577215" y="1182052"/>
              <a:ext cx="6397357" cy="822960"/>
            </a:xfrm>
            <a:prstGeom prst="rect">
              <a:avLst/>
            </a:prstGeom>
            <a:noFill/>
            <a:ln>
              <a:noFill/>
            </a:ln>
          </p:spPr>
          <p:txBody>
            <a:bodyPr wrap="none" lIns="0" tIns="0" rIns="0" bIns="0" anchor="t" anchorCtr="0">
              <a:spAutoFit/>
            </a:bodyPr>
            <a:lstStyle/>
            <a:p>
              <a:pPr algn="l"/>
              <a:r>
                <a:rPr lang="zh-CN" sz="4050" b="1" dirty="0">
                  <a:solidFill>
                    <a:srgbClr val="F5F5F7"/>
                  </a:solidFill>
                  <a:latin typeface="Arial"/>
                  <a:ea typeface="Microsoft YaHei"/>
                  <a:cs typeface="Arial"/>
                </a:rPr>
                <a:t>Lead with intelligence,</a:t>
              </a:r>
            </a:p>
          </p:txBody>
        </p:sp>
        <p:sp>
          <p:nvSpPr>
            <p:cNvPr id="9" name="TextBox 9"/>
            <p:cNvSpPr txBox="1"/>
            <p:nvPr/>
          </p:nvSpPr>
          <p:spPr>
            <a:xfrm>
              <a:off x="577215" y="1753552"/>
              <a:ext cx="6822660" cy="822960"/>
            </a:xfrm>
            <a:prstGeom prst="rect">
              <a:avLst/>
            </a:prstGeom>
            <a:noFill/>
            <a:ln>
              <a:noFill/>
            </a:ln>
          </p:spPr>
          <p:txBody>
            <a:bodyPr wrap="none" lIns="0" tIns="0" rIns="0" bIns="0" anchor="t" anchorCtr="0">
              <a:spAutoFit/>
            </a:bodyPr>
            <a:lstStyle/>
            <a:p>
              <a:pPr algn="l"/>
              <a:r>
                <a:rPr lang="zh-CN" sz="4050" b="1" dirty="0">
                  <a:solidFill>
                    <a:srgbClr val="F5F5F7"/>
                  </a:solidFill>
                  <a:latin typeface="Arial"/>
                  <a:ea typeface="Microsoft YaHei"/>
                  <a:cs typeface="Arial"/>
                </a:rPr>
                <a:t>camera, and Pro design.</a:t>
              </a:r>
            </a:p>
          </p:txBody>
        </p:sp>
        <p:sp>
          <p:nvSpPr>
            <p:cNvPr id="10" name="TextBox 10"/>
            <p:cNvSpPr txBox="1"/>
            <p:nvPr/>
          </p:nvSpPr>
          <p:spPr>
            <a:xfrm>
              <a:off x="646748" y="2554129"/>
              <a:ext cx="8388548" cy="320040"/>
            </a:xfrm>
            <a:prstGeom prst="rect">
              <a:avLst/>
            </a:prstGeom>
            <a:noFill/>
            <a:ln>
              <a:noFill/>
            </a:ln>
          </p:spPr>
          <p:txBody>
            <a:bodyPr wrap="none" lIns="0" tIns="0" rIns="0" bIns="0" anchor="t" anchorCtr="0">
              <a:spAutoFit/>
            </a:bodyPr>
            <a:lstStyle/>
            <a:p>
              <a:pPr algn="l"/>
              <a:r>
                <a:rPr lang="zh-CN" sz="1575" dirty="0">
                  <a:solidFill>
                    <a:srgbClr val="A1A1A6"/>
                  </a:solidFill>
                  <a:latin typeface="Arial"/>
                  <a:ea typeface="Microsoft YaHei"/>
                  <a:cs typeface="Arial"/>
                </a:rPr>
                <a:t>For launch teams, the clean pitch is source-backed: Apple Intelligence readiness,</a:t>
              </a:r>
            </a:p>
          </p:txBody>
        </p:sp>
        <p:sp>
          <p:nvSpPr>
            <p:cNvPr id="11" name="TextBox 11"/>
            <p:cNvSpPr txBox="1"/>
            <p:nvPr/>
          </p:nvSpPr>
          <p:spPr>
            <a:xfrm>
              <a:off x="646748" y="2858929"/>
              <a:ext cx="6666333" cy="320040"/>
            </a:xfrm>
            <a:prstGeom prst="rect">
              <a:avLst/>
            </a:prstGeom>
            <a:noFill/>
            <a:ln>
              <a:noFill/>
            </a:ln>
          </p:spPr>
          <p:txBody>
            <a:bodyPr wrap="none" lIns="0" tIns="0" rIns="0" bIns="0" anchor="t" anchorCtr="0">
              <a:spAutoFit/>
            </a:bodyPr>
            <a:lstStyle/>
            <a:p>
              <a:pPr algn="l"/>
              <a:r>
                <a:rPr lang="zh-CN" sz="1575" dirty="0">
                  <a:solidFill>
                    <a:srgbClr val="A1A1A6"/>
                  </a:solidFill>
                  <a:latin typeface="Arial"/>
                  <a:ea typeface="Microsoft YaHei"/>
                  <a:cs typeface="Arial"/>
                </a:rPr>
                <a:t>A18 Pro, Camera Control, larger displays, and pro camera tools.</a:t>
              </a:r>
            </a:p>
          </p:txBody>
        </p:sp>
      </p:grpSp>
      <p:grpSp>
        <p:nvGrpSpPr>
          <p:cNvPr id="21" name="Group 21"/>
          <p:cNvGrpSpPr/>
          <p:nvPr/>
        </p:nvGrpSpPr>
        <p:grpSpPr>
          <a:xfrm>
            <a:off x="666750" y="3371850"/>
            <a:ext cx="5486400" cy="1238250"/>
            <a:chOff x="666750" y="3371850"/>
            <a:chExt cx="5486400" cy="1238250"/>
          </a:xfrm>
        </p:grpSpPr>
        <p:sp>
          <p:nvSpPr>
            <p:cNvPr id="13" name="Rectangle 13"/>
            <p:cNvSpPr/>
            <p:nvPr/>
          </p:nvSpPr>
          <p:spPr>
            <a:xfrm>
              <a:off x="666750" y="3371850"/>
              <a:ext cx="2381250" cy="1238250"/>
            </a:xfrm>
            <a:prstGeom prst="roundRect">
              <a:avLst>
                <a:gd name="adj" fmla="val 16923"/>
              </a:avLst>
            </a:prstGeom>
            <a:solidFill>
              <a:srgbClr val="121214"/>
            </a:solidFill>
            <a:ln w="19050">
              <a:solidFill>
                <a:srgbClr val="2997FF"/>
              </a:solidFill>
            </a:ln>
          </p:spPr>
        </p:sp>
        <p:sp>
          <p:nvSpPr>
            <p:cNvPr id="14" name="TextBox 14"/>
            <p:cNvSpPr txBox="1"/>
            <p:nvPr/>
          </p:nvSpPr>
          <p:spPr>
            <a:xfrm>
              <a:off x="957262" y="3650456"/>
              <a:ext cx="1099709" cy="228600"/>
            </a:xfrm>
            <a:prstGeom prst="rect">
              <a:avLst/>
            </a:prstGeom>
            <a:noFill/>
            <a:ln>
              <a:noFill/>
            </a:ln>
          </p:spPr>
          <p:txBody>
            <a:bodyPr wrap="none" lIns="0" tIns="0" rIns="0" bIns="0" anchor="t" anchorCtr="0">
              <a:spAutoFit/>
            </a:bodyPr>
            <a:lstStyle/>
            <a:p>
              <a:pPr algn="l"/>
              <a:r>
                <a:rPr lang="zh-CN" sz="1125" b="1" dirty="0">
                  <a:solidFill>
                    <a:srgbClr val="A1A1A6"/>
                  </a:solidFill>
                  <a:latin typeface="Arial"/>
                  <a:ea typeface="Microsoft YaHei"/>
                  <a:cs typeface="Arial"/>
                </a:rPr>
                <a:t>IPHONE 16 PRO</a:t>
              </a:r>
            </a:p>
          </p:txBody>
        </p:sp>
        <p:sp>
          <p:nvSpPr>
            <p:cNvPr id="15" name="TextBox 15"/>
            <p:cNvSpPr txBox="1"/>
            <p:nvPr/>
          </p:nvSpPr>
          <p:spPr>
            <a:xfrm>
              <a:off x="939165" y="3934778"/>
              <a:ext cx="850268" cy="518160"/>
            </a:xfrm>
            <a:prstGeom prst="rect">
              <a:avLst/>
            </a:prstGeom>
            <a:noFill/>
            <a:ln>
              <a:noFill/>
            </a:ln>
          </p:spPr>
          <p:txBody>
            <a:bodyPr wrap="none" lIns="0" tIns="0" rIns="0" bIns="0" anchor="t" anchorCtr="0">
              <a:spAutoFit/>
            </a:bodyPr>
            <a:lstStyle/>
            <a:p>
              <a:pPr algn="l"/>
              <a:r>
                <a:rPr lang="zh-CN" sz="2550" b="1" dirty="0">
                  <a:solidFill>
                    <a:srgbClr val="F5F5F7"/>
                  </a:solidFill>
                  <a:latin typeface="Arial"/>
                  <a:ea typeface="Microsoft YaHei"/>
                  <a:cs typeface="Arial"/>
                </a:rPr>
                <a:t>$999</a:t>
              </a:r>
            </a:p>
          </p:txBody>
        </p:sp>
        <p:sp>
          <p:nvSpPr>
            <p:cNvPr id="16" name="TextBox 16"/>
            <p:cNvSpPr txBox="1"/>
            <p:nvPr/>
          </p:nvSpPr>
          <p:spPr>
            <a:xfrm>
              <a:off x="956310" y="4347210"/>
              <a:ext cx="1614678" cy="243840"/>
            </a:xfrm>
            <a:prstGeom prst="rect">
              <a:avLst/>
            </a:prstGeom>
            <a:noFill/>
            <a:ln>
              <a:noFill/>
            </a:ln>
          </p:spPr>
          <p:txBody>
            <a:bodyPr wrap="none" lIns="0" tIns="0" rIns="0" bIns="0" anchor="t" anchorCtr="0">
              <a:spAutoFit/>
            </a:bodyPr>
            <a:lstStyle/>
            <a:p>
              <a:pPr algn="l"/>
              <a:r>
                <a:rPr lang="zh-CN" sz="1200" dirty="0">
                  <a:solidFill>
                    <a:srgbClr val="A1A1A6"/>
                  </a:solidFill>
                  <a:latin typeface="Arial"/>
                  <a:ea typeface="Microsoft YaHei"/>
                  <a:cs typeface="Arial"/>
                </a:rPr>
                <a:t>or $41.62 per month</a:t>
              </a:r>
            </a:p>
          </p:txBody>
        </p:sp>
        <p:sp>
          <p:nvSpPr>
            <p:cNvPr id="17" name="Rectangle 17"/>
            <p:cNvSpPr/>
            <p:nvPr/>
          </p:nvSpPr>
          <p:spPr>
            <a:xfrm>
              <a:off x="3295650" y="3371850"/>
              <a:ext cx="2857500" cy="1238250"/>
            </a:xfrm>
            <a:prstGeom prst="roundRect">
              <a:avLst>
                <a:gd name="adj" fmla="val 16923"/>
              </a:avLst>
            </a:prstGeom>
            <a:solidFill>
              <a:srgbClr val="121214"/>
            </a:solidFill>
            <a:ln w="19050">
              <a:solidFill>
                <a:srgbClr val="D8C6A3"/>
              </a:solidFill>
            </a:ln>
          </p:spPr>
        </p:sp>
        <p:sp>
          <p:nvSpPr>
            <p:cNvPr id="18" name="TextBox 18"/>
            <p:cNvSpPr txBox="1"/>
            <p:nvPr/>
          </p:nvSpPr>
          <p:spPr>
            <a:xfrm>
              <a:off x="3586162" y="3650456"/>
              <a:ext cx="1438376" cy="228600"/>
            </a:xfrm>
            <a:prstGeom prst="rect">
              <a:avLst/>
            </a:prstGeom>
            <a:noFill/>
            <a:ln>
              <a:noFill/>
            </a:ln>
          </p:spPr>
          <p:txBody>
            <a:bodyPr wrap="none" lIns="0" tIns="0" rIns="0" bIns="0" anchor="t" anchorCtr="0">
              <a:spAutoFit/>
            </a:bodyPr>
            <a:lstStyle/>
            <a:p>
              <a:pPr algn="l"/>
              <a:r>
                <a:rPr lang="zh-CN" sz="1125" b="1" dirty="0">
                  <a:solidFill>
                    <a:srgbClr val="A1A1A6"/>
                  </a:solidFill>
                  <a:latin typeface="Arial"/>
                  <a:ea typeface="Microsoft YaHei"/>
                  <a:cs typeface="Arial"/>
                </a:rPr>
                <a:t>IPHONE 16 PRO MAX</a:t>
              </a:r>
            </a:p>
          </p:txBody>
        </p:sp>
        <p:sp>
          <p:nvSpPr>
            <p:cNvPr id="19" name="TextBox 19"/>
            <p:cNvSpPr txBox="1"/>
            <p:nvPr/>
          </p:nvSpPr>
          <p:spPr>
            <a:xfrm>
              <a:off x="3568065" y="3934778"/>
              <a:ext cx="1243017" cy="518160"/>
            </a:xfrm>
            <a:prstGeom prst="rect">
              <a:avLst/>
            </a:prstGeom>
            <a:noFill/>
            <a:ln>
              <a:noFill/>
            </a:ln>
          </p:spPr>
          <p:txBody>
            <a:bodyPr wrap="none" lIns="0" tIns="0" rIns="0" bIns="0" anchor="t" anchorCtr="0">
              <a:spAutoFit/>
            </a:bodyPr>
            <a:lstStyle/>
            <a:p>
              <a:pPr algn="l"/>
              <a:r>
                <a:rPr lang="zh-CN" sz="2550" b="1" dirty="0">
                  <a:solidFill>
                    <a:srgbClr val="F5F5F7"/>
                  </a:solidFill>
                  <a:latin typeface="Arial"/>
                  <a:ea typeface="Microsoft YaHei"/>
                  <a:cs typeface="Arial"/>
                </a:rPr>
                <a:t>$1,199</a:t>
              </a:r>
            </a:p>
          </p:txBody>
        </p:sp>
        <p:sp>
          <p:nvSpPr>
            <p:cNvPr id="20" name="TextBox 20"/>
            <p:cNvSpPr txBox="1"/>
            <p:nvPr/>
          </p:nvSpPr>
          <p:spPr>
            <a:xfrm>
              <a:off x="3585210" y="4347210"/>
              <a:ext cx="1614678" cy="243840"/>
            </a:xfrm>
            <a:prstGeom prst="rect">
              <a:avLst/>
            </a:prstGeom>
            <a:noFill/>
            <a:ln>
              <a:noFill/>
            </a:ln>
          </p:spPr>
          <p:txBody>
            <a:bodyPr wrap="none" lIns="0" tIns="0" rIns="0" bIns="0" anchor="t" anchorCtr="0">
              <a:spAutoFit/>
            </a:bodyPr>
            <a:lstStyle/>
            <a:p>
              <a:pPr algn="l"/>
              <a:r>
                <a:rPr lang="zh-CN" sz="1200" dirty="0">
                  <a:solidFill>
                    <a:srgbClr val="A1A1A6"/>
                  </a:solidFill>
                  <a:latin typeface="Arial"/>
                  <a:ea typeface="Microsoft YaHei"/>
                  <a:cs typeface="Arial"/>
                </a:rPr>
                <a:t>or $49.95 per month</a:t>
              </a:r>
            </a:p>
          </p:txBody>
        </p:sp>
      </p:grpSp>
      <p:grpSp>
        <p:nvGrpSpPr>
          <p:cNvPr id="25" name="Group 25"/>
          <p:cNvGrpSpPr/>
          <p:nvPr/>
        </p:nvGrpSpPr>
        <p:grpSpPr>
          <a:xfrm>
            <a:off x="666750" y="4972050"/>
            <a:ext cx="5486400" cy="819150"/>
            <a:chOff x="666750" y="4972050"/>
            <a:chExt cx="5486400" cy="819150"/>
          </a:xfrm>
        </p:grpSpPr>
        <p:sp>
          <p:nvSpPr>
            <p:cNvPr id="22" name="Rectangle 22"/>
            <p:cNvSpPr/>
            <p:nvPr/>
          </p:nvSpPr>
          <p:spPr>
            <a:xfrm>
              <a:off x="666750" y="4972050"/>
              <a:ext cx="5486400" cy="819150"/>
            </a:xfrm>
            <a:prstGeom prst="roundRect">
              <a:avLst>
                <a:gd name="adj" fmla="val 25581"/>
              </a:avLst>
            </a:prstGeom>
            <a:solidFill>
              <a:srgbClr val="1E1E22"/>
            </a:solidFill>
            <a:ln w="19050">
              <a:solidFill>
                <a:srgbClr val="3A3A3C"/>
              </a:solidFill>
            </a:ln>
          </p:spPr>
        </p:sp>
        <p:sp>
          <p:nvSpPr>
            <p:cNvPr id="23" name="TextBox 23"/>
            <p:cNvSpPr txBox="1"/>
            <p:nvPr/>
          </p:nvSpPr>
          <p:spPr>
            <a:xfrm>
              <a:off x="976312" y="5193506"/>
              <a:ext cx="1170593" cy="228600"/>
            </a:xfrm>
            <a:prstGeom prst="rect">
              <a:avLst/>
            </a:prstGeom>
            <a:noFill/>
            <a:ln>
              <a:noFill/>
            </a:ln>
          </p:spPr>
          <p:txBody>
            <a:bodyPr wrap="none" lIns="0" tIns="0" rIns="0" bIns="0" anchor="t" anchorCtr="0">
              <a:spAutoFit/>
            </a:bodyPr>
            <a:lstStyle/>
            <a:p>
              <a:pPr algn="l"/>
              <a:r>
                <a:rPr lang="zh-CN" sz="1125" b="1" dirty="0">
                  <a:solidFill>
                    <a:srgbClr val="30D158"/>
                  </a:solidFill>
                  <a:latin typeface="Arial"/>
                  <a:ea typeface="Microsoft YaHei"/>
                  <a:cs typeface="Arial"/>
                </a:rPr>
                <a:t>LAUNCH WINDOW</a:t>
              </a:r>
            </a:p>
          </p:txBody>
        </p:sp>
        <p:sp>
          <p:nvSpPr>
            <p:cNvPr id="24" name="TextBox 24"/>
            <p:cNvSpPr txBox="1"/>
            <p:nvPr/>
          </p:nvSpPr>
          <p:spPr>
            <a:xfrm>
              <a:off x="971550" y="5476875"/>
              <a:ext cx="5118735" cy="304800"/>
            </a:xfrm>
            <a:prstGeom prst="rect">
              <a:avLst/>
            </a:prstGeom>
            <a:noFill/>
            <a:ln>
              <a:noFill/>
            </a:ln>
          </p:spPr>
          <p:txBody>
            <a:bodyPr wrap="none" lIns="0" tIns="0" rIns="0" bIns="0" anchor="t" anchorCtr="0">
              <a:spAutoFit/>
            </a:bodyPr>
            <a:lstStyle/>
            <a:p>
              <a:pPr algn="l"/>
              <a:r>
                <a:rPr lang="zh-CN" sz="1500" dirty="0">
                  <a:solidFill>
                    <a:srgbClr val="F5F5F7"/>
                  </a:solidFill>
                  <a:latin typeface="Arial"/>
                  <a:ea typeface="Microsoft YaHei"/>
                  <a:cs typeface="Arial"/>
                </a:rPr>
                <a:t>Pre-order September 13; availability September 20.</a:t>
              </a:r>
            </a:p>
          </p:txBody>
        </p:sp>
      </p:grpSp>
      <p:grpSp>
        <p:nvGrpSpPr>
          <p:cNvPr id="30" name="Group 30"/>
          <p:cNvGrpSpPr/>
          <p:nvPr/>
        </p:nvGrpSpPr>
        <p:grpSpPr>
          <a:xfrm>
            <a:off x="6705600" y="4819650"/>
            <a:ext cx="5662660" cy="1088231"/>
            <a:chOff x="6705600" y="4819650"/>
            <a:chExt cx="5662660" cy="1088231"/>
          </a:xfrm>
        </p:grpSpPr>
        <p:sp>
          <p:nvSpPr>
            <p:cNvPr id="26" name="Rectangle 26"/>
            <p:cNvSpPr/>
            <p:nvPr/>
          </p:nvSpPr>
          <p:spPr>
            <a:xfrm>
              <a:off x="6705600" y="4819650"/>
              <a:ext cx="4114800" cy="1066800"/>
            </a:xfrm>
            <a:prstGeom prst="roundRect">
              <a:avLst>
                <a:gd name="adj" fmla="val 21429"/>
              </a:avLst>
            </a:prstGeom>
            <a:solidFill>
              <a:srgbClr val="121214"/>
            </a:solidFill>
            <a:ln w="19050">
              <a:solidFill>
                <a:srgbClr val="3A3A3C"/>
              </a:solidFill>
            </a:ln>
          </p:spPr>
        </p:sp>
        <p:sp>
          <p:nvSpPr>
            <p:cNvPr id="27" name="TextBox 27"/>
            <p:cNvSpPr txBox="1"/>
            <p:nvPr/>
          </p:nvSpPr>
          <p:spPr>
            <a:xfrm>
              <a:off x="7033260" y="5090160"/>
              <a:ext cx="1534268" cy="243840"/>
            </a:xfrm>
            <a:prstGeom prst="rect">
              <a:avLst/>
            </a:prstGeom>
            <a:noFill/>
            <a:ln>
              <a:noFill/>
            </a:ln>
          </p:spPr>
          <p:txBody>
            <a:bodyPr wrap="none" lIns="0" tIns="0" rIns="0" bIns="0" anchor="t" anchorCtr="0">
              <a:spAutoFit/>
            </a:bodyPr>
            <a:lstStyle/>
            <a:p>
              <a:pPr algn="l"/>
              <a:r>
                <a:rPr lang="zh-CN" sz="1200" b="1" dirty="0">
                  <a:solidFill>
                    <a:srgbClr val="2997FF"/>
                  </a:solidFill>
                  <a:latin typeface="Arial"/>
                  <a:ea typeface="Microsoft YaHei"/>
                  <a:cs typeface="Arial"/>
                </a:rPr>
                <a:t>ENABLEMENT FOCUS</a:t>
              </a:r>
            </a:p>
          </p:txBody>
        </p:sp>
        <p:sp>
          <p:nvSpPr>
            <p:cNvPr id="28" name="TextBox 28"/>
            <p:cNvSpPr txBox="1"/>
            <p:nvPr/>
          </p:nvSpPr>
          <p:spPr>
            <a:xfrm>
              <a:off x="7030402" y="5351621"/>
              <a:ext cx="5337858" cy="289560"/>
            </a:xfrm>
            <a:prstGeom prst="rect">
              <a:avLst/>
            </a:prstGeom>
            <a:noFill/>
            <a:ln>
              <a:noFill/>
            </a:ln>
          </p:spPr>
          <p:txBody>
            <a:bodyPr wrap="none" lIns="0" tIns="0" rIns="0" bIns="0" anchor="t" anchorCtr="0">
              <a:spAutoFit/>
            </a:bodyPr>
            <a:lstStyle/>
            <a:p>
              <a:pPr algn="l"/>
              <a:r>
                <a:rPr lang="zh-CN" sz="1425" dirty="0">
                  <a:solidFill>
                    <a:srgbClr val="F5F5F7"/>
                  </a:solidFill>
                  <a:latin typeface="Arial"/>
                  <a:ea typeface="Microsoft YaHei"/>
                  <a:cs typeface="Arial"/>
                </a:rPr>
                <a:t>Anchor demos around Camera Control, 4K120 Dolby Vision,</a:t>
              </a:r>
            </a:p>
          </p:txBody>
        </p:sp>
        <p:sp>
          <p:nvSpPr>
            <p:cNvPr id="29" name="TextBox 29"/>
            <p:cNvSpPr txBox="1"/>
            <p:nvPr/>
          </p:nvSpPr>
          <p:spPr>
            <a:xfrm>
              <a:off x="7030402" y="5618321"/>
              <a:ext cx="4340233" cy="289560"/>
            </a:xfrm>
            <a:prstGeom prst="rect">
              <a:avLst/>
            </a:prstGeom>
            <a:noFill/>
            <a:ln>
              <a:noFill/>
            </a:ln>
          </p:spPr>
          <p:txBody>
            <a:bodyPr wrap="none" lIns="0" tIns="0" rIns="0" bIns="0" anchor="t" anchorCtr="0">
              <a:spAutoFit/>
            </a:bodyPr>
            <a:lstStyle/>
            <a:p>
              <a:pPr algn="l"/>
              <a:r>
                <a:rPr lang="zh-CN" sz="1425" dirty="0">
                  <a:solidFill>
                    <a:srgbClr val="F5F5F7"/>
                  </a:solidFill>
                  <a:latin typeface="Arial"/>
                  <a:ea typeface="Microsoft YaHei"/>
                  <a:cs typeface="Arial"/>
                </a:rPr>
                <a:t>and Apple Intelligence availability constraints.</a:t>
              </a:r>
            </a:p>
          </p:txBody>
        </p:sp>
      </p:grpSp>
      <p:sp>
        <p:nvSpPr>
          <p:cNvPr id="31" name="TextBox 31"/>
          <p:cNvSpPr txBox="1"/>
          <p:nvPr/>
        </p:nvSpPr>
        <p:spPr>
          <a:xfrm>
            <a:off x="616268" y="6276499"/>
            <a:ext cx="4159282" cy="198120"/>
          </a:xfrm>
          <a:prstGeom prst="rect">
            <a:avLst/>
          </a:prstGeom>
          <a:noFill/>
          <a:ln>
            <a:noFill/>
          </a:ln>
        </p:spPr>
        <p:txBody>
          <a:bodyPr wrap="none" lIns="0" tIns="0" rIns="0" bIns="0" anchor="t" anchorCtr="0">
            <a:spAutoFit/>
          </a:bodyPr>
          <a:lstStyle/>
          <a:p>
            <a:pPr algn="l"/>
            <a:r>
              <a:rPr lang="zh-CN" sz="975" dirty="0">
                <a:solidFill>
                  <a:srgbClr val="A1A1A6"/>
                </a:solidFill>
                <a:latin typeface="Arial"/>
                <a:ea typeface="Microsoft YaHei"/>
                <a:cs typeface="Arial"/>
              </a:rPr>
              <a:t>Source: Apple press release PDF, pricing and availability sections</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image">
                                      <p:cBhvr>
                                        <p:cTn id="7" dur="400"/>
                                        <p:tgtEl>
                                          <p:spTgt spid="12"/>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fade">
                                      <p:cBhvr>
                                        <p:cTn id="11" dur="400"/>
                                        <p:tgtEl>
                                          <p:spTgt spid="21"/>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wipe(left)">
                                      <p:cBhvr>
                                        <p:cTn id="15" dur="400"/>
                                        <p:tgtEl>
                                          <p:spTgt spid="25"/>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slide(fromBottom)">
                                      <p:cBhvr>
                                        <p:cTn id="19"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21" grpId="0"/>
      <p:bldP spid="25" grpId="0"/>
      <p:bldP spid="30"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9</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2026-07-03T04:57:35Z</dcterms:created>
  <dcterms:modified xsi:type="dcterms:W3CDTF">2026-07-03T04:57:35Z</dcterms:modified>
  <cp:category/>
  <cp:contentStatus/>
</cp:coreProperties>
</file>
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jpg" ContentType="image/jpe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Welcome. Today, we unveil the iPhone 16 Pro and iPhone 16 Pro Max — the most advanced iPhone ever made. Built from the ground up for Apple Intelligence, powered by the new A18 Pro chip, and featuring the most capable camera system we have ever put in a smartphone. This is not an incremental update. This is a leap.</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Let me set the stage. Greg Joswiak, Senior Vice President of Worldwide Marketing, said it best: these are the most advanced iPhone models we have ever made. What makes that claim real is the convergence of five forces — Apple Intelligence, the A18 Pro chip, a pro-grade camera system, the largest displays on any iPhone, and the biggest battery leap we have delivered. Every one of these alone would define a generation. Together, they redefine what a smartphone can do.</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First, Apple Intelligence. This is personal intelligence — generative models that understand your context to deliver help that is genuinely relevant. Three pillars define the experience. Writing Tools let you rewrite, proofread, and summarize text systemwide. Siri is reimagined with richer language understanding, a beautiful new glowing design, and the ability to maintain context across requests. And privacy is foundational — Private Cloud Compute uses dedicated Apple silicon servers with end-to-end encryption. Your data is never stored or made accessible. Apple Intelligence arrives as a free software update.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Powering all of this is A18 Pro, built on second-generation three-nanometer technology. A six-core CPU delivers fifteen percent faster performance while using twenty percent less power. A six-core GPU is up to twenty percent faster. The sixteen-core Neural Engine is faster and more efficient than ever. Hardware-accelerated ray tracing is now up to two times faster. And with seventeen percent more memory bandwidth — the highest ever in iPhone — the entire system feels fluid and responsive under any load.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Now, the displays. iPhone 16 Pro features a six-point-three-inch display, while iPhone 16 Pro Max boasts a six-point-nine-inch display — the largest ever on an iPhone. Both feature Super Retina XDR with Always-On and ProMotion. And the borders? They are the thinnest on any Apple product, wrapping these massive displays in aerospace-grade titanium. Whether you choose Pro or Pro Max, you are getting the most immersive viewing experience we have ever built.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Next, something entirely new: Camera Control. This is a tactile button that integrates a physical switch, a high-precision force sensor, and a capacitive slider. Click to launch the camera or take a photo. Light press to access zoom, exposure, and depth of field controls. Slide your finger to fine-tune settings and compose the shot. Coming this fall, a two-stage shutter locks focus and exposure independently. And coming later, Visual Intelligence lets you click and hold to identify objects, places, and restaurants — your gateway to third-party tools like Google and ChatGPT.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pro camera system needs no introduction — it is the world's favorite camera, and it just got significantly better. The forty-eight-megapixel Fusion camera reads two times faster with zero shutter lag. A new forty-eight-megapixel Ultra Wide with autofocus elevates macro photography. And for the first time, five-x Telephoto is available on both Pro models. On the video side, four-K at one-hundred-twenty frames per second in Dolby Vision delivers the highest resolution and frame rate ever on iPhone. Studio-quality mics with Audio Mix let you adjust sound post-capture. And ProRes recording with Log can go directly to external USB-C storage. This is a complete professional workflow in your pocket.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Beyond performance, we have engineered these devices to be stronger, lighter, and greener. The Pro lineup features the largest batteries yet — iPhone 16 Pro Max has the best battery life of any iPhone ever. A new thermal architecture delivers twenty percent better sustained performance. The aerospace-grade titanium design comes in four stunning finishes. Ceramic Shield is back in its latest generation, twice as tough as any glass on competing smartphones. And on the environment: over twenty-five percent recycled content, one hundred percent recycled aluminum frame, one hundred percent recycled cobalt in the battery, and over ninety-five percent recycled lithium — a first for iPhone. We remain committed to being carbon neutral across our entire footprint by twenty-thirty.</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Finally, let us talk availability. iPhone 16 Pro starts at nine hundred ninety-nine dollars for one hundred twenty-eight gigabytes. iPhone 16 Pro Max starts at one thousand one hundred ninety-nine dollars for two hundred fifty-six gigabytes. Both are available in four finishes — Black Titanium, Natural Titanium, White Titanium, and the new Desert Titanium. Pre-orders begin Friday, September thirteenth at five a.m. Pacific. Availability begins Friday, September twentieth in over fifty-eight countries. Trade in your old device for one hundred eighty to six hundred fifty dollars in credit, or up to one thousand dollars with carrier offers. Apple Intelligence arrives as a free software update next month. Thank you.</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b3e923513a1ff58a.jp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a37787fad7c3e413.jpg"/>
  <Relationship Id="rId3" Type="http://schemas.openxmlformats.org/officeDocument/2006/relationships/image" Target="../media/image_3f0127b4f9b9fc2e.jpg"/>
  <Relationship Id="rId4"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f83ae7839ac3e684.jp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0A0A0F"/>
              </a:gs>
              <a:gs pos="100000">
                <a:srgbClr val="15151F"/>
              </a:gs>
            </a:gsLst>
            <a:lin ang="2700000" scaled="1"/>
          </a:gradFill>
          <a:ln>
            <a:noFill/>
          </a:ln>
        </p:spPr>
      </p:sp>
      <p:sp>
        <p:nvSpPr>
          <p:cNvPr id="3" name="Rectangle 3"/>
          <p:cNvSpPr/>
          <p:nvPr/>
        </p:nvSpPr>
        <p:spPr>
          <a:xfrm>
            <a:off x="0" y="0"/>
            <a:ext cx="12192000" cy="6858000"/>
          </a:xfrm>
          <a:prstGeom prst="rect">
            <a:avLst/>
          </a:prstGeom>
          <a:gradFill>
            <a:gsLst>
              <a:gs pos="0">
                <a:srgbClr val="0A84FF">
                  <a:alpha val="15000"/>
                </a:srgbClr>
              </a:gs>
              <a:gs pos="100000">
                <a:srgbClr val="0A84FF">
                  <a:alpha val="0"/>
                </a:srgbClr>
              </a:gs>
            </a:gsLst>
            <a:path path="circle">
              <a:fillToRect l="50000" t="50000" r="50000" b="50000"/>
            </a:path>
          </a:gradFill>
          <a:ln>
            <a:noFill/>
          </a:ln>
        </p:spPr>
      </p:sp>
      <p:sp>
        <p:nvSpPr>
          <p:cNvPr id="4" name="Line 4"/>
          <p:cNvSpPr/>
          <p:nvPr/>
        </p:nvSpPr>
        <p:spPr>
          <a:xfrm>
            <a:off x="0" y="1714500"/>
            <a:ext cx="12192000" cy="9525"/>
          </a:xfrm>
          <a:custGeom>
            <a:avLst/>
            <a:gdLst/>
            <a:ahLst/>
            <a:cxnLst/>
            <a:rect l="l" t="t" r="r" b="b"/>
            <a:pathLst>
              <a:path w="12192000" h="9525">
                <a:moveTo>
                  <a:pt x="0" y="0"/>
                </a:moveTo>
                <a:lnTo>
                  <a:pt x="12192000" y="0"/>
                </a:lnTo>
              </a:path>
            </a:pathLst>
          </a:custGeom>
          <a:noFill/>
          <a:ln w="9525">
            <a:solidFill>
              <a:srgbClr val="1A1A28"/>
            </a:solidFill>
          </a:ln>
        </p:spPr>
      </p:sp>
      <p:sp>
        <p:nvSpPr>
          <p:cNvPr id="5" name="Line 5"/>
          <p:cNvSpPr/>
          <p:nvPr/>
        </p:nvSpPr>
        <p:spPr>
          <a:xfrm>
            <a:off x="0" y="5143500"/>
            <a:ext cx="12192000" cy="9525"/>
          </a:xfrm>
          <a:custGeom>
            <a:avLst/>
            <a:gdLst/>
            <a:ahLst/>
            <a:cxnLst/>
            <a:rect l="l" t="t" r="r" b="b"/>
            <a:pathLst>
              <a:path w="12192000" h="9525">
                <a:moveTo>
                  <a:pt x="0" y="0"/>
                </a:moveTo>
                <a:lnTo>
                  <a:pt x="12192000" y="0"/>
                </a:lnTo>
              </a:path>
            </a:pathLst>
          </a:custGeom>
          <a:noFill/>
          <a:ln w="9525">
            <a:solidFill>
              <a:srgbClr val="1A1A28"/>
            </a:solidFill>
          </a:ln>
        </p:spPr>
      </p:sp>
      <p:pic>
        <p:nvPicPr>
          <p:cNvPr id="6" name="Image 6"/>
          <p:cNvPicPr>
            <a:picLocks noChangeAspect="1"/>
          </p:cNvPicPr>
          <p:nvPr/>
        </p:nvPicPr>
        <p:blipFill>
          <a:blip r:embed="rId2"/>
          <a:srcRect l="0" t="7437" r="0" b="7437"/>
          <a:stretch>
            <a:fillRect/>
          </a:stretch>
        </p:blipFill>
        <p:spPr>
          <a:xfrm>
            <a:off x="7143750" y="762000"/>
            <a:ext cx="4476750" cy="5334000"/>
          </a:xfrm>
          <a:prstGeom prst="roundRect">
            <a:avLst>
              <a:gd name="adj" fmla="val 4255"/>
            </a:avLst>
          </a:prstGeom>
        </p:spPr>
      </p:pic>
      <p:sp>
        <p:nvSpPr>
          <p:cNvPr id="7" name="Rectangle 7"/>
          <p:cNvSpPr/>
          <p:nvPr/>
        </p:nvSpPr>
        <p:spPr>
          <a:xfrm>
            <a:off x="571500" y="1905000"/>
            <a:ext cx="571500" cy="38100"/>
          </a:xfrm>
          <a:prstGeom prst="roundRect">
            <a:avLst>
              <a:gd name="adj" fmla="val 50000"/>
            </a:avLst>
          </a:prstGeom>
          <a:gradFill>
            <a:gsLst>
              <a:gs pos="0">
                <a:srgbClr val="0A84FF"/>
              </a:gs>
              <a:gs pos="100000">
                <a:srgbClr val="5E5CE6"/>
              </a:gs>
            </a:gsLst>
            <a:lin ang="0" scaled="1"/>
          </a:gradFill>
          <a:ln>
            <a:noFill/>
          </a:ln>
        </p:spPr>
      </p:sp>
      <p:sp>
        <p:nvSpPr>
          <p:cNvPr id="8" name="TextBox 8"/>
          <p:cNvSpPr txBox="1"/>
          <p:nvPr/>
        </p:nvSpPr>
        <p:spPr>
          <a:xfrm>
            <a:off x="558165" y="1601152"/>
            <a:ext cx="1643872" cy="213360"/>
          </a:xfrm>
          <a:prstGeom prst="rect">
            <a:avLst/>
          </a:prstGeom>
          <a:noFill/>
          <a:ln>
            <a:noFill/>
          </a:ln>
        </p:spPr>
        <p:txBody>
          <a:bodyPr wrap="none" lIns="0" tIns="0" rIns="0" bIns="0" anchor="t" anchorCtr="0">
            <a:spAutoFit/>
          </a:bodyPr>
          <a:lstStyle/>
          <a:p>
            <a:pPr algn="l"/>
            <a:r>
              <a:rPr lang="zh-CN" sz="1050" dirty="0">
                <a:solidFill>
                  <a:srgbClr val="8E8E93"/>
                </a:solidFill>
                <a:latin typeface="Consolas"/>
                <a:ea typeface="Microsoft YaHei"/>
                <a:cs typeface="Consolas"/>
              </a:rPr>
              <a:t>APPLE · SEPTEMBER 2024</a:t>
            </a:r>
          </a:p>
        </p:txBody>
      </p:sp>
      <p:sp>
        <p:nvSpPr>
          <p:cNvPr id="9" name="TextBox 9"/>
          <p:cNvSpPr txBox="1"/>
          <p:nvPr/>
        </p:nvSpPr>
        <p:spPr>
          <a:xfrm>
            <a:off x="504825" y="2290762"/>
            <a:ext cx="4837938" cy="1066800"/>
          </a:xfrm>
          <a:prstGeom prst="rect">
            <a:avLst/>
          </a:prstGeom>
          <a:noFill/>
          <a:ln>
            <a:noFill/>
          </a:ln>
        </p:spPr>
        <p:txBody>
          <a:bodyPr wrap="none" lIns="0" tIns="0" rIns="0" bIns="0" anchor="t" anchorCtr="0">
            <a:spAutoFit/>
          </a:bodyPr>
          <a:lstStyle/>
          <a:p>
            <a:pPr algn="l"/>
            <a:r>
              <a:rPr lang="zh-CN" sz="5250" b="1" dirty="0">
                <a:solidFill>
                  <a:srgbClr val="F5F5F7"/>
                </a:solidFill>
                <a:latin typeface="Segoe UI"/>
                <a:ea typeface="Microsoft YaHei"/>
                <a:cs typeface="Segoe UI"/>
              </a:rPr>
              <a:t>iPhone 16 Pro</a:t>
            </a:r>
          </a:p>
        </p:txBody>
      </p:sp>
      <p:sp>
        <p:nvSpPr>
          <p:cNvPr id="10" name="TextBox 10"/>
          <p:cNvSpPr txBox="1"/>
          <p:nvPr/>
        </p:nvSpPr>
        <p:spPr>
          <a:xfrm>
            <a:off x="546735" y="3313748"/>
            <a:ext cx="3721839" cy="396240"/>
          </a:xfrm>
          <a:prstGeom prst="rect">
            <a:avLst/>
          </a:prstGeom>
          <a:noFill/>
          <a:ln>
            <a:noFill/>
          </a:ln>
        </p:spPr>
        <p:txBody>
          <a:bodyPr wrap="none" lIns="0" tIns="0" rIns="0" bIns="0" anchor="t" anchorCtr="0">
            <a:spAutoFit/>
          </a:bodyPr>
          <a:lstStyle/>
          <a:p>
            <a:pPr algn="l"/>
            <a:r>
              <a:rPr lang="zh-CN" sz="1950" b="1" dirty="0">
                <a:solidFill>
                  <a:srgbClr val="E5E5EA"/>
                </a:solidFill>
                <a:latin typeface="Segoe UI"/>
                <a:ea typeface="Microsoft YaHei"/>
                <a:cs typeface="Segoe UI"/>
              </a:rPr>
              <a:t>Built for Apple Intelligence.</a:t>
            </a:r>
          </a:p>
        </p:txBody>
      </p:sp>
      <p:sp>
        <p:nvSpPr>
          <p:cNvPr id="11" name="TextBox 11"/>
          <p:cNvSpPr txBox="1"/>
          <p:nvPr/>
        </p:nvSpPr>
        <p:spPr>
          <a:xfrm>
            <a:off x="546735" y="3656648"/>
            <a:ext cx="2752568" cy="396240"/>
          </a:xfrm>
          <a:prstGeom prst="rect">
            <a:avLst/>
          </a:prstGeom>
          <a:noFill/>
          <a:ln>
            <a:noFill/>
          </a:ln>
        </p:spPr>
        <p:txBody>
          <a:bodyPr wrap="none" lIns="0" tIns="0" rIns="0" bIns="0" anchor="t" anchorCtr="0">
            <a:spAutoFit/>
          </a:bodyPr>
          <a:lstStyle/>
          <a:p>
            <a:pPr algn="l"/>
            <a:r>
              <a:rPr lang="zh-CN" sz="1950" b="1" dirty="0">
                <a:solidFill>
                  <a:srgbClr val="E5E5EA"/>
                </a:solidFill>
                <a:latin typeface="Segoe UI"/>
                <a:ea typeface="Microsoft YaHei"/>
                <a:cs typeface="Segoe UI"/>
              </a:rPr>
              <a:t>Powered by A18 Pro.</a:t>
            </a:r>
          </a:p>
        </p:txBody>
      </p:sp>
      <p:sp>
        <p:nvSpPr>
          <p:cNvPr id="12" name="TextBox 12"/>
          <p:cNvSpPr txBox="1"/>
          <p:nvPr/>
        </p:nvSpPr>
        <p:spPr>
          <a:xfrm>
            <a:off x="552450" y="4314825"/>
            <a:ext cx="3668554" cy="304800"/>
          </a:xfrm>
          <a:prstGeom prst="rect">
            <a:avLst/>
          </a:prstGeom>
          <a:noFill/>
          <a:ln>
            <a:noFill/>
          </a:ln>
        </p:spPr>
        <p:txBody>
          <a:bodyPr wrap="none" lIns="0" tIns="0" rIns="0" bIns="0" anchor="t" anchorCtr="0">
            <a:spAutoFit/>
          </a:bodyPr>
          <a:lstStyle/>
          <a:p>
            <a:pPr algn="l"/>
            <a:r>
              <a:rPr lang="zh-CN" sz="1500" dirty="0">
                <a:solidFill>
                  <a:srgbClr val="8E8E93"/>
                </a:solidFill>
                <a:latin typeface="Segoe UI"/>
                <a:ea typeface="Microsoft YaHei"/>
                <a:cs typeface="Segoe UI"/>
              </a:rPr>
              <a:t>The most advanced iPhone ever made.</a:t>
            </a:r>
          </a:p>
        </p:txBody>
      </p:sp>
      <p:sp>
        <p:nvSpPr>
          <p:cNvPr id="13" name="Rectangle 13"/>
          <p:cNvSpPr/>
          <p:nvPr/>
        </p:nvSpPr>
        <p:spPr>
          <a:xfrm>
            <a:off x="571500" y="5334000"/>
            <a:ext cx="1619250" cy="342900"/>
          </a:xfrm>
          <a:prstGeom prst="roundRect">
            <a:avLst>
              <a:gd name="adj" fmla="val 50000"/>
            </a:avLst>
          </a:prstGeom>
          <a:solidFill>
            <a:srgbClr val="1E1E2A"/>
          </a:solidFill>
          <a:ln w="9525">
            <a:solidFill>
              <a:srgbClr val="2A2A3A"/>
            </a:solidFill>
          </a:ln>
        </p:spPr>
      </p:sp>
      <p:grpSp>
        <p:nvGrpSpPr>
          <p:cNvPr id="19" name="Group 19"/>
          <p:cNvGrpSpPr/>
          <p:nvPr/>
        </p:nvGrpSpPr>
        <p:grpSpPr>
          <a:xfrm>
            <a:off x="704850" y="5410200"/>
            <a:ext cx="190500" cy="190500"/>
            <a:chOff x="704850" y="5410200"/>
            <a:chExt cx="190500" cy="190500"/>
          </a:xfrm>
        </p:grpSpPr>
        <p:sp>
          <p:nvSpPr>
            <p:cNvPr id="14" name="Freeform 14"/>
            <p:cNvSpPr/>
            <p:nvPr/>
          </p:nvSpPr>
          <p:spPr>
            <a:xfrm>
              <a:off x="800100" y="5410200"/>
              <a:ext cx="83344" cy="83344"/>
            </a:xfrm>
            <a:custGeom>
              <a:avLst/>
              <a:gdLst/>
              <a:ahLst/>
              <a:cxnLst/>
              <a:rect l="l" t="t" r="r" b="b"/>
              <a:pathLst>
                <a:path w="83344" h="83344">
                  <a:moveTo>
                    <a:pt x="0" y="35719"/>
                  </a:moveTo>
                  <a:lnTo>
                    <a:pt x="29766" y="29766"/>
                  </a:lnTo>
                  <a:lnTo>
                    <a:pt x="35719" y="0"/>
                  </a:lnTo>
                  <a:lnTo>
                    <a:pt x="47625" y="0"/>
                  </a:lnTo>
                  <a:lnTo>
                    <a:pt x="53578" y="29766"/>
                  </a:lnTo>
                  <a:lnTo>
                    <a:pt x="83344" y="35719"/>
                  </a:lnTo>
                  <a:lnTo>
                    <a:pt x="83344" y="47625"/>
                  </a:lnTo>
                  <a:lnTo>
                    <a:pt x="53578" y="53578"/>
                  </a:lnTo>
                  <a:lnTo>
                    <a:pt x="47625" y="83344"/>
                  </a:lnTo>
                  <a:lnTo>
                    <a:pt x="35719" y="83344"/>
                  </a:lnTo>
                  <a:lnTo>
                    <a:pt x="29766" y="53578"/>
                  </a:lnTo>
                  <a:lnTo>
                    <a:pt x="0" y="47625"/>
                  </a:lnTo>
                  <a:lnTo>
                    <a:pt x="0" y="35719"/>
                  </a:lnTo>
                  <a:close/>
                </a:path>
              </a:pathLst>
            </a:custGeom>
            <a:solidFill>
              <a:srgbClr val="0A84FF"/>
            </a:solidFill>
            <a:ln>
              <a:noFill/>
            </a:ln>
          </p:spPr>
        </p:sp>
        <p:sp>
          <p:nvSpPr>
            <p:cNvPr id="15" name="Freeform 15"/>
            <p:cNvSpPr/>
            <p:nvPr/>
          </p:nvSpPr>
          <p:spPr>
            <a:xfrm>
              <a:off x="704850" y="5469731"/>
              <a:ext cx="130969" cy="130969"/>
            </a:xfrm>
            <a:custGeom>
              <a:avLst/>
              <a:gdLst/>
              <a:ahLst/>
              <a:cxnLst/>
              <a:rect l="l" t="t" r="r" b="b"/>
              <a:pathLst>
                <a:path w="130969" h="130969">
                  <a:moveTo>
                    <a:pt x="0" y="71438"/>
                  </a:moveTo>
                  <a:lnTo>
                    <a:pt x="0" y="59531"/>
                  </a:lnTo>
                  <a:lnTo>
                    <a:pt x="47625" y="47625"/>
                  </a:lnTo>
                  <a:lnTo>
                    <a:pt x="59531" y="0"/>
                  </a:lnTo>
                  <a:lnTo>
                    <a:pt x="71438" y="0"/>
                  </a:lnTo>
                  <a:lnTo>
                    <a:pt x="83344" y="47625"/>
                  </a:lnTo>
                  <a:lnTo>
                    <a:pt x="130969" y="59531"/>
                  </a:lnTo>
                  <a:lnTo>
                    <a:pt x="130969" y="71438"/>
                  </a:lnTo>
                  <a:lnTo>
                    <a:pt x="83344" y="83344"/>
                  </a:lnTo>
                  <a:lnTo>
                    <a:pt x="71438" y="130969"/>
                  </a:lnTo>
                  <a:lnTo>
                    <a:pt x="59531" y="130969"/>
                  </a:lnTo>
                  <a:lnTo>
                    <a:pt x="47625" y="83344"/>
                  </a:lnTo>
                  <a:lnTo>
                    <a:pt x="0" y="71438"/>
                  </a:lnTo>
                  <a:close/>
                </a:path>
              </a:pathLst>
            </a:custGeom>
            <a:solidFill>
              <a:srgbClr val="0A84FF"/>
            </a:solidFill>
            <a:ln>
              <a:noFill/>
            </a:ln>
          </p:spPr>
        </p:sp>
        <p:sp>
          <p:nvSpPr>
            <p:cNvPr id="16" name="Freeform 16"/>
            <p:cNvSpPr/>
            <p:nvPr/>
          </p:nvSpPr>
          <p:spPr>
            <a:xfrm>
              <a:off x="716756" y="5416153"/>
              <a:ext cx="35719" cy="35719"/>
            </a:xfrm>
            <a:custGeom>
              <a:avLst/>
              <a:gdLst/>
              <a:ahLst/>
              <a:cxnLst/>
              <a:rect l="l" t="t" r="r" b="b"/>
              <a:pathLst>
                <a:path w="35719" h="35719">
                  <a:moveTo>
                    <a:pt x="0" y="17859"/>
                  </a:moveTo>
                  <a:lnTo>
                    <a:pt x="17859" y="0"/>
                  </a:lnTo>
                  <a:lnTo>
                    <a:pt x="35719" y="17859"/>
                  </a:lnTo>
                  <a:lnTo>
                    <a:pt x="17859" y="35719"/>
                  </a:lnTo>
                  <a:lnTo>
                    <a:pt x="0" y="17859"/>
                  </a:lnTo>
                  <a:close/>
                </a:path>
              </a:pathLst>
            </a:custGeom>
            <a:solidFill>
              <a:srgbClr val="0A84FF"/>
            </a:solidFill>
            <a:ln>
              <a:noFill/>
            </a:ln>
          </p:spPr>
        </p:sp>
        <p:sp>
          <p:nvSpPr>
            <p:cNvPr id="17" name="Freeform 17"/>
            <p:cNvSpPr/>
            <p:nvPr/>
          </p:nvSpPr>
          <p:spPr>
            <a:xfrm>
              <a:off x="835819" y="5553075"/>
              <a:ext cx="47625" cy="47625"/>
            </a:xfrm>
            <a:custGeom>
              <a:avLst/>
              <a:gdLst/>
              <a:ahLst/>
              <a:cxnLst/>
              <a:rect l="l" t="t" r="r" b="b"/>
              <a:pathLst>
                <a:path w="47625" h="47625">
                  <a:moveTo>
                    <a:pt x="47625" y="23812"/>
                  </a:moveTo>
                  <a:lnTo>
                    <a:pt x="23812" y="0"/>
                  </a:lnTo>
                  <a:lnTo>
                    <a:pt x="0" y="23812"/>
                  </a:lnTo>
                  <a:lnTo>
                    <a:pt x="23812" y="47625"/>
                  </a:lnTo>
                  <a:lnTo>
                    <a:pt x="47625" y="23812"/>
                  </a:lnTo>
                  <a:close/>
                </a:path>
              </a:pathLst>
            </a:custGeom>
            <a:solidFill>
              <a:srgbClr val="0A84FF"/>
            </a:solidFill>
            <a:ln>
              <a:noFill/>
            </a:ln>
          </p:spPr>
        </p:sp>
        <p:sp>
          <p:nvSpPr>
            <p:cNvPr id="18" name="Freeform 18"/>
            <p:cNvSpPr/>
            <p:nvPr/>
          </p:nvSpPr>
          <p:spPr>
            <a:xfrm>
              <a:off x="871538" y="5505450"/>
              <a:ext cx="23812" cy="23812"/>
            </a:xfrm>
            <a:custGeom>
              <a:avLst/>
              <a:gdLst/>
              <a:ahLst/>
              <a:cxnLst/>
              <a:rect l="l" t="t" r="r" b="b"/>
              <a:pathLst>
                <a:path w="23812" h="23812">
                  <a:moveTo>
                    <a:pt x="11906" y="23812"/>
                  </a:moveTo>
                  <a:cubicBezTo>
                    <a:pt x="18482" y="23812"/>
                    <a:pt x="23812" y="18482"/>
                    <a:pt x="23812" y="11906"/>
                  </a:cubicBezTo>
                  <a:cubicBezTo>
                    <a:pt x="23812" y="5331"/>
                    <a:pt x="18482" y="0"/>
                    <a:pt x="11906" y="0"/>
                  </a:cubicBezTo>
                  <a:cubicBezTo>
                    <a:pt x="5330" y="0"/>
                    <a:pt x="0" y="5331"/>
                    <a:pt x="0" y="11906"/>
                  </a:cubicBezTo>
                  <a:cubicBezTo>
                    <a:pt x="0" y="18482"/>
                    <a:pt x="5330" y="23812"/>
                    <a:pt x="11906" y="23812"/>
                  </a:cubicBezTo>
                  <a:close/>
                </a:path>
              </a:pathLst>
            </a:custGeom>
            <a:solidFill>
              <a:srgbClr val="0A84FF"/>
            </a:solidFill>
            <a:ln>
              <a:noFill/>
            </a:ln>
          </p:spPr>
        </p:sp>
      </p:grpSp>
      <p:sp>
        <p:nvSpPr>
          <p:cNvPr id="20" name="TextBox 20"/>
          <p:cNvSpPr txBox="1"/>
          <p:nvPr/>
        </p:nvSpPr>
        <p:spPr>
          <a:xfrm>
            <a:off x="958215" y="5439728"/>
            <a:ext cx="1202817" cy="213360"/>
          </a:xfrm>
          <a:prstGeom prst="rect">
            <a:avLst/>
          </a:prstGeom>
          <a:noFill/>
          <a:ln>
            <a:noFill/>
          </a:ln>
        </p:spPr>
        <p:txBody>
          <a:bodyPr wrap="none" lIns="0" tIns="0" rIns="0" bIns="0" anchor="t" anchorCtr="0">
            <a:spAutoFit/>
          </a:bodyPr>
          <a:lstStyle/>
          <a:p>
            <a:pPr algn="l"/>
            <a:r>
              <a:rPr lang="zh-CN" sz="1050" dirty="0">
                <a:solidFill>
                  <a:srgbClr val="E5E5EA"/>
                </a:solidFill>
                <a:latin typeface="Segoe UI"/>
                <a:ea typeface="Microsoft YaHei"/>
                <a:cs typeface="Segoe UI"/>
              </a:rPr>
              <a:t>Apple Intelligence</a:t>
            </a:r>
          </a:p>
        </p:txBody>
      </p:sp>
      <p:sp>
        <p:nvSpPr>
          <p:cNvPr id="21" name="Rectangle 21"/>
          <p:cNvSpPr/>
          <p:nvPr/>
        </p:nvSpPr>
        <p:spPr>
          <a:xfrm>
            <a:off x="2324100" y="5334000"/>
            <a:ext cx="1047750" cy="342900"/>
          </a:xfrm>
          <a:prstGeom prst="roundRect">
            <a:avLst>
              <a:gd name="adj" fmla="val 50000"/>
            </a:avLst>
          </a:prstGeom>
          <a:solidFill>
            <a:srgbClr val="1E1E2A"/>
          </a:solidFill>
          <a:ln w="9525">
            <a:solidFill>
              <a:srgbClr val="2A2A3A"/>
            </a:solidFill>
          </a:ln>
        </p:spPr>
      </p:sp>
      <p:grpSp>
        <p:nvGrpSpPr>
          <p:cNvPr id="24" name="Group 24"/>
          <p:cNvGrpSpPr/>
          <p:nvPr/>
        </p:nvGrpSpPr>
        <p:grpSpPr>
          <a:xfrm>
            <a:off x="2457450" y="5410200"/>
            <a:ext cx="190500" cy="190500"/>
            <a:chOff x="2457450" y="5410200"/>
            <a:chExt cx="190500" cy="190500"/>
          </a:xfrm>
        </p:grpSpPr>
        <p:sp>
          <p:nvSpPr>
            <p:cNvPr id="22" name="Freeform 22"/>
            <p:cNvSpPr/>
            <p:nvPr/>
          </p:nvSpPr>
          <p:spPr>
            <a:xfrm>
              <a:off x="2528888" y="5481638"/>
              <a:ext cx="47625" cy="47625"/>
            </a:xfrm>
            <a:custGeom>
              <a:avLst/>
              <a:gdLst/>
              <a:ahLst/>
              <a:cxnLst/>
              <a:rect l="l" t="t" r="r" b="b"/>
              <a:pathLst>
                <a:path w="47625" h="47625">
                  <a:moveTo>
                    <a:pt x="0" y="47625"/>
                  </a:moveTo>
                  <a:lnTo>
                    <a:pt x="0" y="0"/>
                  </a:lnTo>
                  <a:lnTo>
                    <a:pt x="47625" y="0"/>
                  </a:lnTo>
                  <a:lnTo>
                    <a:pt x="47625" y="47625"/>
                  </a:lnTo>
                  <a:lnTo>
                    <a:pt x="0" y="47625"/>
                  </a:lnTo>
                  <a:close/>
                </a:path>
              </a:pathLst>
            </a:custGeom>
            <a:solidFill>
              <a:srgbClr val="0A84FF"/>
            </a:solidFill>
            <a:ln>
              <a:noFill/>
            </a:ln>
          </p:spPr>
        </p:sp>
        <p:sp>
          <p:nvSpPr>
            <p:cNvPr id="23" name="Freeform 23"/>
            <p:cNvSpPr/>
            <p:nvPr/>
          </p:nvSpPr>
          <p:spPr>
            <a:xfrm>
              <a:off x="2457450" y="5410200"/>
              <a:ext cx="190500" cy="190500"/>
            </a:xfrm>
            <a:custGeom>
              <a:avLst/>
              <a:gdLst/>
              <a:ahLst/>
              <a:cxnLst/>
              <a:rect l="l" t="t" r="r" b="b"/>
              <a:pathLst>
                <a:path w="190500" h="190500">
                  <a:moveTo>
                    <a:pt x="35719" y="23812"/>
                  </a:moveTo>
                  <a:lnTo>
                    <a:pt x="35719" y="0"/>
                  </a:lnTo>
                  <a:lnTo>
                    <a:pt x="59531" y="0"/>
                  </a:lnTo>
                  <a:lnTo>
                    <a:pt x="59531" y="23812"/>
                  </a:lnTo>
                  <a:lnTo>
                    <a:pt x="83344" y="23812"/>
                  </a:lnTo>
                  <a:lnTo>
                    <a:pt x="83344" y="0"/>
                  </a:lnTo>
                  <a:lnTo>
                    <a:pt x="107156" y="0"/>
                  </a:lnTo>
                  <a:lnTo>
                    <a:pt x="107156" y="23812"/>
                  </a:lnTo>
                  <a:lnTo>
                    <a:pt x="130969" y="23812"/>
                  </a:lnTo>
                  <a:lnTo>
                    <a:pt x="130969" y="0"/>
                  </a:lnTo>
                  <a:lnTo>
                    <a:pt x="154781" y="0"/>
                  </a:lnTo>
                  <a:lnTo>
                    <a:pt x="154781" y="23812"/>
                  </a:lnTo>
                  <a:lnTo>
                    <a:pt x="166688" y="23812"/>
                  </a:lnTo>
                  <a:lnTo>
                    <a:pt x="166688" y="35719"/>
                  </a:lnTo>
                  <a:lnTo>
                    <a:pt x="190500" y="35719"/>
                  </a:lnTo>
                  <a:lnTo>
                    <a:pt x="190500" y="59531"/>
                  </a:lnTo>
                  <a:lnTo>
                    <a:pt x="166688" y="59531"/>
                  </a:lnTo>
                  <a:lnTo>
                    <a:pt x="166688" y="83344"/>
                  </a:lnTo>
                  <a:lnTo>
                    <a:pt x="190500" y="83344"/>
                  </a:lnTo>
                  <a:lnTo>
                    <a:pt x="190500" y="107156"/>
                  </a:lnTo>
                  <a:lnTo>
                    <a:pt x="166688" y="107156"/>
                  </a:lnTo>
                  <a:lnTo>
                    <a:pt x="166688" y="130969"/>
                  </a:lnTo>
                  <a:lnTo>
                    <a:pt x="190500" y="130969"/>
                  </a:lnTo>
                  <a:lnTo>
                    <a:pt x="190500" y="154781"/>
                  </a:lnTo>
                  <a:lnTo>
                    <a:pt x="166688" y="154781"/>
                  </a:lnTo>
                  <a:lnTo>
                    <a:pt x="166688" y="166688"/>
                  </a:lnTo>
                  <a:lnTo>
                    <a:pt x="154781" y="166688"/>
                  </a:lnTo>
                  <a:lnTo>
                    <a:pt x="154781" y="190500"/>
                  </a:lnTo>
                  <a:lnTo>
                    <a:pt x="130969" y="190500"/>
                  </a:lnTo>
                  <a:lnTo>
                    <a:pt x="130969" y="166688"/>
                  </a:lnTo>
                  <a:lnTo>
                    <a:pt x="107156" y="166688"/>
                  </a:lnTo>
                  <a:lnTo>
                    <a:pt x="107156" y="190500"/>
                  </a:lnTo>
                  <a:lnTo>
                    <a:pt x="83344" y="190500"/>
                  </a:lnTo>
                  <a:lnTo>
                    <a:pt x="83344" y="166688"/>
                  </a:lnTo>
                  <a:lnTo>
                    <a:pt x="59531" y="166688"/>
                  </a:lnTo>
                  <a:lnTo>
                    <a:pt x="59531" y="190500"/>
                  </a:lnTo>
                  <a:lnTo>
                    <a:pt x="35719" y="190500"/>
                  </a:lnTo>
                  <a:lnTo>
                    <a:pt x="35719" y="166688"/>
                  </a:lnTo>
                  <a:lnTo>
                    <a:pt x="23812" y="166688"/>
                  </a:lnTo>
                  <a:lnTo>
                    <a:pt x="23812" y="154781"/>
                  </a:lnTo>
                  <a:lnTo>
                    <a:pt x="0" y="154781"/>
                  </a:lnTo>
                  <a:lnTo>
                    <a:pt x="0" y="130969"/>
                  </a:lnTo>
                  <a:lnTo>
                    <a:pt x="23812" y="130969"/>
                  </a:lnTo>
                  <a:lnTo>
                    <a:pt x="23812" y="107156"/>
                  </a:lnTo>
                  <a:lnTo>
                    <a:pt x="0" y="107156"/>
                  </a:lnTo>
                  <a:lnTo>
                    <a:pt x="0" y="83344"/>
                  </a:lnTo>
                  <a:lnTo>
                    <a:pt x="23812" y="83344"/>
                  </a:lnTo>
                  <a:lnTo>
                    <a:pt x="23812" y="59531"/>
                  </a:lnTo>
                  <a:lnTo>
                    <a:pt x="0" y="59531"/>
                  </a:lnTo>
                  <a:lnTo>
                    <a:pt x="0" y="35719"/>
                  </a:lnTo>
                  <a:lnTo>
                    <a:pt x="23812" y="35719"/>
                  </a:lnTo>
                  <a:lnTo>
                    <a:pt x="23812" y="23812"/>
                  </a:lnTo>
                  <a:lnTo>
                    <a:pt x="35719" y="23812"/>
                  </a:lnTo>
                  <a:close/>
                  <a:moveTo>
                    <a:pt x="47625" y="47625"/>
                  </a:moveTo>
                  <a:lnTo>
                    <a:pt x="47625" y="142875"/>
                  </a:lnTo>
                  <a:lnTo>
                    <a:pt x="142875" y="142875"/>
                  </a:lnTo>
                  <a:lnTo>
                    <a:pt x="142875" y="47625"/>
                  </a:lnTo>
                  <a:lnTo>
                    <a:pt x="47625" y="47625"/>
                  </a:lnTo>
                  <a:close/>
                </a:path>
              </a:pathLst>
            </a:custGeom>
            <a:solidFill>
              <a:srgbClr val="0A84FF"/>
            </a:solidFill>
            <a:ln>
              <a:noFill/>
            </a:ln>
          </p:spPr>
        </p:sp>
      </p:grpSp>
      <p:sp>
        <p:nvSpPr>
          <p:cNvPr id="25" name="TextBox 25"/>
          <p:cNvSpPr txBox="1"/>
          <p:nvPr/>
        </p:nvSpPr>
        <p:spPr>
          <a:xfrm>
            <a:off x="2710815" y="5439728"/>
            <a:ext cx="530733" cy="213360"/>
          </a:xfrm>
          <a:prstGeom prst="rect">
            <a:avLst/>
          </a:prstGeom>
          <a:noFill/>
          <a:ln>
            <a:noFill/>
          </a:ln>
        </p:spPr>
        <p:txBody>
          <a:bodyPr wrap="none" lIns="0" tIns="0" rIns="0" bIns="0" anchor="t" anchorCtr="0">
            <a:spAutoFit/>
          </a:bodyPr>
          <a:lstStyle/>
          <a:p>
            <a:pPr algn="l"/>
            <a:r>
              <a:rPr lang="zh-CN" sz="1050" dirty="0">
                <a:solidFill>
                  <a:srgbClr val="E5E5EA"/>
                </a:solidFill>
                <a:latin typeface="Segoe UI"/>
                <a:ea typeface="Microsoft YaHei"/>
                <a:cs typeface="Segoe UI"/>
              </a:rPr>
              <a:t>A18 Pro</a:t>
            </a:r>
          </a:p>
        </p:txBody>
      </p:sp>
      <p:sp>
        <p:nvSpPr>
          <p:cNvPr id="26" name="Rectangle 26"/>
          <p:cNvSpPr/>
          <p:nvPr/>
        </p:nvSpPr>
        <p:spPr>
          <a:xfrm>
            <a:off x="3505200" y="5334000"/>
            <a:ext cx="1143000" cy="342900"/>
          </a:xfrm>
          <a:prstGeom prst="roundRect">
            <a:avLst>
              <a:gd name="adj" fmla="val 50000"/>
            </a:avLst>
          </a:prstGeom>
          <a:solidFill>
            <a:srgbClr val="1E1E2A"/>
          </a:solidFill>
          <a:ln w="9525">
            <a:solidFill>
              <a:srgbClr val="2A2A3A"/>
            </a:solidFill>
          </a:ln>
        </p:spPr>
      </p:sp>
      <p:sp>
        <p:nvSpPr>
          <p:cNvPr id="27" name="Freeform 27"/>
          <p:cNvSpPr/>
          <p:nvPr/>
        </p:nvSpPr>
        <p:spPr>
          <a:xfrm>
            <a:off x="3638550" y="5422106"/>
            <a:ext cx="190500" cy="154781"/>
          </a:xfrm>
          <a:custGeom>
            <a:avLst/>
            <a:gdLst/>
            <a:ahLst/>
            <a:cxnLst/>
            <a:rect l="l" t="t" r="r" b="b"/>
            <a:pathLst>
              <a:path w="190500" h="154781">
                <a:moveTo>
                  <a:pt x="35719" y="23812"/>
                </a:moveTo>
                <a:lnTo>
                  <a:pt x="0" y="23812"/>
                </a:lnTo>
                <a:lnTo>
                  <a:pt x="0" y="154781"/>
                </a:lnTo>
                <a:lnTo>
                  <a:pt x="190500" y="154781"/>
                </a:lnTo>
                <a:lnTo>
                  <a:pt x="190500" y="23812"/>
                </a:lnTo>
                <a:lnTo>
                  <a:pt x="154781" y="23812"/>
                </a:lnTo>
                <a:lnTo>
                  <a:pt x="130969" y="0"/>
                </a:lnTo>
                <a:lnTo>
                  <a:pt x="59531" y="0"/>
                </a:lnTo>
                <a:lnTo>
                  <a:pt x="35719" y="23812"/>
                </a:lnTo>
                <a:close/>
                <a:moveTo>
                  <a:pt x="95250" y="119062"/>
                </a:moveTo>
                <a:cubicBezTo>
                  <a:pt x="114977" y="119062"/>
                  <a:pt x="130969" y="103071"/>
                  <a:pt x="130969" y="83344"/>
                </a:cubicBezTo>
                <a:cubicBezTo>
                  <a:pt x="130969" y="63617"/>
                  <a:pt x="114977" y="47625"/>
                  <a:pt x="95250" y="47625"/>
                </a:cubicBezTo>
                <a:cubicBezTo>
                  <a:pt x="75523" y="47625"/>
                  <a:pt x="59531" y="63617"/>
                  <a:pt x="59531" y="83344"/>
                </a:cubicBezTo>
                <a:cubicBezTo>
                  <a:pt x="59531" y="103071"/>
                  <a:pt x="75523" y="119062"/>
                  <a:pt x="95250" y="119062"/>
                </a:cubicBezTo>
                <a:close/>
              </a:path>
            </a:pathLst>
          </a:custGeom>
          <a:solidFill>
            <a:srgbClr val="0A84FF"/>
          </a:solidFill>
          <a:ln>
            <a:noFill/>
          </a:ln>
        </p:spPr>
      </p:sp>
      <p:sp>
        <p:nvSpPr>
          <p:cNvPr id="28" name="TextBox 28"/>
          <p:cNvSpPr txBox="1"/>
          <p:nvPr/>
        </p:nvSpPr>
        <p:spPr>
          <a:xfrm>
            <a:off x="3891915" y="5439728"/>
            <a:ext cx="789765" cy="213360"/>
          </a:xfrm>
          <a:prstGeom prst="rect">
            <a:avLst/>
          </a:prstGeom>
          <a:noFill/>
          <a:ln>
            <a:noFill/>
          </a:ln>
        </p:spPr>
        <p:txBody>
          <a:bodyPr wrap="none" lIns="0" tIns="0" rIns="0" bIns="0" anchor="t" anchorCtr="0">
            <a:spAutoFit/>
          </a:bodyPr>
          <a:lstStyle/>
          <a:p>
            <a:pPr algn="l"/>
            <a:r>
              <a:rPr lang="zh-CN" sz="1050" dirty="0">
                <a:solidFill>
                  <a:srgbClr val="E5E5EA"/>
                </a:solidFill>
                <a:latin typeface="Segoe UI"/>
                <a:ea typeface="Microsoft YaHei"/>
                <a:cs typeface="Segoe UI"/>
              </a:rPr>
              <a:t>Pro Camera</a:t>
            </a:r>
          </a:p>
        </p:txBody>
      </p:sp>
      <p:sp>
        <p:nvSpPr>
          <p:cNvPr id="29" name="TextBox 29"/>
          <p:cNvSpPr txBox="1"/>
          <p:nvPr/>
        </p:nvSpPr>
        <p:spPr>
          <a:xfrm>
            <a:off x="11207020" y="6475095"/>
            <a:ext cx="424910" cy="182880"/>
          </a:xfrm>
          <a:prstGeom prst="rect">
            <a:avLst/>
          </a:prstGeom>
          <a:noFill/>
          <a:ln>
            <a:noFill/>
          </a:ln>
        </p:spPr>
        <p:txBody>
          <a:bodyPr wrap="none" lIns="0" tIns="0" rIns="0" bIns="0" anchor="t" anchorCtr="0">
            <a:spAutoFit/>
          </a:bodyPr>
          <a:lstStyle/>
          <a:p>
            <a:pPr algn="r"/>
            <a:r>
              <a:rPr lang="zh-CN" sz="900" dirty="0">
                <a:solidFill>
                  <a:srgbClr val="636366"/>
                </a:solidFill>
                <a:latin typeface="Consolas"/>
                <a:ea typeface="Microsoft YaHei"/>
                <a:cs typeface="Consolas"/>
              </a:rPr>
              <a:t>01 / 09</a:t>
            </a: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A0A0F"/>
          </a:solidFill>
          <a:ln>
            <a:noFill/>
          </a:ln>
        </p:spPr>
      </p:sp>
      <p:sp>
        <p:nvSpPr>
          <p:cNvPr id="3" name="Rectangle 3"/>
          <p:cNvSpPr/>
          <p:nvPr/>
        </p:nvSpPr>
        <p:spPr>
          <a:xfrm>
            <a:off x="0" y="0"/>
            <a:ext cx="12192000" cy="6858000"/>
          </a:xfrm>
          <a:prstGeom prst="rect">
            <a:avLst/>
          </a:prstGeom>
          <a:gradFill>
            <a:gsLst>
              <a:gs pos="0">
                <a:srgbClr val="5E5CE6">
                  <a:alpha val="8000"/>
                </a:srgbClr>
              </a:gs>
              <a:gs pos="100000">
                <a:srgbClr val="5E5CE6">
                  <a:alpha val="0"/>
                </a:srgbClr>
              </a:gs>
            </a:gsLst>
            <a:path path="circle">
              <a:fillToRect l="50000" t="50000" r="50000" b="50000"/>
            </a:path>
          </a:gradFill>
          <a:ln>
            <a:noFill/>
          </a:ln>
        </p:spPr>
      </p:sp>
      <p:sp>
        <p:nvSpPr>
          <p:cNvPr id="4" name="Rectangle 4"/>
          <p:cNvSpPr/>
          <p:nvPr/>
        </p:nvSpPr>
        <p:spPr>
          <a:xfrm>
            <a:off x="5143500" y="1238250"/>
            <a:ext cx="1905000" cy="28575"/>
          </a:xfrm>
          <a:prstGeom prst="roundRect">
            <a:avLst>
              <a:gd name="adj" fmla="val 50000"/>
            </a:avLst>
          </a:prstGeom>
          <a:gradFill>
            <a:gsLst>
              <a:gs pos="0">
                <a:srgbClr val="0A84FF"/>
              </a:gs>
              <a:gs pos="100000">
                <a:srgbClr val="5E5CE6"/>
              </a:gs>
            </a:gsLst>
            <a:lin ang="0" scaled="1"/>
          </a:gradFill>
          <a:ln>
            <a:noFill/>
          </a:ln>
        </p:spPr>
      </p:sp>
      <p:sp>
        <p:nvSpPr>
          <p:cNvPr id="5" name="TextBox 5"/>
          <p:cNvSpPr txBox="1"/>
          <p:nvPr/>
        </p:nvSpPr>
        <p:spPr>
          <a:xfrm>
            <a:off x="5379077" y="982028"/>
            <a:ext cx="1433846" cy="213360"/>
          </a:xfrm>
          <a:prstGeom prst="rect">
            <a:avLst/>
          </a:prstGeom>
          <a:noFill/>
          <a:ln>
            <a:noFill/>
          </a:ln>
        </p:spPr>
        <p:txBody>
          <a:bodyPr wrap="none" lIns="0" tIns="0" rIns="0" bIns="0" anchor="t" anchorCtr="0">
            <a:spAutoFit/>
          </a:bodyPr>
          <a:lstStyle/>
          <a:p>
            <a:pPr algn="ctr"/>
            <a:r>
              <a:rPr lang="zh-CN" sz="1050" dirty="0">
                <a:solidFill>
                  <a:srgbClr val="8E8E93"/>
                </a:solidFill>
                <a:latin typeface="Consolas"/>
                <a:ea typeface="Microsoft YaHei"/>
                <a:cs typeface="Consolas"/>
              </a:rPr>
              <a:t>PRODUCT POSITIONING</a:t>
            </a:r>
          </a:p>
        </p:txBody>
      </p:sp>
      <p:sp>
        <p:nvSpPr>
          <p:cNvPr id="6" name="TextBox 6"/>
          <p:cNvSpPr txBox="1"/>
          <p:nvPr/>
        </p:nvSpPr>
        <p:spPr>
          <a:xfrm>
            <a:off x="4155257" y="1850708"/>
            <a:ext cx="3881485" cy="1135380"/>
          </a:xfrm>
          <a:prstGeom prst="rect">
            <a:avLst/>
          </a:prstGeom>
          <a:noFill/>
          <a:ln>
            <a:noFill/>
          </a:ln>
        </p:spPr>
        <p:txBody>
          <a:bodyPr wrap="square" lIns="0" tIns="0" rIns="0" bIns="0" anchor="t" anchorCtr="0"/>
          <a:lstStyle/>
          <a:p>
            <a:pPr algn="ctr">
              <a:lnSpc>
                <a:spcPts val="3900"/>
              </a:lnSpc>
            </a:pPr>
            <a:r>
              <a:rPr lang="zh-CN" sz="3150" b="1" dirty="0">
                <a:solidFill>
                  <a:srgbClr val="F5F5F7"/>
                </a:solidFill>
                <a:latin typeface="Segoe UI"/>
                <a:ea typeface="Microsoft YaHei"/>
                <a:cs typeface="Segoe UI"/>
              </a:rPr>
              <a:t xml:space="preserve">The Most Advanced </a:t>
            </a:r>
            <a:r>
              <a:rPr lang="zh-CN" sz="3150" b="1" dirty="0">
                <a:solidFill>
                  <a:srgbClr val="F5F5F7"/>
                </a:solidFill>
                <a:latin typeface="Segoe UI"/>
                <a:ea typeface="Microsoft YaHei"/>
                <a:cs typeface="Segoe UI"/>
              </a:rPr>
              <a:t>iPhone Ever Made</a:t>
            </a:r>
          </a:p>
        </p:txBody>
      </p:sp>
      <p:sp>
        <p:nvSpPr>
          <p:cNvPr id="7" name="TextBox 7"/>
          <p:cNvSpPr txBox="1"/>
          <p:nvPr/>
        </p:nvSpPr>
        <p:spPr>
          <a:xfrm>
            <a:off x="3014662" y="3362325"/>
            <a:ext cx="6162675" cy="876300"/>
          </a:xfrm>
          <a:prstGeom prst="rect">
            <a:avLst/>
          </a:prstGeom>
          <a:noFill/>
          <a:ln>
            <a:noFill/>
          </a:ln>
        </p:spPr>
        <p:txBody>
          <a:bodyPr wrap="square" lIns="0" tIns="0" rIns="0" bIns="0" anchor="t" anchorCtr="0"/>
          <a:lstStyle/>
          <a:p>
            <a:pPr algn="ctr">
              <a:lnSpc>
                <a:spcPts val="2250"/>
              </a:lnSpc>
            </a:pPr>
            <a:r>
              <a:rPr lang="zh-CN" sz="1500" i="1" dirty="0">
                <a:solidFill>
                  <a:srgbClr val="8E8E93"/>
                </a:solidFill>
                <a:latin typeface="Segoe UI"/>
                <a:ea typeface="Microsoft YaHei"/>
                <a:cs typeface="Segoe UI"/>
              </a:rPr>
              <a:t xml:space="preserve">"Powered by the faster, more efficient A18 Pro chip and built for </a:t>
            </a:r>
            <a:r>
              <a:rPr lang="zh-CN" sz="1500" i="1" dirty="0">
                <a:solidFill>
                  <a:srgbClr val="8E8E93"/>
                </a:solidFill>
                <a:latin typeface="Segoe UI"/>
                <a:ea typeface="Microsoft YaHei"/>
                <a:cs typeface="Segoe UI"/>
              </a:rPr>
              <a:t xml:space="preserve">Apple Intelligence, iPhone 16 Pro and iPhone 16 Pro Max are </a:t>
            </a:r>
            <a:r>
              <a:rPr lang="zh-CN" sz="1500" i="1" dirty="0">
                <a:solidFill>
                  <a:srgbClr val="8E8E93"/>
                </a:solidFill>
                <a:latin typeface="Segoe UI"/>
                <a:ea typeface="Microsoft YaHei"/>
                <a:cs typeface="Segoe UI"/>
              </a:rPr>
              <a:t>the most advanced iPhone models we've ever made."</a:t>
            </a:r>
          </a:p>
        </p:txBody>
      </p:sp>
      <p:sp>
        <p:nvSpPr>
          <p:cNvPr id="8" name="TextBox 8"/>
          <p:cNvSpPr txBox="1"/>
          <p:nvPr/>
        </p:nvSpPr>
        <p:spPr>
          <a:xfrm>
            <a:off x="4480560" y="4490085"/>
            <a:ext cx="3230880" cy="243840"/>
          </a:xfrm>
          <a:prstGeom prst="rect">
            <a:avLst/>
          </a:prstGeom>
          <a:noFill/>
          <a:ln>
            <a:noFill/>
          </a:ln>
        </p:spPr>
        <p:txBody>
          <a:bodyPr wrap="none" lIns="0" tIns="0" rIns="0" bIns="0" anchor="t" anchorCtr="0">
            <a:spAutoFit/>
          </a:bodyPr>
          <a:lstStyle/>
          <a:p>
            <a:pPr algn="ctr"/>
            <a:r>
              <a:rPr lang="zh-CN" sz="1200" dirty="0">
                <a:solidFill>
                  <a:srgbClr val="636366"/>
                </a:solidFill>
                <a:latin typeface="Segoe UI"/>
                <a:ea typeface="Microsoft YaHei"/>
                <a:cs typeface="Segoe UI"/>
              </a:rPr>
              <a:t>— Greg Joswiak, SVP Worldwide Marketing</a:t>
            </a:r>
          </a:p>
        </p:txBody>
      </p:sp>
      <p:sp>
        <p:nvSpPr>
          <p:cNvPr id="9" name="Rectangle 9"/>
          <p:cNvSpPr/>
          <p:nvPr/>
        </p:nvSpPr>
        <p:spPr>
          <a:xfrm>
            <a:off x="1333500" y="5143500"/>
            <a:ext cx="1619250" cy="952500"/>
          </a:xfrm>
          <a:prstGeom prst="roundRect">
            <a:avLst>
              <a:gd name="adj" fmla="val 12000"/>
            </a:avLst>
          </a:prstGeom>
          <a:solidFill>
            <a:srgbClr val="15151F"/>
          </a:solidFill>
          <a:ln w="9525">
            <a:solidFill>
              <a:srgbClr val="2A2A3A"/>
            </a:solidFill>
          </a:ln>
        </p:spPr>
      </p:sp>
      <p:grpSp>
        <p:nvGrpSpPr>
          <p:cNvPr id="15" name="Group 15"/>
          <p:cNvGrpSpPr/>
          <p:nvPr/>
        </p:nvGrpSpPr>
        <p:grpSpPr>
          <a:xfrm>
            <a:off x="2047875" y="5334000"/>
            <a:ext cx="266701" cy="266700"/>
            <a:chOff x="2047875" y="5334000"/>
            <a:chExt cx="266701" cy="266700"/>
          </a:xfrm>
        </p:grpSpPr>
        <p:sp>
          <p:nvSpPr>
            <p:cNvPr id="10" name="Freeform 10"/>
            <p:cNvSpPr/>
            <p:nvPr/>
          </p:nvSpPr>
          <p:spPr>
            <a:xfrm>
              <a:off x="2181225" y="5334000"/>
              <a:ext cx="116681" cy="116681"/>
            </a:xfrm>
            <a:custGeom>
              <a:avLst/>
              <a:gdLst/>
              <a:ahLst/>
              <a:cxnLst/>
              <a:rect l="l" t="t" r="r" b="b"/>
              <a:pathLst>
                <a:path w="116681" h="116681">
                  <a:moveTo>
                    <a:pt x="0" y="50006"/>
                  </a:moveTo>
                  <a:lnTo>
                    <a:pt x="41672" y="41672"/>
                  </a:lnTo>
                  <a:lnTo>
                    <a:pt x="50006" y="0"/>
                  </a:lnTo>
                  <a:lnTo>
                    <a:pt x="66675" y="0"/>
                  </a:lnTo>
                  <a:lnTo>
                    <a:pt x="75009" y="41672"/>
                  </a:lnTo>
                  <a:lnTo>
                    <a:pt x="116681" y="50006"/>
                  </a:lnTo>
                  <a:lnTo>
                    <a:pt x="116681" y="66675"/>
                  </a:lnTo>
                  <a:lnTo>
                    <a:pt x="75009" y="75009"/>
                  </a:lnTo>
                  <a:lnTo>
                    <a:pt x="66675" y="116681"/>
                  </a:lnTo>
                  <a:lnTo>
                    <a:pt x="50006" y="116681"/>
                  </a:lnTo>
                  <a:lnTo>
                    <a:pt x="41672" y="75009"/>
                  </a:lnTo>
                  <a:lnTo>
                    <a:pt x="0" y="66675"/>
                  </a:lnTo>
                  <a:lnTo>
                    <a:pt x="0" y="50006"/>
                  </a:lnTo>
                  <a:close/>
                </a:path>
              </a:pathLst>
            </a:custGeom>
            <a:solidFill>
              <a:srgbClr val="0A84FF"/>
            </a:solidFill>
            <a:ln>
              <a:noFill/>
            </a:ln>
          </p:spPr>
        </p:sp>
        <p:sp>
          <p:nvSpPr>
            <p:cNvPr id="11" name="Freeform 11"/>
            <p:cNvSpPr/>
            <p:nvPr/>
          </p:nvSpPr>
          <p:spPr>
            <a:xfrm>
              <a:off x="2047875" y="5417344"/>
              <a:ext cx="183356" cy="183356"/>
            </a:xfrm>
            <a:custGeom>
              <a:avLst/>
              <a:gdLst/>
              <a:ahLst/>
              <a:cxnLst/>
              <a:rect l="l" t="t" r="r" b="b"/>
              <a:pathLst>
                <a:path w="183356" h="183356">
                  <a:moveTo>
                    <a:pt x="0" y="100012"/>
                  </a:moveTo>
                  <a:lnTo>
                    <a:pt x="0" y="83344"/>
                  </a:lnTo>
                  <a:lnTo>
                    <a:pt x="66675" y="66675"/>
                  </a:lnTo>
                  <a:lnTo>
                    <a:pt x="83344" y="0"/>
                  </a:lnTo>
                  <a:lnTo>
                    <a:pt x="100012" y="0"/>
                  </a:lnTo>
                  <a:lnTo>
                    <a:pt x="116681" y="66675"/>
                  </a:lnTo>
                  <a:lnTo>
                    <a:pt x="183356" y="83344"/>
                  </a:lnTo>
                  <a:lnTo>
                    <a:pt x="183356" y="100012"/>
                  </a:lnTo>
                  <a:lnTo>
                    <a:pt x="116681" y="116681"/>
                  </a:lnTo>
                  <a:lnTo>
                    <a:pt x="100012" y="183356"/>
                  </a:lnTo>
                  <a:lnTo>
                    <a:pt x="83344" y="183356"/>
                  </a:lnTo>
                  <a:lnTo>
                    <a:pt x="66675" y="116681"/>
                  </a:lnTo>
                  <a:lnTo>
                    <a:pt x="0" y="100012"/>
                  </a:lnTo>
                  <a:close/>
                </a:path>
              </a:pathLst>
            </a:custGeom>
            <a:solidFill>
              <a:srgbClr val="0A84FF"/>
            </a:solidFill>
            <a:ln>
              <a:noFill/>
            </a:ln>
          </p:spPr>
        </p:sp>
        <p:sp>
          <p:nvSpPr>
            <p:cNvPr id="12" name="Freeform 12"/>
            <p:cNvSpPr/>
            <p:nvPr/>
          </p:nvSpPr>
          <p:spPr>
            <a:xfrm>
              <a:off x="2064544" y="5342334"/>
              <a:ext cx="50006" cy="50006"/>
            </a:xfrm>
            <a:custGeom>
              <a:avLst/>
              <a:gdLst/>
              <a:ahLst/>
              <a:cxnLst/>
              <a:rect l="l" t="t" r="r" b="b"/>
              <a:pathLst>
                <a:path w="50006" h="50006">
                  <a:moveTo>
                    <a:pt x="0" y="25003"/>
                  </a:moveTo>
                  <a:lnTo>
                    <a:pt x="25003" y="0"/>
                  </a:lnTo>
                  <a:lnTo>
                    <a:pt x="50006" y="25003"/>
                  </a:lnTo>
                  <a:lnTo>
                    <a:pt x="25003" y="50006"/>
                  </a:lnTo>
                  <a:lnTo>
                    <a:pt x="0" y="25003"/>
                  </a:lnTo>
                  <a:close/>
                </a:path>
              </a:pathLst>
            </a:custGeom>
            <a:solidFill>
              <a:srgbClr val="0A84FF"/>
            </a:solidFill>
            <a:ln>
              <a:noFill/>
            </a:ln>
          </p:spPr>
        </p:sp>
        <p:sp>
          <p:nvSpPr>
            <p:cNvPr id="13" name="Freeform 13"/>
            <p:cNvSpPr/>
            <p:nvPr/>
          </p:nvSpPr>
          <p:spPr>
            <a:xfrm>
              <a:off x="2231231" y="5534025"/>
              <a:ext cx="66675" cy="66675"/>
            </a:xfrm>
            <a:custGeom>
              <a:avLst/>
              <a:gdLst/>
              <a:ahLst/>
              <a:cxnLst/>
              <a:rect l="l" t="t" r="r" b="b"/>
              <a:pathLst>
                <a:path w="66675" h="66675">
                  <a:moveTo>
                    <a:pt x="66675" y="33338"/>
                  </a:moveTo>
                  <a:lnTo>
                    <a:pt x="33338" y="0"/>
                  </a:lnTo>
                  <a:lnTo>
                    <a:pt x="0" y="33338"/>
                  </a:lnTo>
                  <a:lnTo>
                    <a:pt x="33338" y="66675"/>
                  </a:lnTo>
                  <a:lnTo>
                    <a:pt x="66675" y="33338"/>
                  </a:lnTo>
                  <a:close/>
                </a:path>
              </a:pathLst>
            </a:custGeom>
            <a:solidFill>
              <a:srgbClr val="0A84FF"/>
            </a:solidFill>
            <a:ln>
              <a:noFill/>
            </a:ln>
          </p:spPr>
        </p:sp>
        <p:sp>
          <p:nvSpPr>
            <p:cNvPr id="14" name="Freeform 14"/>
            <p:cNvSpPr/>
            <p:nvPr/>
          </p:nvSpPr>
          <p:spPr>
            <a:xfrm>
              <a:off x="2281238" y="5467350"/>
              <a:ext cx="33338" cy="33338"/>
            </a:xfrm>
            <a:custGeom>
              <a:avLst/>
              <a:gdLst/>
              <a:ahLst/>
              <a:cxnLst/>
              <a:rect l="l" t="t" r="r" b="b"/>
              <a:pathLst>
                <a:path w="33338" h="33338">
                  <a:moveTo>
                    <a:pt x="16669" y="33338"/>
                  </a:moveTo>
                  <a:cubicBezTo>
                    <a:pt x="25875" y="33338"/>
                    <a:pt x="33338" y="25875"/>
                    <a:pt x="33338" y="16669"/>
                  </a:cubicBezTo>
                  <a:cubicBezTo>
                    <a:pt x="33338" y="7463"/>
                    <a:pt x="25875" y="0"/>
                    <a:pt x="16669" y="0"/>
                  </a:cubicBezTo>
                  <a:cubicBezTo>
                    <a:pt x="7463" y="0"/>
                    <a:pt x="0" y="7463"/>
                    <a:pt x="0" y="16669"/>
                  </a:cubicBezTo>
                  <a:cubicBezTo>
                    <a:pt x="0" y="25875"/>
                    <a:pt x="7463" y="33338"/>
                    <a:pt x="16669" y="33338"/>
                  </a:cubicBezTo>
                  <a:close/>
                </a:path>
              </a:pathLst>
            </a:custGeom>
            <a:solidFill>
              <a:srgbClr val="0A84FF"/>
            </a:solidFill>
            <a:ln>
              <a:noFill/>
            </a:ln>
          </p:spPr>
        </p:sp>
      </p:grpSp>
      <p:sp>
        <p:nvSpPr>
          <p:cNvPr id="16" name="TextBox 16"/>
          <p:cNvSpPr txBox="1"/>
          <p:nvPr/>
        </p:nvSpPr>
        <p:spPr>
          <a:xfrm>
            <a:off x="1954768" y="5744528"/>
            <a:ext cx="376714" cy="213360"/>
          </a:xfrm>
          <a:prstGeom prst="rect">
            <a:avLst/>
          </a:prstGeom>
          <a:noFill/>
          <a:ln>
            <a:noFill/>
          </a:ln>
        </p:spPr>
        <p:txBody>
          <a:bodyPr wrap="none" lIns="0" tIns="0" rIns="0" bIns="0" anchor="t" anchorCtr="0">
            <a:spAutoFit/>
          </a:bodyPr>
          <a:lstStyle/>
          <a:p>
            <a:pPr algn="ctr"/>
            <a:r>
              <a:rPr lang="zh-CN" sz="1050" dirty="0">
                <a:solidFill>
                  <a:srgbClr val="E5E5EA"/>
                </a:solidFill>
                <a:latin typeface="Segoe UI"/>
                <a:ea typeface="Microsoft YaHei"/>
                <a:cs typeface="Segoe UI"/>
              </a:rPr>
              <a:t>Apple</a:t>
            </a:r>
          </a:p>
        </p:txBody>
      </p:sp>
      <p:sp>
        <p:nvSpPr>
          <p:cNvPr id="17" name="TextBox 17"/>
          <p:cNvSpPr txBox="1"/>
          <p:nvPr/>
        </p:nvSpPr>
        <p:spPr>
          <a:xfrm>
            <a:off x="1737741" y="5906452"/>
            <a:ext cx="810768" cy="213360"/>
          </a:xfrm>
          <a:prstGeom prst="rect">
            <a:avLst/>
          </a:prstGeom>
          <a:noFill/>
          <a:ln>
            <a:noFill/>
          </a:ln>
        </p:spPr>
        <p:txBody>
          <a:bodyPr wrap="none" lIns="0" tIns="0" rIns="0" bIns="0" anchor="t" anchorCtr="0">
            <a:spAutoFit/>
          </a:bodyPr>
          <a:lstStyle/>
          <a:p>
            <a:pPr algn="ctr"/>
            <a:r>
              <a:rPr lang="zh-CN" sz="1050" dirty="0">
                <a:solidFill>
                  <a:srgbClr val="E5E5EA"/>
                </a:solidFill>
                <a:latin typeface="Segoe UI"/>
                <a:ea typeface="Microsoft YaHei"/>
                <a:cs typeface="Segoe UI"/>
              </a:rPr>
              <a:t>Intelligence</a:t>
            </a:r>
          </a:p>
        </p:txBody>
      </p:sp>
      <p:sp>
        <p:nvSpPr>
          <p:cNvPr id="18" name="Rectangle 18"/>
          <p:cNvSpPr/>
          <p:nvPr/>
        </p:nvSpPr>
        <p:spPr>
          <a:xfrm>
            <a:off x="3238500" y="5143500"/>
            <a:ext cx="1619250" cy="952500"/>
          </a:xfrm>
          <a:prstGeom prst="roundRect">
            <a:avLst>
              <a:gd name="adj" fmla="val 12000"/>
            </a:avLst>
          </a:prstGeom>
          <a:solidFill>
            <a:srgbClr val="15151F"/>
          </a:solidFill>
          <a:ln w="9525">
            <a:solidFill>
              <a:srgbClr val="2A2A3A"/>
            </a:solidFill>
          </a:ln>
        </p:spPr>
      </p:sp>
      <p:grpSp>
        <p:nvGrpSpPr>
          <p:cNvPr id="21" name="Group 21"/>
          <p:cNvGrpSpPr/>
          <p:nvPr/>
        </p:nvGrpSpPr>
        <p:grpSpPr>
          <a:xfrm>
            <a:off x="3952875" y="5334000"/>
            <a:ext cx="266700" cy="266700"/>
            <a:chOff x="3952875" y="5334000"/>
            <a:chExt cx="266700" cy="266700"/>
          </a:xfrm>
        </p:grpSpPr>
        <p:sp>
          <p:nvSpPr>
            <p:cNvPr id="19" name="Freeform 19"/>
            <p:cNvSpPr/>
            <p:nvPr/>
          </p:nvSpPr>
          <p:spPr>
            <a:xfrm>
              <a:off x="4052888" y="5434012"/>
              <a:ext cx="66675" cy="66675"/>
            </a:xfrm>
            <a:custGeom>
              <a:avLst/>
              <a:gdLst/>
              <a:ahLst/>
              <a:cxnLst/>
              <a:rect l="l" t="t" r="r" b="b"/>
              <a:pathLst>
                <a:path w="66675" h="66675">
                  <a:moveTo>
                    <a:pt x="0" y="66675"/>
                  </a:moveTo>
                  <a:lnTo>
                    <a:pt x="0" y="0"/>
                  </a:lnTo>
                  <a:lnTo>
                    <a:pt x="66675" y="0"/>
                  </a:lnTo>
                  <a:lnTo>
                    <a:pt x="66675" y="66675"/>
                  </a:lnTo>
                  <a:lnTo>
                    <a:pt x="0" y="66675"/>
                  </a:lnTo>
                  <a:close/>
                </a:path>
              </a:pathLst>
            </a:custGeom>
            <a:solidFill>
              <a:srgbClr val="0A84FF"/>
            </a:solidFill>
            <a:ln>
              <a:noFill/>
            </a:ln>
          </p:spPr>
        </p:sp>
        <p:sp>
          <p:nvSpPr>
            <p:cNvPr id="20" name="Freeform 20"/>
            <p:cNvSpPr/>
            <p:nvPr/>
          </p:nvSpPr>
          <p:spPr>
            <a:xfrm>
              <a:off x="3952875" y="5334000"/>
              <a:ext cx="266700" cy="266700"/>
            </a:xfrm>
            <a:custGeom>
              <a:avLst/>
              <a:gdLst/>
              <a:ahLst/>
              <a:cxnLst/>
              <a:rect l="l" t="t" r="r" b="b"/>
              <a:pathLst>
                <a:path w="266700" h="266700">
                  <a:moveTo>
                    <a:pt x="50006" y="33338"/>
                  </a:moveTo>
                  <a:lnTo>
                    <a:pt x="50006" y="0"/>
                  </a:lnTo>
                  <a:lnTo>
                    <a:pt x="83344" y="0"/>
                  </a:lnTo>
                  <a:lnTo>
                    <a:pt x="83344" y="33338"/>
                  </a:lnTo>
                  <a:lnTo>
                    <a:pt x="116681" y="33338"/>
                  </a:lnTo>
                  <a:lnTo>
                    <a:pt x="116681" y="0"/>
                  </a:lnTo>
                  <a:lnTo>
                    <a:pt x="150019" y="0"/>
                  </a:lnTo>
                  <a:lnTo>
                    <a:pt x="150019" y="33338"/>
                  </a:lnTo>
                  <a:lnTo>
                    <a:pt x="183356" y="33338"/>
                  </a:lnTo>
                  <a:lnTo>
                    <a:pt x="183356" y="0"/>
                  </a:lnTo>
                  <a:lnTo>
                    <a:pt x="216694" y="0"/>
                  </a:lnTo>
                  <a:lnTo>
                    <a:pt x="216694" y="33338"/>
                  </a:lnTo>
                  <a:lnTo>
                    <a:pt x="233362" y="33338"/>
                  </a:lnTo>
                  <a:lnTo>
                    <a:pt x="233362" y="50006"/>
                  </a:lnTo>
                  <a:lnTo>
                    <a:pt x="266700" y="50006"/>
                  </a:lnTo>
                  <a:lnTo>
                    <a:pt x="266700" y="83344"/>
                  </a:lnTo>
                  <a:lnTo>
                    <a:pt x="233362" y="83344"/>
                  </a:lnTo>
                  <a:lnTo>
                    <a:pt x="233362" y="116681"/>
                  </a:lnTo>
                  <a:lnTo>
                    <a:pt x="266700" y="116681"/>
                  </a:lnTo>
                  <a:lnTo>
                    <a:pt x="266700" y="150019"/>
                  </a:lnTo>
                  <a:lnTo>
                    <a:pt x="233362" y="150019"/>
                  </a:lnTo>
                  <a:lnTo>
                    <a:pt x="233362" y="183356"/>
                  </a:lnTo>
                  <a:lnTo>
                    <a:pt x="266700" y="183356"/>
                  </a:lnTo>
                  <a:lnTo>
                    <a:pt x="266700" y="216694"/>
                  </a:lnTo>
                  <a:lnTo>
                    <a:pt x="233362" y="216694"/>
                  </a:lnTo>
                  <a:lnTo>
                    <a:pt x="233362" y="233362"/>
                  </a:lnTo>
                  <a:lnTo>
                    <a:pt x="216694" y="233362"/>
                  </a:lnTo>
                  <a:lnTo>
                    <a:pt x="216694" y="266700"/>
                  </a:lnTo>
                  <a:lnTo>
                    <a:pt x="183356" y="266700"/>
                  </a:lnTo>
                  <a:lnTo>
                    <a:pt x="183356" y="233362"/>
                  </a:lnTo>
                  <a:lnTo>
                    <a:pt x="150019" y="233362"/>
                  </a:lnTo>
                  <a:lnTo>
                    <a:pt x="150019" y="266700"/>
                  </a:lnTo>
                  <a:lnTo>
                    <a:pt x="116681" y="266700"/>
                  </a:lnTo>
                  <a:lnTo>
                    <a:pt x="116681" y="233362"/>
                  </a:lnTo>
                  <a:lnTo>
                    <a:pt x="83344" y="233362"/>
                  </a:lnTo>
                  <a:lnTo>
                    <a:pt x="83344" y="266700"/>
                  </a:lnTo>
                  <a:lnTo>
                    <a:pt x="50006" y="266700"/>
                  </a:lnTo>
                  <a:lnTo>
                    <a:pt x="50006" y="233362"/>
                  </a:lnTo>
                  <a:lnTo>
                    <a:pt x="33338" y="233362"/>
                  </a:lnTo>
                  <a:lnTo>
                    <a:pt x="33338" y="216694"/>
                  </a:lnTo>
                  <a:lnTo>
                    <a:pt x="0" y="216694"/>
                  </a:lnTo>
                  <a:lnTo>
                    <a:pt x="0" y="183356"/>
                  </a:lnTo>
                  <a:lnTo>
                    <a:pt x="33338" y="183356"/>
                  </a:lnTo>
                  <a:lnTo>
                    <a:pt x="33338" y="150019"/>
                  </a:lnTo>
                  <a:lnTo>
                    <a:pt x="0" y="150019"/>
                  </a:lnTo>
                  <a:lnTo>
                    <a:pt x="0" y="116681"/>
                  </a:lnTo>
                  <a:lnTo>
                    <a:pt x="33338" y="116681"/>
                  </a:lnTo>
                  <a:lnTo>
                    <a:pt x="33338" y="83344"/>
                  </a:lnTo>
                  <a:lnTo>
                    <a:pt x="0" y="83344"/>
                  </a:lnTo>
                  <a:lnTo>
                    <a:pt x="0" y="50006"/>
                  </a:lnTo>
                  <a:lnTo>
                    <a:pt x="33338" y="50006"/>
                  </a:lnTo>
                  <a:lnTo>
                    <a:pt x="33338" y="33338"/>
                  </a:lnTo>
                  <a:lnTo>
                    <a:pt x="50006" y="33338"/>
                  </a:lnTo>
                  <a:close/>
                  <a:moveTo>
                    <a:pt x="66675" y="66675"/>
                  </a:moveTo>
                  <a:lnTo>
                    <a:pt x="66675" y="200025"/>
                  </a:lnTo>
                  <a:lnTo>
                    <a:pt x="200025" y="200025"/>
                  </a:lnTo>
                  <a:lnTo>
                    <a:pt x="200025" y="66675"/>
                  </a:lnTo>
                  <a:lnTo>
                    <a:pt x="66675" y="66675"/>
                  </a:lnTo>
                  <a:close/>
                </a:path>
              </a:pathLst>
            </a:custGeom>
            <a:solidFill>
              <a:srgbClr val="0A84FF"/>
            </a:solidFill>
            <a:ln>
              <a:noFill/>
            </a:ln>
          </p:spPr>
        </p:sp>
      </p:grpSp>
      <p:sp>
        <p:nvSpPr>
          <p:cNvPr id="22" name="TextBox 22"/>
          <p:cNvSpPr txBox="1"/>
          <p:nvPr/>
        </p:nvSpPr>
        <p:spPr>
          <a:xfrm>
            <a:off x="3625239" y="5820728"/>
            <a:ext cx="845772" cy="213360"/>
          </a:xfrm>
          <a:prstGeom prst="rect">
            <a:avLst/>
          </a:prstGeom>
          <a:noFill/>
          <a:ln>
            <a:noFill/>
          </a:ln>
        </p:spPr>
        <p:txBody>
          <a:bodyPr wrap="none" lIns="0" tIns="0" rIns="0" bIns="0" anchor="t" anchorCtr="0">
            <a:spAutoFit/>
          </a:bodyPr>
          <a:lstStyle/>
          <a:p>
            <a:pPr algn="ctr"/>
            <a:r>
              <a:rPr lang="zh-CN" sz="1050" dirty="0">
                <a:solidFill>
                  <a:srgbClr val="E5E5EA"/>
                </a:solidFill>
                <a:latin typeface="Segoe UI"/>
                <a:ea typeface="Microsoft YaHei"/>
                <a:cs typeface="Segoe UI"/>
              </a:rPr>
              <a:t>A18 Pro Chip</a:t>
            </a:r>
          </a:p>
        </p:txBody>
      </p:sp>
      <p:sp>
        <p:nvSpPr>
          <p:cNvPr id="23" name="Rectangle 23"/>
          <p:cNvSpPr/>
          <p:nvPr/>
        </p:nvSpPr>
        <p:spPr>
          <a:xfrm>
            <a:off x="5143500" y="5143500"/>
            <a:ext cx="1619250" cy="952500"/>
          </a:xfrm>
          <a:prstGeom prst="roundRect">
            <a:avLst>
              <a:gd name="adj" fmla="val 12000"/>
            </a:avLst>
          </a:prstGeom>
          <a:solidFill>
            <a:srgbClr val="15151F"/>
          </a:solidFill>
          <a:ln w="9525">
            <a:solidFill>
              <a:srgbClr val="2A2A3A"/>
            </a:solidFill>
          </a:ln>
        </p:spPr>
      </p:sp>
      <p:sp>
        <p:nvSpPr>
          <p:cNvPr id="24" name="Freeform 24"/>
          <p:cNvSpPr/>
          <p:nvPr/>
        </p:nvSpPr>
        <p:spPr>
          <a:xfrm>
            <a:off x="5857875" y="5350669"/>
            <a:ext cx="266700" cy="216694"/>
          </a:xfrm>
          <a:custGeom>
            <a:avLst/>
            <a:gdLst/>
            <a:ahLst/>
            <a:cxnLst/>
            <a:rect l="l" t="t" r="r" b="b"/>
            <a:pathLst>
              <a:path w="266700" h="216694">
                <a:moveTo>
                  <a:pt x="50006" y="33338"/>
                </a:moveTo>
                <a:lnTo>
                  <a:pt x="0" y="33338"/>
                </a:lnTo>
                <a:lnTo>
                  <a:pt x="0" y="216694"/>
                </a:lnTo>
                <a:lnTo>
                  <a:pt x="266700" y="216694"/>
                </a:lnTo>
                <a:lnTo>
                  <a:pt x="266700" y="33338"/>
                </a:lnTo>
                <a:lnTo>
                  <a:pt x="216694" y="33338"/>
                </a:lnTo>
                <a:lnTo>
                  <a:pt x="183356" y="0"/>
                </a:lnTo>
                <a:lnTo>
                  <a:pt x="83344" y="0"/>
                </a:lnTo>
                <a:lnTo>
                  <a:pt x="50006" y="33338"/>
                </a:lnTo>
                <a:close/>
                <a:moveTo>
                  <a:pt x="133350" y="166688"/>
                </a:moveTo>
                <a:cubicBezTo>
                  <a:pt x="160968" y="166688"/>
                  <a:pt x="183356" y="144299"/>
                  <a:pt x="183356" y="116681"/>
                </a:cubicBezTo>
                <a:cubicBezTo>
                  <a:pt x="183356" y="89064"/>
                  <a:pt x="160968" y="66675"/>
                  <a:pt x="133350" y="66675"/>
                </a:cubicBezTo>
                <a:cubicBezTo>
                  <a:pt x="105732" y="66675"/>
                  <a:pt x="83344" y="89064"/>
                  <a:pt x="83344" y="116681"/>
                </a:cubicBezTo>
                <a:cubicBezTo>
                  <a:pt x="83344" y="144299"/>
                  <a:pt x="105732" y="166688"/>
                  <a:pt x="133350" y="166688"/>
                </a:cubicBezTo>
                <a:close/>
              </a:path>
            </a:pathLst>
          </a:custGeom>
          <a:solidFill>
            <a:srgbClr val="0A84FF"/>
          </a:solidFill>
          <a:ln>
            <a:noFill/>
          </a:ln>
        </p:spPr>
      </p:sp>
      <p:sp>
        <p:nvSpPr>
          <p:cNvPr id="25" name="TextBox 25"/>
          <p:cNvSpPr txBox="1"/>
          <p:nvPr/>
        </p:nvSpPr>
        <p:spPr>
          <a:xfrm>
            <a:off x="5558242" y="5820728"/>
            <a:ext cx="789765" cy="213360"/>
          </a:xfrm>
          <a:prstGeom prst="rect">
            <a:avLst/>
          </a:prstGeom>
          <a:noFill/>
          <a:ln>
            <a:noFill/>
          </a:ln>
        </p:spPr>
        <p:txBody>
          <a:bodyPr wrap="none" lIns="0" tIns="0" rIns="0" bIns="0" anchor="t" anchorCtr="0">
            <a:spAutoFit/>
          </a:bodyPr>
          <a:lstStyle/>
          <a:p>
            <a:pPr algn="ctr"/>
            <a:r>
              <a:rPr lang="zh-CN" sz="1050" dirty="0">
                <a:solidFill>
                  <a:srgbClr val="E5E5EA"/>
                </a:solidFill>
                <a:latin typeface="Segoe UI"/>
                <a:ea typeface="Microsoft YaHei"/>
                <a:cs typeface="Segoe UI"/>
              </a:rPr>
              <a:t>Pro Camera</a:t>
            </a:r>
          </a:p>
        </p:txBody>
      </p:sp>
      <p:sp>
        <p:nvSpPr>
          <p:cNvPr id="26" name="Rectangle 26"/>
          <p:cNvSpPr/>
          <p:nvPr/>
        </p:nvSpPr>
        <p:spPr>
          <a:xfrm>
            <a:off x="7048500" y="5143500"/>
            <a:ext cx="1619250" cy="952500"/>
          </a:xfrm>
          <a:prstGeom prst="roundRect">
            <a:avLst>
              <a:gd name="adj" fmla="val 12000"/>
            </a:avLst>
          </a:prstGeom>
          <a:solidFill>
            <a:srgbClr val="15151F"/>
          </a:solidFill>
          <a:ln w="9525">
            <a:solidFill>
              <a:srgbClr val="2A2A3A"/>
            </a:solidFill>
          </a:ln>
        </p:spPr>
      </p:sp>
      <p:sp>
        <p:nvSpPr>
          <p:cNvPr id="27" name="Freeform 27"/>
          <p:cNvSpPr/>
          <p:nvPr/>
        </p:nvSpPr>
        <p:spPr>
          <a:xfrm>
            <a:off x="7796212" y="5334000"/>
            <a:ext cx="200025" cy="266700"/>
          </a:xfrm>
          <a:custGeom>
            <a:avLst/>
            <a:gdLst/>
            <a:ahLst/>
            <a:cxnLst/>
            <a:rect l="l" t="t" r="r" b="b"/>
            <a:pathLst>
              <a:path w="200025" h="266700">
                <a:moveTo>
                  <a:pt x="33338" y="0"/>
                </a:moveTo>
                <a:cubicBezTo>
                  <a:pt x="14926" y="0"/>
                  <a:pt x="0" y="14926"/>
                  <a:pt x="0" y="33338"/>
                </a:cubicBezTo>
                <a:lnTo>
                  <a:pt x="0" y="233362"/>
                </a:lnTo>
                <a:cubicBezTo>
                  <a:pt x="0" y="251775"/>
                  <a:pt x="14926" y="266700"/>
                  <a:pt x="33338" y="266700"/>
                </a:cubicBezTo>
                <a:lnTo>
                  <a:pt x="166688" y="266700"/>
                </a:lnTo>
                <a:cubicBezTo>
                  <a:pt x="185100" y="266700"/>
                  <a:pt x="200025" y="251775"/>
                  <a:pt x="200025" y="233362"/>
                </a:cubicBezTo>
                <a:lnTo>
                  <a:pt x="200025" y="33338"/>
                </a:lnTo>
                <a:cubicBezTo>
                  <a:pt x="200025" y="14926"/>
                  <a:pt x="185100" y="0"/>
                  <a:pt x="166688" y="0"/>
                </a:cubicBezTo>
                <a:lnTo>
                  <a:pt x="33338" y="0"/>
                </a:lnTo>
                <a:close/>
                <a:moveTo>
                  <a:pt x="166688" y="50006"/>
                </a:moveTo>
                <a:lnTo>
                  <a:pt x="33338" y="50006"/>
                </a:lnTo>
                <a:lnTo>
                  <a:pt x="33338" y="216694"/>
                </a:lnTo>
                <a:lnTo>
                  <a:pt x="166688" y="216694"/>
                </a:lnTo>
                <a:lnTo>
                  <a:pt x="166688" y="50006"/>
                </a:lnTo>
                <a:close/>
              </a:path>
            </a:pathLst>
          </a:custGeom>
          <a:solidFill>
            <a:srgbClr val="0A84FF"/>
          </a:solidFill>
          <a:ln>
            <a:noFill/>
          </a:ln>
        </p:spPr>
      </p:sp>
      <p:sp>
        <p:nvSpPr>
          <p:cNvPr id="28" name="TextBox 28"/>
          <p:cNvSpPr txBox="1"/>
          <p:nvPr/>
        </p:nvSpPr>
        <p:spPr>
          <a:xfrm>
            <a:off x="7319724" y="5820728"/>
            <a:ext cx="1076801" cy="213360"/>
          </a:xfrm>
          <a:prstGeom prst="rect">
            <a:avLst/>
          </a:prstGeom>
          <a:noFill/>
          <a:ln>
            <a:noFill/>
          </a:ln>
        </p:spPr>
        <p:txBody>
          <a:bodyPr wrap="none" lIns="0" tIns="0" rIns="0" bIns="0" anchor="t" anchorCtr="0">
            <a:spAutoFit/>
          </a:bodyPr>
          <a:lstStyle/>
          <a:p>
            <a:pPr algn="ctr"/>
            <a:r>
              <a:rPr lang="zh-CN" sz="1050" dirty="0">
                <a:solidFill>
                  <a:srgbClr val="E5E5EA"/>
                </a:solidFill>
                <a:latin typeface="Segoe UI"/>
                <a:ea typeface="Microsoft YaHei"/>
                <a:cs typeface="Segoe UI"/>
              </a:rPr>
              <a:t>Larger Displays</a:t>
            </a:r>
          </a:p>
        </p:txBody>
      </p:sp>
      <p:sp>
        <p:nvSpPr>
          <p:cNvPr id="29" name="Rectangle 29"/>
          <p:cNvSpPr/>
          <p:nvPr/>
        </p:nvSpPr>
        <p:spPr>
          <a:xfrm>
            <a:off x="8953500" y="5143500"/>
            <a:ext cx="1619250" cy="952500"/>
          </a:xfrm>
          <a:prstGeom prst="roundRect">
            <a:avLst>
              <a:gd name="adj" fmla="val 12000"/>
            </a:avLst>
          </a:prstGeom>
          <a:solidFill>
            <a:srgbClr val="15151F"/>
          </a:solidFill>
          <a:ln w="9525">
            <a:solidFill>
              <a:srgbClr val="2A2A3A"/>
            </a:solidFill>
          </a:ln>
        </p:spPr>
      </p:sp>
      <p:sp>
        <p:nvSpPr>
          <p:cNvPr id="30" name="Freeform 30"/>
          <p:cNvSpPr/>
          <p:nvPr/>
        </p:nvSpPr>
        <p:spPr>
          <a:xfrm>
            <a:off x="9701212" y="5334000"/>
            <a:ext cx="200025" cy="266700"/>
          </a:xfrm>
          <a:custGeom>
            <a:avLst/>
            <a:gdLst/>
            <a:ahLst/>
            <a:cxnLst/>
            <a:rect l="l" t="t" r="r" b="b"/>
            <a:pathLst>
              <a:path w="200025" h="266700">
                <a:moveTo>
                  <a:pt x="116681" y="116681"/>
                </a:moveTo>
                <a:lnTo>
                  <a:pt x="133350" y="0"/>
                </a:lnTo>
                <a:lnTo>
                  <a:pt x="100012" y="0"/>
                </a:lnTo>
                <a:lnTo>
                  <a:pt x="0" y="116681"/>
                </a:lnTo>
                <a:lnTo>
                  <a:pt x="0" y="150019"/>
                </a:lnTo>
                <a:lnTo>
                  <a:pt x="83344" y="150019"/>
                </a:lnTo>
                <a:lnTo>
                  <a:pt x="66675" y="266700"/>
                </a:lnTo>
                <a:lnTo>
                  <a:pt x="100012" y="266700"/>
                </a:lnTo>
                <a:lnTo>
                  <a:pt x="200025" y="150019"/>
                </a:lnTo>
                <a:lnTo>
                  <a:pt x="200025" y="116681"/>
                </a:lnTo>
                <a:lnTo>
                  <a:pt x="116681" y="116681"/>
                </a:lnTo>
                <a:close/>
              </a:path>
            </a:pathLst>
          </a:custGeom>
          <a:solidFill>
            <a:srgbClr val="0A84FF"/>
          </a:solidFill>
          <a:ln>
            <a:noFill/>
          </a:ln>
        </p:spPr>
      </p:sp>
      <p:sp>
        <p:nvSpPr>
          <p:cNvPr id="31" name="TextBox 31"/>
          <p:cNvSpPr txBox="1"/>
          <p:nvPr/>
        </p:nvSpPr>
        <p:spPr>
          <a:xfrm>
            <a:off x="9305234" y="5820728"/>
            <a:ext cx="915781" cy="213360"/>
          </a:xfrm>
          <a:prstGeom prst="rect">
            <a:avLst/>
          </a:prstGeom>
          <a:noFill/>
          <a:ln>
            <a:noFill/>
          </a:ln>
        </p:spPr>
        <p:txBody>
          <a:bodyPr wrap="none" lIns="0" tIns="0" rIns="0" bIns="0" anchor="t" anchorCtr="0">
            <a:spAutoFit/>
          </a:bodyPr>
          <a:lstStyle/>
          <a:p>
            <a:pPr algn="ctr"/>
            <a:r>
              <a:rPr lang="zh-CN" sz="1050" dirty="0">
                <a:solidFill>
                  <a:srgbClr val="E5E5EA"/>
                </a:solidFill>
                <a:latin typeface="Segoe UI"/>
                <a:ea typeface="Microsoft YaHei"/>
                <a:cs typeface="Segoe UI"/>
              </a:rPr>
              <a:t>Battery Leap</a:t>
            </a:r>
          </a:p>
        </p:txBody>
      </p:sp>
      <p:sp>
        <p:nvSpPr>
          <p:cNvPr id="32" name="TextBox 32"/>
          <p:cNvSpPr txBox="1"/>
          <p:nvPr/>
        </p:nvSpPr>
        <p:spPr>
          <a:xfrm>
            <a:off x="11207020" y="6475095"/>
            <a:ext cx="424910" cy="182880"/>
          </a:xfrm>
          <a:prstGeom prst="rect">
            <a:avLst/>
          </a:prstGeom>
          <a:noFill/>
          <a:ln>
            <a:noFill/>
          </a:ln>
        </p:spPr>
        <p:txBody>
          <a:bodyPr wrap="none" lIns="0" tIns="0" rIns="0" bIns="0" anchor="t" anchorCtr="0">
            <a:spAutoFit/>
          </a:bodyPr>
          <a:lstStyle/>
          <a:p>
            <a:pPr algn="r"/>
            <a:r>
              <a:rPr lang="zh-CN" sz="900" dirty="0">
                <a:solidFill>
                  <a:srgbClr val="636366"/>
                </a:solidFill>
                <a:latin typeface="Consolas"/>
                <a:ea typeface="Microsoft YaHei"/>
                <a:cs typeface="Consolas"/>
              </a:rPr>
              <a:t>02 / 09</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A0A0F"/>
          </a:solidFill>
          <a:ln>
            <a:noFill/>
          </a:ln>
        </p:spPr>
      </p:sp>
      <p:sp>
        <p:nvSpPr>
          <p:cNvPr id="3" name="Rectangle 3"/>
          <p:cNvSpPr/>
          <p:nvPr/>
        </p:nvSpPr>
        <p:spPr>
          <a:xfrm>
            <a:off x="571500" y="476250"/>
            <a:ext cx="571500" cy="38100"/>
          </a:xfrm>
          <a:prstGeom prst="roundRect">
            <a:avLst>
              <a:gd name="adj" fmla="val 50000"/>
            </a:avLst>
          </a:prstGeom>
          <a:gradFill>
            <a:gsLst>
              <a:gs pos="0">
                <a:srgbClr val="0A84FF"/>
              </a:gs>
              <a:gs pos="100000">
                <a:srgbClr val="5E5CE6"/>
              </a:gs>
            </a:gsLst>
            <a:lin ang="0" scaled="1"/>
          </a:gradFill>
          <a:ln>
            <a:noFill/>
          </a:ln>
        </p:spPr>
      </p:sp>
      <p:sp>
        <p:nvSpPr>
          <p:cNvPr id="4" name="TextBox 4"/>
          <p:cNvSpPr txBox="1"/>
          <p:nvPr/>
        </p:nvSpPr>
        <p:spPr>
          <a:xfrm>
            <a:off x="537210" y="565785"/>
            <a:ext cx="4945390" cy="548640"/>
          </a:xfrm>
          <a:prstGeom prst="rect">
            <a:avLst/>
          </a:prstGeom>
          <a:noFill/>
          <a:ln>
            <a:noFill/>
          </a:ln>
        </p:spPr>
        <p:txBody>
          <a:bodyPr wrap="none" lIns="0" tIns="0" rIns="0" bIns="0" anchor="t" anchorCtr="0">
            <a:spAutoFit/>
          </a:bodyPr>
          <a:lstStyle/>
          <a:p>
            <a:pPr algn="l"/>
            <a:r>
              <a:rPr lang="zh-CN" sz="2700" b="1" dirty="0">
                <a:solidFill>
                  <a:srgbClr val="F5F5F7"/>
                </a:solidFill>
                <a:latin typeface="Segoe UI"/>
                <a:ea typeface="Microsoft YaHei"/>
                <a:cs typeface="Segoe UI"/>
              </a:rPr>
              <a:t>Built for Apple Intelligence</a:t>
            </a:r>
          </a:p>
        </p:txBody>
      </p:sp>
      <p:sp>
        <p:nvSpPr>
          <p:cNvPr id="5" name="TextBox 5"/>
          <p:cNvSpPr txBox="1"/>
          <p:nvPr/>
        </p:nvSpPr>
        <p:spPr>
          <a:xfrm>
            <a:off x="554355" y="978218"/>
            <a:ext cx="5218938" cy="274320"/>
          </a:xfrm>
          <a:prstGeom prst="rect">
            <a:avLst/>
          </a:prstGeom>
          <a:noFill/>
          <a:ln>
            <a:noFill/>
          </a:ln>
        </p:spPr>
        <p:txBody>
          <a:bodyPr wrap="none" lIns="0" tIns="0" rIns="0" bIns="0" anchor="t" anchorCtr="0">
            <a:spAutoFit/>
          </a:bodyPr>
          <a:lstStyle/>
          <a:p>
            <a:pPr algn="l"/>
            <a:r>
              <a:rPr lang="zh-CN" sz="1350" dirty="0">
                <a:solidFill>
                  <a:srgbClr val="8E8E93"/>
                </a:solidFill>
                <a:latin typeface="Segoe UI"/>
                <a:ea typeface="Microsoft YaHei"/>
                <a:cs typeface="Segoe UI"/>
              </a:rPr>
              <a:t>Generative models. Personal context. Privacy at the core.</a:t>
            </a:r>
          </a:p>
        </p:txBody>
      </p:sp>
      <p:sp>
        <p:nvSpPr>
          <p:cNvPr id="6" name="Rectangle 6"/>
          <p:cNvSpPr/>
          <p:nvPr/>
        </p:nvSpPr>
        <p:spPr>
          <a:xfrm>
            <a:off x="571500" y="1476375"/>
            <a:ext cx="3524250" cy="4476750"/>
          </a:xfrm>
          <a:prstGeom prst="roundRect">
            <a:avLst>
              <a:gd name="adj" fmla="val 4324"/>
            </a:avLst>
          </a:prstGeom>
          <a:solidFill>
            <a:srgbClr val="15151F"/>
          </a:solidFill>
          <a:ln w="9525">
            <a:solidFill>
              <a:srgbClr val="2A2A3A"/>
            </a:solidFill>
          </a:ln>
        </p:spPr>
      </p:sp>
      <p:sp>
        <p:nvSpPr>
          <p:cNvPr id="7" name="Rectangle 7"/>
          <p:cNvSpPr/>
          <p:nvPr/>
        </p:nvSpPr>
        <p:spPr>
          <a:xfrm>
            <a:off x="571500" y="1476375"/>
            <a:ext cx="3524250" cy="1143000"/>
          </a:xfrm>
          <a:prstGeom prst="roundRect">
            <a:avLst>
              <a:gd name="adj" fmla="val 13333"/>
            </a:avLst>
          </a:prstGeom>
          <a:gradFill>
            <a:gsLst>
              <a:gs pos="0">
                <a:srgbClr val="0A84FF">
                  <a:alpha val="15000"/>
                </a:srgbClr>
              </a:gs>
              <a:gs pos="100000">
                <a:srgbClr val="0A84FF">
                  <a:alpha val="0"/>
                </a:srgbClr>
              </a:gs>
            </a:gsLst>
            <a:path path="circle">
              <a:fillToRect l="50000" t="50000" r="50000" b="50000"/>
            </a:path>
          </a:gradFill>
          <a:ln>
            <a:noFill/>
          </a:ln>
        </p:spPr>
      </p:sp>
      <p:sp>
        <p:nvSpPr>
          <p:cNvPr id="8" name="Rectangle 8"/>
          <p:cNvSpPr/>
          <p:nvPr/>
        </p:nvSpPr>
        <p:spPr>
          <a:xfrm>
            <a:off x="571500" y="2381250"/>
            <a:ext cx="3524250" cy="238125"/>
          </a:xfrm>
          <a:prstGeom prst="rect">
            <a:avLst/>
          </a:prstGeom>
          <a:solidFill>
            <a:srgbClr val="15151F"/>
          </a:solidFill>
          <a:ln>
            <a:noFill/>
          </a:ln>
        </p:spPr>
      </p:sp>
      <p:grpSp>
        <p:nvGrpSpPr>
          <p:cNvPr id="14" name="Group 14"/>
          <p:cNvGrpSpPr/>
          <p:nvPr/>
        </p:nvGrpSpPr>
        <p:grpSpPr>
          <a:xfrm>
            <a:off x="857250" y="1762125"/>
            <a:ext cx="342900" cy="342900"/>
            <a:chOff x="857250" y="1762125"/>
            <a:chExt cx="342900" cy="342900"/>
          </a:xfrm>
        </p:grpSpPr>
        <p:sp>
          <p:nvSpPr>
            <p:cNvPr id="9" name="Freeform 9"/>
            <p:cNvSpPr/>
            <p:nvPr/>
          </p:nvSpPr>
          <p:spPr>
            <a:xfrm>
              <a:off x="1028700" y="1762125"/>
              <a:ext cx="150019" cy="150019"/>
            </a:xfrm>
            <a:custGeom>
              <a:avLst/>
              <a:gdLst/>
              <a:ahLst/>
              <a:cxnLst/>
              <a:rect l="l" t="t" r="r" b="b"/>
              <a:pathLst>
                <a:path w="150019" h="150019">
                  <a:moveTo>
                    <a:pt x="0" y="64294"/>
                  </a:moveTo>
                  <a:lnTo>
                    <a:pt x="53578" y="53578"/>
                  </a:lnTo>
                  <a:lnTo>
                    <a:pt x="64294" y="0"/>
                  </a:lnTo>
                  <a:lnTo>
                    <a:pt x="85725" y="0"/>
                  </a:lnTo>
                  <a:lnTo>
                    <a:pt x="96441" y="53578"/>
                  </a:lnTo>
                  <a:lnTo>
                    <a:pt x="150019" y="64294"/>
                  </a:lnTo>
                  <a:lnTo>
                    <a:pt x="150019" y="85725"/>
                  </a:lnTo>
                  <a:lnTo>
                    <a:pt x="96441" y="96441"/>
                  </a:lnTo>
                  <a:lnTo>
                    <a:pt x="85725" y="150019"/>
                  </a:lnTo>
                  <a:lnTo>
                    <a:pt x="64294" y="150019"/>
                  </a:lnTo>
                  <a:lnTo>
                    <a:pt x="53578" y="96441"/>
                  </a:lnTo>
                  <a:lnTo>
                    <a:pt x="0" y="85725"/>
                  </a:lnTo>
                  <a:lnTo>
                    <a:pt x="0" y="64294"/>
                  </a:lnTo>
                  <a:close/>
                </a:path>
              </a:pathLst>
            </a:custGeom>
            <a:solidFill>
              <a:srgbClr val="0A84FF"/>
            </a:solidFill>
            <a:ln>
              <a:noFill/>
            </a:ln>
          </p:spPr>
        </p:sp>
        <p:sp>
          <p:nvSpPr>
            <p:cNvPr id="10" name="Freeform 10"/>
            <p:cNvSpPr/>
            <p:nvPr/>
          </p:nvSpPr>
          <p:spPr>
            <a:xfrm>
              <a:off x="857250" y="1869281"/>
              <a:ext cx="235744" cy="235744"/>
            </a:xfrm>
            <a:custGeom>
              <a:avLst/>
              <a:gdLst/>
              <a:ahLst/>
              <a:cxnLst/>
              <a:rect l="l" t="t" r="r" b="b"/>
              <a:pathLst>
                <a:path w="235744" h="235744">
                  <a:moveTo>
                    <a:pt x="0" y="128588"/>
                  </a:moveTo>
                  <a:lnTo>
                    <a:pt x="0" y="107156"/>
                  </a:lnTo>
                  <a:lnTo>
                    <a:pt x="85725" y="85725"/>
                  </a:lnTo>
                  <a:lnTo>
                    <a:pt x="107156" y="0"/>
                  </a:lnTo>
                  <a:lnTo>
                    <a:pt x="128588" y="0"/>
                  </a:lnTo>
                  <a:lnTo>
                    <a:pt x="150019" y="85725"/>
                  </a:lnTo>
                  <a:lnTo>
                    <a:pt x="235744" y="107156"/>
                  </a:lnTo>
                  <a:lnTo>
                    <a:pt x="235744" y="128588"/>
                  </a:lnTo>
                  <a:lnTo>
                    <a:pt x="150019" y="150019"/>
                  </a:lnTo>
                  <a:lnTo>
                    <a:pt x="128588" y="235744"/>
                  </a:lnTo>
                  <a:lnTo>
                    <a:pt x="107156" y="235744"/>
                  </a:lnTo>
                  <a:lnTo>
                    <a:pt x="85725" y="150019"/>
                  </a:lnTo>
                  <a:lnTo>
                    <a:pt x="0" y="128588"/>
                  </a:lnTo>
                  <a:close/>
                </a:path>
              </a:pathLst>
            </a:custGeom>
            <a:solidFill>
              <a:srgbClr val="0A84FF"/>
            </a:solidFill>
            <a:ln>
              <a:noFill/>
            </a:ln>
          </p:spPr>
        </p:sp>
        <p:sp>
          <p:nvSpPr>
            <p:cNvPr id="11" name="Freeform 11"/>
            <p:cNvSpPr/>
            <p:nvPr/>
          </p:nvSpPr>
          <p:spPr>
            <a:xfrm>
              <a:off x="878681" y="1772841"/>
              <a:ext cx="64294" cy="64294"/>
            </a:xfrm>
            <a:custGeom>
              <a:avLst/>
              <a:gdLst/>
              <a:ahLst/>
              <a:cxnLst/>
              <a:rect l="l" t="t" r="r" b="b"/>
              <a:pathLst>
                <a:path w="64294" h="64294">
                  <a:moveTo>
                    <a:pt x="0" y="32147"/>
                  </a:moveTo>
                  <a:lnTo>
                    <a:pt x="32147" y="0"/>
                  </a:lnTo>
                  <a:lnTo>
                    <a:pt x="64294" y="32147"/>
                  </a:lnTo>
                  <a:lnTo>
                    <a:pt x="32147" y="64294"/>
                  </a:lnTo>
                  <a:lnTo>
                    <a:pt x="0" y="32147"/>
                  </a:lnTo>
                  <a:close/>
                </a:path>
              </a:pathLst>
            </a:custGeom>
            <a:solidFill>
              <a:srgbClr val="0A84FF"/>
            </a:solidFill>
            <a:ln>
              <a:noFill/>
            </a:ln>
          </p:spPr>
        </p:sp>
        <p:sp>
          <p:nvSpPr>
            <p:cNvPr id="12" name="Freeform 12"/>
            <p:cNvSpPr/>
            <p:nvPr/>
          </p:nvSpPr>
          <p:spPr>
            <a:xfrm>
              <a:off x="1092994" y="2019300"/>
              <a:ext cx="85725" cy="85725"/>
            </a:xfrm>
            <a:custGeom>
              <a:avLst/>
              <a:gdLst/>
              <a:ahLst/>
              <a:cxnLst/>
              <a:rect l="l" t="t" r="r" b="b"/>
              <a:pathLst>
                <a:path w="85725" h="85725">
                  <a:moveTo>
                    <a:pt x="85725" y="42862"/>
                  </a:moveTo>
                  <a:lnTo>
                    <a:pt x="42862" y="0"/>
                  </a:lnTo>
                  <a:lnTo>
                    <a:pt x="0" y="42862"/>
                  </a:lnTo>
                  <a:lnTo>
                    <a:pt x="42862" y="85725"/>
                  </a:lnTo>
                  <a:lnTo>
                    <a:pt x="85725" y="42862"/>
                  </a:lnTo>
                  <a:close/>
                </a:path>
              </a:pathLst>
            </a:custGeom>
            <a:solidFill>
              <a:srgbClr val="0A84FF"/>
            </a:solidFill>
            <a:ln>
              <a:noFill/>
            </a:ln>
          </p:spPr>
        </p:sp>
        <p:sp>
          <p:nvSpPr>
            <p:cNvPr id="13" name="Freeform 13"/>
            <p:cNvSpPr/>
            <p:nvPr/>
          </p:nvSpPr>
          <p:spPr>
            <a:xfrm>
              <a:off x="1157288" y="1933575"/>
              <a:ext cx="42862" cy="42862"/>
            </a:xfrm>
            <a:custGeom>
              <a:avLst/>
              <a:gdLst/>
              <a:ahLst/>
              <a:cxnLst/>
              <a:rect l="l" t="t" r="r" b="b"/>
              <a:pathLst>
                <a:path w="42862" h="42862">
                  <a:moveTo>
                    <a:pt x="21431" y="42862"/>
                  </a:moveTo>
                  <a:cubicBezTo>
                    <a:pt x="33268" y="42862"/>
                    <a:pt x="42862" y="33268"/>
                    <a:pt x="42862" y="21431"/>
                  </a:cubicBezTo>
                  <a:cubicBezTo>
                    <a:pt x="42862" y="9595"/>
                    <a:pt x="33268" y="0"/>
                    <a:pt x="21431" y="0"/>
                  </a:cubicBezTo>
                  <a:cubicBezTo>
                    <a:pt x="9595" y="0"/>
                    <a:pt x="0" y="9595"/>
                    <a:pt x="0" y="21431"/>
                  </a:cubicBezTo>
                  <a:cubicBezTo>
                    <a:pt x="0" y="33268"/>
                    <a:pt x="9595" y="42862"/>
                    <a:pt x="21431" y="42862"/>
                  </a:cubicBezTo>
                  <a:close/>
                </a:path>
              </a:pathLst>
            </a:custGeom>
            <a:solidFill>
              <a:srgbClr val="0A84FF"/>
            </a:solidFill>
            <a:ln>
              <a:noFill/>
            </a:ln>
          </p:spPr>
        </p:sp>
      </p:grpSp>
      <p:sp>
        <p:nvSpPr>
          <p:cNvPr id="15" name="TextBox 15"/>
          <p:cNvSpPr txBox="1"/>
          <p:nvPr/>
        </p:nvSpPr>
        <p:spPr>
          <a:xfrm>
            <a:off x="834390" y="2282190"/>
            <a:ext cx="1646120" cy="365760"/>
          </a:xfrm>
          <a:prstGeom prst="rect">
            <a:avLst/>
          </a:prstGeom>
          <a:noFill/>
          <a:ln>
            <a:noFill/>
          </a:ln>
        </p:spPr>
        <p:txBody>
          <a:bodyPr wrap="none" lIns="0" tIns="0" rIns="0" bIns="0" anchor="t" anchorCtr="0">
            <a:spAutoFit/>
          </a:bodyPr>
          <a:lstStyle/>
          <a:p>
            <a:pPr algn="l"/>
            <a:r>
              <a:rPr lang="zh-CN" sz="1800" b="1" dirty="0">
                <a:solidFill>
                  <a:srgbClr val="F5F5F7"/>
                </a:solidFill>
                <a:latin typeface="Segoe UI"/>
                <a:ea typeface="Microsoft YaHei"/>
                <a:cs typeface="Segoe UI"/>
              </a:rPr>
              <a:t>Writing Tools</a:t>
            </a:r>
          </a:p>
        </p:txBody>
      </p:sp>
      <p:sp>
        <p:nvSpPr>
          <p:cNvPr id="16" name="TextBox 16"/>
          <p:cNvSpPr txBox="1"/>
          <p:nvPr/>
        </p:nvSpPr>
        <p:spPr>
          <a:xfrm>
            <a:off x="840105" y="2711768"/>
            <a:ext cx="3034665" cy="541020"/>
          </a:xfrm>
          <a:prstGeom prst="rect">
            <a:avLst/>
          </a:prstGeom>
          <a:noFill/>
          <a:ln>
            <a:noFill/>
          </a:ln>
        </p:spPr>
        <p:txBody>
          <a:bodyPr wrap="square" lIns="0" tIns="0" rIns="0" bIns="0" anchor="t" anchorCtr="0"/>
          <a:lstStyle/>
          <a:p>
            <a:pPr algn="l">
              <a:lnSpc>
                <a:spcPts val="2100"/>
              </a:lnSpc>
            </a:pPr>
            <a:r>
              <a:rPr lang="zh-CN" sz="1350" dirty="0">
                <a:solidFill>
                  <a:srgbClr val="E5E5EA"/>
                </a:solidFill>
                <a:latin typeface="Segoe UI"/>
                <a:ea typeface="Microsoft YaHei"/>
                <a:cs typeface="Segoe UI"/>
              </a:rPr>
              <a:t xml:space="preserve">Rewrite, proofread, and summarize </a:t>
            </a:r>
            <a:r>
              <a:rPr lang="zh-CN" sz="1350" dirty="0">
                <a:solidFill>
                  <a:srgbClr val="E5E5EA"/>
                </a:solidFill>
                <a:latin typeface="Segoe UI"/>
                <a:ea typeface="Microsoft YaHei"/>
                <a:cs typeface="Segoe UI"/>
              </a:rPr>
              <a:t>text systemwide across iOS.</a:t>
            </a:r>
          </a:p>
        </p:txBody>
      </p:sp>
      <p:sp>
        <p:nvSpPr>
          <p:cNvPr id="17" name="TextBox 17"/>
          <p:cNvSpPr txBox="1"/>
          <p:nvPr/>
        </p:nvSpPr>
        <p:spPr>
          <a:xfrm>
            <a:off x="842010" y="3489960"/>
            <a:ext cx="2689860" cy="986790"/>
          </a:xfrm>
          <a:prstGeom prst="rect">
            <a:avLst/>
          </a:prstGeom>
          <a:noFill/>
          <a:ln>
            <a:noFill/>
          </a:ln>
        </p:spPr>
        <p:txBody>
          <a:bodyPr wrap="square" lIns="0" tIns="0" rIns="0" bIns="0" anchor="t" anchorCtr="0"/>
          <a:lstStyle/>
          <a:p>
            <a:pPr algn="l">
              <a:lnSpc>
                <a:spcPts val="1950"/>
              </a:lnSpc>
            </a:pPr>
            <a:r>
              <a:rPr lang="zh-CN" sz="1200" dirty="0">
                <a:solidFill>
                  <a:srgbClr val="8E8E93"/>
                </a:solidFill>
                <a:latin typeface="Segoe UI"/>
                <a:ea typeface="Microsoft YaHei"/>
                <a:cs typeface="Segoe UI"/>
              </a:rPr>
              <a:t xml:space="preserve">Adjust tone to be more friendly, </a:t>
            </a:r>
            <a:r>
              <a:rPr lang="zh-CN" sz="1200" dirty="0">
                <a:solidFill>
                  <a:srgbClr val="8E8E93"/>
                </a:solidFill>
                <a:latin typeface="Segoe UI"/>
                <a:ea typeface="Microsoft YaHei"/>
                <a:cs typeface="Segoe UI"/>
              </a:rPr>
              <a:t xml:space="preserve">concise, or professional. Clean up </a:t>
            </a:r>
            <a:r>
              <a:rPr lang="zh-CN" sz="1200" dirty="0">
                <a:solidFill>
                  <a:srgbClr val="8E8E93"/>
                </a:solidFill>
                <a:latin typeface="Segoe UI"/>
                <a:ea typeface="Microsoft YaHei"/>
                <a:cs typeface="Segoe UI"/>
              </a:rPr>
              <a:t xml:space="preserve">notes instantly. Available wherever </a:t>
            </a:r>
            <a:r>
              <a:rPr lang="zh-CN" sz="1200" dirty="0">
                <a:solidFill>
                  <a:srgbClr val="8E8E93"/>
                </a:solidFill>
                <a:latin typeface="Segoe UI"/>
                <a:ea typeface="Microsoft YaHei"/>
                <a:cs typeface="Segoe UI"/>
              </a:rPr>
              <a:t>you write.</a:t>
            </a:r>
          </a:p>
        </p:txBody>
      </p:sp>
      <p:sp>
        <p:nvSpPr>
          <p:cNvPr id="18" name="Rectangle 18"/>
          <p:cNvSpPr/>
          <p:nvPr/>
        </p:nvSpPr>
        <p:spPr>
          <a:xfrm>
            <a:off x="4333875" y="1476375"/>
            <a:ext cx="3524250" cy="4476750"/>
          </a:xfrm>
          <a:prstGeom prst="roundRect">
            <a:avLst>
              <a:gd name="adj" fmla="val 4324"/>
            </a:avLst>
          </a:prstGeom>
          <a:solidFill>
            <a:srgbClr val="15151F"/>
          </a:solidFill>
          <a:ln w="9525">
            <a:solidFill>
              <a:srgbClr val="2A2A3A"/>
            </a:solidFill>
          </a:ln>
        </p:spPr>
      </p:sp>
      <p:sp>
        <p:nvSpPr>
          <p:cNvPr id="19" name="Rectangle 19"/>
          <p:cNvSpPr/>
          <p:nvPr/>
        </p:nvSpPr>
        <p:spPr>
          <a:xfrm>
            <a:off x="4333875" y="1476375"/>
            <a:ext cx="3524250" cy="1143000"/>
          </a:xfrm>
          <a:prstGeom prst="roundRect">
            <a:avLst>
              <a:gd name="adj" fmla="val 13333"/>
            </a:avLst>
          </a:prstGeom>
          <a:gradFill>
            <a:gsLst>
              <a:gs pos="0">
                <a:srgbClr val="5E5CE6">
                  <a:alpha val="15000"/>
                </a:srgbClr>
              </a:gs>
              <a:gs pos="100000">
                <a:srgbClr val="5E5CE6">
                  <a:alpha val="0"/>
                </a:srgbClr>
              </a:gs>
            </a:gsLst>
            <a:path path="circle">
              <a:fillToRect l="50000" t="50000" r="50000" b="50000"/>
            </a:path>
          </a:gradFill>
          <a:ln>
            <a:noFill/>
          </a:ln>
        </p:spPr>
      </p:sp>
      <p:sp>
        <p:nvSpPr>
          <p:cNvPr id="20" name="Rectangle 20"/>
          <p:cNvSpPr/>
          <p:nvPr/>
        </p:nvSpPr>
        <p:spPr>
          <a:xfrm>
            <a:off x="4333875" y="2381250"/>
            <a:ext cx="3524250" cy="238125"/>
          </a:xfrm>
          <a:prstGeom prst="rect">
            <a:avLst/>
          </a:prstGeom>
          <a:solidFill>
            <a:srgbClr val="15151F"/>
          </a:solidFill>
          <a:ln>
            <a:noFill/>
          </a:ln>
        </p:spPr>
      </p:sp>
      <p:grpSp>
        <p:nvGrpSpPr>
          <p:cNvPr id="26" name="Group 26"/>
          <p:cNvGrpSpPr/>
          <p:nvPr/>
        </p:nvGrpSpPr>
        <p:grpSpPr>
          <a:xfrm>
            <a:off x="4619625" y="1762125"/>
            <a:ext cx="342899" cy="342900"/>
            <a:chOff x="4619625" y="1762125"/>
            <a:chExt cx="342899" cy="342900"/>
          </a:xfrm>
        </p:grpSpPr>
        <p:sp>
          <p:nvSpPr>
            <p:cNvPr id="21" name="Freeform 21"/>
            <p:cNvSpPr/>
            <p:nvPr/>
          </p:nvSpPr>
          <p:spPr>
            <a:xfrm>
              <a:off x="4791075" y="1762125"/>
              <a:ext cx="150019" cy="150019"/>
            </a:xfrm>
            <a:custGeom>
              <a:avLst/>
              <a:gdLst/>
              <a:ahLst/>
              <a:cxnLst/>
              <a:rect l="l" t="t" r="r" b="b"/>
              <a:pathLst>
                <a:path w="150019" h="150019">
                  <a:moveTo>
                    <a:pt x="0" y="64294"/>
                  </a:moveTo>
                  <a:lnTo>
                    <a:pt x="53578" y="53578"/>
                  </a:lnTo>
                  <a:lnTo>
                    <a:pt x="64294" y="0"/>
                  </a:lnTo>
                  <a:lnTo>
                    <a:pt x="85725" y="0"/>
                  </a:lnTo>
                  <a:lnTo>
                    <a:pt x="96441" y="53578"/>
                  </a:lnTo>
                  <a:lnTo>
                    <a:pt x="150019" y="64294"/>
                  </a:lnTo>
                  <a:lnTo>
                    <a:pt x="150019" y="85725"/>
                  </a:lnTo>
                  <a:lnTo>
                    <a:pt x="96441" y="96441"/>
                  </a:lnTo>
                  <a:lnTo>
                    <a:pt x="85725" y="150019"/>
                  </a:lnTo>
                  <a:lnTo>
                    <a:pt x="64294" y="150019"/>
                  </a:lnTo>
                  <a:lnTo>
                    <a:pt x="53578" y="96441"/>
                  </a:lnTo>
                  <a:lnTo>
                    <a:pt x="0" y="85725"/>
                  </a:lnTo>
                  <a:lnTo>
                    <a:pt x="0" y="64294"/>
                  </a:lnTo>
                  <a:close/>
                </a:path>
              </a:pathLst>
            </a:custGeom>
            <a:solidFill>
              <a:srgbClr val="5E5CE6"/>
            </a:solidFill>
            <a:ln>
              <a:noFill/>
            </a:ln>
          </p:spPr>
        </p:sp>
        <p:sp>
          <p:nvSpPr>
            <p:cNvPr id="22" name="Freeform 22"/>
            <p:cNvSpPr/>
            <p:nvPr/>
          </p:nvSpPr>
          <p:spPr>
            <a:xfrm>
              <a:off x="4619625" y="1869281"/>
              <a:ext cx="235744" cy="235744"/>
            </a:xfrm>
            <a:custGeom>
              <a:avLst/>
              <a:gdLst/>
              <a:ahLst/>
              <a:cxnLst/>
              <a:rect l="l" t="t" r="r" b="b"/>
              <a:pathLst>
                <a:path w="235744" h="235744">
                  <a:moveTo>
                    <a:pt x="0" y="128588"/>
                  </a:moveTo>
                  <a:lnTo>
                    <a:pt x="0" y="107156"/>
                  </a:lnTo>
                  <a:lnTo>
                    <a:pt x="85725" y="85725"/>
                  </a:lnTo>
                  <a:lnTo>
                    <a:pt x="107156" y="0"/>
                  </a:lnTo>
                  <a:lnTo>
                    <a:pt x="128588" y="0"/>
                  </a:lnTo>
                  <a:lnTo>
                    <a:pt x="150019" y="85725"/>
                  </a:lnTo>
                  <a:lnTo>
                    <a:pt x="235744" y="107156"/>
                  </a:lnTo>
                  <a:lnTo>
                    <a:pt x="235744" y="128588"/>
                  </a:lnTo>
                  <a:lnTo>
                    <a:pt x="150019" y="150019"/>
                  </a:lnTo>
                  <a:lnTo>
                    <a:pt x="128588" y="235744"/>
                  </a:lnTo>
                  <a:lnTo>
                    <a:pt x="107156" y="235744"/>
                  </a:lnTo>
                  <a:lnTo>
                    <a:pt x="85725" y="150019"/>
                  </a:lnTo>
                  <a:lnTo>
                    <a:pt x="0" y="128588"/>
                  </a:lnTo>
                  <a:close/>
                </a:path>
              </a:pathLst>
            </a:custGeom>
            <a:solidFill>
              <a:srgbClr val="5E5CE6"/>
            </a:solidFill>
            <a:ln>
              <a:noFill/>
            </a:ln>
          </p:spPr>
        </p:sp>
        <p:sp>
          <p:nvSpPr>
            <p:cNvPr id="23" name="Freeform 23"/>
            <p:cNvSpPr/>
            <p:nvPr/>
          </p:nvSpPr>
          <p:spPr>
            <a:xfrm>
              <a:off x="4641056" y="1772841"/>
              <a:ext cx="64294" cy="64294"/>
            </a:xfrm>
            <a:custGeom>
              <a:avLst/>
              <a:gdLst/>
              <a:ahLst/>
              <a:cxnLst/>
              <a:rect l="l" t="t" r="r" b="b"/>
              <a:pathLst>
                <a:path w="64294" h="64294">
                  <a:moveTo>
                    <a:pt x="0" y="32147"/>
                  </a:moveTo>
                  <a:lnTo>
                    <a:pt x="32147" y="0"/>
                  </a:lnTo>
                  <a:lnTo>
                    <a:pt x="64294" y="32147"/>
                  </a:lnTo>
                  <a:lnTo>
                    <a:pt x="32147" y="64294"/>
                  </a:lnTo>
                  <a:lnTo>
                    <a:pt x="0" y="32147"/>
                  </a:lnTo>
                  <a:close/>
                </a:path>
              </a:pathLst>
            </a:custGeom>
            <a:solidFill>
              <a:srgbClr val="5E5CE6"/>
            </a:solidFill>
            <a:ln>
              <a:noFill/>
            </a:ln>
          </p:spPr>
        </p:sp>
        <p:sp>
          <p:nvSpPr>
            <p:cNvPr id="24" name="Freeform 24"/>
            <p:cNvSpPr/>
            <p:nvPr/>
          </p:nvSpPr>
          <p:spPr>
            <a:xfrm>
              <a:off x="4855369" y="2019300"/>
              <a:ext cx="85725" cy="85725"/>
            </a:xfrm>
            <a:custGeom>
              <a:avLst/>
              <a:gdLst/>
              <a:ahLst/>
              <a:cxnLst/>
              <a:rect l="l" t="t" r="r" b="b"/>
              <a:pathLst>
                <a:path w="85725" h="85725">
                  <a:moveTo>
                    <a:pt x="85725" y="42862"/>
                  </a:moveTo>
                  <a:lnTo>
                    <a:pt x="42862" y="0"/>
                  </a:lnTo>
                  <a:lnTo>
                    <a:pt x="0" y="42862"/>
                  </a:lnTo>
                  <a:lnTo>
                    <a:pt x="42862" y="85725"/>
                  </a:lnTo>
                  <a:lnTo>
                    <a:pt x="85725" y="42862"/>
                  </a:lnTo>
                  <a:close/>
                </a:path>
              </a:pathLst>
            </a:custGeom>
            <a:solidFill>
              <a:srgbClr val="5E5CE6"/>
            </a:solidFill>
            <a:ln>
              <a:noFill/>
            </a:ln>
          </p:spPr>
        </p:sp>
        <p:sp>
          <p:nvSpPr>
            <p:cNvPr id="25" name="Freeform 25"/>
            <p:cNvSpPr/>
            <p:nvPr/>
          </p:nvSpPr>
          <p:spPr>
            <a:xfrm>
              <a:off x="4919662" y="1933575"/>
              <a:ext cx="42862" cy="42862"/>
            </a:xfrm>
            <a:custGeom>
              <a:avLst/>
              <a:gdLst/>
              <a:ahLst/>
              <a:cxnLst/>
              <a:rect l="l" t="t" r="r" b="b"/>
              <a:pathLst>
                <a:path w="42862" h="42862">
                  <a:moveTo>
                    <a:pt x="21431" y="42862"/>
                  </a:moveTo>
                  <a:cubicBezTo>
                    <a:pt x="33268" y="42862"/>
                    <a:pt x="42862" y="33268"/>
                    <a:pt x="42862" y="21431"/>
                  </a:cubicBezTo>
                  <a:cubicBezTo>
                    <a:pt x="42862" y="9595"/>
                    <a:pt x="33268" y="0"/>
                    <a:pt x="21431" y="0"/>
                  </a:cubicBezTo>
                  <a:cubicBezTo>
                    <a:pt x="9595" y="0"/>
                    <a:pt x="0" y="9595"/>
                    <a:pt x="0" y="21431"/>
                  </a:cubicBezTo>
                  <a:cubicBezTo>
                    <a:pt x="0" y="33268"/>
                    <a:pt x="9595" y="42862"/>
                    <a:pt x="21431" y="42862"/>
                  </a:cubicBezTo>
                  <a:close/>
                </a:path>
              </a:pathLst>
            </a:custGeom>
            <a:solidFill>
              <a:srgbClr val="5E5CE6"/>
            </a:solidFill>
            <a:ln>
              <a:noFill/>
            </a:ln>
          </p:spPr>
        </p:sp>
      </p:grpSp>
      <p:sp>
        <p:nvSpPr>
          <p:cNvPr id="27" name="TextBox 27"/>
          <p:cNvSpPr txBox="1"/>
          <p:nvPr/>
        </p:nvSpPr>
        <p:spPr>
          <a:xfrm>
            <a:off x="4596765" y="2282190"/>
            <a:ext cx="1998964" cy="365760"/>
          </a:xfrm>
          <a:prstGeom prst="rect">
            <a:avLst/>
          </a:prstGeom>
          <a:noFill/>
          <a:ln>
            <a:noFill/>
          </a:ln>
        </p:spPr>
        <p:txBody>
          <a:bodyPr wrap="none" lIns="0" tIns="0" rIns="0" bIns="0" anchor="t" anchorCtr="0">
            <a:spAutoFit/>
          </a:bodyPr>
          <a:lstStyle/>
          <a:p>
            <a:pPr algn="l"/>
            <a:r>
              <a:rPr lang="zh-CN" sz="1800" b="1" dirty="0">
                <a:solidFill>
                  <a:srgbClr val="F5F5F7"/>
                </a:solidFill>
                <a:latin typeface="Segoe UI"/>
                <a:ea typeface="Microsoft YaHei"/>
                <a:cs typeface="Segoe UI"/>
              </a:rPr>
              <a:t>Siri, Reimagined</a:t>
            </a:r>
          </a:p>
        </p:txBody>
      </p:sp>
      <p:sp>
        <p:nvSpPr>
          <p:cNvPr id="28" name="TextBox 28"/>
          <p:cNvSpPr txBox="1"/>
          <p:nvPr/>
        </p:nvSpPr>
        <p:spPr>
          <a:xfrm>
            <a:off x="4602480" y="2711768"/>
            <a:ext cx="2648903" cy="541020"/>
          </a:xfrm>
          <a:prstGeom prst="rect">
            <a:avLst/>
          </a:prstGeom>
          <a:noFill/>
          <a:ln>
            <a:noFill/>
          </a:ln>
        </p:spPr>
        <p:txBody>
          <a:bodyPr wrap="square" lIns="0" tIns="0" rIns="0" bIns="0" anchor="t" anchorCtr="0"/>
          <a:lstStyle/>
          <a:p>
            <a:pPr algn="l">
              <a:lnSpc>
                <a:spcPts val="2100"/>
              </a:lnSpc>
            </a:pPr>
            <a:r>
              <a:rPr lang="zh-CN" sz="1350" dirty="0">
                <a:solidFill>
                  <a:srgbClr val="E5E5EA"/>
                </a:solidFill>
                <a:latin typeface="Segoe UI"/>
                <a:ea typeface="Microsoft YaHei"/>
                <a:cs typeface="Segoe UI"/>
              </a:rPr>
              <a:t xml:space="preserve">Richer language understanding. </a:t>
            </a:r>
            <a:r>
              <a:rPr lang="zh-CN" sz="1350" dirty="0">
                <a:solidFill>
                  <a:srgbClr val="E5E5EA"/>
                </a:solidFill>
                <a:latin typeface="Segoe UI"/>
                <a:ea typeface="Microsoft YaHei"/>
                <a:cs typeface="Segoe UI"/>
              </a:rPr>
              <a:t>New glowing edge-light design.</a:t>
            </a:r>
          </a:p>
        </p:txBody>
      </p:sp>
      <p:sp>
        <p:nvSpPr>
          <p:cNvPr id="29" name="TextBox 29"/>
          <p:cNvSpPr txBox="1"/>
          <p:nvPr/>
        </p:nvSpPr>
        <p:spPr>
          <a:xfrm>
            <a:off x="4604385" y="3489960"/>
            <a:ext cx="2727960" cy="986790"/>
          </a:xfrm>
          <a:prstGeom prst="rect">
            <a:avLst/>
          </a:prstGeom>
          <a:noFill/>
          <a:ln>
            <a:noFill/>
          </a:ln>
        </p:spPr>
        <p:txBody>
          <a:bodyPr wrap="square" lIns="0" tIns="0" rIns="0" bIns="0" anchor="t" anchorCtr="0"/>
          <a:lstStyle/>
          <a:p>
            <a:pPr algn="l">
              <a:lnSpc>
                <a:spcPts val="1950"/>
              </a:lnSpc>
            </a:pPr>
            <a:r>
              <a:rPr lang="zh-CN" sz="1200" dirty="0">
                <a:solidFill>
                  <a:srgbClr val="8E8E93"/>
                </a:solidFill>
                <a:latin typeface="Segoe UI"/>
                <a:ea typeface="Microsoft YaHei"/>
                <a:cs typeface="Segoe UI"/>
              </a:rPr>
              <a:t xml:space="preserve">Type when you type. Maintains </a:t>
            </a:r>
            <a:r>
              <a:rPr lang="zh-CN" sz="1200" dirty="0">
                <a:solidFill>
                  <a:srgbClr val="8E8E93"/>
                </a:solidFill>
                <a:latin typeface="Segoe UI"/>
                <a:ea typeface="Microsoft YaHei"/>
                <a:cs typeface="Segoe UI"/>
              </a:rPr>
              <a:t xml:space="preserve">context across requests. Extensive </a:t>
            </a:r>
            <a:r>
              <a:rPr lang="zh-CN" sz="1200" dirty="0">
                <a:solidFill>
                  <a:srgbClr val="8E8E93"/>
                </a:solidFill>
                <a:latin typeface="Segoe UI"/>
                <a:ea typeface="Microsoft YaHei"/>
                <a:cs typeface="Segoe UI"/>
              </a:rPr>
              <a:t xml:space="preserve">product knowledge about device </a:t>
            </a:r>
            <a:r>
              <a:rPr lang="zh-CN" sz="1200" dirty="0">
                <a:solidFill>
                  <a:srgbClr val="8E8E93"/>
                </a:solidFill>
                <a:latin typeface="Segoe UI"/>
                <a:ea typeface="Microsoft YaHei"/>
                <a:cs typeface="Segoe UI"/>
              </a:rPr>
              <a:t>features and settings.</a:t>
            </a:r>
          </a:p>
        </p:txBody>
      </p:sp>
      <p:sp>
        <p:nvSpPr>
          <p:cNvPr id="30" name="Rectangle 30"/>
          <p:cNvSpPr/>
          <p:nvPr/>
        </p:nvSpPr>
        <p:spPr>
          <a:xfrm>
            <a:off x="8096250" y="1476375"/>
            <a:ext cx="3524250" cy="4476750"/>
          </a:xfrm>
          <a:prstGeom prst="roundRect">
            <a:avLst>
              <a:gd name="adj" fmla="val 4324"/>
            </a:avLst>
          </a:prstGeom>
          <a:solidFill>
            <a:srgbClr val="15151F"/>
          </a:solidFill>
          <a:ln w="9525">
            <a:solidFill>
              <a:srgbClr val="2A2A3A"/>
            </a:solidFill>
          </a:ln>
        </p:spPr>
      </p:sp>
      <p:sp>
        <p:nvSpPr>
          <p:cNvPr id="31" name="Rectangle 31"/>
          <p:cNvSpPr/>
          <p:nvPr/>
        </p:nvSpPr>
        <p:spPr>
          <a:xfrm>
            <a:off x="8096250" y="1476375"/>
            <a:ext cx="3524250" cy="1143000"/>
          </a:xfrm>
          <a:prstGeom prst="roundRect">
            <a:avLst>
              <a:gd name="adj" fmla="val 13333"/>
            </a:avLst>
          </a:prstGeom>
          <a:gradFill>
            <a:gsLst>
              <a:gs pos="0">
                <a:srgbClr val="30D158">
                  <a:alpha val="12000"/>
                </a:srgbClr>
              </a:gs>
              <a:gs pos="100000">
                <a:srgbClr val="30D158">
                  <a:alpha val="0"/>
                </a:srgbClr>
              </a:gs>
            </a:gsLst>
            <a:path path="circle">
              <a:fillToRect l="50000" t="50000" r="50000" b="50000"/>
            </a:path>
          </a:gradFill>
          <a:ln>
            <a:noFill/>
          </a:ln>
        </p:spPr>
      </p:sp>
      <p:sp>
        <p:nvSpPr>
          <p:cNvPr id="32" name="Rectangle 32"/>
          <p:cNvSpPr/>
          <p:nvPr/>
        </p:nvSpPr>
        <p:spPr>
          <a:xfrm>
            <a:off x="8096250" y="2381250"/>
            <a:ext cx="3524250" cy="238125"/>
          </a:xfrm>
          <a:prstGeom prst="rect">
            <a:avLst/>
          </a:prstGeom>
          <a:solidFill>
            <a:srgbClr val="15151F"/>
          </a:solidFill>
          <a:ln>
            <a:noFill/>
          </a:ln>
        </p:spPr>
      </p:sp>
      <p:sp>
        <p:nvSpPr>
          <p:cNvPr id="33" name="Freeform 33"/>
          <p:cNvSpPr/>
          <p:nvPr/>
        </p:nvSpPr>
        <p:spPr>
          <a:xfrm>
            <a:off x="8403431" y="1762125"/>
            <a:ext cx="300038" cy="342900"/>
          </a:xfrm>
          <a:custGeom>
            <a:avLst/>
            <a:gdLst/>
            <a:ahLst/>
            <a:cxnLst/>
            <a:rect l="l" t="t" r="r" b="b"/>
            <a:pathLst>
              <a:path w="300038" h="342900">
                <a:moveTo>
                  <a:pt x="150019" y="342900"/>
                </a:moveTo>
                <a:lnTo>
                  <a:pt x="71797" y="287027"/>
                </a:lnTo>
                <a:cubicBezTo>
                  <a:pt x="26740" y="254843"/>
                  <a:pt x="0" y="202883"/>
                  <a:pt x="0" y="147513"/>
                </a:cubicBezTo>
                <a:lnTo>
                  <a:pt x="0" y="64294"/>
                </a:lnTo>
                <a:lnTo>
                  <a:pt x="150019" y="0"/>
                </a:lnTo>
                <a:lnTo>
                  <a:pt x="300038" y="64294"/>
                </a:lnTo>
                <a:lnTo>
                  <a:pt x="300038" y="147513"/>
                </a:lnTo>
                <a:cubicBezTo>
                  <a:pt x="300038" y="202883"/>
                  <a:pt x="273298" y="254843"/>
                  <a:pt x="228241" y="287027"/>
                </a:cubicBezTo>
                <a:lnTo>
                  <a:pt x="150019" y="342900"/>
                </a:lnTo>
                <a:close/>
                <a:moveTo>
                  <a:pt x="240182" y="122311"/>
                </a:moveTo>
                <a:lnTo>
                  <a:pt x="209874" y="92002"/>
                </a:lnTo>
                <a:lnTo>
                  <a:pt x="128588" y="173289"/>
                </a:lnTo>
                <a:lnTo>
                  <a:pt x="90164" y="134864"/>
                </a:lnTo>
                <a:lnTo>
                  <a:pt x="59855" y="165173"/>
                </a:lnTo>
                <a:lnTo>
                  <a:pt x="128588" y="233905"/>
                </a:lnTo>
                <a:lnTo>
                  <a:pt x="240182" y="122311"/>
                </a:lnTo>
                <a:close/>
              </a:path>
            </a:pathLst>
          </a:custGeom>
          <a:solidFill>
            <a:srgbClr val="30D158"/>
          </a:solidFill>
          <a:ln>
            <a:noFill/>
          </a:ln>
        </p:spPr>
      </p:sp>
      <p:sp>
        <p:nvSpPr>
          <p:cNvPr id="34" name="TextBox 34"/>
          <p:cNvSpPr txBox="1"/>
          <p:nvPr/>
        </p:nvSpPr>
        <p:spPr>
          <a:xfrm>
            <a:off x="8359140" y="2282190"/>
            <a:ext cx="1658722" cy="365760"/>
          </a:xfrm>
          <a:prstGeom prst="rect">
            <a:avLst/>
          </a:prstGeom>
          <a:noFill/>
          <a:ln>
            <a:noFill/>
          </a:ln>
        </p:spPr>
        <p:txBody>
          <a:bodyPr wrap="none" lIns="0" tIns="0" rIns="0" bIns="0" anchor="t" anchorCtr="0">
            <a:spAutoFit/>
          </a:bodyPr>
          <a:lstStyle/>
          <a:p>
            <a:pPr algn="l"/>
            <a:r>
              <a:rPr lang="zh-CN" sz="1800" b="1" dirty="0">
                <a:solidFill>
                  <a:srgbClr val="F5F5F7"/>
                </a:solidFill>
                <a:latin typeface="Segoe UI"/>
                <a:ea typeface="Microsoft YaHei"/>
                <a:cs typeface="Segoe UI"/>
              </a:rPr>
              <a:t>Privacy First</a:t>
            </a:r>
          </a:p>
        </p:txBody>
      </p:sp>
      <p:sp>
        <p:nvSpPr>
          <p:cNvPr id="35" name="TextBox 35"/>
          <p:cNvSpPr txBox="1"/>
          <p:nvPr/>
        </p:nvSpPr>
        <p:spPr>
          <a:xfrm>
            <a:off x="8364855" y="2711768"/>
            <a:ext cx="2631758" cy="541020"/>
          </a:xfrm>
          <a:prstGeom prst="rect">
            <a:avLst/>
          </a:prstGeom>
          <a:noFill/>
          <a:ln>
            <a:noFill/>
          </a:ln>
        </p:spPr>
        <p:txBody>
          <a:bodyPr wrap="square" lIns="0" tIns="0" rIns="0" bIns="0" anchor="t" anchorCtr="0"/>
          <a:lstStyle/>
          <a:p>
            <a:pPr algn="l">
              <a:lnSpc>
                <a:spcPts val="2100"/>
              </a:lnSpc>
            </a:pPr>
            <a:r>
              <a:rPr lang="zh-CN" sz="1350" dirty="0">
                <a:solidFill>
                  <a:srgbClr val="E5E5EA"/>
                </a:solidFill>
                <a:latin typeface="Segoe UI"/>
                <a:ea typeface="Microsoft YaHei"/>
                <a:cs typeface="Segoe UI"/>
              </a:rPr>
              <a:t xml:space="preserve">Private Cloud Compute flexes </a:t>
            </a:r>
            <a:r>
              <a:rPr lang="zh-CN" sz="1350" dirty="0">
                <a:solidFill>
                  <a:srgbClr val="E5E5EA"/>
                </a:solidFill>
                <a:latin typeface="Segoe UI"/>
                <a:ea typeface="Microsoft YaHei"/>
                <a:cs typeface="Segoe UI"/>
              </a:rPr>
              <a:t>between on-device and server.</a:t>
            </a:r>
          </a:p>
        </p:txBody>
      </p:sp>
      <p:sp>
        <p:nvSpPr>
          <p:cNvPr id="36" name="TextBox 36"/>
          <p:cNvSpPr txBox="1"/>
          <p:nvPr/>
        </p:nvSpPr>
        <p:spPr>
          <a:xfrm>
            <a:off x="8366760" y="3489960"/>
            <a:ext cx="2689860" cy="986790"/>
          </a:xfrm>
          <a:prstGeom prst="rect">
            <a:avLst/>
          </a:prstGeom>
          <a:noFill/>
          <a:ln>
            <a:noFill/>
          </a:ln>
        </p:spPr>
        <p:txBody>
          <a:bodyPr wrap="square" lIns="0" tIns="0" rIns="0" bIns="0" anchor="t" anchorCtr="0"/>
          <a:lstStyle/>
          <a:p>
            <a:pPr algn="l">
              <a:lnSpc>
                <a:spcPts val="1950"/>
              </a:lnSpc>
            </a:pPr>
            <a:r>
              <a:rPr lang="zh-CN" sz="1200" dirty="0">
                <a:solidFill>
                  <a:srgbClr val="8E8E93"/>
                </a:solidFill>
                <a:latin typeface="Segoe UI"/>
                <a:ea typeface="Microsoft YaHei"/>
                <a:cs typeface="Segoe UI"/>
              </a:rPr>
              <a:t xml:space="preserve">Dedicated Apple silicon servers. </a:t>
            </a:r>
            <a:r>
              <a:rPr lang="zh-CN" sz="1200" dirty="0">
                <a:solidFill>
                  <a:srgbClr val="8E8E93"/>
                </a:solidFill>
                <a:latin typeface="Segoe UI"/>
                <a:ea typeface="Microsoft YaHei"/>
                <a:cs typeface="Segoe UI"/>
              </a:rPr>
              <a:t xml:space="preserve">End-to-end encryption. Data never </a:t>
            </a:r>
            <a:r>
              <a:rPr lang="zh-CN" sz="1200" dirty="0">
                <a:solidFill>
                  <a:srgbClr val="8E8E93"/>
                </a:solidFill>
                <a:latin typeface="Segoe UI"/>
                <a:ea typeface="Microsoft YaHei"/>
                <a:cs typeface="Segoe UI"/>
              </a:rPr>
              <a:t xml:space="preserve">stored or made accessible to Apple. </a:t>
            </a:r>
            <a:r>
              <a:rPr lang="zh-CN" sz="1200" dirty="0">
                <a:solidFill>
                  <a:srgbClr val="8E8E93"/>
                </a:solidFill>
                <a:latin typeface="Segoe UI"/>
                <a:ea typeface="Microsoft YaHei"/>
                <a:cs typeface="Segoe UI"/>
              </a:rPr>
              <a:t>Free software update.</a:t>
            </a:r>
          </a:p>
        </p:txBody>
      </p:sp>
      <p:sp>
        <p:nvSpPr>
          <p:cNvPr id="37" name="TextBox 37"/>
          <p:cNvSpPr txBox="1"/>
          <p:nvPr/>
        </p:nvSpPr>
        <p:spPr>
          <a:xfrm>
            <a:off x="11207020" y="6475095"/>
            <a:ext cx="424910" cy="182880"/>
          </a:xfrm>
          <a:prstGeom prst="rect">
            <a:avLst/>
          </a:prstGeom>
          <a:noFill/>
          <a:ln>
            <a:noFill/>
          </a:ln>
        </p:spPr>
        <p:txBody>
          <a:bodyPr wrap="none" lIns="0" tIns="0" rIns="0" bIns="0" anchor="t" anchorCtr="0">
            <a:spAutoFit/>
          </a:bodyPr>
          <a:lstStyle/>
          <a:p>
            <a:pPr algn="r"/>
            <a:r>
              <a:rPr lang="zh-CN" sz="900" dirty="0">
                <a:solidFill>
                  <a:srgbClr val="636366"/>
                </a:solidFill>
                <a:latin typeface="Consolas"/>
                <a:ea typeface="Microsoft YaHei"/>
                <a:cs typeface="Consolas"/>
              </a:rPr>
              <a:t>03 / 09</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A0A0F"/>
          </a:solidFill>
          <a:ln>
            <a:noFill/>
          </a:ln>
        </p:spPr>
      </p:sp>
      <p:sp>
        <p:nvSpPr>
          <p:cNvPr id="3" name="Rectangle 3"/>
          <p:cNvSpPr/>
          <p:nvPr/>
        </p:nvSpPr>
        <p:spPr>
          <a:xfrm>
            <a:off x="571500" y="476250"/>
            <a:ext cx="571500" cy="38100"/>
          </a:xfrm>
          <a:prstGeom prst="roundRect">
            <a:avLst>
              <a:gd name="adj" fmla="val 50000"/>
            </a:avLst>
          </a:prstGeom>
          <a:gradFill>
            <a:gsLst>
              <a:gs pos="0">
                <a:srgbClr val="0A84FF"/>
              </a:gs>
              <a:gs pos="100000">
                <a:srgbClr val="5E5CE6"/>
              </a:gs>
            </a:gsLst>
            <a:lin ang="0" scaled="1"/>
          </a:gradFill>
          <a:ln>
            <a:noFill/>
          </a:ln>
        </p:spPr>
      </p:sp>
      <p:sp>
        <p:nvSpPr>
          <p:cNvPr id="4" name="TextBox 4"/>
          <p:cNvSpPr txBox="1"/>
          <p:nvPr/>
        </p:nvSpPr>
        <p:spPr>
          <a:xfrm>
            <a:off x="537210" y="565785"/>
            <a:ext cx="6665505" cy="548640"/>
          </a:xfrm>
          <a:prstGeom prst="rect">
            <a:avLst/>
          </a:prstGeom>
          <a:noFill/>
          <a:ln>
            <a:noFill/>
          </a:ln>
        </p:spPr>
        <p:txBody>
          <a:bodyPr wrap="none" lIns="0" tIns="0" rIns="0" bIns="0" anchor="t" anchorCtr="0">
            <a:spAutoFit/>
          </a:bodyPr>
          <a:lstStyle/>
          <a:p>
            <a:pPr algn="l"/>
            <a:r>
              <a:rPr lang="zh-CN" sz="2700" b="1" dirty="0">
                <a:solidFill>
                  <a:srgbClr val="F5F5F7"/>
                </a:solidFill>
                <a:latin typeface="Segoe UI"/>
                <a:ea typeface="Microsoft YaHei"/>
                <a:cs typeface="Segoe UI"/>
              </a:rPr>
              <a:t>A18 Pro. Unprecedented Efficiency.</a:t>
            </a:r>
          </a:p>
        </p:txBody>
      </p:sp>
      <p:sp>
        <p:nvSpPr>
          <p:cNvPr id="5" name="TextBox 5"/>
          <p:cNvSpPr txBox="1"/>
          <p:nvPr/>
        </p:nvSpPr>
        <p:spPr>
          <a:xfrm>
            <a:off x="554355" y="978218"/>
            <a:ext cx="6146054" cy="274320"/>
          </a:xfrm>
          <a:prstGeom prst="rect">
            <a:avLst/>
          </a:prstGeom>
          <a:noFill/>
          <a:ln>
            <a:noFill/>
          </a:ln>
        </p:spPr>
        <p:txBody>
          <a:bodyPr wrap="none" lIns="0" tIns="0" rIns="0" bIns="0" anchor="t" anchorCtr="0">
            <a:spAutoFit/>
          </a:bodyPr>
          <a:lstStyle/>
          <a:p>
            <a:pPr algn="l"/>
            <a:r>
              <a:rPr lang="zh-CN" sz="1350" dirty="0">
                <a:solidFill>
                  <a:srgbClr val="8E8E93"/>
                </a:solidFill>
                <a:latin typeface="Segoe UI"/>
                <a:ea typeface="Microsoft YaHei"/>
                <a:cs typeface="Segoe UI"/>
              </a:rPr>
              <a:t>Second-generation 3nm. Hardware ray tracing. Faster Neural Engine.</a:t>
            </a:r>
          </a:p>
        </p:txBody>
      </p:sp>
      <p:sp>
        <p:nvSpPr>
          <p:cNvPr id="6" name="Rectangle 6"/>
          <p:cNvSpPr/>
          <p:nvPr/>
        </p:nvSpPr>
        <p:spPr>
          <a:xfrm>
            <a:off x="571500" y="1476375"/>
            <a:ext cx="2381250" cy="1190625"/>
          </a:xfrm>
          <a:prstGeom prst="roundRect">
            <a:avLst>
              <a:gd name="adj" fmla="val 9600"/>
            </a:avLst>
          </a:prstGeom>
          <a:solidFill>
            <a:srgbClr val="15151F"/>
          </a:solidFill>
          <a:ln w="9525">
            <a:solidFill>
              <a:srgbClr val="2A2A3A"/>
            </a:solidFill>
          </a:ln>
        </p:spPr>
      </p:sp>
      <p:sp>
        <p:nvSpPr>
          <p:cNvPr id="7" name="Freeform 7"/>
          <p:cNvSpPr/>
          <p:nvPr/>
        </p:nvSpPr>
        <p:spPr>
          <a:xfrm>
            <a:off x="762000" y="1683544"/>
            <a:ext cx="266700" cy="216694"/>
          </a:xfrm>
          <a:custGeom>
            <a:avLst/>
            <a:gdLst/>
            <a:ahLst/>
            <a:cxnLst/>
            <a:rect l="l" t="t" r="r" b="b"/>
            <a:pathLst>
              <a:path w="266700" h="216694">
                <a:moveTo>
                  <a:pt x="29247" y="216694"/>
                </a:moveTo>
                <a:cubicBezTo>
                  <a:pt x="10947" y="193864"/>
                  <a:pt x="0" y="164886"/>
                  <a:pt x="0" y="133350"/>
                </a:cubicBezTo>
                <a:cubicBezTo>
                  <a:pt x="0" y="59703"/>
                  <a:pt x="59703" y="0"/>
                  <a:pt x="133350" y="0"/>
                </a:cubicBezTo>
                <a:cubicBezTo>
                  <a:pt x="206998" y="0"/>
                  <a:pt x="266700" y="59703"/>
                  <a:pt x="266700" y="133350"/>
                </a:cubicBezTo>
                <a:cubicBezTo>
                  <a:pt x="266700" y="164886"/>
                  <a:pt x="255754" y="193864"/>
                  <a:pt x="237453" y="216694"/>
                </a:cubicBezTo>
                <a:lnTo>
                  <a:pt x="153381" y="216694"/>
                </a:lnTo>
                <a:lnTo>
                  <a:pt x="212265" y="153001"/>
                </a:lnTo>
                <a:lnTo>
                  <a:pt x="187785" y="130369"/>
                </a:lnTo>
                <a:lnTo>
                  <a:pt x="107980" y="216694"/>
                </a:lnTo>
                <a:lnTo>
                  <a:pt x="29247" y="216694"/>
                </a:lnTo>
                <a:close/>
                <a:moveTo>
                  <a:pt x="116681" y="50006"/>
                </a:moveTo>
                <a:cubicBezTo>
                  <a:pt x="116681" y="59212"/>
                  <a:pt x="124144" y="66675"/>
                  <a:pt x="133350" y="66675"/>
                </a:cubicBezTo>
                <a:cubicBezTo>
                  <a:pt x="142556" y="66675"/>
                  <a:pt x="150019" y="59212"/>
                  <a:pt x="150019" y="50006"/>
                </a:cubicBezTo>
                <a:cubicBezTo>
                  <a:pt x="150019" y="40800"/>
                  <a:pt x="142556" y="33338"/>
                  <a:pt x="133350" y="33338"/>
                </a:cubicBezTo>
                <a:cubicBezTo>
                  <a:pt x="124144" y="33338"/>
                  <a:pt x="116681" y="40800"/>
                  <a:pt x="116681" y="50006"/>
                </a:cubicBezTo>
                <a:close/>
                <a:moveTo>
                  <a:pt x="191691" y="91678"/>
                </a:moveTo>
                <a:cubicBezTo>
                  <a:pt x="182484" y="91678"/>
                  <a:pt x="175022" y="84215"/>
                  <a:pt x="175022" y="75009"/>
                </a:cubicBezTo>
                <a:cubicBezTo>
                  <a:pt x="175022" y="65804"/>
                  <a:pt x="182484" y="58341"/>
                  <a:pt x="191691" y="58341"/>
                </a:cubicBezTo>
                <a:cubicBezTo>
                  <a:pt x="200897" y="58341"/>
                  <a:pt x="208359" y="65804"/>
                  <a:pt x="208359" y="75009"/>
                </a:cubicBezTo>
                <a:cubicBezTo>
                  <a:pt x="208359" y="84215"/>
                  <a:pt x="200897" y="91678"/>
                  <a:pt x="191691" y="91678"/>
                </a:cubicBezTo>
                <a:close/>
                <a:moveTo>
                  <a:pt x="33338" y="133350"/>
                </a:moveTo>
                <a:cubicBezTo>
                  <a:pt x="33338" y="142556"/>
                  <a:pt x="40800" y="150019"/>
                  <a:pt x="50006" y="150019"/>
                </a:cubicBezTo>
                <a:cubicBezTo>
                  <a:pt x="59212" y="150019"/>
                  <a:pt x="66675" y="142556"/>
                  <a:pt x="66675" y="133350"/>
                </a:cubicBezTo>
                <a:cubicBezTo>
                  <a:pt x="66675" y="124144"/>
                  <a:pt x="59212" y="116681"/>
                  <a:pt x="50006" y="116681"/>
                </a:cubicBezTo>
                <a:cubicBezTo>
                  <a:pt x="40800" y="116681"/>
                  <a:pt x="33338" y="124144"/>
                  <a:pt x="33338" y="133350"/>
                </a:cubicBezTo>
                <a:close/>
                <a:moveTo>
                  <a:pt x="75009" y="91678"/>
                </a:moveTo>
                <a:cubicBezTo>
                  <a:pt x="65804" y="91678"/>
                  <a:pt x="58341" y="84215"/>
                  <a:pt x="58341" y="75009"/>
                </a:cubicBezTo>
                <a:cubicBezTo>
                  <a:pt x="58341" y="65804"/>
                  <a:pt x="65804" y="58341"/>
                  <a:pt x="75009" y="58341"/>
                </a:cubicBezTo>
                <a:cubicBezTo>
                  <a:pt x="84215" y="58341"/>
                  <a:pt x="91678" y="65804"/>
                  <a:pt x="91678" y="75009"/>
                </a:cubicBezTo>
                <a:cubicBezTo>
                  <a:pt x="91678" y="84215"/>
                  <a:pt x="84215" y="91678"/>
                  <a:pt x="75009" y="91678"/>
                </a:cubicBezTo>
                <a:close/>
              </a:path>
            </a:pathLst>
          </a:custGeom>
          <a:solidFill>
            <a:srgbClr val="0A84FF"/>
          </a:solidFill>
          <a:ln>
            <a:noFill/>
          </a:ln>
        </p:spPr>
      </p:sp>
      <p:sp>
        <p:nvSpPr>
          <p:cNvPr id="8" name="TextBox 8"/>
          <p:cNvSpPr txBox="1"/>
          <p:nvPr/>
        </p:nvSpPr>
        <p:spPr>
          <a:xfrm>
            <a:off x="727710" y="1918335"/>
            <a:ext cx="1316136" cy="548640"/>
          </a:xfrm>
          <a:prstGeom prst="rect">
            <a:avLst/>
          </a:prstGeom>
          <a:noFill/>
          <a:ln>
            <a:noFill/>
          </a:ln>
        </p:spPr>
        <p:txBody>
          <a:bodyPr wrap="none" lIns="0" tIns="0" rIns="0" bIns="0" anchor="t" anchorCtr="0">
            <a:spAutoFit/>
          </a:bodyPr>
          <a:lstStyle/>
          <a:p>
            <a:pPr algn="l"/>
            <a:r>
              <a:rPr lang="zh-CN" sz="2700" b="1" dirty="0">
                <a:solidFill>
                  <a:srgbClr val="F5F5F7"/>
                </a:solidFill>
                <a:latin typeface="Segoe UI"/>
                <a:ea typeface="Microsoft YaHei"/>
                <a:cs typeface="Segoe UI"/>
              </a:rPr>
              <a:t>6-core</a:t>
            </a:r>
          </a:p>
        </p:txBody>
      </p:sp>
      <p:sp>
        <p:nvSpPr>
          <p:cNvPr id="9" name="TextBox 9"/>
          <p:cNvSpPr txBox="1"/>
          <p:nvPr/>
        </p:nvSpPr>
        <p:spPr>
          <a:xfrm>
            <a:off x="746760" y="2327910"/>
            <a:ext cx="294513" cy="243840"/>
          </a:xfrm>
          <a:prstGeom prst="rect">
            <a:avLst/>
          </a:prstGeom>
          <a:noFill/>
          <a:ln>
            <a:noFill/>
          </a:ln>
        </p:spPr>
        <p:txBody>
          <a:bodyPr wrap="none" lIns="0" tIns="0" rIns="0" bIns="0" anchor="t" anchorCtr="0">
            <a:spAutoFit/>
          </a:bodyPr>
          <a:lstStyle/>
          <a:p>
            <a:pPr algn="l"/>
            <a:r>
              <a:rPr lang="zh-CN" sz="1200" dirty="0">
                <a:solidFill>
                  <a:srgbClr val="E5E5EA"/>
                </a:solidFill>
                <a:latin typeface="Segoe UI"/>
                <a:ea typeface="Microsoft YaHei"/>
                <a:cs typeface="Segoe UI"/>
              </a:rPr>
              <a:t>CPU</a:t>
            </a:r>
          </a:p>
        </p:txBody>
      </p:sp>
      <p:sp>
        <p:nvSpPr>
          <p:cNvPr id="10" name="TextBox 10"/>
          <p:cNvSpPr txBox="1"/>
          <p:nvPr/>
        </p:nvSpPr>
        <p:spPr>
          <a:xfrm>
            <a:off x="748665" y="2534602"/>
            <a:ext cx="2063925" cy="213360"/>
          </a:xfrm>
          <a:prstGeom prst="rect">
            <a:avLst/>
          </a:prstGeom>
          <a:noFill/>
          <a:ln>
            <a:noFill/>
          </a:ln>
        </p:spPr>
        <p:txBody>
          <a:bodyPr wrap="none" lIns="0" tIns="0" rIns="0" bIns="0" anchor="t" anchorCtr="0">
            <a:spAutoFit/>
          </a:bodyPr>
          <a:lstStyle/>
          <a:p>
            <a:pPr algn="l"/>
            <a:r>
              <a:rPr lang="zh-CN" sz="1050" b="1" dirty="0">
                <a:solidFill>
                  <a:srgbClr val="30D158"/>
                </a:solidFill>
                <a:latin typeface="Segoe UI"/>
                <a:ea typeface="Microsoft YaHei"/>
                <a:cs typeface="Segoe UI"/>
              </a:rPr>
              <a:t>15% faster</a:t>
            </a:r>
            <a:r>
              <a:rPr lang="zh-CN" sz="1050" dirty="0">
                <a:solidFill>
                  <a:srgbClr val="8E8E93"/>
                </a:solidFill>
                <a:latin typeface="Segoe UI"/>
                <a:ea typeface="Microsoft YaHei"/>
                <a:cs typeface="Segoe UI"/>
              </a:rPr>
              <a:t xml:space="preserve"> </a:t>
            </a:r>
            <a:r>
              <a:rPr lang="zh-CN" sz="1050" dirty="0">
                <a:solidFill>
                  <a:srgbClr val="8E8E93"/>
                </a:solidFill>
                <a:latin typeface="Segoe UI"/>
                <a:ea typeface="Microsoft YaHei"/>
                <a:cs typeface="Segoe UI"/>
              </a:rPr>
              <a:t xml:space="preserve"> · </a:t>
            </a:r>
            <a:r>
              <a:rPr lang="zh-CN" sz="1050" dirty="0">
                <a:solidFill>
                  <a:srgbClr val="8E8E93"/>
                </a:solidFill>
                <a:latin typeface="Segoe UI"/>
                <a:ea typeface="Microsoft YaHei"/>
                <a:cs typeface="Segoe UI"/>
              </a:rPr>
              <a:t xml:space="preserve"> </a:t>
            </a:r>
            <a:r>
              <a:rPr lang="zh-CN" sz="1050" b="1" dirty="0">
                <a:solidFill>
                  <a:srgbClr val="30D158"/>
                </a:solidFill>
                <a:latin typeface="Segoe UI"/>
                <a:ea typeface="Microsoft YaHei"/>
                <a:cs typeface="Segoe UI"/>
              </a:rPr>
              <a:t>20% less power</a:t>
            </a:r>
          </a:p>
        </p:txBody>
      </p:sp>
      <p:sp>
        <p:nvSpPr>
          <p:cNvPr id="11" name="Rectangle 11"/>
          <p:cNvSpPr/>
          <p:nvPr/>
        </p:nvSpPr>
        <p:spPr>
          <a:xfrm>
            <a:off x="3143250" y="1476375"/>
            <a:ext cx="2381250" cy="1190625"/>
          </a:xfrm>
          <a:prstGeom prst="roundRect">
            <a:avLst>
              <a:gd name="adj" fmla="val 9600"/>
            </a:avLst>
          </a:prstGeom>
          <a:solidFill>
            <a:srgbClr val="15151F"/>
          </a:solidFill>
          <a:ln w="9525">
            <a:solidFill>
              <a:srgbClr val="2A2A3A"/>
            </a:solidFill>
          </a:ln>
        </p:spPr>
      </p:sp>
      <p:sp>
        <p:nvSpPr>
          <p:cNvPr id="12" name="Freeform 12"/>
          <p:cNvSpPr/>
          <p:nvPr/>
        </p:nvSpPr>
        <p:spPr>
          <a:xfrm>
            <a:off x="3367088" y="1666875"/>
            <a:ext cx="200025" cy="266700"/>
          </a:xfrm>
          <a:custGeom>
            <a:avLst/>
            <a:gdLst/>
            <a:ahLst/>
            <a:cxnLst/>
            <a:rect l="l" t="t" r="r" b="b"/>
            <a:pathLst>
              <a:path w="200025" h="266700">
                <a:moveTo>
                  <a:pt x="116681" y="116681"/>
                </a:moveTo>
                <a:lnTo>
                  <a:pt x="133350" y="0"/>
                </a:lnTo>
                <a:lnTo>
                  <a:pt x="100012" y="0"/>
                </a:lnTo>
                <a:lnTo>
                  <a:pt x="0" y="116681"/>
                </a:lnTo>
                <a:lnTo>
                  <a:pt x="0" y="150019"/>
                </a:lnTo>
                <a:lnTo>
                  <a:pt x="83344" y="150019"/>
                </a:lnTo>
                <a:lnTo>
                  <a:pt x="66675" y="266700"/>
                </a:lnTo>
                <a:lnTo>
                  <a:pt x="100012" y="266700"/>
                </a:lnTo>
                <a:lnTo>
                  <a:pt x="200025" y="150019"/>
                </a:lnTo>
                <a:lnTo>
                  <a:pt x="200025" y="116681"/>
                </a:lnTo>
                <a:lnTo>
                  <a:pt x="116681" y="116681"/>
                </a:lnTo>
                <a:close/>
              </a:path>
            </a:pathLst>
          </a:custGeom>
          <a:solidFill>
            <a:srgbClr val="0A84FF"/>
          </a:solidFill>
          <a:ln>
            <a:noFill/>
          </a:ln>
        </p:spPr>
      </p:sp>
      <p:sp>
        <p:nvSpPr>
          <p:cNvPr id="13" name="TextBox 13"/>
          <p:cNvSpPr txBox="1"/>
          <p:nvPr/>
        </p:nvSpPr>
        <p:spPr>
          <a:xfrm>
            <a:off x="3299460" y="1918335"/>
            <a:ext cx="1316136" cy="548640"/>
          </a:xfrm>
          <a:prstGeom prst="rect">
            <a:avLst/>
          </a:prstGeom>
          <a:noFill/>
          <a:ln>
            <a:noFill/>
          </a:ln>
        </p:spPr>
        <p:txBody>
          <a:bodyPr wrap="none" lIns="0" tIns="0" rIns="0" bIns="0" anchor="t" anchorCtr="0">
            <a:spAutoFit/>
          </a:bodyPr>
          <a:lstStyle/>
          <a:p>
            <a:pPr algn="l"/>
            <a:r>
              <a:rPr lang="zh-CN" sz="2700" b="1" dirty="0">
                <a:solidFill>
                  <a:srgbClr val="F5F5F7"/>
                </a:solidFill>
                <a:latin typeface="Segoe UI"/>
                <a:ea typeface="Microsoft YaHei"/>
                <a:cs typeface="Segoe UI"/>
              </a:rPr>
              <a:t>6-core</a:t>
            </a:r>
          </a:p>
        </p:txBody>
      </p:sp>
      <p:sp>
        <p:nvSpPr>
          <p:cNvPr id="14" name="TextBox 14"/>
          <p:cNvSpPr txBox="1"/>
          <p:nvPr/>
        </p:nvSpPr>
        <p:spPr>
          <a:xfrm>
            <a:off x="3318510" y="2327910"/>
            <a:ext cx="294513" cy="243840"/>
          </a:xfrm>
          <a:prstGeom prst="rect">
            <a:avLst/>
          </a:prstGeom>
          <a:noFill/>
          <a:ln>
            <a:noFill/>
          </a:ln>
        </p:spPr>
        <p:txBody>
          <a:bodyPr wrap="none" lIns="0" tIns="0" rIns="0" bIns="0" anchor="t" anchorCtr="0">
            <a:spAutoFit/>
          </a:bodyPr>
          <a:lstStyle/>
          <a:p>
            <a:pPr algn="l"/>
            <a:r>
              <a:rPr lang="zh-CN" sz="1200" dirty="0">
                <a:solidFill>
                  <a:srgbClr val="E5E5EA"/>
                </a:solidFill>
                <a:latin typeface="Segoe UI"/>
                <a:ea typeface="Microsoft YaHei"/>
                <a:cs typeface="Segoe UI"/>
              </a:rPr>
              <a:t>GPU</a:t>
            </a:r>
          </a:p>
        </p:txBody>
      </p:sp>
      <p:sp>
        <p:nvSpPr>
          <p:cNvPr id="15" name="TextBox 15"/>
          <p:cNvSpPr txBox="1"/>
          <p:nvPr/>
        </p:nvSpPr>
        <p:spPr>
          <a:xfrm>
            <a:off x="3320415" y="2534602"/>
            <a:ext cx="1888903" cy="213360"/>
          </a:xfrm>
          <a:prstGeom prst="rect">
            <a:avLst/>
          </a:prstGeom>
          <a:noFill/>
          <a:ln>
            <a:noFill/>
          </a:ln>
        </p:spPr>
        <p:txBody>
          <a:bodyPr wrap="none" lIns="0" tIns="0" rIns="0" bIns="0" anchor="t" anchorCtr="0">
            <a:spAutoFit/>
          </a:bodyPr>
          <a:lstStyle/>
          <a:p>
            <a:pPr algn="l"/>
            <a:r>
              <a:rPr lang="zh-CN" sz="1050" dirty="0">
                <a:solidFill>
                  <a:srgbClr val="8E8E93"/>
                </a:solidFill>
                <a:latin typeface="Segoe UI"/>
                <a:ea typeface="Microsoft YaHei"/>
                <a:cs typeface="Segoe UI"/>
              </a:rPr>
              <a:t xml:space="preserve">Up to </a:t>
            </a:r>
            <a:r>
              <a:rPr lang="zh-CN" sz="1050" dirty="0">
                <a:solidFill>
                  <a:srgbClr val="8E8E93"/>
                </a:solidFill>
                <a:latin typeface="Segoe UI"/>
                <a:ea typeface="Microsoft YaHei"/>
                <a:cs typeface="Segoe UI"/>
              </a:rPr>
              <a:t xml:space="preserve"> </a:t>
            </a:r>
            <a:r>
              <a:rPr lang="zh-CN" sz="1050" b="1" dirty="0">
                <a:solidFill>
                  <a:srgbClr val="30D158"/>
                </a:solidFill>
                <a:latin typeface="Segoe UI"/>
                <a:ea typeface="Microsoft YaHei"/>
                <a:cs typeface="Segoe UI"/>
              </a:rPr>
              <a:t>20% faster</a:t>
            </a:r>
            <a:r>
              <a:rPr lang="zh-CN" sz="1050" dirty="0">
                <a:solidFill>
                  <a:srgbClr val="8E8E93"/>
                </a:solidFill>
                <a:latin typeface="Segoe UI"/>
                <a:ea typeface="Microsoft YaHei"/>
                <a:cs typeface="Segoe UI"/>
              </a:rPr>
              <a:t xml:space="preserve"> </a:t>
            </a:r>
            <a:r>
              <a:rPr lang="zh-CN" sz="1050" dirty="0">
                <a:solidFill>
                  <a:srgbClr val="8E8E93"/>
                </a:solidFill>
                <a:latin typeface="Segoe UI"/>
                <a:ea typeface="Microsoft YaHei"/>
                <a:cs typeface="Segoe UI"/>
              </a:rPr>
              <a:t xml:space="preserve"> graphics</a:t>
            </a:r>
          </a:p>
        </p:txBody>
      </p:sp>
      <p:sp>
        <p:nvSpPr>
          <p:cNvPr id="16" name="Rectangle 16"/>
          <p:cNvSpPr/>
          <p:nvPr/>
        </p:nvSpPr>
        <p:spPr>
          <a:xfrm>
            <a:off x="571500" y="2809875"/>
            <a:ext cx="2381250" cy="1190625"/>
          </a:xfrm>
          <a:prstGeom prst="roundRect">
            <a:avLst>
              <a:gd name="adj" fmla="val 9600"/>
            </a:avLst>
          </a:prstGeom>
          <a:solidFill>
            <a:srgbClr val="15151F"/>
          </a:solidFill>
          <a:ln w="9525">
            <a:solidFill>
              <a:srgbClr val="2A2A3A"/>
            </a:solidFill>
          </a:ln>
        </p:spPr>
      </p:sp>
      <p:grpSp>
        <p:nvGrpSpPr>
          <p:cNvPr id="19" name="Group 19"/>
          <p:cNvGrpSpPr/>
          <p:nvPr/>
        </p:nvGrpSpPr>
        <p:grpSpPr>
          <a:xfrm>
            <a:off x="762000" y="3000375"/>
            <a:ext cx="266700" cy="266700"/>
            <a:chOff x="762000" y="3000375"/>
            <a:chExt cx="266700" cy="266700"/>
          </a:xfrm>
        </p:grpSpPr>
        <p:sp>
          <p:nvSpPr>
            <p:cNvPr id="17" name="Freeform 17"/>
            <p:cNvSpPr/>
            <p:nvPr/>
          </p:nvSpPr>
          <p:spPr>
            <a:xfrm>
              <a:off x="862012" y="3100388"/>
              <a:ext cx="66675" cy="66675"/>
            </a:xfrm>
            <a:custGeom>
              <a:avLst/>
              <a:gdLst/>
              <a:ahLst/>
              <a:cxnLst/>
              <a:rect l="l" t="t" r="r" b="b"/>
              <a:pathLst>
                <a:path w="66675" h="66675">
                  <a:moveTo>
                    <a:pt x="0" y="66675"/>
                  </a:moveTo>
                  <a:lnTo>
                    <a:pt x="0" y="0"/>
                  </a:lnTo>
                  <a:lnTo>
                    <a:pt x="66675" y="0"/>
                  </a:lnTo>
                  <a:lnTo>
                    <a:pt x="66675" y="66675"/>
                  </a:lnTo>
                  <a:lnTo>
                    <a:pt x="0" y="66675"/>
                  </a:lnTo>
                  <a:close/>
                </a:path>
              </a:pathLst>
            </a:custGeom>
            <a:solidFill>
              <a:srgbClr val="0A84FF"/>
            </a:solidFill>
            <a:ln>
              <a:noFill/>
            </a:ln>
          </p:spPr>
        </p:sp>
        <p:sp>
          <p:nvSpPr>
            <p:cNvPr id="18" name="Freeform 18"/>
            <p:cNvSpPr/>
            <p:nvPr/>
          </p:nvSpPr>
          <p:spPr>
            <a:xfrm>
              <a:off x="762000" y="3000375"/>
              <a:ext cx="266700" cy="266700"/>
            </a:xfrm>
            <a:custGeom>
              <a:avLst/>
              <a:gdLst/>
              <a:ahLst/>
              <a:cxnLst/>
              <a:rect l="l" t="t" r="r" b="b"/>
              <a:pathLst>
                <a:path w="266700" h="266700">
                  <a:moveTo>
                    <a:pt x="50006" y="33338"/>
                  </a:moveTo>
                  <a:lnTo>
                    <a:pt x="50006" y="0"/>
                  </a:lnTo>
                  <a:lnTo>
                    <a:pt x="83344" y="0"/>
                  </a:lnTo>
                  <a:lnTo>
                    <a:pt x="83344" y="33338"/>
                  </a:lnTo>
                  <a:lnTo>
                    <a:pt x="116681" y="33338"/>
                  </a:lnTo>
                  <a:lnTo>
                    <a:pt x="116681" y="0"/>
                  </a:lnTo>
                  <a:lnTo>
                    <a:pt x="150019" y="0"/>
                  </a:lnTo>
                  <a:lnTo>
                    <a:pt x="150019" y="33338"/>
                  </a:lnTo>
                  <a:lnTo>
                    <a:pt x="183356" y="33338"/>
                  </a:lnTo>
                  <a:lnTo>
                    <a:pt x="183356" y="0"/>
                  </a:lnTo>
                  <a:lnTo>
                    <a:pt x="216694" y="0"/>
                  </a:lnTo>
                  <a:lnTo>
                    <a:pt x="216694" y="33338"/>
                  </a:lnTo>
                  <a:lnTo>
                    <a:pt x="233362" y="33338"/>
                  </a:lnTo>
                  <a:lnTo>
                    <a:pt x="233362" y="50006"/>
                  </a:lnTo>
                  <a:lnTo>
                    <a:pt x="266700" y="50006"/>
                  </a:lnTo>
                  <a:lnTo>
                    <a:pt x="266700" y="83344"/>
                  </a:lnTo>
                  <a:lnTo>
                    <a:pt x="233362" y="83344"/>
                  </a:lnTo>
                  <a:lnTo>
                    <a:pt x="233362" y="116681"/>
                  </a:lnTo>
                  <a:lnTo>
                    <a:pt x="266700" y="116681"/>
                  </a:lnTo>
                  <a:lnTo>
                    <a:pt x="266700" y="150019"/>
                  </a:lnTo>
                  <a:lnTo>
                    <a:pt x="233362" y="150019"/>
                  </a:lnTo>
                  <a:lnTo>
                    <a:pt x="233362" y="183356"/>
                  </a:lnTo>
                  <a:lnTo>
                    <a:pt x="266700" y="183356"/>
                  </a:lnTo>
                  <a:lnTo>
                    <a:pt x="266700" y="216694"/>
                  </a:lnTo>
                  <a:lnTo>
                    <a:pt x="233362" y="216694"/>
                  </a:lnTo>
                  <a:lnTo>
                    <a:pt x="233362" y="233362"/>
                  </a:lnTo>
                  <a:lnTo>
                    <a:pt x="216694" y="233362"/>
                  </a:lnTo>
                  <a:lnTo>
                    <a:pt x="216694" y="266700"/>
                  </a:lnTo>
                  <a:lnTo>
                    <a:pt x="183356" y="266700"/>
                  </a:lnTo>
                  <a:lnTo>
                    <a:pt x="183356" y="233362"/>
                  </a:lnTo>
                  <a:lnTo>
                    <a:pt x="150019" y="233362"/>
                  </a:lnTo>
                  <a:lnTo>
                    <a:pt x="150019" y="266700"/>
                  </a:lnTo>
                  <a:lnTo>
                    <a:pt x="116681" y="266700"/>
                  </a:lnTo>
                  <a:lnTo>
                    <a:pt x="116681" y="233362"/>
                  </a:lnTo>
                  <a:lnTo>
                    <a:pt x="83344" y="233362"/>
                  </a:lnTo>
                  <a:lnTo>
                    <a:pt x="83344" y="266700"/>
                  </a:lnTo>
                  <a:lnTo>
                    <a:pt x="50006" y="266700"/>
                  </a:lnTo>
                  <a:lnTo>
                    <a:pt x="50006" y="233362"/>
                  </a:lnTo>
                  <a:lnTo>
                    <a:pt x="33338" y="233362"/>
                  </a:lnTo>
                  <a:lnTo>
                    <a:pt x="33338" y="216694"/>
                  </a:lnTo>
                  <a:lnTo>
                    <a:pt x="0" y="216694"/>
                  </a:lnTo>
                  <a:lnTo>
                    <a:pt x="0" y="183356"/>
                  </a:lnTo>
                  <a:lnTo>
                    <a:pt x="33338" y="183356"/>
                  </a:lnTo>
                  <a:lnTo>
                    <a:pt x="33338" y="150019"/>
                  </a:lnTo>
                  <a:lnTo>
                    <a:pt x="0" y="150019"/>
                  </a:lnTo>
                  <a:lnTo>
                    <a:pt x="0" y="116681"/>
                  </a:lnTo>
                  <a:lnTo>
                    <a:pt x="33338" y="116681"/>
                  </a:lnTo>
                  <a:lnTo>
                    <a:pt x="33338" y="83344"/>
                  </a:lnTo>
                  <a:lnTo>
                    <a:pt x="0" y="83344"/>
                  </a:lnTo>
                  <a:lnTo>
                    <a:pt x="0" y="50006"/>
                  </a:lnTo>
                  <a:lnTo>
                    <a:pt x="33338" y="50006"/>
                  </a:lnTo>
                  <a:lnTo>
                    <a:pt x="33338" y="33338"/>
                  </a:lnTo>
                  <a:lnTo>
                    <a:pt x="50006" y="33338"/>
                  </a:lnTo>
                  <a:close/>
                  <a:moveTo>
                    <a:pt x="66675" y="66675"/>
                  </a:moveTo>
                  <a:lnTo>
                    <a:pt x="66675" y="200025"/>
                  </a:lnTo>
                  <a:lnTo>
                    <a:pt x="200025" y="200025"/>
                  </a:lnTo>
                  <a:lnTo>
                    <a:pt x="200025" y="66675"/>
                  </a:lnTo>
                  <a:lnTo>
                    <a:pt x="66675" y="66675"/>
                  </a:lnTo>
                  <a:close/>
                </a:path>
              </a:pathLst>
            </a:custGeom>
            <a:solidFill>
              <a:srgbClr val="0A84FF"/>
            </a:solidFill>
            <a:ln>
              <a:noFill/>
            </a:ln>
          </p:spPr>
        </p:sp>
      </p:grpSp>
      <p:sp>
        <p:nvSpPr>
          <p:cNvPr id="20" name="TextBox 20"/>
          <p:cNvSpPr txBox="1"/>
          <p:nvPr/>
        </p:nvSpPr>
        <p:spPr>
          <a:xfrm>
            <a:off x="731520" y="3284220"/>
            <a:ext cx="1354722" cy="487680"/>
          </a:xfrm>
          <a:prstGeom prst="rect">
            <a:avLst/>
          </a:prstGeom>
          <a:noFill/>
          <a:ln>
            <a:noFill/>
          </a:ln>
        </p:spPr>
        <p:txBody>
          <a:bodyPr wrap="none" lIns="0" tIns="0" rIns="0" bIns="0" anchor="t" anchorCtr="0">
            <a:spAutoFit/>
          </a:bodyPr>
          <a:lstStyle/>
          <a:p>
            <a:pPr algn="l"/>
            <a:r>
              <a:rPr lang="zh-CN" sz="2400" b="1" dirty="0">
                <a:solidFill>
                  <a:srgbClr val="F5F5F7"/>
                </a:solidFill>
                <a:latin typeface="Segoe UI"/>
                <a:ea typeface="Microsoft YaHei"/>
                <a:cs typeface="Segoe UI"/>
              </a:rPr>
              <a:t>16-core</a:t>
            </a:r>
          </a:p>
        </p:txBody>
      </p:sp>
      <p:sp>
        <p:nvSpPr>
          <p:cNvPr id="21" name="TextBox 21"/>
          <p:cNvSpPr txBox="1"/>
          <p:nvPr/>
        </p:nvSpPr>
        <p:spPr>
          <a:xfrm>
            <a:off x="746760" y="3661410"/>
            <a:ext cx="1054608" cy="243840"/>
          </a:xfrm>
          <a:prstGeom prst="rect">
            <a:avLst/>
          </a:prstGeom>
          <a:noFill/>
          <a:ln>
            <a:noFill/>
          </a:ln>
        </p:spPr>
        <p:txBody>
          <a:bodyPr wrap="none" lIns="0" tIns="0" rIns="0" bIns="0" anchor="t" anchorCtr="0">
            <a:spAutoFit/>
          </a:bodyPr>
          <a:lstStyle/>
          <a:p>
            <a:pPr algn="l"/>
            <a:r>
              <a:rPr lang="zh-CN" sz="1200" dirty="0">
                <a:solidFill>
                  <a:srgbClr val="E5E5EA"/>
                </a:solidFill>
                <a:latin typeface="Segoe UI"/>
                <a:ea typeface="Microsoft YaHei"/>
                <a:cs typeface="Segoe UI"/>
              </a:rPr>
              <a:t>Neural Engine</a:t>
            </a:r>
          </a:p>
        </p:txBody>
      </p:sp>
      <p:sp>
        <p:nvSpPr>
          <p:cNvPr id="22" name="TextBox 22"/>
          <p:cNvSpPr txBox="1"/>
          <p:nvPr/>
        </p:nvSpPr>
        <p:spPr>
          <a:xfrm>
            <a:off x="748665" y="3868102"/>
            <a:ext cx="1650873" cy="213360"/>
          </a:xfrm>
          <a:prstGeom prst="rect">
            <a:avLst/>
          </a:prstGeom>
          <a:noFill/>
          <a:ln>
            <a:noFill/>
          </a:ln>
        </p:spPr>
        <p:txBody>
          <a:bodyPr wrap="none" lIns="0" tIns="0" rIns="0" bIns="0" anchor="t" anchorCtr="0">
            <a:spAutoFit/>
          </a:bodyPr>
          <a:lstStyle/>
          <a:p>
            <a:pPr algn="l"/>
            <a:r>
              <a:rPr lang="zh-CN" sz="1050" dirty="0">
                <a:solidFill>
                  <a:srgbClr val="8E8E93"/>
                </a:solidFill>
                <a:latin typeface="Segoe UI"/>
                <a:ea typeface="Microsoft YaHei"/>
                <a:cs typeface="Segoe UI"/>
              </a:rPr>
              <a:t xml:space="preserve">Faster, more </a:t>
            </a:r>
            <a:r>
              <a:rPr lang="zh-CN" sz="1050" dirty="0">
                <a:solidFill>
                  <a:srgbClr val="8E8E93"/>
                </a:solidFill>
                <a:latin typeface="Segoe UI"/>
                <a:ea typeface="Microsoft YaHei"/>
                <a:cs typeface="Segoe UI"/>
              </a:rPr>
              <a:t xml:space="preserve"> </a:t>
            </a:r>
            <a:r>
              <a:rPr lang="zh-CN" sz="1050" b="1" dirty="0">
                <a:solidFill>
                  <a:srgbClr val="30D158"/>
                </a:solidFill>
                <a:latin typeface="Segoe UI"/>
                <a:ea typeface="Microsoft YaHei"/>
                <a:cs typeface="Segoe UI"/>
              </a:rPr>
              <a:t>efficient</a:t>
            </a:r>
          </a:p>
        </p:txBody>
      </p:sp>
      <p:sp>
        <p:nvSpPr>
          <p:cNvPr id="23" name="Rectangle 23"/>
          <p:cNvSpPr/>
          <p:nvPr/>
        </p:nvSpPr>
        <p:spPr>
          <a:xfrm>
            <a:off x="3143250" y="2809875"/>
            <a:ext cx="2381250" cy="1190625"/>
          </a:xfrm>
          <a:prstGeom prst="roundRect">
            <a:avLst>
              <a:gd name="adj" fmla="val 9600"/>
            </a:avLst>
          </a:prstGeom>
          <a:solidFill>
            <a:srgbClr val="15151F"/>
          </a:solidFill>
          <a:ln w="9525">
            <a:solidFill>
              <a:srgbClr val="2A2A3A"/>
            </a:solidFill>
          </a:ln>
        </p:spPr>
      </p:sp>
      <p:grpSp>
        <p:nvGrpSpPr>
          <p:cNvPr id="27" name="Group 27"/>
          <p:cNvGrpSpPr/>
          <p:nvPr/>
        </p:nvGrpSpPr>
        <p:grpSpPr>
          <a:xfrm>
            <a:off x="3350419" y="3000375"/>
            <a:ext cx="233362" cy="266700"/>
            <a:chOff x="3350419" y="3000375"/>
            <a:chExt cx="233362" cy="266700"/>
          </a:xfrm>
        </p:grpSpPr>
        <p:sp>
          <p:nvSpPr>
            <p:cNvPr id="24" name="Freeform 24"/>
            <p:cNvSpPr/>
            <p:nvPr/>
          </p:nvSpPr>
          <p:spPr>
            <a:xfrm>
              <a:off x="3350419" y="3000375"/>
              <a:ext cx="233362" cy="133350"/>
            </a:xfrm>
            <a:custGeom>
              <a:avLst/>
              <a:gdLst/>
              <a:ahLst/>
              <a:cxnLst/>
              <a:rect l="l" t="t" r="r" b="b"/>
              <a:pathLst>
                <a:path w="233362" h="133350">
                  <a:moveTo>
                    <a:pt x="0" y="83344"/>
                  </a:moveTo>
                  <a:lnTo>
                    <a:pt x="0" y="50006"/>
                  </a:lnTo>
                  <a:lnTo>
                    <a:pt x="116681" y="0"/>
                  </a:lnTo>
                  <a:lnTo>
                    <a:pt x="233362" y="50006"/>
                  </a:lnTo>
                  <a:lnTo>
                    <a:pt x="233362" y="83344"/>
                  </a:lnTo>
                  <a:lnTo>
                    <a:pt x="116681" y="133350"/>
                  </a:lnTo>
                  <a:lnTo>
                    <a:pt x="0" y="83344"/>
                  </a:lnTo>
                  <a:close/>
                </a:path>
              </a:pathLst>
            </a:custGeom>
            <a:solidFill>
              <a:srgbClr val="0A84FF"/>
            </a:solidFill>
            <a:ln>
              <a:noFill/>
            </a:ln>
          </p:spPr>
        </p:sp>
        <p:sp>
          <p:nvSpPr>
            <p:cNvPr id="25" name="Freeform 25"/>
            <p:cNvSpPr/>
            <p:nvPr/>
          </p:nvSpPr>
          <p:spPr>
            <a:xfrm>
              <a:off x="3350419" y="3183731"/>
              <a:ext cx="233362" cy="83344"/>
            </a:xfrm>
            <a:custGeom>
              <a:avLst/>
              <a:gdLst/>
              <a:ahLst/>
              <a:cxnLst/>
              <a:rect l="l" t="t" r="r" b="b"/>
              <a:pathLst>
                <a:path w="233362" h="83344">
                  <a:moveTo>
                    <a:pt x="116681" y="83344"/>
                  </a:moveTo>
                  <a:lnTo>
                    <a:pt x="0" y="33338"/>
                  </a:lnTo>
                  <a:lnTo>
                    <a:pt x="0" y="0"/>
                  </a:lnTo>
                  <a:lnTo>
                    <a:pt x="116681" y="50006"/>
                  </a:lnTo>
                  <a:lnTo>
                    <a:pt x="233362" y="0"/>
                  </a:lnTo>
                  <a:lnTo>
                    <a:pt x="233362" y="33338"/>
                  </a:lnTo>
                  <a:lnTo>
                    <a:pt x="116681" y="83344"/>
                  </a:lnTo>
                  <a:close/>
                </a:path>
              </a:pathLst>
            </a:custGeom>
            <a:solidFill>
              <a:srgbClr val="0A84FF"/>
            </a:solidFill>
            <a:ln>
              <a:noFill/>
            </a:ln>
          </p:spPr>
        </p:sp>
        <p:sp>
          <p:nvSpPr>
            <p:cNvPr id="26" name="Freeform 26"/>
            <p:cNvSpPr/>
            <p:nvPr/>
          </p:nvSpPr>
          <p:spPr>
            <a:xfrm>
              <a:off x="3350419" y="3117056"/>
              <a:ext cx="233362" cy="83344"/>
            </a:xfrm>
            <a:custGeom>
              <a:avLst/>
              <a:gdLst/>
              <a:ahLst/>
              <a:cxnLst/>
              <a:rect l="l" t="t" r="r" b="b"/>
              <a:pathLst>
                <a:path w="233362" h="83344">
                  <a:moveTo>
                    <a:pt x="0" y="33338"/>
                  </a:moveTo>
                  <a:lnTo>
                    <a:pt x="116681" y="83344"/>
                  </a:lnTo>
                  <a:lnTo>
                    <a:pt x="233362" y="33338"/>
                  </a:lnTo>
                  <a:lnTo>
                    <a:pt x="233362" y="0"/>
                  </a:lnTo>
                  <a:lnTo>
                    <a:pt x="116681" y="50006"/>
                  </a:lnTo>
                  <a:lnTo>
                    <a:pt x="0" y="0"/>
                  </a:lnTo>
                  <a:lnTo>
                    <a:pt x="0" y="33338"/>
                  </a:lnTo>
                  <a:close/>
                </a:path>
              </a:pathLst>
            </a:custGeom>
            <a:solidFill>
              <a:srgbClr val="0A84FF"/>
            </a:solidFill>
            <a:ln>
              <a:noFill/>
            </a:ln>
          </p:spPr>
        </p:sp>
      </p:grpSp>
      <p:sp>
        <p:nvSpPr>
          <p:cNvPr id="28" name="TextBox 28"/>
          <p:cNvSpPr txBox="1"/>
          <p:nvPr/>
        </p:nvSpPr>
        <p:spPr>
          <a:xfrm>
            <a:off x="3299460" y="3251835"/>
            <a:ext cx="597846" cy="548640"/>
          </a:xfrm>
          <a:prstGeom prst="rect">
            <a:avLst/>
          </a:prstGeom>
          <a:noFill/>
          <a:ln>
            <a:noFill/>
          </a:ln>
        </p:spPr>
        <p:txBody>
          <a:bodyPr wrap="none" lIns="0" tIns="0" rIns="0" bIns="0" anchor="t" anchorCtr="0">
            <a:spAutoFit/>
          </a:bodyPr>
          <a:lstStyle/>
          <a:p>
            <a:pPr algn="l"/>
            <a:r>
              <a:rPr lang="zh-CN" sz="2700" b="1" dirty="0">
                <a:solidFill>
                  <a:srgbClr val="F5F5F7"/>
                </a:solidFill>
                <a:latin typeface="Segoe UI"/>
                <a:ea typeface="Microsoft YaHei"/>
                <a:cs typeface="Segoe UI"/>
              </a:rPr>
              <a:t xml:space="preserve">2x </a:t>
            </a:r>
          </a:p>
        </p:txBody>
      </p:sp>
      <p:sp>
        <p:nvSpPr>
          <p:cNvPr id="29" name="TextBox 29"/>
          <p:cNvSpPr txBox="1"/>
          <p:nvPr/>
        </p:nvSpPr>
        <p:spPr>
          <a:xfrm>
            <a:off x="3318510" y="3661410"/>
            <a:ext cx="1702689" cy="243840"/>
          </a:xfrm>
          <a:prstGeom prst="rect">
            <a:avLst/>
          </a:prstGeom>
          <a:noFill/>
          <a:ln>
            <a:noFill/>
          </a:ln>
        </p:spPr>
        <p:txBody>
          <a:bodyPr wrap="none" lIns="0" tIns="0" rIns="0" bIns="0" anchor="t" anchorCtr="0">
            <a:spAutoFit/>
          </a:bodyPr>
          <a:lstStyle/>
          <a:p>
            <a:pPr algn="l"/>
            <a:r>
              <a:rPr lang="zh-CN" sz="1200" dirty="0">
                <a:solidFill>
                  <a:srgbClr val="E5E5EA"/>
                </a:solidFill>
                <a:latin typeface="Segoe UI"/>
                <a:ea typeface="Microsoft YaHei"/>
                <a:cs typeface="Segoe UI"/>
              </a:rPr>
              <a:t>Hardware Ray Tracing</a:t>
            </a:r>
          </a:p>
        </p:txBody>
      </p:sp>
      <p:sp>
        <p:nvSpPr>
          <p:cNvPr id="30" name="TextBox 30"/>
          <p:cNvSpPr txBox="1"/>
          <p:nvPr/>
        </p:nvSpPr>
        <p:spPr>
          <a:xfrm>
            <a:off x="3320415" y="3868102"/>
            <a:ext cx="1818894" cy="213360"/>
          </a:xfrm>
          <a:prstGeom prst="rect">
            <a:avLst/>
          </a:prstGeom>
          <a:noFill/>
          <a:ln>
            <a:noFill/>
          </a:ln>
        </p:spPr>
        <p:txBody>
          <a:bodyPr wrap="none" lIns="0" tIns="0" rIns="0" bIns="0" anchor="t" anchorCtr="0">
            <a:spAutoFit/>
          </a:bodyPr>
          <a:lstStyle/>
          <a:p>
            <a:pPr algn="l"/>
            <a:r>
              <a:rPr lang="zh-CN" sz="1050" dirty="0">
                <a:solidFill>
                  <a:srgbClr val="8E8E93"/>
                </a:solidFill>
                <a:latin typeface="Segoe UI"/>
                <a:ea typeface="Microsoft YaHei"/>
                <a:cs typeface="Segoe UI"/>
              </a:rPr>
              <a:t xml:space="preserve">vs. previous gen </a:t>
            </a:r>
            <a:r>
              <a:rPr lang="zh-CN" sz="1050" dirty="0">
                <a:solidFill>
                  <a:srgbClr val="8E8E93"/>
                </a:solidFill>
                <a:latin typeface="Segoe UI"/>
                <a:ea typeface="Microsoft YaHei"/>
                <a:cs typeface="Segoe UI"/>
              </a:rPr>
              <a:t xml:space="preserve"> </a:t>
            </a:r>
            <a:r>
              <a:rPr lang="zh-CN" sz="1050" b="1" dirty="0">
                <a:solidFill>
                  <a:srgbClr val="30D158"/>
                </a:solidFill>
                <a:latin typeface="Segoe UI"/>
                <a:ea typeface="Microsoft YaHei"/>
                <a:cs typeface="Segoe UI"/>
              </a:rPr>
              <a:t>— faster</a:t>
            </a:r>
          </a:p>
        </p:txBody>
      </p:sp>
      <p:sp>
        <p:nvSpPr>
          <p:cNvPr id="31" name="Rectangle 31"/>
          <p:cNvSpPr/>
          <p:nvPr/>
        </p:nvSpPr>
        <p:spPr>
          <a:xfrm>
            <a:off x="571500" y="4143375"/>
            <a:ext cx="4953000" cy="762000"/>
          </a:xfrm>
          <a:prstGeom prst="roundRect">
            <a:avLst>
              <a:gd name="adj" fmla="val 15000"/>
            </a:avLst>
          </a:prstGeom>
          <a:solidFill>
            <a:srgbClr val="15151F"/>
          </a:solidFill>
          <a:ln w="9525">
            <a:solidFill>
              <a:srgbClr val="2A2A3A"/>
            </a:solidFill>
          </a:ln>
        </p:spPr>
      </p:sp>
      <p:sp>
        <p:nvSpPr>
          <p:cNvPr id="32" name="Freeform 32"/>
          <p:cNvSpPr/>
          <p:nvPr/>
        </p:nvSpPr>
        <p:spPr>
          <a:xfrm>
            <a:off x="762000" y="4350544"/>
            <a:ext cx="266700" cy="216694"/>
          </a:xfrm>
          <a:custGeom>
            <a:avLst/>
            <a:gdLst/>
            <a:ahLst/>
            <a:cxnLst/>
            <a:rect l="l" t="t" r="r" b="b"/>
            <a:pathLst>
              <a:path w="266700" h="216694">
                <a:moveTo>
                  <a:pt x="29247" y="216694"/>
                </a:moveTo>
                <a:cubicBezTo>
                  <a:pt x="10947" y="193864"/>
                  <a:pt x="0" y="164886"/>
                  <a:pt x="0" y="133350"/>
                </a:cubicBezTo>
                <a:cubicBezTo>
                  <a:pt x="0" y="59703"/>
                  <a:pt x="59703" y="0"/>
                  <a:pt x="133350" y="0"/>
                </a:cubicBezTo>
                <a:cubicBezTo>
                  <a:pt x="206998" y="0"/>
                  <a:pt x="266700" y="59703"/>
                  <a:pt x="266700" y="133350"/>
                </a:cubicBezTo>
                <a:cubicBezTo>
                  <a:pt x="266700" y="164886"/>
                  <a:pt x="255754" y="193864"/>
                  <a:pt x="237453" y="216694"/>
                </a:cubicBezTo>
                <a:lnTo>
                  <a:pt x="153381" y="216694"/>
                </a:lnTo>
                <a:lnTo>
                  <a:pt x="212265" y="153001"/>
                </a:lnTo>
                <a:lnTo>
                  <a:pt x="187785" y="130369"/>
                </a:lnTo>
                <a:lnTo>
                  <a:pt x="107980" y="216694"/>
                </a:lnTo>
                <a:lnTo>
                  <a:pt x="29247" y="216694"/>
                </a:lnTo>
                <a:close/>
                <a:moveTo>
                  <a:pt x="116681" y="50006"/>
                </a:moveTo>
                <a:cubicBezTo>
                  <a:pt x="116681" y="59212"/>
                  <a:pt x="124144" y="66675"/>
                  <a:pt x="133350" y="66675"/>
                </a:cubicBezTo>
                <a:cubicBezTo>
                  <a:pt x="142556" y="66675"/>
                  <a:pt x="150019" y="59212"/>
                  <a:pt x="150019" y="50006"/>
                </a:cubicBezTo>
                <a:cubicBezTo>
                  <a:pt x="150019" y="40800"/>
                  <a:pt x="142556" y="33338"/>
                  <a:pt x="133350" y="33338"/>
                </a:cubicBezTo>
                <a:cubicBezTo>
                  <a:pt x="124144" y="33338"/>
                  <a:pt x="116681" y="40800"/>
                  <a:pt x="116681" y="50006"/>
                </a:cubicBezTo>
                <a:close/>
                <a:moveTo>
                  <a:pt x="191691" y="91678"/>
                </a:moveTo>
                <a:cubicBezTo>
                  <a:pt x="182484" y="91678"/>
                  <a:pt x="175022" y="84215"/>
                  <a:pt x="175022" y="75009"/>
                </a:cubicBezTo>
                <a:cubicBezTo>
                  <a:pt x="175022" y="65804"/>
                  <a:pt x="182484" y="58341"/>
                  <a:pt x="191691" y="58341"/>
                </a:cubicBezTo>
                <a:cubicBezTo>
                  <a:pt x="200897" y="58341"/>
                  <a:pt x="208359" y="65804"/>
                  <a:pt x="208359" y="75009"/>
                </a:cubicBezTo>
                <a:cubicBezTo>
                  <a:pt x="208359" y="84215"/>
                  <a:pt x="200897" y="91678"/>
                  <a:pt x="191691" y="91678"/>
                </a:cubicBezTo>
                <a:close/>
                <a:moveTo>
                  <a:pt x="33338" y="133350"/>
                </a:moveTo>
                <a:cubicBezTo>
                  <a:pt x="33338" y="142556"/>
                  <a:pt x="40800" y="150019"/>
                  <a:pt x="50006" y="150019"/>
                </a:cubicBezTo>
                <a:cubicBezTo>
                  <a:pt x="59212" y="150019"/>
                  <a:pt x="66675" y="142556"/>
                  <a:pt x="66675" y="133350"/>
                </a:cubicBezTo>
                <a:cubicBezTo>
                  <a:pt x="66675" y="124144"/>
                  <a:pt x="59212" y="116681"/>
                  <a:pt x="50006" y="116681"/>
                </a:cubicBezTo>
                <a:cubicBezTo>
                  <a:pt x="40800" y="116681"/>
                  <a:pt x="33338" y="124144"/>
                  <a:pt x="33338" y="133350"/>
                </a:cubicBezTo>
                <a:close/>
                <a:moveTo>
                  <a:pt x="75009" y="91678"/>
                </a:moveTo>
                <a:cubicBezTo>
                  <a:pt x="65804" y="91678"/>
                  <a:pt x="58341" y="84215"/>
                  <a:pt x="58341" y="75009"/>
                </a:cubicBezTo>
                <a:cubicBezTo>
                  <a:pt x="58341" y="65804"/>
                  <a:pt x="65804" y="58341"/>
                  <a:pt x="75009" y="58341"/>
                </a:cubicBezTo>
                <a:cubicBezTo>
                  <a:pt x="84215" y="58341"/>
                  <a:pt x="91678" y="65804"/>
                  <a:pt x="91678" y="75009"/>
                </a:cubicBezTo>
                <a:cubicBezTo>
                  <a:pt x="91678" y="84215"/>
                  <a:pt x="84215" y="91678"/>
                  <a:pt x="75009" y="91678"/>
                </a:cubicBezTo>
                <a:close/>
              </a:path>
            </a:pathLst>
          </a:custGeom>
          <a:solidFill>
            <a:srgbClr val="5E5CE6"/>
          </a:solidFill>
          <a:ln>
            <a:noFill/>
          </a:ln>
        </p:spPr>
      </p:sp>
      <p:sp>
        <p:nvSpPr>
          <p:cNvPr id="33" name="TextBox 33"/>
          <p:cNvSpPr txBox="1"/>
          <p:nvPr/>
        </p:nvSpPr>
        <p:spPr>
          <a:xfrm>
            <a:off x="1116330" y="4250055"/>
            <a:ext cx="597308" cy="426720"/>
          </a:xfrm>
          <a:prstGeom prst="rect">
            <a:avLst/>
          </a:prstGeom>
          <a:noFill/>
          <a:ln>
            <a:noFill/>
          </a:ln>
        </p:spPr>
        <p:txBody>
          <a:bodyPr wrap="none" lIns="0" tIns="0" rIns="0" bIns="0" anchor="t" anchorCtr="0">
            <a:spAutoFit/>
          </a:bodyPr>
          <a:lstStyle/>
          <a:p>
            <a:pPr algn="l"/>
            <a:r>
              <a:rPr lang="zh-CN" sz="2100" b="1" dirty="0">
                <a:solidFill>
                  <a:srgbClr val="F5F5F7"/>
                </a:solidFill>
                <a:latin typeface="Segoe UI"/>
                <a:ea typeface="Microsoft YaHei"/>
                <a:cs typeface="Segoe UI"/>
              </a:rPr>
              <a:t>17%</a:t>
            </a:r>
          </a:p>
        </p:txBody>
      </p:sp>
      <p:sp>
        <p:nvSpPr>
          <p:cNvPr id="34" name="TextBox 34"/>
          <p:cNvSpPr txBox="1"/>
          <p:nvPr/>
        </p:nvSpPr>
        <p:spPr>
          <a:xfrm>
            <a:off x="1127760" y="4613910"/>
            <a:ext cx="4375023" cy="243840"/>
          </a:xfrm>
          <a:prstGeom prst="rect">
            <a:avLst/>
          </a:prstGeom>
          <a:noFill/>
          <a:ln>
            <a:noFill/>
          </a:ln>
        </p:spPr>
        <p:txBody>
          <a:bodyPr wrap="none" lIns="0" tIns="0" rIns="0" bIns="0" anchor="t" anchorCtr="0">
            <a:spAutoFit/>
          </a:bodyPr>
          <a:lstStyle/>
          <a:p>
            <a:pPr algn="l"/>
            <a:r>
              <a:rPr lang="zh-CN" sz="1200" dirty="0">
                <a:solidFill>
                  <a:srgbClr val="8E8E93"/>
                </a:solidFill>
                <a:latin typeface="Segoe UI"/>
                <a:ea typeface="Microsoft YaHei"/>
                <a:cs typeface="Segoe UI"/>
              </a:rPr>
              <a:t>more system memory bandwidth — highest ever in iPhone</a:t>
            </a:r>
          </a:p>
        </p:txBody>
      </p:sp>
      <p:sp>
        <p:nvSpPr>
          <p:cNvPr id="35" name="Rectangle 35"/>
          <p:cNvSpPr/>
          <p:nvPr/>
        </p:nvSpPr>
        <p:spPr>
          <a:xfrm>
            <a:off x="5905500" y="1476375"/>
            <a:ext cx="5715000" cy="4667250"/>
          </a:xfrm>
          <a:prstGeom prst="roundRect">
            <a:avLst>
              <a:gd name="adj" fmla="val 4082"/>
            </a:avLst>
          </a:prstGeom>
          <a:solidFill>
            <a:srgbClr val="15151F"/>
          </a:solidFill>
          <a:ln w="9525">
            <a:solidFill>
              <a:srgbClr val="2A2A3A"/>
            </a:solidFill>
          </a:ln>
        </p:spPr>
      </p:sp>
      <p:sp>
        <p:nvSpPr>
          <p:cNvPr id="36" name="Rectangle 36"/>
          <p:cNvSpPr/>
          <p:nvPr/>
        </p:nvSpPr>
        <p:spPr>
          <a:xfrm>
            <a:off x="5905500" y="1476375"/>
            <a:ext cx="5715000" cy="4667250"/>
          </a:xfrm>
          <a:prstGeom prst="roundRect">
            <a:avLst>
              <a:gd name="adj" fmla="val 4082"/>
            </a:avLst>
          </a:prstGeom>
          <a:gradFill>
            <a:gsLst>
              <a:gs pos="0">
                <a:srgbClr val="0A84FF">
                  <a:alpha val="12000"/>
                </a:srgbClr>
              </a:gs>
              <a:gs pos="100000">
                <a:srgbClr val="0A84FF">
                  <a:alpha val="0"/>
                </a:srgbClr>
              </a:gs>
            </a:gsLst>
            <a:path path="circle">
              <a:fillToRect l="50000" t="50000" r="50000" b="50000"/>
            </a:path>
          </a:gradFill>
          <a:ln>
            <a:noFill/>
          </a:ln>
        </p:spPr>
      </p:sp>
      <p:sp>
        <p:nvSpPr>
          <p:cNvPr id="37" name="Rectangle 37"/>
          <p:cNvSpPr/>
          <p:nvPr/>
        </p:nvSpPr>
        <p:spPr>
          <a:xfrm>
            <a:off x="7429500" y="2571750"/>
            <a:ext cx="2667000" cy="2667000"/>
          </a:xfrm>
          <a:prstGeom prst="roundRect">
            <a:avLst>
              <a:gd name="adj" fmla="val 7143"/>
            </a:avLst>
          </a:prstGeom>
          <a:gradFill>
            <a:gsLst>
              <a:gs pos="0">
                <a:srgbClr val="1E1E2A"/>
              </a:gs>
              <a:gs pos="100000">
                <a:srgbClr val="15151F"/>
              </a:gs>
            </a:gsLst>
            <a:lin ang="2700000" scaled="1"/>
          </a:gradFill>
          <a:ln w="14288">
            <a:solidFill>
              <a:srgbClr val="0A84FF">
                <a:alpha val="40000"/>
              </a:srgbClr>
            </a:solidFill>
          </a:ln>
        </p:spPr>
      </p:sp>
      <p:sp>
        <p:nvSpPr>
          <p:cNvPr id="38" name="Rectangle 38"/>
          <p:cNvSpPr/>
          <p:nvPr/>
        </p:nvSpPr>
        <p:spPr>
          <a:xfrm>
            <a:off x="7715250" y="2857500"/>
            <a:ext cx="2095500" cy="2095500"/>
          </a:xfrm>
          <a:prstGeom prst="roundRect">
            <a:avLst>
              <a:gd name="adj" fmla="val 5455"/>
            </a:avLst>
          </a:prstGeom>
          <a:solidFill>
            <a:srgbClr val="1E1E2A"/>
          </a:solidFill>
          <a:ln w="9525">
            <a:solidFill>
              <a:srgbClr val="5E5CE6">
                <a:alpha val="30000"/>
              </a:srgbClr>
            </a:solidFill>
          </a:ln>
        </p:spPr>
      </p:sp>
      <p:sp>
        <p:nvSpPr>
          <p:cNvPr id="39" name="Rectangle 39"/>
          <p:cNvSpPr/>
          <p:nvPr/>
        </p:nvSpPr>
        <p:spPr>
          <a:xfrm>
            <a:off x="7905750" y="3048000"/>
            <a:ext cx="762000" cy="523875"/>
          </a:xfrm>
          <a:prstGeom prst="roundRect">
            <a:avLst>
              <a:gd name="adj" fmla="val 10909"/>
            </a:avLst>
          </a:prstGeom>
          <a:solidFill>
            <a:srgbClr val="0A84FF">
              <a:alpha val="15000"/>
            </a:srgbClr>
          </a:solidFill>
          <a:ln w="9525">
            <a:solidFill>
              <a:srgbClr val="0A84FF">
                <a:alpha val="50000"/>
              </a:srgbClr>
            </a:solidFill>
          </a:ln>
        </p:spPr>
      </p:sp>
      <p:sp>
        <p:nvSpPr>
          <p:cNvPr id="40" name="TextBox 40"/>
          <p:cNvSpPr txBox="1"/>
          <p:nvPr/>
        </p:nvSpPr>
        <p:spPr>
          <a:xfrm>
            <a:off x="8161741" y="3180874"/>
            <a:ext cx="250018" cy="198120"/>
          </a:xfrm>
          <a:prstGeom prst="rect">
            <a:avLst/>
          </a:prstGeom>
          <a:noFill/>
          <a:ln>
            <a:noFill/>
          </a:ln>
        </p:spPr>
        <p:txBody>
          <a:bodyPr wrap="none" lIns="0" tIns="0" rIns="0" bIns="0" anchor="t" anchorCtr="0">
            <a:spAutoFit/>
          </a:bodyPr>
          <a:lstStyle/>
          <a:p>
            <a:pPr algn="ctr"/>
            <a:r>
              <a:rPr lang="zh-CN" sz="975" b="1" dirty="0">
                <a:solidFill>
                  <a:srgbClr val="0A84FF"/>
                </a:solidFill>
                <a:latin typeface="Consolas"/>
                <a:ea typeface="Microsoft YaHei"/>
                <a:cs typeface="Consolas"/>
              </a:rPr>
              <a:t>CPU</a:t>
            </a:r>
          </a:p>
        </p:txBody>
      </p:sp>
      <p:sp>
        <p:nvSpPr>
          <p:cNvPr id="41" name="TextBox 41"/>
          <p:cNvSpPr txBox="1"/>
          <p:nvPr/>
        </p:nvSpPr>
        <p:spPr>
          <a:xfrm>
            <a:off x="8094750" y="3358991"/>
            <a:ext cx="384000" cy="167640"/>
          </a:xfrm>
          <a:prstGeom prst="rect">
            <a:avLst/>
          </a:prstGeom>
          <a:noFill/>
          <a:ln>
            <a:noFill/>
          </a:ln>
        </p:spPr>
        <p:txBody>
          <a:bodyPr wrap="none" lIns="0" tIns="0" rIns="0" bIns="0" anchor="t" anchorCtr="0">
            <a:spAutoFit/>
          </a:bodyPr>
          <a:lstStyle/>
          <a:p>
            <a:pPr algn="ctr"/>
            <a:r>
              <a:rPr lang="zh-CN" sz="825" dirty="0">
                <a:solidFill>
                  <a:srgbClr val="8E8E93"/>
                </a:solidFill>
                <a:latin typeface="Consolas"/>
                <a:ea typeface="Microsoft YaHei"/>
                <a:cs typeface="Consolas"/>
              </a:rPr>
              <a:t>6-core</a:t>
            </a:r>
          </a:p>
        </p:txBody>
      </p:sp>
      <p:sp>
        <p:nvSpPr>
          <p:cNvPr id="42" name="Rectangle 42"/>
          <p:cNvSpPr/>
          <p:nvPr/>
        </p:nvSpPr>
        <p:spPr>
          <a:xfrm>
            <a:off x="8858250" y="3048000"/>
            <a:ext cx="762000" cy="523875"/>
          </a:xfrm>
          <a:prstGeom prst="roundRect">
            <a:avLst>
              <a:gd name="adj" fmla="val 10909"/>
            </a:avLst>
          </a:prstGeom>
          <a:solidFill>
            <a:srgbClr val="5E5CE6">
              <a:alpha val="15000"/>
            </a:srgbClr>
          </a:solidFill>
          <a:ln w="9525">
            <a:solidFill>
              <a:srgbClr val="5E5CE6">
                <a:alpha val="50000"/>
              </a:srgbClr>
            </a:solidFill>
          </a:ln>
        </p:spPr>
      </p:sp>
      <p:sp>
        <p:nvSpPr>
          <p:cNvPr id="43" name="TextBox 43"/>
          <p:cNvSpPr txBox="1"/>
          <p:nvPr/>
        </p:nvSpPr>
        <p:spPr>
          <a:xfrm>
            <a:off x="9114241" y="3180874"/>
            <a:ext cx="250018" cy="198120"/>
          </a:xfrm>
          <a:prstGeom prst="rect">
            <a:avLst/>
          </a:prstGeom>
          <a:noFill/>
          <a:ln>
            <a:noFill/>
          </a:ln>
        </p:spPr>
        <p:txBody>
          <a:bodyPr wrap="none" lIns="0" tIns="0" rIns="0" bIns="0" anchor="t" anchorCtr="0">
            <a:spAutoFit/>
          </a:bodyPr>
          <a:lstStyle/>
          <a:p>
            <a:pPr algn="ctr"/>
            <a:r>
              <a:rPr lang="zh-CN" sz="975" b="1" dirty="0">
                <a:solidFill>
                  <a:srgbClr val="5E5CE6"/>
                </a:solidFill>
                <a:latin typeface="Consolas"/>
                <a:ea typeface="Microsoft YaHei"/>
                <a:cs typeface="Consolas"/>
              </a:rPr>
              <a:t>GPU</a:t>
            </a:r>
          </a:p>
        </p:txBody>
      </p:sp>
      <p:sp>
        <p:nvSpPr>
          <p:cNvPr id="44" name="TextBox 44"/>
          <p:cNvSpPr txBox="1"/>
          <p:nvPr/>
        </p:nvSpPr>
        <p:spPr>
          <a:xfrm>
            <a:off x="9047250" y="3358991"/>
            <a:ext cx="384000" cy="167640"/>
          </a:xfrm>
          <a:prstGeom prst="rect">
            <a:avLst/>
          </a:prstGeom>
          <a:noFill/>
          <a:ln>
            <a:noFill/>
          </a:ln>
        </p:spPr>
        <p:txBody>
          <a:bodyPr wrap="none" lIns="0" tIns="0" rIns="0" bIns="0" anchor="t" anchorCtr="0">
            <a:spAutoFit/>
          </a:bodyPr>
          <a:lstStyle/>
          <a:p>
            <a:pPr algn="ctr"/>
            <a:r>
              <a:rPr lang="zh-CN" sz="825" dirty="0">
                <a:solidFill>
                  <a:srgbClr val="8E8E93"/>
                </a:solidFill>
                <a:latin typeface="Consolas"/>
                <a:ea typeface="Microsoft YaHei"/>
                <a:cs typeface="Consolas"/>
              </a:rPr>
              <a:t>6-core</a:t>
            </a:r>
          </a:p>
        </p:txBody>
      </p:sp>
      <p:sp>
        <p:nvSpPr>
          <p:cNvPr id="45" name="Rectangle 45"/>
          <p:cNvSpPr/>
          <p:nvPr/>
        </p:nvSpPr>
        <p:spPr>
          <a:xfrm>
            <a:off x="7905750" y="3714750"/>
            <a:ext cx="1714500" cy="523875"/>
          </a:xfrm>
          <a:prstGeom prst="roundRect">
            <a:avLst>
              <a:gd name="adj" fmla="val 10909"/>
            </a:avLst>
          </a:prstGeom>
          <a:solidFill>
            <a:srgbClr val="30D158">
              <a:alpha val="10000"/>
            </a:srgbClr>
          </a:solidFill>
          <a:ln w="9525">
            <a:solidFill>
              <a:srgbClr val="30D158">
                <a:alpha val="40000"/>
              </a:srgbClr>
            </a:solidFill>
          </a:ln>
        </p:spPr>
      </p:sp>
      <p:sp>
        <p:nvSpPr>
          <p:cNvPr id="46" name="TextBox 46"/>
          <p:cNvSpPr txBox="1"/>
          <p:nvPr/>
        </p:nvSpPr>
        <p:spPr>
          <a:xfrm>
            <a:off x="8296698" y="3847624"/>
            <a:ext cx="932603" cy="198120"/>
          </a:xfrm>
          <a:prstGeom prst="rect">
            <a:avLst/>
          </a:prstGeom>
          <a:noFill/>
          <a:ln>
            <a:noFill/>
          </a:ln>
        </p:spPr>
        <p:txBody>
          <a:bodyPr wrap="none" lIns="0" tIns="0" rIns="0" bIns="0" anchor="t" anchorCtr="0">
            <a:spAutoFit/>
          </a:bodyPr>
          <a:lstStyle/>
          <a:p>
            <a:pPr algn="ctr"/>
            <a:r>
              <a:rPr lang="zh-CN" sz="975" b="1" dirty="0">
                <a:solidFill>
                  <a:srgbClr val="30D158"/>
                </a:solidFill>
                <a:latin typeface="Consolas"/>
                <a:ea typeface="Microsoft YaHei"/>
                <a:cs typeface="Consolas"/>
              </a:rPr>
              <a:t>NEURAL ENGINE</a:t>
            </a:r>
          </a:p>
        </p:txBody>
      </p:sp>
      <p:sp>
        <p:nvSpPr>
          <p:cNvPr id="47" name="TextBox 47"/>
          <p:cNvSpPr txBox="1"/>
          <p:nvPr/>
        </p:nvSpPr>
        <p:spPr>
          <a:xfrm>
            <a:off x="8540746" y="4025741"/>
            <a:ext cx="444508" cy="167640"/>
          </a:xfrm>
          <a:prstGeom prst="rect">
            <a:avLst/>
          </a:prstGeom>
          <a:noFill/>
          <a:ln>
            <a:noFill/>
          </a:ln>
        </p:spPr>
        <p:txBody>
          <a:bodyPr wrap="none" lIns="0" tIns="0" rIns="0" bIns="0" anchor="t" anchorCtr="0">
            <a:spAutoFit/>
          </a:bodyPr>
          <a:lstStyle/>
          <a:p>
            <a:pPr algn="ctr"/>
            <a:r>
              <a:rPr lang="zh-CN" sz="825" dirty="0">
                <a:solidFill>
                  <a:srgbClr val="8E8E93"/>
                </a:solidFill>
                <a:latin typeface="Consolas"/>
                <a:ea typeface="Microsoft YaHei"/>
                <a:cs typeface="Consolas"/>
              </a:rPr>
              <a:t>16-core</a:t>
            </a:r>
          </a:p>
        </p:txBody>
      </p:sp>
      <p:sp>
        <p:nvSpPr>
          <p:cNvPr id="48" name="Rectangle 48"/>
          <p:cNvSpPr/>
          <p:nvPr/>
        </p:nvSpPr>
        <p:spPr>
          <a:xfrm>
            <a:off x="7905750" y="4381500"/>
            <a:ext cx="1714500" cy="381000"/>
          </a:xfrm>
          <a:prstGeom prst="roundRect">
            <a:avLst>
              <a:gd name="adj" fmla="val 15000"/>
            </a:avLst>
          </a:prstGeom>
          <a:solidFill>
            <a:srgbClr val="8E8E93">
              <a:alpha val="8000"/>
            </a:srgbClr>
          </a:solidFill>
          <a:ln w="9525">
            <a:solidFill>
              <a:srgbClr val="8E8E93">
                <a:alpha val="30000"/>
              </a:srgbClr>
            </a:solidFill>
          </a:ln>
        </p:spPr>
      </p:sp>
      <p:sp>
        <p:nvSpPr>
          <p:cNvPr id="49" name="TextBox 49"/>
          <p:cNvSpPr txBox="1"/>
          <p:nvPr/>
        </p:nvSpPr>
        <p:spPr>
          <a:xfrm>
            <a:off x="8255810" y="4530566"/>
            <a:ext cx="1014379" cy="167640"/>
          </a:xfrm>
          <a:prstGeom prst="rect">
            <a:avLst/>
          </a:prstGeom>
          <a:noFill/>
          <a:ln>
            <a:noFill/>
          </a:ln>
        </p:spPr>
        <p:txBody>
          <a:bodyPr wrap="none" lIns="0" tIns="0" rIns="0" bIns="0" anchor="t" anchorCtr="0">
            <a:spAutoFit/>
          </a:bodyPr>
          <a:lstStyle/>
          <a:p>
            <a:pPr algn="ctr"/>
            <a:r>
              <a:rPr lang="zh-CN" sz="825" b="1" dirty="0">
                <a:solidFill>
                  <a:srgbClr val="8E8E93"/>
                </a:solidFill>
                <a:latin typeface="Consolas"/>
                <a:ea typeface="Microsoft YaHei"/>
                <a:cs typeface="Consolas"/>
              </a:rPr>
              <a:t>ISP · MEDIA ENGINE</a:t>
            </a:r>
          </a:p>
        </p:txBody>
      </p:sp>
      <p:sp>
        <p:nvSpPr>
          <p:cNvPr id="50" name="TextBox 50"/>
          <p:cNvSpPr txBox="1"/>
          <p:nvPr/>
        </p:nvSpPr>
        <p:spPr>
          <a:xfrm>
            <a:off x="7983069" y="5363528"/>
            <a:ext cx="1559862" cy="213360"/>
          </a:xfrm>
          <a:prstGeom prst="rect">
            <a:avLst/>
          </a:prstGeom>
          <a:noFill/>
          <a:ln>
            <a:noFill/>
          </a:ln>
        </p:spPr>
        <p:txBody>
          <a:bodyPr wrap="none" lIns="0" tIns="0" rIns="0" bIns="0" anchor="t" anchorCtr="0">
            <a:spAutoFit/>
          </a:bodyPr>
          <a:lstStyle/>
          <a:p>
            <a:pPr algn="ctr"/>
            <a:r>
              <a:rPr lang="zh-CN" sz="1050" dirty="0">
                <a:solidFill>
                  <a:srgbClr val="8E8E93"/>
                </a:solidFill>
                <a:latin typeface="Consolas"/>
                <a:ea typeface="Microsoft YaHei"/>
                <a:cs typeface="Consolas"/>
              </a:rPr>
              <a:t>A18 PRO · 2ND-GEN 3NM</a:t>
            </a:r>
          </a:p>
        </p:txBody>
      </p:sp>
      <p:sp>
        <p:nvSpPr>
          <p:cNvPr id="51" name="Line 51"/>
          <p:cNvSpPr/>
          <p:nvPr/>
        </p:nvSpPr>
        <p:spPr>
          <a:xfrm>
            <a:off x="6477000" y="3905250"/>
            <a:ext cx="952500" cy="9525"/>
          </a:xfrm>
          <a:custGeom>
            <a:avLst/>
            <a:gdLst/>
            <a:ahLst/>
            <a:cxnLst/>
            <a:rect l="l" t="t" r="r" b="b"/>
            <a:pathLst>
              <a:path w="952500" h="9525">
                <a:moveTo>
                  <a:pt x="0" y="0"/>
                </a:moveTo>
                <a:lnTo>
                  <a:pt x="952500" y="0"/>
                </a:lnTo>
              </a:path>
            </a:pathLst>
          </a:custGeom>
          <a:noFill/>
          <a:ln w="9525">
            <a:solidFill>
              <a:srgbClr val="0A84FF">
                <a:alpha val="20000"/>
              </a:srgbClr>
            </a:solidFill>
          </a:ln>
        </p:spPr>
      </p:sp>
      <p:sp>
        <p:nvSpPr>
          <p:cNvPr id="52" name="Line 52"/>
          <p:cNvSpPr/>
          <p:nvPr/>
        </p:nvSpPr>
        <p:spPr>
          <a:xfrm>
            <a:off x="6477000" y="3905250"/>
            <a:ext cx="9525" cy="9525"/>
          </a:xfrm>
          <a:custGeom>
            <a:avLst/>
            <a:gdLst/>
            <a:ahLst/>
            <a:cxnLst/>
            <a:rect l="l" t="t" r="r" b="b"/>
            <a:pathLst>
              <a:path w="9525" h="9525">
                <a:moveTo>
                  <a:pt x="0" y="0"/>
                </a:moveTo>
                <a:lnTo>
                  <a:pt x="0" y="0"/>
                </a:lnTo>
              </a:path>
            </a:pathLst>
          </a:custGeom>
          <a:noFill/>
          <a:ln w="9525">
            <a:solidFill>
              <a:srgbClr val="0A84FF">
                <a:alpha val="20000"/>
              </a:srgbClr>
            </a:solidFill>
          </a:ln>
        </p:spPr>
      </p:sp>
      <p:sp>
        <p:nvSpPr>
          <p:cNvPr id="53" name="Ellipse 53"/>
          <p:cNvSpPr/>
          <p:nvPr/>
        </p:nvSpPr>
        <p:spPr>
          <a:xfrm>
            <a:off x="6448425" y="3876675"/>
            <a:ext cx="57150" cy="57150"/>
          </a:xfrm>
          <a:prstGeom prst="ellipse">
            <a:avLst/>
          </a:prstGeom>
          <a:solidFill>
            <a:srgbClr val="0A84FF">
              <a:alpha val="30000"/>
            </a:srgbClr>
          </a:solidFill>
          <a:ln>
            <a:noFill/>
          </a:ln>
        </p:spPr>
      </p:sp>
      <p:sp>
        <p:nvSpPr>
          <p:cNvPr id="54" name="Line 54"/>
          <p:cNvSpPr/>
          <p:nvPr/>
        </p:nvSpPr>
        <p:spPr>
          <a:xfrm>
            <a:off x="10096500" y="3333750"/>
            <a:ext cx="952500" cy="9525"/>
          </a:xfrm>
          <a:custGeom>
            <a:avLst/>
            <a:gdLst/>
            <a:ahLst/>
            <a:cxnLst/>
            <a:rect l="l" t="t" r="r" b="b"/>
            <a:pathLst>
              <a:path w="952500" h="9525">
                <a:moveTo>
                  <a:pt x="0" y="0"/>
                </a:moveTo>
                <a:lnTo>
                  <a:pt x="952500" y="0"/>
                </a:lnTo>
              </a:path>
            </a:pathLst>
          </a:custGeom>
          <a:noFill/>
          <a:ln w="9525">
            <a:solidFill>
              <a:srgbClr val="5E5CE6">
                <a:alpha val="20000"/>
              </a:srgbClr>
            </a:solidFill>
          </a:ln>
        </p:spPr>
      </p:sp>
      <p:sp>
        <p:nvSpPr>
          <p:cNvPr id="55" name="Ellipse 55"/>
          <p:cNvSpPr/>
          <p:nvPr/>
        </p:nvSpPr>
        <p:spPr>
          <a:xfrm>
            <a:off x="11020425" y="3305175"/>
            <a:ext cx="57150" cy="57150"/>
          </a:xfrm>
          <a:prstGeom prst="ellipse">
            <a:avLst/>
          </a:prstGeom>
          <a:solidFill>
            <a:srgbClr val="5E5CE6">
              <a:alpha val="30000"/>
            </a:srgbClr>
          </a:solidFill>
          <a:ln>
            <a:noFill/>
          </a:ln>
        </p:spPr>
      </p:sp>
      <p:sp>
        <p:nvSpPr>
          <p:cNvPr id="56" name="Line 56"/>
          <p:cNvSpPr/>
          <p:nvPr/>
        </p:nvSpPr>
        <p:spPr>
          <a:xfrm>
            <a:off x="6477000" y="4762500"/>
            <a:ext cx="952500" cy="9525"/>
          </a:xfrm>
          <a:custGeom>
            <a:avLst/>
            <a:gdLst/>
            <a:ahLst/>
            <a:cxnLst/>
            <a:rect l="l" t="t" r="r" b="b"/>
            <a:pathLst>
              <a:path w="952500" h="9525">
                <a:moveTo>
                  <a:pt x="0" y="0"/>
                </a:moveTo>
                <a:lnTo>
                  <a:pt x="952500" y="0"/>
                </a:lnTo>
              </a:path>
            </a:pathLst>
          </a:custGeom>
          <a:noFill/>
          <a:ln w="9525">
            <a:solidFill>
              <a:srgbClr val="30D158">
                <a:alpha val="15000"/>
              </a:srgbClr>
            </a:solidFill>
          </a:ln>
        </p:spPr>
      </p:sp>
      <p:sp>
        <p:nvSpPr>
          <p:cNvPr id="57" name="Ellipse 57"/>
          <p:cNvSpPr/>
          <p:nvPr/>
        </p:nvSpPr>
        <p:spPr>
          <a:xfrm>
            <a:off x="6448425" y="4733925"/>
            <a:ext cx="57150" cy="57150"/>
          </a:xfrm>
          <a:prstGeom prst="ellipse">
            <a:avLst/>
          </a:prstGeom>
          <a:solidFill>
            <a:srgbClr val="30D158">
              <a:alpha val="20000"/>
            </a:srgbClr>
          </a:solidFill>
          <a:ln>
            <a:noFill/>
          </a:ln>
        </p:spPr>
      </p:sp>
      <p:sp>
        <p:nvSpPr>
          <p:cNvPr id="58" name="TextBox 58"/>
          <p:cNvSpPr txBox="1"/>
          <p:nvPr/>
        </p:nvSpPr>
        <p:spPr>
          <a:xfrm>
            <a:off x="11207020" y="6475095"/>
            <a:ext cx="424910" cy="182880"/>
          </a:xfrm>
          <a:prstGeom prst="rect">
            <a:avLst/>
          </a:prstGeom>
          <a:noFill/>
          <a:ln>
            <a:noFill/>
          </a:ln>
        </p:spPr>
        <p:txBody>
          <a:bodyPr wrap="none" lIns="0" tIns="0" rIns="0" bIns="0" anchor="t" anchorCtr="0">
            <a:spAutoFit/>
          </a:bodyPr>
          <a:lstStyle/>
          <a:p>
            <a:pPr algn="r"/>
            <a:r>
              <a:rPr lang="zh-CN" sz="900" dirty="0">
                <a:solidFill>
                  <a:srgbClr val="636366"/>
                </a:solidFill>
                <a:latin typeface="Consolas"/>
                <a:ea typeface="Microsoft YaHei"/>
                <a:cs typeface="Consolas"/>
              </a:rPr>
              <a:t>04 / 09</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A0A0F"/>
          </a:solidFill>
          <a:ln>
            <a:noFill/>
          </a:ln>
        </p:spPr>
      </p:sp>
      <p:sp>
        <p:nvSpPr>
          <p:cNvPr id="3" name="Rectangle 3"/>
          <p:cNvSpPr/>
          <p:nvPr/>
        </p:nvSpPr>
        <p:spPr>
          <a:xfrm>
            <a:off x="571500" y="476250"/>
            <a:ext cx="571500" cy="38100"/>
          </a:xfrm>
          <a:prstGeom prst="roundRect">
            <a:avLst>
              <a:gd name="adj" fmla="val 50000"/>
            </a:avLst>
          </a:prstGeom>
          <a:gradFill>
            <a:gsLst>
              <a:gs pos="0">
                <a:srgbClr val="0A84FF"/>
              </a:gs>
              <a:gs pos="100000">
                <a:srgbClr val="5E5CE6"/>
              </a:gs>
            </a:gsLst>
            <a:lin ang="0" scaled="1"/>
          </a:gradFill>
          <a:ln>
            <a:noFill/>
          </a:ln>
        </p:spPr>
      </p:sp>
      <p:sp>
        <p:nvSpPr>
          <p:cNvPr id="4" name="TextBox 4"/>
          <p:cNvSpPr txBox="1"/>
          <p:nvPr/>
        </p:nvSpPr>
        <p:spPr>
          <a:xfrm>
            <a:off x="537210" y="565785"/>
            <a:ext cx="7516111" cy="548640"/>
          </a:xfrm>
          <a:prstGeom prst="rect">
            <a:avLst/>
          </a:prstGeom>
          <a:noFill/>
          <a:ln>
            <a:noFill/>
          </a:ln>
        </p:spPr>
        <p:txBody>
          <a:bodyPr wrap="none" lIns="0" tIns="0" rIns="0" bIns="0" anchor="t" anchorCtr="0">
            <a:spAutoFit/>
          </a:bodyPr>
          <a:lstStyle/>
          <a:p>
            <a:pPr algn="l"/>
            <a:r>
              <a:rPr lang="zh-CN" sz="2700" b="1" dirty="0">
                <a:solidFill>
                  <a:srgbClr val="F5F5F7"/>
                </a:solidFill>
                <a:latin typeface="Segoe UI"/>
                <a:ea typeface="Microsoft YaHei"/>
                <a:cs typeface="Segoe UI"/>
              </a:rPr>
              <a:t>Larger Displays. Thinnest Borders Ever.</a:t>
            </a:r>
          </a:p>
        </p:txBody>
      </p:sp>
      <p:sp>
        <p:nvSpPr>
          <p:cNvPr id="5" name="TextBox 5"/>
          <p:cNvSpPr txBox="1"/>
          <p:nvPr/>
        </p:nvSpPr>
        <p:spPr>
          <a:xfrm>
            <a:off x="554355" y="978218"/>
            <a:ext cx="6263068" cy="274320"/>
          </a:xfrm>
          <a:prstGeom prst="rect">
            <a:avLst/>
          </a:prstGeom>
          <a:noFill/>
          <a:ln>
            <a:noFill/>
          </a:ln>
        </p:spPr>
        <p:txBody>
          <a:bodyPr wrap="none" lIns="0" tIns="0" rIns="0" bIns="0" anchor="t" anchorCtr="0">
            <a:spAutoFit/>
          </a:bodyPr>
          <a:lstStyle/>
          <a:p>
            <a:pPr algn="l"/>
            <a:r>
              <a:rPr lang="zh-CN" sz="1350" dirty="0">
                <a:solidFill>
                  <a:srgbClr val="8E8E93"/>
                </a:solidFill>
                <a:latin typeface="Segoe UI"/>
                <a:ea typeface="Microsoft YaHei"/>
                <a:cs typeface="Segoe UI"/>
              </a:rPr>
              <a:t>The biggest iPhone displays yet, wrapped in aerospace-grade titanium.</a:t>
            </a:r>
          </a:p>
        </p:txBody>
      </p:sp>
      <p:sp>
        <p:nvSpPr>
          <p:cNvPr id="6" name="Rectangle 6"/>
          <p:cNvSpPr/>
          <p:nvPr/>
        </p:nvSpPr>
        <p:spPr>
          <a:xfrm>
            <a:off x="952500" y="1524000"/>
            <a:ext cx="2286000" cy="4762500"/>
          </a:xfrm>
          <a:prstGeom prst="roundRect">
            <a:avLst>
              <a:gd name="adj" fmla="val 8333"/>
            </a:avLst>
          </a:prstGeom>
          <a:solidFill>
            <a:srgbClr val="15151F"/>
          </a:solidFill>
          <a:ln w="9525">
            <a:solidFill>
              <a:srgbClr val="2A2A3A"/>
            </a:solidFill>
          </a:ln>
        </p:spPr>
      </p:sp>
      <p:sp>
        <p:nvSpPr>
          <p:cNvPr id="7" name="Freeform 7"/>
          <p:cNvSpPr/>
          <p:nvPr/>
        </p:nvSpPr>
        <p:spPr>
          <a:xfrm>
            <a:off x="1943100" y="1714500"/>
            <a:ext cx="228600" cy="304800"/>
          </a:xfrm>
          <a:custGeom>
            <a:avLst/>
            <a:gdLst/>
            <a:ahLst/>
            <a:cxnLst/>
            <a:rect l="l" t="t" r="r" b="b"/>
            <a:pathLst>
              <a:path w="228600" h="304800">
                <a:moveTo>
                  <a:pt x="38100" y="0"/>
                </a:moveTo>
                <a:cubicBezTo>
                  <a:pt x="17058" y="0"/>
                  <a:pt x="0" y="17058"/>
                  <a:pt x="0" y="38100"/>
                </a:cubicBezTo>
                <a:lnTo>
                  <a:pt x="0" y="266700"/>
                </a:lnTo>
                <a:cubicBezTo>
                  <a:pt x="0" y="287743"/>
                  <a:pt x="17058" y="304800"/>
                  <a:pt x="38100" y="304800"/>
                </a:cubicBezTo>
                <a:lnTo>
                  <a:pt x="190500" y="304800"/>
                </a:lnTo>
                <a:cubicBezTo>
                  <a:pt x="211543" y="304800"/>
                  <a:pt x="228600" y="287743"/>
                  <a:pt x="228600" y="266700"/>
                </a:cubicBezTo>
                <a:lnTo>
                  <a:pt x="228600" y="38100"/>
                </a:lnTo>
                <a:cubicBezTo>
                  <a:pt x="228600" y="17058"/>
                  <a:pt x="211543" y="0"/>
                  <a:pt x="190500" y="0"/>
                </a:cubicBezTo>
                <a:lnTo>
                  <a:pt x="38100" y="0"/>
                </a:lnTo>
                <a:close/>
                <a:moveTo>
                  <a:pt x="190500" y="57150"/>
                </a:moveTo>
                <a:lnTo>
                  <a:pt x="38100" y="57150"/>
                </a:lnTo>
                <a:lnTo>
                  <a:pt x="38100" y="247650"/>
                </a:lnTo>
                <a:lnTo>
                  <a:pt x="190500" y="247650"/>
                </a:lnTo>
                <a:lnTo>
                  <a:pt x="190500" y="57150"/>
                </a:lnTo>
                <a:close/>
              </a:path>
            </a:pathLst>
          </a:custGeom>
          <a:solidFill>
            <a:srgbClr val="0A84FF"/>
          </a:solidFill>
          <a:ln>
            <a:noFill/>
          </a:ln>
        </p:spPr>
      </p:sp>
      <p:sp>
        <p:nvSpPr>
          <p:cNvPr id="8" name="TextBox 8"/>
          <p:cNvSpPr txBox="1"/>
          <p:nvPr/>
        </p:nvSpPr>
        <p:spPr>
          <a:xfrm>
            <a:off x="1335253" y="2060258"/>
            <a:ext cx="1520495" cy="335280"/>
          </a:xfrm>
          <a:prstGeom prst="rect">
            <a:avLst/>
          </a:prstGeom>
          <a:noFill/>
          <a:ln>
            <a:noFill/>
          </a:ln>
        </p:spPr>
        <p:txBody>
          <a:bodyPr wrap="none" lIns="0" tIns="0" rIns="0" bIns="0" anchor="t" anchorCtr="0">
            <a:spAutoFit/>
          </a:bodyPr>
          <a:lstStyle/>
          <a:p>
            <a:pPr algn="ctr"/>
            <a:r>
              <a:rPr lang="zh-CN" sz="1650" b="1" dirty="0">
                <a:solidFill>
                  <a:srgbClr val="F5F5F7"/>
                </a:solidFill>
                <a:latin typeface="Segoe UI"/>
                <a:ea typeface="Microsoft YaHei"/>
                <a:cs typeface="Segoe UI"/>
              </a:rPr>
              <a:t>iPhone 16 Pro</a:t>
            </a:r>
          </a:p>
        </p:txBody>
      </p:sp>
      <p:sp>
        <p:nvSpPr>
          <p:cNvPr id="9" name="TextBox 9"/>
          <p:cNvSpPr txBox="1"/>
          <p:nvPr/>
        </p:nvSpPr>
        <p:spPr>
          <a:xfrm>
            <a:off x="1470303" y="2166938"/>
            <a:ext cx="1250394" cy="762000"/>
          </a:xfrm>
          <a:prstGeom prst="rect">
            <a:avLst/>
          </a:prstGeom>
          <a:noFill/>
          <a:ln>
            <a:noFill/>
          </a:ln>
        </p:spPr>
        <p:txBody>
          <a:bodyPr wrap="none" lIns="0" tIns="0" rIns="0" bIns="0" anchor="t" anchorCtr="0">
            <a:spAutoFit/>
          </a:bodyPr>
          <a:lstStyle/>
          <a:p>
            <a:pPr algn="ctr"/>
            <a:r>
              <a:rPr lang="zh-CN" sz="3750" b="1" dirty="0">
                <a:solidFill>
                  <a:srgbClr val="0A84FF"/>
                </a:solidFill>
                <a:latin typeface="Segoe UI"/>
                <a:ea typeface="Microsoft YaHei"/>
                <a:cs typeface="Segoe UI"/>
              </a:rPr>
              <a:t>6.3"</a:t>
            </a:r>
          </a:p>
        </p:txBody>
      </p:sp>
      <p:sp>
        <p:nvSpPr>
          <p:cNvPr id="10" name="TextBox 10"/>
          <p:cNvSpPr txBox="1"/>
          <p:nvPr/>
        </p:nvSpPr>
        <p:spPr>
          <a:xfrm>
            <a:off x="1546598" y="2696528"/>
            <a:ext cx="1097804" cy="213360"/>
          </a:xfrm>
          <a:prstGeom prst="rect">
            <a:avLst/>
          </a:prstGeom>
          <a:noFill/>
          <a:ln>
            <a:noFill/>
          </a:ln>
        </p:spPr>
        <p:txBody>
          <a:bodyPr wrap="none" lIns="0" tIns="0" rIns="0" bIns="0" anchor="t" anchorCtr="0">
            <a:spAutoFit/>
          </a:bodyPr>
          <a:lstStyle/>
          <a:p>
            <a:pPr algn="ctr"/>
            <a:r>
              <a:rPr lang="zh-CN" sz="1050" dirty="0">
                <a:solidFill>
                  <a:srgbClr val="8E8E93"/>
                </a:solidFill>
                <a:latin typeface="Segoe UI"/>
                <a:ea typeface="Microsoft YaHei"/>
                <a:cs typeface="Segoe UI"/>
              </a:rPr>
              <a:t>6.27" measured</a:t>
            </a:r>
          </a:p>
        </p:txBody>
      </p:sp>
      <p:sp>
        <p:nvSpPr>
          <p:cNvPr id="11" name="TextBox 11"/>
          <p:cNvSpPr txBox="1"/>
          <p:nvPr/>
        </p:nvSpPr>
        <p:spPr>
          <a:xfrm>
            <a:off x="1223010" y="3108960"/>
            <a:ext cx="1363980" cy="1043940"/>
          </a:xfrm>
          <a:prstGeom prst="rect">
            <a:avLst/>
          </a:prstGeom>
          <a:noFill/>
          <a:ln>
            <a:noFill/>
          </a:ln>
        </p:spPr>
        <p:txBody>
          <a:bodyPr wrap="square" lIns="0" tIns="0" rIns="0" bIns="0" anchor="t" anchorCtr="0"/>
          <a:lstStyle/>
          <a:p>
            <a:pPr algn="l">
              <a:lnSpc>
                <a:spcPts val="2100"/>
              </a:lnSpc>
            </a:pPr>
            <a:r>
              <a:rPr lang="zh-CN" sz="1200" dirty="0">
                <a:solidFill>
                  <a:srgbClr val="E5E5EA"/>
                </a:solidFill>
                <a:latin typeface="Segoe UI"/>
                <a:ea typeface="Microsoft YaHei"/>
                <a:cs typeface="Segoe UI"/>
              </a:rPr>
              <a:t xml:space="preserve">Super Retina XDR </a:t>
            </a:r>
            <a:r>
              <a:rPr lang="zh-CN" sz="1200" dirty="0">
                <a:solidFill>
                  <a:srgbClr val="E5E5EA"/>
                </a:solidFill>
                <a:latin typeface="Segoe UI"/>
                <a:ea typeface="Microsoft YaHei"/>
                <a:cs typeface="Segoe UI"/>
              </a:rPr>
              <a:t xml:space="preserve">Always-On display </a:t>
            </a:r>
            <a:r>
              <a:rPr lang="zh-CN" sz="1200" dirty="0">
                <a:solidFill>
                  <a:srgbClr val="E5E5EA"/>
                </a:solidFill>
                <a:latin typeface="Segoe UI"/>
                <a:ea typeface="Microsoft YaHei"/>
                <a:cs typeface="Segoe UI"/>
              </a:rPr>
              <a:t xml:space="preserve">ProMotion 120Hz </a:t>
            </a:r>
            <a:r>
              <a:rPr lang="zh-CN" sz="1200" dirty="0">
                <a:solidFill>
                  <a:srgbClr val="E5E5EA"/>
                </a:solidFill>
                <a:latin typeface="Segoe UI"/>
                <a:ea typeface="Microsoft YaHei"/>
                <a:cs typeface="Segoe UI"/>
              </a:rPr>
              <a:t>Dynamic Island</a:t>
            </a:r>
          </a:p>
        </p:txBody>
      </p:sp>
      <p:sp>
        <p:nvSpPr>
          <p:cNvPr id="12" name="Line 12"/>
          <p:cNvSpPr/>
          <p:nvPr/>
        </p:nvSpPr>
        <p:spPr>
          <a:xfrm>
            <a:off x="1238250" y="4667250"/>
            <a:ext cx="1714500" cy="9525"/>
          </a:xfrm>
          <a:custGeom>
            <a:avLst/>
            <a:gdLst/>
            <a:ahLst/>
            <a:cxnLst/>
            <a:rect l="l" t="t" r="r" b="b"/>
            <a:pathLst>
              <a:path w="1714500" h="9525">
                <a:moveTo>
                  <a:pt x="0" y="0"/>
                </a:moveTo>
                <a:lnTo>
                  <a:pt x="1714500" y="0"/>
                </a:lnTo>
              </a:path>
            </a:pathLst>
          </a:custGeom>
          <a:noFill/>
          <a:ln w="9525">
            <a:solidFill>
              <a:srgbClr val="2A2A3A"/>
            </a:solidFill>
          </a:ln>
        </p:spPr>
      </p:sp>
      <p:sp>
        <p:nvSpPr>
          <p:cNvPr id="13" name="TextBox 13"/>
          <p:cNvSpPr txBox="1"/>
          <p:nvPr/>
        </p:nvSpPr>
        <p:spPr>
          <a:xfrm>
            <a:off x="1483590" y="4839652"/>
            <a:ext cx="1223820" cy="213360"/>
          </a:xfrm>
          <a:prstGeom prst="rect">
            <a:avLst/>
          </a:prstGeom>
          <a:noFill/>
          <a:ln>
            <a:noFill/>
          </a:ln>
        </p:spPr>
        <p:txBody>
          <a:bodyPr wrap="none" lIns="0" tIns="0" rIns="0" bIns="0" anchor="t" anchorCtr="0">
            <a:spAutoFit/>
          </a:bodyPr>
          <a:lstStyle/>
          <a:p>
            <a:pPr algn="ctr"/>
            <a:r>
              <a:rPr lang="zh-CN" sz="1050" b="1" dirty="0">
                <a:solidFill>
                  <a:srgbClr val="F5F5F7"/>
                </a:solidFill>
                <a:latin typeface="Segoe UI"/>
                <a:ea typeface="Microsoft YaHei"/>
                <a:cs typeface="Segoe UI"/>
              </a:rPr>
              <a:t>128GB</a:t>
            </a:r>
            <a:r>
              <a:rPr lang="zh-CN" sz="1050" dirty="0">
                <a:solidFill>
                  <a:srgbClr val="8E8E93"/>
                </a:solidFill>
                <a:latin typeface="Segoe UI"/>
                <a:ea typeface="Microsoft YaHei"/>
                <a:cs typeface="Segoe UI"/>
              </a:rPr>
              <a:t xml:space="preserve"> </a:t>
            </a:r>
            <a:r>
              <a:rPr lang="zh-CN" sz="1050" dirty="0">
                <a:solidFill>
                  <a:srgbClr val="8E8E93"/>
                </a:solidFill>
                <a:latin typeface="Segoe UI"/>
                <a:ea typeface="Microsoft YaHei"/>
                <a:cs typeface="Segoe UI"/>
              </a:rPr>
              <a:t xml:space="preserve"> from </a:t>
            </a:r>
            <a:r>
              <a:rPr lang="zh-CN" sz="1050" dirty="0">
                <a:solidFill>
                  <a:srgbClr val="8E8E93"/>
                </a:solidFill>
                <a:latin typeface="Segoe UI"/>
                <a:ea typeface="Microsoft YaHei"/>
                <a:cs typeface="Segoe UI"/>
              </a:rPr>
              <a:t xml:space="preserve"> </a:t>
            </a:r>
            <a:r>
              <a:rPr lang="zh-CN" sz="1050" b="1" dirty="0">
                <a:solidFill>
                  <a:srgbClr val="F5F5F7"/>
                </a:solidFill>
                <a:latin typeface="Segoe UI"/>
                <a:ea typeface="Microsoft YaHei"/>
                <a:cs typeface="Segoe UI"/>
              </a:rPr>
              <a:t>$999</a:t>
            </a:r>
          </a:p>
        </p:txBody>
      </p:sp>
      <p:sp>
        <p:nvSpPr>
          <p:cNvPr id="14" name="Rectangle 14"/>
          <p:cNvSpPr/>
          <p:nvPr/>
        </p:nvSpPr>
        <p:spPr>
          <a:xfrm>
            <a:off x="3810000" y="1905000"/>
            <a:ext cx="4572000" cy="476250"/>
          </a:xfrm>
          <a:prstGeom prst="roundRect">
            <a:avLst>
              <a:gd name="adj" fmla="val 16000"/>
            </a:avLst>
          </a:prstGeom>
          <a:solidFill>
            <a:srgbClr val="1E1E2A"/>
          </a:solidFill>
          <a:ln>
            <a:noFill/>
          </a:ln>
        </p:spPr>
      </p:sp>
      <p:sp>
        <p:nvSpPr>
          <p:cNvPr id="15" name="TextBox 15"/>
          <p:cNvSpPr txBox="1"/>
          <p:nvPr/>
        </p:nvSpPr>
        <p:spPr>
          <a:xfrm>
            <a:off x="5468863" y="2096452"/>
            <a:ext cx="1254273" cy="213360"/>
          </a:xfrm>
          <a:prstGeom prst="rect">
            <a:avLst/>
          </a:prstGeom>
          <a:noFill/>
          <a:ln>
            <a:noFill/>
          </a:ln>
        </p:spPr>
        <p:txBody>
          <a:bodyPr wrap="none" lIns="0" tIns="0" rIns="0" bIns="0" anchor="t" anchorCtr="0">
            <a:spAutoFit/>
          </a:bodyPr>
          <a:lstStyle/>
          <a:p>
            <a:pPr algn="ctr"/>
            <a:r>
              <a:rPr lang="zh-CN" sz="1050" b="1" dirty="0">
                <a:solidFill>
                  <a:srgbClr val="8E8E93"/>
                </a:solidFill>
                <a:latin typeface="Consolas"/>
                <a:ea typeface="Microsoft YaHei"/>
                <a:cs typeface="Consolas"/>
              </a:rPr>
              <a:t>SPEC COMPARISON</a:t>
            </a:r>
          </a:p>
        </p:txBody>
      </p:sp>
      <p:sp>
        <p:nvSpPr>
          <p:cNvPr id="16" name="Rectangle 16"/>
          <p:cNvSpPr/>
          <p:nvPr/>
        </p:nvSpPr>
        <p:spPr>
          <a:xfrm>
            <a:off x="3810000" y="2476500"/>
            <a:ext cx="4572000" cy="523875"/>
          </a:xfrm>
          <a:prstGeom prst="roundRect">
            <a:avLst>
              <a:gd name="adj" fmla="val 10909"/>
            </a:avLst>
          </a:prstGeom>
          <a:solidFill>
            <a:srgbClr val="15151F"/>
          </a:solidFill>
          <a:ln w="9525">
            <a:solidFill>
              <a:srgbClr val="2A2A3A"/>
            </a:solidFill>
          </a:ln>
        </p:spPr>
      </p:sp>
      <p:sp>
        <p:nvSpPr>
          <p:cNvPr id="17" name="TextBox 17"/>
          <p:cNvSpPr txBox="1"/>
          <p:nvPr/>
        </p:nvSpPr>
        <p:spPr>
          <a:xfrm>
            <a:off x="3985260" y="2670810"/>
            <a:ext cx="971398" cy="243840"/>
          </a:xfrm>
          <a:prstGeom prst="rect">
            <a:avLst/>
          </a:prstGeom>
          <a:noFill/>
          <a:ln>
            <a:noFill/>
          </a:ln>
        </p:spPr>
        <p:txBody>
          <a:bodyPr wrap="none" lIns="0" tIns="0" rIns="0" bIns="0" anchor="t" anchorCtr="0">
            <a:spAutoFit/>
          </a:bodyPr>
          <a:lstStyle/>
          <a:p>
            <a:pPr algn="l"/>
            <a:r>
              <a:rPr lang="zh-CN" sz="1200" b="1" dirty="0">
                <a:solidFill>
                  <a:srgbClr val="8E8E93"/>
                </a:solidFill>
                <a:latin typeface="Segoe UI"/>
                <a:ea typeface="Microsoft YaHei"/>
                <a:cs typeface="Segoe UI"/>
              </a:rPr>
              <a:t>Display Size</a:t>
            </a:r>
          </a:p>
        </p:txBody>
      </p:sp>
      <p:sp>
        <p:nvSpPr>
          <p:cNvPr id="18" name="TextBox 18"/>
          <p:cNvSpPr txBox="1"/>
          <p:nvPr/>
        </p:nvSpPr>
        <p:spPr>
          <a:xfrm>
            <a:off x="5845921" y="2638425"/>
            <a:ext cx="500158" cy="304800"/>
          </a:xfrm>
          <a:prstGeom prst="rect">
            <a:avLst/>
          </a:prstGeom>
          <a:noFill/>
          <a:ln>
            <a:noFill/>
          </a:ln>
        </p:spPr>
        <p:txBody>
          <a:bodyPr wrap="none" lIns="0" tIns="0" rIns="0" bIns="0" anchor="t" anchorCtr="0">
            <a:spAutoFit/>
          </a:bodyPr>
          <a:lstStyle/>
          <a:p>
            <a:pPr algn="ctr"/>
            <a:r>
              <a:rPr lang="zh-CN" sz="1500" b="1" dirty="0">
                <a:solidFill>
                  <a:srgbClr val="F5F5F7"/>
                </a:solidFill>
                <a:latin typeface="Segoe UI"/>
                <a:ea typeface="Microsoft YaHei"/>
                <a:cs typeface="Segoe UI"/>
              </a:rPr>
              <a:t>6.3"</a:t>
            </a:r>
          </a:p>
        </p:txBody>
      </p:sp>
      <p:sp>
        <p:nvSpPr>
          <p:cNvPr id="19" name="TextBox 19"/>
          <p:cNvSpPr txBox="1"/>
          <p:nvPr/>
        </p:nvSpPr>
        <p:spPr>
          <a:xfrm>
            <a:off x="7560421" y="2638425"/>
            <a:ext cx="500158" cy="304800"/>
          </a:xfrm>
          <a:prstGeom prst="rect">
            <a:avLst/>
          </a:prstGeom>
          <a:noFill/>
          <a:ln>
            <a:noFill/>
          </a:ln>
        </p:spPr>
        <p:txBody>
          <a:bodyPr wrap="none" lIns="0" tIns="0" rIns="0" bIns="0" anchor="t" anchorCtr="0">
            <a:spAutoFit/>
          </a:bodyPr>
          <a:lstStyle/>
          <a:p>
            <a:pPr algn="ctr"/>
            <a:r>
              <a:rPr lang="zh-CN" sz="1500" b="1" dirty="0">
                <a:solidFill>
                  <a:srgbClr val="0A84FF"/>
                </a:solidFill>
                <a:latin typeface="Segoe UI"/>
                <a:ea typeface="Microsoft YaHei"/>
                <a:cs typeface="Segoe UI"/>
              </a:rPr>
              <a:t>6.9"</a:t>
            </a:r>
          </a:p>
        </p:txBody>
      </p:sp>
      <p:sp>
        <p:nvSpPr>
          <p:cNvPr id="20" name="Rectangle 20"/>
          <p:cNvSpPr/>
          <p:nvPr/>
        </p:nvSpPr>
        <p:spPr>
          <a:xfrm>
            <a:off x="3810000" y="3095625"/>
            <a:ext cx="4572000" cy="523875"/>
          </a:xfrm>
          <a:prstGeom prst="roundRect">
            <a:avLst>
              <a:gd name="adj" fmla="val 10909"/>
            </a:avLst>
          </a:prstGeom>
          <a:solidFill>
            <a:srgbClr val="15151F"/>
          </a:solidFill>
          <a:ln w="9525">
            <a:solidFill>
              <a:srgbClr val="2A2A3A"/>
            </a:solidFill>
          </a:ln>
        </p:spPr>
      </p:sp>
      <p:sp>
        <p:nvSpPr>
          <p:cNvPr id="21" name="TextBox 21"/>
          <p:cNvSpPr txBox="1"/>
          <p:nvPr/>
        </p:nvSpPr>
        <p:spPr>
          <a:xfrm>
            <a:off x="3985260" y="3289935"/>
            <a:ext cx="450533" cy="243840"/>
          </a:xfrm>
          <a:prstGeom prst="rect">
            <a:avLst/>
          </a:prstGeom>
          <a:noFill/>
          <a:ln>
            <a:noFill/>
          </a:ln>
        </p:spPr>
        <p:txBody>
          <a:bodyPr wrap="none" lIns="0" tIns="0" rIns="0" bIns="0" anchor="t" anchorCtr="0">
            <a:spAutoFit/>
          </a:bodyPr>
          <a:lstStyle/>
          <a:p>
            <a:pPr algn="l"/>
            <a:r>
              <a:rPr lang="zh-CN" sz="1200" b="1" dirty="0">
                <a:solidFill>
                  <a:srgbClr val="8E8E93"/>
                </a:solidFill>
                <a:latin typeface="Segoe UI"/>
                <a:ea typeface="Microsoft YaHei"/>
                <a:cs typeface="Segoe UI"/>
              </a:rPr>
              <a:t>Panel</a:t>
            </a:r>
          </a:p>
        </p:txBody>
      </p:sp>
      <p:sp>
        <p:nvSpPr>
          <p:cNvPr id="22" name="TextBox 22"/>
          <p:cNvSpPr txBox="1"/>
          <p:nvPr/>
        </p:nvSpPr>
        <p:spPr>
          <a:xfrm>
            <a:off x="5592699" y="3289935"/>
            <a:ext cx="1006602" cy="243840"/>
          </a:xfrm>
          <a:prstGeom prst="rect">
            <a:avLst/>
          </a:prstGeom>
          <a:noFill/>
          <a:ln>
            <a:noFill/>
          </a:ln>
        </p:spPr>
        <p:txBody>
          <a:bodyPr wrap="none" lIns="0" tIns="0" rIns="0" bIns="0" anchor="t" anchorCtr="0">
            <a:spAutoFit/>
          </a:bodyPr>
          <a:lstStyle/>
          <a:p>
            <a:pPr algn="ctr"/>
            <a:r>
              <a:rPr lang="zh-CN" sz="1200" dirty="0">
                <a:solidFill>
                  <a:srgbClr val="E5E5EA"/>
                </a:solidFill>
                <a:latin typeface="Segoe UI"/>
                <a:ea typeface="Microsoft YaHei"/>
                <a:cs typeface="Segoe UI"/>
              </a:rPr>
              <a:t>Super Retina</a:t>
            </a:r>
          </a:p>
        </p:txBody>
      </p:sp>
      <p:sp>
        <p:nvSpPr>
          <p:cNvPr id="23" name="TextBox 23"/>
          <p:cNvSpPr txBox="1"/>
          <p:nvPr/>
        </p:nvSpPr>
        <p:spPr>
          <a:xfrm>
            <a:off x="7307199" y="3289935"/>
            <a:ext cx="1006602" cy="243840"/>
          </a:xfrm>
          <a:prstGeom prst="rect">
            <a:avLst/>
          </a:prstGeom>
          <a:noFill/>
          <a:ln>
            <a:noFill/>
          </a:ln>
        </p:spPr>
        <p:txBody>
          <a:bodyPr wrap="none" lIns="0" tIns="0" rIns="0" bIns="0" anchor="t" anchorCtr="0">
            <a:spAutoFit/>
          </a:bodyPr>
          <a:lstStyle/>
          <a:p>
            <a:pPr algn="ctr"/>
            <a:r>
              <a:rPr lang="zh-CN" sz="1200" dirty="0">
                <a:solidFill>
                  <a:srgbClr val="E5E5EA"/>
                </a:solidFill>
                <a:latin typeface="Segoe UI"/>
                <a:ea typeface="Microsoft YaHei"/>
                <a:cs typeface="Segoe UI"/>
              </a:rPr>
              <a:t>Super Retina</a:t>
            </a:r>
          </a:p>
        </p:txBody>
      </p:sp>
      <p:sp>
        <p:nvSpPr>
          <p:cNvPr id="24" name="Rectangle 24"/>
          <p:cNvSpPr/>
          <p:nvPr/>
        </p:nvSpPr>
        <p:spPr>
          <a:xfrm>
            <a:off x="3810000" y="3714750"/>
            <a:ext cx="4572000" cy="523875"/>
          </a:xfrm>
          <a:prstGeom prst="roundRect">
            <a:avLst>
              <a:gd name="adj" fmla="val 10909"/>
            </a:avLst>
          </a:prstGeom>
          <a:solidFill>
            <a:srgbClr val="15151F"/>
          </a:solidFill>
          <a:ln w="9525">
            <a:solidFill>
              <a:srgbClr val="2A2A3A"/>
            </a:solidFill>
          </a:ln>
        </p:spPr>
      </p:sp>
      <p:sp>
        <p:nvSpPr>
          <p:cNvPr id="25" name="TextBox 25"/>
          <p:cNvSpPr txBox="1"/>
          <p:nvPr/>
        </p:nvSpPr>
        <p:spPr>
          <a:xfrm>
            <a:off x="3985260" y="3909060"/>
            <a:ext cx="1097413" cy="243840"/>
          </a:xfrm>
          <a:prstGeom prst="rect">
            <a:avLst/>
          </a:prstGeom>
          <a:noFill/>
          <a:ln>
            <a:noFill/>
          </a:ln>
        </p:spPr>
        <p:txBody>
          <a:bodyPr wrap="none" lIns="0" tIns="0" rIns="0" bIns="0" anchor="t" anchorCtr="0">
            <a:spAutoFit/>
          </a:bodyPr>
          <a:lstStyle/>
          <a:p>
            <a:pPr algn="l"/>
            <a:r>
              <a:rPr lang="zh-CN" sz="1200" b="1" dirty="0">
                <a:solidFill>
                  <a:srgbClr val="8E8E93"/>
                </a:solidFill>
                <a:latin typeface="Segoe UI"/>
                <a:ea typeface="Microsoft YaHei"/>
                <a:cs typeface="Segoe UI"/>
              </a:rPr>
              <a:t>Refresh Rate</a:t>
            </a:r>
          </a:p>
        </p:txBody>
      </p:sp>
      <p:sp>
        <p:nvSpPr>
          <p:cNvPr id="26" name="TextBox 26"/>
          <p:cNvSpPr txBox="1"/>
          <p:nvPr/>
        </p:nvSpPr>
        <p:spPr>
          <a:xfrm>
            <a:off x="5688711" y="3909060"/>
            <a:ext cx="814578" cy="243840"/>
          </a:xfrm>
          <a:prstGeom prst="rect">
            <a:avLst/>
          </a:prstGeom>
          <a:noFill/>
          <a:ln>
            <a:noFill/>
          </a:ln>
        </p:spPr>
        <p:txBody>
          <a:bodyPr wrap="none" lIns="0" tIns="0" rIns="0" bIns="0" anchor="t" anchorCtr="0">
            <a:spAutoFit/>
          </a:bodyPr>
          <a:lstStyle/>
          <a:p>
            <a:pPr algn="ctr"/>
            <a:r>
              <a:rPr lang="zh-CN" sz="1200" dirty="0">
                <a:solidFill>
                  <a:srgbClr val="E5E5EA"/>
                </a:solidFill>
                <a:latin typeface="Segoe UI"/>
                <a:ea typeface="Microsoft YaHei"/>
                <a:cs typeface="Segoe UI"/>
              </a:rPr>
              <a:t>ProMotion</a:t>
            </a:r>
          </a:p>
        </p:txBody>
      </p:sp>
      <p:sp>
        <p:nvSpPr>
          <p:cNvPr id="27" name="TextBox 27"/>
          <p:cNvSpPr txBox="1"/>
          <p:nvPr/>
        </p:nvSpPr>
        <p:spPr>
          <a:xfrm>
            <a:off x="7403211" y="3909060"/>
            <a:ext cx="814578" cy="243840"/>
          </a:xfrm>
          <a:prstGeom prst="rect">
            <a:avLst/>
          </a:prstGeom>
          <a:noFill/>
          <a:ln>
            <a:noFill/>
          </a:ln>
        </p:spPr>
        <p:txBody>
          <a:bodyPr wrap="none" lIns="0" tIns="0" rIns="0" bIns="0" anchor="t" anchorCtr="0">
            <a:spAutoFit/>
          </a:bodyPr>
          <a:lstStyle/>
          <a:p>
            <a:pPr algn="ctr"/>
            <a:r>
              <a:rPr lang="zh-CN" sz="1200" dirty="0">
                <a:solidFill>
                  <a:srgbClr val="E5E5EA"/>
                </a:solidFill>
                <a:latin typeface="Segoe UI"/>
                <a:ea typeface="Microsoft YaHei"/>
                <a:cs typeface="Segoe UI"/>
              </a:rPr>
              <a:t>ProMotion</a:t>
            </a:r>
          </a:p>
        </p:txBody>
      </p:sp>
      <p:sp>
        <p:nvSpPr>
          <p:cNvPr id="28" name="Rectangle 28"/>
          <p:cNvSpPr/>
          <p:nvPr/>
        </p:nvSpPr>
        <p:spPr>
          <a:xfrm>
            <a:off x="3810000" y="4333875"/>
            <a:ext cx="4572000" cy="523875"/>
          </a:xfrm>
          <a:prstGeom prst="roundRect">
            <a:avLst>
              <a:gd name="adj" fmla="val 10909"/>
            </a:avLst>
          </a:prstGeom>
          <a:solidFill>
            <a:srgbClr val="15151F"/>
          </a:solidFill>
          <a:ln w="9525">
            <a:solidFill>
              <a:srgbClr val="2A2A3A"/>
            </a:solidFill>
          </a:ln>
        </p:spPr>
      </p:sp>
      <p:sp>
        <p:nvSpPr>
          <p:cNvPr id="29" name="TextBox 29"/>
          <p:cNvSpPr txBox="1"/>
          <p:nvPr/>
        </p:nvSpPr>
        <p:spPr>
          <a:xfrm>
            <a:off x="3985260" y="4528185"/>
            <a:ext cx="887387" cy="243840"/>
          </a:xfrm>
          <a:prstGeom prst="rect">
            <a:avLst/>
          </a:prstGeom>
          <a:noFill/>
          <a:ln>
            <a:noFill/>
          </a:ln>
        </p:spPr>
        <p:txBody>
          <a:bodyPr wrap="none" lIns="0" tIns="0" rIns="0" bIns="0" anchor="t" anchorCtr="0">
            <a:spAutoFit/>
          </a:bodyPr>
          <a:lstStyle/>
          <a:p>
            <a:pPr algn="l"/>
            <a:r>
              <a:rPr lang="zh-CN" sz="1200" b="1" dirty="0">
                <a:solidFill>
                  <a:srgbClr val="8E8E93"/>
                </a:solidFill>
                <a:latin typeface="Segoe UI"/>
                <a:ea typeface="Microsoft YaHei"/>
                <a:cs typeface="Segoe UI"/>
              </a:rPr>
              <a:t>Always-On</a:t>
            </a:r>
          </a:p>
        </p:txBody>
      </p:sp>
      <p:sp>
        <p:nvSpPr>
          <p:cNvPr id="30" name="TextBox 30"/>
          <p:cNvSpPr txBox="1"/>
          <p:nvPr/>
        </p:nvSpPr>
        <p:spPr>
          <a:xfrm>
            <a:off x="6026874" y="4511992"/>
            <a:ext cx="138253" cy="274320"/>
          </a:xfrm>
          <a:prstGeom prst="rect">
            <a:avLst/>
          </a:prstGeom>
          <a:noFill/>
          <a:ln>
            <a:noFill/>
          </a:ln>
        </p:spPr>
        <p:txBody>
          <a:bodyPr wrap="none" lIns="0" tIns="0" rIns="0" bIns="0" anchor="t" anchorCtr="0">
            <a:spAutoFit/>
          </a:bodyPr>
          <a:lstStyle/>
          <a:p>
            <a:pPr algn="ctr"/>
            <a:r>
              <a:rPr lang="zh-CN" sz="1350" b="1" dirty="0">
                <a:solidFill>
                  <a:srgbClr val="30D158"/>
                </a:solidFill>
                <a:latin typeface="Segoe UI"/>
                <a:ea typeface="Microsoft YaHei"/>
                <a:cs typeface="Segoe UI"/>
              </a:rPr>
              <a:t>✓</a:t>
            </a:r>
          </a:p>
        </p:txBody>
      </p:sp>
      <p:sp>
        <p:nvSpPr>
          <p:cNvPr id="31" name="TextBox 31"/>
          <p:cNvSpPr txBox="1"/>
          <p:nvPr/>
        </p:nvSpPr>
        <p:spPr>
          <a:xfrm>
            <a:off x="7741374" y="4511992"/>
            <a:ext cx="138253" cy="274320"/>
          </a:xfrm>
          <a:prstGeom prst="rect">
            <a:avLst/>
          </a:prstGeom>
          <a:noFill/>
          <a:ln>
            <a:noFill/>
          </a:ln>
        </p:spPr>
        <p:txBody>
          <a:bodyPr wrap="none" lIns="0" tIns="0" rIns="0" bIns="0" anchor="t" anchorCtr="0">
            <a:spAutoFit/>
          </a:bodyPr>
          <a:lstStyle/>
          <a:p>
            <a:pPr algn="ctr"/>
            <a:r>
              <a:rPr lang="zh-CN" sz="1350" b="1" dirty="0">
                <a:solidFill>
                  <a:srgbClr val="30D158"/>
                </a:solidFill>
                <a:latin typeface="Segoe UI"/>
                <a:ea typeface="Microsoft YaHei"/>
                <a:cs typeface="Segoe UI"/>
              </a:rPr>
              <a:t>✓</a:t>
            </a:r>
          </a:p>
        </p:txBody>
      </p:sp>
      <p:sp>
        <p:nvSpPr>
          <p:cNvPr id="32" name="TextBox 32"/>
          <p:cNvSpPr txBox="1"/>
          <p:nvPr/>
        </p:nvSpPr>
        <p:spPr>
          <a:xfrm>
            <a:off x="5985558" y="5046345"/>
            <a:ext cx="220885" cy="182880"/>
          </a:xfrm>
          <a:prstGeom prst="rect">
            <a:avLst/>
          </a:prstGeom>
          <a:noFill/>
          <a:ln>
            <a:noFill/>
          </a:ln>
        </p:spPr>
        <p:txBody>
          <a:bodyPr wrap="none" lIns="0" tIns="0" rIns="0" bIns="0" anchor="t" anchorCtr="0">
            <a:spAutoFit/>
          </a:bodyPr>
          <a:lstStyle/>
          <a:p>
            <a:pPr algn="ctr"/>
            <a:r>
              <a:rPr lang="zh-CN" sz="900" dirty="0">
                <a:solidFill>
                  <a:srgbClr val="636366"/>
                </a:solidFill>
                <a:latin typeface="Consolas"/>
                <a:ea typeface="Microsoft YaHei"/>
                <a:cs typeface="Consolas"/>
              </a:rPr>
              <a:t>Pro</a:t>
            </a:r>
          </a:p>
        </p:txBody>
      </p:sp>
      <p:sp>
        <p:nvSpPr>
          <p:cNvPr id="33" name="TextBox 33"/>
          <p:cNvSpPr txBox="1"/>
          <p:nvPr/>
        </p:nvSpPr>
        <p:spPr>
          <a:xfrm>
            <a:off x="7571041" y="5046345"/>
            <a:ext cx="478917" cy="182880"/>
          </a:xfrm>
          <a:prstGeom prst="rect">
            <a:avLst/>
          </a:prstGeom>
          <a:noFill/>
          <a:ln>
            <a:noFill/>
          </a:ln>
        </p:spPr>
        <p:txBody>
          <a:bodyPr wrap="none" lIns="0" tIns="0" rIns="0" bIns="0" anchor="t" anchorCtr="0">
            <a:spAutoFit/>
          </a:bodyPr>
          <a:lstStyle/>
          <a:p>
            <a:pPr algn="ctr"/>
            <a:r>
              <a:rPr lang="zh-CN" sz="900" dirty="0">
                <a:solidFill>
                  <a:srgbClr val="636366"/>
                </a:solidFill>
                <a:latin typeface="Consolas"/>
                <a:ea typeface="Microsoft YaHei"/>
                <a:cs typeface="Consolas"/>
              </a:rPr>
              <a:t>Pro Max</a:t>
            </a:r>
          </a:p>
        </p:txBody>
      </p:sp>
      <p:sp>
        <p:nvSpPr>
          <p:cNvPr id="34" name="Rectangle 34"/>
          <p:cNvSpPr/>
          <p:nvPr/>
        </p:nvSpPr>
        <p:spPr>
          <a:xfrm>
            <a:off x="3810000" y="5334000"/>
            <a:ext cx="4572000" cy="666750"/>
          </a:xfrm>
          <a:prstGeom prst="roundRect">
            <a:avLst>
              <a:gd name="adj" fmla="val 17143"/>
            </a:avLst>
          </a:prstGeom>
          <a:solidFill>
            <a:srgbClr val="0A84FF">
              <a:alpha val="10000"/>
            </a:srgbClr>
          </a:solidFill>
          <a:ln w="9525">
            <a:solidFill>
              <a:srgbClr val="0A84FF">
                <a:alpha val="30000"/>
              </a:srgbClr>
            </a:solidFill>
          </a:ln>
        </p:spPr>
      </p:sp>
      <p:sp>
        <p:nvSpPr>
          <p:cNvPr id="35" name="Freeform 35"/>
          <p:cNvSpPr/>
          <p:nvPr/>
        </p:nvSpPr>
        <p:spPr>
          <a:xfrm>
            <a:off x="4038600" y="5505450"/>
            <a:ext cx="228600" cy="304800"/>
          </a:xfrm>
          <a:custGeom>
            <a:avLst/>
            <a:gdLst/>
            <a:ahLst/>
            <a:cxnLst/>
            <a:rect l="l" t="t" r="r" b="b"/>
            <a:pathLst>
              <a:path w="228600" h="304800">
                <a:moveTo>
                  <a:pt x="38100" y="0"/>
                </a:moveTo>
                <a:cubicBezTo>
                  <a:pt x="17058" y="0"/>
                  <a:pt x="0" y="17058"/>
                  <a:pt x="0" y="38100"/>
                </a:cubicBezTo>
                <a:lnTo>
                  <a:pt x="0" y="266700"/>
                </a:lnTo>
                <a:cubicBezTo>
                  <a:pt x="0" y="287743"/>
                  <a:pt x="17058" y="304800"/>
                  <a:pt x="38100" y="304800"/>
                </a:cubicBezTo>
                <a:lnTo>
                  <a:pt x="190500" y="304800"/>
                </a:lnTo>
                <a:cubicBezTo>
                  <a:pt x="211543" y="304800"/>
                  <a:pt x="228600" y="287743"/>
                  <a:pt x="228600" y="266700"/>
                </a:cubicBezTo>
                <a:lnTo>
                  <a:pt x="228600" y="38100"/>
                </a:lnTo>
                <a:cubicBezTo>
                  <a:pt x="228600" y="17058"/>
                  <a:pt x="211543" y="0"/>
                  <a:pt x="190500" y="0"/>
                </a:cubicBezTo>
                <a:lnTo>
                  <a:pt x="38100" y="0"/>
                </a:lnTo>
                <a:close/>
                <a:moveTo>
                  <a:pt x="190500" y="57150"/>
                </a:moveTo>
                <a:lnTo>
                  <a:pt x="38100" y="57150"/>
                </a:lnTo>
                <a:lnTo>
                  <a:pt x="38100" y="247650"/>
                </a:lnTo>
                <a:lnTo>
                  <a:pt x="190500" y="247650"/>
                </a:lnTo>
                <a:lnTo>
                  <a:pt x="190500" y="57150"/>
                </a:lnTo>
                <a:close/>
              </a:path>
            </a:pathLst>
          </a:custGeom>
          <a:solidFill>
            <a:srgbClr val="0A84FF"/>
          </a:solidFill>
          <a:ln>
            <a:noFill/>
          </a:ln>
        </p:spPr>
      </p:sp>
      <p:sp>
        <p:nvSpPr>
          <p:cNvPr id="36" name="TextBox 36"/>
          <p:cNvSpPr txBox="1"/>
          <p:nvPr/>
        </p:nvSpPr>
        <p:spPr>
          <a:xfrm>
            <a:off x="4402455" y="5493068"/>
            <a:ext cx="1603186" cy="274320"/>
          </a:xfrm>
          <a:prstGeom prst="rect">
            <a:avLst/>
          </a:prstGeom>
          <a:noFill/>
          <a:ln>
            <a:noFill/>
          </a:ln>
        </p:spPr>
        <p:txBody>
          <a:bodyPr wrap="none" lIns="0" tIns="0" rIns="0" bIns="0" anchor="t" anchorCtr="0">
            <a:spAutoFit/>
          </a:bodyPr>
          <a:lstStyle/>
          <a:p>
            <a:pPr algn="l"/>
            <a:r>
              <a:rPr lang="zh-CN" sz="1350" b="1" dirty="0">
                <a:solidFill>
                  <a:srgbClr val="F5F5F7"/>
                </a:solidFill>
                <a:latin typeface="Segoe UI"/>
                <a:ea typeface="Microsoft YaHei"/>
                <a:cs typeface="Segoe UI"/>
              </a:rPr>
              <a:t>Thinnest borders</a:t>
            </a:r>
          </a:p>
        </p:txBody>
      </p:sp>
      <p:sp>
        <p:nvSpPr>
          <p:cNvPr id="37" name="TextBox 37"/>
          <p:cNvSpPr txBox="1"/>
          <p:nvPr/>
        </p:nvSpPr>
        <p:spPr>
          <a:xfrm>
            <a:off x="4406265" y="5754052"/>
            <a:ext cx="1426845" cy="213360"/>
          </a:xfrm>
          <a:prstGeom prst="rect">
            <a:avLst/>
          </a:prstGeom>
          <a:noFill/>
          <a:ln>
            <a:noFill/>
          </a:ln>
        </p:spPr>
        <p:txBody>
          <a:bodyPr wrap="none" lIns="0" tIns="0" rIns="0" bIns="0" anchor="t" anchorCtr="0">
            <a:spAutoFit/>
          </a:bodyPr>
          <a:lstStyle/>
          <a:p>
            <a:pPr algn="l"/>
            <a:r>
              <a:rPr lang="zh-CN" sz="1050" dirty="0">
                <a:solidFill>
                  <a:srgbClr val="8E8E93"/>
                </a:solidFill>
                <a:latin typeface="Segoe UI"/>
                <a:ea typeface="Microsoft YaHei"/>
                <a:cs typeface="Segoe UI"/>
              </a:rPr>
              <a:t>on any Apple product</a:t>
            </a:r>
          </a:p>
        </p:txBody>
      </p:sp>
      <p:sp>
        <p:nvSpPr>
          <p:cNvPr id="38" name="Rectangle 38"/>
          <p:cNvSpPr/>
          <p:nvPr/>
        </p:nvSpPr>
        <p:spPr>
          <a:xfrm>
            <a:off x="8953500" y="1524000"/>
            <a:ext cx="2286000" cy="4762500"/>
          </a:xfrm>
          <a:prstGeom prst="roundRect">
            <a:avLst>
              <a:gd name="adj" fmla="val 8333"/>
            </a:avLst>
          </a:prstGeom>
          <a:solidFill>
            <a:srgbClr val="15151F"/>
          </a:solidFill>
          <a:ln w="9525">
            <a:solidFill>
              <a:srgbClr val="0A84FF">
                <a:alpha val="40000"/>
              </a:srgbClr>
            </a:solidFill>
          </a:ln>
        </p:spPr>
      </p:sp>
      <p:sp>
        <p:nvSpPr>
          <p:cNvPr id="39" name="Freeform 39"/>
          <p:cNvSpPr/>
          <p:nvPr/>
        </p:nvSpPr>
        <p:spPr>
          <a:xfrm>
            <a:off x="9944100" y="1714500"/>
            <a:ext cx="228600" cy="304800"/>
          </a:xfrm>
          <a:custGeom>
            <a:avLst/>
            <a:gdLst/>
            <a:ahLst/>
            <a:cxnLst/>
            <a:rect l="l" t="t" r="r" b="b"/>
            <a:pathLst>
              <a:path w="228600" h="304800">
                <a:moveTo>
                  <a:pt x="38100" y="0"/>
                </a:moveTo>
                <a:cubicBezTo>
                  <a:pt x="17058" y="0"/>
                  <a:pt x="0" y="17058"/>
                  <a:pt x="0" y="38100"/>
                </a:cubicBezTo>
                <a:lnTo>
                  <a:pt x="0" y="266700"/>
                </a:lnTo>
                <a:cubicBezTo>
                  <a:pt x="0" y="287743"/>
                  <a:pt x="17058" y="304800"/>
                  <a:pt x="38100" y="304800"/>
                </a:cubicBezTo>
                <a:lnTo>
                  <a:pt x="190500" y="304800"/>
                </a:lnTo>
                <a:cubicBezTo>
                  <a:pt x="211543" y="304800"/>
                  <a:pt x="228600" y="287743"/>
                  <a:pt x="228600" y="266700"/>
                </a:cubicBezTo>
                <a:lnTo>
                  <a:pt x="228600" y="38100"/>
                </a:lnTo>
                <a:cubicBezTo>
                  <a:pt x="228600" y="17058"/>
                  <a:pt x="211543" y="0"/>
                  <a:pt x="190500" y="0"/>
                </a:cubicBezTo>
                <a:lnTo>
                  <a:pt x="38100" y="0"/>
                </a:lnTo>
                <a:close/>
                <a:moveTo>
                  <a:pt x="190500" y="57150"/>
                </a:moveTo>
                <a:lnTo>
                  <a:pt x="38100" y="57150"/>
                </a:lnTo>
                <a:lnTo>
                  <a:pt x="38100" y="247650"/>
                </a:lnTo>
                <a:lnTo>
                  <a:pt x="190500" y="247650"/>
                </a:lnTo>
                <a:lnTo>
                  <a:pt x="190500" y="57150"/>
                </a:lnTo>
                <a:close/>
              </a:path>
            </a:pathLst>
          </a:custGeom>
          <a:solidFill>
            <a:srgbClr val="0A84FF"/>
          </a:solidFill>
          <a:ln>
            <a:noFill/>
          </a:ln>
        </p:spPr>
      </p:sp>
      <p:sp>
        <p:nvSpPr>
          <p:cNvPr id="40" name="TextBox 40"/>
          <p:cNvSpPr txBox="1"/>
          <p:nvPr/>
        </p:nvSpPr>
        <p:spPr>
          <a:xfrm>
            <a:off x="9636590" y="2060258"/>
            <a:ext cx="919820" cy="335280"/>
          </a:xfrm>
          <a:prstGeom prst="rect">
            <a:avLst/>
          </a:prstGeom>
          <a:noFill/>
          <a:ln>
            <a:noFill/>
          </a:ln>
        </p:spPr>
        <p:txBody>
          <a:bodyPr wrap="none" lIns="0" tIns="0" rIns="0" bIns="0" anchor="t" anchorCtr="0">
            <a:spAutoFit/>
          </a:bodyPr>
          <a:lstStyle/>
          <a:p>
            <a:pPr algn="ctr"/>
            <a:r>
              <a:rPr lang="zh-CN" sz="1650" b="1" dirty="0">
                <a:solidFill>
                  <a:srgbClr val="F5F5F7"/>
                </a:solidFill>
                <a:latin typeface="Segoe UI"/>
                <a:ea typeface="Microsoft YaHei"/>
                <a:cs typeface="Segoe UI"/>
              </a:rPr>
              <a:t>Pro Max</a:t>
            </a:r>
          </a:p>
        </p:txBody>
      </p:sp>
      <p:sp>
        <p:nvSpPr>
          <p:cNvPr id="41" name="TextBox 41"/>
          <p:cNvSpPr txBox="1"/>
          <p:nvPr/>
        </p:nvSpPr>
        <p:spPr>
          <a:xfrm>
            <a:off x="9471303" y="2166938"/>
            <a:ext cx="1250394" cy="762000"/>
          </a:xfrm>
          <a:prstGeom prst="rect">
            <a:avLst/>
          </a:prstGeom>
          <a:noFill/>
          <a:ln>
            <a:noFill/>
          </a:ln>
        </p:spPr>
        <p:txBody>
          <a:bodyPr wrap="none" lIns="0" tIns="0" rIns="0" bIns="0" anchor="t" anchorCtr="0">
            <a:spAutoFit/>
          </a:bodyPr>
          <a:lstStyle/>
          <a:p>
            <a:pPr algn="ctr"/>
            <a:r>
              <a:rPr lang="zh-CN" sz="3750" b="1" dirty="0">
                <a:solidFill>
                  <a:srgbClr val="0A84FF"/>
                </a:solidFill>
                <a:latin typeface="Segoe UI"/>
                <a:ea typeface="Microsoft YaHei"/>
                <a:cs typeface="Segoe UI"/>
              </a:rPr>
              <a:t>6.9"</a:t>
            </a:r>
          </a:p>
        </p:txBody>
      </p:sp>
      <p:sp>
        <p:nvSpPr>
          <p:cNvPr id="42" name="TextBox 42"/>
          <p:cNvSpPr txBox="1"/>
          <p:nvPr/>
        </p:nvSpPr>
        <p:spPr>
          <a:xfrm>
            <a:off x="9019032" y="2696528"/>
            <a:ext cx="2154936" cy="213360"/>
          </a:xfrm>
          <a:prstGeom prst="rect">
            <a:avLst/>
          </a:prstGeom>
          <a:noFill/>
          <a:ln>
            <a:noFill/>
          </a:ln>
        </p:spPr>
        <p:txBody>
          <a:bodyPr wrap="none" lIns="0" tIns="0" rIns="0" bIns="0" anchor="t" anchorCtr="0">
            <a:spAutoFit/>
          </a:bodyPr>
          <a:lstStyle/>
          <a:p>
            <a:pPr algn="ctr"/>
            <a:r>
              <a:rPr lang="zh-CN" sz="1050" dirty="0">
                <a:solidFill>
                  <a:srgbClr val="8E8E93"/>
                </a:solidFill>
                <a:latin typeface="Segoe UI"/>
                <a:ea typeface="Microsoft YaHei"/>
                <a:cs typeface="Segoe UI"/>
              </a:rPr>
              <a:t xml:space="preserve">6.85" measured · </a:t>
            </a:r>
            <a:r>
              <a:rPr lang="zh-CN" sz="1050" dirty="0">
                <a:solidFill>
                  <a:srgbClr val="8E8E93"/>
                </a:solidFill>
                <a:latin typeface="Segoe UI"/>
                <a:ea typeface="Microsoft YaHei"/>
                <a:cs typeface="Segoe UI"/>
              </a:rPr>
              <a:t xml:space="preserve"> </a:t>
            </a:r>
            <a:r>
              <a:rPr lang="zh-CN" sz="1050" b="1" dirty="0">
                <a:solidFill>
                  <a:srgbClr val="0A84FF"/>
                </a:solidFill>
                <a:latin typeface="Segoe UI"/>
                <a:ea typeface="Microsoft YaHei"/>
                <a:cs typeface="Segoe UI"/>
              </a:rPr>
              <a:t>largest ever</a:t>
            </a:r>
          </a:p>
        </p:txBody>
      </p:sp>
      <p:sp>
        <p:nvSpPr>
          <p:cNvPr id="43" name="TextBox 43"/>
          <p:cNvSpPr txBox="1"/>
          <p:nvPr/>
        </p:nvSpPr>
        <p:spPr>
          <a:xfrm>
            <a:off x="9224010" y="3108960"/>
            <a:ext cx="1363980" cy="1043940"/>
          </a:xfrm>
          <a:prstGeom prst="rect">
            <a:avLst/>
          </a:prstGeom>
          <a:noFill/>
          <a:ln>
            <a:noFill/>
          </a:ln>
        </p:spPr>
        <p:txBody>
          <a:bodyPr wrap="square" lIns="0" tIns="0" rIns="0" bIns="0" anchor="t" anchorCtr="0"/>
          <a:lstStyle/>
          <a:p>
            <a:pPr algn="l">
              <a:lnSpc>
                <a:spcPts val="2100"/>
              </a:lnSpc>
            </a:pPr>
            <a:r>
              <a:rPr lang="zh-CN" sz="1200" dirty="0">
                <a:solidFill>
                  <a:srgbClr val="E5E5EA"/>
                </a:solidFill>
                <a:latin typeface="Segoe UI"/>
                <a:ea typeface="Microsoft YaHei"/>
                <a:cs typeface="Segoe UI"/>
              </a:rPr>
              <a:t xml:space="preserve">Super Retina XDR </a:t>
            </a:r>
            <a:r>
              <a:rPr lang="zh-CN" sz="1200" dirty="0">
                <a:solidFill>
                  <a:srgbClr val="E5E5EA"/>
                </a:solidFill>
                <a:latin typeface="Segoe UI"/>
                <a:ea typeface="Microsoft YaHei"/>
                <a:cs typeface="Segoe UI"/>
              </a:rPr>
              <a:t xml:space="preserve">Always-On display </a:t>
            </a:r>
            <a:r>
              <a:rPr lang="zh-CN" sz="1200" dirty="0">
                <a:solidFill>
                  <a:srgbClr val="E5E5EA"/>
                </a:solidFill>
                <a:latin typeface="Segoe UI"/>
                <a:ea typeface="Microsoft YaHei"/>
                <a:cs typeface="Segoe UI"/>
              </a:rPr>
              <a:t xml:space="preserve">ProMotion 120Hz </a:t>
            </a:r>
            <a:r>
              <a:rPr lang="zh-CN" sz="1200" dirty="0">
                <a:solidFill>
                  <a:srgbClr val="E5E5EA"/>
                </a:solidFill>
                <a:latin typeface="Segoe UI"/>
                <a:ea typeface="Microsoft YaHei"/>
                <a:cs typeface="Segoe UI"/>
              </a:rPr>
              <a:t>Dynamic Island</a:t>
            </a:r>
          </a:p>
        </p:txBody>
      </p:sp>
      <p:sp>
        <p:nvSpPr>
          <p:cNvPr id="44" name="Line 44"/>
          <p:cNvSpPr/>
          <p:nvPr/>
        </p:nvSpPr>
        <p:spPr>
          <a:xfrm>
            <a:off x="9239250" y="4667250"/>
            <a:ext cx="1714500" cy="9525"/>
          </a:xfrm>
          <a:custGeom>
            <a:avLst/>
            <a:gdLst/>
            <a:ahLst/>
            <a:cxnLst/>
            <a:rect l="l" t="t" r="r" b="b"/>
            <a:pathLst>
              <a:path w="1714500" h="9525">
                <a:moveTo>
                  <a:pt x="0" y="0"/>
                </a:moveTo>
                <a:lnTo>
                  <a:pt x="1714500" y="0"/>
                </a:lnTo>
              </a:path>
            </a:pathLst>
          </a:custGeom>
          <a:noFill/>
          <a:ln w="9525">
            <a:solidFill>
              <a:srgbClr val="2A2A3A"/>
            </a:solidFill>
          </a:ln>
        </p:spPr>
      </p:sp>
      <p:sp>
        <p:nvSpPr>
          <p:cNvPr id="45" name="TextBox 45"/>
          <p:cNvSpPr txBox="1"/>
          <p:nvPr/>
        </p:nvSpPr>
        <p:spPr>
          <a:xfrm>
            <a:off x="9407581" y="4839652"/>
            <a:ext cx="1377839" cy="213360"/>
          </a:xfrm>
          <a:prstGeom prst="rect">
            <a:avLst/>
          </a:prstGeom>
          <a:noFill/>
          <a:ln>
            <a:noFill/>
          </a:ln>
        </p:spPr>
        <p:txBody>
          <a:bodyPr wrap="none" lIns="0" tIns="0" rIns="0" bIns="0" anchor="t" anchorCtr="0">
            <a:spAutoFit/>
          </a:bodyPr>
          <a:lstStyle/>
          <a:p>
            <a:pPr algn="ctr"/>
            <a:r>
              <a:rPr lang="zh-CN" sz="1050" b="1" dirty="0">
                <a:solidFill>
                  <a:srgbClr val="F5F5F7"/>
                </a:solidFill>
                <a:latin typeface="Segoe UI"/>
                <a:ea typeface="Microsoft YaHei"/>
                <a:cs typeface="Segoe UI"/>
              </a:rPr>
              <a:t>256GB</a:t>
            </a:r>
            <a:r>
              <a:rPr lang="zh-CN" sz="1050" dirty="0">
                <a:solidFill>
                  <a:srgbClr val="8E8E93"/>
                </a:solidFill>
                <a:latin typeface="Segoe UI"/>
                <a:ea typeface="Microsoft YaHei"/>
                <a:cs typeface="Segoe UI"/>
              </a:rPr>
              <a:t xml:space="preserve"> </a:t>
            </a:r>
            <a:r>
              <a:rPr lang="zh-CN" sz="1050" dirty="0">
                <a:solidFill>
                  <a:srgbClr val="8E8E93"/>
                </a:solidFill>
                <a:latin typeface="Segoe UI"/>
                <a:ea typeface="Microsoft YaHei"/>
                <a:cs typeface="Segoe UI"/>
              </a:rPr>
              <a:t xml:space="preserve"> from </a:t>
            </a:r>
            <a:r>
              <a:rPr lang="zh-CN" sz="1050" dirty="0">
                <a:solidFill>
                  <a:srgbClr val="8E8E93"/>
                </a:solidFill>
                <a:latin typeface="Segoe UI"/>
                <a:ea typeface="Microsoft YaHei"/>
                <a:cs typeface="Segoe UI"/>
              </a:rPr>
              <a:t xml:space="preserve"> </a:t>
            </a:r>
            <a:r>
              <a:rPr lang="zh-CN" sz="1050" b="1" dirty="0">
                <a:solidFill>
                  <a:srgbClr val="F5F5F7"/>
                </a:solidFill>
                <a:latin typeface="Segoe UI"/>
                <a:ea typeface="Microsoft YaHei"/>
                <a:cs typeface="Segoe UI"/>
              </a:rPr>
              <a:t>$1,199</a:t>
            </a:r>
          </a:p>
        </p:txBody>
      </p:sp>
      <p:sp>
        <p:nvSpPr>
          <p:cNvPr id="46" name="TextBox 46"/>
          <p:cNvSpPr txBox="1"/>
          <p:nvPr/>
        </p:nvSpPr>
        <p:spPr>
          <a:xfrm>
            <a:off x="11207020" y="6475095"/>
            <a:ext cx="424910" cy="182880"/>
          </a:xfrm>
          <a:prstGeom prst="rect">
            <a:avLst/>
          </a:prstGeom>
          <a:noFill/>
          <a:ln>
            <a:noFill/>
          </a:ln>
        </p:spPr>
        <p:txBody>
          <a:bodyPr wrap="none" lIns="0" tIns="0" rIns="0" bIns="0" anchor="t" anchorCtr="0">
            <a:spAutoFit/>
          </a:bodyPr>
          <a:lstStyle/>
          <a:p>
            <a:pPr algn="r"/>
            <a:r>
              <a:rPr lang="zh-CN" sz="900" dirty="0">
                <a:solidFill>
                  <a:srgbClr val="636366"/>
                </a:solidFill>
                <a:latin typeface="Consolas"/>
                <a:ea typeface="Microsoft YaHei"/>
                <a:cs typeface="Consolas"/>
              </a:rPr>
              <a:t>05 / 09</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A0A0F"/>
          </a:solidFill>
          <a:ln>
            <a:noFill/>
          </a:ln>
        </p:spPr>
      </p:sp>
      <p:sp>
        <p:nvSpPr>
          <p:cNvPr id="3" name="Rectangle 3"/>
          <p:cNvSpPr/>
          <p:nvPr/>
        </p:nvSpPr>
        <p:spPr>
          <a:xfrm>
            <a:off x="571500" y="476250"/>
            <a:ext cx="571500" cy="38100"/>
          </a:xfrm>
          <a:prstGeom prst="roundRect">
            <a:avLst>
              <a:gd name="adj" fmla="val 50000"/>
            </a:avLst>
          </a:prstGeom>
          <a:gradFill>
            <a:gsLst>
              <a:gs pos="0">
                <a:srgbClr val="0A84FF"/>
              </a:gs>
              <a:gs pos="100000">
                <a:srgbClr val="5E5CE6"/>
              </a:gs>
            </a:gsLst>
            <a:lin ang="0" scaled="1"/>
          </a:gradFill>
          <a:ln>
            <a:noFill/>
          </a:ln>
        </p:spPr>
      </p:sp>
      <p:sp>
        <p:nvSpPr>
          <p:cNvPr id="4" name="TextBox 4"/>
          <p:cNvSpPr txBox="1"/>
          <p:nvPr/>
        </p:nvSpPr>
        <p:spPr>
          <a:xfrm>
            <a:off x="537210" y="565785"/>
            <a:ext cx="6911235" cy="548640"/>
          </a:xfrm>
          <a:prstGeom prst="rect">
            <a:avLst/>
          </a:prstGeom>
          <a:noFill/>
          <a:ln>
            <a:noFill/>
          </a:ln>
        </p:spPr>
        <p:txBody>
          <a:bodyPr wrap="none" lIns="0" tIns="0" rIns="0" bIns="0" anchor="t" anchorCtr="0">
            <a:spAutoFit/>
          </a:bodyPr>
          <a:lstStyle/>
          <a:p>
            <a:pPr algn="l"/>
            <a:r>
              <a:rPr lang="zh-CN" sz="2700" b="1" dirty="0">
                <a:solidFill>
                  <a:srgbClr val="F5F5F7"/>
                </a:solidFill>
                <a:latin typeface="Segoe UI"/>
                <a:ea typeface="Microsoft YaHei"/>
                <a:cs typeface="Segoe UI"/>
              </a:rPr>
              <a:t>Camera Control. A New Way to Shoot.</a:t>
            </a:r>
          </a:p>
        </p:txBody>
      </p:sp>
      <p:sp>
        <p:nvSpPr>
          <p:cNvPr id="5" name="TextBox 5"/>
          <p:cNvSpPr txBox="1"/>
          <p:nvPr/>
        </p:nvSpPr>
        <p:spPr>
          <a:xfrm>
            <a:off x="554355" y="978218"/>
            <a:ext cx="8576358" cy="274320"/>
          </a:xfrm>
          <a:prstGeom prst="rect">
            <a:avLst/>
          </a:prstGeom>
          <a:noFill/>
          <a:ln>
            <a:noFill/>
          </a:ln>
        </p:spPr>
        <p:txBody>
          <a:bodyPr wrap="none" lIns="0" tIns="0" rIns="0" bIns="0" anchor="t" anchorCtr="0">
            <a:spAutoFit/>
          </a:bodyPr>
          <a:lstStyle/>
          <a:p>
            <a:pPr algn="l"/>
            <a:r>
              <a:rPr lang="zh-CN" sz="1350" dirty="0">
                <a:solidFill>
                  <a:srgbClr val="8E8E93"/>
                </a:solidFill>
                <a:latin typeface="Segoe UI"/>
                <a:ea typeface="Microsoft YaHei"/>
                <a:cs typeface="Segoe UI"/>
              </a:rPr>
              <a:t>Tactile hardware-software integration — click, press, slide — puts everything at your fingertip.</a:t>
            </a:r>
          </a:p>
        </p:txBody>
      </p:sp>
      <p:pic>
        <p:nvPicPr>
          <p:cNvPr id="6" name="Image 6"/>
          <p:cNvPicPr>
            <a:picLocks noChangeAspect="1"/>
          </p:cNvPicPr>
          <p:nvPr/>
        </p:nvPicPr>
        <p:blipFill>
          <a:blip r:embed="rId2"/>
          <a:srcRect l="0" t="17833" r="0" b="17833"/>
          <a:stretch>
            <a:fillRect/>
          </a:stretch>
        </p:blipFill>
        <p:spPr>
          <a:xfrm>
            <a:off x="571500" y="1476375"/>
            <a:ext cx="5334000" cy="2286000"/>
          </a:xfrm>
          <a:prstGeom prst="roundRect">
            <a:avLst>
              <a:gd name="adj" fmla="val 6666"/>
            </a:avLst>
          </a:prstGeom>
        </p:spPr>
      </p:pic>
      <p:sp>
        <p:nvSpPr>
          <p:cNvPr id="7" name="TextBox 7"/>
          <p:cNvSpPr txBox="1"/>
          <p:nvPr/>
        </p:nvSpPr>
        <p:spPr>
          <a:xfrm>
            <a:off x="560070" y="3855720"/>
            <a:ext cx="2285143" cy="182880"/>
          </a:xfrm>
          <a:prstGeom prst="rect">
            <a:avLst/>
          </a:prstGeom>
          <a:noFill/>
          <a:ln>
            <a:noFill/>
          </a:ln>
        </p:spPr>
        <p:txBody>
          <a:bodyPr wrap="none" lIns="0" tIns="0" rIns="0" bIns="0" anchor="t" anchorCtr="0">
            <a:spAutoFit/>
          </a:bodyPr>
          <a:lstStyle/>
          <a:p>
            <a:pPr algn="l"/>
            <a:r>
              <a:rPr lang="zh-CN" sz="900" dirty="0">
                <a:solidFill>
                  <a:srgbClr val="636366"/>
                </a:solidFill>
                <a:latin typeface="Consolas"/>
                <a:ea typeface="Microsoft YaHei"/>
                <a:cs typeface="Consolas"/>
              </a:rPr>
              <a:t>New capacitive sensor on iPhone 16 Pro</a:t>
            </a:r>
          </a:p>
        </p:txBody>
      </p:sp>
      <p:pic>
        <p:nvPicPr>
          <p:cNvPr id="8" name="Image 8"/>
          <p:cNvPicPr>
            <a:picLocks noChangeAspect="1"/>
          </p:cNvPicPr>
          <p:nvPr/>
        </p:nvPicPr>
        <p:blipFill>
          <a:blip r:embed="rId3"/>
          <a:srcRect l="0" t="34691" r="0" b="34691"/>
          <a:stretch>
            <a:fillRect/>
          </a:stretch>
        </p:blipFill>
        <p:spPr>
          <a:xfrm>
            <a:off x="6286500" y="1476375"/>
            <a:ext cx="5334000" cy="2286000"/>
          </a:xfrm>
          <a:prstGeom prst="roundRect">
            <a:avLst>
              <a:gd name="adj" fmla="val 6666"/>
            </a:avLst>
          </a:prstGeom>
        </p:spPr>
      </p:pic>
      <p:sp>
        <p:nvSpPr>
          <p:cNvPr id="9" name="TextBox 9"/>
          <p:cNvSpPr txBox="1"/>
          <p:nvPr/>
        </p:nvSpPr>
        <p:spPr>
          <a:xfrm>
            <a:off x="6275070" y="3855720"/>
            <a:ext cx="2651188" cy="182880"/>
          </a:xfrm>
          <a:prstGeom prst="rect">
            <a:avLst/>
          </a:prstGeom>
          <a:noFill/>
          <a:ln>
            <a:noFill/>
          </a:ln>
        </p:spPr>
        <p:txBody>
          <a:bodyPr wrap="none" lIns="0" tIns="0" rIns="0" bIns="0" anchor="t" anchorCtr="0">
            <a:spAutoFit/>
          </a:bodyPr>
          <a:lstStyle/>
          <a:p>
            <a:pPr algn="l"/>
            <a:r>
              <a:rPr lang="zh-CN" sz="900" dirty="0">
                <a:solidFill>
                  <a:srgbClr val="636366"/>
                </a:solidFill>
                <a:latin typeface="Consolas"/>
                <a:ea typeface="Microsoft YaHei"/>
                <a:cs typeface="Consolas"/>
              </a:rPr>
              <a:t>Visual Intelligence — click and hold to identify</a:t>
            </a:r>
          </a:p>
        </p:txBody>
      </p:sp>
      <p:sp>
        <p:nvSpPr>
          <p:cNvPr id="10" name="Rectangle 10"/>
          <p:cNvSpPr/>
          <p:nvPr/>
        </p:nvSpPr>
        <p:spPr>
          <a:xfrm>
            <a:off x="571500" y="4238625"/>
            <a:ext cx="3524250" cy="1905000"/>
          </a:xfrm>
          <a:prstGeom prst="roundRect">
            <a:avLst>
              <a:gd name="adj" fmla="val 8000"/>
            </a:avLst>
          </a:prstGeom>
          <a:solidFill>
            <a:srgbClr val="15151F"/>
          </a:solidFill>
          <a:ln w="9525">
            <a:solidFill>
              <a:srgbClr val="2A2A3A"/>
            </a:solidFill>
          </a:ln>
        </p:spPr>
      </p:sp>
      <p:sp>
        <p:nvSpPr>
          <p:cNvPr id="11" name="Ellipse 11"/>
          <p:cNvSpPr/>
          <p:nvPr/>
        </p:nvSpPr>
        <p:spPr>
          <a:xfrm>
            <a:off x="876300" y="4448175"/>
            <a:ext cx="533400" cy="533400"/>
          </a:xfrm>
          <a:prstGeom prst="ellipse">
            <a:avLst/>
          </a:prstGeom>
          <a:gradFill>
            <a:gsLst>
              <a:gs pos="0">
                <a:srgbClr val="0A84FF">
                  <a:alpha val="25000"/>
                </a:srgbClr>
              </a:gs>
              <a:gs pos="60000">
                <a:srgbClr val="0A84FF">
                  <a:alpha val="5000"/>
                </a:srgbClr>
              </a:gs>
              <a:gs pos="100000">
                <a:srgbClr val="0A84FF">
                  <a:alpha val="0"/>
                </a:srgbClr>
              </a:gs>
            </a:gsLst>
            <a:path path="circle">
              <a:fillToRect l="50000" t="50000" r="50000" b="50000"/>
            </a:path>
          </a:gradFill>
          <a:ln>
            <a:noFill/>
          </a:ln>
        </p:spPr>
      </p:sp>
      <p:sp>
        <p:nvSpPr>
          <p:cNvPr id="12" name="Freeform 12"/>
          <p:cNvSpPr/>
          <p:nvPr/>
        </p:nvSpPr>
        <p:spPr>
          <a:xfrm>
            <a:off x="952500" y="4548188"/>
            <a:ext cx="381000" cy="309562"/>
          </a:xfrm>
          <a:custGeom>
            <a:avLst/>
            <a:gdLst/>
            <a:ahLst/>
            <a:cxnLst/>
            <a:rect l="l" t="t" r="r" b="b"/>
            <a:pathLst>
              <a:path w="381000" h="309562">
                <a:moveTo>
                  <a:pt x="71438" y="47625"/>
                </a:moveTo>
                <a:lnTo>
                  <a:pt x="0" y="47625"/>
                </a:lnTo>
                <a:lnTo>
                  <a:pt x="0" y="309562"/>
                </a:lnTo>
                <a:lnTo>
                  <a:pt x="381000" y="309562"/>
                </a:lnTo>
                <a:lnTo>
                  <a:pt x="381000" y="47625"/>
                </a:lnTo>
                <a:lnTo>
                  <a:pt x="309562" y="47625"/>
                </a:lnTo>
                <a:lnTo>
                  <a:pt x="261938" y="0"/>
                </a:lnTo>
                <a:lnTo>
                  <a:pt x="119062" y="0"/>
                </a:lnTo>
                <a:lnTo>
                  <a:pt x="71438" y="47625"/>
                </a:lnTo>
                <a:close/>
                <a:moveTo>
                  <a:pt x="190500" y="238125"/>
                </a:moveTo>
                <a:cubicBezTo>
                  <a:pt x="229954" y="238125"/>
                  <a:pt x="261938" y="206141"/>
                  <a:pt x="261938" y="166688"/>
                </a:cubicBezTo>
                <a:cubicBezTo>
                  <a:pt x="261938" y="127234"/>
                  <a:pt x="229954" y="95250"/>
                  <a:pt x="190500" y="95250"/>
                </a:cubicBezTo>
                <a:cubicBezTo>
                  <a:pt x="151046" y="95250"/>
                  <a:pt x="119062" y="127234"/>
                  <a:pt x="119062" y="166688"/>
                </a:cubicBezTo>
                <a:cubicBezTo>
                  <a:pt x="119062" y="206141"/>
                  <a:pt x="151046" y="238125"/>
                  <a:pt x="190500" y="238125"/>
                </a:cubicBezTo>
                <a:close/>
              </a:path>
            </a:pathLst>
          </a:custGeom>
          <a:solidFill>
            <a:srgbClr val="0A84FF"/>
          </a:solidFill>
          <a:ln>
            <a:noFill/>
          </a:ln>
        </p:spPr>
      </p:sp>
      <p:sp>
        <p:nvSpPr>
          <p:cNvPr id="13" name="TextBox 13"/>
          <p:cNvSpPr txBox="1"/>
          <p:nvPr/>
        </p:nvSpPr>
        <p:spPr>
          <a:xfrm>
            <a:off x="1548765" y="4568190"/>
            <a:ext cx="612791" cy="365760"/>
          </a:xfrm>
          <a:prstGeom prst="rect">
            <a:avLst/>
          </a:prstGeom>
          <a:noFill/>
          <a:ln>
            <a:noFill/>
          </a:ln>
        </p:spPr>
        <p:txBody>
          <a:bodyPr wrap="none" lIns="0" tIns="0" rIns="0" bIns="0" anchor="t" anchorCtr="0">
            <a:spAutoFit/>
          </a:bodyPr>
          <a:lstStyle/>
          <a:p>
            <a:pPr algn="l"/>
            <a:r>
              <a:rPr lang="zh-CN" sz="1800" b="1" dirty="0">
                <a:solidFill>
                  <a:srgbClr val="F5F5F7"/>
                </a:solidFill>
                <a:latin typeface="Segoe UI"/>
                <a:ea typeface="Microsoft YaHei"/>
                <a:cs typeface="Segoe UI"/>
              </a:rPr>
              <a:t>Click</a:t>
            </a:r>
          </a:p>
        </p:txBody>
      </p:sp>
      <p:sp>
        <p:nvSpPr>
          <p:cNvPr id="14" name="TextBox 14"/>
          <p:cNvSpPr txBox="1"/>
          <p:nvPr/>
        </p:nvSpPr>
        <p:spPr>
          <a:xfrm>
            <a:off x="842010" y="5013960"/>
            <a:ext cx="2423160" cy="491490"/>
          </a:xfrm>
          <a:prstGeom prst="rect">
            <a:avLst/>
          </a:prstGeom>
          <a:noFill/>
          <a:ln>
            <a:noFill/>
          </a:ln>
        </p:spPr>
        <p:txBody>
          <a:bodyPr wrap="square" lIns="0" tIns="0" rIns="0" bIns="0" anchor="t" anchorCtr="0"/>
          <a:lstStyle/>
          <a:p>
            <a:pPr algn="l">
              <a:lnSpc>
                <a:spcPts val="1950"/>
              </a:lnSpc>
            </a:pPr>
            <a:r>
              <a:rPr lang="zh-CN" sz="1200" dirty="0">
                <a:solidFill>
                  <a:srgbClr val="E5E5EA"/>
                </a:solidFill>
                <a:latin typeface="Segoe UI"/>
                <a:ea typeface="Microsoft YaHei"/>
                <a:cs typeface="Segoe UI"/>
              </a:rPr>
              <a:t xml:space="preserve">Tactile switch launches camera, </a:t>
            </a:r>
            <a:r>
              <a:rPr lang="zh-CN" sz="1200" dirty="0">
                <a:solidFill>
                  <a:srgbClr val="E5E5EA"/>
                </a:solidFill>
                <a:latin typeface="Segoe UI"/>
                <a:ea typeface="Microsoft YaHei"/>
                <a:cs typeface="Segoe UI"/>
              </a:rPr>
              <a:t>takes photo, starts recording.</a:t>
            </a:r>
          </a:p>
        </p:txBody>
      </p:sp>
      <p:sp>
        <p:nvSpPr>
          <p:cNvPr id="15" name="TextBox 15"/>
          <p:cNvSpPr txBox="1"/>
          <p:nvPr/>
        </p:nvSpPr>
        <p:spPr>
          <a:xfrm>
            <a:off x="843915" y="5696902"/>
            <a:ext cx="3149060" cy="213360"/>
          </a:xfrm>
          <a:prstGeom prst="rect">
            <a:avLst/>
          </a:prstGeom>
          <a:noFill/>
          <a:ln>
            <a:noFill/>
          </a:ln>
        </p:spPr>
        <p:txBody>
          <a:bodyPr wrap="none" lIns="0" tIns="0" rIns="0" bIns="0" anchor="t" anchorCtr="0">
            <a:spAutoFit/>
          </a:bodyPr>
          <a:lstStyle/>
          <a:p>
            <a:pPr algn="l"/>
            <a:r>
              <a:rPr lang="zh-CN" sz="1050" dirty="0">
                <a:solidFill>
                  <a:srgbClr val="8E8E93"/>
                </a:solidFill>
                <a:latin typeface="Segoe UI"/>
                <a:ea typeface="Microsoft YaHei"/>
                <a:cs typeface="Segoe UI"/>
              </a:rPr>
              <a:t xml:space="preserve">Physical button — </a:t>
            </a:r>
            <a:r>
              <a:rPr lang="zh-CN" sz="1050" dirty="0">
                <a:solidFill>
                  <a:srgbClr val="8E8E93"/>
                </a:solidFill>
                <a:latin typeface="Segoe UI"/>
                <a:ea typeface="Microsoft YaHei"/>
                <a:cs typeface="Segoe UI"/>
              </a:rPr>
              <a:t xml:space="preserve"> </a:t>
            </a:r>
            <a:r>
              <a:rPr lang="zh-CN" sz="1050" b="1" dirty="0">
                <a:solidFill>
                  <a:srgbClr val="0A84FF"/>
                </a:solidFill>
                <a:latin typeface="Segoe UI"/>
                <a:ea typeface="Microsoft YaHei"/>
                <a:cs typeface="Segoe UI"/>
              </a:rPr>
              <a:t>precise, responsive, silent</a:t>
            </a:r>
          </a:p>
        </p:txBody>
      </p:sp>
      <p:sp>
        <p:nvSpPr>
          <p:cNvPr id="16" name="Rectangle 16"/>
          <p:cNvSpPr/>
          <p:nvPr/>
        </p:nvSpPr>
        <p:spPr>
          <a:xfrm>
            <a:off x="4333875" y="4238625"/>
            <a:ext cx="3524250" cy="1905000"/>
          </a:xfrm>
          <a:prstGeom prst="roundRect">
            <a:avLst>
              <a:gd name="adj" fmla="val 8000"/>
            </a:avLst>
          </a:prstGeom>
          <a:solidFill>
            <a:srgbClr val="15151F"/>
          </a:solidFill>
          <a:ln w="9525">
            <a:solidFill>
              <a:srgbClr val="2A2A3A"/>
            </a:solidFill>
          </a:ln>
        </p:spPr>
      </p:sp>
      <p:sp>
        <p:nvSpPr>
          <p:cNvPr id="17" name="Ellipse 17"/>
          <p:cNvSpPr/>
          <p:nvPr/>
        </p:nvSpPr>
        <p:spPr>
          <a:xfrm>
            <a:off x="4638675" y="4448175"/>
            <a:ext cx="533400" cy="533400"/>
          </a:xfrm>
          <a:prstGeom prst="ellipse">
            <a:avLst/>
          </a:prstGeom>
          <a:gradFill>
            <a:gsLst>
              <a:gs pos="0">
                <a:srgbClr val="0A84FF">
                  <a:alpha val="25000"/>
                </a:srgbClr>
              </a:gs>
              <a:gs pos="60000">
                <a:srgbClr val="0A84FF">
                  <a:alpha val="5000"/>
                </a:srgbClr>
              </a:gs>
              <a:gs pos="100000">
                <a:srgbClr val="0A84FF">
                  <a:alpha val="0"/>
                </a:srgbClr>
              </a:gs>
            </a:gsLst>
            <a:path path="circle">
              <a:fillToRect l="50000" t="50000" r="50000" b="50000"/>
            </a:path>
          </a:gradFill>
          <a:ln>
            <a:noFill/>
          </a:ln>
        </p:spPr>
      </p:sp>
      <p:grpSp>
        <p:nvGrpSpPr>
          <p:cNvPr id="24" name="Group 24"/>
          <p:cNvGrpSpPr/>
          <p:nvPr/>
        </p:nvGrpSpPr>
        <p:grpSpPr>
          <a:xfrm>
            <a:off x="4714875" y="4524375"/>
            <a:ext cx="381000" cy="381000"/>
            <a:chOff x="4714875" y="4524375"/>
            <a:chExt cx="381000" cy="381000"/>
          </a:xfrm>
        </p:grpSpPr>
        <p:sp>
          <p:nvSpPr>
            <p:cNvPr id="18" name="Freeform 18"/>
            <p:cNvSpPr/>
            <p:nvPr/>
          </p:nvSpPr>
          <p:spPr>
            <a:xfrm>
              <a:off x="4790244" y="4524375"/>
              <a:ext cx="141576" cy="142875"/>
            </a:xfrm>
            <a:custGeom>
              <a:avLst/>
              <a:gdLst/>
              <a:ahLst/>
              <a:cxnLst/>
              <a:rect l="l" t="t" r="r" b="b"/>
              <a:pathLst>
                <a:path w="141576" h="142875">
                  <a:moveTo>
                    <a:pt x="60138" y="142875"/>
                  </a:moveTo>
                  <a:lnTo>
                    <a:pt x="0" y="38713"/>
                  </a:lnTo>
                  <a:cubicBezTo>
                    <a:pt x="31980" y="14419"/>
                    <a:pt x="71871" y="0"/>
                    <a:pt x="115131" y="0"/>
                  </a:cubicBezTo>
                  <a:cubicBezTo>
                    <a:pt x="124104" y="0"/>
                    <a:pt x="132933" y="620"/>
                    <a:pt x="141576" y="1821"/>
                  </a:cubicBezTo>
                  <a:lnTo>
                    <a:pt x="60138" y="142875"/>
                  </a:lnTo>
                  <a:close/>
                </a:path>
              </a:pathLst>
            </a:custGeom>
            <a:solidFill>
              <a:srgbClr val="5E5CE6"/>
            </a:solidFill>
            <a:ln>
              <a:noFill/>
            </a:ln>
          </p:spPr>
        </p:sp>
        <p:sp>
          <p:nvSpPr>
            <p:cNvPr id="19" name="Freeform 19"/>
            <p:cNvSpPr/>
            <p:nvPr/>
          </p:nvSpPr>
          <p:spPr>
            <a:xfrm>
              <a:off x="4714875" y="4597647"/>
              <a:ext cx="121759" cy="141040"/>
            </a:xfrm>
            <a:custGeom>
              <a:avLst/>
              <a:gdLst/>
              <a:ahLst/>
              <a:cxnLst/>
              <a:rect l="l" t="t" r="r" b="b"/>
              <a:pathLst>
                <a:path w="121759" h="141040">
                  <a:moveTo>
                    <a:pt x="121759" y="141040"/>
                  </a:moveTo>
                  <a:lnTo>
                    <a:pt x="40330" y="0"/>
                  </a:lnTo>
                  <a:cubicBezTo>
                    <a:pt x="15060" y="32325"/>
                    <a:pt x="0" y="73018"/>
                    <a:pt x="0" y="117228"/>
                  </a:cubicBezTo>
                  <a:cubicBezTo>
                    <a:pt x="0" y="125292"/>
                    <a:pt x="501" y="133240"/>
                    <a:pt x="1474" y="141040"/>
                  </a:cubicBezTo>
                  <a:lnTo>
                    <a:pt x="121759" y="141040"/>
                  </a:lnTo>
                  <a:close/>
                </a:path>
              </a:pathLst>
            </a:custGeom>
            <a:solidFill>
              <a:srgbClr val="5E5CE6"/>
            </a:solidFill>
            <a:ln>
              <a:noFill/>
            </a:ln>
          </p:spPr>
        </p:sp>
        <p:sp>
          <p:nvSpPr>
            <p:cNvPr id="20" name="Freeform 20"/>
            <p:cNvSpPr/>
            <p:nvPr/>
          </p:nvSpPr>
          <p:spPr>
            <a:xfrm>
              <a:off x="4728722" y="4786312"/>
              <a:ext cx="162904" cy="104196"/>
            </a:xfrm>
            <a:custGeom>
              <a:avLst/>
              <a:gdLst/>
              <a:ahLst/>
              <a:cxnLst/>
              <a:rect l="l" t="t" r="r" b="b"/>
              <a:pathLst>
                <a:path w="162904" h="104196">
                  <a:moveTo>
                    <a:pt x="102747" y="104196"/>
                  </a:moveTo>
                  <a:cubicBezTo>
                    <a:pt x="56149" y="84563"/>
                    <a:pt x="18996" y="46927"/>
                    <a:pt x="0" y="0"/>
                  </a:cubicBezTo>
                  <a:lnTo>
                    <a:pt x="162904" y="0"/>
                  </a:lnTo>
                  <a:lnTo>
                    <a:pt x="102747" y="104196"/>
                  </a:lnTo>
                  <a:close/>
                </a:path>
              </a:pathLst>
            </a:custGeom>
            <a:solidFill>
              <a:srgbClr val="5E5CE6"/>
            </a:solidFill>
            <a:ln>
              <a:noFill/>
            </a:ln>
          </p:spPr>
        </p:sp>
        <p:sp>
          <p:nvSpPr>
            <p:cNvPr id="21" name="Freeform 21"/>
            <p:cNvSpPr/>
            <p:nvPr/>
          </p:nvSpPr>
          <p:spPr>
            <a:xfrm>
              <a:off x="4878930" y="4762500"/>
              <a:ext cx="141576" cy="142875"/>
            </a:xfrm>
            <a:custGeom>
              <a:avLst/>
              <a:gdLst/>
              <a:ahLst/>
              <a:cxnLst/>
              <a:rect l="l" t="t" r="r" b="b"/>
              <a:pathLst>
                <a:path w="141576" h="142875">
                  <a:moveTo>
                    <a:pt x="26445" y="142875"/>
                  </a:moveTo>
                  <a:cubicBezTo>
                    <a:pt x="17472" y="142875"/>
                    <a:pt x="8643" y="142253"/>
                    <a:pt x="0" y="141053"/>
                  </a:cubicBezTo>
                  <a:lnTo>
                    <a:pt x="81438" y="0"/>
                  </a:lnTo>
                  <a:lnTo>
                    <a:pt x="141576" y="104161"/>
                  </a:lnTo>
                  <a:cubicBezTo>
                    <a:pt x="109596" y="128457"/>
                    <a:pt x="69704" y="142875"/>
                    <a:pt x="26445" y="142875"/>
                  </a:cubicBezTo>
                  <a:close/>
                </a:path>
              </a:pathLst>
            </a:custGeom>
            <a:solidFill>
              <a:srgbClr val="5E5CE6"/>
            </a:solidFill>
            <a:ln>
              <a:noFill/>
            </a:ln>
          </p:spPr>
        </p:sp>
        <p:sp>
          <p:nvSpPr>
            <p:cNvPr id="22" name="Freeform 22"/>
            <p:cNvSpPr/>
            <p:nvPr/>
          </p:nvSpPr>
          <p:spPr>
            <a:xfrm>
              <a:off x="4974117" y="4691062"/>
              <a:ext cx="121758" cy="141039"/>
            </a:xfrm>
            <a:custGeom>
              <a:avLst/>
              <a:gdLst/>
              <a:ahLst/>
              <a:cxnLst/>
              <a:rect l="l" t="t" r="r" b="b"/>
              <a:pathLst>
                <a:path w="121758" h="141039">
                  <a:moveTo>
                    <a:pt x="121758" y="23812"/>
                  </a:moveTo>
                  <a:cubicBezTo>
                    <a:pt x="121758" y="68023"/>
                    <a:pt x="106699" y="108716"/>
                    <a:pt x="81429" y="141039"/>
                  </a:cubicBezTo>
                  <a:lnTo>
                    <a:pt x="0" y="0"/>
                  </a:lnTo>
                  <a:lnTo>
                    <a:pt x="120284" y="0"/>
                  </a:lnTo>
                  <a:cubicBezTo>
                    <a:pt x="121258" y="7801"/>
                    <a:pt x="121758" y="15748"/>
                    <a:pt x="121758" y="23812"/>
                  </a:cubicBezTo>
                  <a:close/>
                </a:path>
              </a:pathLst>
            </a:custGeom>
            <a:solidFill>
              <a:srgbClr val="5E5CE6"/>
            </a:solidFill>
            <a:ln>
              <a:noFill/>
            </a:ln>
          </p:spPr>
        </p:sp>
        <p:sp>
          <p:nvSpPr>
            <p:cNvPr id="23" name="Freeform 23"/>
            <p:cNvSpPr/>
            <p:nvPr/>
          </p:nvSpPr>
          <p:spPr>
            <a:xfrm>
              <a:off x="4919123" y="4539242"/>
              <a:ext cx="162905" cy="104196"/>
            </a:xfrm>
            <a:custGeom>
              <a:avLst/>
              <a:gdLst/>
              <a:ahLst/>
              <a:cxnLst/>
              <a:rect l="l" t="t" r="r" b="b"/>
              <a:pathLst>
                <a:path w="162905" h="104196">
                  <a:moveTo>
                    <a:pt x="60156" y="0"/>
                  </a:moveTo>
                  <a:cubicBezTo>
                    <a:pt x="106755" y="19632"/>
                    <a:pt x="143910" y="57268"/>
                    <a:pt x="162905" y="104196"/>
                  </a:cubicBezTo>
                  <a:lnTo>
                    <a:pt x="0" y="104196"/>
                  </a:lnTo>
                  <a:lnTo>
                    <a:pt x="60156" y="0"/>
                  </a:lnTo>
                  <a:close/>
                </a:path>
              </a:pathLst>
            </a:custGeom>
            <a:solidFill>
              <a:srgbClr val="5E5CE6"/>
            </a:solidFill>
            <a:ln>
              <a:noFill/>
            </a:ln>
          </p:spPr>
        </p:sp>
      </p:grpSp>
      <p:sp>
        <p:nvSpPr>
          <p:cNvPr id="25" name="TextBox 25"/>
          <p:cNvSpPr txBox="1"/>
          <p:nvPr/>
        </p:nvSpPr>
        <p:spPr>
          <a:xfrm>
            <a:off x="5311140" y="4568190"/>
            <a:ext cx="1444495" cy="365760"/>
          </a:xfrm>
          <a:prstGeom prst="rect">
            <a:avLst/>
          </a:prstGeom>
          <a:noFill/>
          <a:ln>
            <a:noFill/>
          </a:ln>
        </p:spPr>
        <p:txBody>
          <a:bodyPr wrap="none" lIns="0" tIns="0" rIns="0" bIns="0" anchor="t" anchorCtr="0">
            <a:spAutoFit/>
          </a:bodyPr>
          <a:lstStyle/>
          <a:p>
            <a:pPr algn="l"/>
            <a:r>
              <a:rPr lang="zh-CN" sz="1800" b="1" dirty="0">
                <a:solidFill>
                  <a:srgbClr val="F5F5F7"/>
                </a:solidFill>
                <a:latin typeface="Segoe UI"/>
                <a:ea typeface="Microsoft YaHei"/>
                <a:cs typeface="Segoe UI"/>
              </a:rPr>
              <a:t>Light Press</a:t>
            </a:r>
          </a:p>
        </p:txBody>
      </p:sp>
      <p:sp>
        <p:nvSpPr>
          <p:cNvPr id="26" name="TextBox 26"/>
          <p:cNvSpPr txBox="1"/>
          <p:nvPr/>
        </p:nvSpPr>
        <p:spPr>
          <a:xfrm>
            <a:off x="4604385" y="5013960"/>
            <a:ext cx="2293620" cy="739140"/>
          </a:xfrm>
          <a:prstGeom prst="rect">
            <a:avLst/>
          </a:prstGeom>
          <a:noFill/>
          <a:ln>
            <a:noFill/>
          </a:ln>
        </p:spPr>
        <p:txBody>
          <a:bodyPr wrap="square" lIns="0" tIns="0" rIns="0" bIns="0" anchor="t" anchorCtr="0"/>
          <a:lstStyle/>
          <a:p>
            <a:pPr algn="l">
              <a:lnSpc>
                <a:spcPts val="1950"/>
              </a:lnSpc>
            </a:pPr>
            <a:r>
              <a:rPr lang="zh-CN" sz="1200" dirty="0">
                <a:solidFill>
                  <a:srgbClr val="E5E5EA"/>
                </a:solidFill>
                <a:latin typeface="Segoe UI"/>
                <a:ea typeface="Microsoft YaHei"/>
                <a:cs typeface="Segoe UI"/>
              </a:rPr>
              <a:t xml:space="preserve">High-precision force sensor — </a:t>
            </a:r>
            <a:r>
              <a:rPr lang="zh-CN" sz="1200" dirty="0">
                <a:solidFill>
                  <a:srgbClr val="E5E5EA"/>
                </a:solidFill>
                <a:latin typeface="Segoe UI"/>
                <a:ea typeface="Microsoft YaHei"/>
                <a:cs typeface="Segoe UI"/>
              </a:rPr>
              <a:t xml:space="preserve">access zoom, exposure, depth </a:t>
            </a:r>
            <a:r>
              <a:rPr lang="zh-CN" sz="1200" dirty="0">
                <a:solidFill>
                  <a:srgbClr val="E5E5EA"/>
                </a:solidFill>
                <a:latin typeface="Segoe UI"/>
                <a:ea typeface="Microsoft YaHei"/>
                <a:cs typeface="Segoe UI"/>
              </a:rPr>
              <a:t>of field on the fly.</a:t>
            </a:r>
          </a:p>
        </p:txBody>
      </p:sp>
      <p:sp>
        <p:nvSpPr>
          <p:cNvPr id="27" name="Rectangle 27"/>
          <p:cNvSpPr/>
          <p:nvPr/>
        </p:nvSpPr>
        <p:spPr>
          <a:xfrm>
            <a:off x="8096250" y="4238625"/>
            <a:ext cx="3524250" cy="1905000"/>
          </a:xfrm>
          <a:prstGeom prst="roundRect">
            <a:avLst>
              <a:gd name="adj" fmla="val 8000"/>
            </a:avLst>
          </a:prstGeom>
          <a:solidFill>
            <a:srgbClr val="15151F"/>
          </a:solidFill>
          <a:ln w="9525">
            <a:solidFill>
              <a:srgbClr val="2A2A3A"/>
            </a:solidFill>
          </a:ln>
        </p:spPr>
      </p:sp>
      <p:sp>
        <p:nvSpPr>
          <p:cNvPr id="28" name="Ellipse 28"/>
          <p:cNvSpPr/>
          <p:nvPr/>
        </p:nvSpPr>
        <p:spPr>
          <a:xfrm>
            <a:off x="8401050" y="4448175"/>
            <a:ext cx="533400" cy="533400"/>
          </a:xfrm>
          <a:prstGeom prst="ellipse">
            <a:avLst/>
          </a:prstGeom>
          <a:gradFill>
            <a:gsLst>
              <a:gs pos="0">
                <a:srgbClr val="0A84FF">
                  <a:alpha val="25000"/>
                </a:srgbClr>
              </a:gs>
              <a:gs pos="60000">
                <a:srgbClr val="0A84FF">
                  <a:alpha val="5000"/>
                </a:srgbClr>
              </a:gs>
              <a:gs pos="100000">
                <a:srgbClr val="0A84FF">
                  <a:alpha val="0"/>
                </a:srgbClr>
              </a:gs>
            </a:gsLst>
            <a:path path="circle">
              <a:fillToRect l="50000" t="50000" r="50000" b="50000"/>
            </a:path>
          </a:gradFill>
          <a:ln>
            <a:noFill/>
          </a:ln>
        </p:spPr>
      </p:sp>
      <p:sp>
        <p:nvSpPr>
          <p:cNvPr id="29" name="Freeform 29"/>
          <p:cNvSpPr/>
          <p:nvPr/>
        </p:nvSpPr>
        <p:spPr>
          <a:xfrm>
            <a:off x="8477250" y="4572000"/>
            <a:ext cx="381000" cy="285750"/>
          </a:xfrm>
          <a:custGeom>
            <a:avLst/>
            <a:gdLst/>
            <a:ahLst/>
            <a:cxnLst/>
            <a:rect l="l" t="t" r="r" b="b"/>
            <a:pathLst>
              <a:path w="381000" h="285750">
                <a:moveTo>
                  <a:pt x="0" y="142875"/>
                </a:moveTo>
                <a:lnTo>
                  <a:pt x="73329" y="54880"/>
                </a:lnTo>
                <a:cubicBezTo>
                  <a:pt x="102308" y="20106"/>
                  <a:pt x="145235" y="0"/>
                  <a:pt x="190500" y="0"/>
                </a:cubicBezTo>
                <a:cubicBezTo>
                  <a:pt x="235765" y="0"/>
                  <a:pt x="278692" y="20106"/>
                  <a:pt x="307672" y="54880"/>
                </a:cubicBezTo>
                <a:lnTo>
                  <a:pt x="381000" y="142875"/>
                </a:lnTo>
                <a:lnTo>
                  <a:pt x="307672" y="230869"/>
                </a:lnTo>
                <a:cubicBezTo>
                  <a:pt x="278692" y="265645"/>
                  <a:pt x="235765" y="285750"/>
                  <a:pt x="190500" y="285750"/>
                </a:cubicBezTo>
                <a:cubicBezTo>
                  <a:pt x="145235" y="285750"/>
                  <a:pt x="102308" y="265645"/>
                  <a:pt x="73329" y="230869"/>
                </a:cubicBezTo>
                <a:lnTo>
                  <a:pt x="0" y="142875"/>
                </a:lnTo>
                <a:close/>
                <a:moveTo>
                  <a:pt x="190500" y="214312"/>
                </a:moveTo>
                <a:cubicBezTo>
                  <a:pt x="229954" y="214312"/>
                  <a:pt x="261938" y="182329"/>
                  <a:pt x="261938" y="142875"/>
                </a:cubicBezTo>
                <a:cubicBezTo>
                  <a:pt x="261938" y="103421"/>
                  <a:pt x="229954" y="71438"/>
                  <a:pt x="190500" y="71438"/>
                </a:cubicBezTo>
                <a:cubicBezTo>
                  <a:pt x="151046" y="71438"/>
                  <a:pt x="119062" y="103421"/>
                  <a:pt x="119062" y="142875"/>
                </a:cubicBezTo>
                <a:cubicBezTo>
                  <a:pt x="119062" y="182329"/>
                  <a:pt x="151046" y="214312"/>
                  <a:pt x="190500" y="214312"/>
                </a:cubicBezTo>
                <a:close/>
              </a:path>
            </a:pathLst>
          </a:custGeom>
          <a:solidFill>
            <a:srgbClr val="30D158"/>
          </a:solidFill>
          <a:ln>
            <a:noFill/>
          </a:ln>
        </p:spPr>
      </p:sp>
      <p:sp>
        <p:nvSpPr>
          <p:cNvPr id="30" name="TextBox 30"/>
          <p:cNvSpPr txBox="1"/>
          <p:nvPr/>
        </p:nvSpPr>
        <p:spPr>
          <a:xfrm>
            <a:off x="9073515" y="4568190"/>
            <a:ext cx="612791" cy="365760"/>
          </a:xfrm>
          <a:prstGeom prst="rect">
            <a:avLst/>
          </a:prstGeom>
          <a:noFill/>
          <a:ln>
            <a:noFill/>
          </a:ln>
        </p:spPr>
        <p:txBody>
          <a:bodyPr wrap="none" lIns="0" tIns="0" rIns="0" bIns="0" anchor="t" anchorCtr="0">
            <a:spAutoFit/>
          </a:bodyPr>
          <a:lstStyle/>
          <a:p>
            <a:pPr algn="l"/>
            <a:r>
              <a:rPr lang="zh-CN" sz="1800" b="1" dirty="0">
                <a:solidFill>
                  <a:srgbClr val="F5F5F7"/>
                </a:solidFill>
                <a:latin typeface="Segoe UI"/>
                <a:ea typeface="Microsoft YaHei"/>
                <a:cs typeface="Segoe UI"/>
              </a:rPr>
              <a:t>Slide</a:t>
            </a:r>
          </a:p>
        </p:txBody>
      </p:sp>
      <p:sp>
        <p:nvSpPr>
          <p:cNvPr id="31" name="TextBox 31"/>
          <p:cNvSpPr txBox="1"/>
          <p:nvPr/>
        </p:nvSpPr>
        <p:spPr>
          <a:xfrm>
            <a:off x="8366760" y="5013960"/>
            <a:ext cx="2369820" cy="739140"/>
          </a:xfrm>
          <a:prstGeom prst="rect">
            <a:avLst/>
          </a:prstGeom>
          <a:noFill/>
          <a:ln>
            <a:noFill/>
          </a:ln>
        </p:spPr>
        <p:txBody>
          <a:bodyPr wrap="square" lIns="0" tIns="0" rIns="0" bIns="0" anchor="t" anchorCtr="0"/>
          <a:lstStyle/>
          <a:p>
            <a:pPr algn="l">
              <a:lnSpc>
                <a:spcPts val="1950"/>
              </a:lnSpc>
            </a:pPr>
            <a:r>
              <a:rPr lang="zh-CN" sz="1200" dirty="0">
                <a:solidFill>
                  <a:srgbClr val="E5E5EA"/>
                </a:solidFill>
                <a:latin typeface="Segoe UI"/>
                <a:ea typeface="Microsoft YaHei"/>
                <a:cs typeface="Segoe UI"/>
              </a:rPr>
              <a:t xml:space="preserve">Capacitive sensor — slide finger </a:t>
            </a:r>
            <a:r>
              <a:rPr lang="zh-CN" sz="1200" dirty="0">
                <a:solidFill>
                  <a:srgbClr val="E5E5EA"/>
                </a:solidFill>
                <a:latin typeface="Segoe UI"/>
                <a:ea typeface="Microsoft YaHei"/>
                <a:cs typeface="Segoe UI"/>
              </a:rPr>
              <a:t xml:space="preserve">to adjust settings, compose </a:t>
            </a:r>
            <a:r>
              <a:rPr lang="zh-CN" sz="1200" dirty="0">
                <a:solidFill>
                  <a:srgbClr val="E5E5EA"/>
                </a:solidFill>
                <a:latin typeface="Segoe UI"/>
                <a:ea typeface="Microsoft YaHei"/>
                <a:cs typeface="Segoe UI"/>
              </a:rPr>
              <a:t>the perfect shot.</a:t>
            </a:r>
          </a:p>
        </p:txBody>
      </p:sp>
      <p:sp>
        <p:nvSpPr>
          <p:cNvPr id="32" name="TextBox 32"/>
          <p:cNvSpPr txBox="1"/>
          <p:nvPr/>
        </p:nvSpPr>
        <p:spPr>
          <a:xfrm>
            <a:off x="11207020" y="6475095"/>
            <a:ext cx="424910" cy="182880"/>
          </a:xfrm>
          <a:prstGeom prst="rect">
            <a:avLst/>
          </a:prstGeom>
          <a:noFill/>
          <a:ln>
            <a:noFill/>
          </a:ln>
        </p:spPr>
        <p:txBody>
          <a:bodyPr wrap="none" lIns="0" tIns="0" rIns="0" bIns="0" anchor="t" anchorCtr="0">
            <a:spAutoFit/>
          </a:bodyPr>
          <a:lstStyle/>
          <a:p>
            <a:pPr algn="r"/>
            <a:r>
              <a:rPr lang="zh-CN" sz="900" dirty="0">
                <a:solidFill>
                  <a:srgbClr val="636366"/>
                </a:solidFill>
                <a:latin typeface="Consolas"/>
                <a:ea typeface="Microsoft YaHei"/>
                <a:cs typeface="Consolas"/>
              </a:rPr>
              <a:t>06 / 09</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A0A0F"/>
          </a:solidFill>
          <a:ln>
            <a:noFill/>
          </a:ln>
        </p:spPr>
      </p:sp>
      <p:sp>
        <p:nvSpPr>
          <p:cNvPr id="3" name="Rectangle 3"/>
          <p:cNvSpPr/>
          <p:nvPr/>
        </p:nvSpPr>
        <p:spPr>
          <a:xfrm>
            <a:off x="571500" y="476250"/>
            <a:ext cx="571500" cy="38100"/>
          </a:xfrm>
          <a:prstGeom prst="roundRect">
            <a:avLst>
              <a:gd name="adj" fmla="val 50000"/>
            </a:avLst>
          </a:prstGeom>
          <a:gradFill>
            <a:gsLst>
              <a:gs pos="0">
                <a:srgbClr val="0A84FF"/>
              </a:gs>
              <a:gs pos="100000">
                <a:srgbClr val="5E5CE6"/>
              </a:gs>
            </a:gsLst>
            <a:lin ang="0" scaled="1"/>
          </a:gradFill>
          <a:ln>
            <a:noFill/>
          </a:ln>
        </p:spPr>
      </p:sp>
      <p:sp>
        <p:nvSpPr>
          <p:cNvPr id="4" name="TextBox 4"/>
          <p:cNvSpPr txBox="1"/>
          <p:nvPr/>
        </p:nvSpPr>
        <p:spPr>
          <a:xfrm>
            <a:off x="537210" y="565785"/>
            <a:ext cx="4435026" cy="548640"/>
          </a:xfrm>
          <a:prstGeom prst="rect">
            <a:avLst/>
          </a:prstGeom>
          <a:noFill/>
          <a:ln>
            <a:noFill/>
          </a:ln>
        </p:spPr>
        <p:txBody>
          <a:bodyPr wrap="none" lIns="0" tIns="0" rIns="0" bIns="0" anchor="t" anchorCtr="0">
            <a:spAutoFit/>
          </a:bodyPr>
          <a:lstStyle/>
          <a:p>
            <a:pPr algn="l"/>
            <a:r>
              <a:rPr lang="zh-CN" sz="2700" b="1" dirty="0">
                <a:solidFill>
                  <a:srgbClr val="F5F5F7"/>
                </a:solidFill>
                <a:latin typeface="Segoe UI"/>
                <a:ea typeface="Microsoft YaHei"/>
                <a:cs typeface="Segoe UI"/>
              </a:rPr>
              <a:t>Pro Camera. Redefined.</a:t>
            </a:r>
          </a:p>
        </p:txBody>
      </p:sp>
      <p:sp>
        <p:nvSpPr>
          <p:cNvPr id="5" name="TextBox 5"/>
          <p:cNvSpPr txBox="1"/>
          <p:nvPr/>
        </p:nvSpPr>
        <p:spPr>
          <a:xfrm>
            <a:off x="554355" y="978218"/>
            <a:ext cx="6020038" cy="274320"/>
          </a:xfrm>
          <a:prstGeom prst="rect">
            <a:avLst/>
          </a:prstGeom>
          <a:noFill/>
          <a:ln>
            <a:noFill/>
          </a:ln>
        </p:spPr>
        <p:txBody>
          <a:bodyPr wrap="none" lIns="0" tIns="0" rIns="0" bIns="0" anchor="t" anchorCtr="0">
            <a:spAutoFit/>
          </a:bodyPr>
          <a:lstStyle/>
          <a:p>
            <a:pPr algn="l"/>
            <a:r>
              <a:rPr lang="zh-CN" sz="1350" dirty="0">
                <a:solidFill>
                  <a:srgbClr val="8E8E93"/>
                </a:solidFill>
                <a:latin typeface="Segoe UI"/>
                <a:ea typeface="Microsoft YaHei"/>
                <a:cs typeface="Segoe UI"/>
              </a:rPr>
              <a:t>48MP Fusion · 48MP Ultra Wide · 5x Telephoto · 4K120fps Dolby Vision</a:t>
            </a:r>
          </a:p>
        </p:txBody>
      </p:sp>
      <p:grpSp>
        <p:nvGrpSpPr>
          <p:cNvPr id="40" name="Group 40"/>
          <p:cNvGrpSpPr/>
          <p:nvPr/>
        </p:nvGrpSpPr>
        <p:grpSpPr>
          <a:xfrm>
            <a:off x="571500" y="1609249"/>
            <a:ext cx="7810500" cy="3453289"/>
            <a:chOff x="571500" y="1609249"/>
            <a:chExt cx="7810500" cy="3453289"/>
          </a:xfrm>
        </p:grpSpPr>
        <p:sp>
          <p:nvSpPr>
            <p:cNvPr id="6" name="Line 6"/>
            <p:cNvSpPr/>
            <p:nvPr/>
          </p:nvSpPr>
          <p:spPr>
            <a:xfrm>
              <a:off x="571500" y="1857375"/>
              <a:ext cx="7810500" cy="9525"/>
            </a:xfrm>
            <a:custGeom>
              <a:avLst/>
              <a:gdLst/>
              <a:ahLst/>
              <a:cxnLst/>
              <a:rect l="l" t="t" r="r" b="b"/>
              <a:pathLst>
                <a:path w="7810500" h="9525">
                  <a:moveTo>
                    <a:pt x="0" y="0"/>
                  </a:moveTo>
                  <a:lnTo>
                    <a:pt x="7810500" y="0"/>
                  </a:lnTo>
                </a:path>
              </a:pathLst>
            </a:custGeom>
            <a:noFill/>
            <a:ln w="19050">
              <a:solidFill>
                <a:srgbClr val="2A2A3A"/>
              </a:solidFill>
            </a:ln>
          </p:spPr>
        </p:sp>
        <p:sp>
          <p:nvSpPr>
            <p:cNvPr id="7" name="TextBox 7"/>
            <p:cNvSpPr txBox="1"/>
            <p:nvPr/>
          </p:nvSpPr>
          <p:spPr>
            <a:xfrm>
              <a:off x="749618" y="1609249"/>
              <a:ext cx="1362632" cy="198120"/>
            </a:xfrm>
            <a:prstGeom prst="rect">
              <a:avLst/>
            </a:prstGeom>
            <a:noFill/>
            <a:ln>
              <a:noFill/>
            </a:ln>
          </p:spPr>
          <p:txBody>
            <a:bodyPr wrap="none" lIns="0" tIns="0" rIns="0" bIns="0" anchor="t" anchorCtr="0">
              <a:spAutoFit/>
            </a:bodyPr>
            <a:lstStyle/>
            <a:p>
              <a:pPr algn="l"/>
              <a:r>
                <a:rPr lang="zh-CN" sz="975" b="1" dirty="0">
                  <a:solidFill>
                    <a:srgbClr val="8E8E93"/>
                  </a:solidFill>
                  <a:latin typeface="Consolas"/>
                  <a:ea typeface="Microsoft YaHei"/>
                  <a:cs typeface="Consolas"/>
                </a:rPr>
                <a:t>PRO CAMERA FEATURE</a:t>
              </a:r>
            </a:p>
          </p:txBody>
        </p:sp>
        <p:sp>
          <p:nvSpPr>
            <p:cNvPr id="8" name="TextBox 8"/>
            <p:cNvSpPr txBox="1"/>
            <p:nvPr/>
          </p:nvSpPr>
          <p:spPr>
            <a:xfrm>
              <a:off x="5837263" y="1609249"/>
              <a:ext cx="898474" cy="198120"/>
            </a:xfrm>
            <a:prstGeom prst="rect">
              <a:avLst/>
            </a:prstGeom>
            <a:noFill/>
            <a:ln>
              <a:noFill/>
            </a:ln>
          </p:spPr>
          <p:txBody>
            <a:bodyPr wrap="none" lIns="0" tIns="0" rIns="0" bIns="0" anchor="t" anchorCtr="0">
              <a:spAutoFit/>
            </a:bodyPr>
            <a:lstStyle/>
            <a:p>
              <a:pPr algn="ctr"/>
              <a:r>
                <a:rPr lang="zh-CN" sz="975" b="1" dirty="0">
                  <a:solidFill>
                    <a:srgbClr val="0A84FF"/>
                  </a:solidFill>
                  <a:latin typeface="Consolas"/>
                  <a:ea typeface="Microsoft YaHei"/>
                  <a:cs typeface="Consolas"/>
                </a:rPr>
                <a:t>iPhone 16 Pro</a:t>
              </a:r>
            </a:p>
          </p:txBody>
        </p:sp>
        <p:sp>
          <p:nvSpPr>
            <p:cNvPr id="9" name="TextBox 9"/>
            <p:cNvSpPr txBox="1"/>
            <p:nvPr/>
          </p:nvSpPr>
          <p:spPr>
            <a:xfrm>
              <a:off x="7348235" y="1609249"/>
              <a:ext cx="543530" cy="198120"/>
            </a:xfrm>
            <a:prstGeom prst="rect">
              <a:avLst/>
            </a:prstGeom>
            <a:noFill/>
            <a:ln>
              <a:noFill/>
            </a:ln>
          </p:spPr>
          <p:txBody>
            <a:bodyPr wrap="none" lIns="0" tIns="0" rIns="0" bIns="0" anchor="t" anchorCtr="0">
              <a:spAutoFit/>
            </a:bodyPr>
            <a:lstStyle/>
            <a:p>
              <a:pPr algn="ctr"/>
              <a:r>
                <a:rPr lang="zh-CN" sz="975" b="1" dirty="0">
                  <a:solidFill>
                    <a:srgbClr val="0A84FF"/>
                  </a:solidFill>
                  <a:latin typeface="Consolas"/>
                  <a:ea typeface="Microsoft YaHei"/>
                  <a:cs typeface="Consolas"/>
                </a:rPr>
                <a:t>Pro Max</a:t>
              </a:r>
            </a:p>
          </p:txBody>
        </p:sp>
        <p:sp>
          <p:nvSpPr>
            <p:cNvPr id="10" name="Rectangle 10"/>
            <p:cNvSpPr/>
            <p:nvPr/>
          </p:nvSpPr>
          <p:spPr>
            <a:xfrm>
              <a:off x="5762625" y="1905000"/>
              <a:ext cx="1047750" cy="3048000"/>
            </a:xfrm>
            <a:prstGeom prst="roundRect">
              <a:avLst>
                <a:gd name="adj" fmla="val 5455"/>
              </a:avLst>
            </a:prstGeom>
            <a:solidFill>
              <a:srgbClr val="0A84FF">
                <a:alpha val="6000"/>
              </a:srgbClr>
            </a:solidFill>
            <a:ln>
              <a:noFill/>
            </a:ln>
          </p:spPr>
        </p:sp>
        <p:sp>
          <p:nvSpPr>
            <p:cNvPr id="11" name="Rectangle 11"/>
            <p:cNvSpPr/>
            <p:nvPr/>
          </p:nvSpPr>
          <p:spPr>
            <a:xfrm>
              <a:off x="7096125" y="1905000"/>
              <a:ext cx="1047750" cy="3048000"/>
            </a:xfrm>
            <a:prstGeom prst="roundRect">
              <a:avLst>
                <a:gd name="adj" fmla="val 5455"/>
              </a:avLst>
            </a:prstGeom>
            <a:solidFill>
              <a:srgbClr val="0A84FF">
                <a:alpha val="6000"/>
              </a:srgbClr>
            </a:solidFill>
            <a:ln>
              <a:noFill/>
            </a:ln>
          </p:spPr>
        </p:sp>
        <p:sp>
          <p:nvSpPr>
            <p:cNvPr id="12" name="Rectangle 12"/>
            <p:cNvSpPr/>
            <p:nvPr/>
          </p:nvSpPr>
          <p:spPr>
            <a:xfrm>
              <a:off x="571500" y="2000250"/>
              <a:ext cx="7810500" cy="304800"/>
            </a:xfrm>
            <a:prstGeom prst="roundRect">
              <a:avLst>
                <a:gd name="adj" fmla="val 12500"/>
              </a:avLst>
            </a:prstGeom>
            <a:solidFill>
              <a:srgbClr val="15151F"/>
            </a:solidFill>
            <a:ln>
              <a:noFill/>
            </a:ln>
          </p:spPr>
        </p:sp>
        <p:sp>
          <p:nvSpPr>
            <p:cNvPr id="13" name="TextBox 13"/>
            <p:cNvSpPr txBox="1"/>
            <p:nvPr/>
          </p:nvSpPr>
          <p:spPr>
            <a:xfrm>
              <a:off x="747712" y="2088356"/>
              <a:ext cx="981569" cy="228600"/>
            </a:xfrm>
            <a:prstGeom prst="rect">
              <a:avLst/>
            </a:prstGeom>
            <a:noFill/>
            <a:ln>
              <a:noFill/>
            </a:ln>
          </p:spPr>
          <p:txBody>
            <a:bodyPr wrap="none" lIns="0" tIns="0" rIns="0" bIns="0" anchor="t" anchorCtr="0">
              <a:spAutoFit/>
            </a:bodyPr>
            <a:lstStyle/>
            <a:p>
              <a:pPr algn="l"/>
              <a:r>
                <a:rPr lang="zh-CN" sz="1125" b="1" dirty="0">
                  <a:solidFill>
                    <a:srgbClr val="F5F5F7"/>
                  </a:solidFill>
                  <a:latin typeface="Segoe UI"/>
                  <a:ea typeface="Microsoft YaHei"/>
                  <a:cs typeface="Segoe UI"/>
                </a:rPr>
                <a:t>Photography</a:t>
              </a:r>
            </a:p>
          </p:txBody>
        </p:sp>
        <p:sp>
          <p:nvSpPr>
            <p:cNvPr id="14" name="Line 14"/>
            <p:cNvSpPr/>
            <p:nvPr/>
          </p:nvSpPr>
          <p:spPr>
            <a:xfrm>
              <a:off x="571500" y="2667000"/>
              <a:ext cx="7810500" cy="9525"/>
            </a:xfrm>
            <a:custGeom>
              <a:avLst/>
              <a:gdLst/>
              <a:ahLst/>
              <a:cxnLst/>
              <a:rect l="l" t="t" r="r" b="b"/>
              <a:pathLst>
                <a:path w="7810500" h="9525">
                  <a:moveTo>
                    <a:pt x="0" y="0"/>
                  </a:moveTo>
                  <a:lnTo>
                    <a:pt x="7810500" y="0"/>
                  </a:lnTo>
                </a:path>
              </a:pathLst>
            </a:custGeom>
            <a:noFill/>
            <a:ln w="9525">
              <a:solidFill>
                <a:srgbClr val="2A2A3A"/>
              </a:solidFill>
            </a:ln>
          </p:spPr>
        </p:sp>
        <p:sp>
          <p:nvSpPr>
            <p:cNvPr id="15" name="TextBox 15"/>
            <p:cNvSpPr txBox="1"/>
            <p:nvPr/>
          </p:nvSpPr>
          <p:spPr>
            <a:xfrm>
              <a:off x="938212" y="2421731"/>
              <a:ext cx="1461254" cy="228600"/>
            </a:xfrm>
            <a:prstGeom prst="rect">
              <a:avLst/>
            </a:prstGeom>
            <a:noFill/>
            <a:ln>
              <a:noFill/>
            </a:ln>
          </p:spPr>
          <p:txBody>
            <a:bodyPr wrap="none" lIns="0" tIns="0" rIns="0" bIns="0" anchor="t" anchorCtr="0">
              <a:spAutoFit/>
            </a:bodyPr>
            <a:lstStyle/>
            <a:p>
              <a:pPr algn="l"/>
              <a:r>
                <a:rPr lang="zh-CN" sz="1125" dirty="0">
                  <a:solidFill>
                    <a:srgbClr val="E5E5EA"/>
                  </a:solidFill>
                  <a:latin typeface="Segoe UI"/>
                  <a:ea typeface="Microsoft YaHei"/>
                  <a:cs typeface="Segoe UI"/>
                </a:rPr>
                <a:t>48MP Fusion Camera</a:t>
              </a:r>
            </a:p>
          </p:txBody>
        </p:sp>
        <p:sp>
          <p:nvSpPr>
            <p:cNvPr id="16" name="TextBox 16"/>
            <p:cNvSpPr txBox="1"/>
            <p:nvPr/>
          </p:nvSpPr>
          <p:spPr>
            <a:xfrm>
              <a:off x="6217374" y="2406968"/>
              <a:ext cx="138253" cy="274320"/>
            </a:xfrm>
            <a:prstGeom prst="rect">
              <a:avLst/>
            </a:prstGeom>
            <a:noFill/>
            <a:ln>
              <a:noFill/>
            </a:ln>
          </p:spPr>
          <p:txBody>
            <a:bodyPr wrap="none" lIns="0" tIns="0" rIns="0" bIns="0" anchor="t" anchorCtr="0">
              <a:spAutoFit/>
            </a:bodyPr>
            <a:lstStyle/>
            <a:p>
              <a:pPr algn="ctr"/>
              <a:r>
                <a:rPr lang="zh-CN" sz="1350" b="1" dirty="0">
                  <a:solidFill>
                    <a:srgbClr val="30D158"/>
                  </a:solidFill>
                  <a:latin typeface="Segoe UI"/>
                  <a:ea typeface="Microsoft YaHei"/>
                  <a:cs typeface="Segoe UI"/>
                </a:rPr>
                <a:t>✓</a:t>
              </a:r>
            </a:p>
          </p:txBody>
        </p:sp>
        <p:sp>
          <p:nvSpPr>
            <p:cNvPr id="17" name="TextBox 17"/>
            <p:cNvSpPr txBox="1"/>
            <p:nvPr/>
          </p:nvSpPr>
          <p:spPr>
            <a:xfrm>
              <a:off x="7550874" y="2406968"/>
              <a:ext cx="138253" cy="274320"/>
            </a:xfrm>
            <a:prstGeom prst="rect">
              <a:avLst/>
            </a:prstGeom>
            <a:noFill/>
            <a:ln>
              <a:noFill/>
            </a:ln>
          </p:spPr>
          <p:txBody>
            <a:bodyPr wrap="none" lIns="0" tIns="0" rIns="0" bIns="0" anchor="t" anchorCtr="0">
              <a:spAutoFit/>
            </a:bodyPr>
            <a:lstStyle/>
            <a:p>
              <a:pPr algn="ctr"/>
              <a:r>
                <a:rPr lang="zh-CN" sz="1350" b="1" dirty="0">
                  <a:solidFill>
                    <a:srgbClr val="30D158"/>
                  </a:solidFill>
                  <a:latin typeface="Segoe UI"/>
                  <a:ea typeface="Microsoft YaHei"/>
                  <a:cs typeface="Segoe UI"/>
                </a:rPr>
                <a:t>✓</a:t>
              </a:r>
            </a:p>
          </p:txBody>
        </p:sp>
        <p:sp>
          <p:nvSpPr>
            <p:cNvPr id="18" name="Line 18"/>
            <p:cNvSpPr/>
            <p:nvPr/>
          </p:nvSpPr>
          <p:spPr>
            <a:xfrm>
              <a:off x="571500" y="3048000"/>
              <a:ext cx="7810500" cy="9525"/>
            </a:xfrm>
            <a:custGeom>
              <a:avLst/>
              <a:gdLst/>
              <a:ahLst/>
              <a:cxnLst/>
              <a:rect l="l" t="t" r="r" b="b"/>
              <a:pathLst>
                <a:path w="7810500" h="9525">
                  <a:moveTo>
                    <a:pt x="0" y="0"/>
                  </a:moveTo>
                  <a:lnTo>
                    <a:pt x="7810500" y="0"/>
                  </a:lnTo>
                </a:path>
              </a:pathLst>
            </a:custGeom>
            <a:noFill/>
            <a:ln w="9525">
              <a:solidFill>
                <a:srgbClr val="2A2A3A"/>
              </a:solidFill>
            </a:ln>
          </p:spPr>
        </p:sp>
        <p:sp>
          <p:nvSpPr>
            <p:cNvPr id="19" name="TextBox 19"/>
            <p:cNvSpPr txBox="1"/>
            <p:nvPr/>
          </p:nvSpPr>
          <p:spPr>
            <a:xfrm>
              <a:off x="938212" y="2802731"/>
              <a:ext cx="2128838" cy="228600"/>
            </a:xfrm>
            <a:prstGeom prst="rect">
              <a:avLst/>
            </a:prstGeom>
            <a:noFill/>
            <a:ln>
              <a:noFill/>
            </a:ln>
          </p:spPr>
          <p:txBody>
            <a:bodyPr wrap="none" lIns="0" tIns="0" rIns="0" bIns="0" anchor="t" anchorCtr="0">
              <a:spAutoFit/>
            </a:bodyPr>
            <a:lstStyle/>
            <a:p>
              <a:pPr algn="l"/>
              <a:r>
                <a:rPr lang="zh-CN" sz="1125" dirty="0">
                  <a:solidFill>
                    <a:srgbClr val="E5E5EA"/>
                  </a:solidFill>
                  <a:latin typeface="Segoe UI"/>
                  <a:ea typeface="Microsoft YaHei"/>
                  <a:cs typeface="Segoe UI"/>
                </a:rPr>
                <a:t>48MP Ultra Wide (autofocus)</a:t>
              </a:r>
            </a:p>
          </p:txBody>
        </p:sp>
        <p:sp>
          <p:nvSpPr>
            <p:cNvPr id="20" name="TextBox 20"/>
            <p:cNvSpPr txBox="1"/>
            <p:nvPr/>
          </p:nvSpPr>
          <p:spPr>
            <a:xfrm>
              <a:off x="6217374" y="2787968"/>
              <a:ext cx="138253" cy="274320"/>
            </a:xfrm>
            <a:prstGeom prst="rect">
              <a:avLst/>
            </a:prstGeom>
            <a:noFill/>
            <a:ln>
              <a:noFill/>
            </a:ln>
          </p:spPr>
          <p:txBody>
            <a:bodyPr wrap="none" lIns="0" tIns="0" rIns="0" bIns="0" anchor="t" anchorCtr="0">
              <a:spAutoFit/>
            </a:bodyPr>
            <a:lstStyle/>
            <a:p>
              <a:pPr algn="ctr"/>
              <a:r>
                <a:rPr lang="zh-CN" sz="1350" b="1" dirty="0">
                  <a:solidFill>
                    <a:srgbClr val="30D158"/>
                  </a:solidFill>
                  <a:latin typeface="Segoe UI"/>
                  <a:ea typeface="Microsoft YaHei"/>
                  <a:cs typeface="Segoe UI"/>
                </a:rPr>
                <a:t>✓</a:t>
              </a:r>
            </a:p>
          </p:txBody>
        </p:sp>
        <p:sp>
          <p:nvSpPr>
            <p:cNvPr id="21" name="TextBox 21"/>
            <p:cNvSpPr txBox="1"/>
            <p:nvPr/>
          </p:nvSpPr>
          <p:spPr>
            <a:xfrm>
              <a:off x="7550874" y="2787968"/>
              <a:ext cx="138253" cy="274320"/>
            </a:xfrm>
            <a:prstGeom prst="rect">
              <a:avLst/>
            </a:prstGeom>
            <a:noFill/>
            <a:ln>
              <a:noFill/>
            </a:ln>
          </p:spPr>
          <p:txBody>
            <a:bodyPr wrap="none" lIns="0" tIns="0" rIns="0" bIns="0" anchor="t" anchorCtr="0">
              <a:spAutoFit/>
            </a:bodyPr>
            <a:lstStyle/>
            <a:p>
              <a:pPr algn="ctr"/>
              <a:r>
                <a:rPr lang="zh-CN" sz="1350" b="1" dirty="0">
                  <a:solidFill>
                    <a:srgbClr val="30D158"/>
                  </a:solidFill>
                  <a:latin typeface="Segoe UI"/>
                  <a:ea typeface="Microsoft YaHei"/>
                  <a:cs typeface="Segoe UI"/>
                </a:rPr>
                <a:t>✓</a:t>
              </a:r>
            </a:p>
          </p:txBody>
        </p:sp>
        <p:sp>
          <p:nvSpPr>
            <p:cNvPr id="22" name="Line 22"/>
            <p:cNvSpPr/>
            <p:nvPr/>
          </p:nvSpPr>
          <p:spPr>
            <a:xfrm>
              <a:off x="571500" y="3429000"/>
              <a:ext cx="7810500" cy="9525"/>
            </a:xfrm>
            <a:custGeom>
              <a:avLst/>
              <a:gdLst/>
              <a:ahLst/>
              <a:cxnLst/>
              <a:rect l="l" t="t" r="r" b="b"/>
              <a:pathLst>
                <a:path w="7810500" h="9525">
                  <a:moveTo>
                    <a:pt x="0" y="0"/>
                  </a:moveTo>
                  <a:lnTo>
                    <a:pt x="7810500" y="0"/>
                  </a:lnTo>
                </a:path>
              </a:pathLst>
            </a:custGeom>
            <a:noFill/>
            <a:ln w="9525">
              <a:solidFill>
                <a:srgbClr val="2A2A3A"/>
              </a:solidFill>
            </a:ln>
          </p:spPr>
        </p:sp>
        <p:sp>
          <p:nvSpPr>
            <p:cNvPr id="23" name="TextBox 23"/>
            <p:cNvSpPr txBox="1"/>
            <p:nvPr/>
          </p:nvSpPr>
          <p:spPr>
            <a:xfrm>
              <a:off x="938212" y="3183731"/>
              <a:ext cx="2128838" cy="228600"/>
            </a:xfrm>
            <a:prstGeom prst="rect">
              <a:avLst/>
            </a:prstGeom>
            <a:noFill/>
            <a:ln>
              <a:noFill/>
            </a:ln>
          </p:spPr>
          <p:txBody>
            <a:bodyPr wrap="none" lIns="0" tIns="0" rIns="0" bIns="0" anchor="t" anchorCtr="0">
              <a:spAutoFit/>
            </a:bodyPr>
            <a:lstStyle/>
            <a:p>
              <a:pPr algn="l"/>
              <a:r>
                <a:rPr lang="zh-CN" sz="1125" dirty="0">
                  <a:solidFill>
                    <a:srgbClr val="E5E5EA"/>
                  </a:solidFill>
                  <a:latin typeface="Segoe UI"/>
                  <a:ea typeface="Microsoft YaHei"/>
                  <a:cs typeface="Segoe UI"/>
                </a:rPr>
                <a:t>5x Telephoto (120mm equiv.)</a:t>
              </a:r>
            </a:p>
          </p:txBody>
        </p:sp>
        <p:sp>
          <p:nvSpPr>
            <p:cNvPr id="24" name="TextBox 24"/>
            <p:cNvSpPr txBox="1"/>
            <p:nvPr/>
          </p:nvSpPr>
          <p:spPr>
            <a:xfrm>
              <a:off x="6217374" y="3168968"/>
              <a:ext cx="138253" cy="274320"/>
            </a:xfrm>
            <a:prstGeom prst="rect">
              <a:avLst/>
            </a:prstGeom>
            <a:noFill/>
            <a:ln>
              <a:noFill/>
            </a:ln>
          </p:spPr>
          <p:txBody>
            <a:bodyPr wrap="none" lIns="0" tIns="0" rIns="0" bIns="0" anchor="t" anchorCtr="0">
              <a:spAutoFit/>
            </a:bodyPr>
            <a:lstStyle/>
            <a:p>
              <a:pPr algn="ctr"/>
              <a:r>
                <a:rPr lang="zh-CN" sz="1350" b="1" dirty="0">
                  <a:solidFill>
                    <a:srgbClr val="30D158"/>
                  </a:solidFill>
                  <a:latin typeface="Segoe UI"/>
                  <a:ea typeface="Microsoft YaHei"/>
                  <a:cs typeface="Segoe UI"/>
                </a:rPr>
                <a:t>✓</a:t>
              </a:r>
            </a:p>
          </p:txBody>
        </p:sp>
        <p:sp>
          <p:nvSpPr>
            <p:cNvPr id="25" name="TextBox 25"/>
            <p:cNvSpPr txBox="1"/>
            <p:nvPr/>
          </p:nvSpPr>
          <p:spPr>
            <a:xfrm>
              <a:off x="7550874" y="3168968"/>
              <a:ext cx="138253" cy="274320"/>
            </a:xfrm>
            <a:prstGeom prst="rect">
              <a:avLst/>
            </a:prstGeom>
            <a:noFill/>
            <a:ln>
              <a:noFill/>
            </a:ln>
          </p:spPr>
          <p:txBody>
            <a:bodyPr wrap="none" lIns="0" tIns="0" rIns="0" bIns="0" anchor="t" anchorCtr="0">
              <a:spAutoFit/>
            </a:bodyPr>
            <a:lstStyle/>
            <a:p>
              <a:pPr algn="ctr"/>
              <a:r>
                <a:rPr lang="zh-CN" sz="1350" b="1" dirty="0">
                  <a:solidFill>
                    <a:srgbClr val="30D158"/>
                  </a:solidFill>
                  <a:latin typeface="Segoe UI"/>
                  <a:ea typeface="Microsoft YaHei"/>
                  <a:cs typeface="Segoe UI"/>
                </a:rPr>
                <a:t>✓</a:t>
              </a:r>
            </a:p>
          </p:txBody>
        </p:sp>
        <p:sp>
          <p:nvSpPr>
            <p:cNvPr id="26" name="Line 26"/>
            <p:cNvSpPr/>
            <p:nvPr/>
          </p:nvSpPr>
          <p:spPr>
            <a:xfrm>
              <a:off x="571500" y="3810000"/>
              <a:ext cx="7810500" cy="9525"/>
            </a:xfrm>
            <a:custGeom>
              <a:avLst/>
              <a:gdLst/>
              <a:ahLst/>
              <a:cxnLst/>
              <a:rect l="l" t="t" r="r" b="b"/>
              <a:pathLst>
                <a:path w="7810500" h="9525">
                  <a:moveTo>
                    <a:pt x="0" y="0"/>
                  </a:moveTo>
                  <a:lnTo>
                    <a:pt x="7810500" y="0"/>
                  </a:lnTo>
                </a:path>
              </a:pathLst>
            </a:custGeom>
            <a:noFill/>
            <a:ln w="9525">
              <a:solidFill>
                <a:srgbClr val="2A2A3A"/>
              </a:solidFill>
            </a:ln>
          </p:spPr>
        </p:sp>
        <p:sp>
          <p:nvSpPr>
            <p:cNvPr id="27" name="TextBox 27"/>
            <p:cNvSpPr txBox="1"/>
            <p:nvPr/>
          </p:nvSpPr>
          <p:spPr>
            <a:xfrm>
              <a:off x="938212" y="3564731"/>
              <a:ext cx="2391370" cy="228600"/>
            </a:xfrm>
            <a:prstGeom prst="rect">
              <a:avLst/>
            </a:prstGeom>
            <a:noFill/>
            <a:ln>
              <a:noFill/>
            </a:ln>
          </p:spPr>
          <p:txBody>
            <a:bodyPr wrap="none" lIns="0" tIns="0" rIns="0" bIns="0" anchor="t" anchorCtr="0">
              <a:spAutoFit/>
            </a:bodyPr>
            <a:lstStyle/>
            <a:p>
              <a:pPr algn="l"/>
              <a:r>
                <a:rPr lang="zh-CN" sz="1125" dirty="0">
                  <a:solidFill>
                    <a:srgbClr val="E5E5EA"/>
                  </a:solidFill>
                  <a:latin typeface="Segoe UI"/>
                  <a:ea typeface="Microsoft YaHei"/>
                  <a:cs typeface="Segoe UI"/>
                </a:rPr>
                <a:t>Photographic Styles (real-time)</a:t>
              </a:r>
            </a:p>
          </p:txBody>
        </p:sp>
        <p:sp>
          <p:nvSpPr>
            <p:cNvPr id="28" name="TextBox 28"/>
            <p:cNvSpPr txBox="1"/>
            <p:nvPr/>
          </p:nvSpPr>
          <p:spPr>
            <a:xfrm>
              <a:off x="6217374" y="3549968"/>
              <a:ext cx="138253" cy="274320"/>
            </a:xfrm>
            <a:prstGeom prst="rect">
              <a:avLst/>
            </a:prstGeom>
            <a:noFill/>
            <a:ln>
              <a:noFill/>
            </a:ln>
          </p:spPr>
          <p:txBody>
            <a:bodyPr wrap="none" lIns="0" tIns="0" rIns="0" bIns="0" anchor="t" anchorCtr="0">
              <a:spAutoFit/>
            </a:bodyPr>
            <a:lstStyle/>
            <a:p>
              <a:pPr algn="ctr"/>
              <a:r>
                <a:rPr lang="zh-CN" sz="1350" b="1" dirty="0">
                  <a:solidFill>
                    <a:srgbClr val="30D158"/>
                  </a:solidFill>
                  <a:latin typeface="Segoe UI"/>
                  <a:ea typeface="Microsoft YaHei"/>
                  <a:cs typeface="Segoe UI"/>
                </a:rPr>
                <a:t>✓</a:t>
              </a:r>
            </a:p>
          </p:txBody>
        </p:sp>
        <p:sp>
          <p:nvSpPr>
            <p:cNvPr id="29" name="TextBox 29"/>
            <p:cNvSpPr txBox="1"/>
            <p:nvPr/>
          </p:nvSpPr>
          <p:spPr>
            <a:xfrm>
              <a:off x="7550874" y="3549968"/>
              <a:ext cx="138253" cy="274320"/>
            </a:xfrm>
            <a:prstGeom prst="rect">
              <a:avLst/>
            </a:prstGeom>
            <a:noFill/>
            <a:ln>
              <a:noFill/>
            </a:ln>
          </p:spPr>
          <p:txBody>
            <a:bodyPr wrap="none" lIns="0" tIns="0" rIns="0" bIns="0" anchor="t" anchorCtr="0">
              <a:spAutoFit/>
            </a:bodyPr>
            <a:lstStyle/>
            <a:p>
              <a:pPr algn="ctr"/>
              <a:r>
                <a:rPr lang="zh-CN" sz="1350" b="1" dirty="0">
                  <a:solidFill>
                    <a:srgbClr val="30D158"/>
                  </a:solidFill>
                  <a:latin typeface="Segoe UI"/>
                  <a:ea typeface="Microsoft YaHei"/>
                  <a:cs typeface="Segoe UI"/>
                </a:rPr>
                <a:t>✓</a:t>
              </a:r>
            </a:p>
          </p:txBody>
        </p:sp>
        <p:sp>
          <p:nvSpPr>
            <p:cNvPr id="30" name="Rectangle 30"/>
            <p:cNvSpPr/>
            <p:nvPr/>
          </p:nvSpPr>
          <p:spPr>
            <a:xfrm>
              <a:off x="571500" y="4000500"/>
              <a:ext cx="7810500" cy="304800"/>
            </a:xfrm>
            <a:prstGeom prst="roundRect">
              <a:avLst>
                <a:gd name="adj" fmla="val 12500"/>
              </a:avLst>
            </a:prstGeom>
            <a:solidFill>
              <a:srgbClr val="15151F"/>
            </a:solidFill>
            <a:ln>
              <a:noFill/>
            </a:ln>
          </p:spPr>
        </p:sp>
        <p:sp>
          <p:nvSpPr>
            <p:cNvPr id="31" name="TextBox 31"/>
            <p:cNvSpPr txBox="1"/>
            <p:nvPr/>
          </p:nvSpPr>
          <p:spPr>
            <a:xfrm>
              <a:off x="747712" y="4088606"/>
              <a:ext cx="997321" cy="228600"/>
            </a:xfrm>
            <a:prstGeom prst="rect">
              <a:avLst/>
            </a:prstGeom>
            <a:noFill/>
            <a:ln>
              <a:noFill/>
            </a:ln>
          </p:spPr>
          <p:txBody>
            <a:bodyPr wrap="none" lIns="0" tIns="0" rIns="0" bIns="0" anchor="t" anchorCtr="0">
              <a:spAutoFit/>
            </a:bodyPr>
            <a:lstStyle/>
            <a:p>
              <a:pPr algn="l"/>
              <a:r>
                <a:rPr lang="zh-CN" sz="1125" b="1" dirty="0">
                  <a:solidFill>
                    <a:srgbClr val="F5F5F7"/>
                  </a:solidFill>
                  <a:latin typeface="Segoe UI"/>
                  <a:ea typeface="Microsoft YaHei"/>
                  <a:cs typeface="Segoe UI"/>
                </a:rPr>
                <a:t>Video &amp; Audio</a:t>
              </a:r>
            </a:p>
          </p:txBody>
        </p:sp>
        <p:sp>
          <p:nvSpPr>
            <p:cNvPr id="32" name="Line 32"/>
            <p:cNvSpPr/>
            <p:nvPr/>
          </p:nvSpPr>
          <p:spPr>
            <a:xfrm>
              <a:off x="571500" y="4667250"/>
              <a:ext cx="7810500" cy="9525"/>
            </a:xfrm>
            <a:custGeom>
              <a:avLst/>
              <a:gdLst/>
              <a:ahLst/>
              <a:cxnLst/>
              <a:rect l="l" t="t" r="r" b="b"/>
              <a:pathLst>
                <a:path w="7810500" h="9525">
                  <a:moveTo>
                    <a:pt x="0" y="0"/>
                  </a:moveTo>
                  <a:lnTo>
                    <a:pt x="7810500" y="0"/>
                  </a:lnTo>
                </a:path>
              </a:pathLst>
            </a:custGeom>
            <a:noFill/>
            <a:ln w="9525">
              <a:solidFill>
                <a:srgbClr val="2A2A3A"/>
              </a:solidFill>
            </a:ln>
          </p:spPr>
        </p:sp>
        <p:sp>
          <p:nvSpPr>
            <p:cNvPr id="33" name="TextBox 33"/>
            <p:cNvSpPr txBox="1"/>
            <p:nvPr/>
          </p:nvSpPr>
          <p:spPr>
            <a:xfrm>
              <a:off x="938212" y="4421981"/>
              <a:ext cx="1573768" cy="228600"/>
            </a:xfrm>
            <a:prstGeom prst="rect">
              <a:avLst/>
            </a:prstGeom>
            <a:noFill/>
            <a:ln>
              <a:noFill/>
            </a:ln>
          </p:spPr>
          <p:txBody>
            <a:bodyPr wrap="none" lIns="0" tIns="0" rIns="0" bIns="0" anchor="t" anchorCtr="0">
              <a:spAutoFit/>
            </a:bodyPr>
            <a:lstStyle/>
            <a:p>
              <a:pPr algn="l"/>
              <a:r>
                <a:rPr lang="zh-CN" sz="1125" dirty="0">
                  <a:solidFill>
                    <a:srgbClr val="E5E5EA"/>
                  </a:solidFill>
                  <a:latin typeface="Segoe UI"/>
                  <a:ea typeface="Microsoft YaHei"/>
                  <a:cs typeface="Segoe UI"/>
                </a:rPr>
                <a:t>4K120fps Dolby Vision</a:t>
              </a:r>
            </a:p>
          </p:txBody>
        </p:sp>
        <p:sp>
          <p:nvSpPr>
            <p:cNvPr id="34" name="TextBox 34"/>
            <p:cNvSpPr txBox="1"/>
            <p:nvPr/>
          </p:nvSpPr>
          <p:spPr>
            <a:xfrm>
              <a:off x="6217374" y="4407218"/>
              <a:ext cx="138253" cy="274320"/>
            </a:xfrm>
            <a:prstGeom prst="rect">
              <a:avLst/>
            </a:prstGeom>
            <a:noFill/>
            <a:ln>
              <a:noFill/>
            </a:ln>
          </p:spPr>
          <p:txBody>
            <a:bodyPr wrap="none" lIns="0" tIns="0" rIns="0" bIns="0" anchor="t" anchorCtr="0">
              <a:spAutoFit/>
            </a:bodyPr>
            <a:lstStyle/>
            <a:p>
              <a:pPr algn="ctr"/>
              <a:r>
                <a:rPr lang="zh-CN" sz="1350" b="1" dirty="0">
                  <a:solidFill>
                    <a:srgbClr val="30D158"/>
                  </a:solidFill>
                  <a:latin typeface="Segoe UI"/>
                  <a:ea typeface="Microsoft YaHei"/>
                  <a:cs typeface="Segoe UI"/>
                </a:rPr>
                <a:t>✓</a:t>
              </a:r>
            </a:p>
          </p:txBody>
        </p:sp>
        <p:sp>
          <p:nvSpPr>
            <p:cNvPr id="35" name="TextBox 35"/>
            <p:cNvSpPr txBox="1"/>
            <p:nvPr/>
          </p:nvSpPr>
          <p:spPr>
            <a:xfrm>
              <a:off x="7550874" y="4407218"/>
              <a:ext cx="138253" cy="274320"/>
            </a:xfrm>
            <a:prstGeom prst="rect">
              <a:avLst/>
            </a:prstGeom>
            <a:noFill/>
            <a:ln>
              <a:noFill/>
            </a:ln>
          </p:spPr>
          <p:txBody>
            <a:bodyPr wrap="none" lIns="0" tIns="0" rIns="0" bIns="0" anchor="t" anchorCtr="0">
              <a:spAutoFit/>
            </a:bodyPr>
            <a:lstStyle/>
            <a:p>
              <a:pPr algn="ctr"/>
              <a:r>
                <a:rPr lang="zh-CN" sz="1350" b="1" dirty="0">
                  <a:solidFill>
                    <a:srgbClr val="30D158"/>
                  </a:solidFill>
                  <a:latin typeface="Segoe UI"/>
                  <a:ea typeface="Microsoft YaHei"/>
                  <a:cs typeface="Segoe UI"/>
                </a:rPr>
                <a:t>✓</a:t>
              </a:r>
            </a:p>
          </p:txBody>
        </p:sp>
        <p:sp>
          <p:nvSpPr>
            <p:cNvPr id="36" name="Line 36"/>
            <p:cNvSpPr/>
            <p:nvPr/>
          </p:nvSpPr>
          <p:spPr>
            <a:xfrm>
              <a:off x="571500" y="5048250"/>
              <a:ext cx="7810500" cy="9525"/>
            </a:xfrm>
            <a:custGeom>
              <a:avLst/>
              <a:gdLst/>
              <a:ahLst/>
              <a:cxnLst/>
              <a:rect l="l" t="t" r="r" b="b"/>
              <a:pathLst>
                <a:path w="7810500" h="9525">
                  <a:moveTo>
                    <a:pt x="0" y="0"/>
                  </a:moveTo>
                  <a:lnTo>
                    <a:pt x="7810500" y="0"/>
                  </a:lnTo>
                </a:path>
              </a:pathLst>
            </a:custGeom>
            <a:noFill/>
            <a:ln w="9525">
              <a:solidFill>
                <a:srgbClr val="2A2A3A"/>
              </a:solidFill>
            </a:ln>
          </p:spPr>
        </p:sp>
        <p:sp>
          <p:nvSpPr>
            <p:cNvPr id="37" name="TextBox 37"/>
            <p:cNvSpPr txBox="1"/>
            <p:nvPr/>
          </p:nvSpPr>
          <p:spPr>
            <a:xfrm>
              <a:off x="938212" y="4802981"/>
              <a:ext cx="1686282" cy="228600"/>
            </a:xfrm>
            <a:prstGeom prst="rect">
              <a:avLst/>
            </a:prstGeom>
            <a:noFill/>
            <a:ln>
              <a:noFill/>
            </a:ln>
          </p:spPr>
          <p:txBody>
            <a:bodyPr wrap="none" lIns="0" tIns="0" rIns="0" bIns="0" anchor="t" anchorCtr="0">
              <a:spAutoFit/>
            </a:bodyPr>
            <a:lstStyle/>
            <a:p>
              <a:pPr algn="l"/>
              <a:r>
                <a:rPr lang="zh-CN" sz="1125" dirty="0">
                  <a:solidFill>
                    <a:srgbClr val="E5E5EA"/>
                  </a:solidFill>
                  <a:latin typeface="Segoe UI"/>
                  <a:ea typeface="Microsoft YaHei"/>
                  <a:cs typeface="Segoe UI"/>
                </a:rPr>
                <a:t>Studio Mics + Audio Mix</a:t>
              </a:r>
            </a:p>
          </p:txBody>
        </p:sp>
        <p:sp>
          <p:nvSpPr>
            <p:cNvPr id="38" name="TextBox 38"/>
            <p:cNvSpPr txBox="1"/>
            <p:nvPr/>
          </p:nvSpPr>
          <p:spPr>
            <a:xfrm>
              <a:off x="6217374" y="4788218"/>
              <a:ext cx="138253" cy="274320"/>
            </a:xfrm>
            <a:prstGeom prst="rect">
              <a:avLst/>
            </a:prstGeom>
            <a:noFill/>
            <a:ln>
              <a:noFill/>
            </a:ln>
          </p:spPr>
          <p:txBody>
            <a:bodyPr wrap="none" lIns="0" tIns="0" rIns="0" bIns="0" anchor="t" anchorCtr="0">
              <a:spAutoFit/>
            </a:bodyPr>
            <a:lstStyle/>
            <a:p>
              <a:pPr algn="ctr"/>
              <a:r>
                <a:rPr lang="zh-CN" sz="1350" b="1" dirty="0">
                  <a:solidFill>
                    <a:srgbClr val="30D158"/>
                  </a:solidFill>
                  <a:latin typeface="Segoe UI"/>
                  <a:ea typeface="Microsoft YaHei"/>
                  <a:cs typeface="Segoe UI"/>
                </a:rPr>
                <a:t>✓</a:t>
              </a:r>
            </a:p>
          </p:txBody>
        </p:sp>
        <p:sp>
          <p:nvSpPr>
            <p:cNvPr id="39" name="TextBox 39"/>
            <p:cNvSpPr txBox="1"/>
            <p:nvPr/>
          </p:nvSpPr>
          <p:spPr>
            <a:xfrm>
              <a:off x="7550874" y="4788218"/>
              <a:ext cx="138253" cy="274320"/>
            </a:xfrm>
            <a:prstGeom prst="rect">
              <a:avLst/>
            </a:prstGeom>
            <a:noFill/>
            <a:ln>
              <a:noFill/>
            </a:ln>
          </p:spPr>
          <p:txBody>
            <a:bodyPr wrap="none" lIns="0" tIns="0" rIns="0" bIns="0" anchor="t" anchorCtr="0">
              <a:spAutoFit/>
            </a:bodyPr>
            <a:lstStyle/>
            <a:p>
              <a:pPr algn="ctr"/>
              <a:r>
                <a:rPr lang="zh-CN" sz="1350" b="1" dirty="0">
                  <a:solidFill>
                    <a:srgbClr val="30D158"/>
                  </a:solidFill>
                  <a:latin typeface="Segoe UI"/>
                  <a:ea typeface="Microsoft YaHei"/>
                  <a:cs typeface="Segoe UI"/>
                </a:rPr>
                <a:t>✓</a:t>
              </a:r>
            </a:p>
          </p:txBody>
        </p:sp>
      </p:grpSp>
      <p:pic>
        <p:nvPicPr>
          <p:cNvPr id="41" name="Image 41"/>
          <p:cNvPicPr>
            <a:picLocks noChangeAspect="1"/>
          </p:cNvPicPr>
          <p:nvPr/>
        </p:nvPicPr>
        <p:blipFill>
          <a:blip r:embed="rId2"/>
          <a:srcRect l="0" t="2381" r="0" b="2381"/>
          <a:stretch>
            <a:fillRect/>
          </a:stretch>
        </p:blipFill>
        <p:spPr>
          <a:xfrm>
            <a:off x="9048750" y="1476375"/>
            <a:ext cx="2667000" cy="1905000"/>
          </a:xfrm>
          <a:prstGeom prst="roundRect">
            <a:avLst>
              <a:gd name="adj" fmla="val 8000"/>
            </a:avLst>
          </a:prstGeom>
        </p:spPr>
      </p:pic>
      <p:sp>
        <p:nvSpPr>
          <p:cNvPr id="42" name="TextBox 42"/>
          <p:cNvSpPr txBox="1"/>
          <p:nvPr/>
        </p:nvSpPr>
        <p:spPr>
          <a:xfrm>
            <a:off x="9037320" y="3474720"/>
            <a:ext cx="2087118" cy="182880"/>
          </a:xfrm>
          <a:prstGeom prst="rect">
            <a:avLst/>
          </a:prstGeom>
          <a:noFill/>
          <a:ln>
            <a:noFill/>
          </a:ln>
        </p:spPr>
        <p:txBody>
          <a:bodyPr wrap="none" lIns="0" tIns="0" rIns="0" bIns="0" anchor="t" anchorCtr="0">
            <a:spAutoFit/>
          </a:bodyPr>
          <a:lstStyle/>
          <a:p>
            <a:pPr algn="l"/>
            <a:r>
              <a:rPr lang="zh-CN" sz="900" dirty="0">
                <a:solidFill>
                  <a:srgbClr val="636366"/>
                </a:solidFill>
                <a:latin typeface="Consolas"/>
                <a:ea typeface="Microsoft YaHei"/>
                <a:cs typeface="Consolas"/>
              </a:rPr>
              <a:t>Shot on iPhone 16 Pro — 48MP Fusion</a:t>
            </a:r>
          </a:p>
        </p:txBody>
      </p:sp>
      <p:sp>
        <p:nvSpPr>
          <p:cNvPr id="43" name="Rectangle 43"/>
          <p:cNvSpPr/>
          <p:nvPr/>
        </p:nvSpPr>
        <p:spPr>
          <a:xfrm>
            <a:off x="9048750" y="3762375"/>
            <a:ext cx="2667000" cy="619125"/>
          </a:xfrm>
          <a:prstGeom prst="roundRect">
            <a:avLst>
              <a:gd name="adj" fmla="val 15385"/>
            </a:avLst>
          </a:prstGeom>
          <a:solidFill>
            <a:srgbClr val="15151F"/>
          </a:solidFill>
          <a:ln w="9525">
            <a:solidFill>
              <a:srgbClr val="2A2A3A"/>
            </a:solidFill>
          </a:ln>
        </p:spPr>
      </p:sp>
      <p:grpSp>
        <p:nvGrpSpPr>
          <p:cNvPr id="50" name="Group 50"/>
          <p:cNvGrpSpPr/>
          <p:nvPr/>
        </p:nvGrpSpPr>
        <p:grpSpPr>
          <a:xfrm>
            <a:off x="9191625" y="3924300"/>
            <a:ext cx="228600" cy="228600"/>
            <a:chOff x="9191625" y="3924300"/>
            <a:chExt cx="228600" cy="228600"/>
          </a:xfrm>
        </p:grpSpPr>
        <p:sp>
          <p:nvSpPr>
            <p:cNvPr id="44" name="Freeform 44"/>
            <p:cNvSpPr/>
            <p:nvPr/>
          </p:nvSpPr>
          <p:spPr>
            <a:xfrm>
              <a:off x="9236847" y="3924300"/>
              <a:ext cx="84945" cy="85725"/>
            </a:xfrm>
            <a:custGeom>
              <a:avLst/>
              <a:gdLst/>
              <a:ahLst/>
              <a:cxnLst/>
              <a:rect l="l" t="t" r="r" b="b"/>
              <a:pathLst>
                <a:path w="84945" h="85725">
                  <a:moveTo>
                    <a:pt x="36083" y="85725"/>
                  </a:moveTo>
                  <a:lnTo>
                    <a:pt x="0" y="23228"/>
                  </a:lnTo>
                  <a:cubicBezTo>
                    <a:pt x="19188" y="8651"/>
                    <a:pt x="43123" y="0"/>
                    <a:pt x="69078" y="0"/>
                  </a:cubicBezTo>
                  <a:cubicBezTo>
                    <a:pt x="74462" y="0"/>
                    <a:pt x="79760" y="372"/>
                    <a:pt x="84945" y="1092"/>
                  </a:cubicBezTo>
                  <a:lnTo>
                    <a:pt x="36083" y="85725"/>
                  </a:lnTo>
                  <a:close/>
                </a:path>
              </a:pathLst>
            </a:custGeom>
            <a:solidFill>
              <a:srgbClr val="0A84FF"/>
            </a:solidFill>
            <a:ln>
              <a:noFill/>
            </a:ln>
          </p:spPr>
        </p:sp>
        <p:sp>
          <p:nvSpPr>
            <p:cNvPr id="45" name="Freeform 45"/>
            <p:cNvSpPr/>
            <p:nvPr/>
          </p:nvSpPr>
          <p:spPr>
            <a:xfrm>
              <a:off x="9191625" y="3968263"/>
              <a:ext cx="73056" cy="84624"/>
            </a:xfrm>
            <a:custGeom>
              <a:avLst/>
              <a:gdLst/>
              <a:ahLst/>
              <a:cxnLst/>
              <a:rect l="l" t="t" r="r" b="b"/>
              <a:pathLst>
                <a:path w="73056" h="84624">
                  <a:moveTo>
                    <a:pt x="73056" y="84624"/>
                  </a:moveTo>
                  <a:lnTo>
                    <a:pt x="24198" y="0"/>
                  </a:lnTo>
                  <a:cubicBezTo>
                    <a:pt x="9036" y="19395"/>
                    <a:pt x="0" y="43811"/>
                    <a:pt x="0" y="70337"/>
                  </a:cubicBezTo>
                  <a:cubicBezTo>
                    <a:pt x="0" y="75175"/>
                    <a:pt x="301" y="79944"/>
                    <a:pt x="884" y="84624"/>
                  </a:cubicBezTo>
                  <a:lnTo>
                    <a:pt x="73056" y="84624"/>
                  </a:lnTo>
                  <a:close/>
                </a:path>
              </a:pathLst>
            </a:custGeom>
            <a:solidFill>
              <a:srgbClr val="0A84FF"/>
            </a:solidFill>
            <a:ln>
              <a:noFill/>
            </a:ln>
          </p:spPr>
        </p:sp>
        <p:sp>
          <p:nvSpPr>
            <p:cNvPr id="46" name="Freeform 46"/>
            <p:cNvSpPr/>
            <p:nvPr/>
          </p:nvSpPr>
          <p:spPr>
            <a:xfrm>
              <a:off x="9199933" y="4081462"/>
              <a:ext cx="97743" cy="62518"/>
            </a:xfrm>
            <a:custGeom>
              <a:avLst/>
              <a:gdLst/>
              <a:ahLst/>
              <a:cxnLst/>
              <a:rect l="l" t="t" r="r" b="b"/>
              <a:pathLst>
                <a:path w="97743" h="62518">
                  <a:moveTo>
                    <a:pt x="61648" y="62518"/>
                  </a:moveTo>
                  <a:cubicBezTo>
                    <a:pt x="33689" y="50738"/>
                    <a:pt x="11398" y="28156"/>
                    <a:pt x="0" y="0"/>
                  </a:cubicBezTo>
                  <a:lnTo>
                    <a:pt x="97743" y="0"/>
                  </a:lnTo>
                  <a:lnTo>
                    <a:pt x="61648" y="62518"/>
                  </a:lnTo>
                  <a:close/>
                </a:path>
              </a:pathLst>
            </a:custGeom>
            <a:solidFill>
              <a:srgbClr val="0A84FF"/>
            </a:solidFill>
            <a:ln>
              <a:noFill/>
            </a:ln>
          </p:spPr>
        </p:sp>
        <p:sp>
          <p:nvSpPr>
            <p:cNvPr id="47" name="Freeform 47"/>
            <p:cNvSpPr/>
            <p:nvPr/>
          </p:nvSpPr>
          <p:spPr>
            <a:xfrm>
              <a:off x="9290058" y="4067175"/>
              <a:ext cx="84946" cy="85725"/>
            </a:xfrm>
            <a:custGeom>
              <a:avLst/>
              <a:gdLst/>
              <a:ahLst/>
              <a:cxnLst/>
              <a:rect l="l" t="t" r="r" b="b"/>
              <a:pathLst>
                <a:path w="84946" h="85725">
                  <a:moveTo>
                    <a:pt x="15867" y="85725"/>
                  </a:moveTo>
                  <a:cubicBezTo>
                    <a:pt x="10483" y="85725"/>
                    <a:pt x="5186" y="85352"/>
                    <a:pt x="0" y="84632"/>
                  </a:cubicBezTo>
                  <a:lnTo>
                    <a:pt x="48863" y="0"/>
                  </a:lnTo>
                  <a:lnTo>
                    <a:pt x="84946" y="62496"/>
                  </a:lnTo>
                  <a:cubicBezTo>
                    <a:pt x="65758" y="77074"/>
                    <a:pt x="41823" y="85725"/>
                    <a:pt x="15867" y="85725"/>
                  </a:cubicBezTo>
                  <a:close/>
                </a:path>
              </a:pathLst>
            </a:custGeom>
            <a:solidFill>
              <a:srgbClr val="0A84FF"/>
            </a:solidFill>
            <a:ln>
              <a:noFill/>
            </a:ln>
          </p:spPr>
        </p:sp>
        <p:sp>
          <p:nvSpPr>
            <p:cNvPr id="48" name="Freeform 48"/>
            <p:cNvSpPr/>
            <p:nvPr/>
          </p:nvSpPr>
          <p:spPr>
            <a:xfrm>
              <a:off x="9347170" y="4024312"/>
              <a:ext cx="73055" cy="84623"/>
            </a:xfrm>
            <a:custGeom>
              <a:avLst/>
              <a:gdLst/>
              <a:ahLst/>
              <a:cxnLst/>
              <a:rect l="l" t="t" r="r" b="b"/>
              <a:pathLst>
                <a:path w="73055" h="84623">
                  <a:moveTo>
                    <a:pt x="73055" y="14288"/>
                  </a:moveTo>
                  <a:cubicBezTo>
                    <a:pt x="73055" y="40814"/>
                    <a:pt x="64019" y="65230"/>
                    <a:pt x="48858" y="84623"/>
                  </a:cubicBezTo>
                  <a:lnTo>
                    <a:pt x="0" y="0"/>
                  </a:lnTo>
                  <a:lnTo>
                    <a:pt x="72170" y="0"/>
                  </a:lnTo>
                  <a:cubicBezTo>
                    <a:pt x="72755" y="4680"/>
                    <a:pt x="73055" y="9449"/>
                    <a:pt x="73055" y="14288"/>
                  </a:cubicBezTo>
                  <a:close/>
                </a:path>
              </a:pathLst>
            </a:custGeom>
            <a:solidFill>
              <a:srgbClr val="0A84FF"/>
            </a:solidFill>
            <a:ln>
              <a:noFill/>
            </a:ln>
          </p:spPr>
        </p:sp>
        <p:sp>
          <p:nvSpPr>
            <p:cNvPr id="49" name="Freeform 49"/>
            <p:cNvSpPr/>
            <p:nvPr/>
          </p:nvSpPr>
          <p:spPr>
            <a:xfrm>
              <a:off x="9314174" y="3933220"/>
              <a:ext cx="97743" cy="62517"/>
            </a:xfrm>
            <a:custGeom>
              <a:avLst/>
              <a:gdLst/>
              <a:ahLst/>
              <a:cxnLst/>
              <a:rect l="l" t="t" r="r" b="b"/>
              <a:pathLst>
                <a:path w="97743" h="62517">
                  <a:moveTo>
                    <a:pt x="36094" y="0"/>
                  </a:moveTo>
                  <a:cubicBezTo>
                    <a:pt x="64053" y="11779"/>
                    <a:pt x="86346" y="34361"/>
                    <a:pt x="97743" y="62517"/>
                  </a:cubicBezTo>
                  <a:lnTo>
                    <a:pt x="0" y="62517"/>
                  </a:lnTo>
                  <a:lnTo>
                    <a:pt x="36094" y="0"/>
                  </a:lnTo>
                  <a:close/>
                </a:path>
              </a:pathLst>
            </a:custGeom>
            <a:solidFill>
              <a:srgbClr val="0A84FF"/>
            </a:solidFill>
            <a:ln>
              <a:noFill/>
            </a:ln>
          </p:spPr>
        </p:sp>
      </p:grpSp>
      <p:sp>
        <p:nvSpPr>
          <p:cNvPr id="51" name="TextBox 51"/>
          <p:cNvSpPr txBox="1"/>
          <p:nvPr/>
        </p:nvSpPr>
        <p:spPr>
          <a:xfrm>
            <a:off x="9492615" y="3906202"/>
            <a:ext cx="872026" cy="213360"/>
          </a:xfrm>
          <a:prstGeom prst="rect">
            <a:avLst/>
          </a:prstGeom>
          <a:noFill/>
          <a:ln>
            <a:noFill/>
          </a:ln>
        </p:spPr>
        <p:txBody>
          <a:bodyPr wrap="none" lIns="0" tIns="0" rIns="0" bIns="0" anchor="t" anchorCtr="0">
            <a:spAutoFit/>
          </a:bodyPr>
          <a:lstStyle/>
          <a:p>
            <a:pPr algn="l"/>
            <a:r>
              <a:rPr lang="zh-CN" sz="1050" b="1" dirty="0">
                <a:solidFill>
                  <a:srgbClr val="F5F5F7"/>
                </a:solidFill>
                <a:latin typeface="Segoe UI"/>
                <a:ea typeface="Microsoft YaHei"/>
                <a:cs typeface="Segoe UI"/>
              </a:rPr>
              <a:t>48MP Fusion</a:t>
            </a:r>
          </a:p>
        </p:txBody>
      </p:sp>
      <p:sp>
        <p:nvSpPr>
          <p:cNvPr id="52" name="TextBox 52"/>
          <p:cNvSpPr txBox="1"/>
          <p:nvPr/>
        </p:nvSpPr>
        <p:spPr>
          <a:xfrm>
            <a:off x="9493568" y="4104799"/>
            <a:ext cx="1643467" cy="198120"/>
          </a:xfrm>
          <a:prstGeom prst="rect">
            <a:avLst/>
          </a:prstGeom>
          <a:noFill/>
          <a:ln>
            <a:noFill/>
          </a:ln>
        </p:spPr>
        <p:txBody>
          <a:bodyPr wrap="none" lIns="0" tIns="0" rIns="0" bIns="0" anchor="t" anchorCtr="0">
            <a:spAutoFit/>
          </a:bodyPr>
          <a:lstStyle/>
          <a:p>
            <a:pPr algn="l"/>
            <a:r>
              <a:rPr lang="zh-CN" sz="975" dirty="0">
                <a:solidFill>
                  <a:srgbClr val="8E8E93"/>
                </a:solidFill>
                <a:latin typeface="Segoe UI"/>
                <a:ea typeface="Microsoft YaHei"/>
                <a:cs typeface="Segoe UI"/>
              </a:rPr>
              <a:t>2x faster sensor readout</a:t>
            </a:r>
          </a:p>
        </p:txBody>
      </p:sp>
      <p:sp>
        <p:nvSpPr>
          <p:cNvPr id="53" name="Rectangle 53"/>
          <p:cNvSpPr/>
          <p:nvPr/>
        </p:nvSpPr>
        <p:spPr>
          <a:xfrm>
            <a:off x="9048750" y="4476750"/>
            <a:ext cx="2667000" cy="619125"/>
          </a:xfrm>
          <a:prstGeom prst="roundRect">
            <a:avLst>
              <a:gd name="adj" fmla="val 15385"/>
            </a:avLst>
          </a:prstGeom>
          <a:solidFill>
            <a:srgbClr val="15151F"/>
          </a:solidFill>
          <a:ln w="9525">
            <a:solidFill>
              <a:srgbClr val="2A2A3A"/>
            </a:solidFill>
          </a:ln>
        </p:spPr>
      </p:sp>
      <p:grpSp>
        <p:nvGrpSpPr>
          <p:cNvPr id="56" name="Group 56"/>
          <p:cNvGrpSpPr/>
          <p:nvPr/>
        </p:nvGrpSpPr>
        <p:grpSpPr>
          <a:xfrm>
            <a:off x="9191625" y="4681538"/>
            <a:ext cx="228600" cy="142875"/>
            <a:chOff x="9191625" y="4681538"/>
            <a:chExt cx="228600" cy="142875"/>
          </a:xfrm>
        </p:grpSpPr>
        <p:sp>
          <p:nvSpPr>
            <p:cNvPr id="54" name="Freeform 54"/>
            <p:cNvSpPr/>
            <p:nvPr/>
          </p:nvSpPr>
          <p:spPr>
            <a:xfrm>
              <a:off x="9191625" y="4681538"/>
              <a:ext cx="142875" cy="142875"/>
            </a:xfrm>
            <a:custGeom>
              <a:avLst/>
              <a:gdLst/>
              <a:ahLst/>
              <a:cxnLst/>
              <a:rect l="l" t="t" r="r" b="b"/>
              <a:pathLst>
                <a:path w="142875" h="142875">
                  <a:moveTo>
                    <a:pt x="142875" y="0"/>
                  </a:moveTo>
                  <a:lnTo>
                    <a:pt x="0" y="0"/>
                  </a:lnTo>
                  <a:lnTo>
                    <a:pt x="0" y="142875"/>
                  </a:lnTo>
                  <a:lnTo>
                    <a:pt x="142875" y="142875"/>
                  </a:lnTo>
                  <a:lnTo>
                    <a:pt x="142875" y="0"/>
                  </a:lnTo>
                  <a:close/>
                </a:path>
              </a:pathLst>
            </a:custGeom>
            <a:solidFill>
              <a:srgbClr val="5E5CE6"/>
            </a:solidFill>
            <a:ln>
              <a:noFill/>
            </a:ln>
          </p:spPr>
        </p:sp>
        <p:sp>
          <p:nvSpPr>
            <p:cNvPr id="55" name="Freeform 55"/>
            <p:cNvSpPr/>
            <p:nvPr/>
          </p:nvSpPr>
          <p:spPr>
            <a:xfrm>
              <a:off x="9363075" y="4681538"/>
              <a:ext cx="57150" cy="142875"/>
            </a:xfrm>
            <a:custGeom>
              <a:avLst/>
              <a:gdLst/>
              <a:ahLst/>
              <a:cxnLst/>
              <a:rect l="l" t="t" r="r" b="b"/>
              <a:pathLst>
                <a:path w="57150" h="142875">
                  <a:moveTo>
                    <a:pt x="42862" y="0"/>
                  </a:moveTo>
                  <a:lnTo>
                    <a:pt x="0" y="42862"/>
                  </a:lnTo>
                  <a:lnTo>
                    <a:pt x="0" y="100012"/>
                  </a:lnTo>
                  <a:lnTo>
                    <a:pt x="42862" y="142875"/>
                  </a:lnTo>
                  <a:lnTo>
                    <a:pt x="57150" y="142875"/>
                  </a:lnTo>
                  <a:lnTo>
                    <a:pt x="57150" y="0"/>
                  </a:lnTo>
                  <a:lnTo>
                    <a:pt x="42862" y="0"/>
                  </a:lnTo>
                  <a:close/>
                </a:path>
              </a:pathLst>
            </a:custGeom>
            <a:solidFill>
              <a:srgbClr val="5E5CE6"/>
            </a:solidFill>
            <a:ln>
              <a:noFill/>
            </a:ln>
          </p:spPr>
        </p:sp>
      </p:grpSp>
      <p:sp>
        <p:nvSpPr>
          <p:cNvPr id="57" name="TextBox 57"/>
          <p:cNvSpPr txBox="1"/>
          <p:nvPr/>
        </p:nvSpPr>
        <p:spPr>
          <a:xfrm>
            <a:off x="9492615" y="4620578"/>
            <a:ext cx="1540959" cy="213360"/>
          </a:xfrm>
          <a:prstGeom prst="rect">
            <a:avLst/>
          </a:prstGeom>
          <a:noFill/>
          <a:ln>
            <a:noFill/>
          </a:ln>
        </p:spPr>
        <p:txBody>
          <a:bodyPr wrap="none" lIns="0" tIns="0" rIns="0" bIns="0" anchor="t" anchorCtr="0">
            <a:spAutoFit/>
          </a:bodyPr>
          <a:lstStyle/>
          <a:p>
            <a:pPr algn="l"/>
            <a:r>
              <a:rPr lang="zh-CN" sz="1050" b="1" dirty="0">
                <a:solidFill>
                  <a:srgbClr val="F5F5F7"/>
                </a:solidFill>
                <a:latin typeface="Segoe UI"/>
                <a:ea typeface="Microsoft YaHei"/>
                <a:cs typeface="Segoe UI"/>
              </a:rPr>
              <a:t>4K120fps Dolby Vision</a:t>
            </a:r>
          </a:p>
        </p:txBody>
      </p:sp>
      <p:sp>
        <p:nvSpPr>
          <p:cNvPr id="58" name="TextBox 58"/>
          <p:cNvSpPr txBox="1"/>
          <p:nvPr/>
        </p:nvSpPr>
        <p:spPr>
          <a:xfrm>
            <a:off x="9493568" y="4819174"/>
            <a:ext cx="1825490" cy="198120"/>
          </a:xfrm>
          <a:prstGeom prst="rect">
            <a:avLst/>
          </a:prstGeom>
          <a:noFill/>
          <a:ln>
            <a:noFill/>
          </a:ln>
        </p:spPr>
        <p:txBody>
          <a:bodyPr wrap="none" lIns="0" tIns="0" rIns="0" bIns="0" anchor="t" anchorCtr="0">
            <a:spAutoFit/>
          </a:bodyPr>
          <a:lstStyle/>
          <a:p>
            <a:pPr algn="l"/>
            <a:r>
              <a:rPr lang="zh-CN" sz="975" dirty="0">
                <a:solidFill>
                  <a:srgbClr val="8E8E93"/>
                </a:solidFill>
                <a:latin typeface="Segoe UI"/>
                <a:ea typeface="Microsoft YaHei"/>
                <a:cs typeface="Segoe UI"/>
              </a:rPr>
              <a:t>Cinema-quality color grading</a:t>
            </a:r>
          </a:p>
        </p:txBody>
      </p:sp>
      <p:sp>
        <p:nvSpPr>
          <p:cNvPr id="59" name="Rectangle 59"/>
          <p:cNvSpPr/>
          <p:nvPr/>
        </p:nvSpPr>
        <p:spPr>
          <a:xfrm>
            <a:off x="9048750" y="5191125"/>
            <a:ext cx="2667000" cy="619125"/>
          </a:xfrm>
          <a:prstGeom prst="roundRect">
            <a:avLst>
              <a:gd name="adj" fmla="val 15385"/>
            </a:avLst>
          </a:prstGeom>
          <a:solidFill>
            <a:srgbClr val="15151F"/>
          </a:solidFill>
          <a:ln w="9525">
            <a:solidFill>
              <a:srgbClr val="2A2A3A"/>
            </a:solidFill>
          </a:ln>
        </p:spPr>
      </p:sp>
      <p:grpSp>
        <p:nvGrpSpPr>
          <p:cNvPr id="62" name="Group 62"/>
          <p:cNvGrpSpPr/>
          <p:nvPr/>
        </p:nvGrpSpPr>
        <p:grpSpPr>
          <a:xfrm>
            <a:off x="9205912" y="5353050"/>
            <a:ext cx="200025" cy="228600"/>
            <a:chOff x="9205912" y="5353050"/>
            <a:chExt cx="200025" cy="228600"/>
          </a:xfrm>
        </p:grpSpPr>
        <p:sp>
          <p:nvSpPr>
            <p:cNvPr id="60" name="Freeform 60"/>
            <p:cNvSpPr/>
            <p:nvPr/>
          </p:nvSpPr>
          <p:spPr>
            <a:xfrm>
              <a:off x="9263062" y="5353050"/>
              <a:ext cx="85725" cy="142875"/>
            </a:xfrm>
            <a:custGeom>
              <a:avLst/>
              <a:gdLst/>
              <a:ahLst/>
              <a:cxnLst/>
              <a:rect l="l" t="t" r="r" b="b"/>
              <a:pathLst>
                <a:path w="85725" h="142875">
                  <a:moveTo>
                    <a:pt x="0" y="42862"/>
                  </a:moveTo>
                  <a:cubicBezTo>
                    <a:pt x="0" y="19190"/>
                    <a:pt x="19190" y="0"/>
                    <a:pt x="42862" y="0"/>
                  </a:cubicBezTo>
                  <a:cubicBezTo>
                    <a:pt x="66535" y="0"/>
                    <a:pt x="85725" y="19190"/>
                    <a:pt x="85725" y="42862"/>
                  </a:cubicBezTo>
                  <a:lnTo>
                    <a:pt x="85725" y="100012"/>
                  </a:lnTo>
                  <a:cubicBezTo>
                    <a:pt x="85725" y="123685"/>
                    <a:pt x="66535" y="142875"/>
                    <a:pt x="42862" y="142875"/>
                  </a:cubicBezTo>
                  <a:cubicBezTo>
                    <a:pt x="19190" y="142875"/>
                    <a:pt x="0" y="123685"/>
                    <a:pt x="0" y="100012"/>
                  </a:cubicBezTo>
                  <a:lnTo>
                    <a:pt x="0" y="42862"/>
                  </a:lnTo>
                  <a:close/>
                </a:path>
              </a:pathLst>
            </a:custGeom>
            <a:solidFill>
              <a:srgbClr val="30D158"/>
            </a:solidFill>
            <a:ln>
              <a:noFill/>
            </a:ln>
          </p:spPr>
        </p:sp>
        <p:sp>
          <p:nvSpPr>
            <p:cNvPr id="61" name="Freeform 61"/>
            <p:cNvSpPr/>
            <p:nvPr/>
          </p:nvSpPr>
          <p:spPr>
            <a:xfrm>
              <a:off x="9205912" y="5438775"/>
              <a:ext cx="200025" cy="142875"/>
            </a:xfrm>
            <a:custGeom>
              <a:avLst/>
              <a:gdLst/>
              <a:ahLst/>
              <a:cxnLst/>
              <a:rect l="l" t="t" r="r" b="b"/>
              <a:pathLst>
                <a:path w="200025" h="142875">
                  <a:moveTo>
                    <a:pt x="114300" y="113287"/>
                  </a:moveTo>
                  <a:lnTo>
                    <a:pt x="114300" y="142875"/>
                  </a:lnTo>
                  <a:lnTo>
                    <a:pt x="85725" y="142875"/>
                  </a:lnTo>
                  <a:lnTo>
                    <a:pt x="85725" y="113287"/>
                  </a:lnTo>
                  <a:cubicBezTo>
                    <a:pt x="37258" y="106355"/>
                    <a:pt x="0" y="64672"/>
                    <a:pt x="0" y="14288"/>
                  </a:cubicBezTo>
                  <a:lnTo>
                    <a:pt x="0" y="0"/>
                  </a:lnTo>
                  <a:lnTo>
                    <a:pt x="28575" y="0"/>
                  </a:lnTo>
                  <a:lnTo>
                    <a:pt x="28575" y="14288"/>
                  </a:lnTo>
                  <a:cubicBezTo>
                    <a:pt x="28575" y="53741"/>
                    <a:pt x="60559" y="85725"/>
                    <a:pt x="100012" y="85725"/>
                  </a:cubicBezTo>
                  <a:cubicBezTo>
                    <a:pt x="139466" y="85725"/>
                    <a:pt x="171450" y="53741"/>
                    <a:pt x="171450" y="14288"/>
                  </a:cubicBezTo>
                  <a:lnTo>
                    <a:pt x="171450" y="0"/>
                  </a:lnTo>
                  <a:lnTo>
                    <a:pt x="200025" y="0"/>
                  </a:lnTo>
                  <a:lnTo>
                    <a:pt x="200025" y="14288"/>
                  </a:lnTo>
                  <a:cubicBezTo>
                    <a:pt x="200025" y="64672"/>
                    <a:pt x="162767" y="106355"/>
                    <a:pt x="114300" y="113287"/>
                  </a:cubicBezTo>
                  <a:close/>
                </a:path>
              </a:pathLst>
            </a:custGeom>
            <a:solidFill>
              <a:srgbClr val="30D158"/>
            </a:solidFill>
            <a:ln>
              <a:noFill/>
            </a:ln>
          </p:spPr>
        </p:sp>
      </p:grpSp>
      <p:sp>
        <p:nvSpPr>
          <p:cNvPr id="63" name="TextBox 63"/>
          <p:cNvSpPr txBox="1"/>
          <p:nvPr/>
        </p:nvSpPr>
        <p:spPr>
          <a:xfrm>
            <a:off x="9492615" y="5334952"/>
            <a:ext cx="673551" cy="213360"/>
          </a:xfrm>
          <a:prstGeom prst="rect">
            <a:avLst/>
          </a:prstGeom>
          <a:noFill/>
          <a:ln>
            <a:noFill/>
          </a:ln>
        </p:spPr>
        <p:txBody>
          <a:bodyPr wrap="none" lIns="0" tIns="0" rIns="0" bIns="0" anchor="t" anchorCtr="0">
            <a:spAutoFit/>
          </a:bodyPr>
          <a:lstStyle/>
          <a:p>
            <a:pPr algn="l"/>
            <a:r>
              <a:rPr lang="zh-CN" sz="1050" b="1" dirty="0">
                <a:solidFill>
                  <a:srgbClr val="F5F5F7"/>
                </a:solidFill>
                <a:latin typeface="Segoe UI"/>
                <a:ea typeface="Microsoft YaHei"/>
                <a:cs typeface="Segoe UI"/>
              </a:rPr>
              <a:t>Audio Mix</a:t>
            </a:r>
          </a:p>
        </p:txBody>
      </p:sp>
      <p:sp>
        <p:nvSpPr>
          <p:cNvPr id="64" name="TextBox 64"/>
          <p:cNvSpPr txBox="1"/>
          <p:nvPr/>
        </p:nvSpPr>
        <p:spPr>
          <a:xfrm>
            <a:off x="9493568" y="5533549"/>
            <a:ext cx="2066020" cy="198120"/>
          </a:xfrm>
          <a:prstGeom prst="rect">
            <a:avLst/>
          </a:prstGeom>
          <a:noFill/>
          <a:ln>
            <a:noFill/>
          </a:ln>
        </p:spPr>
        <p:txBody>
          <a:bodyPr wrap="none" lIns="0" tIns="0" rIns="0" bIns="0" anchor="t" anchorCtr="0">
            <a:spAutoFit/>
          </a:bodyPr>
          <a:lstStyle/>
          <a:p>
            <a:pPr algn="l"/>
            <a:r>
              <a:rPr lang="zh-CN" sz="975" dirty="0">
                <a:solidFill>
                  <a:srgbClr val="8E8E93"/>
                </a:solidFill>
                <a:latin typeface="Segoe UI"/>
                <a:ea typeface="Microsoft YaHei"/>
                <a:cs typeface="Segoe UI"/>
              </a:rPr>
              <a:t>In-frame, studio, spatial modes</a:t>
            </a:r>
          </a:p>
        </p:txBody>
      </p:sp>
      <p:sp>
        <p:nvSpPr>
          <p:cNvPr id="65" name="Rectangle 65"/>
          <p:cNvSpPr/>
          <p:nvPr/>
        </p:nvSpPr>
        <p:spPr>
          <a:xfrm>
            <a:off x="571500" y="5857875"/>
            <a:ext cx="7810500" cy="571500"/>
          </a:xfrm>
          <a:prstGeom prst="roundRect">
            <a:avLst>
              <a:gd name="adj" fmla="val 16667"/>
            </a:avLst>
          </a:prstGeom>
          <a:solidFill>
            <a:srgbClr val="0A84FF">
              <a:alpha val="8000"/>
            </a:srgbClr>
          </a:solidFill>
          <a:ln w="9525">
            <a:solidFill>
              <a:srgbClr val="0A84FF">
                <a:alpha val="30000"/>
              </a:srgbClr>
            </a:solidFill>
          </a:ln>
        </p:spPr>
      </p:sp>
      <p:grpSp>
        <p:nvGrpSpPr>
          <p:cNvPr id="68" name="Group 68"/>
          <p:cNvGrpSpPr/>
          <p:nvPr/>
        </p:nvGrpSpPr>
        <p:grpSpPr>
          <a:xfrm>
            <a:off x="762000" y="5981700"/>
            <a:ext cx="304800" cy="304800"/>
            <a:chOff x="762000" y="5981700"/>
            <a:chExt cx="304800" cy="304800"/>
          </a:xfrm>
        </p:grpSpPr>
        <p:sp>
          <p:nvSpPr>
            <p:cNvPr id="66" name="Freeform 66"/>
            <p:cNvSpPr/>
            <p:nvPr/>
          </p:nvSpPr>
          <p:spPr>
            <a:xfrm>
              <a:off x="838200" y="5981700"/>
              <a:ext cx="228600" cy="228600"/>
            </a:xfrm>
            <a:custGeom>
              <a:avLst/>
              <a:gdLst/>
              <a:ahLst/>
              <a:cxnLst/>
              <a:rect l="l" t="t" r="r" b="b"/>
              <a:pathLst>
                <a:path w="228600" h="228600">
                  <a:moveTo>
                    <a:pt x="228600" y="0"/>
                  </a:moveTo>
                  <a:lnTo>
                    <a:pt x="0" y="0"/>
                  </a:lnTo>
                  <a:lnTo>
                    <a:pt x="0" y="228600"/>
                  </a:lnTo>
                  <a:lnTo>
                    <a:pt x="228600" y="228600"/>
                  </a:lnTo>
                  <a:lnTo>
                    <a:pt x="228600" y="0"/>
                  </a:lnTo>
                  <a:close/>
                  <a:moveTo>
                    <a:pt x="95250" y="114300"/>
                  </a:moveTo>
                  <a:lnTo>
                    <a:pt x="133350" y="152400"/>
                  </a:lnTo>
                  <a:lnTo>
                    <a:pt x="190500" y="95250"/>
                  </a:lnTo>
                  <a:lnTo>
                    <a:pt x="190500" y="190500"/>
                  </a:lnTo>
                  <a:lnTo>
                    <a:pt x="38100" y="190500"/>
                  </a:lnTo>
                  <a:lnTo>
                    <a:pt x="38100" y="171450"/>
                  </a:lnTo>
                  <a:lnTo>
                    <a:pt x="95250" y="114300"/>
                  </a:lnTo>
                  <a:close/>
                  <a:moveTo>
                    <a:pt x="95250" y="57150"/>
                  </a:moveTo>
                  <a:cubicBezTo>
                    <a:pt x="95250" y="67671"/>
                    <a:pt x="86721" y="76200"/>
                    <a:pt x="76200" y="76200"/>
                  </a:cubicBezTo>
                  <a:cubicBezTo>
                    <a:pt x="65679" y="76200"/>
                    <a:pt x="57150" y="67671"/>
                    <a:pt x="57150" y="57150"/>
                  </a:cubicBezTo>
                  <a:cubicBezTo>
                    <a:pt x="57150" y="46629"/>
                    <a:pt x="65679" y="38100"/>
                    <a:pt x="76200" y="38100"/>
                  </a:cubicBezTo>
                  <a:cubicBezTo>
                    <a:pt x="86721" y="38100"/>
                    <a:pt x="95250" y="46629"/>
                    <a:pt x="95250" y="57150"/>
                  </a:cubicBezTo>
                  <a:close/>
                </a:path>
              </a:pathLst>
            </a:custGeom>
            <a:solidFill>
              <a:srgbClr val="0A84FF"/>
            </a:solidFill>
            <a:ln>
              <a:noFill/>
            </a:ln>
          </p:spPr>
        </p:sp>
        <p:sp>
          <p:nvSpPr>
            <p:cNvPr id="67" name="Freeform 67"/>
            <p:cNvSpPr/>
            <p:nvPr/>
          </p:nvSpPr>
          <p:spPr>
            <a:xfrm>
              <a:off x="762000" y="6057900"/>
              <a:ext cx="228600" cy="228600"/>
            </a:xfrm>
            <a:custGeom>
              <a:avLst/>
              <a:gdLst/>
              <a:ahLst/>
              <a:cxnLst/>
              <a:rect l="l" t="t" r="r" b="b"/>
              <a:pathLst>
                <a:path w="228600" h="228600">
                  <a:moveTo>
                    <a:pt x="0" y="0"/>
                  </a:moveTo>
                  <a:lnTo>
                    <a:pt x="0" y="228600"/>
                  </a:lnTo>
                  <a:lnTo>
                    <a:pt x="228600" y="228600"/>
                  </a:lnTo>
                  <a:lnTo>
                    <a:pt x="228600" y="190500"/>
                  </a:lnTo>
                  <a:lnTo>
                    <a:pt x="38100" y="190500"/>
                  </a:lnTo>
                  <a:lnTo>
                    <a:pt x="38100" y="0"/>
                  </a:lnTo>
                  <a:lnTo>
                    <a:pt x="0" y="0"/>
                  </a:lnTo>
                  <a:close/>
                </a:path>
              </a:pathLst>
            </a:custGeom>
            <a:solidFill>
              <a:srgbClr val="0A84FF"/>
            </a:solidFill>
            <a:ln>
              <a:noFill/>
            </a:ln>
          </p:spPr>
        </p:sp>
      </p:grpSp>
      <p:sp>
        <p:nvSpPr>
          <p:cNvPr id="69" name="TextBox 69"/>
          <p:cNvSpPr txBox="1"/>
          <p:nvPr/>
        </p:nvSpPr>
        <p:spPr>
          <a:xfrm>
            <a:off x="1175385" y="5985510"/>
            <a:ext cx="3206077" cy="243840"/>
          </a:xfrm>
          <a:prstGeom prst="rect">
            <a:avLst/>
          </a:prstGeom>
          <a:noFill/>
          <a:ln>
            <a:noFill/>
          </a:ln>
        </p:spPr>
        <p:txBody>
          <a:bodyPr wrap="none" lIns="0" tIns="0" rIns="0" bIns="0" anchor="t" anchorCtr="0">
            <a:spAutoFit/>
          </a:bodyPr>
          <a:lstStyle/>
          <a:p>
            <a:pPr algn="l"/>
            <a:r>
              <a:rPr lang="zh-CN" sz="1200" b="1" dirty="0">
                <a:solidFill>
                  <a:srgbClr val="F5F5F7"/>
                </a:solidFill>
                <a:latin typeface="Segoe UI"/>
                <a:ea typeface="Microsoft YaHei"/>
                <a:cs typeface="Segoe UI"/>
              </a:rPr>
              <a:t>ProRes + Log video to external storage</a:t>
            </a:r>
          </a:p>
        </p:txBody>
      </p:sp>
      <p:sp>
        <p:nvSpPr>
          <p:cNvPr id="70" name="TextBox 70"/>
          <p:cNvSpPr txBox="1"/>
          <p:nvPr/>
        </p:nvSpPr>
        <p:spPr>
          <a:xfrm>
            <a:off x="1177290" y="6192202"/>
            <a:ext cx="3401092" cy="213360"/>
          </a:xfrm>
          <a:prstGeom prst="rect">
            <a:avLst/>
          </a:prstGeom>
          <a:noFill/>
          <a:ln>
            <a:noFill/>
          </a:ln>
        </p:spPr>
        <p:txBody>
          <a:bodyPr wrap="none" lIns="0" tIns="0" rIns="0" bIns="0" anchor="t" anchorCtr="0">
            <a:spAutoFit/>
          </a:bodyPr>
          <a:lstStyle/>
          <a:p>
            <a:pPr algn="l"/>
            <a:r>
              <a:rPr lang="zh-CN" sz="1050" dirty="0">
                <a:solidFill>
                  <a:srgbClr val="8E8E93"/>
                </a:solidFill>
                <a:latin typeface="Segoe UI"/>
                <a:ea typeface="Microsoft YaHei"/>
                <a:cs typeface="Segoe UI"/>
              </a:rPr>
              <a:t>Full pro workflow — record directly to USB-C SSDs</a:t>
            </a:r>
          </a:p>
        </p:txBody>
      </p:sp>
      <p:sp>
        <p:nvSpPr>
          <p:cNvPr id="71" name="TextBox 71"/>
          <p:cNvSpPr txBox="1"/>
          <p:nvPr/>
        </p:nvSpPr>
        <p:spPr>
          <a:xfrm>
            <a:off x="11207020" y="6475095"/>
            <a:ext cx="424910" cy="182880"/>
          </a:xfrm>
          <a:prstGeom prst="rect">
            <a:avLst/>
          </a:prstGeom>
          <a:noFill/>
          <a:ln>
            <a:noFill/>
          </a:ln>
        </p:spPr>
        <p:txBody>
          <a:bodyPr wrap="none" lIns="0" tIns="0" rIns="0" bIns="0" anchor="t" anchorCtr="0">
            <a:spAutoFit/>
          </a:bodyPr>
          <a:lstStyle/>
          <a:p>
            <a:pPr algn="r"/>
            <a:r>
              <a:rPr lang="zh-CN" sz="900" dirty="0">
                <a:solidFill>
                  <a:srgbClr val="636366"/>
                </a:solidFill>
                <a:latin typeface="Consolas"/>
                <a:ea typeface="Microsoft YaHei"/>
                <a:cs typeface="Consolas"/>
              </a:rPr>
              <a:t>07 / 09</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A0A0F"/>
          </a:solidFill>
          <a:ln>
            <a:noFill/>
          </a:ln>
        </p:spPr>
      </p:sp>
      <p:sp>
        <p:nvSpPr>
          <p:cNvPr id="3" name="Rectangle 3"/>
          <p:cNvSpPr/>
          <p:nvPr/>
        </p:nvSpPr>
        <p:spPr>
          <a:xfrm>
            <a:off x="571500" y="476250"/>
            <a:ext cx="571500" cy="38100"/>
          </a:xfrm>
          <a:prstGeom prst="roundRect">
            <a:avLst>
              <a:gd name="adj" fmla="val 50000"/>
            </a:avLst>
          </a:prstGeom>
          <a:gradFill>
            <a:gsLst>
              <a:gs pos="0">
                <a:srgbClr val="0A84FF"/>
              </a:gs>
              <a:gs pos="100000">
                <a:srgbClr val="5E5CE6"/>
              </a:gs>
            </a:gsLst>
            <a:lin ang="0" scaled="1"/>
          </a:gradFill>
          <a:ln>
            <a:noFill/>
          </a:ln>
        </p:spPr>
      </p:sp>
      <p:sp>
        <p:nvSpPr>
          <p:cNvPr id="4" name="TextBox 4"/>
          <p:cNvSpPr txBox="1"/>
          <p:nvPr/>
        </p:nvSpPr>
        <p:spPr>
          <a:xfrm>
            <a:off x="537210" y="565785"/>
            <a:ext cx="5399046" cy="548640"/>
          </a:xfrm>
          <a:prstGeom prst="rect">
            <a:avLst/>
          </a:prstGeom>
          <a:noFill/>
          <a:ln>
            <a:noFill/>
          </a:ln>
        </p:spPr>
        <p:txBody>
          <a:bodyPr wrap="none" lIns="0" tIns="0" rIns="0" bIns="0" anchor="t" anchorCtr="0">
            <a:spAutoFit/>
          </a:bodyPr>
          <a:lstStyle/>
          <a:p>
            <a:pPr algn="l"/>
            <a:r>
              <a:rPr lang="zh-CN" sz="2700" b="1" dirty="0">
                <a:solidFill>
                  <a:srgbClr val="F5F5F7"/>
                </a:solidFill>
                <a:latin typeface="Segoe UI"/>
                <a:ea typeface="Microsoft YaHei"/>
                <a:cs typeface="Segoe UI"/>
              </a:rPr>
              <a:t>Stronger. Lighter. Greener.</a:t>
            </a:r>
          </a:p>
        </p:txBody>
      </p:sp>
      <p:sp>
        <p:nvSpPr>
          <p:cNvPr id="5" name="TextBox 5"/>
          <p:cNvSpPr txBox="1"/>
          <p:nvPr/>
        </p:nvSpPr>
        <p:spPr>
          <a:xfrm>
            <a:off x="554355" y="978218"/>
            <a:ext cx="6713125" cy="274320"/>
          </a:xfrm>
          <a:prstGeom prst="rect">
            <a:avLst/>
          </a:prstGeom>
          <a:noFill/>
          <a:ln>
            <a:noFill/>
          </a:ln>
        </p:spPr>
        <p:txBody>
          <a:bodyPr wrap="none" lIns="0" tIns="0" rIns="0" bIns="0" anchor="t" anchorCtr="0">
            <a:spAutoFit/>
          </a:bodyPr>
          <a:lstStyle/>
          <a:p>
            <a:pPr algn="l"/>
            <a:r>
              <a:rPr lang="zh-CN" sz="1350" dirty="0">
                <a:solidFill>
                  <a:srgbClr val="8E8E93"/>
                </a:solidFill>
                <a:latin typeface="Segoe UI"/>
                <a:ea typeface="Microsoft YaHei"/>
                <a:cs typeface="Segoe UI"/>
              </a:rPr>
              <a:t>Titanium design, Ceramic Shield, huge battery leap, and recycled materials.</a:t>
            </a:r>
          </a:p>
        </p:txBody>
      </p:sp>
      <p:sp>
        <p:nvSpPr>
          <p:cNvPr id="6" name="Rectangle 6"/>
          <p:cNvSpPr/>
          <p:nvPr/>
        </p:nvSpPr>
        <p:spPr>
          <a:xfrm>
            <a:off x="571500" y="1476375"/>
            <a:ext cx="5334000" cy="2286000"/>
          </a:xfrm>
          <a:prstGeom prst="roundRect">
            <a:avLst>
              <a:gd name="adj" fmla="val 6667"/>
            </a:avLst>
          </a:prstGeom>
          <a:solidFill>
            <a:srgbClr val="15151F"/>
          </a:solidFill>
          <a:ln w="9525">
            <a:solidFill>
              <a:srgbClr val="2A2A3A"/>
            </a:solidFill>
          </a:ln>
        </p:spPr>
      </p:sp>
      <p:sp>
        <p:nvSpPr>
          <p:cNvPr id="7" name="Rectangle 7"/>
          <p:cNvSpPr/>
          <p:nvPr/>
        </p:nvSpPr>
        <p:spPr>
          <a:xfrm>
            <a:off x="571500" y="1476375"/>
            <a:ext cx="5334000" cy="2286000"/>
          </a:xfrm>
          <a:prstGeom prst="roundRect">
            <a:avLst>
              <a:gd name="adj" fmla="val 6667"/>
            </a:avLst>
          </a:prstGeom>
          <a:gradFill>
            <a:gsLst>
              <a:gs pos="0">
                <a:srgbClr val="30D158">
                  <a:alpha val="8000"/>
                </a:srgbClr>
              </a:gs>
              <a:gs pos="100000">
                <a:srgbClr val="30D158">
                  <a:alpha val="0"/>
                </a:srgbClr>
              </a:gs>
            </a:gsLst>
            <a:path path="circle">
              <a:fillToRect l="50000" t="50000" r="50000" b="50000"/>
            </a:path>
          </a:gradFill>
          <a:ln>
            <a:noFill/>
          </a:ln>
        </p:spPr>
      </p:sp>
      <p:sp>
        <p:nvSpPr>
          <p:cNvPr id="8" name="Freeform 8"/>
          <p:cNvSpPr/>
          <p:nvPr/>
        </p:nvSpPr>
        <p:spPr>
          <a:xfrm>
            <a:off x="857250" y="1757362"/>
            <a:ext cx="342900" cy="257175"/>
          </a:xfrm>
          <a:custGeom>
            <a:avLst/>
            <a:gdLst/>
            <a:ahLst/>
            <a:cxnLst/>
            <a:rect l="l" t="t" r="r" b="b"/>
            <a:pathLst>
              <a:path w="342900" h="257175">
                <a:moveTo>
                  <a:pt x="300038" y="0"/>
                </a:moveTo>
                <a:lnTo>
                  <a:pt x="0" y="0"/>
                </a:lnTo>
                <a:lnTo>
                  <a:pt x="0" y="257175"/>
                </a:lnTo>
                <a:lnTo>
                  <a:pt x="300038" y="257175"/>
                </a:lnTo>
                <a:lnTo>
                  <a:pt x="300038" y="192881"/>
                </a:lnTo>
                <a:lnTo>
                  <a:pt x="342900" y="192881"/>
                </a:lnTo>
                <a:lnTo>
                  <a:pt x="342900" y="64294"/>
                </a:lnTo>
                <a:lnTo>
                  <a:pt x="300038" y="64294"/>
                </a:lnTo>
                <a:lnTo>
                  <a:pt x="300038" y="0"/>
                </a:lnTo>
                <a:close/>
              </a:path>
            </a:pathLst>
          </a:custGeom>
          <a:solidFill>
            <a:srgbClr val="30D158"/>
          </a:solidFill>
          <a:ln>
            <a:noFill/>
          </a:ln>
        </p:spPr>
      </p:sp>
      <p:sp>
        <p:nvSpPr>
          <p:cNvPr id="9" name="TextBox 9"/>
          <p:cNvSpPr txBox="1"/>
          <p:nvPr/>
        </p:nvSpPr>
        <p:spPr>
          <a:xfrm>
            <a:off x="1310640" y="1710690"/>
            <a:ext cx="1646120" cy="365760"/>
          </a:xfrm>
          <a:prstGeom prst="rect">
            <a:avLst/>
          </a:prstGeom>
          <a:noFill/>
          <a:ln>
            <a:noFill/>
          </a:ln>
        </p:spPr>
        <p:txBody>
          <a:bodyPr wrap="none" lIns="0" tIns="0" rIns="0" bIns="0" anchor="t" anchorCtr="0">
            <a:spAutoFit/>
          </a:bodyPr>
          <a:lstStyle/>
          <a:p>
            <a:pPr algn="l"/>
            <a:r>
              <a:rPr lang="zh-CN" sz="1800" b="1" dirty="0">
                <a:solidFill>
                  <a:srgbClr val="F5F5F7"/>
                </a:solidFill>
                <a:latin typeface="Segoe UI"/>
                <a:ea typeface="Microsoft YaHei"/>
                <a:cs typeface="Segoe UI"/>
              </a:rPr>
              <a:t>Battery Leap</a:t>
            </a:r>
          </a:p>
        </p:txBody>
      </p:sp>
      <p:sp>
        <p:nvSpPr>
          <p:cNvPr id="10" name="TextBox 10"/>
          <p:cNvSpPr txBox="1"/>
          <p:nvPr/>
        </p:nvSpPr>
        <p:spPr>
          <a:xfrm>
            <a:off x="840105" y="2235518"/>
            <a:ext cx="4466272" cy="541020"/>
          </a:xfrm>
          <a:prstGeom prst="rect">
            <a:avLst/>
          </a:prstGeom>
          <a:noFill/>
          <a:ln>
            <a:noFill/>
          </a:ln>
        </p:spPr>
        <p:txBody>
          <a:bodyPr wrap="square" lIns="0" tIns="0" rIns="0" bIns="0" anchor="t" anchorCtr="0"/>
          <a:lstStyle/>
          <a:p>
            <a:pPr algn="l">
              <a:lnSpc>
                <a:spcPts val="2100"/>
              </a:lnSpc>
            </a:pPr>
            <a:r>
              <a:rPr lang="zh-CN" sz="1350" dirty="0">
                <a:solidFill>
                  <a:srgbClr val="E5E5EA"/>
                </a:solidFill>
                <a:latin typeface="Segoe UI"/>
                <a:ea typeface="Microsoft YaHei"/>
                <a:cs typeface="Segoe UI"/>
              </a:rPr>
              <a:t xml:space="preserve">Largest batteries yet in the Pro lineup. </a:t>
            </a:r>
            <a:r>
              <a:rPr lang="zh-CN" sz="1350" dirty="0">
                <a:solidFill>
                  <a:srgbClr val="E5E5EA"/>
                </a:solidFill>
                <a:latin typeface="Segoe UI"/>
                <a:ea typeface="Microsoft YaHei"/>
                <a:cs typeface="Segoe UI"/>
              </a:rPr>
              <a:t xml:space="preserve">iPhone 16 Pro Max = </a:t>
            </a:r>
            <a:r>
              <a:rPr lang="zh-CN" sz="1350" b="1" dirty="0">
                <a:solidFill>
                  <a:srgbClr val="30D158"/>
                </a:solidFill>
                <a:latin typeface="Segoe UI"/>
                <a:ea typeface="Microsoft YaHei"/>
                <a:cs typeface="Segoe UI"/>
              </a:rPr>
              <a:t>best battery life on iPhone ever.</a:t>
            </a:r>
          </a:p>
        </p:txBody>
      </p:sp>
      <p:sp>
        <p:nvSpPr>
          <p:cNvPr id="11" name="TextBox 11"/>
          <p:cNvSpPr txBox="1"/>
          <p:nvPr/>
        </p:nvSpPr>
        <p:spPr>
          <a:xfrm>
            <a:off x="842010" y="3013710"/>
            <a:ext cx="2667000" cy="491490"/>
          </a:xfrm>
          <a:prstGeom prst="rect">
            <a:avLst/>
          </a:prstGeom>
          <a:noFill/>
          <a:ln>
            <a:noFill/>
          </a:ln>
        </p:spPr>
        <p:txBody>
          <a:bodyPr wrap="square" lIns="0" tIns="0" rIns="0" bIns="0" anchor="t" anchorCtr="0"/>
          <a:lstStyle/>
          <a:p>
            <a:pPr algn="l">
              <a:lnSpc>
                <a:spcPts val="1950"/>
              </a:lnSpc>
            </a:pPr>
            <a:r>
              <a:rPr lang="zh-CN" sz="1200" dirty="0">
                <a:solidFill>
                  <a:srgbClr val="8E8E93"/>
                </a:solidFill>
                <a:latin typeface="Segoe UI"/>
                <a:ea typeface="Microsoft YaHei"/>
                <a:cs typeface="Segoe UI"/>
              </a:rPr>
              <a:t xml:space="preserve">New thermal architecture: </a:t>
            </a:r>
            <a:r>
              <a:rPr lang="zh-CN" sz="1200" b="1" dirty="0">
                <a:solidFill>
                  <a:srgbClr val="30D158"/>
                </a:solidFill>
                <a:latin typeface="Segoe UI"/>
                <a:ea typeface="Microsoft YaHei"/>
                <a:cs typeface="Segoe UI"/>
              </a:rPr>
              <a:t>20% better</a:t>
            </a:r>
            <a:r>
              <a:rPr lang="zh-CN" sz="1200" dirty="0">
                <a:solidFill>
                  <a:srgbClr val="8E8E93"/>
                </a:solidFill>
                <a:latin typeface="Segoe UI"/>
                <a:ea typeface="Microsoft YaHei"/>
                <a:cs typeface="Segoe UI"/>
              </a:rPr>
              <a:t xml:space="preserve"> </a:t>
            </a:r>
            <a:r>
              <a:rPr lang="zh-CN" sz="1200" dirty="0">
                <a:solidFill>
                  <a:srgbClr val="8E8E93"/>
                </a:solidFill>
                <a:latin typeface="Segoe UI"/>
                <a:ea typeface="Microsoft YaHei"/>
                <a:cs typeface="Segoe UI"/>
              </a:rPr>
              <a:t xml:space="preserve"> sustained performance</a:t>
            </a:r>
          </a:p>
        </p:txBody>
      </p:sp>
      <p:sp>
        <p:nvSpPr>
          <p:cNvPr id="12" name="Rectangle 12"/>
          <p:cNvSpPr/>
          <p:nvPr/>
        </p:nvSpPr>
        <p:spPr>
          <a:xfrm>
            <a:off x="6286500" y="1476375"/>
            <a:ext cx="5334000" cy="2286000"/>
          </a:xfrm>
          <a:prstGeom prst="roundRect">
            <a:avLst>
              <a:gd name="adj" fmla="val 6667"/>
            </a:avLst>
          </a:prstGeom>
          <a:solidFill>
            <a:srgbClr val="15151F"/>
          </a:solidFill>
          <a:ln w="9525">
            <a:solidFill>
              <a:srgbClr val="2A2A3A"/>
            </a:solidFill>
          </a:ln>
        </p:spPr>
      </p:sp>
      <p:sp>
        <p:nvSpPr>
          <p:cNvPr id="13" name="Rectangle 13"/>
          <p:cNvSpPr/>
          <p:nvPr/>
        </p:nvSpPr>
        <p:spPr>
          <a:xfrm>
            <a:off x="6286500" y="1476375"/>
            <a:ext cx="5334000" cy="2286000"/>
          </a:xfrm>
          <a:prstGeom prst="roundRect">
            <a:avLst>
              <a:gd name="adj" fmla="val 6667"/>
            </a:avLst>
          </a:prstGeom>
          <a:gradFill>
            <a:gsLst>
              <a:gs pos="0">
                <a:srgbClr val="0A84FF">
                  <a:alpha val="8000"/>
                </a:srgbClr>
              </a:gs>
              <a:gs pos="100000">
                <a:srgbClr val="0A84FF">
                  <a:alpha val="0"/>
                </a:srgbClr>
              </a:gs>
            </a:gsLst>
            <a:path path="circle">
              <a:fillToRect l="50000" t="50000" r="50000" b="50000"/>
            </a:path>
          </a:gradFill>
          <a:ln>
            <a:noFill/>
          </a:ln>
        </p:spPr>
      </p:sp>
      <p:sp>
        <p:nvSpPr>
          <p:cNvPr id="14" name="Freeform 14"/>
          <p:cNvSpPr/>
          <p:nvPr/>
        </p:nvSpPr>
        <p:spPr>
          <a:xfrm>
            <a:off x="6593681" y="1714500"/>
            <a:ext cx="300038" cy="342900"/>
          </a:xfrm>
          <a:custGeom>
            <a:avLst/>
            <a:gdLst/>
            <a:ahLst/>
            <a:cxnLst/>
            <a:rect l="l" t="t" r="r" b="b"/>
            <a:pathLst>
              <a:path w="300038" h="342900">
                <a:moveTo>
                  <a:pt x="150019" y="342900"/>
                </a:moveTo>
                <a:lnTo>
                  <a:pt x="71797" y="287027"/>
                </a:lnTo>
                <a:cubicBezTo>
                  <a:pt x="26740" y="254843"/>
                  <a:pt x="0" y="202883"/>
                  <a:pt x="0" y="147513"/>
                </a:cubicBezTo>
                <a:lnTo>
                  <a:pt x="0" y="64294"/>
                </a:lnTo>
                <a:lnTo>
                  <a:pt x="150019" y="0"/>
                </a:lnTo>
                <a:lnTo>
                  <a:pt x="300038" y="64294"/>
                </a:lnTo>
                <a:lnTo>
                  <a:pt x="300038" y="147513"/>
                </a:lnTo>
                <a:cubicBezTo>
                  <a:pt x="300038" y="202883"/>
                  <a:pt x="273298" y="254843"/>
                  <a:pt x="228241" y="287027"/>
                </a:cubicBezTo>
                <a:lnTo>
                  <a:pt x="150019" y="342900"/>
                </a:lnTo>
                <a:close/>
                <a:moveTo>
                  <a:pt x="240182" y="122311"/>
                </a:moveTo>
                <a:lnTo>
                  <a:pt x="209874" y="92002"/>
                </a:lnTo>
                <a:lnTo>
                  <a:pt x="128588" y="173289"/>
                </a:lnTo>
                <a:lnTo>
                  <a:pt x="90164" y="134864"/>
                </a:lnTo>
                <a:lnTo>
                  <a:pt x="59855" y="165173"/>
                </a:lnTo>
                <a:lnTo>
                  <a:pt x="128588" y="233905"/>
                </a:lnTo>
                <a:lnTo>
                  <a:pt x="240182" y="122311"/>
                </a:lnTo>
                <a:close/>
              </a:path>
            </a:pathLst>
          </a:custGeom>
          <a:solidFill>
            <a:srgbClr val="0A84FF"/>
          </a:solidFill>
          <a:ln>
            <a:noFill/>
          </a:ln>
        </p:spPr>
      </p:sp>
      <p:sp>
        <p:nvSpPr>
          <p:cNvPr id="15" name="TextBox 15"/>
          <p:cNvSpPr txBox="1"/>
          <p:nvPr/>
        </p:nvSpPr>
        <p:spPr>
          <a:xfrm>
            <a:off x="7025640" y="1710690"/>
            <a:ext cx="1923355" cy="365760"/>
          </a:xfrm>
          <a:prstGeom prst="rect">
            <a:avLst/>
          </a:prstGeom>
          <a:noFill/>
          <a:ln>
            <a:noFill/>
          </a:ln>
        </p:spPr>
        <p:txBody>
          <a:bodyPr wrap="none" lIns="0" tIns="0" rIns="0" bIns="0" anchor="t" anchorCtr="0">
            <a:spAutoFit/>
          </a:bodyPr>
          <a:lstStyle/>
          <a:p>
            <a:pPr algn="l"/>
            <a:r>
              <a:rPr lang="zh-CN" sz="1800" b="1" dirty="0">
                <a:solidFill>
                  <a:srgbClr val="F5F5F7"/>
                </a:solidFill>
                <a:latin typeface="Segoe UI"/>
                <a:ea typeface="Microsoft YaHei"/>
                <a:cs typeface="Segoe UI"/>
              </a:rPr>
              <a:t>Titanium Design</a:t>
            </a:r>
          </a:p>
        </p:txBody>
      </p:sp>
      <p:sp>
        <p:nvSpPr>
          <p:cNvPr id="16" name="TextBox 16"/>
          <p:cNvSpPr txBox="1"/>
          <p:nvPr/>
        </p:nvSpPr>
        <p:spPr>
          <a:xfrm>
            <a:off x="6555105" y="2235518"/>
            <a:ext cx="3008948" cy="541020"/>
          </a:xfrm>
          <a:prstGeom prst="rect">
            <a:avLst/>
          </a:prstGeom>
          <a:noFill/>
          <a:ln>
            <a:noFill/>
          </a:ln>
        </p:spPr>
        <p:txBody>
          <a:bodyPr wrap="square" lIns="0" tIns="0" rIns="0" bIns="0" anchor="t" anchorCtr="0"/>
          <a:lstStyle/>
          <a:p>
            <a:pPr algn="l">
              <a:lnSpc>
                <a:spcPts val="2100"/>
              </a:lnSpc>
            </a:pPr>
            <a:r>
              <a:rPr lang="zh-CN" sz="1350" dirty="0">
                <a:solidFill>
                  <a:srgbClr val="E5E5EA"/>
                </a:solidFill>
                <a:latin typeface="Segoe UI"/>
                <a:ea typeface="Microsoft YaHei"/>
                <a:cs typeface="Segoe UI"/>
              </a:rPr>
              <a:t xml:space="preserve">Aerospace-grade titanium. Strong, </a:t>
            </a:r>
            <a:r>
              <a:rPr lang="zh-CN" sz="1350" dirty="0">
                <a:solidFill>
                  <a:srgbClr val="E5E5EA"/>
                </a:solidFill>
                <a:latin typeface="Segoe UI"/>
                <a:ea typeface="Microsoft YaHei"/>
                <a:cs typeface="Segoe UI"/>
              </a:rPr>
              <a:t>lightweight, premium finish.</a:t>
            </a:r>
          </a:p>
        </p:txBody>
      </p:sp>
      <p:sp>
        <p:nvSpPr>
          <p:cNvPr id="17" name="TextBox 17"/>
          <p:cNvSpPr txBox="1"/>
          <p:nvPr/>
        </p:nvSpPr>
        <p:spPr>
          <a:xfrm>
            <a:off x="6557010" y="3013710"/>
            <a:ext cx="1142619" cy="243840"/>
          </a:xfrm>
          <a:prstGeom prst="rect">
            <a:avLst/>
          </a:prstGeom>
          <a:noFill/>
          <a:ln>
            <a:noFill/>
          </a:ln>
        </p:spPr>
        <p:txBody>
          <a:bodyPr wrap="none" lIns="0" tIns="0" rIns="0" bIns="0" anchor="t" anchorCtr="0">
            <a:spAutoFit/>
          </a:bodyPr>
          <a:lstStyle/>
          <a:p>
            <a:pPr algn="l"/>
            <a:r>
              <a:rPr lang="zh-CN" sz="1200" dirty="0">
                <a:solidFill>
                  <a:srgbClr val="8E8E93"/>
                </a:solidFill>
                <a:latin typeface="Segoe UI"/>
                <a:ea typeface="Microsoft YaHei"/>
                <a:cs typeface="Segoe UI"/>
              </a:rPr>
              <a:t>Four finishes:</a:t>
            </a:r>
          </a:p>
        </p:txBody>
      </p:sp>
      <p:sp>
        <p:nvSpPr>
          <p:cNvPr id="18" name="Ellipse 18"/>
          <p:cNvSpPr/>
          <p:nvPr/>
        </p:nvSpPr>
        <p:spPr>
          <a:xfrm>
            <a:off x="6667500" y="3381375"/>
            <a:ext cx="190500" cy="190500"/>
          </a:xfrm>
          <a:prstGeom prst="ellipse">
            <a:avLst/>
          </a:prstGeom>
          <a:solidFill>
            <a:srgbClr val="3A3A3C"/>
          </a:solidFill>
          <a:ln>
            <a:noFill/>
          </a:ln>
        </p:spPr>
      </p:sp>
      <p:sp>
        <p:nvSpPr>
          <p:cNvPr id="19" name="TextBox 19"/>
          <p:cNvSpPr txBox="1"/>
          <p:nvPr/>
        </p:nvSpPr>
        <p:spPr>
          <a:xfrm>
            <a:off x="6892290" y="3410902"/>
            <a:ext cx="376714" cy="213360"/>
          </a:xfrm>
          <a:prstGeom prst="rect">
            <a:avLst/>
          </a:prstGeom>
          <a:noFill/>
          <a:ln>
            <a:noFill/>
          </a:ln>
        </p:spPr>
        <p:txBody>
          <a:bodyPr wrap="none" lIns="0" tIns="0" rIns="0" bIns="0" anchor="t" anchorCtr="0">
            <a:spAutoFit/>
          </a:bodyPr>
          <a:lstStyle/>
          <a:p>
            <a:pPr algn="l"/>
            <a:r>
              <a:rPr lang="zh-CN" sz="1050" dirty="0">
                <a:solidFill>
                  <a:srgbClr val="8E8E93"/>
                </a:solidFill>
                <a:latin typeface="Segoe UI"/>
                <a:ea typeface="Microsoft YaHei"/>
                <a:cs typeface="Segoe UI"/>
              </a:rPr>
              <a:t>Black</a:t>
            </a:r>
          </a:p>
        </p:txBody>
      </p:sp>
      <p:sp>
        <p:nvSpPr>
          <p:cNvPr id="20" name="Ellipse 20"/>
          <p:cNvSpPr/>
          <p:nvPr/>
        </p:nvSpPr>
        <p:spPr>
          <a:xfrm>
            <a:off x="7524750" y="3381375"/>
            <a:ext cx="190500" cy="190500"/>
          </a:xfrm>
          <a:prstGeom prst="ellipse">
            <a:avLst/>
          </a:prstGeom>
          <a:solidFill>
            <a:srgbClr val="C8B89A"/>
          </a:solidFill>
          <a:ln>
            <a:noFill/>
          </a:ln>
        </p:spPr>
      </p:sp>
      <p:sp>
        <p:nvSpPr>
          <p:cNvPr id="21" name="TextBox 21"/>
          <p:cNvSpPr txBox="1"/>
          <p:nvPr/>
        </p:nvSpPr>
        <p:spPr>
          <a:xfrm>
            <a:off x="7749540" y="3410902"/>
            <a:ext cx="530733" cy="213360"/>
          </a:xfrm>
          <a:prstGeom prst="rect">
            <a:avLst/>
          </a:prstGeom>
          <a:noFill/>
          <a:ln>
            <a:noFill/>
          </a:ln>
        </p:spPr>
        <p:txBody>
          <a:bodyPr wrap="none" lIns="0" tIns="0" rIns="0" bIns="0" anchor="t" anchorCtr="0">
            <a:spAutoFit/>
          </a:bodyPr>
          <a:lstStyle/>
          <a:p>
            <a:pPr algn="l"/>
            <a:r>
              <a:rPr lang="zh-CN" sz="1050" dirty="0">
                <a:solidFill>
                  <a:srgbClr val="8E8E93"/>
                </a:solidFill>
                <a:latin typeface="Segoe UI"/>
                <a:ea typeface="Microsoft YaHei"/>
                <a:cs typeface="Segoe UI"/>
              </a:rPr>
              <a:t>Natural</a:t>
            </a:r>
          </a:p>
        </p:txBody>
      </p:sp>
      <p:sp>
        <p:nvSpPr>
          <p:cNvPr id="22" name="Ellipse 22"/>
          <p:cNvSpPr/>
          <p:nvPr/>
        </p:nvSpPr>
        <p:spPr>
          <a:xfrm>
            <a:off x="8477250" y="3381375"/>
            <a:ext cx="190500" cy="190500"/>
          </a:xfrm>
          <a:prstGeom prst="ellipse">
            <a:avLst/>
          </a:prstGeom>
          <a:solidFill>
            <a:srgbClr val="F0F0F0"/>
          </a:solidFill>
          <a:ln w="9525">
            <a:solidFill>
              <a:srgbClr val="2A2A3A"/>
            </a:solidFill>
          </a:ln>
        </p:spPr>
      </p:sp>
      <p:sp>
        <p:nvSpPr>
          <p:cNvPr id="23" name="TextBox 23"/>
          <p:cNvSpPr txBox="1"/>
          <p:nvPr/>
        </p:nvSpPr>
        <p:spPr>
          <a:xfrm>
            <a:off x="8702040" y="3410902"/>
            <a:ext cx="404717" cy="213360"/>
          </a:xfrm>
          <a:prstGeom prst="rect">
            <a:avLst/>
          </a:prstGeom>
          <a:noFill/>
          <a:ln>
            <a:noFill/>
          </a:ln>
        </p:spPr>
        <p:txBody>
          <a:bodyPr wrap="none" lIns="0" tIns="0" rIns="0" bIns="0" anchor="t" anchorCtr="0">
            <a:spAutoFit/>
          </a:bodyPr>
          <a:lstStyle/>
          <a:p>
            <a:pPr algn="l"/>
            <a:r>
              <a:rPr lang="zh-CN" sz="1050" dirty="0">
                <a:solidFill>
                  <a:srgbClr val="8E8E93"/>
                </a:solidFill>
                <a:latin typeface="Segoe UI"/>
                <a:ea typeface="Microsoft YaHei"/>
                <a:cs typeface="Segoe UI"/>
              </a:rPr>
              <a:t>White</a:t>
            </a:r>
          </a:p>
        </p:txBody>
      </p:sp>
      <p:sp>
        <p:nvSpPr>
          <p:cNvPr id="24" name="Ellipse 24"/>
          <p:cNvSpPr/>
          <p:nvPr/>
        </p:nvSpPr>
        <p:spPr>
          <a:xfrm>
            <a:off x="9334500" y="3381375"/>
            <a:ext cx="190500" cy="190500"/>
          </a:xfrm>
          <a:prstGeom prst="ellipse">
            <a:avLst/>
          </a:prstGeom>
          <a:solidFill>
            <a:srgbClr val="D4B896"/>
          </a:solidFill>
          <a:ln>
            <a:noFill/>
          </a:ln>
        </p:spPr>
      </p:sp>
      <p:sp>
        <p:nvSpPr>
          <p:cNvPr id="25" name="TextBox 25"/>
          <p:cNvSpPr txBox="1"/>
          <p:nvPr/>
        </p:nvSpPr>
        <p:spPr>
          <a:xfrm>
            <a:off x="9559290" y="3410902"/>
            <a:ext cx="488728" cy="213360"/>
          </a:xfrm>
          <a:prstGeom prst="rect">
            <a:avLst/>
          </a:prstGeom>
          <a:noFill/>
          <a:ln>
            <a:noFill/>
          </a:ln>
        </p:spPr>
        <p:txBody>
          <a:bodyPr wrap="none" lIns="0" tIns="0" rIns="0" bIns="0" anchor="t" anchorCtr="0">
            <a:spAutoFit/>
          </a:bodyPr>
          <a:lstStyle/>
          <a:p>
            <a:pPr algn="l"/>
            <a:r>
              <a:rPr lang="zh-CN" sz="1050" dirty="0">
                <a:solidFill>
                  <a:srgbClr val="8E8E93"/>
                </a:solidFill>
                <a:latin typeface="Segoe UI"/>
                <a:ea typeface="Microsoft YaHei"/>
                <a:cs typeface="Segoe UI"/>
              </a:rPr>
              <a:t>Desert</a:t>
            </a:r>
          </a:p>
        </p:txBody>
      </p:sp>
      <p:sp>
        <p:nvSpPr>
          <p:cNvPr id="26" name="Rectangle 26"/>
          <p:cNvSpPr/>
          <p:nvPr/>
        </p:nvSpPr>
        <p:spPr>
          <a:xfrm>
            <a:off x="571500" y="3952875"/>
            <a:ext cx="5334000" cy="2286000"/>
          </a:xfrm>
          <a:prstGeom prst="roundRect">
            <a:avLst>
              <a:gd name="adj" fmla="val 6667"/>
            </a:avLst>
          </a:prstGeom>
          <a:solidFill>
            <a:srgbClr val="15151F"/>
          </a:solidFill>
          <a:ln w="9525">
            <a:solidFill>
              <a:srgbClr val="2A2A3A"/>
            </a:solidFill>
          </a:ln>
        </p:spPr>
      </p:sp>
      <p:sp>
        <p:nvSpPr>
          <p:cNvPr id="27" name="Rectangle 27"/>
          <p:cNvSpPr/>
          <p:nvPr/>
        </p:nvSpPr>
        <p:spPr>
          <a:xfrm>
            <a:off x="571500" y="3952875"/>
            <a:ext cx="5334000" cy="2286000"/>
          </a:xfrm>
          <a:prstGeom prst="roundRect">
            <a:avLst>
              <a:gd name="adj" fmla="val 6667"/>
            </a:avLst>
          </a:prstGeom>
          <a:gradFill>
            <a:gsLst>
              <a:gs pos="0">
                <a:srgbClr val="5E5CE6">
                  <a:alpha val="8000"/>
                </a:srgbClr>
              </a:gs>
              <a:gs pos="100000">
                <a:srgbClr val="5E5CE6">
                  <a:alpha val="0"/>
                </a:srgbClr>
              </a:gs>
            </a:gsLst>
            <a:path path="circle">
              <a:fillToRect l="50000" t="50000" r="50000" b="50000"/>
            </a:path>
          </a:gradFill>
          <a:ln>
            <a:noFill/>
          </a:ln>
        </p:spPr>
      </p:sp>
      <p:sp>
        <p:nvSpPr>
          <p:cNvPr id="28" name="Freeform 28"/>
          <p:cNvSpPr/>
          <p:nvPr/>
        </p:nvSpPr>
        <p:spPr>
          <a:xfrm>
            <a:off x="878681" y="4191000"/>
            <a:ext cx="300038" cy="342900"/>
          </a:xfrm>
          <a:custGeom>
            <a:avLst/>
            <a:gdLst/>
            <a:ahLst/>
            <a:cxnLst/>
            <a:rect l="l" t="t" r="r" b="b"/>
            <a:pathLst>
              <a:path w="300038" h="342900">
                <a:moveTo>
                  <a:pt x="150019" y="342900"/>
                </a:moveTo>
                <a:lnTo>
                  <a:pt x="71797" y="287027"/>
                </a:lnTo>
                <a:cubicBezTo>
                  <a:pt x="26740" y="254843"/>
                  <a:pt x="0" y="202883"/>
                  <a:pt x="0" y="147513"/>
                </a:cubicBezTo>
                <a:lnTo>
                  <a:pt x="0" y="64294"/>
                </a:lnTo>
                <a:lnTo>
                  <a:pt x="150019" y="0"/>
                </a:lnTo>
                <a:lnTo>
                  <a:pt x="300038" y="64294"/>
                </a:lnTo>
                <a:lnTo>
                  <a:pt x="300038" y="147513"/>
                </a:lnTo>
                <a:cubicBezTo>
                  <a:pt x="300038" y="202883"/>
                  <a:pt x="273298" y="254843"/>
                  <a:pt x="228241" y="287027"/>
                </a:cubicBezTo>
                <a:lnTo>
                  <a:pt x="150019" y="342900"/>
                </a:lnTo>
                <a:close/>
                <a:moveTo>
                  <a:pt x="240182" y="122311"/>
                </a:moveTo>
                <a:lnTo>
                  <a:pt x="209874" y="92002"/>
                </a:lnTo>
                <a:lnTo>
                  <a:pt x="128588" y="173289"/>
                </a:lnTo>
                <a:lnTo>
                  <a:pt x="90164" y="134864"/>
                </a:lnTo>
                <a:lnTo>
                  <a:pt x="59855" y="165173"/>
                </a:lnTo>
                <a:lnTo>
                  <a:pt x="128588" y="233905"/>
                </a:lnTo>
                <a:lnTo>
                  <a:pt x="240182" y="122311"/>
                </a:lnTo>
                <a:close/>
              </a:path>
            </a:pathLst>
          </a:custGeom>
          <a:solidFill>
            <a:srgbClr val="5E5CE6"/>
          </a:solidFill>
          <a:ln>
            <a:noFill/>
          </a:ln>
        </p:spPr>
      </p:sp>
      <p:sp>
        <p:nvSpPr>
          <p:cNvPr id="29" name="TextBox 29"/>
          <p:cNvSpPr txBox="1"/>
          <p:nvPr/>
        </p:nvSpPr>
        <p:spPr>
          <a:xfrm>
            <a:off x="1310640" y="4187190"/>
            <a:ext cx="1784737" cy="365760"/>
          </a:xfrm>
          <a:prstGeom prst="rect">
            <a:avLst/>
          </a:prstGeom>
          <a:noFill/>
          <a:ln>
            <a:noFill/>
          </a:ln>
        </p:spPr>
        <p:txBody>
          <a:bodyPr wrap="none" lIns="0" tIns="0" rIns="0" bIns="0" anchor="t" anchorCtr="0">
            <a:spAutoFit/>
          </a:bodyPr>
          <a:lstStyle/>
          <a:p>
            <a:pPr algn="l"/>
            <a:r>
              <a:rPr lang="zh-CN" sz="1800" b="1" dirty="0">
                <a:solidFill>
                  <a:srgbClr val="F5F5F7"/>
                </a:solidFill>
                <a:latin typeface="Segoe UI"/>
                <a:ea typeface="Microsoft YaHei"/>
                <a:cs typeface="Segoe UI"/>
              </a:rPr>
              <a:t>Ceramic Shield</a:t>
            </a:r>
          </a:p>
        </p:txBody>
      </p:sp>
      <p:sp>
        <p:nvSpPr>
          <p:cNvPr id="30" name="TextBox 30"/>
          <p:cNvSpPr txBox="1"/>
          <p:nvPr/>
        </p:nvSpPr>
        <p:spPr>
          <a:xfrm>
            <a:off x="840105" y="4712018"/>
            <a:ext cx="3022663" cy="274320"/>
          </a:xfrm>
          <a:prstGeom prst="rect">
            <a:avLst/>
          </a:prstGeom>
          <a:noFill/>
          <a:ln>
            <a:noFill/>
          </a:ln>
        </p:spPr>
        <p:txBody>
          <a:bodyPr wrap="none" lIns="0" tIns="0" rIns="0" bIns="0" anchor="t" anchorCtr="0">
            <a:spAutoFit/>
          </a:bodyPr>
          <a:lstStyle/>
          <a:p>
            <a:pPr algn="l"/>
            <a:r>
              <a:rPr lang="zh-CN" sz="1350" dirty="0">
                <a:solidFill>
                  <a:srgbClr val="E5E5EA"/>
                </a:solidFill>
                <a:latin typeface="Segoe UI"/>
                <a:ea typeface="Microsoft YaHei"/>
                <a:cs typeface="Segoe UI"/>
              </a:rPr>
              <a:t>Latest generation Ceramic Shield.</a:t>
            </a:r>
          </a:p>
        </p:txBody>
      </p:sp>
      <p:sp>
        <p:nvSpPr>
          <p:cNvPr id="31" name="TextBox 31"/>
          <p:cNvSpPr txBox="1"/>
          <p:nvPr/>
        </p:nvSpPr>
        <p:spPr>
          <a:xfrm>
            <a:off x="809625" y="4881562"/>
            <a:ext cx="672822" cy="762000"/>
          </a:xfrm>
          <a:prstGeom prst="rect">
            <a:avLst/>
          </a:prstGeom>
          <a:noFill/>
          <a:ln>
            <a:noFill/>
          </a:ln>
        </p:spPr>
        <p:txBody>
          <a:bodyPr wrap="none" lIns="0" tIns="0" rIns="0" bIns="0" anchor="t" anchorCtr="0">
            <a:spAutoFit/>
          </a:bodyPr>
          <a:lstStyle/>
          <a:p>
            <a:pPr algn="l"/>
            <a:r>
              <a:rPr lang="zh-CN" sz="3750" b="1" dirty="0">
                <a:solidFill>
                  <a:srgbClr val="5E5CE6"/>
                </a:solidFill>
                <a:latin typeface="Segoe UI"/>
                <a:ea typeface="Microsoft YaHei"/>
                <a:cs typeface="Segoe UI"/>
              </a:rPr>
              <a:t>2x</a:t>
            </a:r>
          </a:p>
        </p:txBody>
      </p:sp>
      <p:sp>
        <p:nvSpPr>
          <p:cNvPr id="32" name="TextBox 32"/>
          <p:cNvSpPr txBox="1"/>
          <p:nvPr/>
        </p:nvSpPr>
        <p:spPr>
          <a:xfrm>
            <a:off x="1602105" y="5073968"/>
            <a:ext cx="2108835" cy="521970"/>
          </a:xfrm>
          <a:prstGeom prst="rect">
            <a:avLst/>
          </a:prstGeom>
          <a:noFill/>
          <a:ln>
            <a:noFill/>
          </a:ln>
        </p:spPr>
        <p:txBody>
          <a:bodyPr wrap="square" lIns="0" tIns="0" rIns="0" bIns="0" anchor="t" anchorCtr="0"/>
          <a:lstStyle/>
          <a:p>
            <a:pPr algn="l">
              <a:lnSpc>
                <a:spcPts val="1950"/>
              </a:lnSpc>
            </a:pPr>
            <a:r>
              <a:rPr lang="zh-CN" sz="1350" dirty="0">
                <a:solidFill>
                  <a:srgbClr val="E5E5EA"/>
                </a:solidFill>
                <a:latin typeface="Segoe UI"/>
                <a:ea typeface="Microsoft YaHei"/>
                <a:cs typeface="Segoe UI"/>
              </a:rPr>
              <a:t xml:space="preserve">tougher than glass </a:t>
            </a:r>
            <a:r>
              <a:rPr lang="zh-CN" sz="1350" dirty="0">
                <a:solidFill>
                  <a:srgbClr val="E5E5EA"/>
                </a:solidFill>
                <a:latin typeface="Segoe UI"/>
                <a:ea typeface="Microsoft YaHei"/>
                <a:cs typeface="Segoe UI"/>
              </a:rPr>
              <a:t>on any other smartphone</a:t>
            </a:r>
          </a:p>
        </p:txBody>
      </p:sp>
      <p:sp>
        <p:nvSpPr>
          <p:cNvPr id="33" name="Rectangle 33"/>
          <p:cNvSpPr/>
          <p:nvPr/>
        </p:nvSpPr>
        <p:spPr>
          <a:xfrm>
            <a:off x="6286500" y="3952875"/>
            <a:ext cx="5334000" cy="2286000"/>
          </a:xfrm>
          <a:prstGeom prst="roundRect">
            <a:avLst>
              <a:gd name="adj" fmla="val 6667"/>
            </a:avLst>
          </a:prstGeom>
          <a:solidFill>
            <a:srgbClr val="15151F"/>
          </a:solidFill>
          <a:ln w="9525">
            <a:solidFill>
              <a:srgbClr val="2A2A3A"/>
            </a:solidFill>
          </a:ln>
        </p:spPr>
      </p:sp>
      <p:sp>
        <p:nvSpPr>
          <p:cNvPr id="34" name="Rectangle 34"/>
          <p:cNvSpPr/>
          <p:nvPr/>
        </p:nvSpPr>
        <p:spPr>
          <a:xfrm>
            <a:off x="6286500" y="3952875"/>
            <a:ext cx="5334000" cy="2286000"/>
          </a:xfrm>
          <a:prstGeom prst="roundRect">
            <a:avLst>
              <a:gd name="adj" fmla="val 6667"/>
            </a:avLst>
          </a:prstGeom>
          <a:gradFill>
            <a:gsLst>
              <a:gs pos="0">
                <a:srgbClr val="30D158">
                  <a:alpha val="6000"/>
                </a:srgbClr>
              </a:gs>
              <a:gs pos="100000">
                <a:srgbClr val="30D158">
                  <a:alpha val="0"/>
                </a:srgbClr>
              </a:gs>
            </a:gsLst>
            <a:path path="circle">
              <a:fillToRect l="50000" t="50000" r="50000" b="50000"/>
            </a:path>
          </a:gradFill>
          <a:ln>
            <a:noFill/>
          </a:ln>
        </p:spPr>
      </p:sp>
      <p:sp>
        <p:nvSpPr>
          <p:cNvPr id="35" name="Freeform 35"/>
          <p:cNvSpPr/>
          <p:nvPr/>
        </p:nvSpPr>
        <p:spPr>
          <a:xfrm>
            <a:off x="6615112" y="4212431"/>
            <a:ext cx="278606" cy="321469"/>
          </a:xfrm>
          <a:custGeom>
            <a:avLst/>
            <a:gdLst/>
            <a:ahLst/>
            <a:cxnLst/>
            <a:rect l="l" t="t" r="r" b="b"/>
            <a:pathLst>
              <a:path w="278606" h="321469">
                <a:moveTo>
                  <a:pt x="214312" y="0"/>
                </a:moveTo>
                <a:cubicBezTo>
                  <a:pt x="95951" y="0"/>
                  <a:pt x="0" y="86356"/>
                  <a:pt x="0" y="192881"/>
                </a:cubicBezTo>
                <a:lnTo>
                  <a:pt x="0" y="321469"/>
                </a:lnTo>
                <a:lnTo>
                  <a:pt x="42862" y="321469"/>
                </a:lnTo>
                <a:lnTo>
                  <a:pt x="42862" y="205436"/>
                </a:lnTo>
                <a:lnTo>
                  <a:pt x="134864" y="113433"/>
                </a:lnTo>
                <a:lnTo>
                  <a:pt x="165173" y="143741"/>
                </a:lnTo>
                <a:lnTo>
                  <a:pt x="85725" y="223189"/>
                </a:lnTo>
                <a:lnTo>
                  <a:pt x="85725" y="277655"/>
                </a:lnTo>
                <a:cubicBezTo>
                  <a:pt x="194024" y="267976"/>
                  <a:pt x="278606" y="185741"/>
                  <a:pt x="278606" y="85725"/>
                </a:cubicBezTo>
                <a:lnTo>
                  <a:pt x="278606" y="0"/>
                </a:lnTo>
                <a:lnTo>
                  <a:pt x="214312" y="0"/>
                </a:lnTo>
                <a:close/>
              </a:path>
            </a:pathLst>
          </a:custGeom>
          <a:solidFill>
            <a:srgbClr val="30D158"/>
          </a:solidFill>
          <a:ln>
            <a:noFill/>
          </a:ln>
        </p:spPr>
      </p:sp>
      <p:sp>
        <p:nvSpPr>
          <p:cNvPr id="36" name="TextBox 36"/>
          <p:cNvSpPr txBox="1"/>
          <p:nvPr/>
        </p:nvSpPr>
        <p:spPr>
          <a:xfrm>
            <a:off x="7025640" y="4187190"/>
            <a:ext cx="1557909" cy="365760"/>
          </a:xfrm>
          <a:prstGeom prst="rect">
            <a:avLst/>
          </a:prstGeom>
          <a:noFill/>
          <a:ln>
            <a:noFill/>
          </a:ln>
        </p:spPr>
        <p:txBody>
          <a:bodyPr wrap="none" lIns="0" tIns="0" rIns="0" bIns="0" anchor="t" anchorCtr="0">
            <a:spAutoFit/>
          </a:bodyPr>
          <a:lstStyle/>
          <a:p>
            <a:pPr algn="l"/>
            <a:r>
              <a:rPr lang="zh-CN" sz="1800" b="1" dirty="0">
                <a:solidFill>
                  <a:srgbClr val="F5F5F7"/>
                </a:solidFill>
                <a:latin typeface="Segoe UI"/>
                <a:ea typeface="Microsoft YaHei"/>
                <a:cs typeface="Segoe UI"/>
              </a:rPr>
              <a:t>Environment</a:t>
            </a:r>
          </a:p>
        </p:txBody>
      </p:sp>
      <p:sp>
        <p:nvSpPr>
          <p:cNvPr id="37" name="TextBox 37"/>
          <p:cNvSpPr txBox="1"/>
          <p:nvPr/>
        </p:nvSpPr>
        <p:spPr>
          <a:xfrm>
            <a:off x="6555105" y="4712018"/>
            <a:ext cx="2122551" cy="274320"/>
          </a:xfrm>
          <a:prstGeom prst="rect">
            <a:avLst/>
          </a:prstGeom>
          <a:noFill/>
          <a:ln>
            <a:noFill/>
          </a:ln>
        </p:spPr>
        <p:txBody>
          <a:bodyPr wrap="none" lIns="0" tIns="0" rIns="0" bIns="0" anchor="t" anchorCtr="0">
            <a:spAutoFit/>
          </a:bodyPr>
          <a:lstStyle/>
          <a:p>
            <a:pPr algn="l"/>
            <a:r>
              <a:rPr lang="zh-CN" sz="1350" b="1" dirty="0">
                <a:solidFill>
                  <a:srgbClr val="30D158"/>
                </a:solidFill>
                <a:latin typeface="Segoe UI"/>
                <a:ea typeface="Microsoft YaHei"/>
                <a:cs typeface="Segoe UI"/>
              </a:rPr>
              <a:t>25%+</a:t>
            </a:r>
            <a:r>
              <a:rPr lang="zh-CN" sz="1350" dirty="0">
                <a:solidFill>
                  <a:srgbClr val="E5E5EA"/>
                </a:solidFill>
                <a:latin typeface="Segoe UI"/>
                <a:ea typeface="Microsoft YaHei"/>
                <a:cs typeface="Segoe UI"/>
              </a:rPr>
              <a:t xml:space="preserve"> </a:t>
            </a:r>
            <a:r>
              <a:rPr lang="zh-CN" sz="1350" dirty="0">
                <a:solidFill>
                  <a:srgbClr val="E5E5EA"/>
                </a:solidFill>
                <a:latin typeface="Segoe UI"/>
                <a:ea typeface="Microsoft YaHei"/>
                <a:cs typeface="Segoe UI"/>
              </a:rPr>
              <a:t xml:space="preserve"> recycled content</a:t>
            </a:r>
            <a:r>
              <a:rPr lang="zh-CN" sz="1350" dirty="0">
                <a:solidFill>
                  <a:srgbClr val="E5E5EA"/>
                </a:solidFill>
                <a:latin typeface="Segoe UI"/>
                <a:ea typeface="Microsoft YaHei"/>
                <a:cs typeface="Segoe UI"/>
              </a:rPr>
              <a:t xml:space="preserve"> </a:t>
            </a:r>
          </a:p>
        </p:txBody>
      </p:sp>
      <p:sp>
        <p:nvSpPr>
          <p:cNvPr id="38" name="TextBox 38"/>
          <p:cNvSpPr txBox="1"/>
          <p:nvPr/>
        </p:nvSpPr>
        <p:spPr>
          <a:xfrm>
            <a:off x="6557010" y="5090160"/>
            <a:ext cx="3032760" cy="739140"/>
          </a:xfrm>
          <a:prstGeom prst="rect">
            <a:avLst/>
          </a:prstGeom>
          <a:noFill/>
          <a:ln>
            <a:noFill/>
          </a:ln>
        </p:spPr>
        <p:txBody>
          <a:bodyPr wrap="square" lIns="0" tIns="0" rIns="0" bIns="0" anchor="t" anchorCtr="0"/>
          <a:lstStyle/>
          <a:p>
            <a:pPr algn="l">
              <a:lnSpc>
                <a:spcPts val="1950"/>
              </a:lnSpc>
            </a:pPr>
            <a:r>
              <a:rPr lang="zh-CN" sz="1200" dirty="0">
                <a:solidFill>
                  <a:srgbClr val="8E8E93"/>
                </a:solidFill>
                <a:latin typeface="Segoe UI"/>
                <a:ea typeface="Microsoft YaHei"/>
                <a:cs typeface="Segoe UI"/>
              </a:rPr>
              <a:t xml:space="preserve">100% recycled aluminum frame </a:t>
            </a:r>
            <a:r>
              <a:rPr lang="zh-CN" sz="1200" dirty="0">
                <a:solidFill>
                  <a:srgbClr val="8E8E93"/>
                </a:solidFill>
                <a:latin typeface="Segoe UI"/>
                <a:ea typeface="Microsoft YaHei"/>
                <a:cs typeface="Segoe UI"/>
              </a:rPr>
              <a:t xml:space="preserve">100% recycled cobalt battery </a:t>
            </a:r>
            <a:r>
              <a:rPr lang="zh-CN" sz="1200" b="1" dirty="0">
                <a:solidFill>
                  <a:srgbClr val="30D158"/>
                </a:solidFill>
                <a:latin typeface="Segoe UI"/>
                <a:ea typeface="Microsoft YaHei"/>
                <a:cs typeface="Segoe UI"/>
              </a:rPr>
              <a:t>95%+</a:t>
            </a:r>
            <a:r>
              <a:rPr lang="zh-CN" sz="1200" dirty="0">
                <a:solidFill>
                  <a:srgbClr val="8E8E93"/>
                </a:solidFill>
                <a:latin typeface="Segoe UI"/>
                <a:ea typeface="Microsoft YaHei"/>
                <a:cs typeface="Segoe UI"/>
              </a:rPr>
              <a:t xml:space="preserve"> </a:t>
            </a:r>
            <a:r>
              <a:rPr lang="zh-CN" sz="1200" dirty="0">
                <a:solidFill>
                  <a:srgbClr val="8E8E93"/>
                </a:solidFill>
                <a:latin typeface="Segoe UI"/>
                <a:ea typeface="Microsoft YaHei"/>
                <a:cs typeface="Segoe UI"/>
              </a:rPr>
              <a:t xml:space="preserve"> recycled lithium — first for iPhone</a:t>
            </a:r>
          </a:p>
        </p:txBody>
      </p:sp>
      <p:sp>
        <p:nvSpPr>
          <p:cNvPr id="39" name="TextBox 39"/>
          <p:cNvSpPr txBox="1"/>
          <p:nvPr/>
        </p:nvSpPr>
        <p:spPr>
          <a:xfrm>
            <a:off x="6558915" y="5963602"/>
            <a:ext cx="3296079" cy="213360"/>
          </a:xfrm>
          <a:prstGeom prst="rect">
            <a:avLst/>
          </a:prstGeom>
          <a:noFill/>
          <a:ln>
            <a:noFill/>
          </a:ln>
        </p:spPr>
        <p:txBody>
          <a:bodyPr wrap="none" lIns="0" tIns="0" rIns="0" bIns="0" anchor="t" anchorCtr="0">
            <a:spAutoFit/>
          </a:bodyPr>
          <a:lstStyle/>
          <a:p>
            <a:pPr algn="l"/>
            <a:r>
              <a:rPr lang="zh-CN" sz="1050" dirty="0">
                <a:solidFill>
                  <a:srgbClr val="636366"/>
                </a:solidFill>
                <a:latin typeface="Segoe UI"/>
                <a:ea typeface="Microsoft YaHei"/>
                <a:cs typeface="Segoe UI"/>
              </a:rPr>
              <a:t>Carbon neutral by 2030 · Plastic-free packaging</a:t>
            </a:r>
          </a:p>
        </p:txBody>
      </p:sp>
      <p:sp>
        <p:nvSpPr>
          <p:cNvPr id="40" name="TextBox 40"/>
          <p:cNvSpPr txBox="1"/>
          <p:nvPr/>
        </p:nvSpPr>
        <p:spPr>
          <a:xfrm>
            <a:off x="11207020" y="6475095"/>
            <a:ext cx="424910" cy="182880"/>
          </a:xfrm>
          <a:prstGeom prst="rect">
            <a:avLst/>
          </a:prstGeom>
          <a:noFill/>
          <a:ln>
            <a:noFill/>
          </a:ln>
        </p:spPr>
        <p:txBody>
          <a:bodyPr wrap="none" lIns="0" tIns="0" rIns="0" bIns="0" anchor="t" anchorCtr="0">
            <a:spAutoFit/>
          </a:bodyPr>
          <a:lstStyle/>
          <a:p>
            <a:pPr algn="r"/>
            <a:r>
              <a:rPr lang="zh-CN" sz="900" dirty="0">
                <a:solidFill>
                  <a:srgbClr val="636366"/>
                </a:solidFill>
                <a:latin typeface="Consolas"/>
                <a:ea typeface="Microsoft YaHei"/>
                <a:cs typeface="Consolas"/>
              </a:rPr>
              <a:t>08 / 09</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0A0A0F"/>
              </a:gs>
              <a:gs pos="100000">
                <a:srgbClr val="15151F"/>
              </a:gs>
            </a:gsLst>
            <a:lin ang="2700000" scaled="1"/>
          </a:gradFill>
          <a:ln>
            <a:noFill/>
          </a:ln>
        </p:spPr>
      </p:sp>
      <p:sp>
        <p:nvSpPr>
          <p:cNvPr id="3" name="Rectangle 3"/>
          <p:cNvSpPr/>
          <p:nvPr/>
        </p:nvSpPr>
        <p:spPr>
          <a:xfrm>
            <a:off x="0" y="0"/>
            <a:ext cx="12192000" cy="6858000"/>
          </a:xfrm>
          <a:prstGeom prst="rect">
            <a:avLst/>
          </a:prstGeom>
          <a:gradFill>
            <a:gsLst>
              <a:gs pos="0">
                <a:srgbClr val="0A84FF">
                  <a:alpha val="12000"/>
                </a:srgbClr>
              </a:gs>
              <a:gs pos="100000">
                <a:srgbClr val="0A84FF">
                  <a:alpha val="0"/>
                </a:srgbClr>
              </a:gs>
            </a:gsLst>
            <a:path path="circle">
              <a:fillToRect l="50000" t="50000" r="50000" b="50000"/>
            </a:path>
          </a:gradFill>
          <a:ln>
            <a:noFill/>
          </a:ln>
        </p:spPr>
      </p:sp>
      <p:sp>
        <p:nvSpPr>
          <p:cNvPr id="4" name="Rectangle 4"/>
          <p:cNvSpPr/>
          <p:nvPr/>
        </p:nvSpPr>
        <p:spPr>
          <a:xfrm>
            <a:off x="5143500" y="571500"/>
            <a:ext cx="1905000" cy="28575"/>
          </a:xfrm>
          <a:prstGeom prst="roundRect">
            <a:avLst>
              <a:gd name="adj" fmla="val 50000"/>
            </a:avLst>
          </a:prstGeom>
          <a:gradFill>
            <a:gsLst>
              <a:gs pos="0">
                <a:srgbClr val="0A84FF"/>
              </a:gs>
              <a:gs pos="100000">
                <a:srgbClr val="5E5CE6"/>
              </a:gs>
            </a:gsLst>
            <a:lin ang="0" scaled="1"/>
          </a:gradFill>
          <a:ln>
            <a:noFill/>
          </a:ln>
        </p:spPr>
      </p:sp>
      <p:sp>
        <p:nvSpPr>
          <p:cNvPr id="5" name="TextBox 5"/>
          <p:cNvSpPr txBox="1"/>
          <p:nvPr/>
        </p:nvSpPr>
        <p:spPr>
          <a:xfrm>
            <a:off x="5358074" y="791528"/>
            <a:ext cx="1475851" cy="213360"/>
          </a:xfrm>
          <a:prstGeom prst="rect">
            <a:avLst/>
          </a:prstGeom>
          <a:noFill/>
          <a:ln>
            <a:noFill/>
          </a:ln>
        </p:spPr>
        <p:txBody>
          <a:bodyPr wrap="none" lIns="0" tIns="0" rIns="0" bIns="0" anchor="t" anchorCtr="0">
            <a:spAutoFit/>
          </a:bodyPr>
          <a:lstStyle/>
          <a:p>
            <a:pPr algn="ctr"/>
            <a:r>
              <a:rPr lang="zh-CN" sz="1050" dirty="0">
                <a:solidFill>
                  <a:srgbClr val="8E8E93"/>
                </a:solidFill>
                <a:latin typeface="Consolas"/>
                <a:ea typeface="Microsoft YaHei"/>
                <a:cs typeface="Consolas"/>
              </a:rPr>
              <a:t>PRICING &amp; AVAILABILITY</a:t>
            </a:r>
          </a:p>
        </p:txBody>
      </p:sp>
      <p:sp>
        <p:nvSpPr>
          <p:cNvPr id="6" name="TextBox 6"/>
          <p:cNvSpPr txBox="1"/>
          <p:nvPr/>
        </p:nvSpPr>
        <p:spPr>
          <a:xfrm>
            <a:off x="3002994" y="1214438"/>
            <a:ext cx="6186011" cy="762000"/>
          </a:xfrm>
          <a:prstGeom prst="rect">
            <a:avLst/>
          </a:prstGeom>
          <a:noFill/>
          <a:ln>
            <a:noFill/>
          </a:ln>
        </p:spPr>
        <p:txBody>
          <a:bodyPr wrap="none" lIns="0" tIns="0" rIns="0" bIns="0" anchor="t" anchorCtr="0">
            <a:spAutoFit/>
          </a:bodyPr>
          <a:lstStyle/>
          <a:p>
            <a:pPr algn="ctr"/>
            <a:r>
              <a:rPr lang="zh-CN" sz="3750" b="1" dirty="0">
                <a:solidFill>
                  <a:srgbClr val="F5F5F7"/>
                </a:solidFill>
                <a:latin typeface="Segoe UI"/>
                <a:ea typeface="Microsoft YaHei"/>
                <a:cs typeface="Segoe UI"/>
              </a:rPr>
              <a:t>Available September 20.</a:t>
            </a:r>
          </a:p>
        </p:txBody>
      </p:sp>
      <p:sp>
        <p:nvSpPr>
          <p:cNvPr id="7" name="TextBox 7"/>
          <p:cNvSpPr txBox="1"/>
          <p:nvPr/>
        </p:nvSpPr>
        <p:spPr>
          <a:xfrm>
            <a:off x="2985949" y="1837372"/>
            <a:ext cx="6220101" cy="396240"/>
          </a:xfrm>
          <a:prstGeom prst="rect">
            <a:avLst/>
          </a:prstGeom>
          <a:noFill/>
          <a:ln>
            <a:noFill/>
          </a:ln>
        </p:spPr>
        <p:txBody>
          <a:bodyPr wrap="none" lIns="0" tIns="0" rIns="0" bIns="0" anchor="t" anchorCtr="0">
            <a:spAutoFit/>
          </a:bodyPr>
          <a:lstStyle/>
          <a:p>
            <a:pPr algn="ctr"/>
            <a:r>
              <a:rPr lang="zh-CN" sz="1950" b="1" dirty="0">
                <a:solidFill>
                  <a:srgbClr val="8E8E93"/>
                </a:solidFill>
                <a:latin typeface="Segoe UI"/>
                <a:ea typeface="Microsoft YaHei"/>
                <a:cs typeface="Segoe UI"/>
              </a:rPr>
              <a:t>Pre-order Friday, September 13 at 5 a.m. PDT</a:t>
            </a:r>
          </a:p>
        </p:txBody>
      </p:sp>
      <p:sp>
        <p:nvSpPr>
          <p:cNvPr id="8" name="Rectangle 8"/>
          <p:cNvSpPr/>
          <p:nvPr/>
        </p:nvSpPr>
        <p:spPr>
          <a:xfrm>
            <a:off x="1333500" y="2476500"/>
            <a:ext cx="4381500" cy="1714500"/>
          </a:xfrm>
          <a:prstGeom prst="roundRect">
            <a:avLst>
              <a:gd name="adj" fmla="val 8889"/>
            </a:avLst>
          </a:prstGeom>
          <a:solidFill>
            <a:srgbClr val="15151F"/>
          </a:solidFill>
          <a:ln w="9525">
            <a:solidFill>
              <a:srgbClr val="2A2A3A"/>
            </a:solidFill>
          </a:ln>
        </p:spPr>
      </p:sp>
      <p:sp>
        <p:nvSpPr>
          <p:cNvPr id="9" name="Freeform 9"/>
          <p:cNvSpPr/>
          <p:nvPr/>
        </p:nvSpPr>
        <p:spPr>
          <a:xfrm>
            <a:off x="1657350" y="2714625"/>
            <a:ext cx="228600" cy="304800"/>
          </a:xfrm>
          <a:custGeom>
            <a:avLst/>
            <a:gdLst/>
            <a:ahLst/>
            <a:cxnLst/>
            <a:rect l="l" t="t" r="r" b="b"/>
            <a:pathLst>
              <a:path w="228600" h="304800">
                <a:moveTo>
                  <a:pt x="38100" y="0"/>
                </a:moveTo>
                <a:cubicBezTo>
                  <a:pt x="17058" y="0"/>
                  <a:pt x="0" y="17058"/>
                  <a:pt x="0" y="38100"/>
                </a:cubicBezTo>
                <a:lnTo>
                  <a:pt x="0" y="266700"/>
                </a:lnTo>
                <a:cubicBezTo>
                  <a:pt x="0" y="287743"/>
                  <a:pt x="17058" y="304800"/>
                  <a:pt x="38100" y="304800"/>
                </a:cubicBezTo>
                <a:lnTo>
                  <a:pt x="190500" y="304800"/>
                </a:lnTo>
                <a:cubicBezTo>
                  <a:pt x="211543" y="304800"/>
                  <a:pt x="228600" y="287743"/>
                  <a:pt x="228600" y="266700"/>
                </a:cubicBezTo>
                <a:lnTo>
                  <a:pt x="228600" y="38100"/>
                </a:lnTo>
                <a:cubicBezTo>
                  <a:pt x="228600" y="17058"/>
                  <a:pt x="211543" y="0"/>
                  <a:pt x="190500" y="0"/>
                </a:cubicBezTo>
                <a:lnTo>
                  <a:pt x="38100" y="0"/>
                </a:lnTo>
                <a:close/>
                <a:moveTo>
                  <a:pt x="190500" y="57150"/>
                </a:moveTo>
                <a:lnTo>
                  <a:pt x="38100" y="57150"/>
                </a:lnTo>
                <a:lnTo>
                  <a:pt x="38100" y="247650"/>
                </a:lnTo>
                <a:lnTo>
                  <a:pt x="190500" y="247650"/>
                </a:lnTo>
                <a:lnTo>
                  <a:pt x="190500" y="57150"/>
                </a:lnTo>
                <a:close/>
              </a:path>
            </a:pathLst>
          </a:custGeom>
          <a:solidFill>
            <a:srgbClr val="0A84FF"/>
          </a:solidFill>
          <a:ln>
            <a:noFill/>
          </a:ln>
        </p:spPr>
      </p:sp>
      <p:sp>
        <p:nvSpPr>
          <p:cNvPr id="10" name="TextBox 10"/>
          <p:cNvSpPr txBox="1"/>
          <p:nvPr/>
        </p:nvSpPr>
        <p:spPr>
          <a:xfrm>
            <a:off x="2025015" y="2710815"/>
            <a:ext cx="1658722" cy="365760"/>
          </a:xfrm>
          <a:prstGeom prst="rect">
            <a:avLst/>
          </a:prstGeom>
          <a:noFill/>
          <a:ln>
            <a:noFill/>
          </a:ln>
        </p:spPr>
        <p:txBody>
          <a:bodyPr wrap="none" lIns="0" tIns="0" rIns="0" bIns="0" anchor="t" anchorCtr="0">
            <a:spAutoFit/>
          </a:bodyPr>
          <a:lstStyle/>
          <a:p>
            <a:pPr algn="l"/>
            <a:r>
              <a:rPr lang="zh-CN" sz="1800" b="1" dirty="0">
                <a:solidFill>
                  <a:srgbClr val="F5F5F7"/>
                </a:solidFill>
                <a:latin typeface="Segoe UI"/>
                <a:ea typeface="Microsoft YaHei"/>
                <a:cs typeface="Segoe UI"/>
              </a:rPr>
              <a:t>iPhone 16 Pro</a:t>
            </a:r>
          </a:p>
        </p:txBody>
      </p:sp>
      <p:sp>
        <p:nvSpPr>
          <p:cNvPr id="11" name="TextBox 11"/>
          <p:cNvSpPr txBox="1"/>
          <p:nvPr/>
        </p:nvSpPr>
        <p:spPr>
          <a:xfrm>
            <a:off x="1579245" y="3041332"/>
            <a:ext cx="1050331" cy="640080"/>
          </a:xfrm>
          <a:prstGeom prst="rect">
            <a:avLst/>
          </a:prstGeom>
          <a:noFill/>
          <a:ln>
            <a:noFill/>
          </a:ln>
        </p:spPr>
        <p:txBody>
          <a:bodyPr wrap="none" lIns="0" tIns="0" rIns="0" bIns="0" anchor="t" anchorCtr="0">
            <a:spAutoFit/>
          </a:bodyPr>
          <a:lstStyle/>
          <a:p>
            <a:pPr algn="l"/>
            <a:r>
              <a:rPr lang="zh-CN" sz="3150" b="1" dirty="0">
                <a:solidFill>
                  <a:srgbClr val="0A84FF"/>
                </a:solidFill>
                <a:latin typeface="Segoe UI"/>
                <a:ea typeface="Microsoft YaHei"/>
                <a:cs typeface="Segoe UI"/>
              </a:rPr>
              <a:t>$999</a:t>
            </a:r>
          </a:p>
        </p:txBody>
      </p:sp>
      <p:sp>
        <p:nvSpPr>
          <p:cNvPr id="12" name="TextBox 12"/>
          <p:cNvSpPr txBox="1"/>
          <p:nvPr/>
        </p:nvSpPr>
        <p:spPr>
          <a:xfrm>
            <a:off x="3030855" y="3235642"/>
            <a:ext cx="1213437" cy="274320"/>
          </a:xfrm>
          <a:prstGeom prst="rect">
            <a:avLst/>
          </a:prstGeom>
          <a:noFill/>
          <a:ln>
            <a:noFill/>
          </a:ln>
        </p:spPr>
        <p:txBody>
          <a:bodyPr wrap="none" lIns="0" tIns="0" rIns="0" bIns="0" anchor="t" anchorCtr="0">
            <a:spAutoFit/>
          </a:bodyPr>
          <a:lstStyle/>
          <a:p>
            <a:pPr algn="l"/>
            <a:r>
              <a:rPr lang="zh-CN" sz="1350" dirty="0">
                <a:solidFill>
                  <a:srgbClr val="8E8E93"/>
                </a:solidFill>
                <a:latin typeface="Segoe UI"/>
                <a:ea typeface="Microsoft YaHei"/>
                <a:cs typeface="Segoe UI"/>
              </a:rPr>
              <a:t>or $41.62/mo</a:t>
            </a:r>
          </a:p>
        </p:txBody>
      </p:sp>
      <p:sp>
        <p:nvSpPr>
          <p:cNvPr id="13" name="TextBox 13"/>
          <p:cNvSpPr txBox="1"/>
          <p:nvPr/>
        </p:nvSpPr>
        <p:spPr>
          <a:xfrm>
            <a:off x="1604010" y="3680460"/>
            <a:ext cx="2214753" cy="243840"/>
          </a:xfrm>
          <a:prstGeom prst="rect">
            <a:avLst/>
          </a:prstGeom>
          <a:noFill/>
          <a:ln>
            <a:noFill/>
          </a:ln>
        </p:spPr>
        <p:txBody>
          <a:bodyPr wrap="none" lIns="0" tIns="0" rIns="0" bIns="0" anchor="t" anchorCtr="0">
            <a:spAutoFit/>
          </a:bodyPr>
          <a:lstStyle/>
          <a:p>
            <a:pPr algn="l"/>
            <a:r>
              <a:rPr lang="zh-CN" sz="1200" dirty="0">
                <a:solidFill>
                  <a:srgbClr val="E5E5EA"/>
                </a:solidFill>
                <a:latin typeface="Segoe UI"/>
                <a:ea typeface="Microsoft YaHei"/>
                <a:cs typeface="Segoe UI"/>
              </a:rPr>
              <a:t xml:space="preserve">128GB · 256GB · 512GB · </a:t>
            </a:r>
            <a:r>
              <a:rPr lang="zh-CN" sz="1200" dirty="0">
                <a:solidFill>
                  <a:srgbClr val="E5E5EA"/>
                </a:solidFill>
                <a:latin typeface="Segoe UI"/>
                <a:ea typeface="Microsoft YaHei"/>
                <a:cs typeface="Segoe UI"/>
              </a:rPr>
              <a:t xml:space="preserve"> </a:t>
            </a:r>
            <a:r>
              <a:rPr lang="zh-CN" sz="1200" b="1" dirty="0">
                <a:solidFill>
                  <a:srgbClr val="F5F5F7"/>
                </a:solidFill>
                <a:latin typeface="Segoe UI"/>
                <a:ea typeface="Microsoft YaHei"/>
                <a:cs typeface="Segoe UI"/>
              </a:rPr>
              <a:t>1TB</a:t>
            </a:r>
          </a:p>
        </p:txBody>
      </p:sp>
      <p:sp>
        <p:nvSpPr>
          <p:cNvPr id="14" name="TextBox 14"/>
          <p:cNvSpPr txBox="1"/>
          <p:nvPr/>
        </p:nvSpPr>
        <p:spPr>
          <a:xfrm>
            <a:off x="1605915" y="3934778"/>
            <a:ext cx="845772" cy="213360"/>
          </a:xfrm>
          <a:prstGeom prst="rect">
            <a:avLst/>
          </a:prstGeom>
          <a:noFill/>
          <a:ln>
            <a:noFill/>
          </a:ln>
        </p:spPr>
        <p:txBody>
          <a:bodyPr wrap="none" lIns="0" tIns="0" rIns="0" bIns="0" anchor="t" anchorCtr="0">
            <a:spAutoFit/>
          </a:bodyPr>
          <a:lstStyle/>
          <a:p>
            <a:pPr algn="l"/>
            <a:r>
              <a:rPr lang="zh-CN" sz="1050" dirty="0">
                <a:solidFill>
                  <a:srgbClr val="8E8E93"/>
                </a:solidFill>
                <a:latin typeface="Segoe UI"/>
                <a:ea typeface="Microsoft YaHei"/>
                <a:cs typeface="Segoe UI"/>
              </a:rPr>
              <a:t>6.3" display</a:t>
            </a:r>
          </a:p>
        </p:txBody>
      </p:sp>
      <p:sp>
        <p:nvSpPr>
          <p:cNvPr id="15" name="Rectangle 15"/>
          <p:cNvSpPr/>
          <p:nvPr/>
        </p:nvSpPr>
        <p:spPr>
          <a:xfrm>
            <a:off x="6477000" y="2476500"/>
            <a:ext cx="4381500" cy="1714500"/>
          </a:xfrm>
          <a:prstGeom prst="roundRect">
            <a:avLst>
              <a:gd name="adj" fmla="val 8889"/>
            </a:avLst>
          </a:prstGeom>
          <a:solidFill>
            <a:srgbClr val="15151F"/>
          </a:solidFill>
          <a:ln w="9525">
            <a:solidFill>
              <a:srgbClr val="0A84FF">
                <a:alpha val="40000"/>
              </a:srgbClr>
            </a:solidFill>
          </a:ln>
        </p:spPr>
      </p:sp>
      <p:sp>
        <p:nvSpPr>
          <p:cNvPr id="16" name="Freeform 16"/>
          <p:cNvSpPr/>
          <p:nvPr/>
        </p:nvSpPr>
        <p:spPr>
          <a:xfrm>
            <a:off x="6800850" y="2714625"/>
            <a:ext cx="228600" cy="304800"/>
          </a:xfrm>
          <a:custGeom>
            <a:avLst/>
            <a:gdLst/>
            <a:ahLst/>
            <a:cxnLst/>
            <a:rect l="l" t="t" r="r" b="b"/>
            <a:pathLst>
              <a:path w="228600" h="304800">
                <a:moveTo>
                  <a:pt x="38100" y="0"/>
                </a:moveTo>
                <a:cubicBezTo>
                  <a:pt x="17058" y="0"/>
                  <a:pt x="0" y="17058"/>
                  <a:pt x="0" y="38100"/>
                </a:cubicBezTo>
                <a:lnTo>
                  <a:pt x="0" y="266700"/>
                </a:lnTo>
                <a:cubicBezTo>
                  <a:pt x="0" y="287743"/>
                  <a:pt x="17058" y="304800"/>
                  <a:pt x="38100" y="304800"/>
                </a:cubicBezTo>
                <a:lnTo>
                  <a:pt x="190500" y="304800"/>
                </a:lnTo>
                <a:cubicBezTo>
                  <a:pt x="211543" y="304800"/>
                  <a:pt x="228600" y="287743"/>
                  <a:pt x="228600" y="266700"/>
                </a:cubicBezTo>
                <a:lnTo>
                  <a:pt x="228600" y="38100"/>
                </a:lnTo>
                <a:cubicBezTo>
                  <a:pt x="228600" y="17058"/>
                  <a:pt x="211543" y="0"/>
                  <a:pt x="190500" y="0"/>
                </a:cubicBezTo>
                <a:lnTo>
                  <a:pt x="38100" y="0"/>
                </a:lnTo>
                <a:close/>
                <a:moveTo>
                  <a:pt x="190500" y="57150"/>
                </a:moveTo>
                <a:lnTo>
                  <a:pt x="38100" y="57150"/>
                </a:lnTo>
                <a:lnTo>
                  <a:pt x="38100" y="247650"/>
                </a:lnTo>
                <a:lnTo>
                  <a:pt x="190500" y="247650"/>
                </a:lnTo>
                <a:lnTo>
                  <a:pt x="190500" y="57150"/>
                </a:lnTo>
                <a:close/>
              </a:path>
            </a:pathLst>
          </a:custGeom>
          <a:solidFill>
            <a:srgbClr val="0A84FF"/>
          </a:solidFill>
          <a:ln>
            <a:noFill/>
          </a:ln>
        </p:spPr>
      </p:sp>
      <p:sp>
        <p:nvSpPr>
          <p:cNvPr id="17" name="TextBox 17"/>
          <p:cNvSpPr txBox="1"/>
          <p:nvPr/>
        </p:nvSpPr>
        <p:spPr>
          <a:xfrm>
            <a:off x="7168515" y="2710815"/>
            <a:ext cx="2200589" cy="365760"/>
          </a:xfrm>
          <a:prstGeom prst="rect">
            <a:avLst/>
          </a:prstGeom>
          <a:noFill/>
          <a:ln>
            <a:noFill/>
          </a:ln>
        </p:spPr>
        <p:txBody>
          <a:bodyPr wrap="none" lIns="0" tIns="0" rIns="0" bIns="0" anchor="t" anchorCtr="0">
            <a:spAutoFit/>
          </a:bodyPr>
          <a:lstStyle/>
          <a:p>
            <a:pPr algn="l"/>
            <a:r>
              <a:rPr lang="zh-CN" sz="1800" b="1" dirty="0">
                <a:solidFill>
                  <a:srgbClr val="F5F5F7"/>
                </a:solidFill>
                <a:latin typeface="Segoe UI"/>
                <a:ea typeface="Microsoft YaHei"/>
                <a:cs typeface="Segoe UI"/>
              </a:rPr>
              <a:t>iPhone 16 Pro Max</a:t>
            </a:r>
          </a:p>
        </p:txBody>
      </p:sp>
      <p:sp>
        <p:nvSpPr>
          <p:cNvPr id="18" name="TextBox 18"/>
          <p:cNvSpPr txBox="1"/>
          <p:nvPr/>
        </p:nvSpPr>
        <p:spPr>
          <a:xfrm>
            <a:off x="6722745" y="3041332"/>
            <a:ext cx="1535492" cy="640080"/>
          </a:xfrm>
          <a:prstGeom prst="rect">
            <a:avLst/>
          </a:prstGeom>
          <a:noFill/>
          <a:ln>
            <a:noFill/>
          </a:ln>
        </p:spPr>
        <p:txBody>
          <a:bodyPr wrap="none" lIns="0" tIns="0" rIns="0" bIns="0" anchor="t" anchorCtr="0">
            <a:spAutoFit/>
          </a:bodyPr>
          <a:lstStyle/>
          <a:p>
            <a:pPr algn="l"/>
            <a:r>
              <a:rPr lang="zh-CN" sz="3150" b="1" dirty="0">
                <a:solidFill>
                  <a:srgbClr val="0A84FF"/>
                </a:solidFill>
                <a:latin typeface="Segoe UI"/>
                <a:ea typeface="Microsoft YaHei"/>
                <a:cs typeface="Segoe UI"/>
              </a:rPr>
              <a:t>$1,199</a:t>
            </a:r>
          </a:p>
        </p:txBody>
      </p:sp>
      <p:sp>
        <p:nvSpPr>
          <p:cNvPr id="19" name="TextBox 19"/>
          <p:cNvSpPr txBox="1"/>
          <p:nvPr/>
        </p:nvSpPr>
        <p:spPr>
          <a:xfrm>
            <a:off x="8364855" y="3235642"/>
            <a:ext cx="1213437" cy="274320"/>
          </a:xfrm>
          <a:prstGeom prst="rect">
            <a:avLst/>
          </a:prstGeom>
          <a:noFill/>
          <a:ln>
            <a:noFill/>
          </a:ln>
        </p:spPr>
        <p:txBody>
          <a:bodyPr wrap="none" lIns="0" tIns="0" rIns="0" bIns="0" anchor="t" anchorCtr="0">
            <a:spAutoFit/>
          </a:bodyPr>
          <a:lstStyle/>
          <a:p>
            <a:pPr algn="l"/>
            <a:r>
              <a:rPr lang="zh-CN" sz="1350" dirty="0">
                <a:solidFill>
                  <a:srgbClr val="8E8E93"/>
                </a:solidFill>
                <a:latin typeface="Segoe UI"/>
                <a:ea typeface="Microsoft YaHei"/>
                <a:cs typeface="Segoe UI"/>
              </a:rPr>
              <a:t>or $49.95/mo</a:t>
            </a:r>
          </a:p>
        </p:txBody>
      </p:sp>
      <p:sp>
        <p:nvSpPr>
          <p:cNvPr id="20" name="TextBox 20"/>
          <p:cNvSpPr txBox="1"/>
          <p:nvPr/>
        </p:nvSpPr>
        <p:spPr>
          <a:xfrm>
            <a:off x="6747510" y="3680460"/>
            <a:ext cx="1590675" cy="243840"/>
          </a:xfrm>
          <a:prstGeom prst="rect">
            <a:avLst/>
          </a:prstGeom>
          <a:noFill/>
          <a:ln>
            <a:noFill/>
          </a:ln>
        </p:spPr>
        <p:txBody>
          <a:bodyPr wrap="none" lIns="0" tIns="0" rIns="0" bIns="0" anchor="t" anchorCtr="0">
            <a:spAutoFit/>
          </a:bodyPr>
          <a:lstStyle/>
          <a:p>
            <a:pPr algn="l"/>
            <a:r>
              <a:rPr lang="zh-CN" sz="1200" dirty="0">
                <a:solidFill>
                  <a:srgbClr val="E5E5EA"/>
                </a:solidFill>
                <a:latin typeface="Segoe UI"/>
                <a:ea typeface="Microsoft YaHei"/>
                <a:cs typeface="Segoe UI"/>
              </a:rPr>
              <a:t xml:space="preserve">256GB · 512GB · </a:t>
            </a:r>
            <a:r>
              <a:rPr lang="zh-CN" sz="1200" dirty="0">
                <a:solidFill>
                  <a:srgbClr val="E5E5EA"/>
                </a:solidFill>
                <a:latin typeface="Segoe UI"/>
                <a:ea typeface="Microsoft YaHei"/>
                <a:cs typeface="Segoe UI"/>
              </a:rPr>
              <a:t xml:space="preserve"> </a:t>
            </a:r>
            <a:r>
              <a:rPr lang="zh-CN" sz="1200" b="1" dirty="0">
                <a:solidFill>
                  <a:srgbClr val="F5F5F7"/>
                </a:solidFill>
                <a:latin typeface="Segoe UI"/>
                <a:ea typeface="Microsoft YaHei"/>
                <a:cs typeface="Segoe UI"/>
              </a:rPr>
              <a:t>1TB</a:t>
            </a:r>
          </a:p>
        </p:txBody>
      </p:sp>
      <p:sp>
        <p:nvSpPr>
          <p:cNvPr id="21" name="TextBox 21"/>
          <p:cNvSpPr txBox="1"/>
          <p:nvPr/>
        </p:nvSpPr>
        <p:spPr>
          <a:xfrm>
            <a:off x="6749415" y="3934778"/>
            <a:ext cx="1860899" cy="213360"/>
          </a:xfrm>
          <a:prstGeom prst="rect">
            <a:avLst/>
          </a:prstGeom>
          <a:noFill/>
          <a:ln>
            <a:noFill/>
          </a:ln>
        </p:spPr>
        <p:txBody>
          <a:bodyPr wrap="none" lIns="0" tIns="0" rIns="0" bIns="0" anchor="t" anchorCtr="0">
            <a:spAutoFit/>
          </a:bodyPr>
          <a:lstStyle/>
          <a:p>
            <a:pPr algn="l"/>
            <a:r>
              <a:rPr lang="zh-CN" sz="1050" dirty="0">
                <a:solidFill>
                  <a:srgbClr val="8E8E93"/>
                </a:solidFill>
                <a:latin typeface="Segoe UI"/>
                <a:ea typeface="Microsoft YaHei"/>
                <a:cs typeface="Segoe UI"/>
              </a:rPr>
              <a:t>6.9" display — largest ever</a:t>
            </a:r>
          </a:p>
        </p:txBody>
      </p:sp>
      <p:sp>
        <p:nvSpPr>
          <p:cNvPr id="22" name="TextBox 22"/>
          <p:cNvSpPr txBox="1"/>
          <p:nvPr/>
        </p:nvSpPr>
        <p:spPr>
          <a:xfrm>
            <a:off x="5654564" y="4466749"/>
            <a:ext cx="882872" cy="198120"/>
          </a:xfrm>
          <a:prstGeom prst="rect">
            <a:avLst/>
          </a:prstGeom>
          <a:noFill/>
          <a:ln>
            <a:noFill/>
          </a:ln>
        </p:spPr>
        <p:txBody>
          <a:bodyPr wrap="none" lIns="0" tIns="0" rIns="0" bIns="0" anchor="t" anchorCtr="0">
            <a:spAutoFit/>
          </a:bodyPr>
          <a:lstStyle/>
          <a:p>
            <a:pPr algn="ctr"/>
            <a:r>
              <a:rPr lang="zh-CN" sz="975" dirty="0">
                <a:solidFill>
                  <a:srgbClr val="8E8E93"/>
                </a:solidFill>
                <a:latin typeface="Consolas"/>
                <a:ea typeface="Microsoft YaHei"/>
                <a:cs typeface="Consolas"/>
              </a:rPr>
              <a:t>FOUR FINISHES</a:t>
            </a:r>
          </a:p>
        </p:txBody>
      </p:sp>
      <p:sp>
        <p:nvSpPr>
          <p:cNvPr id="23" name="Ellipse 23"/>
          <p:cNvSpPr/>
          <p:nvPr/>
        </p:nvSpPr>
        <p:spPr>
          <a:xfrm>
            <a:off x="3771900" y="4724400"/>
            <a:ext cx="266700" cy="266700"/>
          </a:xfrm>
          <a:prstGeom prst="ellipse">
            <a:avLst/>
          </a:prstGeom>
          <a:solidFill>
            <a:srgbClr val="3A3A3C"/>
          </a:solidFill>
          <a:ln w="9525">
            <a:solidFill>
              <a:srgbClr val="2A2A3A"/>
            </a:solidFill>
          </a:ln>
        </p:spPr>
      </p:sp>
      <p:sp>
        <p:nvSpPr>
          <p:cNvPr id="24" name="TextBox 24"/>
          <p:cNvSpPr txBox="1"/>
          <p:nvPr/>
        </p:nvSpPr>
        <p:spPr>
          <a:xfrm>
            <a:off x="3444311" y="5085874"/>
            <a:ext cx="921877" cy="198120"/>
          </a:xfrm>
          <a:prstGeom prst="rect">
            <a:avLst/>
          </a:prstGeom>
          <a:noFill/>
          <a:ln>
            <a:noFill/>
          </a:ln>
        </p:spPr>
        <p:txBody>
          <a:bodyPr wrap="none" lIns="0" tIns="0" rIns="0" bIns="0" anchor="t" anchorCtr="0">
            <a:spAutoFit/>
          </a:bodyPr>
          <a:lstStyle/>
          <a:p>
            <a:pPr algn="ctr"/>
            <a:r>
              <a:rPr lang="zh-CN" sz="975" dirty="0">
                <a:solidFill>
                  <a:srgbClr val="8E8E93"/>
                </a:solidFill>
                <a:latin typeface="Segoe UI"/>
                <a:ea typeface="Microsoft YaHei"/>
                <a:cs typeface="Segoe UI"/>
              </a:rPr>
              <a:t>Black Titanium</a:t>
            </a:r>
          </a:p>
        </p:txBody>
      </p:sp>
      <p:sp>
        <p:nvSpPr>
          <p:cNvPr id="25" name="Ellipse 25"/>
          <p:cNvSpPr/>
          <p:nvPr/>
        </p:nvSpPr>
        <p:spPr>
          <a:xfrm>
            <a:off x="5200650" y="4724400"/>
            <a:ext cx="266700" cy="266700"/>
          </a:xfrm>
          <a:prstGeom prst="ellipse">
            <a:avLst/>
          </a:prstGeom>
          <a:solidFill>
            <a:srgbClr val="C8B89A"/>
          </a:solidFill>
          <a:ln w="9525">
            <a:solidFill>
              <a:srgbClr val="2A2A3A"/>
            </a:solidFill>
          </a:ln>
        </p:spPr>
      </p:sp>
      <p:sp>
        <p:nvSpPr>
          <p:cNvPr id="26" name="TextBox 26"/>
          <p:cNvSpPr txBox="1"/>
          <p:nvPr/>
        </p:nvSpPr>
        <p:spPr>
          <a:xfrm>
            <a:off x="4801552" y="5085874"/>
            <a:ext cx="1064895" cy="198120"/>
          </a:xfrm>
          <a:prstGeom prst="rect">
            <a:avLst/>
          </a:prstGeom>
          <a:noFill/>
          <a:ln>
            <a:noFill/>
          </a:ln>
        </p:spPr>
        <p:txBody>
          <a:bodyPr wrap="none" lIns="0" tIns="0" rIns="0" bIns="0" anchor="t" anchorCtr="0">
            <a:spAutoFit/>
          </a:bodyPr>
          <a:lstStyle/>
          <a:p>
            <a:pPr algn="ctr"/>
            <a:r>
              <a:rPr lang="zh-CN" sz="975" dirty="0">
                <a:solidFill>
                  <a:srgbClr val="8E8E93"/>
                </a:solidFill>
                <a:latin typeface="Segoe UI"/>
                <a:ea typeface="Microsoft YaHei"/>
                <a:cs typeface="Segoe UI"/>
              </a:rPr>
              <a:t>Natural Titanium</a:t>
            </a:r>
          </a:p>
        </p:txBody>
      </p:sp>
      <p:sp>
        <p:nvSpPr>
          <p:cNvPr id="27" name="Ellipse 27"/>
          <p:cNvSpPr/>
          <p:nvPr/>
        </p:nvSpPr>
        <p:spPr>
          <a:xfrm>
            <a:off x="6724650" y="4724400"/>
            <a:ext cx="266700" cy="266700"/>
          </a:xfrm>
          <a:prstGeom prst="ellipse">
            <a:avLst/>
          </a:prstGeom>
          <a:solidFill>
            <a:srgbClr val="F0F0F0"/>
          </a:solidFill>
          <a:ln w="9525">
            <a:solidFill>
              <a:srgbClr val="2A2A3A"/>
            </a:solidFill>
          </a:ln>
        </p:spPr>
      </p:sp>
      <p:sp>
        <p:nvSpPr>
          <p:cNvPr id="28" name="TextBox 28"/>
          <p:cNvSpPr txBox="1"/>
          <p:nvPr/>
        </p:nvSpPr>
        <p:spPr>
          <a:xfrm>
            <a:off x="6384060" y="5085874"/>
            <a:ext cx="947880" cy="198120"/>
          </a:xfrm>
          <a:prstGeom prst="rect">
            <a:avLst/>
          </a:prstGeom>
          <a:noFill/>
          <a:ln>
            <a:noFill/>
          </a:ln>
        </p:spPr>
        <p:txBody>
          <a:bodyPr wrap="none" lIns="0" tIns="0" rIns="0" bIns="0" anchor="t" anchorCtr="0">
            <a:spAutoFit/>
          </a:bodyPr>
          <a:lstStyle/>
          <a:p>
            <a:pPr algn="ctr"/>
            <a:r>
              <a:rPr lang="zh-CN" sz="975" dirty="0">
                <a:solidFill>
                  <a:srgbClr val="8E8E93"/>
                </a:solidFill>
                <a:latin typeface="Segoe UI"/>
                <a:ea typeface="Microsoft YaHei"/>
                <a:cs typeface="Segoe UI"/>
              </a:rPr>
              <a:t>White Titanium</a:t>
            </a:r>
          </a:p>
        </p:txBody>
      </p:sp>
      <p:sp>
        <p:nvSpPr>
          <p:cNvPr id="29" name="Ellipse 29"/>
          <p:cNvSpPr/>
          <p:nvPr/>
        </p:nvSpPr>
        <p:spPr>
          <a:xfrm>
            <a:off x="8153400" y="4724400"/>
            <a:ext cx="266700" cy="266700"/>
          </a:xfrm>
          <a:prstGeom prst="ellipse">
            <a:avLst/>
          </a:prstGeom>
          <a:solidFill>
            <a:srgbClr val="D4B896"/>
          </a:solidFill>
          <a:ln w="9525">
            <a:solidFill>
              <a:srgbClr val="2A2A3A"/>
            </a:solidFill>
          </a:ln>
        </p:spPr>
      </p:sp>
      <p:sp>
        <p:nvSpPr>
          <p:cNvPr id="30" name="TextBox 30"/>
          <p:cNvSpPr txBox="1"/>
          <p:nvPr/>
        </p:nvSpPr>
        <p:spPr>
          <a:xfrm>
            <a:off x="7773805" y="5085874"/>
            <a:ext cx="1025890" cy="198120"/>
          </a:xfrm>
          <a:prstGeom prst="rect">
            <a:avLst/>
          </a:prstGeom>
          <a:noFill/>
          <a:ln>
            <a:noFill/>
          </a:ln>
        </p:spPr>
        <p:txBody>
          <a:bodyPr wrap="none" lIns="0" tIns="0" rIns="0" bIns="0" anchor="t" anchorCtr="0">
            <a:spAutoFit/>
          </a:bodyPr>
          <a:lstStyle/>
          <a:p>
            <a:pPr algn="ctr"/>
            <a:r>
              <a:rPr lang="zh-CN" sz="975" dirty="0">
                <a:solidFill>
                  <a:srgbClr val="8E8E93"/>
                </a:solidFill>
                <a:latin typeface="Segoe UI"/>
                <a:ea typeface="Microsoft YaHei"/>
                <a:cs typeface="Segoe UI"/>
              </a:rPr>
              <a:t>Desert Titanium</a:t>
            </a:r>
          </a:p>
        </p:txBody>
      </p:sp>
      <p:sp>
        <p:nvSpPr>
          <p:cNvPr id="31" name="Rectangle 31"/>
          <p:cNvSpPr/>
          <p:nvPr/>
        </p:nvSpPr>
        <p:spPr>
          <a:xfrm>
            <a:off x="3238500" y="5429250"/>
            <a:ext cx="5715000" cy="419100"/>
          </a:xfrm>
          <a:prstGeom prst="roundRect">
            <a:avLst>
              <a:gd name="adj" fmla="val 22727"/>
            </a:avLst>
          </a:prstGeom>
          <a:solidFill>
            <a:srgbClr val="1E1E2A"/>
          </a:solidFill>
          <a:ln w="9525">
            <a:solidFill>
              <a:srgbClr val="2A2A3A"/>
            </a:solidFill>
          </a:ln>
        </p:spPr>
      </p:sp>
      <p:sp>
        <p:nvSpPr>
          <p:cNvPr id="32" name="Freeform 32"/>
          <p:cNvSpPr/>
          <p:nvPr/>
        </p:nvSpPr>
        <p:spPr>
          <a:xfrm>
            <a:off x="3381375" y="5524500"/>
            <a:ext cx="209550" cy="209550"/>
          </a:xfrm>
          <a:custGeom>
            <a:avLst/>
            <a:gdLst/>
            <a:ahLst/>
            <a:cxnLst/>
            <a:rect l="l" t="t" r="r" b="b"/>
            <a:pathLst>
              <a:path w="209550" h="209550">
                <a:moveTo>
                  <a:pt x="209550" y="104775"/>
                </a:moveTo>
                <a:lnTo>
                  <a:pt x="104775" y="0"/>
                </a:lnTo>
                <a:lnTo>
                  <a:pt x="0" y="0"/>
                </a:lnTo>
                <a:lnTo>
                  <a:pt x="0" y="104775"/>
                </a:lnTo>
                <a:lnTo>
                  <a:pt x="104775" y="209550"/>
                </a:lnTo>
                <a:lnTo>
                  <a:pt x="209550" y="104775"/>
                </a:lnTo>
                <a:close/>
                <a:moveTo>
                  <a:pt x="58936" y="78581"/>
                </a:moveTo>
                <a:cubicBezTo>
                  <a:pt x="69786" y="78581"/>
                  <a:pt x="78581" y="69786"/>
                  <a:pt x="78581" y="58936"/>
                </a:cubicBezTo>
                <a:cubicBezTo>
                  <a:pt x="78581" y="48086"/>
                  <a:pt x="69786" y="39291"/>
                  <a:pt x="58936" y="39291"/>
                </a:cubicBezTo>
                <a:cubicBezTo>
                  <a:pt x="48086" y="39291"/>
                  <a:pt x="39291" y="48086"/>
                  <a:pt x="39291" y="58936"/>
                </a:cubicBezTo>
                <a:cubicBezTo>
                  <a:pt x="39291" y="69786"/>
                  <a:pt x="48086" y="78581"/>
                  <a:pt x="58936" y="78581"/>
                </a:cubicBezTo>
                <a:close/>
              </a:path>
            </a:pathLst>
          </a:custGeom>
          <a:solidFill>
            <a:srgbClr val="0A84FF"/>
          </a:solidFill>
          <a:ln>
            <a:noFill/>
          </a:ln>
        </p:spPr>
      </p:sp>
      <p:sp>
        <p:nvSpPr>
          <p:cNvPr id="33" name="TextBox 33"/>
          <p:cNvSpPr txBox="1"/>
          <p:nvPr/>
        </p:nvSpPr>
        <p:spPr>
          <a:xfrm>
            <a:off x="3652838" y="5574506"/>
            <a:ext cx="5241727" cy="228600"/>
          </a:xfrm>
          <a:prstGeom prst="rect">
            <a:avLst/>
          </a:prstGeom>
          <a:noFill/>
          <a:ln>
            <a:noFill/>
          </a:ln>
        </p:spPr>
        <p:txBody>
          <a:bodyPr wrap="none" lIns="0" tIns="0" rIns="0" bIns="0" anchor="t" anchorCtr="0">
            <a:spAutoFit/>
          </a:bodyPr>
          <a:lstStyle/>
          <a:p>
            <a:pPr algn="l"/>
            <a:r>
              <a:rPr lang="zh-CN" sz="1125" dirty="0">
                <a:solidFill>
                  <a:srgbClr val="E5E5EA"/>
                </a:solidFill>
                <a:latin typeface="Segoe UI"/>
                <a:ea typeface="Microsoft YaHei"/>
                <a:cs typeface="Segoe UI"/>
              </a:rPr>
              <a:t xml:space="preserve">Trade-in: </a:t>
            </a:r>
            <a:r>
              <a:rPr lang="zh-CN" sz="1125" dirty="0">
                <a:solidFill>
                  <a:srgbClr val="E5E5EA"/>
                </a:solidFill>
                <a:latin typeface="Segoe UI"/>
                <a:ea typeface="Microsoft YaHei"/>
                <a:cs typeface="Segoe UI"/>
              </a:rPr>
              <a:t xml:space="preserve"> </a:t>
            </a:r>
            <a:r>
              <a:rPr lang="zh-CN" sz="1125" b="1" dirty="0">
                <a:solidFill>
                  <a:srgbClr val="F5F5F7"/>
                </a:solidFill>
                <a:latin typeface="Segoe UI"/>
                <a:ea typeface="Microsoft YaHei"/>
                <a:cs typeface="Segoe UI"/>
              </a:rPr>
              <a:t>$180–$650</a:t>
            </a:r>
            <a:r>
              <a:rPr lang="zh-CN" sz="1125" dirty="0">
                <a:solidFill>
                  <a:srgbClr val="E5E5EA"/>
                </a:solidFill>
                <a:latin typeface="Segoe UI"/>
                <a:ea typeface="Microsoft YaHei"/>
                <a:cs typeface="Segoe UI"/>
              </a:rPr>
              <a:t xml:space="preserve"> </a:t>
            </a:r>
            <a:r>
              <a:rPr lang="zh-CN" sz="1125" dirty="0">
                <a:solidFill>
                  <a:srgbClr val="E5E5EA"/>
                </a:solidFill>
                <a:latin typeface="Segoe UI"/>
                <a:ea typeface="Microsoft YaHei"/>
                <a:cs typeface="Segoe UI"/>
              </a:rPr>
              <a:t xml:space="preserve"> (iPhone 12+) · up to </a:t>
            </a:r>
            <a:r>
              <a:rPr lang="zh-CN" sz="1125" dirty="0">
                <a:solidFill>
                  <a:srgbClr val="E5E5EA"/>
                </a:solidFill>
                <a:latin typeface="Segoe UI"/>
                <a:ea typeface="Microsoft YaHei"/>
                <a:cs typeface="Segoe UI"/>
              </a:rPr>
              <a:t xml:space="preserve"> </a:t>
            </a:r>
            <a:r>
              <a:rPr lang="zh-CN" sz="1125" b="1" dirty="0">
                <a:solidFill>
                  <a:srgbClr val="0A84FF"/>
                </a:solidFill>
                <a:latin typeface="Segoe UI"/>
                <a:ea typeface="Microsoft YaHei"/>
                <a:cs typeface="Segoe UI"/>
              </a:rPr>
              <a:t>$1,000</a:t>
            </a:r>
            <a:r>
              <a:rPr lang="zh-CN" sz="1125" dirty="0">
                <a:solidFill>
                  <a:srgbClr val="E5E5EA"/>
                </a:solidFill>
                <a:latin typeface="Segoe UI"/>
                <a:ea typeface="Microsoft YaHei"/>
                <a:cs typeface="Segoe UI"/>
              </a:rPr>
              <a:t xml:space="preserve"> </a:t>
            </a:r>
            <a:r>
              <a:rPr lang="zh-CN" sz="1125" dirty="0">
                <a:solidFill>
                  <a:srgbClr val="E5E5EA"/>
                </a:solidFill>
                <a:latin typeface="Segoe UI"/>
                <a:ea typeface="Microsoft YaHei"/>
                <a:cs typeface="Segoe UI"/>
              </a:rPr>
              <a:t xml:space="preserve"> with carrier offers</a:t>
            </a:r>
          </a:p>
        </p:txBody>
      </p:sp>
      <p:sp>
        <p:nvSpPr>
          <p:cNvPr id="34" name="Rectangle 34"/>
          <p:cNvSpPr/>
          <p:nvPr/>
        </p:nvSpPr>
        <p:spPr>
          <a:xfrm>
            <a:off x="4667250" y="5953125"/>
            <a:ext cx="2857500" cy="476250"/>
          </a:xfrm>
          <a:prstGeom prst="roundRect">
            <a:avLst>
              <a:gd name="adj" fmla="val 50000"/>
            </a:avLst>
          </a:prstGeom>
          <a:gradFill>
            <a:gsLst>
              <a:gs pos="0">
                <a:srgbClr val="0A84FF"/>
              </a:gs>
              <a:gs pos="100000">
                <a:srgbClr val="5E5CE6"/>
              </a:gs>
            </a:gsLst>
            <a:lin ang="0" scaled="1"/>
          </a:gradFill>
          <a:ln>
            <a:noFill/>
          </a:ln>
        </p:spPr>
      </p:sp>
      <p:grpSp>
        <p:nvGrpSpPr>
          <p:cNvPr id="37" name="Group 37"/>
          <p:cNvGrpSpPr/>
          <p:nvPr/>
        </p:nvGrpSpPr>
        <p:grpSpPr>
          <a:xfrm>
            <a:off x="4920853" y="6067425"/>
            <a:ext cx="216694" cy="232172"/>
            <a:chOff x="4920853" y="6067425"/>
            <a:chExt cx="216694" cy="232172"/>
          </a:xfrm>
        </p:grpSpPr>
        <p:sp>
          <p:nvSpPr>
            <p:cNvPr id="35" name="Freeform 35"/>
            <p:cNvSpPr/>
            <p:nvPr/>
          </p:nvSpPr>
          <p:spPr>
            <a:xfrm>
              <a:off x="4920853" y="6067425"/>
              <a:ext cx="216694" cy="77391"/>
            </a:xfrm>
            <a:custGeom>
              <a:avLst/>
              <a:gdLst/>
              <a:ahLst/>
              <a:cxnLst/>
              <a:rect l="l" t="t" r="r" b="b"/>
              <a:pathLst>
                <a:path w="216694" h="77391">
                  <a:moveTo>
                    <a:pt x="77391" y="0"/>
                  </a:moveTo>
                  <a:lnTo>
                    <a:pt x="30956" y="0"/>
                  </a:lnTo>
                  <a:lnTo>
                    <a:pt x="30956" y="30956"/>
                  </a:lnTo>
                  <a:lnTo>
                    <a:pt x="0" y="30956"/>
                  </a:lnTo>
                  <a:lnTo>
                    <a:pt x="0" y="77391"/>
                  </a:lnTo>
                  <a:lnTo>
                    <a:pt x="216694" y="77391"/>
                  </a:lnTo>
                  <a:lnTo>
                    <a:pt x="216694" y="30956"/>
                  </a:lnTo>
                  <a:lnTo>
                    <a:pt x="185738" y="30956"/>
                  </a:lnTo>
                  <a:lnTo>
                    <a:pt x="185738" y="0"/>
                  </a:lnTo>
                  <a:lnTo>
                    <a:pt x="139303" y="0"/>
                  </a:lnTo>
                  <a:lnTo>
                    <a:pt x="139303" y="30956"/>
                  </a:lnTo>
                  <a:lnTo>
                    <a:pt x="77391" y="30956"/>
                  </a:lnTo>
                  <a:lnTo>
                    <a:pt x="77391" y="0"/>
                  </a:lnTo>
                  <a:close/>
                </a:path>
              </a:pathLst>
            </a:custGeom>
            <a:solidFill>
              <a:srgbClr val="F5F5F7"/>
            </a:solidFill>
            <a:ln>
              <a:noFill/>
            </a:ln>
          </p:spPr>
        </p:sp>
        <p:sp>
          <p:nvSpPr>
            <p:cNvPr id="36" name="Freeform 36"/>
            <p:cNvSpPr/>
            <p:nvPr/>
          </p:nvSpPr>
          <p:spPr>
            <a:xfrm>
              <a:off x="4920853" y="6175772"/>
              <a:ext cx="216694" cy="123825"/>
            </a:xfrm>
            <a:custGeom>
              <a:avLst/>
              <a:gdLst/>
              <a:ahLst/>
              <a:cxnLst/>
              <a:rect l="l" t="t" r="r" b="b"/>
              <a:pathLst>
                <a:path w="216694" h="123825">
                  <a:moveTo>
                    <a:pt x="216694" y="0"/>
                  </a:moveTo>
                  <a:lnTo>
                    <a:pt x="0" y="0"/>
                  </a:lnTo>
                  <a:lnTo>
                    <a:pt x="0" y="123825"/>
                  </a:lnTo>
                  <a:lnTo>
                    <a:pt x="216694" y="123825"/>
                  </a:lnTo>
                  <a:lnTo>
                    <a:pt x="216694" y="0"/>
                  </a:lnTo>
                  <a:close/>
                </a:path>
              </a:pathLst>
            </a:custGeom>
            <a:solidFill>
              <a:srgbClr val="F5F5F7"/>
            </a:solidFill>
            <a:ln>
              <a:noFill/>
            </a:ln>
          </p:spPr>
        </p:sp>
      </p:grpSp>
      <p:sp>
        <p:nvSpPr>
          <p:cNvPr id="38" name="TextBox 38"/>
          <p:cNvSpPr txBox="1"/>
          <p:nvPr/>
        </p:nvSpPr>
        <p:spPr>
          <a:xfrm>
            <a:off x="5242425" y="6112192"/>
            <a:ext cx="1707149" cy="274320"/>
          </a:xfrm>
          <a:prstGeom prst="rect">
            <a:avLst/>
          </a:prstGeom>
          <a:noFill/>
          <a:ln>
            <a:noFill/>
          </a:ln>
        </p:spPr>
        <p:txBody>
          <a:bodyPr wrap="none" lIns="0" tIns="0" rIns="0" bIns="0" anchor="t" anchorCtr="0">
            <a:spAutoFit/>
          </a:bodyPr>
          <a:lstStyle/>
          <a:p>
            <a:pPr algn="ctr"/>
            <a:r>
              <a:rPr lang="zh-CN" sz="1350" b="1" dirty="0">
                <a:solidFill>
                  <a:srgbClr val="F5F5F7"/>
                </a:solidFill>
                <a:latin typeface="Segoe UI"/>
                <a:ea typeface="Microsoft YaHei"/>
                <a:cs typeface="Segoe UI"/>
              </a:rPr>
              <a:t>Pre-order Sept 13</a:t>
            </a:r>
          </a:p>
        </p:txBody>
      </p:sp>
      <p:sp>
        <p:nvSpPr>
          <p:cNvPr id="39" name="TextBox 39"/>
          <p:cNvSpPr txBox="1"/>
          <p:nvPr/>
        </p:nvSpPr>
        <p:spPr>
          <a:xfrm>
            <a:off x="11207020" y="6475095"/>
            <a:ext cx="424910" cy="182880"/>
          </a:xfrm>
          <a:prstGeom prst="rect">
            <a:avLst/>
          </a:prstGeom>
          <a:noFill/>
          <a:ln>
            <a:noFill/>
          </a:ln>
        </p:spPr>
        <p:txBody>
          <a:bodyPr wrap="none" lIns="0" tIns="0" rIns="0" bIns="0" anchor="t" anchorCtr="0">
            <a:spAutoFit/>
          </a:bodyPr>
          <a:lstStyle/>
          <a:p>
            <a:pPr algn="r"/>
            <a:r>
              <a:rPr lang="zh-CN" sz="900" dirty="0">
                <a:solidFill>
                  <a:srgbClr val="636366"/>
                </a:solidFill>
                <a:latin typeface="Consolas"/>
                <a:ea typeface="Microsoft YaHei"/>
                <a:cs typeface="Consolas"/>
              </a:rPr>
              <a:t>09 / 09</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9</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2026-07-06T04:36:11Z</dcterms:created>
  <dcterms:modified xsi:type="dcterms:W3CDTF">2026-07-06T04:36:11Z</dcterms:modified>
  <cp:category/>
  <cp:contentStatus/>
</cp:coreProperties>
</file>
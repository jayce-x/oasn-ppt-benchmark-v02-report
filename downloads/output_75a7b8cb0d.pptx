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8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6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7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8.xml" ContentType="application/vnd.openxmlformats-officedocument.drawingml.chart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77301a2fdf46d3" /><Relationship Type="http://schemas.openxmlformats.org/officeDocument/2006/relationships/extended-properties" Target="/docProps/app.xml" Id="Rcacb5b4ec25a4a89" /><Relationship Type="http://schemas.openxmlformats.org/officeDocument/2006/relationships/officeDocument" Target="/ppt/presentation.xml" Id="R4bbf55ee6f5843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5b18c9fa2d406a"/>
    <p:sldMasterId xmlns:r="http://schemas.openxmlformats.org/officeDocument/2006/relationships" id="2147483653" r:id="Ra748124f7cf241c1"/>
    <p:sldMasterId xmlns:r="http://schemas.openxmlformats.org/officeDocument/2006/relationships" id="2147483657" r:id="R9117264b54c441f0"/>
    <p:sldMasterId xmlns:r="http://schemas.openxmlformats.org/officeDocument/2006/relationships" id="2147483662" r:id="R2d9a69bdfe8d4249"/>
    <p:sldMasterId xmlns:r="http://schemas.openxmlformats.org/officeDocument/2006/relationships" id="2147483667" r:id="R18f22e5b6a6a493a"/>
    <p:sldMasterId xmlns:r="http://schemas.openxmlformats.org/officeDocument/2006/relationships" id="2147483669" r:id="Rdd094138a2194f96"/>
  </p:sldMasterIdLst>
  <p:notesMasterIdLst>
    <p:notesMasterId xmlns:r="http://schemas.openxmlformats.org/officeDocument/2006/relationships" r:id="R00b8fd4d5af4482d"/>
  </p:notesMasterIdLst>
  <p:sldIdLst>
    <p:sldId xmlns:r="http://schemas.openxmlformats.org/officeDocument/2006/relationships" id="256" r:id="R5b2a8f82d6134e02"/>
    <p:sldId xmlns:r="http://schemas.openxmlformats.org/officeDocument/2006/relationships" id="257" r:id="Ra9196acf677d4605"/>
    <p:sldId xmlns:r="http://schemas.openxmlformats.org/officeDocument/2006/relationships" id="258" r:id="R0fe05b0919d84686"/>
    <p:sldId xmlns:r="http://schemas.openxmlformats.org/officeDocument/2006/relationships" id="259" r:id="R4ba5e44b3fbb40f4"/>
    <p:sldId xmlns:r="http://schemas.openxmlformats.org/officeDocument/2006/relationships" id="260" r:id="Rff52be5285444860"/>
    <p:sldId xmlns:r="http://schemas.openxmlformats.org/officeDocument/2006/relationships" id="261" r:id="R79ff3e91169547c4"/>
    <p:sldId xmlns:r="http://schemas.openxmlformats.org/officeDocument/2006/relationships" id="262" r:id="Rf526efd5243e4fd9"/>
    <p:sldId xmlns:r="http://schemas.openxmlformats.org/officeDocument/2006/relationships" id="263" r:id="R2d22c287a7a74719"/>
    <p:sldId xmlns:r="http://schemas.openxmlformats.org/officeDocument/2006/relationships" id="264" r:id="R596d7e4f23c243c1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3ab22f345942f3" /><Relationship Type="http://schemas.openxmlformats.org/officeDocument/2006/relationships/slideMaster" Target="/ppt/slideMasters/slideMaster1.xml" Id="R3a5b18c9fa2d406a" /><Relationship Type="http://schemas.openxmlformats.org/officeDocument/2006/relationships/slideMaster" Target="/ppt/slideMasters/slideMaster2.xml" Id="Ra748124f7cf241c1" /><Relationship Type="http://schemas.openxmlformats.org/officeDocument/2006/relationships/slideMaster" Target="/ppt/slideMasters/slideMaster3.xml" Id="R9117264b54c441f0" /><Relationship Type="http://schemas.openxmlformats.org/officeDocument/2006/relationships/slideMaster" Target="/ppt/slideMasters/slideMaster4.xml" Id="R2d9a69bdfe8d4249" /><Relationship Type="http://schemas.openxmlformats.org/officeDocument/2006/relationships/slideMaster" Target="/ppt/slideMasters/slideMaster5.xml" Id="R18f22e5b6a6a493a" /><Relationship Type="http://schemas.openxmlformats.org/officeDocument/2006/relationships/slideMaster" Target="/ppt/slideMasters/slideMaster6.xml" Id="Rdd094138a2194f96" /><Relationship Type="http://schemas.openxmlformats.org/officeDocument/2006/relationships/notesMaster" Target="/ppt/notesMasters/notesMaster1.xml" Id="R00b8fd4d5af4482d" /><Relationship Type="http://schemas.openxmlformats.org/officeDocument/2006/relationships/presProps" Target="/ppt/presProps.xml" Id="Rdbf26ada936d426c" /><Relationship Type="http://schemas.openxmlformats.org/officeDocument/2006/relationships/tableStyles" Target="/ppt/tableStyles.xml" Id="Re329e83c12e14b69" /><Relationship Type="http://schemas.openxmlformats.org/officeDocument/2006/relationships/slide" Target="/ppt/slides/slide1.xml" Id="R5b2a8f82d6134e02" /><Relationship Type="http://schemas.openxmlformats.org/officeDocument/2006/relationships/slide" Target="/ppt/slides/slide2.xml" Id="Ra9196acf677d4605" /><Relationship Type="http://schemas.openxmlformats.org/officeDocument/2006/relationships/slide" Target="/ppt/slides/slide3.xml" Id="R0fe05b0919d84686" /><Relationship Type="http://schemas.openxmlformats.org/officeDocument/2006/relationships/slide" Target="/ppt/slides/slide4.xml" Id="R4ba5e44b3fbb40f4" /><Relationship Type="http://schemas.openxmlformats.org/officeDocument/2006/relationships/slide" Target="/ppt/slides/slide5.xml" Id="Rff52be5285444860" /><Relationship Type="http://schemas.openxmlformats.org/officeDocument/2006/relationships/slide" Target="/ppt/slides/slide6.xml" Id="R79ff3e91169547c4" /><Relationship Type="http://schemas.openxmlformats.org/officeDocument/2006/relationships/slide" Target="/ppt/slides/slide7.xml" Id="Rf526efd5243e4fd9" /><Relationship Type="http://schemas.openxmlformats.org/officeDocument/2006/relationships/slide" Target="/ppt/slides/slide8.xml" Id="R2d22c287a7a74719" /><Relationship Type="http://schemas.openxmlformats.org/officeDocument/2006/relationships/slide" Target="/ppt/slides/slide9.xml" Id="R596d7e4f23c243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8.xml" Id="Re5b45c2b3dbb48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8.xml><?xml version="1.0" encoding="utf-8"?>
<a:theme xmlns:a="http://schemas.openxmlformats.org/drawingml/2006/main" name="No Angl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018 KFF Blu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4de6144f494c93" /><Relationship Type="http://schemas.openxmlformats.org/officeDocument/2006/relationships/notesMaster" Target="/ppt/notesMasters/notesMaster1.xml" Id="R84a0bbff8cde44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d5da9186be49c3" /><Relationship Type="http://schemas.openxmlformats.org/officeDocument/2006/relationships/notesMaster" Target="/ppt/notesMasters/notesMaster1.xml" Id="Rcaf36f1d88d644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560e3f7537438a" /><Relationship Type="http://schemas.openxmlformats.org/officeDocument/2006/relationships/notesMaster" Target="/ppt/notesMasters/notesMaster1.xml" Id="Re5216961227a45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a11514a47543f4" /><Relationship Type="http://schemas.openxmlformats.org/officeDocument/2006/relationships/notesMaster" Target="/ppt/notesMasters/notesMaster1.xml" Id="Rc2afc29f727941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ba7dd0f37f4303" /><Relationship Type="http://schemas.openxmlformats.org/officeDocument/2006/relationships/notesMaster" Target="/ppt/notesMasters/notesMaster1.xml" Id="R77149e643cfc47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0f46bd37a24884" /><Relationship Type="http://schemas.openxmlformats.org/officeDocument/2006/relationships/notesMaster" Target="/ppt/notesMasters/notesMaster1.xml" Id="Rc508ed72d4c440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d5114f5a6145ab" /><Relationship Type="http://schemas.openxmlformats.org/officeDocument/2006/relationships/notesMaster" Target="/ppt/notesMasters/notesMaster1.xml" Id="Re94a6c6d97464e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33a4ae86904a80" /><Relationship Type="http://schemas.openxmlformats.org/officeDocument/2006/relationships/notesMaster" Target="/ppt/notesMasters/notesMaster1.xml" Id="R7b7ae894c3824f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ca365c82e34605" /><Relationship Type="http://schemas.openxmlformats.org/officeDocument/2006/relationships/notesMaster" Target="/ppt/notesMasters/notesMaster1.xml" Id="R7ca1e278fae342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a049f532b4c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770adb39e42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a1477ed0a43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cfaffa2b449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99701366054a5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226110ba064a4d" /><Relationship Type="http://schemas.openxmlformats.org/officeDocument/2006/relationships/image" Target="/ppt/media/image8.png" Id="R4e7c5883c5014e4f" /><Relationship Type="http://schemas.openxmlformats.org/officeDocument/2006/relationships/image" Target="/ppt/media/image9.png" Id="R4975dd089b5a4c0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bfeae0150d40bb" /><Relationship Type="http://schemas.openxmlformats.org/officeDocument/2006/relationships/image" Target="/ppt/media/image8.png" Id="R8acd4542845f4728" /><Relationship Type="http://schemas.openxmlformats.org/officeDocument/2006/relationships/image" Target="/ppt/media/image9.png" Id="R6b39c85ecc534e0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6096a392c764eb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9b4102ae2cc4f5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997a24497254b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3ae87c0c29044f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d4e4e70ea684dc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9c79e08e88847a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000fe1d4e43a407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d6e1756c947469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e4128886a235489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0f351bd1c6604c03" /></Relationships>
</file>

<file path=ppt/slideLayouts/slideLayout1.xml><?xml version="1.0" encoding="utf-8"?>
<p:sldLayout xmlns:p="http://schemas.openxmlformats.org/presentationml/2006/main" preserve="1" userDrawn="1">
  <p:cSld name="No Angle - 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BEFC86-FD70-4C58-9F00-D07ADE2ADA4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097280"/>
            <a:ext cx="896112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F1005CD-6D2B-4933-81FE-010699DCB2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" y="56716"/>
            <a:ext cx="89611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l"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5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B516C902-0937-45CA-AC98-C21B502BA85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No Angle - 2 Figur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F7759A-714F-47AD-AE9C-2D280D6115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097280"/>
            <a:ext cx="443484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DC12EA-8111-4AF6-A561-8CB1B9BC8E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" y="56716"/>
            <a:ext cx="89611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l"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8ED3CD-4BC2-48E7-99F4-85EF6DB0F303}"/>
              </a:ext>
            </a:extLst>
          </p:cNvPr>
          <p:cNvSpPr>
            <a:spLocks xmlns:a="http://schemas.openxmlformats.org/drawingml/2006/main" noGrp="1"/>
          </p:cNvSpPr>
          <p:nvPr>
            <p:ph idx="12"/>
          </p:nvPr>
        </p:nvSpPr>
        <p:spPr>
          <a:xfrm xmlns:a="http://schemas.openxmlformats.org/drawingml/2006/main">
            <a:off x="4617720" y="1097280"/>
            <a:ext cx="443484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6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CFBCF7B7-9AC7-4113-9A0E-F3E87CD2D4D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No Angle - 3 Figur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45C8FB-0AC0-44D0-9782-563C1A2CE8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097280"/>
            <a:ext cx="292608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CA72D34-1778-4921-B40A-F0A33BC2B4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" y="56715"/>
            <a:ext cx="89611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l"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F6E9435-7CCC-4B13-9B69-21CF19955E08}"/>
              </a:ext>
            </a:extLst>
          </p:cNvPr>
          <p:cNvSpPr>
            <a:spLocks xmlns:a="http://schemas.openxmlformats.org/drawingml/2006/main" noGrp="1"/>
          </p:cNvSpPr>
          <p:nvPr>
            <p:ph idx="12"/>
          </p:nvPr>
        </p:nvSpPr>
        <p:spPr>
          <a:xfrm xmlns:a="http://schemas.openxmlformats.org/drawingml/2006/main">
            <a:off x="3108960" y="1097280"/>
            <a:ext cx="292608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+mj-lt"/>
                <a:ea typeface="+mj-lt"/>
                <a:cs typeface="+mj-lt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+mj-lt"/>
                <a:ea typeface="+mj-lt"/>
                <a:cs typeface="+mj-lt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+mj-lt"/>
                <a:ea typeface="+mj-lt"/>
                <a:cs typeface="+mj-lt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B73846-303C-4802-8307-FA8A32B6EEC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126480" y="1097280"/>
            <a:ext cx="292608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+mj-lt"/>
                <a:ea typeface="+mj-lt"/>
                <a:cs typeface="+mj-lt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+mj-lt"/>
                <a:ea typeface="+mj-lt"/>
                <a:cs typeface="+mj-lt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+mj-lt"/>
                <a:ea typeface="+mj-lt"/>
                <a:cs typeface="+mj-lt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88F5A49E-16DA-4A59-8E1F-CB77973230D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No Angle Blank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C54A676F-C5A0-4C66-A2B5-317FDB600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" y="56716"/>
            <a:ext cx="89611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l"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4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6A652E7C-740A-428E-A978-EF4611E81E5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Text No Ang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AE57BBC-E9D0-43D1-9849-C16B9166A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2000" y="56716"/>
            <a:ext cx="82905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l"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29EEC5-EBA9-40FA-BE34-B9308E9531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097280"/>
            <a:ext cx="896112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79D9AF47-5072-4A32-89E5-34EB704C61E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ext Slide Gray Ang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7c5883c5014e4f"/>
          <a:srcRect xmlns:a="http://schemas.openxmlformats.org/drawingml/2006/main" l="28055" t="0" r="0" b="0"/>
          <a:stretch xmlns:a="http://schemas.openxmlformats.org/drawingml/2006/main"/>
        </p:blipFill>
        <p:spPr>
          <a:xfrm xmlns:a="http://schemas.openxmlformats.org/drawingml/2006/main">
            <a:off x="6283784" y="0"/>
            <a:ext cx="2860217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01F814D-F0F9-43B8-9DB0-928BFFD4453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097280"/>
            <a:ext cx="896112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7023BA90-87E6-4A8E-B40B-76856438C51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32104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55565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  <p:sp>
        <p:nvSpPr>
          <p:cNvPr id="10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ECDBDD0-4727-4B0A-BC62-282F8E732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2000" y="56716"/>
            <a:ext cx="82905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l">
              <a:buNone/>
              <a:defRPr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pic>
        <p:nvPicPr>
          <p:cNvPr id="1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75dd089b5a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5010" y="6309360"/>
            <a:ext cx="798990" cy="54864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1_Text Slide Gray Ang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3C1E2C4-6246-4649-AB9E-C7910081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12" y="0"/>
            <a:ext cx="566268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cd4542845f4728"/>
          <a:srcRect xmlns:a="http://schemas.openxmlformats.org/drawingml/2006/main" l="28055" t="0" r="0" b="0"/>
          <a:stretch xmlns:a="http://schemas.openxmlformats.org/drawingml/2006/main"/>
        </p:blipFill>
        <p:spPr>
          <a:xfrm xmlns:a="http://schemas.openxmlformats.org/drawingml/2006/main">
            <a:off x="644983" y="0"/>
            <a:ext cx="2860217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FC6EAF-4A98-42CA-ABFE-334E1CF0E28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097280"/>
            <a:ext cx="896112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07813F5-2BED-420D-B910-E808B91C27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2000" y="56716"/>
            <a:ext cx="82905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l">
              <a:buNone/>
              <a:defRPr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pic>
        <p:nvPicPr>
          <p:cNvPr id="1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9c85ecc534e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5010" y="6309360"/>
            <a:ext cx="798990" cy="548640"/>
          </a:xfrm>
          <a:prstGeom xmlns:a="http://schemas.openxmlformats.org/drawingml/2006/main" prst="rect">
            <a:avLst/>
          </a:prstGeom>
        </p:spPr>
      </p:pic>
      <p:sp>
        <p:nvSpPr>
          <p:cNvPr id="12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9094A52E-1995-4AE5-BFA5-5386034AD65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40CF17-14DE-48C5-BD29-F173BC0150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371600"/>
            <a:ext cx="896112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32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46FD149-86E8-471D-9FC1-627443D875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31036"/>
            <a:ext cx="8442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5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4475216A-2C65-427C-B9AD-15DEEAAF1578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983B86-ABB2-4AD1-8012-3B6537A3A5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371600"/>
            <a:ext cx="443484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B570AD-59B3-415D-96BC-6E98EFEB14AE}"/>
              </a:ext>
            </a:extLst>
          </p:cNvPr>
          <p:cNvSpPr>
            <a:spLocks xmlns:a="http://schemas.openxmlformats.org/drawingml/2006/main" noGrp="1"/>
          </p:cNvSpPr>
          <p:nvPr>
            <p:ph idx="12"/>
          </p:nvPr>
        </p:nvSpPr>
        <p:spPr>
          <a:xfrm xmlns:a="http://schemas.openxmlformats.org/drawingml/2006/main">
            <a:off x="4617720" y="1371600"/>
            <a:ext cx="443484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3A173FE3-B75D-4E81-8DDD-4A1FC211A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65760"/>
            <a:ext cx="8442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D5E8FCA3-3586-4429-B5FA-6BE2D3160ED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CBB3F7-A326-440A-B540-DC91AEA9F4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371600"/>
            <a:ext cx="292608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3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E579623E-6215-419A-863B-6E41FF0AB88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32104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F14816-2CD9-4292-9070-0597AD607AB5}"/>
              </a:ext>
            </a:extLst>
          </p:cNvPr>
          <p:cNvSpPr>
            <a:spLocks xmlns:a="http://schemas.openxmlformats.org/drawingml/2006/main" noGrp="1"/>
          </p:cNvSpPr>
          <p:nvPr>
            <p:ph idx="12"/>
          </p:nvPr>
        </p:nvSpPr>
        <p:spPr>
          <a:xfrm xmlns:a="http://schemas.openxmlformats.org/drawingml/2006/main">
            <a:off x="3108960" y="1371600"/>
            <a:ext cx="292608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F1CB644-3FEC-40C8-B408-D924EE03B8F8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126480" y="1371600"/>
            <a:ext cx="292608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9234BE9-1AF2-47A1-A1EC-3522BE22EA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31036"/>
            <a:ext cx="8442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77F0BE4-D076-4B69-A7B9-739802256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31036"/>
            <a:ext cx="8442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6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8BE4B0B7-2442-4DA3-AD8F-C52BCCE4300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74B889E-7B01-49AD-B2B5-2196D2692E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371600"/>
            <a:ext cx="896112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32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91DE7FC-0773-4A32-BC42-DCC4967B5D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31036"/>
            <a:ext cx="8442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5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3FFC3A98-EAA4-4008-B779-F139180C801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2 Figur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502A2F-F312-41BD-82B8-57C8E148A9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371600"/>
            <a:ext cx="443484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9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9DFAFB-9505-45DE-B1AA-3BBB2936F894}"/>
              </a:ext>
            </a:extLst>
          </p:cNvPr>
          <p:cNvSpPr>
            <a:spLocks xmlns:a="http://schemas.openxmlformats.org/drawingml/2006/main" noGrp="1"/>
          </p:cNvSpPr>
          <p:nvPr>
            <p:ph idx="12"/>
          </p:nvPr>
        </p:nvSpPr>
        <p:spPr>
          <a:xfrm xmlns:a="http://schemas.openxmlformats.org/drawingml/2006/main">
            <a:off x="4617720" y="1371600"/>
            <a:ext cx="443484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6D912A66-A3E9-42A7-92BD-4488150C0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31035"/>
            <a:ext cx="8442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B217BAE0-18D5-449F-B9E9-B89E2E114F6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3 Figur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0677A0C-83E1-4AB3-BA59-4E59932525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440" y="1371600"/>
            <a:ext cx="292608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D9E775-6A02-436D-9107-48C92FCB5D32}"/>
              </a:ext>
            </a:extLst>
          </p:cNvPr>
          <p:cNvSpPr>
            <a:spLocks xmlns:a="http://schemas.openxmlformats.org/drawingml/2006/main" noGrp="1"/>
          </p:cNvSpPr>
          <p:nvPr>
            <p:ph idx="12"/>
          </p:nvPr>
        </p:nvSpPr>
        <p:spPr>
          <a:xfrm xmlns:a="http://schemas.openxmlformats.org/drawingml/2006/main">
            <a:off x="3108960" y="1371600"/>
            <a:ext cx="292608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6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190F5E-1C0D-4521-9FF8-6ED475ACCFBD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126480" y="1371600"/>
            <a:ext cx="2926080" cy="4754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00" b="0" i="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6B929-EF9A-46C9-9697-9E23E16790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31036"/>
            <a:ext cx="8442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8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1400CB80-5918-44BB-80E2-8D676D5A220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21436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323A45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A63A3392-625B-4338-8E22-BF56F04D579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91440" y="6217920"/>
            <a:ext cx="832104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 algn="l">
              <a:spcBef>
                <a:spcPts val="0"/>
              </a:spcBef>
              <a:buNone/>
              <a:defRPr sz="1200">
                <a:solidFill>
                  <a:srgbClr val="55565A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buNone/>
            </a:pPr>
            <a:r>
              <a:t>Insert Source Here</a:t>
            </a:r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069ABA1-CD41-46E5-A303-C0D3A1FBD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31036"/>
            <a:ext cx="8442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4065DAD-9751-4256-A023-D9991E3ABC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38400" y="1295400"/>
            <a:ext cx="6008786" cy="1000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b="1" i="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DF8E744C-A3E6-4E09-BDD7-AEBB6427598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438400" y="2424199"/>
            <a:ext cx="4168742" cy="8842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SUBTITLE STYLE</a:t>
            </a:r>
          </a:p>
        </p:txBody>
      </p:sp>
      <p:sp>
        <p:nvSpPr>
          <p:cNvPr id="22" name="Content Placeholder 21">
            <a:extLst xmlns:a="http://schemas.openxmlformats.org/drawingml/2006/main">
              <a:ext uri="{FF2B5EF4-FFF2-40B4-BE49-F238E27FC236}">
                <a16:creationId xmlns:a16="http://schemas.microsoft.com/office/drawing/2014/main" id="{87DF298F-BFDF-4B48-94D9-F10A6217FF98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2438400" y="3668799"/>
            <a:ext cx="1511267" cy="2843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Authors</a:t>
            </a:r>
          </a:p>
        </p:txBody>
      </p:sp>
      <p:sp>
        <p:nvSpPr>
          <p:cNvPr id="28" name="Content Placeholder 27">
            <a:extLst xmlns:a="http://schemas.openxmlformats.org/drawingml/2006/main">
              <a:ext uri="{FF2B5EF4-FFF2-40B4-BE49-F238E27FC236}">
                <a16:creationId xmlns:a16="http://schemas.microsoft.com/office/drawing/2014/main" id="{0B5EF0CE-25B5-42A7-891C-7FA12F42E622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2438400" y="4122031"/>
            <a:ext cx="3762342" cy="84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/>
          <a:lstStyle xmlns:a="http://schemas.openxmlformats.org/drawingml/2006/main">
            <a:lvl1pPr marL="0" indent="0">
              <a:buNone/>
              <a:defRPr sz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Multiple Author Names, Name Last Name, Name </a:t>
            </a:r>
            <a:r>
              <a:t>lastname</a:t>
            </a:r>
            <a:r>
              <a:t> &amp; name </a:t>
            </a:r>
            <a:r>
              <a:t>lastname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9D08EC90-7A69-4BFE-B2C1-65886D6461EB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20452" y="1680186"/>
            <a:ext cx="7772401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>
                <a:solidFill>
                  <a:srgbClr val="FFFFFF"/>
                </a:solidFill>
              </a:defRPr>
            </a:lvl1pPr>
          </a:lstStyle>
          <a:p xmlns:a="http://schemas.openxmlformats.org/drawingml/2006/main">
            <a:r>
              <a:t>This is a Divider Slide	</a:t>
            </a:r>
          </a:p>
        </p:txBody>
      </p:sp>
      <p:sp>
        <p:nvSpPr>
          <p:cNvPr id="7" name="Subtitle 2">
            <a:extLst xmlns:a="http://schemas.openxmlformats.org/drawingml/2006/main">
              <a:ext uri="{FF2B5EF4-FFF2-40B4-BE49-F238E27FC236}">
                <a16:creationId xmlns:a16="http://schemas.microsoft.com/office/drawing/2014/main" id="{4F8D7459-8A54-4C1B-98B6-08EE36C504C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24844" y="2536153"/>
            <a:ext cx="77053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>
              <a:buNone/>
              <a:defRPr>
                <a:solidFill>
                  <a:srgbClr val="FFFFFF"/>
                </a:solidFill>
              </a:defRPr>
            </a:lvl1pPr>
            <a:lvl2pPr marL="457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Add subtitle here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d584090a61424199" /><Relationship Type="http://schemas.openxmlformats.org/officeDocument/2006/relationships/theme" Target="/ppt/slideMasters/theme/theme2.xml" Id="R807b1da7399f4a40" /><Relationship Type="http://schemas.openxmlformats.org/officeDocument/2006/relationships/slideLayout" Target="/ppt/slideLayouts/slideLayout1.xml" Id="R1956d4cf743448e2" /><Relationship Type="http://schemas.openxmlformats.org/officeDocument/2006/relationships/slideLayout" Target="/ppt/slideLayouts/slideLayout2.xml" Id="R57c6e8ebff5b43b7" /><Relationship Type="http://schemas.openxmlformats.org/officeDocument/2006/relationships/slideLayout" Target="/ppt/slideLayouts/slideLayout3.xml" Id="R51bbf71a7a214a31" /><Relationship Type="http://schemas.openxmlformats.org/officeDocument/2006/relationships/slideLayout" Target="/ppt/slideLayouts/slideLayout4.xml" Id="Rf057617f2dad400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8743ed12d80746ec" /><Relationship Type="http://schemas.openxmlformats.org/officeDocument/2006/relationships/image" Target="/ppt/media/image.jpeg" Id="Raf31d3be66e34000" /><Relationship Type="http://schemas.openxmlformats.org/officeDocument/2006/relationships/theme" Target="/ppt/slideMasters/theme/theme3.xml" Id="Rf17e8066c61e4c71" /><Relationship Type="http://schemas.openxmlformats.org/officeDocument/2006/relationships/slideLayout" Target="/ppt/slideLayouts/slideLayout5.xml" Id="Reffc4dc850df48be" /><Relationship Type="http://schemas.openxmlformats.org/officeDocument/2006/relationships/slideLayout" Target="/ppt/slideLayouts/slideLayout6.xml" Id="R50557f03bb3b4566" /><Relationship Type="http://schemas.openxmlformats.org/officeDocument/2006/relationships/slideLayout" Target="/ppt/slideLayouts/slideLayout7.xml" Id="R5a6b349e73b143f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39502dec40394ceb" /><Relationship Type="http://schemas.openxmlformats.org/officeDocument/2006/relationships/image" Target="/ppt/media/image.jpeg" Id="Rb9ab439e145843bf" /><Relationship Type="http://schemas.openxmlformats.org/officeDocument/2006/relationships/theme" Target="/ppt/slideMasters/theme/theme4.xml" Id="R3d9b252c66a846c7" /><Relationship Type="http://schemas.openxmlformats.org/officeDocument/2006/relationships/slideLayout" Target="/ppt/slideLayouts/slideLayout8.xml" Id="R39fc50c8fa164fe7" /><Relationship Type="http://schemas.openxmlformats.org/officeDocument/2006/relationships/slideLayout" Target="/ppt/slideLayouts/slideLayout9.xml" Id="R3f63a57a9bfa408a" /><Relationship Type="http://schemas.openxmlformats.org/officeDocument/2006/relationships/slideLayout" Target="/ppt/slideLayouts/slideLayout10.xml" Id="Reac8363fa6e34f1a" /><Relationship Type="http://schemas.openxmlformats.org/officeDocument/2006/relationships/slideLayout" Target="/ppt/slideLayouts/slideLayout11.xml" Id="R7994ad5cf8404b9c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2.png" Id="Rfa01c847512b427f" /><Relationship Type="http://schemas.openxmlformats.org/officeDocument/2006/relationships/image" Target="/ppt/media/image.jpeg" Id="R3d8e1cf365524450" /><Relationship Type="http://schemas.openxmlformats.org/officeDocument/2006/relationships/theme" Target="/ppt/slideMasters/theme/theme5.xml" Id="R85be34ad9f28466d" /><Relationship Type="http://schemas.openxmlformats.org/officeDocument/2006/relationships/slideLayout" Target="/ppt/slideLayouts/slideLayout12.xml" Id="R6302203c31dc4593" /><Relationship Type="http://schemas.openxmlformats.org/officeDocument/2006/relationships/slideLayout" Target="/ppt/slideLayouts/slideLayout13.xml" Id="Rc2bce6cf29e844b3" /><Relationship Type="http://schemas.openxmlformats.org/officeDocument/2006/relationships/slideLayout" Target="/ppt/slideLayouts/slideLayout14.xml" Id="R9c386b03bfe243d9" /><Relationship Type="http://schemas.openxmlformats.org/officeDocument/2006/relationships/slideLayout" Target="/ppt/slideLayouts/slideLayout15.xml" Id="Rbf473be1c2ce4ac6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3.png" Id="Rd19c2e7546444ed3" /><Relationship Type="http://schemas.openxmlformats.org/officeDocument/2006/relationships/image" Target="/ppt/media/image4.png" Id="R0f63d2e1c4b84560" /><Relationship Type="http://schemas.openxmlformats.org/officeDocument/2006/relationships/image" Target="/ppt/media/image5.png" Id="R1d1bde2a8b204b04" /><Relationship Type="http://schemas.openxmlformats.org/officeDocument/2006/relationships/theme" Target="/ppt/slideMasters/theme/theme6.xml" Id="R0135747d3ffd407c" /><Relationship Type="http://schemas.openxmlformats.org/officeDocument/2006/relationships/slideLayout" Target="/ppt/slideLayouts/slideLayout16.xml" Id="Re9b8cd730b5d4c9f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3.png" Id="R8991f9d5d47a4192" /><Relationship Type="http://schemas.openxmlformats.org/officeDocument/2006/relationships/image" Target="/ppt/media/image4.png" Id="R98260b92a2614a1c" /><Relationship Type="http://schemas.openxmlformats.org/officeDocument/2006/relationships/image" Target="/ppt/media/image5.png" Id="R812b657a853440ac" /><Relationship Type="http://schemas.openxmlformats.org/officeDocument/2006/relationships/image" Target="/ppt/media/image6.png" Id="Rda83d08e147e4257" /><Relationship Type="http://schemas.openxmlformats.org/officeDocument/2006/relationships/image" Target="/ppt/media/image7.png" Id="Rbd06420c56644733" /><Relationship Type="http://schemas.openxmlformats.org/officeDocument/2006/relationships/theme" Target="/ppt/slideMasters/theme/theme7.xml" Id="Re77821028fb549cb" /><Relationship Type="http://schemas.openxmlformats.org/officeDocument/2006/relationships/slideLayout" Target="/ppt/slideLayouts/slideLayout17.xml" Id="Rd10e421d2d6b4fb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85000"/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34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55DD636-0189-4E06-B2CF-BA1B8A912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" y="56716"/>
            <a:ext cx="89001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pic>
        <p:nvPicPr>
          <p:cNvPr id="5735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4090a614241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6324600"/>
            <a:ext cx="609600" cy="404607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56d4cf743448e2"/>
    <p:sldLayoutId xmlns:r="http://schemas.openxmlformats.org/officeDocument/2006/relationships" id="2147483650" r:id="R57c6e8ebff5b43b7"/>
    <p:sldLayoutId xmlns:r="http://schemas.openxmlformats.org/officeDocument/2006/relationships" id="2147483651" r:id="R51bbf71a7a214a31"/>
    <p:sldLayoutId xmlns:r="http://schemas.openxmlformats.org/officeDocument/2006/relationships" id="2147483652" r:id="Rf057617f2dad400f"/>
  </p:sldLayoutIdLst>
  <p:hf hdr="0" ftr="0" dt="0"/>
  <p:txStyles>
    <p:titleStyle>
      <a:lvl1pPr xmlns:a="http://schemas.openxmlformats.org/drawingml/2006/main" algn="l">
        <a:buNone/>
        <a:defRPr sz="2800" b="0" i="0">
          <a:solidFill>
            <a:srgbClr val="323A45"/>
          </a:solidFill>
          <a:latin typeface="Arial"/>
          <a:ea typeface="Arial"/>
          <a:cs typeface="Arial"/>
        </a:defRPr>
      </a:lvl1pPr>
      <a:lvl2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2pPr>
      <a:lvl3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3pPr>
      <a:lvl4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4pPr>
      <a:lvl5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5pPr>
      <a:lvl6pPr xmlns:a="http://schemas.openxmlformats.org/drawingml/2006/main" marL="4572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6pPr>
      <a:lvl7pPr xmlns:a="http://schemas.openxmlformats.org/drawingml/2006/main" marL="9144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7pPr>
      <a:lvl8pPr xmlns:a="http://schemas.openxmlformats.org/drawingml/2006/main" marL="13716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8pPr>
      <a:lvl9pPr xmlns:a="http://schemas.openxmlformats.org/drawingml/2006/main" marL="18288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9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85000"/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34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A70A40A-F426-443D-A9F5-1692D9CD78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2000" y="56716"/>
            <a:ext cx="82905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pic>
        <p:nvPicPr>
          <p:cNvPr id="5735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3ed12d80746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2894"/>
            <a:ext cx="850394" cy="1508763"/>
          </a:xfrm>
          <a:prstGeom xmlns:a="http://schemas.openxmlformats.org/drawingml/2006/main" prst="rect">
            <a:avLst/>
          </a:prstGeom>
        </p:spPr>
      </p:pic>
      <p:pic>
        <p:nvPicPr>
          <p:cNvPr id="5735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1d3be66e3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6324600"/>
            <a:ext cx="609600" cy="404607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effc4dc850df48be"/>
    <p:sldLayoutId xmlns:r="http://schemas.openxmlformats.org/officeDocument/2006/relationships" id="2147483655" r:id="R50557f03bb3b4566"/>
    <p:sldLayoutId xmlns:r="http://schemas.openxmlformats.org/officeDocument/2006/relationships" id="2147483656" r:id="R5a6b349e73b143f9"/>
  </p:sldLayoutIdLst>
  <p:hf hdr="0" ftr="0" dt="0"/>
  <p:txStyles>
    <p:titleStyle>
      <a:lvl1pPr xmlns:a="http://schemas.openxmlformats.org/drawingml/2006/main" algn="l">
        <a:buNone/>
        <a:defRPr sz="2800" b="0" i="0">
          <a:solidFill>
            <a:srgbClr val="55565A"/>
          </a:solidFill>
          <a:latin typeface="Arial"/>
          <a:ea typeface="Arial"/>
          <a:cs typeface="Arial"/>
        </a:defRPr>
      </a:lvl1pPr>
      <a:lvl2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2pPr>
      <a:lvl3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3pPr>
      <a:lvl4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4pPr>
      <a:lvl5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5pPr>
      <a:lvl6pPr xmlns:a="http://schemas.openxmlformats.org/drawingml/2006/main" marL="4572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6pPr>
      <a:lvl7pPr xmlns:a="http://schemas.openxmlformats.org/drawingml/2006/main" marL="9144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7pPr>
      <a:lvl8pPr xmlns:a="http://schemas.openxmlformats.org/drawingml/2006/main" marL="13716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8pPr>
      <a:lvl9pPr xmlns:a="http://schemas.openxmlformats.org/drawingml/2006/main" marL="18288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9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85000"/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02dec40394c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2894"/>
            <a:ext cx="850394" cy="1508763"/>
          </a:xfrm>
          <a:prstGeom xmlns:a="http://schemas.openxmlformats.org/drawingml/2006/main" prst="rect">
            <a:avLst/>
          </a:prstGeom>
        </p:spPr>
      </p:pic>
      <p:sp>
        <p:nvSpPr>
          <p:cNvPr id="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954012-558D-4DE8-8F7F-99C0D02CF8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65760"/>
            <a:ext cx="8442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1BBDB6B-CA48-4CA7-8701-A5F65268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"/>
            <a:ext cx="836676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Exhibit</a:t>
            </a:r>
            <a:r>
              <a:rPr sz="1400" b="0">
                <a:solidFill>
                  <a:srgbClr val="55565A"/>
                </a:solidFill>
                <a:latin typeface="Calibri"/>
                <a:ea typeface="Calibri"/>
                <a:cs typeface="Calibri"/>
              </a:rPr>
              <a:t> </a:t>
            </a:r>
            <a:fld id="{0C16F13B-3659-4888-B784-82F22626CC5F}" type="slidenum">
              <a:rPr sz="14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1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b439e145843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6324600"/>
            <a:ext cx="609600" cy="404607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39fc50c8fa164fe7"/>
    <p:sldLayoutId xmlns:r="http://schemas.openxmlformats.org/officeDocument/2006/relationships" id="2147483659" r:id="R3f63a57a9bfa408a"/>
    <p:sldLayoutId xmlns:r="http://schemas.openxmlformats.org/officeDocument/2006/relationships" id="2147483660" r:id="Reac8363fa6e34f1a"/>
    <p:sldLayoutId xmlns:r="http://schemas.openxmlformats.org/officeDocument/2006/relationships" id="2147483661" r:id="R7994ad5cf8404b9c"/>
  </p:sldLayoutIdLst>
  <p:hf hdr="0" ftr="0" dt="0"/>
  <p:txStyles>
    <p:titleStyle>
      <a:lvl1pPr xmlns:a="http://schemas.openxmlformats.org/drawingml/2006/main" algn="l">
        <a:buNone/>
        <a:defRPr sz="2800" b="0" i="0">
          <a:solidFill>
            <a:srgbClr val="323A45"/>
          </a:solidFill>
          <a:latin typeface="Arial"/>
          <a:ea typeface="Arial"/>
          <a:cs typeface="Arial"/>
        </a:defRPr>
      </a:lvl1pPr>
      <a:lvl2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2pPr>
      <a:lvl3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3pPr>
      <a:lvl4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4pPr>
      <a:lvl5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5pPr>
      <a:lvl6pPr xmlns:a="http://schemas.openxmlformats.org/drawingml/2006/main" marL="4572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6pPr>
      <a:lvl7pPr xmlns:a="http://schemas.openxmlformats.org/drawingml/2006/main" marL="9144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7pPr>
      <a:lvl8pPr xmlns:a="http://schemas.openxmlformats.org/drawingml/2006/main" marL="13716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8pPr>
      <a:lvl9pPr xmlns:a="http://schemas.openxmlformats.org/drawingml/2006/main" marL="18288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9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85000"/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34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8DB3BC3-EA2A-48CA-8889-9CEC246878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65760"/>
            <a:ext cx="84429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t>Click to edit Master title style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A3C000E-5D38-4D17-8EBF-452CA03A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"/>
            <a:ext cx="836676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Figure</a:t>
            </a:r>
            <a:r>
              <a:rPr sz="1400" b="0">
                <a:solidFill>
                  <a:srgbClr val="55565A"/>
                </a:solidFill>
                <a:latin typeface="Calibri"/>
                <a:ea typeface="Calibri"/>
                <a:cs typeface="Calibri"/>
              </a:rPr>
              <a:t> </a:t>
            </a:r>
            <a:fld id="{0C16F13B-3659-4888-B784-82F22626CC5F}" type="slidenum">
              <a:rPr sz="1400" b="0">
                <a:solidFill>
                  <a:srgbClr val="55565A"/>
                </a:solidFill>
                <a:latin typeface="Arial"/>
                <a:ea typeface="Arial"/>
                <a:cs typeface="Arial"/>
              </a:rPr>
              <a:t>‹#›</a:t>
            </a:fld>
          </a:p>
        </p:txBody>
      </p:sp>
      <p:pic>
        <p:nvPicPr>
          <p:cNvPr id="5735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1c847512b42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1575" y="-2894"/>
            <a:ext cx="861969" cy="1508763"/>
          </a:xfrm>
          <a:prstGeom xmlns:a="http://schemas.openxmlformats.org/drawingml/2006/main" prst="rect">
            <a:avLst/>
          </a:prstGeom>
        </p:spPr>
      </p:pic>
      <p:pic>
        <p:nvPicPr>
          <p:cNvPr id="5735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e1cf3655244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6324600"/>
            <a:ext cx="609600" cy="404607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6302203c31dc4593"/>
    <p:sldLayoutId xmlns:r="http://schemas.openxmlformats.org/officeDocument/2006/relationships" id="2147483664" r:id="Rc2bce6cf29e844b3"/>
    <p:sldLayoutId xmlns:r="http://schemas.openxmlformats.org/officeDocument/2006/relationships" id="2147483665" r:id="R9c386b03bfe243d9"/>
    <p:sldLayoutId xmlns:r="http://schemas.openxmlformats.org/officeDocument/2006/relationships" id="2147483666" r:id="Rbf473be1c2ce4ac6"/>
  </p:sldLayoutIdLst>
  <p:hf hdr="0" ftr="0" dt="0"/>
  <p:txStyles>
    <p:titleStyle>
      <a:lvl1pPr xmlns:a="http://schemas.openxmlformats.org/drawingml/2006/main" algn="l">
        <a:buNone/>
        <a:defRPr sz="2800" b="0" i="0">
          <a:solidFill>
            <a:srgbClr val="323A45"/>
          </a:solidFill>
          <a:latin typeface="Arial"/>
          <a:ea typeface="Arial"/>
          <a:cs typeface="Arial"/>
        </a:defRPr>
      </a:lvl1pPr>
      <a:lvl2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2pPr>
      <a:lvl3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3pPr>
      <a:lvl4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4pPr>
      <a:lvl5pPr xmlns:a="http://schemas.openxmlformats.org/drawingml/2006/main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5pPr>
      <a:lvl6pPr xmlns:a="http://schemas.openxmlformats.org/drawingml/2006/main" marL="4572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6pPr>
      <a:lvl7pPr xmlns:a="http://schemas.openxmlformats.org/drawingml/2006/main" marL="9144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7pPr>
      <a:lvl8pPr xmlns:a="http://schemas.openxmlformats.org/drawingml/2006/main" marL="13716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8pPr>
      <a:lvl9pPr xmlns:a="http://schemas.openxmlformats.org/drawingml/2006/main" marL="1828800" algn="l">
        <a:buNone/>
        <a:defRPr sz="2600" b="1">
          <a:solidFill>
            <a:schemeClr val="tx2"/>
          </a:solidFill>
          <a:latin typeface="Tahoma"/>
          <a:ea typeface="Tahoma"/>
          <a:cs typeface="Tahoma"/>
        </a:defRPr>
      </a:lvl9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7C32BC-022F-48B9-BC58-0C73F8CE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9c2e7546444ed3"/>
          <a:srcRect xmlns:a="http://schemas.openxmlformats.org/drawingml/2006/main" l="46308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3358798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3d2e1c4b845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5574" y="5295540"/>
            <a:ext cx="1184364" cy="786320"/>
          </a:xfrm>
          <a:prstGeom xmlns:a="http://schemas.openxmlformats.org/drawingml/2006/main" prst="rect">
            <a:avLst/>
          </a:prstGeom>
        </p:spPr>
      </p:pic>
      <p:pic>
        <p:nvPicPr>
          <p:cNvPr id="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bde2a8b204b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3031" y="6251604"/>
            <a:ext cx="4162012" cy="243326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e9b8cd730b5d4c9f"/>
  </p:sldLayoutIdLst>
  <p:txStyles>
    <p:titleStyle>
      <a:lvl1pPr xmlns:a="http://schemas.openxmlformats.org/drawingml/2006/main" algn="l">
        <a:buNone/>
        <a:defRPr sz="3200">
          <a:solidFill>
            <a:schemeClr val="bg1"/>
          </a:solidFill>
          <a:latin typeface="MetaSerif-Book"/>
          <a:ea typeface="MetaSerif-Book"/>
          <a:cs typeface="MetaSerif-Book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91f9d5d47a4192"/>
          <a:srcRect xmlns:a="http://schemas.openxmlformats.org/drawingml/2006/main" l="46308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3358798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60b92a2614a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5574" y="5295540"/>
            <a:ext cx="1184364" cy="786320"/>
          </a:xfrm>
          <a:prstGeom xmlns:a="http://schemas.openxmlformats.org/drawingml/2006/main" prst="rect">
            <a:avLst/>
          </a:prstGeom>
        </p:spPr>
      </p:pic>
      <p:pic>
        <p:nvPicPr>
          <p:cNvPr id="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b657a853440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53031" y="6251604"/>
            <a:ext cx="4162012" cy="243326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515CCF8-CB3F-40A4-AC26-4AE72701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9144001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B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83d08e147e4257"/>
          <a:srcRect xmlns:a="http://schemas.openxmlformats.org/drawingml/2006/main" l="28055" t="0" r="0" b="0"/>
          <a:stretch xmlns:a="http://schemas.openxmlformats.org/drawingml/2006/main"/>
        </p:blipFill>
        <p:spPr>
          <a:xfrm xmlns:a="http://schemas.openxmlformats.org/drawingml/2006/main">
            <a:off x="5331370" y="0"/>
            <a:ext cx="3812630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06420c56644733"/>
          <a:srcRect xmlns:a="http://schemas.openxmlformats.org/drawingml/2006/main" l="0" t="0" r="88613" b="85485"/>
          <a:stretch xmlns:a="http://schemas.openxmlformats.org/drawingml/2006/main"/>
        </p:blipFill>
        <p:spPr>
          <a:xfrm xmlns:a="http://schemas.openxmlformats.org/drawingml/2006/main">
            <a:off x="0" y="0"/>
            <a:ext cx="1028125" cy="1695882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d10e421d2d6b4fbc"/>
  </p:sldLayoutIdLst>
  <p:txStyles>
    <p:titleStyle>
      <a:lvl1pPr xmlns:a="http://schemas.openxmlformats.org/drawingml/2006/main" algn="l">
        <a:buNone/>
        <a:defRPr sz="3200">
          <a:solidFill>
            <a:schemeClr val="bg1"/>
          </a:solidFill>
          <a:latin typeface="MetaSerif-Book"/>
          <a:ea typeface="MetaSerif-Book"/>
          <a:cs typeface="MetaSerif-Book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No Angl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018 KFF Blu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Text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018 KFF Blu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Default with exhibit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018 KFF Blu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Default with figure #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018 KFF Blu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Title Slid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2018 KFF Blu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Divider Slide">
  <a:themeElements>
    <a:clrScheme name="Default KFF theme colors">
      <a:dk1>
        <a:srgbClr val="000000"/>
      </a:dk1>
      <a:lt1>
        <a:srgbClr val="FFFFFF"/>
      </a:lt1>
      <a:dk2>
        <a:srgbClr val="FF8811"/>
      </a:dk2>
      <a:lt2>
        <a:srgbClr val="FFD204"/>
      </a:lt2>
      <a:accent1>
        <a:srgbClr val="133559"/>
      </a:accent1>
      <a:accent2>
        <a:srgbClr val="025189"/>
      </a:accent2>
      <a:accent3>
        <a:srgbClr val="0072C0"/>
      </a:accent3>
      <a:accent4>
        <a:srgbClr val="31A3E3"/>
      </a:accent4>
      <a:accent5>
        <a:srgbClr val="7BC7ED"/>
      </a:accent5>
      <a:accent6>
        <a:srgbClr val="B0DDF4"/>
      </a:accent6>
      <a:hlink>
        <a:srgbClr val="ADA07A"/>
      </a:hlink>
      <a:folHlink>
        <a:srgbClr val="CDC6AF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 KFF theme color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7f6a529a0b3c4253" /><Relationship Type="http://schemas.openxmlformats.org/officeDocument/2006/relationships/notesSlide" Target="/ppt/notesSlides/notesSlide1.xml" Id="Raf88ddc953f544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b953bc4add843e6" /><Relationship Type="http://schemas.openxmlformats.org/officeDocument/2006/relationships/notesSlide" Target="/ppt/notesSlides/notesSlide2.xml" Id="Re8ed770d2d614c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129b3786be1431e" /><Relationship Type="http://schemas.openxmlformats.org/officeDocument/2006/relationships/chart" Target="/ppt/slides/charts/chart1.xml" Id="R1c98c91730f94087" /><Relationship Type="http://schemas.openxmlformats.org/officeDocument/2006/relationships/notesSlide" Target="/ppt/notesSlides/notesSlide3.xml" Id="R8fb9f2cc294e4a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5aff9371d8a43d6" /><Relationship Type="http://schemas.openxmlformats.org/officeDocument/2006/relationships/image" Target="/ppt/media/image.emf" Id="R88d46bb1fd124801" /><Relationship Type="http://schemas.openxmlformats.org/officeDocument/2006/relationships/chart" Target="/ppt/slides/charts/chart2.xml" Id="R5176e5619ffa45d1" /><Relationship Type="http://schemas.openxmlformats.org/officeDocument/2006/relationships/chart" Target="/ppt/slides/charts/chart3.xml" Id="R114d9efb5f694ebb" /><Relationship Type="http://schemas.openxmlformats.org/officeDocument/2006/relationships/notesSlide" Target="/ppt/notesSlides/notesSlide4.xml" Id="R6e8063d864274e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3a38acc10e24315" /><Relationship Type="http://schemas.openxmlformats.org/officeDocument/2006/relationships/chart" Target="/ppt/slides/charts/chart4.xml" Id="Rcdf0b35c17fb4ce2" /><Relationship Type="http://schemas.openxmlformats.org/officeDocument/2006/relationships/notesSlide" Target="/ppt/notesSlides/notesSlide5.xml" Id="R64f2cc217f8a4c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a001cb715364862" /><Relationship Type="http://schemas.openxmlformats.org/officeDocument/2006/relationships/chart" Target="/ppt/slides/charts/chart5.xml" Id="R89a3aacb58f444bc" /><Relationship Type="http://schemas.openxmlformats.org/officeDocument/2006/relationships/notesSlide" Target="/ppt/notesSlides/notesSlide6.xml" Id="R16f041df7fad4a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d938154e2424a28" /><Relationship Type="http://schemas.openxmlformats.org/officeDocument/2006/relationships/chart" Target="/ppt/slides/charts/chart6.xml" Id="Rb94a262c13b94763" /><Relationship Type="http://schemas.openxmlformats.org/officeDocument/2006/relationships/notesSlide" Target="/ppt/notesSlides/notesSlide7.xml" Id="R6af1e87381ba4e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126930a55f04e95" /><Relationship Type="http://schemas.openxmlformats.org/officeDocument/2006/relationships/chart" Target="/ppt/slides/charts/chart7.xml" Id="Rb7cf1f28357d4131" /><Relationship Type="http://schemas.openxmlformats.org/officeDocument/2006/relationships/notesSlide" Target="/ppt/notesSlides/notesSlide8.xml" Id="R154ab3e26b8744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5704c9b723e427e" /><Relationship Type="http://schemas.openxmlformats.org/officeDocument/2006/relationships/chart" Target="/ppt/slides/charts/chart8.xml" Id="R954255732a654b07" /><Relationship Type="http://schemas.openxmlformats.org/officeDocument/2006/relationships/notesSlide" Target="/ppt/notesSlides/notesSlide9.xml" Id="R6aeee1993ecb4233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plotArea>
      <c:pieChart>
        <c:ser>
          <c:idx val="0"/>
          <c:order val="0"/>
          <c:tx>
            <c:strRef>
              <c:f>'ASIAN NHOPI'!$B$2</c:f>
              <c:strCache>
                <c:ptCount val="1"/>
                <c:pt idx="0">
                  <c:v>%</c:v>
                </c:pt>
              </c:strCache>
            </c:strRef>
          </c:tx>
          <c:spPr>
            <a:ln xmlns:a="http://schemas.openxmlformats.org/drawingml/2006/main">
              <a:noFill/>
            </a:ln>
          </c:spPr>
          <c:dPt>
            <c:idx val="0"/>
            <c:spPr>
              <a:solidFill xmlns:a="http://schemas.openxmlformats.org/drawingml/2006/main">
                <a:schemeClr val="accent1"/>
              </a:solidFill>
              <a:ln xmlns:a="http://schemas.openxmlformats.org/drawingml/2006/main" w="19050">
                <a:noFill/>
              </a:ln>
            </c:spPr>
          </c:dPt>
          <c:dPt>
            <c:idx val="1"/>
            <c:spPr>
              <a:solidFill xmlns:a="http://schemas.openxmlformats.org/drawingml/2006/main">
                <a:schemeClr val="accent4"/>
              </a:solidFill>
              <a:ln xmlns:a="http://schemas.openxmlformats.org/drawingml/2006/main" w="19050">
                <a:noFill/>
              </a:ln>
            </c:spPr>
          </c:dPt>
          <c:dPt>
            <c:idx val="2"/>
            <c:spPr>
              <a:solidFill xmlns:a="http://schemas.openxmlformats.org/drawingml/2006/main">
                <a:schemeClr val="accent5"/>
              </a:solidFill>
              <a:ln xmlns:a="http://schemas.openxmlformats.org/drawingml/2006/main" w="19050">
                <a:noFill/>
              </a:ln>
            </c:spPr>
          </c:dPt>
          <c:dPt>
            <c:idx val="3"/>
            <c:spPr>
              <a:solidFill xmlns:a="http://schemas.openxmlformats.org/drawingml/2006/main">
                <a:schemeClr val="bg1">
                  <a:lumMod val="85000"/>
                </a:schemeClr>
              </a:solidFill>
              <a:ln xmlns:a="http://schemas.openxmlformats.org/drawingml/2006/main" w="19050">
                <a:noFill/>
              </a:ln>
            </c:spPr>
          </c:dPt>
          <c:dPt>
            <c:idx val="4"/>
            <c:spPr>
              <a:solidFill xmlns:a="http://schemas.openxmlformats.org/drawingml/2006/main">
                <a:schemeClr val="bg1">
                  <a:lumMod val="75000"/>
                </a:schemeClr>
              </a:solidFill>
              <a:ln xmlns:a="http://schemas.openxmlformats.org/drawingml/2006/main" w="19050">
                <a:noFill/>
              </a:ln>
            </c:spPr>
          </c:dPt>
          <c:dPt>
            <c:idx val="5"/>
            <c:spPr>
              <a:solidFill xmlns:a="http://schemas.openxmlformats.org/drawingml/2006/main">
                <a:schemeClr val="bg1">
                  <a:lumMod val="65000"/>
                </a:schemeClr>
              </a:solidFill>
              <a:ln xmlns:a="http://schemas.openxmlformats.org/drawingml/2006/main" w="19050">
                <a:noFill/>
              </a:ln>
            </c:spPr>
          </c:dPt>
          <c:dPt>
            <c:idx val="6"/>
            <c:spPr>
              <a:solidFill xmlns:a="http://schemas.openxmlformats.org/drawingml/2006/main">
                <a:schemeClr val="accent6"/>
              </a:solidFill>
              <a:ln xmlns:a="http://schemas.openxmlformats.org/drawingml/2006/main" w="19050">
                <a:noFill/>
              </a:ln>
            </c:spPr>
          </c:dPt>
          <c:dPt>
            <c:idx val="7"/>
            <c:spPr>
              <a:solidFill xmlns:a="http://schemas.openxmlformats.org/drawingml/2006/main">
                <a:schemeClr val="tx1">
                  <a:lumMod val="50000"/>
                  <a:lumOff val="50000"/>
                </a:schemeClr>
              </a:solidFill>
              <a:ln xmlns:a="http://schemas.openxmlformats.org/drawingml/2006/main" w="19050">
                <a:noFill/>
              </a:ln>
            </c:spPr>
          </c:dPt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00" b="1" i="0" u="none">
                      <a:solidFill>
                        <a:schemeClr val="bg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</c:dLbl>
            <c:dLbl>
              <c:idx val="1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00" b="1" i="0" u="none">
                      <a:solidFill>
                        <a:schemeClr val="bg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</c:dLbl>
            <c:dLbl>
              <c:idx val="2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00" b="1" i="0" u="none">
                      <a:solidFill>
                        <a:schemeClr val="bg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</c:dLbls>
          <c:cat>
            <c:strRef>
              <c:f>'ASIAN NHOPI'!$A$3:$A$10</c:f>
              <c:strCache>
                <c:ptCount val="8"/>
                <c:pt idx="0">
                  <c:v>Asian Indian</c:v>
                </c:pt>
                <c:pt idx="1">
                  <c:v>Chinese</c:v>
                </c:pt>
                <c:pt idx="2">
                  <c:v>Filipino</c:v>
                </c:pt>
                <c:pt idx="3">
                  <c:v>Japanese</c:v>
                </c:pt>
                <c:pt idx="4">
                  <c:v>Korean</c:v>
                </c:pt>
                <c:pt idx="5">
                  <c:v>Vietnamese</c:v>
                </c:pt>
                <c:pt idx="6">
                  <c:v>Other Asian</c:v>
                </c:pt>
                <c:pt idx="7">
                  <c:v>NHOPI</c:v>
                </c:pt>
              </c:strCache>
            </c:strRef>
          </c:cat>
          <c:val>
            <c:numRef>
              <c:f>'ASIAN NHOPI'!$B$3:$B$10</c:f>
              <c:numCache>
                <c:formatCode>0%</c:formatCode>
                <c:ptCount val="8"/>
                <c:pt idx="0">
                  <c:v>0.228282261236966</c:v>
                </c:pt>
                <c:pt idx="1">
                  <c:v>0.215493168539373</c:v>
                </c:pt>
                <c:pt idx="2">
                  <c:v>0.14957632751877</c:v>
                </c:pt>
                <c:pt idx="3">
                  <c:v>0.0337280980154271</c:v>
                </c:pt>
                <c:pt idx="4">
                  <c:v>0.0767151130048191</c:v>
                </c:pt>
                <c:pt idx="5">
                  <c:v>0.0990852974196732</c:v>
                </c:pt>
                <c:pt idx="6">
                  <c:v>0.165631750738918</c:v>
                </c:pt>
                <c:pt idx="7">
                  <c:v>0.031487983526053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Asian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600" b="1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pieChart>
        <c:ser>
          <c:idx val="0"/>
          <c:order val="0"/>
          <c:spPr>
            <a:ln xmlns:a="http://schemas.openxmlformats.org/drawingml/2006/main">
              <a:noFill/>
            </a:ln>
          </c:spPr>
          <c:dPt>
            <c:idx val="0"/>
            <c:spPr>
              <a:solidFill xmlns:a="http://schemas.openxmlformats.org/drawingml/2006/main">
                <a:schemeClr val="accent1"/>
              </a:solidFill>
              <a:ln xmlns:a="http://schemas.openxmlformats.org/drawingml/2006/main" w="19050">
                <a:noFill/>
              </a:ln>
            </c:spPr>
          </c:dPt>
          <c:dPt>
            <c:idx val="1"/>
            <c:spPr>
              <a:solidFill xmlns:a="http://schemas.openxmlformats.org/drawingml/2006/main">
                <a:schemeClr val="accent2"/>
              </a:solidFill>
              <a:ln xmlns:a="http://schemas.openxmlformats.org/drawingml/2006/main" w="19050">
                <a:noFill/>
              </a:ln>
            </c:spPr>
          </c:dPt>
          <c:dPt>
            <c:idx val="2"/>
            <c:spPr>
              <a:solidFill xmlns:a="http://schemas.openxmlformats.org/drawingml/2006/main">
                <a:schemeClr val="accent3"/>
              </a:solidFill>
              <a:ln xmlns:a="http://schemas.openxmlformats.org/drawingml/2006/main" w="19050">
                <a:noFill/>
              </a:ln>
            </c:spPr>
          </c:dPt>
          <c:dPt>
            <c:idx val="3"/>
            <c:spPr>
              <a:solidFill xmlns:a="http://schemas.openxmlformats.org/drawingml/2006/main">
                <a:schemeClr val="accent4"/>
              </a:solidFill>
              <a:ln xmlns:a="http://schemas.openxmlformats.org/drawingml/2006/main" w="19050">
                <a:noFill/>
              </a:ln>
            </c:spPr>
          </c:dPt>
          <c:dPt>
            <c:idx val="4"/>
            <c:spPr>
              <a:solidFill xmlns:a="http://schemas.openxmlformats.org/drawingml/2006/main">
                <a:schemeClr val="accent5"/>
              </a:solidFill>
              <a:ln xmlns:a="http://schemas.openxmlformats.org/drawingml/2006/main" w="19050">
                <a:noFill/>
              </a:ln>
            </c:spPr>
          </c:dPt>
          <c:dLbls>
            <c:dLbl>
              <c:idx val="4"/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</c:dLbls>
          <c:cat>
            <c:strRef>
              <c:f>'ASIAN NHOPI'!$A$67:$A$71</c:f>
              <c:strCache>
                <c:ptCount val="5"/>
                <c:pt idx="0">
                  <c:v>Asian</c:v>
                </c:pt>
                <c:pt idx="1">
                  <c:v>CA</c:v>
                </c:pt>
                <c:pt idx="2">
                  <c:v>NY</c:v>
                </c:pt>
                <c:pt idx="3">
                  <c:v>TX</c:v>
                </c:pt>
                <c:pt idx="4">
                  <c:v>Remaining 48 States</c:v>
                </c:pt>
              </c:strCache>
            </c:strRef>
          </c:cat>
          <c:val>
            <c:numRef>
              <c:f>'ASIAN NHOPI'!$B$67:$B$71</c:f>
              <c:numCache>
                <c:formatCode>0%</c:formatCode>
                <c:ptCount val="5"/>
                <c:pt idx="1">
                  <c:v>0.307126037788198</c:v>
                </c:pt>
                <c:pt idx="2">
                  <c:v>0.0956010048279571</c:v>
                </c:pt>
                <c:pt idx="3">
                  <c:v>0.0769259288783476</c:v>
                </c:pt>
                <c:pt idx="4">
                  <c:v>0.5203470285054973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00" b="1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NHOPI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600" b="1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pieChart>
        <c:ser>
          <c:idx val="0"/>
          <c:order val="0"/>
          <c:spPr>
            <a:ln xmlns:a="http://schemas.openxmlformats.org/drawingml/2006/main">
              <a:noFill/>
            </a:ln>
          </c:spPr>
          <c:dPt>
            <c:idx val="0"/>
            <c:spPr>
              <a:solidFill xmlns:a="http://schemas.openxmlformats.org/drawingml/2006/main">
                <a:schemeClr val="accent1"/>
              </a:solidFill>
              <a:ln xmlns:a="http://schemas.openxmlformats.org/drawingml/2006/main" w="19050">
                <a:noFill/>
              </a:ln>
            </c:spPr>
          </c:dPt>
          <c:dPt>
            <c:idx val="1"/>
            <c:spPr>
              <a:solidFill xmlns:a="http://schemas.openxmlformats.org/drawingml/2006/main">
                <a:schemeClr val="accent2"/>
              </a:solidFill>
              <a:ln xmlns:a="http://schemas.openxmlformats.org/drawingml/2006/main" w="19050">
                <a:noFill/>
              </a:ln>
            </c:spPr>
          </c:dPt>
          <c:dPt>
            <c:idx val="2"/>
            <c:spPr>
              <a:solidFill xmlns:a="http://schemas.openxmlformats.org/drawingml/2006/main">
                <a:schemeClr val="accent3"/>
              </a:solidFill>
              <a:ln xmlns:a="http://schemas.openxmlformats.org/drawingml/2006/main" w="19050">
                <a:noFill/>
              </a:ln>
            </c:spPr>
          </c:dPt>
          <c:dPt>
            <c:idx val="3"/>
            <c:spPr>
              <a:solidFill xmlns:a="http://schemas.openxmlformats.org/drawingml/2006/main">
                <a:srgbClr val="43B4FF"/>
              </a:solidFill>
              <a:ln xmlns:a="http://schemas.openxmlformats.org/drawingml/2006/main" w="19050">
                <a:noFill/>
              </a:ln>
            </c:spPr>
          </c:dPt>
          <c:dPt>
            <c:idx val="4"/>
            <c:spPr>
              <a:solidFill xmlns:a="http://schemas.openxmlformats.org/drawingml/2006/main">
                <a:schemeClr val="accent5"/>
              </a:solidFill>
              <a:ln xmlns:a="http://schemas.openxmlformats.org/drawingml/2006/main" w="19050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</c:dLbls>
          <c:cat>
            <c:strRef>
              <c:f>'ASIAN NHOPI'!$A$73:$A$76</c:f>
              <c:strCache>
                <c:ptCount val="4"/>
                <c:pt idx="0">
                  <c:v>NHOPI</c:v>
                </c:pt>
                <c:pt idx="1">
                  <c:v>CA</c:v>
                </c:pt>
                <c:pt idx="2">
                  <c:v>HI</c:v>
                </c:pt>
                <c:pt idx="3">
                  <c:v>Remaining 49 States</c:v>
                </c:pt>
              </c:strCache>
            </c:strRef>
          </c:cat>
          <c:val>
            <c:numRef>
              <c:f>'ASIAN NHOPI'!$B$73:$B$76</c:f>
              <c:numCache>
                <c:formatCode>0%</c:formatCode>
                <c:ptCount val="4"/>
                <c:pt idx="1">
                  <c:v>0.243235233424511</c:v>
                </c:pt>
                <c:pt idx="2">
                  <c:v>0.251087763049864</c:v>
                </c:pt>
                <c:pt idx="3">
                  <c:v>0.505677003525625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'ASIAN NHOPI'!$I$14</c:f>
              <c:strCache>
                <c:ptCount val="1"/>
                <c:pt idx="0">
                  <c:v>Asian</c:v>
                </c:pt>
              </c:strCache>
            </c:strRef>
          </c:tx>
          <c:spPr>
            <a:solidFill xmlns:a="http://schemas.openxmlformats.org/drawingml/2006/main">
              <a:schemeClr val="accent4"/>
            </a:solidFill>
            <a:ln xmlns:a="http://schemas.openxmlformats.org/drawingml/2006/main">
              <a:noFill/>
            </a:ln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NHOPI'!$I$15:$I$18</c:f>
              <c:numCache>
                <c:formatCode>0%</c:formatCode>
                <c:ptCount val="4"/>
                <c:pt idx="0">
                  <c:v>0.869960137131167</c:v>
                </c:pt>
                <c:pt idx="1">
                  <c:v>0.518772326131169</c:v>
                </c:pt>
                <c:pt idx="2">
                  <c:v>0.08702157181139754</c:v>
                </c:pt>
                <c:pt idx="3">
                  <c:v>0.2926793712630178</c:v>
                </c:pt>
              </c:numCache>
            </c:numRef>
          </c:val>
        </c:ser>
        <c:ser>
          <c:idx val="1"/>
          <c:order val="1"/>
          <c:tx>
            <c:strRef>
              <c:f>'ASIAN NHOPI'!$J$14</c:f>
              <c:strCache>
                <c:ptCount val="1"/>
                <c:pt idx="0">
                  <c:v>NHOPI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NHOPI'!$J$15:$J$18</c:f>
              <c:numCache>
                <c:formatCode>0%</c:formatCode>
                <c:ptCount val="4"/>
                <c:pt idx="0">
                  <c:v>0.830063092452176</c:v>
                </c:pt>
                <c:pt idx="1">
                  <c:v>0.572371916175289</c:v>
                </c:pt>
                <c:pt idx="2">
                  <c:v>0.15733597938189595</c:v>
                </c:pt>
                <c:pt idx="3">
                  <c:v>0.1432620158850725</c:v>
                </c:pt>
              </c:numCache>
            </c:numRef>
          </c:val>
        </c:ser>
        <c:ser>
          <c:idx val="2"/>
          <c:order val="2"/>
          <c:tx>
            <c:strRef>
              <c:f>'ASIAN NHOPI'!$K$14</c:f>
              <c:strCache>
                <c:ptCount val="1"/>
                <c:pt idx="0">
                  <c:v>White</c:v>
                </c:pt>
              </c:strCache>
            </c:strRef>
          </c:tx>
          <c:spPr>
            <a:solidFill xmlns:a="http://schemas.openxmlformats.org/drawingml/2006/main">
              <a:srgbClr val="BFBFBF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'ASIAN NHOPI'!$H$15:$H$18</c:f>
              <c:strCache>
                <c:ptCount val="4"/>
                <c:pt idx="0">
                  <c:v>Full-Time Worker
in Family</c:v>
                </c:pt>
                <c:pt idx="1">
                  <c:v>34 and Younger</c:v>
                </c:pt>
                <c:pt idx="2">
                  <c:v>Family Income
Below Poverty</c:v>
                </c:pt>
                <c:pt idx="3">
                  <c:v>Non-Citizen</c:v>
                </c:pt>
              </c:strCache>
            </c:strRef>
          </c:cat>
          <c:val>
            <c:numRef>
              <c:f>'ASIAN NHOPI'!$K$15:$K$18</c:f>
              <c:numCache>
                <c:formatCode>0%</c:formatCode>
                <c:ptCount val="4"/>
                <c:pt idx="0">
                  <c:v>0.841170028709152</c:v>
                </c:pt>
                <c:pt idx="1">
                  <c:v>0.489238406529599</c:v>
                </c:pt>
                <c:pt idx="2">
                  <c:v>0.07758658086803144</c:v>
                </c:pt>
                <c:pt idx="3">
                  <c:v>0.016627545629728416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6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t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6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'ASIAN NHOPI'!$B$25</c:f>
              <c:strCache>
                <c:ptCount val="1"/>
                <c:pt idx="0">
                  <c:v>Asian</c:v>
                </c:pt>
              </c:strCache>
            </c:strRef>
          </c:tx>
          <c:spPr>
            <a:solidFill xmlns:a="http://schemas.openxmlformats.org/drawingml/2006/main">
              <a:schemeClr val="accent4"/>
            </a:solidFill>
            <a:ln xmlns:a="http://schemas.openxmlformats.org/drawingml/2006/main">
              <a:noFill/>
            </a:ln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NHOPI'!$B$26:$B$31</c:f>
              <c:numCache>
                <c:formatCode>0%</c:formatCode>
                <c:ptCount val="6"/>
                <c:pt idx="0">
                  <c:v>0.0863103548889319</c:v>
                </c:pt>
                <c:pt idx="1">
                  <c:v>0.0610608353516226</c:v>
                </c:pt>
                <c:pt idx="2">
                  <c:v>0.0841190376177329</c:v>
                </c:pt>
                <c:pt idx="3">
                  <c:v>0.05773868781408</c:v>
                </c:pt>
                <c:pt idx="4">
                  <c:v>0.210695860076539</c:v>
                </c:pt>
                <c:pt idx="5">
                  <c:v>0.312985071386373</c:v>
                </c:pt>
              </c:numCache>
            </c:numRef>
          </c:val>
        </c:ser>
        <c:ser>
          <c:idx val="1"/>
          <c:order val="1"/>
          <c:tx>
            <c:strRef>
              <c:f>'ASIAN NHOPI'!$C$25</c:f>
              <c:strCache>
                <c:ptCount val="1"/>
                <c:pt idx="0">
                  <c:v>NHOPI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*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N/A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NHOPI'!$C$26:$C$31</c:f>
              <c:numCache>
                <c:formatCode>0%</c:formatCode>
                <c:ptCount val="6"/>
                <c:pt idx="0">
                  <c:v>0.232799092744633</c:v>
                </c:pt>
                <c:pt idx="1">
                  <c:v>0.120877230350794</c:v>
                </c:pt>
                <c:pt idx="2">
                  <c:v>0.188228432327561</c:v>
                </c:pt>
                <c:pt idx="3">
                  <c:v>0.111018833084118</c:v>
                </c:pt>
                <c:pt idx="4">
                  <c:v>0</c:v>
                </c:pt>
                <c:pt idx="5">
                  <c:v>0.276958814886175</c:v>
                </c:pt>
              </c:numCache>
            </c:numRef>
          </c:val>
        </c:ser>
        <c:ser>
          <c:idx val="2"/>
          <c:order val="2"/>
          <c:tx>
            <c:strRef>
              <c:f>'ASIAN NHOPI'!$D$25</c:f>
              <c:strCache>
                <c:ptCount val="1"/>
                <c:pt idx="0">
                  <c:v>White</c:v>
                </c:pt>
              </c:strCache>
            </c:strRef>
          </c:tx>
          <c:spPr>
            <a:solidFill xmlns:a="http://schemas.openxmlformats.org/drawingml/2006/main">
              <a:srgbClr val="BFBFBF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'ASIAN NHOPI'!$A$26:$A$31</c:f>
              <c:strCache>
                <c:ptCount val="6"/>
                <c:pt idx="0">
                  <c:v>Problems Paying 
Medical Bills</c:v>
                </c:pt>
                <c:pt idx="1">
                  <c:v>Fair or Poor
Health Status</c:v>
                </c:pt>
                <c:pt idx="2">
                  <c:v>Ever Had 
Asthma</c:v>
                </c:pt>
                <c:pt idx="3">
                  <c:v>Told By Doctor
They Have Diabetes</c:v>
                </c:pt>
                <c:pt idx="4">
                  <c:v>No Mammogram in Past 2 Years (Women 50-74)</c:v>
                </c:pt>
                <c:pt idx="5">
                  <c:v>No Pap Smear in Past 3 Years (Women 21-65)</c:v>
                </c:pt>
              </c:strCache>
            </c:strRef>
          </c:cat>
          <c:val>
            <c:numRef>
              <c:f>'ASIAN NHOPI'!$D$26:$D$31</c:f>
              <c:numCache>
                <c:formatCode>0%</c:formatCode>
                <c:ptCount val="6"/>
                <c:pt idx="0">
                  <c:v>0.159137342958303</c:v>
                </c:pt>
                <c:pt idx="1">
                  <c:v>0.0919978693427781</c:v>
                </c:pt>
                <c:pt idx="2">
                  <c:v>0.137664572776995</c:v>
                </c:pt>
                <c:pt idx="3">
                  <c:v>0.0688984399848506</c:v>
                </c:pt>
                <c:pt idx="4">
                  <c:v>0.223670224646805</c:v>
                </c:pt>
                <c:pt idx="5">
                  <c:v>0.188798362804861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4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t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6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'ASIAN NHOPI'!$B$35</c:f>
              <c:strCache>
                <c:ptCount val="1"/>
                <c:pt idx="0">
                  <c:v>Asian Indian</c:v>
                </c:pt>
              </c:strCache>
            </c:strRef>
          </c:tx>
          <c:spPr>
            <a:solidFill xmlns:a="http://schemas.openxmlformats.org/drawingml/2006/main">
              <a:schemeClr val="accent4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NHOPI'!$B$36:$B$38</c:f>
              <c:numCache>
                <c:formatCode>0%</c:formatCode>
                <c:ptCount val="3"/>
                <c:pt idx="0">
                  <c:v>0.031598193363066</c:v>
                </c:pt>
                <c:pt idx="1">
                  <c:v>0.0699625516168412</c:v>
                </c:pt>
                <c:pt idx="2">
                  <c:v>0.0525762076848966</c:v>
                </c:pt>
              </c:numCache>
            </c:numRef>
          </c:val>
        </c:ser>
        <c:ser>
          <c:idx val="1"/>
          <c:order val="1"/>
          <c:tx>
            <c:strRef>
              <c:f>'ASIAN NHOPI'!$C$35</c:f>
              <c:strCache>
                <c:ptCount val="1"/>
                <c:pt idx="0">
                  <c:v>Chinese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N/A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NHOPI'!$C$36:$C$38</c:f>
              <c:numCache>
                <c:formatCode>0%</c:formatCode>
                <c:ptCount val="3"/>
                <c:pt idx="0">
                  <c:v>0.0539475038349866</c:v>
                </c:pt>
                <c:pt idx="1">
                  <c:v>0</c:v>
                </c:pt>
                <c:pt idx="2">
                  <c:v>0.0606339142810928</c:v>
                </c:pt>
              </c:numCache>
            </c:numRef>
          </c:val>
        </c:ser>
        <c:ser>
          <c:idx val="2"/>
          <c:order val="2"/>
          <c:tx>
            <c:strRef>
              <c:f>'ASIAN NHOPI'!$D$35</c:f>
              <c:strCache>
                <c:ptCount val="1"/>
                <c:pt idx="0">
                  <c:v>Filipino</c:v>
                </c:pt>
              </c:strCache>
            </c:strRef>
          </c:tx>
          <c:spPr>
            <a:solidFill xmlns:a="http://schemas.openxmlformats.org/drawingml/2006/main">
              <a:srgbClr val="BFBFBF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NHOPI'!$D$36:$D$38</c:f>
              <c:numCache>
                <c:formatCode>0%</c:formatCode>
                <c:ptCount val="3"/>
                <c:pt idx="0">
                  <c:v>0.0792639822382544</c:v>
                </c:pt>
                <c:pt idx="1">
                  <c:v>0.0930541599832056</c:v>
                </c:pt>
                <c:pt idx="2">
                  <c:v>0.182073870153705</c:v>
                </c:pt>
              </c:numCache>
            </c:numRef>
          </c:val>
        </c:ser>
        <c:ser>
          <c:idx val="3"/>
          <c:order val="3"/>
          <c:tx>
            <c:strRef>
              <c:f>'ASIAN NHOPI'!$E$35</c:f>
              <c:strCache>
                <c:ptCount val="1"/>
                <c:pt idx="0">
                  <c:v>Other Asian</c:v>
                </c:pt>
              </c:strCache>
            </c:strRef>
          </c:tx>
          <c:spPr>
            <a:solidFill xmlns:a="http://schemas.openxmlformats.org/drawingml/2006/main">
              <a:srgbClr val="43B4FF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'ASIAN NHOPI'!$A$36:$A$38</c:f>
              <c:strCache>
                <c:ptCount val="3"/>
                <c:pt idx="0">
                  <c:v>Fair or Poor
Health Status</c:v>
                </c:pt>
                <c:pt idx="1">
                  <c:v>Problems Paying
Medical Bills </c:v>
                </c:pt>
                <c:pt idx="2">
                  <c:v>Ever Had 
Asthma</c:v>
                </c:pt>
              </c:strCache>
            </c:strRef>
          </c:cat>
          <c:val>
            <c:numRef>
              <c:f>'ASIAN NHOPI'!$E$36:$E$38</c:f>
              <c:numCache>
                <c:formatCode>0%</c:formatCode>
                <c:ptCount val="3"/>
                <c:pt idx="0">
                  <c:v>0.0754957455540545</c:v>
                </c:pt>
                <c:pt idx="1">
                  <c:v>0.088044357628046</c:v>
                </c:pt>
                <c:pt idx="2">
                  <c:v>0.0588860881639706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6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t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6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NHOPI</c:v>
          </c:tx>
          <c:spPr>
            <a:solidFill xmlns:a="http://schemas.openxmlformats.org/drawingml/2006/main">
              <a:srgbClr val="0078AE"/>
            </a:solidFill>
            <a:ln xmlns:a="http://schemas.openxmlformats.org/drawingml/2006/main" w="28575">
              <a:solidFill>
                <a:srgbClr val="0078AE"/>
              </a:solidFill>
              <a:prstDash val="solid"/>
            </a:ln>
          </c:spPr>
          <c:marker>
            <c:symbol val="circle"/>
            <c:size val="7"/>
          </c:marker>
          <c:dLbls/>
          <c:cat>
            <c:numLit>
              <c:formatCode>General</c:formatCode>
              <c:ptCount val="5"/>
              <c:pt idx="0">
                <c:v>2013</c:v>
              </c:pt>
              <c:pt idx="1">
                <c:v>2014</c:v>
              </c:pt>
              <c:pt idx="2">
                <c:v>2015</c:v>
              </c:pt>
              <c:pt idx="3">
                <c:v>2016</c:v>
              </c:pt>
              <c:pt idx="4">
                <c:v>2017</c:v>
              </c:pt>
            </c:numLit>
          </c:cat>
          <c:val>
            <c:numLit>
              <c:formatCode>0"%"</c:formatCode>
              <c:ptCount val="5"/>
              <c:pt idx="0">
                <c:v>18</c:v>
              </c:pt>
              <c:pt idx="1">
                <c:v>14</c:v>
              </c:pt>
              <c:pt idx="2">
                <c:v>10</c:v>
              </c:pt>
              <c:pt idx="3">
                <c:v>11</c:v>
              </c:pt>
              <c:pt idx="4">
                <c:v>11</c:v>
              </c:pt>
            </c:numLit>
          </c:val>
          <c:smooth val="0"/>
        </c:ser>
        <c:ser>
          <c:idx val="1"/>
          <c:order val="1"/>
          <c:tx>
            <c:v>Asian</c:v>
          </c:tx>
          <c:spPr>
            <a:solidFill xmlns:a="http://schemas.openxmlformats.org/drawingml/2006/main">
              <a:srgbClr val="21A5C7"/>
            </a:solidFill>
            <a:ln xmlns:a="http://schemas.openxmlformats.org/drawingml/2006/main" w="28575">
              <a:solidFill>
                <a:srgbClr val="21A5C7"/>
              </a:solidFill>
              <a:prstDash val="solid"/>
            </a:ln>
          </c:spPr>
          <c:marker>
            <c:symbol val="circle"/>
            <c:size val="7"/>
          </c:marker>
          <c:dLbls/>
          <c:cat>
            <c:numLit>
              <c:formatCode>General</c:formatCode>
              <c:ptCount val="5"/>
              <c:pt idx="0">
                <c:v>2013</c:v>
              </c:pt>
              <c:pt idx="1">
                <c:v>2014</c:v>
              </c:pt>
              <c:pt idx="2">
                <c:v>2015</c:v>
              </c:pt>
              <c:pt idx="3">
                <c:v>2016</c:v>
              </c:pt>
              <c:pt idx="4">
                <c:v>2017</c:v>
              </c:pt>
            </c:numLit>
          </c:cat>
          <c:val>
            <c:numLit>
              <c:formatCode>0"%"</c:formatCode>
              <c:ptCount val="5"/>
              <c:pt idx="0">
                <c:v>16</c:v>
              </c:pt>
              <c:pt idx="1">
                <c:v>11</c:v>
              </c:pt>
              <c:pt idx="2">
                <c:v>8</c:v>
              </c:pt>
              <c:pt idx="3">
                <c:v>7</c:v>
              </c:pt>
              <c:pt idx="4">
                <c:v>7</c:v>
              </c:pt>
            </c:numLit>
          </c:val>
          <c:smooth val="0"/>
        </c:ser>
        <c:ser>
          <c:idx val="2"/>
          <c:order val="2"/>
          <c:tx>
            <c:v>White</c:v>
          </c:tx>
          <c:spPr>
            <a:solidFill xmlns:a="http://schemas.openxmlformats.org/drawingml/2006/main">
              <a:srgbClr val="4A4A4A"/>
            </a:solidFill>
            <a:ln xmlns:a="http://schemas.openxmlformats.org/drawingml/2006/main" w="28575">
              <a:solidFill>
                <a:srgbClr val="4A4A4A"/>
              </a:solidFill>
              <a:prstDash val="solid"/>
            </a:ln>
          </c:spPr>
          <c:marker>
            <c:symbol val="circle"/>
            <c:size val="7"/>
          </c:marker>
          <c:dLbls/>
          <c:cat>
            <c:numLit>
              <c:formatCode>General</c:formatCode>
              <c:ptCount val="5"/>
              <c:pt idx="0">
                <c:v>2013</c:v>
              </c:pt>
              <c:pt idx="1">
                <c:v>2014</c:v>
              </c:pt>
              <c:pt idx="2">
                <c:v>2015</c:v>
              </c:pt>
              <c:pt idx="3">
                <c:v>2016</c:v>
              </c:pt>
              <c:pt idx="4">
                <c:v>2017</c:v>
              </c:pt>
            </c:numLit>
          </c:cat>
          <c:val>
            <c:numLit>
              <c:formatCode>0"%"</c:formatCode>
              <c:ptCount val="5"/>
              <c:pt idx="0">
                <c:v>12</c:v>
              </c:pt>
              <c:pt idx="1">
                <c:v>10</c:v>
              </c:pt>
              <c:pt idx="2">
                <c:v>8</c:v>
              </c:pt>
              <c:pt idx="3">
                <c:v>7</c:v>
              </c:pt>
              <c:pt idx="4">
                <c:v>7</c:v>
              </c:pt>
            </c:numLit>
          </c:val>
          <c:smooth val="0"/>
        </c:ser>
        <c:dLbls>
          <c:showVal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A9A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3333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 b="0">
                    <a:solidFill>
                      <a:srgbClr val="333333"/>
                    </a:solidFill>
                  </a:rPr>
                  <a:t>Uninsured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0">
                  <a:solidFill>
                    <a:srgbClr val="333333"/>
                  </a:solidFill>
                </a:defRPr>
              </a:pPr>
            </a:p>
          </c:txPr>
        </c:title>
        <c:numFmt formatCode="0&quot;%&quot;"/>
        <c:majorUnit val="5"/>
        <c:majorTickMark val="none"/>
        <c:minorTickMark val="none"/>
        <c:spPr>
          <a:ln xmlns:a="http://schemas.openxmlformats.org/drawingml/2006/main" w="9525">
            <a:solidFill>
              <a:srgbClr val="9A9A9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33333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8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'ASIAN NHOPI'!$B$57</c:f>
              <c:strCache>
                <c:ptCount val="1"/>
                <c:pt idx="0">
                  <c:v>uninsured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Pt>
            <c:idx val="0"/>
            <c:spPr>
              <a:solidFill xmlns:a="http://schemas.openxmlformats.org/drawingml/2006/main">
                <a:srgbClr val="082338"/>
              </a:solidFill>
              <a:ln xmlns:a="http://schemas.openxmlformats.org/drawingml/2006/main">
                <a:noFill/>
              </a:ln>
            </c:spPr>
          </c:dPt>
          <c:dPt>
            <c:idx val="1"/>
            <c:spPr>
              <a:solidFill xmlns:a="http://schemas.openxmlformats.org/drawingml/2006/main">
                <a:srgbClr val="0E3B5E"/>
              </a:solidFill>
              <a:ln xmlns:a="http://schemas.openxmlformats.org/drawingml/2006/main">
                <a:noFill/>
              </a:ln>
            </c:spPr>
          </c:dPt>
          <c:dPt>
            <c:idx val="2"/>
            <c:spPr>
              <a:solidFill xmlns:a="http://schemas.openxmlformats.org/drawingml/2006/main">
                <a:srgbClr val="005791"/>
              </a:solidFill>
              <a:ln xmlns:a="http://schemas.openxmlformats.org/drawingml/2006/main">
                <a:noFill/>
              </a:ln>
            </c:spPr>
          </c:dPt>
          <c:dPt>
            <c:idx val="3"/>
            <c:spPr>
              <a:solidFill xmlns:a="http://schemas.openxmlformats.org/drawingml/2006/main">
                <a:srgbClr val="0077C8"/>
              </a:solidFill>
              <a:ln xmlns:a="http://schemas.openxmlformats.org/drawingml/2006/main">
                <a:noFill/>
              </a:ln>
            </c:spPr>
          </c:dPt>
          <c:dPt>
            <c:idx val="4"/>
            <c:spPr>
              <a:solidFill xmlns:a="http://schemas.openxmlformats.org/drawingml/2006/main">
                <a:srgbClr val="43B4FF"/>
              </a:solidFill>
              <a:ln xmlns:a="http://schemas.openxmlformats.org/drawingml/2006/main">
                <a:noFill/>
              </a:ln>
            </c:spPr>
          </c:dPt>
          <c:dPt>
            <c:idx val="5"/>
            <c:spPr>
              <a:solidFill xmlns:a="http://schemas.openxmlformats.org/drawingml/2006/main">
                <a:srgbClr val="C0E6FF"/>
              </a:solidFill>
              <a:ln xmlns:a="http://schemas.openxmlformats.org/drawingml/2006/main">
                <a:noFill/>
              </a:ln>
            </c:spPr>
          </c:dPt>
          <c:dPt>
            <c:idx val="6"/>
            <c:spPr>
              <a:solidFill xmlns:a="http://schemas.openxmlformats.org/drawingml/2006/main">
                <a:srgbClr val="082338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600" b="1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'ASIAN NHOPI'!$A$58:$A$64</c:f>
              <c:strCache>
                <c:ptCount val="7"/>
                <c:pt idx="0">
                  <c:v>Asian 
Indian</c:v>
                </c:pt>
                <c:pt idx="1">
                  <c:v>Korean</c:v>
                </c:pt>
                <c:pt idx="2">
                  <c:v>Chinese</c:v>
                </c:pt>
                <c:pt idx="3">
                  <c:v>Filipino</c:v>
                </c:pt>
                <c:pt idx="4">
                  <c:v>Japanese</c:v>
                </c:pt>
                <c:pt idx="5">
                  <c:v>Vietnamese</c:v>
                </c:pt>
                <c:pt idx="6">
                  <c:v>Other 
Asian</c:v>
                </c:pt>
              </c:strCache>
            </c:strRef>
          </c:cat>
          <c:val>
            <c:numRef>
              <c:f>'ASIAN NHOPI'!$B$58:$B$64</c:f>
              <c:numCache>
                <c:formatCode>0%</c:formatCode>
                <c:ptCount val="7"/>
                <c:pt idx="0">
                  <c:v>0.0477956813082368</c:v>
                </c:pt>
                <c:pt idx="1">
                  <c:v>0.103188260743228</c:v>
                </c:pt>
                <c:pt idx="2">
                  <c:v>0.0711806129248509</c:v>
                </c:pt>
                <c:pt idx="3">
                  <c:v>0.059701912691707</c:v>
                </c:pt>
                <c:pt idx="4">
                  <c:v>0.0444651695624715</c:v>
                </c:pt>
                <c:pt idx="5">
                  <c:v>0.0915285059899137</c:v>
                </c:pt>
                <c:pt idx="6">
                  <c:v>0.0910923439842386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600" b="0" i="0" u="none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2"/>
        </c:scaling>
        <c:delete val="1"/>
        <c:axPos val="l"/>
        <c:numFmt formatCode="0%" sourceLinked="1"/>
        <c:majorTickMark val="out"/>
        <c:minorTickMark val="none"/>
        <c:tickLblPos val="nextTo"/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73F8-63C5-44FC-9160-3064201507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38400" y="2254163"/>
            <a:ext cx="6008786" cy="100051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Health and Health Care for Asian Americans, Native Hawaiians and Other Pacific Islanders (NHOPIs) in the United States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84EE16-755D-4628-B32D-2EA7854D8FB5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438400" y="4144962"/>
            <a:ext cx="4168742" cy="8842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Updated May </a:t>
            </a:r>
            <a:r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25631953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7D8DB3AA-294A-4101-8F65-6F18C93F13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950720"/>
            <a:ext cx="3489960" cy="475488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>
                <a:solidFill>
                  <a:schemeClr val="tx1"/>
                </a:solidFill>
              </a:rPr>
              <a:t>Nearly </a:t>
            </a:r>
            <a:r>
              <a:rPr sz="2800" b="1">
                <a:solidFill>
                  <a:schemeClr val="accent4"/>
                </a:solidFill>
              </a:rPr>
              <a:t>18.2</a:t>
            </a:r>
            <a:r>
              <a:rPr sz="2800" b="1">
                <a:solidFill>
                  <a:srgbClr val="0077C8"/>
                </a:solidFill>
              </a:rPr>
              <a:t> million individuals </a:t>
            </a:r>
            <a:r>
              <a:rPr sz="2400">
                <a:solidFill>
                  <a:schemeClr val="tx1"/>
                </a:solidFill>
              </a:rPr>
              <a:t>self-identify as Asian or NHOPI.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033A411-4DBD-48B8-8A94-C4DAA293256E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/>
              <a:t>Note: Asians and NHOPIs are non-Hispanic. </a:t>
            </a:r>
          </a:p>
          <a:p xmlns:a="http://schemas.openxmlformats.org/drawingml/2006/main">
            <a:r>
              <a:rPr sz="1050"/>
              <a:t>Source: Kaiser Family Foundation analysis of 2017 American Community Survey (ACS), 1-Year Estimates.</a:t>
            </a:r>
          </a:p>
        </p:txBody>
      </p:sp>
      <p:sp>
        <p:nvSpPr>
          <p:cNvPr id="8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111CF468-3E48-4F52-B714-40027FE24B26}"/>
              </a:ext>
            </a:extLst>
          </p:cNvPr>
          <p:cNvSpPr>
            <a:spLocks xmlns:a="http://schemas.openxmlformats.org/drawingml/2006/main" noGrp="1"/>
          </p:cNvSpPr>
          <p:nvPr>
            <p:ph idx="12"/>
          </p:nvPr>
        </p:nvSpPr>
        <p:spPr>
          <a:xfrm xmlns:a="http://schemas.openxmlformats.org/drawingml/2006/main">
            <a:off x="5172542" y="1950720"/>
            <a:ext cx="3489960" cy="475488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>
                <a:solidFill>
                  <a:schemeClr val="tx1"/>
                </a:solidFill>
              </a:rPr>
              <a:t>Asians and NHOPIs account for </a:t>
            </a:r>
            <a:r>
              <a:rPr sz="2800" b="1">
                <a:solidFill>
                  <a:srgbClr val="0077C8"/>
                </a:solidFill>
              </a:rPr>
              <a:t>6% </a:t>
            </a:r>
            <a:r>
              <a:rPr sz="2400">
                <a:solidFill>
                  <a:schemeClr val="tx1"/>
                </a:solidFill>
              </a:rPr>
              <a:t>of the total United States population. </a:t>
            </a:r>
          </a:p>
        </p:txBody>
      </p:sp>
    </p:spTree>
    <p:extLst>
      <p:ext uri="{BB962C8B-B14F-4D97-AF65-F5344CB8AC3E}">
        <p14:creationId xmlns:p14="http://schemas.microsoft.com/office/powerpoint/2010/main" val="32784338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32BE4010-5EA7-41BB-A5B8-DDA3F1B177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Asian and NHOPI populations are made up of diverse groups.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16773A1-E6DA-4C9B-8F3F-AEC80C7526C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/>
              <a:t>Note: Includes nonelderly individuals 0-64 years of age. Asians and NHOPIs are non-Hispanic and exclude individuals of mixed race. </a:t>
            </a:r>
          </a:p>
          <a:p xmlns:a="http://schemas.openxmlformats.org/drawingml/2006/main">
            <a:r>
              <a:rPr sz="1050"/>
              <a:t>Source: Kaiser Family Foundation analysis of 2017 American Community Survey (ACS), 1-Year Estimates.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1442C8-1370-4369-AC54-649B0C5D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5436"/>
            <a:ext cx="7924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+mj-lt"/>
                <a:ea typeface="+mj-lt"/>
                <a:cs typeface="+mj-lt"/>
              </a:rPr>
              <a:t>DISTRIBUTION OF NONELDERLY ASIAN &amp; NHOPI POPULATIONS, 2017</a:t>
            </a:r>
          </a:p>
        </p:txBody>
      </p:sp>
      <p:graphicFrame>
        <p:nvGraphicFramePr>
          <p:cNvPr id="10" name="Content Placeholder 6"/>
          <p:cNvGraphicFramePr/>
          <p:nvPr/>
        </p:nvGraphicFramePr>
        <p:xfrm>
          <a:off xmlns:a="http://schemas.openxmlformats.org/drawingml/2006/main" x="92075" y="1752600"/>
          <a:ext xmlns:a="http://schemas.openxmlformats.org/drawingml/2006/main" cx="8959850" cy="44531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98c91730f94087"/>
          </a:graphicData>
        </a:graphic>
      </p:graphicFrame>
    </p:spTree>
    <p:extLst>
      <p:ext uri="{BB962C8B-B14F-4D97-AF65-F5344CB8AC3E}">
        <p14:creationId xmlns:p14="http://schemas.microsoft.com/office/powerpoint/2010/main" val="2732424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AEEC3377-55E2-4C27-946E-B67F15800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Asians and NHOPIs live across the U.S., but make up a greater share of the population in a few states.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E4E25B9-DB27-4297-9CA8-87888A89144D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/>
              <a:t>Note: Includes nonelderly individuals 0-64 years of age. Asians and NHOPIs are non-Hispanic and exclude individuals of mixed race. </a:t>
            </a:r>
          </a:p>
          <a:p xmlns:a="http://schemas.openxmlformats.org/drawingml/2006/main">
            <a:r>
              <a:rPr sz="1050"/>
              <a:t>Source: Kaiser Family Foundation analysis of 2017 American Community Survey (ACS), 1-Year Estimates.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C73F85-1F56-42F9-8F85-197F89C6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5436"/>
            <a:ext cx="7924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DISTRIBUTION OF NONELDERLY ASIAN &amp; NHOPI POPULATIONS BY STATE, 2017</a:t>
            </a:r>
          </a:p>
        </p:txBody>
      </p:sp>
      <p:pic>
        <p:nvPicPr>
          <p:cNvPr id="2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46bb1fd124801">
            <a:duotone>
              <a:prstClr val="black"/>
              <a:srgbClr val="DBDBDB">
                <a:tint val="45000"/>
                <a:satMod val="400000"/>
              </a:srgbClr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06951" y="2754548"/>
            <a:ext cx="652732" cy="386667"/>
          </a:xfrm>
          <a:prstGeom xmlns:a="http://schemas.openxmlformats.org/drawingml/2006/main" prst="rect">
            <a:avLst/>
          </a:prstGeom>
        </p:spPr>
      </p:pic>
      <p:graphicFrame>
        <p:nvGraphicFramePr>
          <p:cNvPr id="27" name="Content Placeholder 15"/>
          <p:cNvGraphicFramePr/>
          <p:nvPr/>
        </p:nvGraphicFramePr>
        <p:xfrm>
          <a:off xmlns:a="http://schemas.openxmlformats.org/drawingml/2006/main" x="92075" y="1644651"/>
          <a:ext xmlns:a="http://schemas.openxmlformats.org/drawingml/2006/main" cx="4433888" cy="4265492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76e5619ffa45d1"/>
          </a:graphicData>
        </a:graphic>
      </p:graphicFrame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000390C-BCE4-489D-AB87-76E1DB9C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19" y="5909936"/>
            <a:ext cx="2209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atin typeface="+mj-lt"/>
                <a:ea typeface="+mj-lt"/>
                <a:cs typeface="+mj-lt"/>
              </a:rPr>
              <a:t>Total Asian: 15.5 Million </a:t>
            </a:r>
          </a:p>
        </p:txBody>
      </p:sp>
      <p:graphicFrame>
        <p:nvGraphicFramePr>
          <p:cNvPr id="29" name="Content Placeholder 17"/>
          <p:cNvGraphicFramePr/>
          <p:nvPr/>
        </p:nvGraphicFramePr>
        <p:xfrm>
          <a:off xmlns:a="http://schemas.openxmlformats.org/drawingml/2006/main" x="4618038" y="1644651"/>
          <a:ext xmlns:a="http://schemas.openxmlformats.org/drawingml/2006/main" cx="4433887" cy="4265492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4d9efb5f694ebb"/>
          </a:graphicData>
        </a:graphic>
      </p:graphicFrame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C04DA1C-0C4C-4DC0-A10E-B03ADF23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081" y="5909935"/>
            <a:ext cx="2209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latin typeface="+mj-lt"/>
                <a:ea typeface="+mj-lt"/>
                <a:cs typeface="+mj-lt"/>
              </a:rPr>
              <a:t>Total NHOPI: 0.5 Million</a:t>
            </a:r>
          </a:p>
        </p:txBody>
      </p:sp>
    </p:spTree>
    <p:extLst>
      <p:ext uri="{BB962C8B-B14F-4D97-AF65-F5344CB8AC3E}">
        <p14:creationId xmlns:p14="http://schemas.microsoft.com/office/powerpoint/2010/main" val="8242599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35732E32-C040-48CE-9498-161616F91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Most Asians and NHOPIs have a worker in the family and they are more likely to be poor, younger, and non-citizens than Whites. 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C9943E7-13F3-4EC0-BCC7-38914A53B19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/>
              <a:t>* Indicates statistically significant difference from the White population at the p&lt;0.05 level. </a:t>
            </a:r>
          </a:p>
          <a:p xmlns:a="http://schemas.openxmlformats.org/drawingml/2006/main">
            <a:r>
              <a:rPr sz="1050"/>
              <a:t>Note: Includes nonelderly individuals 0-64 years of age. All racial groups are non-Hispanic and exclude individuals of mixed race. </a:t>
            </a:r>
          </a:p>
          <a:p xmlns:a="http://schemas.openxmlformats.org/drawingml/2006/main">
            <a:r>
              <a:rPr sz="1050"/>
              <a:t>Source: Kaiser Family Foundation analysis of 2017 American Community Survey (ACS), 1-Year Estimates.</a:t>
            </a:r>
          </a:p>
        </p:txBody>
      </p:sp>
      <p:graphicFrame>
        <p:nvGraphicFramePr>
          <p:cNvPr id="8" name="Content Placeholder 7"/>
          <p:cNvGraphicFramePr/>
          <p:nvPr/>
        </p:nvGraphicFramePr>
        <p:xfrm>
          <a:off xmlns:a="http://schemas.openxmlformats.org/drawingml/2006/main" x="92075" y="1600200"/>
          <a:ext xmlns:a="http://schemas.openxmlformats.org/drawingml/2006/main" cx="8959850" cy="44531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f0b35c17fb4ce2"/>
          </a:graphicData>
        </a:graphic>
      </p:graphicFrame>
    </p:spTree>
    <p:extLst>
      <p:ext uri="{BB962C8B-B14F-4D97-AF65-F5344CB8AC3E}">
        <p14:creationId xmlns:p14="http://schemas.microsoft.com/office/powerpoint/2010/main" val="27848766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9A9917B-533E-484A-A674-8FFCAA453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31036"/>
            <a:ext cx="8534400" cy="9144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750">
                <a:solidFill>
                  <a:schemeClr val="tx1"/>
                </a:solidFill>
              </a:rPr>
              <a:t>NHOPIs fare worse than Whites on many health measures. Asians often fare better than Whites, but…  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E266A31-F59C-4EC2-BFF4-0930552A171B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/>
              <a:t>* Indicates statistically significant difference from the White population at the p&lt;0.05 level. </a:t>
            </a:r>
          </a:p>
          <a:p xmlns:a="http://schemas.openxmlformats.org/drawingml/2006/main">
            <a:r>
              <a:rPr sz="1050"/>
              <a:t>Note: Includes nonelderly individuals 18-64 years of age, unless otherwise noted. All racial groups are non-Hispanic and exclude individuals of mixed race. N/A: Estimate does not meet minimum standards for statistical reliability. </a:t>
            </a:r>
          </a:p>
          <a:p xmlns:a="http://schemas.openxmlformats.org/drawingml/2006/main">
            <a:r>
              <a:rPr sz="1050"/>
              <a:t>Source: Kaiser Family Foundation analysis of 2014 National Health Interview Survey (NHIS) and 2016 Behavioral Risk Factor Surveillance System (BRFSS). NHOPI values for Fair/Poor Health Status, Ever Had Asthma, and Problems Paying Medical Bills come from the 2014 NHPI NHIS.</a:t>
            </a:r>
          </a:p>
        </p:txBody>
      </p:sp>
      <p:graphicFrame>
        <p:nvGraphicFramePr>
          <p:cNvPr id="8" name="Content Placeholder 5"/>
          <p:cNvGraphicFramePr/>
          <p:nvPr/>
        </p:nvGraphicFramePr>
        <p:xfrm>
          <a:off xmlns:a="http://schemas.openxmlformats.org/drawingml/2006/main" x="92075" y="1414272"/>
          <a:ext xmlns:a="http://schemas.openxmlformats.org/drawingml/2006/main" cx="8959850" cy="42245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a3aacb58f444bc"/>
          </a:graphicData>
        </a:graphic>
      </p:graphicFrame>
    </p:spTree>
    <p:extLst>
      <p:ext uri="{BB962C8B-B14F-4D97-AF65-F5344CB8AC3E}">
        <p14:creationId xmlns:p14="http://schemas.microsoft.com/office/powerpoint/2010/main" val="15515467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6F39354D-2102-400F-87D6-A4D73C1AFF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…health experiences vary among subgroups of Asians.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3AEE171-F03D-4B04-9F7B-6CF7C3D597E0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/>
              <a:t>Note: Includes nonelderly individuals 18-64 years of age. All groups are non-Hispanic and exclude individuals of mixed race. N/A: Estimate does not meet minimum standards for statistical reliability.</a:t>
            </a:r>
          </a:p>
          <a:p xmlns:a="http://schemas.openxmlformats.org/drawingml/2006/main">
            <a:r>
              <a:rPr sz="1050"/>
              <a:t>Source: Kaiser Family Foundation analysis of 2017 National Health Interview Survey (NHIS).</a:t>
            </a:r>
          </a:p>
        </p:txBody>
      </p:sp>
      <p:graphicFrame>
        <p:nvGraphicFramePr>
          <p:cNvPr id="8" name="Content Placeholder 5"/>
          <p:cNvGraphicFramePr/>
          <p:nvPr/>
        </p:nvGraphicFramePr>
        <p:xfrm>
          <a:off xmlns:a="http://schemas.openxmlformats.org/drawingml/2006/main" x="92075" y="1371600"/>
          <a:ext xmlns:a="http://schemas.openxmlformats.org/drawingml/2006/main" cx="8959850" cy="4648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4a262c13b94763"/>
          </a:graphicData>
        </a:graphic>
      </p:graphicFrame>
    </p:spTree>
    <p:extLst>
      <p:ext uri="{BB962C8B-B14F-4D97-AF65-F5344CB8AC3E}">
        <p14:creationId xmlns:p14="http://schemas.microsoft.com/office/powerpoint/2010/main" val="10245075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3F86211-D7C3-4AE2-BBB7-0CACBD4A0D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tx1"/>
                </a:solidFill>
              </a:rPr>
              <a:t>The uninsured rate for Asians and NHOPIs declined under the ACA.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EB5BC2A-8BB6-46C3-995A-F9B8BA19AE9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/>
              <a:t>* Indicates statistically significant difference from the White population at the p&lt;0.05 level. </a:t>
            </a:r>
          </a:p>
          <a:p xmlns:a="http://schemas.openxmlformats.org/drawingml/2006/main">
            <a:r>
              <a:rPr sz="1050"/>
              <a:t>Note: Nonelderly includes individuals 0-64 years of age. All racial groups are non-Hispanic and exclude individuals of mixed race. </a:t>
            </a:r>
          </a:p>
          <a:p xmlns:a="http://schemas.openxmlformats.org/drawingml/2006/main">
            <a:r>
              <a:rPr sz="1050"/>
              <a:t>Source: Kaiser Family Foundation analysis of 2017 American Community Survey (ACS), 1-Year Estimates. 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FF0F441-640F-435A-99AF-D773180B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7924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+mj-lt"/>
                <a:ea typeface="+mj-lt"/>
                <a:cs typeface="+mj-lt"/>
              </a:rPr>
              <a:t>UNINSURED RATE AMONG NONELDERLY INDIVIDUALS, 2013-2017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04850" y="1809750"/>
          <a:ext xmlns:a="http://schemas.openxmlformats.org/drawingml/2006/main" cx="615315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cf1f28357d4131"/>
          </a:graphicData>
        </a:graphic>
      </p:graphicFrame>
      <p:sp>
        <p:nvSpPr>
          <p:cNvPr id="14" name="custom-legend-title">
            <a:extLst xmlns:a="http://schemas.openxmlformats.org/drawingml/2006/main">
              <a:ext uri="{FF2B5EF4-FFF2-40B4-BE49-F238E27FC236}">
                <a16:creationId xmlns:a16="http://schemas.microsoft.com/office/drawing/2014/main" id="{1FD035D0-A8F3-4753-AAE6-C18F076F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33333"/>
                </a:solidFill>
              </a:defRPr>
            </a:pPr>
            <a:r>
              <a:rPr sz="1050" b="1">
                <a:solidFill>
                  <a:srgbClr val="333333"/>
                </a:solidFill>
              </a:rPr>
              <a:t>Race/ethnicity</a:t>
            </a:r>
          </a:p>
        </p:txBody>
      </p:sp>
      <p:sp>
        <p:nvSpPr>
          <p:cNvPr id="15" name="legend-line-NHOPI">
            <a:extLst xmlns:a="http://schemas.openxmlformats.org/drawingml/2006/main">
              <a:ext uri="{FF2B5EF4-FFF2-40B4-BE49-F238E27FC236}">
                <a16:creationId xmlns:a16="http://schemas.microsoft.com/office/drawing/2014/main" id="{6CF0CCB1-1DB6-4825-B139-6D32F65C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8AE"/>
            </a:solidFill>
            <a:prstDash val="solid"/>
          </a:ln>
        </p:spPr>
      </p:sp>
      <p:sp>
        <p:nvSpPr>
          <p:cNvPr id="16" name="legend-marker-NHOPI">
            <a:extLst xmlns:a="http://schemas.openxmlformats.org/drawingml/2006/main">
              <a:ext uri="{FF2B5EF4-FFF2-40B4-BE49-F238E27FC236}">
                <a16:creationId xmlns:a16="http://schemas.microsoft.com/office/drawing/2014/main" id="{7EF36828-920D-4CFC-9FCA-3A110121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8AE"/>
          </a:solidFill>
          <a:ln xmlns:a="http://schemas.openxmlformats.org/drawingml/2006/main" w="9525">
            <a:solidFill>
              <a:srgbClr val="0078AE"/>
            </a:solidFill>
            <a:prstDash val="solid"/>
          </a:ln>
        </p:spPr>
      </p:sp>
      <p:sp>
        <p:nvSpPr>
          <p:cNvPr id="17" name="legend-label-NHOPI">
            <a:extLst xmlns:a="http://schemas.openxmlformats.org/drawingml/2006/main">
              <a:ext uri="{FF2B5EF4-FFF2-40B4-BE49-F238E27FC236}">
                <a16:creationId xmlns:a16="http://schemas.microsoft.com/office/drawing/2014/main" id="{5459EBA9-32FF-4F21-8B82-A8F0AE81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908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22222"/>
                </a:solidFill>
              </a:defRPr>
            </a:pPr>
            <a:r>
              <a:rPr sz="1125">
                <a:solidFill>
                  <a:srgbClr val="222222"/>
                </a:solidFill>
              </a:rPr>
              <a:t>NHOPI</a:t>
            </a:r>
          </a:p>
        </p:txBody>
      </p:sp>
      <p:sp>
        <p:nvSpPr>
          <p:cNvPr id="18" name="legend-line-Asian">
            <a:extLst xmlns:a="http://schemas.openxmlformats.org/drawingml/2006/main">
              <a:ext uri="{FF2B5EF4-FFF2-40B4-BE49-F238E27FC236}">
                <a16:creationId xmlns:a16="http://schemas.microsoft.com/office/drawing/2014/main" id="{5C15416F-93F2-4254-9DEE-920B901A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A5C7"/>
            </a:solidFill>
            <a:prstDash val="solid"/>
          </a:ln>
        </p:spPr>
      </p:sp>
      <p:sp>
        <p:nvSpPr>
          <p:cNvPr id="19" name="legend-marker-Asian">
            <a:extLst xmlns:a="http://schemas.openxmlformats.org/drawingml/2006/main">
              <a:ext uri="{FF2B5EF4-FFF2-40B4-BE49-F238E27FC236}">
                <a16:creationId xmlns:a16="http://schemas.microsoft.com/office/drawing/2014/main" id="{79C76791-ACAF-497D-BC48-5CCD0694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A5C7"/>
          </a:solidFill>
          <a:ln xmlns:a="http://schemas.openxmlformats.org/drawingml/2006/main" w="9525">
            <a:solidFill>
              <a:srgbClr val="21A5C7"/>
            </a:solidFill>
            <a:prstDash val="solid"/>
          </a:ln>
        </p:spPr>
      </p:sp>
      <p:sp>
        <p:nvSpPr>
          <p:cNvPr id="20" name="legend-label-Asian">
            <a:extLst xmlns:a="http://schemas.openxmlformats.org/drawingml/2006/main">
              <a:ext uri="{FF2B5EF4-FFF2-40B4-BE49-F238E27FC236}">
                <a16:creationId xmlns:a16="http://schemas.microsoft.com/office/drawing/2014/main" id="{32EDB518-B853-4F9A-9475-35823C78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480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22222"/>
                </a:solidFill>
              </a:defRPr>
            </a:pPr>
            <a:r>
              <a:rPr sz="1125">
                <a:solidFill>
                  <a:srgbClr val="222222"/>
                </a:solidFill>
              </a:rPr>
              <a:t>Asian</a:t>
            </a:r>
          </a:p>
        </p:txBody>
      </p:sp>
      <p:sp>
        <p:nvSpPr>
          <p:cNvPr id="21" name="legend-line-White">
            <a:extLst xmlns:a="http://schemas.openxmlformats.org/drawingml/2006/main">
              <a:ext uri="{FF2B5EF4-FFF2-40B4-BE49-F238E27FC236}">
                <a16:creationId xmlns:a16="http://schemas.microsoft.com/office/drawing/2014/main" id="{8462B8C9-6CBC-4AF6-8288-E0869570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A4A4A"/>
            </a:solidFill>
            <a:prstDash val="solid"/>
          </a:ln>
        </p:spPr>
      </p:sp>
      <p:sp>
        <p:nvSpPr>
          <p:cNvPr id="22" name="legend-marker-White">
            <a:extLst xmlns:a="http://schemas.openxmlformats.org/drawingml/2006/main">
              <a:ext uri="{FF2B5EF4-FFF2-40B4-BE49-F238E27FC236}">
                <a16:creationId xmlns:a16="http://schemas.microsoft.com/office/drawing/2014/main" id="{BB00E21A-1A33-4D06-BBC5-A6387F4E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4A4A"/>
          </a:solidFill>
          <a:ln xmlns:a="http://schemas.openxmlformats.org/drawingml/2006/main" w="9525">
            <a:solidFill>
              <a:srgbClr val="4A4A4A"/>
            </a:solidFill>
            <a:prstDash val="solid"/>
          </a:ln>
        </p:spPr>
      </p:sp>
      <p:sp>
        <p:nvSpPr>
          <p:cNvPr id="23" name="legend-label-White">
            <a:extLst xmlns:a="http://schemas.openxmlformats.org/drawingml/2006/main">
              <a:ext uri="{FF2B5EF4-FFF2-40B4-BE49-F238E27FC236}">
                <a16:creationId xmlns:a16="http://schemas.microsoft.com/office/drawing/2014/main" id="{9DB6A449-D3B2-4AF9-A3E9-B4332537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22222"/>
                </a:solidFill>
              </a:defRPr>
            </a:pPr>
            <a:r>
              <a:rPr sz="1125">
                <a:solidFill>
                  <a:srgbClr val="222222"/>
                </a:solidFill>
              </a:rPr>
              <a:t>White</a:t>
            </a:r>
          </a:p>
        </p:txBody>
      </p:sp>
    </p:spTree>
    <p:extLst>
      <p:ext uri="{BB962C8B-B14F-4D97-AF65-F5344CB8AC3E}">
        <p14:creationId xmlns:p14="http://schemas.microsoft.com/office/powerpoint/2010/main" val="28832749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00DEE3E4-6E0B-4350-B7F9-05F1055A4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600">
                <a:solidFill>
                  <a:schemeClr val="tx1"/>
                </a:solidFill>
              </a:rPr>
              <a:t>However, uninsured rates vary among subgroups of Asians. 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85B0D04-51EE-4B63-8161-A48114F4249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/>
              <a:t>Note: Nonelderly includes individuals 0-64 years of age. All racial groups </a:t>
            </a:r>
            <a:r>
              <a:rPr sz="1050"/>
              <a:t>are non-Hispanic and exclude individuals of mixed race. </a:t>
            </a:r>
          </a:p>
          <a:p xmlns:a="http://schemas.openxmlformats.org/drawingml/2006/main">
            <a:r>
              <a:rPr sz="1050"/>
              <a:t>Source: Kaiser Family Foundation analysis of 2017 American Community Survey (ACS), 1-Year Estimates. </a:t>
            </a:r>
          </a:p>
        </p:txBody>
      </p:sp>
      <p:graphicFrame>
        <p:nvGraphicFramePr>
          <p:cNvPr id="9" name="Content Placeholder 5"/>
          <p:cNvGraphicFramePr/>
          <p:nvPr/>
        </p:nvGraphicFramePr>
        <p:xfrm>
          <a:off xmlns:a="http://schemas.openxmlformats.org/drawingml/2006/main" x="92075" y="1371600"/>
          <a:ext xmlns:a="http://schemas.openxmlformats.org/drawingml/2006/main" cx="8959850" cy="4567756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4255732a654b07"/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821281-DAF8-4E4D-BE9C-3173CB3F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6223"/>
            <a:ext cx="7924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>
                <a:latin typeface="+mj-lt"/>
                <a:ea typeface="+mj-lt"/>
                <a:cs typeface="+mj-lt"/>
              </a:rPr>
              <a:t>UNINSURED RATE AMONG NONELDERLY INDIVIDUALS, 2017</a:t>
            </a:r>
          </a:p>
        </p:txBody>
      </p:sp>
    </p:spTree>
    <p:extLst>
      <p:ext uri="{BB962C8B-B14F-4D97-AF65-F5344CB8AC3E}">
        <p14:creationId xmlns:p14="http://schemas.microsoft.com/office/powerpoint/2010/main" val="2574539182"/>
      </p:ext>
    </p:extLst>
  </p:cSld>
</p:sld>
</file>

<file path=ppt/theme/theme1.xml><?xml version="1.0" encoding="utf-8"?>
<a:theme xmlns:a="http://schemas.openxmlformats.org/drawingml/2006/main" name="No Angle">
  <a:themeElements>
    <a:clrScheme name="2018 KFF Blues">
      <a:dk1>
        <a:srgbClr val="000000"/>
      </a:dk1>
      <a:lt1>
        <a:srgbClr val="FFFFFF"/>
      </a:lt1>
      <a:dk2>
        <a:srgbClr val="F5821F"/>
      </a:dk2>
      <a:lt2>
        <a:srgbClr val="EE2C37"/>
      </a:lt2>
      <a:accent1>
        <a:srgbClr val="082338"/>
      </a:accent1>
      <a:accent2>
        <a:srgbClr val="0E3B5E"/>
      </a:accent2>
      <a:accent3>
        <a:srgbClr val="005791"/>
      </a:accent3>
      <a:accent4>
        <a:srgbClr val="0076C4"/>
      </a:accent4>
      <a:accent5>
        <a:srgbClr val="43B4FF"/>
      </a:accent5>
      <a:accent6>
        <a:srgbClr val="C0E6FF"/>
      </a:accent6>
      <a:hlink>
        <a:srgbClr val="8F9091"/>
      </a:hlink>
      <a:folHlink>
        <a:srgbClr val="DBDBDB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018 KFF Blu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2026-07-02T07:38:29.8110000Z</dcterms:created>
  <dcterms:modified xsi:type="dcterms:W3CDTF">2026-07-02T07:38:29.8110000Z</dcterms:modified>
</coreProperties>
</file>
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41148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7E22"/>
                </a:solidFill>
                <a:latin typeface="Calibri Light"/>
              </a:defRPr>
            </a:pPr>
            <a:r>
              <a:t>RECOGNIZING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840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THE ROCK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657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DC3C7"/>
                </a:solidFill>
                <a:latin typeface="Calibri Light"/>
              </a:defRPr>
            </a:pPr>
            <a:r>
              <a:t>A Study of Igneous, Sedimentary, and Metamorphic Rocks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2286000" cy="137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657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2B9"/>
                </a:solidFill>
                <a:latin typeface="Calibri Light"/>
              </a:defRPr>
            </a:pPr>
            <a:r>
              <a:t>Explore how Earth's rocks form, transform, and recycle</a:t>
            </a:r>
            <a:br/>
            <a:r>
              <a:t>through the continuous processes of the rock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5029200"/>
            <a:ext cx="164592" cy="164592"/>
          </a:xfrm>
          <a:prstGeom prst="rect">
            <a:avLst/>
          </a:prstGeom>
          <a:solidFill>
            <a:srgbClr val="E88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5029200"/>
            <a:ext cx="164592" cy="164592"/>
          </a:xfrm>
          <a:prstGeom prst="rect">
            <a:avLst/>
          </a:prstGeom>
          <a:solidFill>
            <a:srgbClr val="EC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Calibri Light"/>
              </a:defRPr>
            </a:pPr>
            <a:r>
              <a:t>Earth Science  |  Educational Resource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325880"/>
            <a:ext cx="1920240" cy="19202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1554480"/>
            <a:ext cx="1463040" cy="1463040"/>
          </a:xfrm>
          <a:prstGeom prst="ellipse">
            <a:avLst/>
          </a:prstGeom>
          <a:solidFill>
            <a:srgbClr val="E88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1737360"/>
            <a:ext cx="1097280" cy="109728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914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C3E50"/>
                </a:solidFill>
                <a:latin typeface="Calibri Light"/>
              </a:defRPr>
            </a:pPr>
            <a:r>
              <a:t>ROCKS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720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67E22"/>
                </a:solidFill>
                <a:latin typeface="Calibri"/>
              </a:defRPr>
            </a:pPr>
            <a:r>
              <a:t>IGNEOUS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029200"/>
            <a:ext cx="1005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80B9"/>
                </a:solidFill>
                <a:latin typeface="Calibri"/>
              </a:defRPr>
            </a:pPr>
            <a:r>
              <a:t>SEDIMENTARY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5720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METAMORPHIC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Three Types of Rocks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DC3C7"/>
                </a:solidFill>
                <a:latin typeface="Calibri Light"/>
              </a:defRPr>
            </a:pPr>
            <a:r>
              <a:t>Igneous, Sedimentary, and Metamorphic — each formed through distinct geological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743200" cy="4572000"/>
          </a:xfrm>
          <a:prstGeom prst="rect">
            <a:avLst/>
          </a:prstGeom>
          <a:solidFill>
            <a:srgbClr val="F5DDC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743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IGNEOUS</a:t>
            </a:r>
          </a:p>
        </p:txBody>
      </p:sp>
      <p:pic>
        <p:nvPicPr>
          <p:cNvPr id="8" name="Picture 7" descr="rock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210312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52044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67E22"/>
                </a:solidFill>
                <a:latin typeface="Calibri"/>
              </a:defRPr>
            </a:pPr>
            <a:r>
              <a:t>Fire-formed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286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Formed from the cooling and solidification of magma or lava deep inside the Earth.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67E22"/>
                </a:solidFill>
                <a:latin typeface="Calibri"/>
              </a:defRPr>
            </a:pPr>
            <a:r>
              <a:t>Common Examples: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Granite, Basalt, Obsidian, Pumice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2743200" cy="4572000"/>
          </a:xfrm>
          <a:prstGeom prst="rect">
            <a:avLst/>
          </a:prstGeom>
          <a:solidFill>
            <a:srgbClr val="D4E6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371600"/>
            <a:ext cx="27432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SEDIMENTARY</a:t>
            </a:r>
          </a:p>
        </p:txBody>
      </p:sp>
      <p:pic>
        <p:nvPicPr>
          <p:cNvPr id="16" name="Picture 15" descr="rock_img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965960"/>
            <a:ext cx="21031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91840" y="352044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80B9"/>
                </a:solidFill>
                <a:latin typeface="Calibri"/>
              </a:defRPr>
            </a:pPr>
            <a:r>
              <a:t>Layer-built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840480"/>
            <a:ext cx="2286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Formed from compressed layers of sand, silt, dead plants, and animal skeletons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8006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80B9"/>
                </a:solidFill>
                <a:latin typeface="Calibri"/>
              </a:defRPr>
            </a:pPr>
            <a:r>
              <a:t>Common 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983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Sandstone, Limestone, Shale, Coal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71600"/>
            <a:ext cx="2743200" cy="45720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371600"/>
            <a:ext cx="2743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417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METAMORPHIC</a:t>
            </a:r>
          </a:p>
        </p:txBody>
      </p:sp>
      <p:pic>
        <p:nvPicPr>
          <p:cNvPr id="24" name="Picture 23" descr="rock_img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65960"/>
            <a:ext cx="210312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80760" y="352044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Heat-changed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40480"/>
            <a:ext cx="2286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Formed when existing rocks are transformed by extreme heat and pressure underground.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006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Common Examples: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83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Marble, Slate, Quartzite, Gneiss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C3C7"/>
                </a:solidFill>
                <a:latin typeface="Calibri Light"/>
              </a:defRPr>
            </a:pPr>
            <a:r>
              <a:t>These definitions and examples should be memorized for the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Rock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600200"/>
            <a:ext cx="1554480" cy="6400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228600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Molten rock</a:t>
            </a:r>
            <a:br/>
            <a:r>
              <a:t>beneath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880360"/>
            <a:ext cx="1554480" cy="64008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IGNEOUS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35661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Cooled from</a:t>
            </a:r>
            <a:br/>
            <a:r>
              <a:t>magma or lava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4892040"/>
            <a:ext cx="1554480" cy="640080"/>
          </a:xfrm>
          <a:prstGeom prst="roundRect">
            <a:avLst>
              <a:gd name="adj" fmla="val 15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SEDIMENT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57784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Weathered &amp;</a:t>
            </a:r>
            <a:br/>
            <a:r>
              <a:t>eroded particles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5349240"/>
            <a:ext cx="1554480" cy="640080"/>
          </a:xfrm>
          <a:prstGeom prst="roundRect">
            <a:avLst>
              <a:gd name="adj" fmla="val 15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SEDIMENTARY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603504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Compacted &amp;</a:t>
            </a:r>
            <a:br/>
            <a:r>
              <a:t>cemented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4160520"/>
            <a:ext cx="1554480" cy="6400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METAMORPHIC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84632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Changed by heat</a:t>
            </a:r>
            <a:br/>
            <a:r>
              <a:t>&amp; pressure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17961" y="2092249"/>
            <a:ext cx="794077" cy="936141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49239" y="2468879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Cooling &amp;</a:t>
            </a:r>
            <a:br/>
            <a:r>
              <a:t>Crystallization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3584448"/>
            <a:ext cx="0" cy="1243584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37960" y="406908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Weathering &amp;</a:t>
            </a:r>
            <a:br/>
            <a:r>
              <a:t>Erosion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062816" y="5245836"/>
            <a:ext cx="1030047" cy="389687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83479" y="5349239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Compaction &amp;</a:t>
            </a:r>
            <a:br/>
            <a:r>
              <a:t>Cementation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3022061" y="4578248"/>
            <a:ext cx="539557" cy="993343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51759" y="4937759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Heat &amp;</a:t>
            </a:r>
            <a:br/>
            <a:r>
              <a:t>Pressure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700123" y="2182842"/>
            <a:ext cx="1457753" cy="2035115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88919" y="3108959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Melting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735072" y="3286692"/>
            <a:ext cx="3673855" cy="1107575"/>
          </a:xfrm>
          <a:prstGeom prst="line">
            <a:avLst/>
          </a:prstGeom>
          <a:ln w="31750">
            <a:solidFill>
              <a:srgbClr val="BDC3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79" y="3611879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Heat &amp;</a:t>
            </a:r>
            <a:br/>
            <a:r>
              <a:t>Pressure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337560"/>
            <a:ext cx="32918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8C8D"/>
                </a:solidFill>
                <a:latin typeface="Calibri Light"/>
              </a:defRPr>
            </a:pPr>
            <a:r>
              <a:t>A continuous process by which rocks are created,</a:t>
            </a:r>
            <a:br/>
            <a:r>
              <a:t>transformed, and recycled over geological time.</a:t>
            </a:r>
            <a:br/>
            <a:r>
              <a:t>Every rock on Earth can be traced through this cycle.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DC3C7"/>
                </a:solidFill>
                <a:latin typeface="Calibri Light"/>
              </a:defRPr>
            </a:pPr>
            <a:r>
              <a:t>Earth Science  |  Rock Cycle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
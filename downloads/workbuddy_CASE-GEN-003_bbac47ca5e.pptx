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Python Dictionaries</a:t>
            </a:r>
          </a:p>
          <a:p>
            <a:pPr algn="ctr">
              <a:defRPr sz="2200">
                <a:solidFill>
                  <a:srgbClr val="BDC3C7"/>
                </a:solidFill>
                <a:latin typeface="Calibri"/>
              </a:defRPr>
            </a:pPr>
            <a:r>
              <a:t>Chapter 10 — Key-Value Pair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CF0F1"/>
                </a:solidFill>
                <a:latin typeface="Calibri"/>
              </a:defRPr>
            </a:pPr>
            <a:r>
              <a:t>For Python Beginner Students</a:t>
            </a:r>
          </a:p>
          <a:p>
            <a:pPr>
              <a:defRPr sz="800"/>
            </a:pPr>
          </a:p>
          <a:p>
            <a:pPr algn="ctr">
              <a:defRPr sz="1400">
                <a:solidFill>
                  <a:srgbClr val="7F8C8D"/>
                </a:solidFill>
                <a:latin typeface="Calibri"/>
              </a:defRPr>
            </a:pPr>
            <a:r>
              <a:t>Instructor: [Your Name]  •  Date: [Today]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a Dictionary?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Core Concept: Key-Value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•  A dictionary is a collection of key-value pairs.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 Each key maps to exactly one value — like a real dictionary maps a word to its definition.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 Keys must be unique and immutable (e.g., strings, numbers, tuples).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 Values can be any Python data type.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 Dictionaries are unordered (Python &lt; 3.7) / insertion-ordered (Python &gt;= 3.7).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days = {"Sunday": 1, "Monday": 2, "Tuesday": 3}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encoding = {"a": 97, "b": 98, "A": 65, "B": 66}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004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80B9"/>
                </a:solidFill>
                <a:latin typeface="Calibri"/>
              </a:defRPr>
            </a:pPr>
            <a:r>
              <a:t>  Key   →   Value</a:t>
            </a:r>
          </a:p>
          <a:p>
            <a:pPr algn="ctr">
              <a:defRPr sz="1600">
                <a:latin typeface="Consolas"/>
              </a:defRPr>
            </a:pPr>
            <a:r>
              <a:t>  "Sunday"   →   1</a:t>
            </a:r>
          </a:p>
          <a:p>
            <a:pPr algn="ctr">
              <a:defRPr sz="1600">
                <a:latin typeface="Consolas"/>
              </a:defRPr>
            </a:pPr>
            <a:r>
              <a:t>  "Monday"   →   2</a:t>
            </a:r>
          </a:p>
          <a:p>
            <a:pPr algn="ctr">
              <a:defRPr sz="1600">
                <a:latin typeface="Consolas"/>
              </a:defRPr>
            </a:pPr>
            <a:r>
              <a:t>  "Tuesday"   →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Creating Dictionaries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Using {} and dict()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Use curly braces {} for literal creation.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Use dict() with a list of key-value tuples.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Use dict() with keyword arguments (keys must be valid identifiers).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Copy an existing dictionary with dict(old_dict).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4206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1: Curly braces {}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my_dict = {"pizza": 2, "pasta": 3, "drink": 4}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2: dict() from list of tuples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my_list = [("apple", 2), ("banana", 3), ("orange", 4)]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my_dict = dict(my_list)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3: dict() with keyword arguments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my_dict = dict(apple=2, banana=3, orange=4)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 4: Copy from another dictionary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old_dict = {"a": 1, "b": 2}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new_dict = dict(old_dict)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03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▶  Runnable Code Example #1 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Accessing Dictionary Items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Square Brackets [] and get()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Square bracket notation: my_dict[key]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Raises a KeyError if the key does NOT exist.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get() method: my_dict.get(key)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Returns None if key not found — safer than [].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get() with default: my_dict.get(key, default)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Returns default_value instead of None.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my_dict = {"apple": 2, "banana": 3, "orange": 4}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Square bracket notation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print(my_dict["banana"])            # Prints: 3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print(my_dict["pineapple"])       # KeyError!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get() method — safer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print(my_dict.get("apple"))         # Prints: 2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print(my_dict.get("pineapple"))     # Prints: None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print(my_dict.get("pineapple", -1)) # Prints: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Quick Check  💡</a:t>
            </a:r>
          </a:p>
          <a:p>
            <a:pPr>
              <a:defRPr sz="1500">
                <a:latin typeface="Consolas"/>
              </a:defRPr>
            </a:pPr>
            <a:r>
              <a:t>members = {"Jaya": "Student", "John": "TA"}</a:t>
            </a:r>
          </a:p>
          <a:p>
            <a:pPr>
              <a:defRPr sz="1500"/>
            </a:pPr>
            <a:r>
              <a:t>What does members.get("jaya") return?</a:t>
            </a:r>
            <a:br/>
          </a:p>
          <a:p>
            <a:pPr>
              <a:defRPr sz="1500">
                <a:latin typeface="Calibri"/>
              </a:defRPr>
            </a:pPr>
            <a:r>
              <a:t>    A) "Student"    B) None    C) "does not exist"</a:t>
            </a:r>
          </a:p>
          <a:p>
            <a:br/>
            <a:pPr>
              <a:defRPr b="1" sz="1400">
                <a:solidFill>
                  <a:srgbClr val="27AE60"/>
                </a:solidFill>
              </a:defRPr>
            </a:pPr>
            <a:r>
              <a:t>Answer: B — keys are case-sensitive! "jaya" != "Jaya"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Dictionary Methods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keys(), values(), and items()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keys() — returns a view of all keys (dict_keys)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Convert to list: list(my_dict.keys())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values() — returns a view of all values (dict_values)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Convert to list: list(my_dict.values())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items() — returns key-value pairs as tuples (dict_items)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Convert to list: list(my_dict.items())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 = {"a": 97, "b": 98, "c": 99}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print(d.keys())           # dict_keys(['a', 'b', 'c'])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print(list(d.keys()))     # ['a', 'b', 'c']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print(d.values())         # dict_values([97, 98, 99])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print(d.items())      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dict_items([('a', 97), ('b', 98), ('c', 99)])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Mutability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Adding, Updating, and Deleting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Adding &amp; Updating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my_dict["new_key"] = value    — add a new pair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my_dict["key"] = new_value    — update existing key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my_dict.update({k1: v1, k2: v2}) — add/update multiple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54864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my_dict = {"apple": 2, "banana": 3, "orange": 4}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Add a new key-value pair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my_dict["pineapple"] = 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print(my_dict)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{'apple': 2, 'banana': 3, 'orange': 4, 'pineapple': 1}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Update existing value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my_dict["apple"] = 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print(my_dict)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{'apple': 1, 'banana': 3, 'orange': 4, 'pineapple': 1}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Add multiple at once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my_dict.update({"cherry": 0, "grape": 5})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Deleting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del my_dict["key"]    — delete key-value pair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 my_dict.pop("key")   — delete &amp; return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00400"/>
            <a:ext cx="512064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food = {"Tomato Soup": 15, "Butter Chicken": 18,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"Kabob": 20}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Delete with del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del food["Butter Chicken"]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print(food)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{'Tomato Soup': 15, 'Kabob': 20}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Pop — delete and get the value back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removed = food.pop("Kabob")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print(removed)   # Prints: 20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print(food)      # {'Tomato Soup': 15}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Conditionals with Dictionaries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Using the in 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key in dict — check if a key exists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    Equivalent to: key in dict.keys()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value in dict.values() — check if a value exists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(key, value) in dict.items() — check if a pair exists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Compare values: dict[key] &lt; 100, dict[key] == "abc",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movies = {"The Godfather": 1974, "Interstellar": 2014}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Check if key exists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print("Interstellar" in movies)          # True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print("Avatar" in movies)                # False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Check if value exists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print(2014 in movies.values())           # True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Check if key-value pair exists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print(("Interstellar", 2014) in movies.items())  # True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Compare values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print(movies["The Godfather"] &lt; 2000)     #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📝  Classroom Exercise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Given: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fruit_count = {"apple": 2, "orange": 5, "pomegranate": 1}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1. Is "apple" in fruit_count.keys()?       _____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2. Is ("orange", 5) in fruit_count.items()? _____</a:t>
            </a:r>
          </a:p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t>3. Is fruit_count["pomegranate"] &gt; 0?         _____</a:t>
            </a: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Write True or False for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Looping Over Dictionaries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Iteration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for key in dict: — iterate over keys (default)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for key in dict.keys(): — explicit key iteration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for value in dict.values(): — iterate over values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for key, value in dict.items(): — iterate over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74720"/>
            <a:ext cx="548640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zip_codes = {"Berkeley": 94709, "Santa Cruz": 95064,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  "Mountain View": 94030}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Iterate over keys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for key in zip_codes: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print(key)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Iterate over key-value pairs (most common!)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for city, code in zip_codes.items():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print(city, 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Output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12064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Berkeley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Santa Cruz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Mountain View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Berkeley 94709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Santa Cruz 95064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Mountain View 94030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2980B9"/>
                </a:solidFill>
                <a:latin typeface="Calibri"/>
              </a:defRPr>
            </a:pPr>
            <a:r>
              <a:t>🔍  Advanced: Count character frequency in a string using a dictionary loop!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Nested Dictionaries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Dictionaries Inside Dictionaries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A dictionary value can be another dictionary.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Use multiple square brackets to access nested values.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Common pattern: hierarchical / tree-like data (org charts, JSON).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640080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company_org_chart = {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"Marketing": {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"ID234": "Jane Smith"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"Sales": {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"ID123": "Bob Johnson",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"ID122": "David Lee"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"Engineering": {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"ID303": "Radhika Potlapally",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"ID321": "Maryam Samimi"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Access nested values: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print(company_org_chart["Sales"]["ID122"])        # David Lee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print(company_org_chart["Engineering"]["ID321"])   # Maryam Samimi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Structure:</a:t>
            </a:r>
          </a:p>
          <a:p>
            <a:pPr>
              <a:defRPr sz="1600">
                <a:solidFill>
                  <a:srgbClr val="2980B9"/>
                </a:solidFill>
                <a:latin typeface="Consolas"/>
              </a:defRPr>
            </a:pPr>
            <a:r>
              <a:t>outer_dict[outer_key][inner_key]</a:t>
            </a:r>
          </a:p>
          <a:p/>
          <a:p>
            <a:pPr>
              <a:defRPr b="1"/>
            </a:pPr>
            <a:r>
              <a:t>General pattern:</a:t>
            </a:r>
          </a:p>
          <a:p>
            <a:pPr>
              <a:defRPr sz="1600">
                <a:solidFill>
                  <a:srgbClr val="2980B9"/>
                </a:solidFill>
                <a:latin typeface="Consolas"/>
              </a:defRPr>
            </a:pPr>
            <a:r>
              <a:t>{key1: {key2: value}}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Dictionary Comprehension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Concise Dictionary Creation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Syntax: {key_expr: value_expr for element in iterable}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Optional: add an if condition to filter elements.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•  {key_expr: value_expr for element in iterable if condition}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•  Useful for transforming one collection into a dictionary.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74720"/>
            <a:ext cx="91440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Square even numbers only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numbers = [1, 2, 3, 4, 5]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my_dict = {x: x**2 for x in numbers if x % 2 == 0}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print(my_dict)  # {2: 4, 4: 16}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Map names to their lengths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names = ["Alice", "Bob", "Charlie"]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name_lengths = {name: len(name) for name in names}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print(name_lengths)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{'Alice': 5, 'Bob': 3, 'Charlie': 7}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Squares from range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squares = {i: i**2 for i in range(4)}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print(squares)  # {0: 0, 1: 1, 2: 4, 3: 9}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80B9"/>
                </a:solidFill>
                <a:latin typeface="Calibri"/>
              </a:defRPr>
            </a:pPr>
            <a:r>
              <a:t>▶  Runnable Code Example #2 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Classroom Exercises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Practice What You've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📝  Exercise #2 — Group Numbers by Even/Odd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48640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input_list = [3, 5, 6, 1]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Goal: create a dictionary that groups numbers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Expected output: {"even": [6], "odd": [3, 5, 1]}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Write your solution here: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📝  Exercise #3 — Group Employees by 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512064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employees = {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1001: {"name": "Alice", "dept": "Engineering"},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1002: {"name": "Bob", "dept": "Sales"},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1003: {"name": "Charlie", "dept": "Engineering"},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Goal: Group employees by department into a new dict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Hint: Loop through employees.items()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Write your solution here: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980B9"/>
                </a:solidFill>
                <a:latin typeface="Calibri"/>
              </a:defRPr>
            </a:pPr>
            <a:r>
              <a:t>Tips for Exercise #2:</a:t>
            </a:r>
          </a:p>
          <a:p>
            <a:pPr>
              <a:defRPr sz="1500">
                <a:latin typeface="Calibri"/>
              </a:defRPr>
            </a:pPr>
            <a:r>
              <a:t>1. Start with an empty dict: result = {}</a:t>
            </a:r>
          </a:p>
          <a:p>
            <a:pPr>
              <a:defRPr sz="1500">
                <a:latin typeface="Calibri"/>
              </a:defRPr>
            </a:pPr>
            <a:r>
              <a:t>2. Loop over input_list, check if each number is even or odd.</a:t>
            </a:r>
          </a:p>
          <a:p>
            <a:pPr>
              <a:defRPr sz="1500">
                <a:latin typeface="Calibri"/>
              </a:defRPr>
            </a:pPr>
            <a:r>
              <a:t>3. Use result.setdefault() or check if key exists before appending.</a:t>
            </a:r>
          </a:p>
          <a:p>
            <a:pPr>
              <a:defRPr sz="1500">
                <a:latin typeface="Calibri"/>
              </a:defRPr>
            </a:pPr>
            <a:r>
              <a:t>4. Remember: x % 2 == 0 means even!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016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— Quick Reference</a:t>
            </a:r>
          </a:p>
          <a:p>
            <a:pPr>
              <a:defRPr sz="1600">
                <a:solidFill>
                  <a:srgbClr val="BDC3C7"/>
                </a:solidFill>
                <a:latin typeface="Calibri"/>
              </a:defRPr>
            </a:pPr>
            <a:r>
              <a:t>Chapter 10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Creation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Create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 = {"a": 1, "b": 2}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 = dict([("a", 1), ("b", 2)])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 = dict(a=1, b=2)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Access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d["a"]          # KeyError if missing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d.get("a", 0)   # Safe — returns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Mutation &amp;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12064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Add / Update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d["c"] = 3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d.update({"d": 4, "e": 5})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Delete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del d["c"]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v = d.pop("b")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Methods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d.keys()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d.values()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d.items()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Calibri"/>
              </a:defRPr>
            </a:pPr>
            <a:r>
              <a:t>Iteration, Conditionals &amp; Comprehension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120640"/>
            <a:ext cx="114300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Conditionals                       # Iteration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if "a" in d:              for k in d: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...                        print(k)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if 1 in d.values():       for k, v in d.items():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...                        print(k, v)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Comprehension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{x: x**2 for x in range(5) if x % 2 == 0}  # {0: 0, 2: 4, 4: 16}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F8C8D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
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F4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93776" y="960120"/>
            <a:ext cx="2743200" cy="150876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Recognizing
the Rock
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2743200"/>
            <a:ext cx="2331720" cy="6400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DAE7E2"/>
                </a:solidFill>
                <a:latin typeface="Aptos"/>
              </a:rPr>
              <a:t>Igneous, sedimentary, and metamorphic clues for classroom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097280"/>
            <a:ext cx="397763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5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0520" y="1252728"/>
            <a:ext cx="292608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C6658"/>
                </a:solidFill>
                <a:latin typeface="Aptos"/>
              </a:rPr>
              <a:t>Igneous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2212848"/>
            <a:ext cx="397763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5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2368296"/>
            <a:ext cx="292608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F7C34"/>
                </a:solidFill>
                <a:latin typeface="Aptos"/>
              </a:rPr>
              <a:t>Sedimentary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3328415"/>
            <a:ext cx="397763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5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483863"/>
            <a:ext cx="292608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500" b="1">
                <a:solidFill>
                  <a:srgbClr val="2C6658"/>
                </a:solidFill>
                <a:latin typeface="Aptos"/>
              </a:rPr>
              <a:t>Metamorphic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4754880"/>
            <a:ext cx="3977639" cy="5029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Aptos"/>
              </a:rPr>
              <a:t>A study guide redesigned around formation process, texture, and evidence.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7498079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ptos"/>
              </a:rPr>
              <a:t>Three Rock Families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932688"/>
            <a:ext cx="2487168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2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143000"/>
            <a:ext cx="2157984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" y="2834640"/>
            <a:ext cx="2048256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550" b="1">
                <a:solidFill>
                  <a:srgbClr val="2C6658"/>
                </a:solidFill>
                <a:latin typeface="Aptos"/>
              </a:rPr>
              <a:t>Igneous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978408" y="3273552"/>
            <a:ext cx="1371600" cy="45720"/>
          </a:xfrm>
          <a:prstGeom prst="rect">
            <a:avLst/>
          </a:prstGeom>
          <a:solidFill>
            <a:srgbClr val="2C6658"/>
          </a:solidFill>
          <a:ln>
            <a:solidFill>
              <a:srgbClr val="2C6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511296"/>
            <a:ext cx="1993392" cy="12070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ptos"/>
              </a:rPr>
              <a:t>Forms when magma or lava cools. Look for crystals, glassy texture, or gas bubbles.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5084064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626F7D"/>
                </a:solidFill>
                <a:latin typeface="Aptos"/>
              </a:rPr>
              <a:t>Formation clue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27832" y="932688"/>
            <a:ext cx="2487168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2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2424" y="1143000"/>
            <a:ext cx="2157984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0" y="2834640"/>
            <a:ext cx="2048256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550" b="1">
                <a:solidFill>
                  <a:srgbClr val="BF7C34"/>
                </a:solidFill>
                <a:latin typeface="Aptos"/>
              </a:rPr>
              <a:t>Sedimentary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94760" y="3273552"/>
            <a:ext cx="1371600" cy="45720"/>
          </a:xfrm>
          <a:prstGeom prst="rect">
            <a:avLst/>
          </a:prstGeom>
          <a:solidFill>
            <a:srgbClr val="BF7C34"/>
          </a:solidFill>
          <a:ln>
            <a:solidFill>
              <a:srgbClr val="BF7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3511296"/>
            <a:ext cx="1993392" cy="12070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ptos"/>
              </a:rPr>
              <a:t>Builds from layers of sediment, shells, or organic remains. Look for bedding and fossils.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5084064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626F7D"/>
                </a:solidFill>
                <a:latin typeface="Aptos"/>
              </a:rPr>
              <a:t>Formation clue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4184" y="932688"/>
            <a:ext cx="2487168" cy="4983480"/>
          </a:xfrm>
          <a:prstGeom prst="roundRect">
            <a:avLst/>
          </a:prstGeom>
          <a:solidFill>
            <a:srgbClr val="FFFFFF"/>
          </a:solidFill>
          <a:ln>
            <a:solidFill>
              <a:srgbClr val="D2D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776" y="1143000"/>
            <a:ext cx="2157984" cy="1417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45352" y="2834640"/>
            <a:ext cx="2048256" cy="27432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550" b="1">
                <a:solidFill>
                  <a:srgbClr val="575E76"/>
                </a:solidFill>
                <a:latin typeface="Aptos"/>
              </a:rPr>
              <a:t>Metamorphic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11112" y="3273552"/>
            <a:ext cx="1371600" cy="45720"/>
          </a:xfrm>
          <a:prstGeom prst="rect">
            <a:avLst/>
          </a:prstGeom>
          <a:solidFill>
            <a:srgbClr val="575E76"/>
          </a:solidFill>
          <a:ln>
            <a:solidFill>
              <a:srgbClr val="575E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3511296"/>
            <a:ext cx="1993392" cy="12070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050" b="0">
                <a:solidFill>
                  <a:srgbClr val="1F2937"/>
                </a:solidFill>
                <a:latin typeface="Aptos"/>
              </a:rPr>
              <a:t>Existing rock changed by heat and pressure. Look for bands, foliation, or recrystallized grains.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084064"/>
            <a:ext cx="2011680" cy="29260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626F7D"/>
                </a:solidFill>
                <a:latin typeface="Aptos"/>
              </a:rPr>
              <a:t>Formation clue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74320"/>
            <a:ext cx="7315200" cy="41148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Aptos"/>
              </a:rPr>
              <a:t>The Rock Cycle as a Process Map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1965960"/>
            <a:ext cx="1600200" cy="1024128"/>
          </a:xfrm>
          <a:prstGeom prst="ellipse">
            <a:avLst/>
          </a:prstGeom>
          <a:solidFill>
            <a:srgbClr val="2C66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2313432"/>
            <a:ext cx="13716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Igneous</a:t>
            </a:r>
          </a:p>
        </p:txBody>
      </p:sp>
      <p:sp>
        <p:nvSpPr>
          <p:cNvPr id="5" name="Oval 4"/>
          <p:cNvSpPr/>
          <p:nvPr/>
        </p:nvSpPr>
        <p:spPr>
          <a:xfrm>
            <a:off x="3429000" y="1051560"/>
            <a:ext cx="1600200" cy="1024128"/>
          </a:xfrm>
          <a:prstGeom prst="ellipse">
            <a:avLst/>
          </a:prstGeom>
          <a:solidFill>
            <a:srgbClr val="BF7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38728" y="1399032"/>
            <a:ext cx="13716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Sedimentary</a:t>
            </a:r>
          </a:p>
        </p:txBody>
      </p:sp>
      <p:sp>
        <p:nvSpPr>
          <p:cNvPr id="7" name="Oval 6"/>
          <p:cNvSpPr/>
          <p:nvPr/>
        </p:nvSpPr>
        <p:spPr>
          <a:xfrm>
            <a:off x="5897880" y="1965960"/>
            <a:ext cx="1600200" cy="1024128"/>
          </a:xfrm>
          <a:prstGeom prst="ellipse">
            <a:avLst/>
          </a:prstGeom>
          <a:solidFill>
            <a:srgbClr val="575E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07608" y="2313432"/>
            <a:ext cx="1371600" cy="219456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Metamorphic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12848" y="2011680"/>
            <a:ext cx="960120" cy="256032"/>
          </a:xfrm>
          <a:prstGeom prst="rightArrow">
            <a:avLst/>
          </a:prstGeom>
          <a:solidFill>
            <a:srgbClr val="5F6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1408" y="2395728"/>
            <a:ext cx="1188720" cy="4572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Weathering
+ erosion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956048" y="2011680"/>
            <a:ext cx="786384" cy="256032"/>
          </a:xfrm>
          <a:prstGeom prst="rightArrow">
            <a:avLst/>
          </a:prstGeom>
          <a:solidFill>
            <a:srgbClr val="5F6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2395728"/>
            <a:ext cx="1014984" cy="4572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Heat
+ pressure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1840" y="3401568"/>
            <a:ext cx="1965960" cy="256032"/>
          </a:xfrm>
          <a:prstGeom prst="rightArrow">
            <a:avLst/>
          </a:prstGeom>
          <a:solidFill>
            <a:srgbClr val="5F6F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3785616"/>
            <a:ext cx="2194560" cy="457200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Melting, cooling, crystallization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6583680" cy="6583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ptos"/>
              </a:rPr>
              <a:t>Rocks are not fixed categories. They move through a cycle as energy, pressure, water, and time reshape material.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
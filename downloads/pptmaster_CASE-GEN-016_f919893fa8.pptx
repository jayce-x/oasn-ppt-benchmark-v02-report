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notesSlides/_rels/notesSlide1.xml.rels><?xml version="1.0" encoding="UTF-8" standalone="yes"?>
<Relationships xmlns="http://schemas.openxmlformats.org/package/2006/relationships">
  <Relationship Id="rId1"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H1 growth is clearly accelerating, but the quality of that growth differs by channel. The deck starts with the source totals: 365.8 thousand visits, 30.4 thousand signups, 20.0 thousand activated users, 6,370 paid conversions, and 1.21 million dollars in H1 revenue. The most important decision implication is that incremental effort should favor efficient and retained growth, not volume alone.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funnel converts 1.74 percent of visits into paid conversions. The largest absolute drop occurs between visits and signups, where 30,415 signups come from 365,800 visits. Activation is stronger at 65.8 percent of signups, while paid conversion from activated users is 31.8 percent.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Monthly revenue rises steadily from 100.6 thousand dollars in January to 349.7 thousand dollars in June. This is a 3.48 times increase over the six-month period, using only the source months in the CSV. The steepest absolute gains occur late in the period, especially from April through June.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Search and Referral together contribute about 60 percent of H1 revenue. Search is the largest channel at 374.1 thousand dollars, but Referral is close at 348.1 thousand dollars. That matters because Referral later shows much stronger efficiency than Paid Social and lower churn risk.</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CAC view separates channel scale from channel efficiency. Referral produces 1,715 paid conversions at a CAC of 9.15 dollars, while Paid Social produces 1,515 paid conversions at a CAC of 71.95 dollars. Search has the highest conversion count and revenue, but Referral is the clearest efficiency outlier.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Retention confirms that channel quality is not evenly distributed. Referral and Partner have the strongest M30 retention signals, at 89.0 percent and 87.1 percent respectively. Paid Social has the lowest retention, at 72.8 percent, and the highest churned paid user count, at 161.</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recommended action is to reallocate effort toward efficient quality. Referral should receive priority for incremental experiments because it combines low CAC, high retention, and meaningful revenue. Search can continue scaling where conversion quality holds, Partner should be expanded carefully, and Paid Social should tighten economics before further scale.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7F8FA"/>
            </a:solidFill>
            <a:ln>
              <a:noFill/>
            </a:ln>
          </p:spPr>
        </p:sp>
        <p:sp>
          <p:nvSpPr>
            <p:cNvPr id="3" name="Rectangle 3"/>
            <p:cNvSpPr/>
            <p:nvPr/>
          </p:nvSpPr>
          <p:spPr>
            <a:xfrm>
              <a:off x="495300" y="400050"/>
              <a:ext cx="11201400" cy="6057900"/>
            </a:xfrm>
            <a:prstGeom prst="roundRect">
              <a:avLst>
                <a:gd name="adj" fmla="val 1572"/>
              </a:avLst>
            </a:prstGeom>
            <a:solidFill>
              <a:srgbClr val="FFFFFF"/>
            </a:solidFill>
            <a:ln w="9525">
              <a:solidFill>
                <a:srgbClr val="D9E1EA"/>
              </a:solidFill>
            </a:ln>
          </p:spPr>
        </p:sp>
      </p:grpSp>
      <p:grpSp>
        <p:nvGrpSpPr>
          <p:cNvPr id="9" name="Group 9"/>
          <p:cNvGrpSpPr/>
          <p:nvPr/>
        </p:nvGrpSpPr>
        <p:grpSpPr>
          <a:xfrm>
            <a:off x="691515" y="645795"/>
            <a:ext cx="10776585" cy="1059180"/>
            <a:chOff x="691515" y="645795"/>
            <a:chExt cx="10776585" cy="1059180"/>
          </a:xfrm>
        </p:grpSpPr>
        <p:sp>
          <p:nvSpPr>
            <p:cNvPr id="5" name="TextBox 5"/>
            <p:cNvSpPr txBox="1"/>
            <p:nvPr/>
          </p:nvSpPr>
          <p:spPr>
            <a:xfrm>
              <a:off x="712470" y="645795"/>
              <a:ext cx="2783205" cy="182880"/>
            </a:xfrm>
            <a:prstGeom prst="rect">
              <a:avLst/>
            </a:prstGeom>
            <a:noFill/>
            <a:ln>
              <a:noFill/>
            </a:ln>
          </p:spPr>
          <p:txBody>
            <a:bodyPr wrap="none" lIns="0" tIns="0" rIns="0" bIns="0" anchor="t" anchorCtr="0">
              <a:spAutoFit/>
            </a:bodyPr>
            <a:lstStyle/>
            <a:p>
              <a:pPr algn="l"/>
              <a:r>
                <a:rPr lang="zh-CN" sz="900" dirty="0">
                  <a:solidFill>
                    <a:srgbClr val="596579"/>
                  </a:solidFill>
                  <a:latin typeface="Arial"/>
                  <a:ea typeface="Microsoft YaHei"/>
                  <a:cs typeface="Arial"/>
                </a:rPr>
                <a:t>CASE-GEN-016 | H1 2026 PRODUCT GROWTH REVIEW</a:t>
              </a:r>
            </a:p>
          </p:txBody>
        </p:sp>
        <p:sp>
          <p:nvSpPr>
            <p:cNvPr id="6" name="TextBox 6"/>
            <p:cNvSpPr txBox="1"/>
            <p:nvPr/>
          </p:nvSpPr>
          <p:spPr>
            <a:xfrm>
              <a:off x="691515" y="905828"/>
              <a:ext cx="10472621" cy="518160"/>
            </a:xfrm>
            <a:prstGeom prst="rect">
              <a:avLst/>
            </a:prstGeom>
            <a:noFill/>
            <a:ln>
              <a:noFill/>
            </a:ln>
          </p:spPr>
          <p:txBody>
            <a:bodyPr wrap="none" lIns="0" tIns="0" rIns="0" bIns="0" anchor="t" anchorCtr="0">
              <a:spAutoFit/>
            </a:bodyPr>
            <a:lstStyle/>
            <a:p>
              <a:pPr algn="l"/>
              <a:r>
                <a:rPr lang="zh-CN" sz="2550" b="1" dirty="0">
                  <a:solidFill>
                    <a:srgbClr val="172033"/>
                  </a:solidFill>
                  <a:latin typeface="Georgia"/>
                  <a:ea typeface="Microsoft YaHei"/>
                  <a:cs typeface="Georgia"/>
                </a:rPr>
                <a:t>H1 growth is accelerating, but quality is channel-dependent</a:t>
              </a:r>
            </a:p>
          </p:txBody>
        </p:sp>
        <p:sp>
          <p:nvSpPr>
            <p:cNvPr id="7" name="TextBox 7"/>
            <p:cNvSpPr txBox="1"/>
            <p:nvPr/>
          </p:nvSpPr>
          <p:spPr>
            <a:xfrm>
              <a:off x="706755" y="1349692"/>
              <a:ext cx="5695998" cy="274320"/>
            </a:xfrm>
            <a:prstGeom prst="rect">
              <a:avLst/>
            </a:prstGeom>
            <a:noFill/>
            <a:ln>
              <a:noFill/>
            </a:ln>
          </p:spPr>
          <p:txBody>
            <a:bodyPr wrap="none" lIns="0" tIns="0" rIns="0" bIns="0" anchor="t" anchorCtr="0">
              <a:spAutoFit/>
            </a:bodyPr>
            <a:lstStyle/>
            <a:p>
              <a:pPr algn="l"/>
              <a:r>
                <a:rPr lang="zh-CN" sz="1350" dirty="0">
                  <a:solidFill>
                    <a:srgbClr val="596579"/>
                  </a:solidFill>
                  <a:latin typeface="Arial"/>
                  <a:ea typeface="Microsoft YaHei"/>
                  <a:cs typeface="Arial"/>
                </a:rPr>
                <a:t>Source-only readout for CEO, Head of Growth, and Product Lead</a:t>
              </a:r>
            </a:p>
          </p:txBody>
        </p:sp>
        <p:sp>
          <p:nvSpPr>
            <p:cNvPr id="8" name="Line 8"/>
            <p:cNvSpPr/>
            <p:nvPr/>
          </p:nvSpPr>
          <p:spPr>
            <a:xfrm>
              <a:off x="723900" y="1695450"/>
              <a:ext cx="10744200" cy="9525"/>
            </a:xfrm>
            <a:custGeom>
              <a:avLst/>
              <a:gdLst/>
              <a:ahLst/>
              <a:cxnLst/>
              <a:rect l="l" t="t" r="r" b="b"/>
              <a:pathLst>
                <a:path w="10744200" h="9525">
                  <a:moveTo>
                    <a:pt x="0" y="0"/>
                  </a:moveTo>
                  <a:lnTo>
                    <a:pt x="10744200" y="0"/>
                  </a:lnTo>
                </a:path>
              </a:pathLst>
            </a:custGeom>
            <a:noFill/>
            <a:ln w="9525">
              <a:solidFill>
                <a:srgbClr val="D9E1EA"/>
              </a:solidFill>
            </a:ln>
          </p:spPr>
        </p:sp>
      </p:grpSp>
      <p:grpSp>
        <p:nvGrpSpPr>
          <p:cNvPr id="26" name="Group 26"/>
          <p:cNvGrpSpPr/>
          <p:nvPr/>
        </p:nvGrpSpPr>
        <p:grpSpPr>
          <a:xfrm>
            <a:off x="723900" y="2019300"/>
            <a:ext cx="5219700" cy="2476500"/>
            <a:chOff x="723900" y="2019300"/>
            <a:chExt cx="5219700" cy="2476500"/>
          </a:xfrm>
        </p:grpSpPr>
        <p:sp>
          <p:nvSpPr>
            <p:cNvPr id="10" name="Rectangle 10"/>
            <p:cNvSpPr/>
            <p:nvPr/>
          </p:nvSpPr>
          <p:spPr>
            <a:xfrm>
              <a:off x="723900" y="2019300"/>
              <a:ext cx="2514600" cy="1143000"/>
            </a:xfrm>
            <a:prstGeom prst="roundRect">
              <a:avLst>
                <a:gd name="adj" fmla="val 6667"/>
              </a:avLst>
            </a:prstGeom>
            <a:solidFill>
              <a:srgbClr val="F7F8FA"/>
            </a:solidFill>
            <a:ln w="9525">
              <a:solidFill>
                <a:srgbClr val="D9E1EA"/>
              </a:solidFill>
            </a:ln>
          </p:spPr>
        </p:sp>
        <p:sp>
          <p:nvSpPr>
            <p:cNvPr id="11" name="TextBox 11"/>
            <p:cNvSpPr txBox="1"/>
            <p:nvPr/>
          </p:nvSpPr>
          <p:spPr>
            <a:xfrm>
              <a:off x="902018" y="2199799"/>
              <a:ext cx="707350" cy="198120"/>
            </a:xfrm>
            <a:prstGeom prst="rect">
              <a:avLst/>
            </a:prstGeom>
            <a:noFill/>
            <a:ln>
              <a:noFill/>
            </a:ln>
          </p:spPr>
          <p:txBody>
            <a:bodyPr wrap="none" lIns="0" tIns="0" rIns="0" bIns="0" anchor="t" anchorCtr="0">
              <a:spAutoFit/>
            </a:bodyPr>
            <a:lstStyle/>
            <a:p>
              <a:pPr algn="l"/>
              <a:r>
                <a:rPr lang="zh-CN" sz="975" dirty="0">
                  <a:solidFill>
                    <a:srgbClr val="596579"/>
                  </a:solidFill>
                  <a:latin typeface="Arial"/>
                  <a:ea typeface="Microsoft YaHei"/>
                  <a:cs typeface="Arial"/>
                </a:rPr>
                <a:t>H1 revenue</a:t>
              </a:r>
            </a:p>
          </p:txBody>
        </p:sp>
        <p:sp>
          <p:nvSpPr>
            <p:cNvPr id="12" name="TextBox 12"/>
            <p:cNvSpPr txBox="1"/>
            <p:nvPr/>
          </p:nvSpPr>
          <p:spPr>
            <a:xfrm>
              <a:off x="874395" y="2441258"/>
              <a:ext cx="1623703" cy="640080"/>
            </a:xfrm>
            <a:prstGeom prst="rect">
              <a:avLst/>
            </a:prstGeom>
            <a:noFill/>
            <a:ln>
              <a:noFill/>
            </a:ln>
          </p:spPr>
          <p:txBody>
            <a:bodyPr wrap="none" lIns="0" tIns="0" rIns="0" bIns="0" anchor="t" anchorCtr="0">
              <a:spAutoFit/>
            </a:bodyPr>
            <a:lstStyle/>
            <a:p>
              <a:pPr algn="l"/>
              <a:r>
                <a:rPr lang="zh-CN" sz="3150" b="1" dirty="0">
                  <a:solidFill>
                    <a:srgbClr val="172033"/>
                  </a:solidFill>
                  <a:latin typeface="Georgia"/>
                  <a:ea typeface="Microsoft YaHei"/>
                  <a:cs typeface="Georgia"/>
                </a:rPr>
                <a:t>$1.21M</a:t>
              </a:r>
            </a:p>
          </p:txBody>
        </p:sp>
        <p:sp>
          <p:nvSpPr>
            <p:cNvPr id="13" name="TextBox 13"/>
            <p:cNvSpPr txBox="1"/>
            <p:nvPr/>
          </p:nvSpPr>
          <p:spPr>
            <a:xfrm>
              <a:off x="902970" y="2912745"/>
              <a:ext cx="1553051" cy="182880"/>
            </a:xfrm>
            <a:prstGeom prst="rect">
              <a:avLst/>
            </a:prstGeom>
            <a:noFill/>
            <a:ln>
              <a:noFill/>
            </a:ln>
          </p:spPr>
          <p:txBody>
            <a:bodyPr wrap="none" lIns="0" tIns="0" rIns="0" bIns="0" anchor="t" anchorCtr="0">
              <a:spAutoFit/>
            </a:bodyPr>
            <a:lstStyle/>
            <a:p>
              <a:pPr algn="l"/>
              <a:r>
                <a:rPr lang="zh-CN" sz="900" dirty="0">
                  <a:solidFill>
                    <a:srgbClr val="8A94A6"/>
                  </a:solidFill>
                  <a:latin typeface="Arial"/>
                  <a:ea typeface="Microsoft YaHei"/>
                  <a:cs typeface="Arial"/>
                </a:rPr>
                <a:t>Jan-Jun 2026 source total</a:t>
              </a:r>
            </a:p>
          </p:txBody>
        </p:sp>
        <p:sp>
          <p:nvSpPr>
            <p:cNvPr id="14" name="Rectangle 14"/>
            <p:cNvSpPr/>
            <p:nvPr/>
          </p:nvSpPr>
          <p:spPr>
            <a:xfrm>
              <a:off x="3429000" y="2019300"/>
              <a:ext cx="2514600" cy="1143000"/>
            </a:xfrm>
            <a:prstGeom prst="roundRect">
              <a:avLst>
                <a:gd name="adj" fmla="val 6667"/>
              </a:avLst>
            </a:prstGeom>
            <a:solidFill>
              <a:srgbClr val="F7F8FA"/>
            </a:solidFill>
            <a:ln w="9525">
              <a:solidFill>
                <a:srgbClr val="D9E1EA"/>
              </a:solidFill>
            </a:ln>
          </p:spPr>
        </p:sp>
        <p:sp>
          <p:nvSpPr>
            <p:cNvPr id="15" name="TextBox 15"/>
            <p:cNvSpPr txBox="1"/>
            <p:nvPr/>
          </p:nvSpPr>
          <p:spPr>
            <a:xfrm>
              <a:off x="3607118" y="2199799"/>
              <a:ext cx="1071396" cy="198120"/>
            </a:xfrm>
            <a:prstGeom prst="rect">
              <a:avLst/>
            </a:prstGeom>
            <a:noFill/>
            <a:ln>
              <a:noFill/>
            </a:ln>
          </p:spPr>
          <p:txBody>
            <a:bodyPr wrap="none" lIns="0" tIns="0" rIns="0" bIns="0" anchor="t" anchorCtr="0">
              <a:spAutoFit/>
            </a:bodyPr>
            <a:lstStyle/>
            <a:p>
              <a:pPr algn="l"/>
              <a:r>
                <a:rPr lang="zh-CN" sz="975" dirty="0">
                  <a:solidFill>
                    <a:srgbClr val="596579"/>
                  </a:solidFill>
                  <a:latin typeface="Arial"/>
                  <a:ea typeface="Microsoft YaHei"/>
                  <a:cs typeface="Arial"/>
                </a:rPr>
                <a:t>Paid conversions</a:t>
              </a:r>
            </a:p>
          </p:txBody>
        </p:sp>
        <p:sp>
          <p:nvSpPr>
            <p:cNvPr id="16" name="TextBox 16"/>
            <p:cNvSpPr txBox="1"/>
            <p:nvPr/>
          </p:nvSpPr>
          <p:spPr>
            <a:xfrm>
              <a:off x="3579495" y="2441258"/>
              <a:ext cx="1292912" cy="640080"/>
            </a:xfrm>
            <a:prstGeom prst="rect">
              <a:avLst/>
            </a:prstGeom>
            <a:noFill/>
            <a:ln>
              <a:noFill/>
            </a:ln>
          </p:spPr>
          <p:txBody>
            <a:bodyPr wrap="none" lIns="0" tIns="0" rIns="0" bIns="0" anchor="t" anchorCtr="0">
              <a:spAutoFit/>
            </a:bodyPr>
            <a:lstStyle/>
            <a:p>
              <a:pPr algn="l"/>
              <a:r>
                <a:rPr lang="zh-CN" sz="3150" b="1" dirty="0">
                  <a:solidFill>
                    <a:srgbClr val="172033"/>
                  </a:solidFill>
                  <a:latin typeface="Georgia"/>
                  <a:ea typeface="Microsoft YaHei"/>
                  <a:cs typeface="Georgia"/>
                </a:rPr>
                <a:t>6,370</a:t>
              </a:r>
            </a:p>
          </p:txBody>
        </p:sp>
        <p:sp>
          <p:nvSpPr>
            <p:cNvPr id="17" name="TextBox 17"/>
            <p:cNvSpPr txBox="1"/>
            <p:nvPr/>
          </p:nvSpPr>
          <p:spPr>
            <a:xfrm>
              <a:off x="3608070" y="2912745"/>
              <a:ext cx="1925098" cy="182880"/>
            </a:xfrm>
            <a:prstGeom prst="rect">
              <a:avLst/>
            </a:prstGeom>
            <a:noFill/>
            <a:ln>
              <a:noFill/>
            </a:ln>
          </p:spPr>
          <p:txBody>
            <a:bodyPr wrap="none" lIns="0" tIns="0" rIns="0" bIns="0" anchor="t" anchorCtr="0">
              <a:spAutoFit/>
            </a:bodyPr>
            <a:lstStyle/>
            <a:p>
              <a:pPr algn="l"/>
              <a:r>
                <a:rPr lang="zh-CN" sz="900" dirty="0">
                  <a:solidFill>
                    <a:srgbClr val="8A94A6"/>
                  </a:solidFill>
                  <a:latin typeface="Arial"/>
                  <a:ea typeface="Microsoft YaHei"/>
                  <a:cs typeface="Arial"/>
                </a:rPr>
                <a:t>Across four acquisition channels</a:t>
              </a:r>
            </a:p>
          </p:txBody>
        </p:sp>
        <p:sp>
          <p:nvSpPr>
            <p:cNvPr id="18" name="Rectangle 18"/>
            <p:cNvSpPr/>
            <p:nvPr/>
          </p:nvSpPr>
          <p:spPr>
            <a:xfrm>
              <a:off x="723900" y="3352800"/>
              <a:ext cx="2514600" cy="1143000"/>
            </a:xfrm>
            <a:prstGeom prst="roundRect">
              <a:avLst>
                <a:gd name="adj" fmla="val 6667"/>
              </a:avLst>
            </a:prstGeom>
            <a:solidFill>
              <a:srgbClr val="F7F8FA"/>
            </a:solidFill>
            <a:ln w="9525">
              <a:solidFill>
                <a:srgbClr val="D9E1EA"/>
              </a:solidFill>
            </a:ln>
          </p:spPr>
        </p:sp>
        <p:sp>
          <p:nvSpPr>
            <p:cNvPr id="19" name="TextBox 19"/>
            <p:cNvSpPr txBox="1"/>
            <p:nvPr/>
          </p:nvSpPr>
          <p:spPr>
            <a:xfrm>
              <a:off x="902018" y="3533299"/>
              <a:ext cx="746355" cy="198120"/>
            </a:xfrm>
            <a:prstGeom prst="rect">
              <a:avLst/>
            </a:prstGeom>
            <a:noFill/>
            <a:ln>
              <a:noFill/>
            </a:ln>
          </p:spPr>
          <p:txBody>
            <a:bodyPr wrap="none" lIns="0" tIns="0" rIns="0" bIns="0" anchor="t" anchorCtr="0">
              <a:spAutoFit/>
            </a:bodyPr>
            <a:lstStyle/>
            <a:p>
              <a:pPr algn="l"/>
              <a:r>
                <a:rPr lang="zh-CN" sz="975" dirty="0">
                  <a:solidFill>
                    <a:srgbClr val="596579"/>
                  </a:solidFill>
                  <a:latin typeface="Arial"/>
                  <a:ea typeface="Microsoft YaHei"/>
                  <a:cs typeface="Arial"/>
                </a:rPr>
                <a:t>Blended CAC</a:t>
              </a:r>
            </a:p>
          </p:txBody>
        </p:sp>
        <p:sp>
          <p:nvSpPr>
            <p:cNvPr id="20" name="TextBox 20"/>
            <p:cNvSpPr txBox="1"/>
            <p:nvPr/>
          </p:nvSpPr>
          <p:spPr>
            <a:xfrm>
              <a:off x="874395" y="3774758"/>
              <a:ext cx="1535492" cy="640080"/>
            </a:xfrm>
            <a:prstGeom prst="rect">
              <a:avLst/>
            </a:prstGeom>
            <a:noFill/>
            <a:ln>
              <a:noFill/>
            </a:ln>
          </p:spPr>
          <p:txBody>
            <a:bodyPr wrap="none" lIns="0" tIns="0" rIns="0" bIns="0" anchor="t" anchorCtr="0">
              <a:spAutoFit/>
            </a:bodyPr>
            <a:lstStyle/>
            <a:p>
              <a:pPr algn="l"/>
              <a:r>
                <a:rPr lang="zh-CN" sz="3150" b="1" dirty="0">
                  <a:solidFill>
                    <a:srgbClr val="172033"/>
                  </a:solidFill>
                  <a:latin typeface="Georgia"/>
                  <a:ea typeface="Microsoft YaHei"/>
                  <a:cs typeface="Georgia"/>
                </a:rPr>
                <a:t>$33.67</a:t>
              </a:r>
            </a:p>
          </p:txBody>
        </p:sp>
        <p:sp>
          <p:nvSpPr>
            <p:cNvPr id="21" name="TextBox 21"/>
            <p:cNvSpPr txBox="1"/>
            <p:nvPr/>
          </p:nvSpPr>
          <p:spPr>
            <a:xfrm>
              <a:off x="902970" y="4246245"/>
              <a:ext cx="1625060" cy="182880"/>
            </a:xfrm>
            <a:prstGeom prst="rect">
              <a:avLst/>
            </a:prstGeom>
            <a:noFill/>
            <a:ln>
              <a:noFill/>
            </a:ln>
          </p:spPr>
          <p:txBody>
            <a:bodyPr wrap="none" lIns="0" tIns="0" rIns="0" bIns="0" anchor="t" anchorCtr="0">
              <a:spAutoFit/>
            </a:bodyPr>
            <a:lstStyle/>
            <a:p>
              <a:pPr algn="l"/>
              <a:r>
                <a:rPr lang="zh-CN" sz="900" dirty="0">
                  <a:solidFill>
                    <a:srgbClr val="8A94A6"/>
                  </a:solidFill>
                  <a:latin typeface="Arial"/>
                  <a:ea typeface="Microsoft YaHei"/>
                  <a:cs typeface="Arial"/>
                </a:rPr>
                <a:t>Ad spend / paid conversions</a:t>
              </a:r>
            </a:p>
          </p:txBody>
        </p:sp>
        <p:sp>
          <p:nvSpPr>
            <p:cNvPr id="22" name="Rectangle 22"/>
            <p:cNvSpPr/>
            <p:nvPr/>
          </p:nvSpPr>
          <p:spPr>
            <a:xfrm>
              <a:off x="3429000" y="3352800"/>
              <a:ext cx="2514600" cy="1143000"/>
            </a:xfrm>
            <a:prstGeom prst="roundRect">
              <a:avLst>
                <a:gd name="adj" fmla="val 6667"/>
              </a:avLst>
            </a:prstGeom>
            <a:solidFill>
              <a:srgbClr val="F7F8FA"/>
            </a:solidFill>
            <a:ln w="9525">
              <a:solidFill>
                <a:srgbClr val="D9E1EA"/>
              </a:solidFill>
            </a:ln>
          </p:spPr>
        </p:sp>
        <p:sp>
          <p:nvSpPr>
            <p:cNvPr id="23" name="TextBox 23"/>
            <p:cNvSpPr txBox="1"/>
            <p:nvPr/>
          </p:nvSpPr>
          <p:spPr>
            <a:xfrm>
              <a:off x="3607118" y="3533299"/>
              <a:ext cx="1578459" cy="198120"/>
            </a:xfrm>
            <a:prstGeom prst="rect">
              <a:avLst/>
            </a:prstGeom>
            <a:noFill/>
            <a:ln>
              <a:noFill/>
            </a:ln>
          </p:spPr>
          <p:txBody>
            <a:bodyPr wrap="none" lIns="0" tIns="0" rIns="0" bIns="0" anchor="t" anchorCtr="0">
              <a:spAutoFit/>
            </a:bodyPr>
            <a:lstStyle/>
            <a:p>
              <a:pPr algn="l"/>
              <a:r>
                <a:rPr lang="zh-CN" sz="975" dirty="0">
                  <a:solidFill>
                    <a:srgbClr val="596579"/>
                  </a:solidFill>
                  <a:latin typeface="Arial"/>
                  <a:ea typeface="Microsoft YaHei"/>
                  <a:cs typeface="Arial"/>
                </a:rPr>
                <a:t>Visit-to-paid conversion</a:t>
              </a:r>
            </a:p>
          </p:txBody>
        </p:sp>
        <p:sp>
          <p:nvSpPr>
            <p:cNvPr id="24" name="TextBox 24"/>
            <p:cNvSpPr txBox="1"/>
            <p:nvPr/>
          </p:nvSpPr>
          <p:spPr>
            <a:xfrm>
              <a:off x="3579495" y="3774758"/>
              <a:ext cx="1381123" cy="640080"/>
            </a:xfrm>
            <a:prstGeom prst="rect">
              <a:avLst/>
            </a:prstGeom>
            <a:noFill/>
            <a:ln>
              <a:noFill/>
            </a:ln>
          </p:spPr>
          <p:txBody>
            <a:bodyPr wrap="none" lIns="0" tIns="0" rIns="0" bIns="0" anchor="t" anchorCtr="0">
              <a:spAutoFit/>
            </a:bodyPr>
            <a:lstStyle/>
            <a:p>
              <a:pPr algn="l"/>
              <a:r>
                <a:rPr lang="zh-CN" sz="3150" b="1" dirty="0">
                  <a:solidFill>
                    <a:srgbClr val="172033"/>
                  </a:solidFill>
                  <a:latin typeface="Georgia"/>
                  <a:ea typeface="Microsoft YaHei"/>
                  <a:cs typeface="Georgia"/>
                </a:rPr>
                <a:t>1.74%</a:t>
              </a:r>
            </a:p>
          </p:txBody>
        </p:sp>
        <p:sp>
          <p:nvSpPr>
            <p:cNvPr id="25" name="TextBox 25"/>
            <p:cNvSpPr txBox="1"/>
            <p:nvPr/>
          </p:nvSpPr>
          <p:spPr>
            <a:xfrm>
              <a:off x="3608070" y="4246245"/>
              <a:ext cx="1325023" cy="182880"/>
            </a:xfrm>
            <a:prstGeom prst="rect">
              <a:avLst/>
            </a:prstGeom>
            <a:noFill/>
            <a:ln>
              <a:noFill/>
            </a:ln>
          </p:spPr>
          <p:txBody>
            <a:bodyPr wrap="none" lIns="0" tIns="0" rIns="0" bIns="0" anchor="t" anchorCtr="0">
              <a:spAutoFit/>
            </a:bodyPr>
            <a:lstStyle/>
            <a:p>
              <a:pPr algn="l"/>
              <a:r>
                <a:rPr lang="zh-CN" sz="900" dirty="0">
                  <a:solidFill>
                    <a:srgbClr val="8A94A6"/>
                  </a:solidFill>
                  <a:latin typeface="Arial"/>
                  <a:ea typeface="Microsoft YaHei"/>
                  <a:cs typeface="Arial"/>
                </a:rPr>
                <a:t>6,370 / 365,800 visits</a:t>
              </a:r>
            </a:p>
          </p:txBody>
        </p:sp>
      </p:grpSp>
      <p:grpSp>
        <p:nvGrpSpPr>
          <p:cNvPr id="51" name="Group 51"/>
          <p:cNvGrpSpPr/>
          <p:nvPr/>
        </p:nvGrpSpPr>
        <p:grpSpPr>
          <a:xfrm>
            <a:off x="6343650" y="2019300"/>
            <a:ext cx="5124450" cy="2476500"/>
            <a:chOff x="6343650" y="2019300"/>
            <a:chExt cx="5124450" cy="2476500"/>
          </a:xfrm>
        </p:grpSpPr>
        <p:sp>
          <p:nvSpPr>
            <p:cNvPr id="27" name="Rectangle 27"/>
            <p:cNvSpPr/>
            <p:nvPr/>
          </p:nvSpPr>
          <p:spPr>
            <a:xfrm>
              <a:off x="6343650" y="2019300"/>
              <a:ext cx="5124450" cy="2476500"/>
            </a:xfrm>
            <a:prstGeom prst="roundRect">
              <a:avLst>
                <a:gd name="adj" fmla="val 3077"/>
              </a:avLst>
            </a:prstGeom>
            <a:solidFill>
              <a:srgbClr val="FFFFFF"/>
            </a:solidFill>
            <a:ln w="9525">
              <a:solidFill>
                <a:srgbClr val="D9E1EA"/>
              </a:solidFill>
            </a:ln>
          </p:spPr>
        </p:sp>
        <p:sp>
          <p:nvSpPr>
            <p:cNvPr id="28" name="TextBox 28"/>
            <p:cNvSpPr txBox="1"/>
            <p:nvPr/>
          </p:nvSpPr>
          <p:spPr>
            <a:xfrm>
              <a:off x="6551295" y="2145982"/>
              <a:ext cx="4408356" cy="335280"/>
            </a:xfrm>
            <a:prstGeom prst="rect">
              <a:avLst/>
            </a:prstGeom>
            <a:noFill/>
            <a:ln>
              <a:noFill/>
            </a:ln>
          </p:spPr>
          <p:txBody>
            <a:bodyPr wrap="none" lIns="0" tIns="0" rIns="0" bIns="0" anchor="t" anchorCtr="0">
              <a:spAutoFit/>
            </a:bodyPr>
            <a:lstStyle/>
            <a:p>
              <a:pPr algn="l"/>
              <a:r>
                <a:rPr lang="zh-CN" sz="1650" b="1" dirty="0">
                  <a:solidFill>
                    <a:srgbClr val="172033"/>
                  </a:solidFill>
                  <a:latin typeface="Georgia"/>
                  <a:ea typeface="Microsoft YaHei"/>
                  <a:cs typeface="Georgia"/>
                </a:rPr>
                <a:t>Revenue momentum is broad and steady</a:t>
              </a:r>
            </a:p>
          </p:txBody>
        </p:sp>
        <p:sp>
          <p:nvSpPr>
            <p:cNvPr id="29" name="TextBox 29"/>
            <p:cNvSpPr txBox="1"/>
            <p:nvPr/>
          </p:nvSpPr>
          <p:spPr>
            <a:xfrm>
              <a:off x="6558915" y="2477452"/>
              <a:ext cx="4213193" cy="213360"/>
            </a:xfrm>
            <a:prstGeom prst="rect">
              <a:avLst/>
            </a:prstGeom>
            <a:noFill/>
            <a:ln>
              <a:noFill/>
            </a:ln>
          </p:spPr>
          <p:txBody>
            <a:bodyPr wrap="none" lIns="0" tIns="0" rIns="0" bIns="0" anchor="t" anchorCtr="0">
              <a:spAutoFit/>
            </a:bodyPr>
            <a:lstStyle/>
            <a:p>
              <a:pPr algn="l"/>
              <a:r>
                <a:rPr lang="zh-CN" sz="1050" dirty="0">
                  <a:solidFill>
                    <a:srgbClr val="596579"/>
                  </a:solidFill>
                  <a:latin typeface="Arial"/>
                  <a:ea typeface="Microsoft YaHei"/>
                  <a:cs typeface="Arial"/>
                </a:rPr>
                <a:t>Monthly revenue rises from $100.6K in Jan to $349.7K in Jun.</a:t>
              </a:r>
            </a:p>
          </p:txBody>
        </p:sp>
        <p:grpSp>
          <p:nvGrpSpPr>
            <p:cNvPr id="43" name="Group 43"/>
            <p:cNvGrpSpPr/>
            <p:nvPr/>
          </p:nvGrpSpPr>
          <p:grpSpPr>
            <a:xfrm>
              <a:off x="6819900" y="2332672"/>
              <a:ext cx="4514850" cy="1629728"/>
              <a:chOff x="6819900" y="2332672"/>
              <a:chExt cx="4514850" cy="1629728"/>
            </a:xfrm>
          </p:grpSpPr>
          <p:sp>
            <p:nvSpPr>
              <p:cNvPr id="30" name="Line 30"/>
              <p:cNvSpPr/>
              <p:nvPr/>
            </p:nvSpPr>
            <p:spPr>
              <a:xfrm>
                <a:off x="6858000" y="3952875"/>
                <a:ext cx="4429125" cy="9525"/>
              </a:xfrm>
              <a:custGeom>
                <a:avLst/>
                <a:gdLst/>
                <a:ahLst/>
                <a:cxnLst/>
                <a:rect l="l" t="t" r="r" b="b"/>
                <a:pathLst>
                  <a:path w="4429125" h="9525">
                    <a:moveTo>
                      <a:pt x="0" y="0"/>
                    </a:moveTo>
                    <a:lnTo>
                      <a:pt x="4429125" y="0"/>
                    </a:lnTo>
                  </a:path>
                </a:pathLst>
              </a:custGeom>
              <a:noFill/>
              <a:ln w="9525">
                <a:solidFill>
                  <a:srgbClr val="E8EEF5"/>
                </a:solidFill>
              </a:ln>
            </p:spPr>
          </p:sp>
          <p:sp>
            <p:nvSpPr>
              <p:cNvPr id="31" name="Line 31"/>
              <p:cNvSpPr/>
              <p:nvPr/>
            </p:nvSpPr>
            <p:spPr>
              <a:xfrm>
                <a:off x="6858000" y="3143250"/>
                <a:ext cx="4429125" cy="9525"/>
              </a:xfrm>
              <a:custGeom>
                <a:avLst/>
                <a:gdLst/>
                <a:ahLst/>
                <a:cxnLst/>
                <a:rect l="l" t="t" r="r" b="b"/>
                <a:pathLst>
                  <a:path w="4429125" h="9525">
                    <a:moveTo>
                      <a:pt x="0" y="0"/>
                    </a:moveTo>
                    <a:lnTo>
                      <a:pt x="4429125" y="0"/>
                    </a:lnTo>
                  </a:path>
                </a:pathLst>
              </a:custGeom>
              <a:noFill/>
              <a:ln w="9525">
                <a:solidFill>
                  <a:srgbClr val="E8EEF5"/>
                </a:solidFill>
              </a:ln>
            </p:spPr>
          </p:sp>
          <p:sp>
            <p:nvSpPr>
              <p:cNvPr id="32" name="Line 32"/>
              <p:cNvSpPr/>
              <p:nvPr/>
            </p:nvSpPr>
            <p:spPr>
              <a:xfrm>
                <a:off x="6858000" y="2333625"/>
                <a:ext cx="4429125" cy="9525"/>
              </a:xfrm>
              <a:custGeom>
                <a:avLst/>
                <a:gdLst/>
                <a:ahLst/>
                <a:cxnLst/>
                <a:rect l="l" t="t" r="r" b="b"/>
                <a:pathLst>
                  <a:path w="4429125" h="9525">
                    <a:moveTo>
                      <a:pt x="0" y="0"/>
                    </a:moveTo>
                    <a:lnTo>
                      <a:pt x="4429125" y="0"/>
                    </a:lnTo>
                  </a:path>
                </a:pathLst>
              </a:custGeom>
              <a:noFill/>
              <a:ln w="9525">
                <a:solidFill>
                  <a:srgbClr val="E8EEF5"/>
                </a:solidFill>
              </a:ln>
            </p:spPr>
          </p:sp>
          <p:sp>
            <p:nvSpPr>
              <p:cNvPr id="33" name="Line 33"/>
              <p:cNvSpPr/>
              <p:nvPr/>
            </p:nvSpPr>
            <p:spPr>
              <a:xfrm>
                <a:off x="6858000" y="2333625"/>
                <a:ext cx="9525" cy="1619250"/>
              </a:xfrm>
              <a:custGeom>
                <a:avLst/>
                <a:gdLst/>
                <a:ahLst/>
                <a:cxnLst/>
                <a:rect l="l" t="t" r="r" b="b"/>
                <a:pathLst>
                  <a:path w="9525" h="1619250">
                    <a:moveTo>
                      <a:pt x="0" y="0"/>
                    </a:moveTo>
                    <a:lnTo>
                      <a:pt x="0" y="1619250"/>
                    </a:lnTo>
                  </a:path>
                </a:pathLst>
              </a:custGeom>
              <a:noFill/>
              <a:ln w="9525">
                <a:solidFill>
                  <a:srgbClr val="D9E1EA"/>
                </a:solidFill>
              </a:ln>
            </p:spPr>
          </p:sp>
          <p:sp>
            <p:nvSpPr>
              <p:cNvPr id="34" name="Line 34"/>
              <p:cNvSpPr/>
              <p:nvPr/>
            </p:nvSpPr>
            <p:spPr>
              <a:xfrm>
                <a:off x="6858000" y="3952875"/>
                <a:ext cx="4429125" cy="9525"/>
              </a:xfrm>
              <a:custGeom>
                <a:avLst/>
                <a:gdLst/>
                <a:ahLst/>
                <a:cxnLst/>
                <a:rect l="l" t="t" r="r" b="b"/>
                <a:pathLst>
                  <a:path w="4429125" h="9525">
                    <a:moveTo>
                      <a:pt x="0" y="0"/>
                    </a:moveTo>
                    <a:lnTo>
                      <a:pt x="4429125" y="0"/>
                    </a:lnTo>
                  </a:path>
                </a:pathLst>
              </a:custGeom>
              <a:noFill/>
              <a:ln w="9525">
                <a:solidFill>
                  <a:srgbClr val="D9E1EA"/>
                </a:solidFill>
              </a:ln>
            </p:spPr>
          </p:sp>
          <p:sp>
            <p:nvSpPr>
              <p:cNvPr id="35" name="Freeform 35"/>
              <p:cNvSpPr/>
              <p:nvPr/>
            </p:nvSpPr>
            <p:spPr>
              <a:xfrm>
                <a:off x="6858000" y="2380298"/>
                <a:ext cx="4429125" cy="1572578"/>
              </a:xfrm>
              <a:custGeom>
                <a:avLst/>
                <a:gdLst/>
                <a:ahLst/>
                <a:cxnLst/>
                <a:rect l="l" t="t" r="r" b="b"/>
                <a:pathLst>
                  <a:path w="4429125" h="1572578">
                    <a:moveTo>
                      <a:pt x="0" y="1120140"/>
                    </a:moveTo>
                    <a:lnTo>
                      <a:pt x="885825" y="1022985"/>
                    </a:lnTo>
                    <a:lnTo>
                      <a:pt x="1771650" y="858202"/>
                    </a:lnTo>
                    <a:lnTo>
                      <a:pt x="2657475" y="648652"/>
                    </a:lnTo>
                    <a:lnTo>
                      <a:pt x="3543300" y="350520"/>
                    </a:lnTo>
                    <a:lnTo>
                      <a:pt x="4429125" y="0"/>
                    </a:lnTo>
                    <a:lnTo>
                      <a:pt x="4429125" y="1572578"/>
                    </a:lnTo>
                    <a:lnTo>
                      <a:pt x="0" y="1572578"/>
                    </a:lnTo>
                    <a:close/>
                  </a:path>
                </a:pathLst>
              </a:custGeom>
              <a:solidFill>
                <a:srgbClr val="2F80ED">
                  <a:alpha val="12000"/>
                </a:srgbClr>
              </a:solidFill>
              <a:ln>
                <a:noFill/>
              </a:ln>
            </p:spPr>
          </p:sp>
          <p:sp>
            <p:nvSpPr>
              <p:cNvPr id="36" name="Polyline 36"/>
              <p:cNvSpPr/>
              <p:nvPr/>
            </p:nvSpPr>
            <p:spPr>
              <a:xfrm>
                <a:off x="6858000" y="2380298"/>
                <a:ext cx="4429125" cy="1120140"/>
              </a:xfrm>
              <a:custGeom>
                <a:avLst/>
                <a:gdLst/>
                <a:ahLst/>
                <a:cxnLst/>
                <a:rect l="l" t="t" r="r" b="b"/>
                <a:pathLst>
                  <a:path w="4429125" h="1120140">
                    <a:moveTo>
                      <a:pt x="0" y="1120140"/>
                    </a:moveTo>
                    <a:lnTo>
                      <a:pt x="885825" y="1022985"/>
                    </a:lnTo>
                    <a:lnTo>
                      <a:pt x="1771650" y="858202"/>
                    </a:lnTo>
                    <a:lnTo>
                      <a:pt x="2657475" y="648652"/>
                    </a:lnTo>
                    <a:lnTo>
                      <a:pt x="3543300" y="350520"/>
                    </a:lnTo>
                    <a:lnTo>
                      <a:pt x="4429125" y="0"/>
                    </a:lnTo>
                  </a:path>
                </a:pathLst>
              </a:custGeom>
              <a:noFill/>
              <a:ln w="38100">
                <a:solidFill>
                  <a:srgbClr val="2F80ED"/>
                </a:solidFill>
                <a:round/>
              </a:ln>
            </p:spPr>
          </p:sp>
          <p:sp>
            <p:nvSpPr>
              <p:cNvPr id="37" name="Ellipse 37"/>
              <p:cNvSpPr/>
              <p:nvPr/>
            </p:nvSpPr>
            <p:spPr>
              <a:xfrm>
                <a:off x="6819900" y="3462338"/>
                <a:ext cx="76200" cy="76200"/>
              </a:xfrm>
              <a:prstGeom prst="ellipse">
                <a:avLst/>
              </a:prstGeom>
              <a:solidFill>
                <a:srgbClr val="2F80ED"/>
              </a:solidFill>
              <a:ln>
                <a:noFill/>
              </a:ln>
            </p:spPr>
          </p:sp>
          <p:sp>
            <p:nvSpPr>
              <p:cNvPr id="38" name="Ellipse 38"/>
              <p:cNvSpPr/>
              <p:nvPr/>
            </p:nvSpPr>
            <p:spPr>
              <a:xfrm>
                <a:off x="7705725" y="3365182"/>
                <a:ext cx="76200" cy="76200"/>
              </a:xfrm>
              <a:prstGeom prst="ellipse">
                <a:avLst/>
              </a:prstGeom>
              <a:solidFill>
                <a:srgbClr val="2F80ED"/>
              </a:solidFill>
              <a:ln>
                <a:noFill/>
              </a:ln>
            </p:spPr>
          </p:sp>
          <p:sp>
            <p:nvSpPr>
              <p:cNvPr id="39" name="Ellipse 39"/>
              <p:cNvSpPr/>
              <p:nvPr/>
            </p:nvSpPr>
            <p:spPr>
              <a:xfrm>
                <a:off x="8591550" y="3200400"/>
                <a:ext cx="76200" cy="76200"/>
              </a:xfrm>
              <a:prstGeom prst="ellipse">
                <a:avLst/>
              </a:prstGeom>
              <a:solidFill>
                <a:srgbClr val="2F80ED"/>
              </a:solidFill>
              <a:ln>
                <a:noFill/>
              </a:ln>
            </p:spPr>
          </p:sp>
          <p:sp>
            <p:nvSpPr>
              <p:cNvPr id="40" name="Ellipse 40"/>
              <p:cNvSpPr/>
              <p:nvPr/>
            </p:nvSpPr>
            <p:spPr>
              <a:xfrm>
                <a:off x="9477375" y="2990850"/>
                <a:ext cx="76200" cy="76200"/>
              </a:xfrm>
              <a:prstGeom prst="ellipse">
                <a:avLst/>
              </a:prstGeom>
              <a:solidFill>
                <a:srgbClr val="2F80ED"/>
              </a:solidFill>
              <a:ln>
                <a:noFill/>
              </a:ln>
            </p:spPr>
          </p:sp>
          <p:sp>
            <p:nvSpPr>
              <p:cNvPr id="41" name="Ellipse 41"/>
              <p:cNvSpPr/>
              <p:nvPr/>
            </p:nvSpPr>
            <p:spPr>
              <a:xfrm>
                <a:off x="10363200" y="2692718"/>
                <a:ext cx="76200" cy="76200"/>
              </a:xfrm>
              <a:prstGeom prst="ellipse">
                <a:avLst/>
              </a:prstGeom>
              <a:solidFill>
                <a:srgbClr val="2F80ED"/>
              </a:solidFill>
              <a:ln>
                <a:noFill/>
              </a:ln>
            </p:spPr>
          </p:sp>
          <p:sp>
            <p:nvSpPr>
              <p:cNvPr id="42" name="Ellipse 42"/>
              <p:cNvSpPr/>
              <p:nvPr/>
            </p:nvSpPr>
            <p:spPr>
              <a:xfrm>
                <a:off x="11239500" y="2332672"/>
                <a:ext cx="95250" cy="95250"/>
              </a:xfrm>
              <a:prstGeom prst="ellipse">
                <a:avLst/>
              </a:prstGeom>
              <a:solidFill>
                <a:srgbClr val="14A38B"/>
              </a:solidFill>
              <a:ln>
                <a:noFill/>
              </a:ln>
            </p:spPr>
          </p:sp>
        </p:grpSp>
        <p:sp>
          <p:nvSpPr>
            <p:cNvPr id="44" name="TextBox 44"/>
            <p:cNvSpPr txBox="1"/>
            <p:nvPr/>
          </p:nvSpPr>
          <p:spPr>
            <a:xfrm>
              <a:off x="6846570" y="4112895"/>
              <a:ext cx="220885" cy="182880"/>
            </a:xfrm>
            <a:prstGeom prst="rect">
              <a:avLst/>
            </a:prstGeom>
            <a:noFill/>
            <a:ln>
              <a:noFill/>
            </a:ln>
          </p:spPr>
          <p:txBody>
            <a:bodyPr wrap="none" lIns="0" tIns="0" rIns="0" bIns="0" anchor="t" anchorCtr="0">
              <a:spAutoFit/>
            </a:bodyPr>
            <a:lstStyle/>
            <a:p>
              <a:pPr algn="l"/>
              <a:r>
                <a:rPr lang="zh-CN" sz="900" dirty="0">
                  <a:solidFill>
                    <a:srgbClr val="596579"/>
                  </a:solidFill>
                  <a:latin typeface="Arial"/>
                  <a:ea typeface="Microsoft YaHei"/>
                  <a:cs typeface="Arial"/>
                </a:rPr>
                <a:t>Jan</a:t>
              </a:r>
            </a:p>
          </p:txBody>
        </p:sp>
        <p:sp>
          <p:nvSpPr>
            <p:cNvPr id="45" name="TextBox 45"/>
            <p:cNvSpPr txBox="1"/>
            <p:nvPr/>
          </p:nvSpPr>
          <p:spPr>
            <a:xfrm>
              <a:off x="7722870" y="4112895"/>
              <a:ext cx="220885" cy="182880"/>
            </a:xfrm>
            <a:prstGeom prst="rect">
              <a:avLst/>
            </a:prstGeom>
            <a:noFill/>
            <a:ln>
              <a:noFill/>
            </a:ln>
          </p:spPr>
          <p:txBody>
            <a:bodyPr wrap="none" lIns="0" tIns="0" rIns="0" bIns="0" anchor="t" anchorCtr="0">
              <a:spAutoFit/>
            </a:bodyPr>
            <a:lstStyle/>
            <a:p>
              <a:pPr algn="l"/>
              <a:r>
                <a:rPr lang="zh-CN" sz="900" dirty="0">
                  <a:solidFill>
                    <a:srgbClr val="596579"/>
                  </a:solidFill>
                  <a:latin typeface="Arial"/>
                  <a:ea typeface="Microsoft YaHei"/>
                  <a:cs typeface="Arial"/>
                </a:rPr>
                <a:t>Feb</a:t>
              </a:r>
            </a:p>
          </p:txBody>
        </p:sp>
        <p:sp>
          <p:nvSpPr>
            <p:cNvPr id="46" name="TextBox 46"/>
            <p:cNvSpPr txBox="1"/>
            <p:nvPr/>
          </p:nvSpPr>
          <p:spPr>
            <a:xfrm>
              <a:off x="8618220" y="4112895"/>
              <a:ext cx="244888" cy="182880"/>
            </a:xfrm>
            <a:prstGeom prst="rect">
              <a:avLst/>
            </a:prstGeom>
            <a:noFill/>
            <a:ln>
              <a:noFill/>
            </a:ln>
          </p:spPr>
          <p:txBody>
            <a:bodyPr wrap="none" lIns="0" tIns="0" rIns="0" bIns="0" anchor="t" anchorCtr="0">
              <a:spAutoFit/>
            </a:bodyPr>
            <a:lstStyle/>
            <a:p>
              <a:pPr algn="l"/>
              <a:r>
                <a:rPr lang="zh-CN" sz="900" dirty="0">
                  <a:solidFill>
                    <a:srgbClr val="596579"/>
                  </a:solidFill>
                  <a:latin typeface="Arial"/>
                  <a:ea typeface="Microsoft YaHei"/>
                  <a:cs typeface="Arial"/>
                </a:rPr>
                <a:t>Mar</a:t>
              </a:r>
            </a:p>
          </p:txBody>
        </p:sp>
        <p:sp>
          <p:nvSpPr>
            <p:cNvPr id="47" name="TextBox 47"/>
            <p:cNvSpPr txBox="1"/>
            <p:nvPr/>
          </p:nvSpPr>
          <p:spPr>
            <a:xfrm>
              <a:off x="9504045" y="4112895"/>
              <a:ext cx="220885" cy="182880"/>
            </a:xfrm>
            <a:prstGeom prst="rect">
              <a:avLst/>
            </a:prstGeom>
            <a:noFill/>
            <a:ln>
              <a:noFill/>
            </a:ln>
          </p:spPr>
          <p:txBody>
            <a:bodyPr wrap="none" lIns="0" tIns="0" rIns="0" bIns="0" anchor="t" anchorCtr="0">
              <a:spAutoFit/>
            </a:bodyPr>
            <a:lstStyle/>
            <a:p>
              <a:pPr algn="l"/>
              <a:r>
                <a:rPr lang="zh-CN" sz="900" dirty="0">
                  <a:solidFill>
                    <a:srgbClr val="596579"/>
                  </a:solidFill>
                  <a:latin typeface="Arial"/>
                  <a:ea typeface="Microsoft YaHei"/>
                  <a:cs typeface="Arial"/>
                </a:rPr>
                <a:t>Apr</a:t>
              </a:r>
            </a:p>
          </p:txBody>
        </p:sp>
        <p:sp>
          <p:nvSpPr>
            <p:cNvPr id="48" name="TextBox 48"/>
            <p:cNvSpPr txBox="1"/>
            <p:nvPr/>
          </p:nvSpPr>
          <p:spPr>
            <a:xfrm>
              <a:off x="10389870" y="4112895"/>
              <a:ext cx="244888" cy="182880"/>
            </a:xfrm>
            <a:prstGeom prst="rect">
              <a:avLst/>
            </a:prstGeom>
            <a:noFill/>
            <a:ln>
              <a:noFill/>
            </a:ln>
          </p:spPr>
          <p:txBody>
            <a:bodyPr wrap="none" lIns="0" tIns="0" rIns="0" bIns="0" anchor="t" anchorCtr="0">
              <a:spAutoFit/>
            </a:bodyPr>
            <a:lstStyle/>
            <a:p>
              <a:pPr algn="l"/>
              <a:r>
                <a:rPr lang="zh-CN" sz="900" dirty="0">
                  <a:solidFill>
                    <a:srgbClr val="596579"/>
                  </a:solidFill>
                  <a:latin typeface="Arial"/>
                  <a:ea typeface="Microsoft YaHei"/>
                  <a:cs typeface="Arial"/>
                </a:rPr>
                <a:t>May</a:t>
              </a:r>
            </a:p>
          </p:txBody>
        </p:sp>
        <p:sp>
          <p:nvSpPr>
            <p:cNvPr id="49" name="TextBox 49"/>
            <p:cNvSpPr txBox="1"/>
            <p:nvPr/>
          </p:nvSpPr>
          <p:spPr>
            <a:xfrm>
              <a:off x="11180445" y="4112895"/>
              <a:ext cx="220885" cy="182880"/>
            </a:xfrm>
            <a:prstGeom prst="rect">
              <a:avLst/>
            </a:prstGeom>
            <a:noFill/>
            <a:ln>
              <a:noFill/>
            </a:ln>
          </p:spPr>
          <p:txBody>
            <a:bodyPr wrap="none" lIns="0" tIns="0" rIns="0" bIns="0" anchor="t" anchorCtr="0">
              <a:spAutoFit/>
            </a:bodyPr>
            <a:lstStyle/>
            <a:p>
              <a:pPr algn="l"/>
              <a:r>
                <a:rPr lang="zh-CN" sz="900" dirty="0">
                  <a:solidFill>
                    <a:srgbClr val="596579"/>
                  </a:solidFill>
                  <a:latin typeface="Arial"/>
                  <a:ea typeface="Microsoft YaHei"/>
                  <a:cs typeface="Arial"/>
                </a:rPr>
                <a:t>Jun</a:t>
              </a:r>
            </a:p>
          </p:txBody>
        </p:sp>
        <p:sp>
          <p:nvSpPr>
            <p:cNvPr id="50" name="TextBox 50"/>
            <p:cNvSpPr txBox="1"/>
            <p:nvPr/>
          </p:nvSpPr>
          <p:spPr>
            <a:xfrm>
              <a:off x="10751820" y="2103120"/>
              <a:ext cx="508021" cy="182880"/>
            </a:xfrm>
            <a:prstGeom prst="rect">
              <a:avLst/>
            </a:prstGeom>
            <a:noFill/>
            <a:ln>
              <a:noFill/>
            </a:ln>
          </p:spPr>
          <p:txBody>
            <a:bodyPr wrap="none" lIns="0" tIns="0" rIns="0" bIns="0" anchor="t" anchorCtr="0">
              <a:spAutoFit/>
            </a:bodyPr>
            <a:lstStyle/>
            <a:p>
              <a:pPr algn="l"/>
              <a:r>
                <a:rPr lang="zh-CN" sz="900" b="1" dirty="0">
                  <a:solidFill>
                    <a:srgbClr val="14A38B"/>
                  </a:solidFill>
                  <a:latin typeface="Arial"/>
                  <a:ea typeface="Microsoft YaHei"/>
                  <a:cs typeface="Arial"/>
                </a:rPr>
                <a:t>$349.7K</a:t>
              </a:r>
            </a:p>
          </p:txBody>
        </p:sp>
      </p:grpSp>
      <p:grpSp>
        <p:nvGrpSpPr>
          <p:cNvPr id="57" name="Group 57"/>
          <p:cNvGrpSpPr/>
          <p:nvPr/>
        </p:nvGrpSpPr>
        <p:grpSpPr>
          <a:xfrm>
            <a:off x="723900" y="4819650"/>
            <a:ext cx="10744200" cy="1123950"/>
            <a:chOff x="723900" y="4819650"/>
            <a:chExt cx="10744200" cy="1123950"/>
          </a:xfrm>
        </p:grpSpPr>
        <p:sp>
          <p:nvSpPr>
            <p:cNvPr id="52" name="Rectangle 52"/>
            <p:cNvSpPr/>
            <p:nvPr/>
          </p:nvSpPr>
          <p:spPr>
            <a:xfrm>
              <a:off x="723900" y="4819650"/>
              <a:ext cx="10744200" cy="1123950"/>
            </a:xfrm>
            <a:prstGeom prst="roundRect">
              <a:avLst>
                <a:gd name="adj" fmla="val 6780"/>
              </a:avLst>
            </a:prstGeom>
            <a:solidFill>
              <a:srgbClr val="172033"/>
            </a:solidFill>
            <a:ln>
              <a:noFill/>
            </a:ln>
          </p:spPr>
        </p:sp>
        <p:sp>
          <p:nvSpPr>
            <p:cNvPr id="53" name="TextBox 53"/>
            <p:cNvSpPr txBox="1"/>
            <p:nvPr/>
          </p:nvSpPr>
          <p:spPr>
            <a:xfrm>
              <a:off x="950595" y="5003482"/>
              <a:ext cx="2225133" cy="335280"/>
            </a:xfrm>
            <a:prstGeom prst="rect">
              <a:avLst/>
            </a:prstGeom>
            <a:noFill/>
            <a:ln>
              <a:noFill/>
            </a:ln>
          </p:spPr>
          <p:txBody>
            <a:bodyPr wrap="none" lIns="0" tIns="0" rIns="0" bIns="0" anchor="t" anchorCtr="0">
              <a:spAutoFit/>
            </a:bodyPr>
            <a:lstStyle/>
            <a:p>
              <a:pPr algn="l"/>
              <a:r>
                <a:rPr lang="zh-CN" sz="1650" b="1" dirty="0">
                  <a:solidFill>
                    <a:srgbClr val="FFFFFF"/>
                  </a:solidFill>
                  <a:latin typeface="Georgia"/>
                  <a:ea typeface="Microsoft YaHei"/>
                  <a:cs typeface="Georgia"/>
                </a:rPr>
                <a:t>Decision implication</a:t>
              </a:r>
            </a:p>
          </p:txBody>
        </p:sp>
        <p:sp>
          <p:nvSpPr>
            <p:cNvPr id="54" name="TextBox 54"/>
            <p:cNvSpPr txBox="1"/>
            <p:nvPr/>
          </p:nvSpPr>
          <p:spPr>
            <a:xfrm>
              <a:off x="954405" y="5359718"/>
              <a:ext cx="5921026" cy="274320"/>
            </a:xfrm>
            <a:prstGeom prst="rect">
              <a:avLst/>
            </a:prstGeom>
            <a:noFill/>
            <a:ln>
              <a:noFill/>
            </a:ln>
          </p:spPr>
          <p:txBody>
            <a:bodyPr wrap="none" lIns="0" tIns="0" rIns="0" bIns="0" anchor="t" anchorCtr="0">
              <a:spAutoFit/>
            </a:bodyPr>
            <a:lstStyle/>
            <a:p>
              <a:pPr algn="l"/>
              <a:r>
                <a:rPr lang="zh-CN" sz="1350" dirty="0">
                  <a:solidFill>
                    <a:srgbClr val="FFFFFF"/>
                  </a:solidFill>
                  <a:latin typeface="Arial"/>
                  <a:ea typeface="Microsoft YaHei"/>
                  <a:cs typeface="Arial"/>
                </a:rPr>
                <a:t>Scale the growth engine through channel quality, not volume alone:</a:t>
              </a:r>
            </a:p>
          </p:txBody>
        </p:sp>
        <p:sp>
          <p:nvSpPr>
            <p:cNvPr id="55" name="TextBox 55"/>
            <p:cNvSpPr txBox="1"/>
            <p:nvPr/>
          </p:nvSpPr>
          <p:spPr>
            <a:xfrm>
              <a:off x="5431155" y="5359718"/>
              <a:ext cx="3654092" cy="274320"/>
            </a:xfrm>
            <a:prstGeom prst="rect">
              <a:avLst/>
            </a:prstGeom>
            <a:noFill/>
            <a:ln>
              <a:noFill/>
            </a:ln>
          </p:spPr>
          <p:txBody>
            <a:bodyPr wrap="none" lIns="0" tIns="0" rIns="0" bIns="0" anchor="t" anchorCtr="0">
              <a:spAutoFit/>
            </a:bodyPr>
            <a:lstStyle/>
            <a:p>
              <a:pPr algn="l"/>
              <a:r>
                <a:rPr lang="zh-CN" sz="1350" b="1" dirty="0">
                  <a:solidFill>
                    <a:srgbClr val="14A38B"/>
                  </a:solidFill>
                  <a:latin typeface="Arial"/>
                  <a:ea typeface="Microsoft YaHei"/>
                  <a:cs typeface="Arial"/>
                </a:rPr>
                <a:t>Referral has low CAC and high retention</a:t>
              </a:r>
            </a:p>
          </p:txBody>
        </p:sp>
        <p:sp>
          <p:nvSpPr>
            <p:cNvPr id="56" name="TextBox 56"/>
            <p:cNvSpPr txBox="1"/>
            <p:nvPr/>
          </p:nvSpPr>
          <p:spPr>
            <a:xfrm>
              <a:off x="956310" y="5661660"/>
              <a:ext cx="5279136" cy="243840"/>
            </a:xfrm>
            <a:prstGeom prst="rect">
              <a:avLst/>
            </a:prstGeom>
            <a:noFill/>
            <a:ln>
              <a:noFill/>
            </a:ln>
          </p:spPr>
          <p:txBody>
            <a:bodyPr wrap="none" lIns="0" tIns="0" rIns="0" bIns="0" anchor="t" anchorCtr="0">
              <a:spAutoFit/>
            </a:bodyPr>
            <a:lstStyle/>
            <a:p>
              <a:pPr algn="l"/>
              <a:r>
                <a:rPr lang="zh-CN" sz="1200" dirty="0">
                  <a:solidFill>
                    <a:srgbClr val="D9E1EA"/>
                  </a:solidFill>
                  <a:latin typeface="Arial"/>
                  <a:ea typeface="Microsoft YaHei"/>
                  <a:cs typeface="Arial"/>
                </a:rPr>
                <a:t>while Paid Social needs economics discipline before further scaling.</a:t>
              </a:r>
            </a:p>
          </p:txBody>
        </p:sp>
      </p:grpSp>
      <p:grpSp>
        <p:nvGrpSpPr>
          <p:cNvPr id="60" name="Group 60"/>
          <p:cNvGrpSpPr/>
          <p:nvPr/>
        </p:nvGrpSpPr>
        <p:grpSpPr>
          <a:xfrm>
            <a:off x="712470" y="6132195"/>
            <a:ext cx="10884694" cy="182880"/>
            <a:chOff x="712470" y="6132195"/>
            <a:chExt cx="10884694" cy="182880"/>
          </a:xfrm>
        </p:grpSpPr>
        <p:sp>
          <p:nvSpPr>
            <p:cNvPr id="58" name="TextBox 58"/>
            <p:cNvSpPr txBox="1"/>
            <p:nvPr/>
          </p:nvSpPr>
          <p:spPr>
            <a:xfrm>
              <a:off x="712470" y="6132195"/>
              <a:ext cx="5729573" cy="182880"/>
            </a:xfrm>
            <a:prstGeom prst="rect">
              <a:avLst/>
            </a:prstGeom>
            <a:noFill/>
            <a:ln>
              <a:noFill/>
            </a:ln>
          </p:spPr>
          <p:txBody>
            <a:bodyPr wrap="none" lIns="0" tIns="0" rIns="0" bIns="0" anchor="t" anchorCtr="0">
              <a:spAutoFit/>
            </a:bodyPr>
            <a:lstStyle/>
            <a:p>
              <a:pPr algn="l"/>
              <a:r>
                <a:rPr lang="zh-CN" sz="900" dirty="0">
                  <a:solidFill>
                    <a:srgbClr val="8A94A6"/>
                  </a:solidFill>
                  <a:latin typeface="Arial"/>
                  <a:ea typeface="Microsoft YaHei"/>
                  <a:cs typeface="Arial"/>
                </a:rPr>
                <a:t>Source: product_growth_metrics_q1_q2_2026.csv | Metrics derived from Jan-Jun 2026 rows only</a:t>
              </a:r>
            </a:p>
          </p:txBody>
        </p:sp>
        <p:sp>
          <p:nvSpPr>
            <p:cNvPr id="59" name="TextBox 59"/>
            <p:cNvSpPr txBox="1"/>
            <p:nvPr/>
          </p:nvSpPr>
          <p:spPr>
            <a:xfrm>
              <a:off x="11304270" y="6132195"/>
              <a:ext cx="292894" cy="182880"/>
            </a:xfrm>
            <a:prstGeom prst="rect">
              <a:avLst/>
            </a:prstGeom>
            <a:noFill/>
            <a:ln>
              <a:noFill/>
            </a:ln>
          </p:spPr>
          <p:txBody>
            <a:bodyPr wrap="none" lIns="0" tIns="0" rIns="0" bIns="0" anchor="t" anchorCtr="0">
              <a:spAutoFit/>
            </a:bodyPr>
            <a:lstStyle/>
            <a:p>
              <a:pPr algn="l"/>
              <a:r>
                <a:rPr lang="zh-CN" sz="900" dirty="0">
                  <a:solidFill>
                    <a:srgbClr val="8A94A6"/>
                  </a:solidFill>
                  <a:latin typeface="Arial"/>
                  <a:ea typeface="Microsoft YaHei"/>
                  <a:cs typeface="Arial"/>
                </a:rPr>
                <a:t>1 / 7</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image">
                                      <p:cBhvr>
                                        <p:cTn id="7" dur="400"/>
                                        <p:tgtEl>
                                          <p:spTgt spid="26"/>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wipe(left)">
                                      <p:cBhvr>
                                        <p:cTn id="11" dur="400"/>
                                        <p:tgtEl>
                                          <p:spTgt spid="51"/>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57"/>
                                        </p:tgtEl>
                                        <p:attrNameLst>
                                          <p:attrName>style.visibility</p:attrName>
                                        </p:attrNameLst>
                                      </p:cBhvr>
                                      <p:to>
                                        <p:strVal val="visible"/>
                                      </p:to>
                                    </p:set>
                                    <p:animEffect transition="in" filter="slide(fromBottom)">
                                      <p:cBhvr>
                                        <p:cTn id="15" dur="4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51" grpId="0"/>
      <p:bldP spid="5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7F8FA"/>
            </a:solidFill>
            <a:ln>
              <a:noFill/>
            </a:ln>
          </p:spPr>
        </p:sp>
        <p:sp>
          <p:nvSpPr>
            <p:cNvPr id="3" name="Rectangle 3"/>
            <p:cNvSpPr/>
            <p:nvPr/>
          </p:nvSpPr>
          <p:spPr>
            <a:xfrm>
              <a:off x="495300" y="400050"/>
              <a:ext cx="11201400" cy="6057900"/>
            </a:xfrm>
            <a:prstGeom prst="roundRect">
              <a:avLst>
                <a:gd name="adj" fmla="val 1572"/>
              </a:avLst>
            </a:prstGeom>
            <a:solidFill>
              <a:srgbClr val="FFFFFF"/>
            </a:solidFill>
            <a:ln w="9525">
              <a:solidFill>
                <a:srgbClr val="D9E1EA"/>
              </a:solidFill>
            </a:ln>
          </p:spPr>
        </p:sp>
      </p:grpSp>
      <p:grpSp>
        <p:nvGrpSpPr>
          <p:cNvPr id="9" name="Group 9"/>
          <p:cNvGrpSpPr/>
          <p:nvPr/>
        </p:nvGrpSpPr>
        <p:grpSpPr>
          <a:xfrm>
            <a:off x="691515" y="645795"/>
            <a:ext cx="10776585" cy="1059180"/>
            <a:chOff x="691515" y="645795"/>
            <a:chExt cx="10776585" cy="1059180"/>
          </a:xfrm>
        </p:grpSpPr>
        <p:sp>
          <p:nvSpPr>
            <p:cNvPr id="5" name="TextBox 5"/>
            <p:cNvSpPr txBox="1"/>
            <p:nvPr/>
          </p:nvSpPr>
          <p:spPr>
            <a:xfrm>
              <a:off x="712470" y="645795"/>
              <a:ext cx="1012984" cy="182880"/>
            </a:xfrm>
            <a:prstGeom prst="rect">
              <a:avLst/>
            </a:prstGeom>
            <a:noFill/>
            <a:ln>
              <a:noFill/>
            </a:ln>
          </p:spPr>
          <p:txBody>
            <a:bodyPr wrap="none" lIns="0" tIns="0" rIns="0" bIns="0" anchor="t" anchorCtr="0">
              <a:spAutoFit/>
            </a:bodyPr>
            <a:lstStyle/>
            <a:p>
              <a:pPr algn="l"/>
              <a:r>
                <a:rPr lang="zh-CN" sz="900" dirty="0">
                  <a:solidFill>
                    <a:srgbClr val="596579"/>
                  </a:solidFill>
                  <a:latin typeface="Arial"/>
                  <a:ea typeface="Microsoft YaHei"/>
                  <a:cs typeface="Arial"/>
                </a:rPr>
                <a:t>FUNNEL DIAGNOSIS</a:t>
              </a:r>
            </a:p>
          </p:txBody>
        </p:sp>
        <p:sp>
          <p:nvSpPr>
            <p:cNvPr id="6" name="TextBox 6"/>
            <p:cNvSpPr txBox="1"/>
            <p:nvPr/>
          </p:nvSpPr>
          <p:spPr>
            <a:xfrm>
              <a:off x="691515" y="905828"/>
              <a:ext cx="10079872" cy="518160"/>
            </a:xfrm>
            <a:prstGeom prst="rect">
              <a:avLst/>
            </a:prstGeom>
            <a:noFill/>
            <a:ln>
              <a:noFill/>
            </a:ln>
          </p:spPr>
          <p:txBody>
            <a:bodyPr wrap="none" lIns="0" tIns="0" rIns="0" bIns="0" anchor="t" anchorCtr="0">
              <a:spAutoFit/>
            </a:bodyPr>
            <a:lstStyle/>
            <a:p>
              <a:pPr algn="l"/>
              <a:r>
                <a:rPr lang="zh-CN" sz="2550" b="1" dirty="0">
                  <a:solidFill>
                    <a:srgbClr val="172033"/>
                  </a:solidFill>
                  <a:latin typeface="Georgia"/>
                  <a:ea typeface="Microsoft YaHei"/>
                  <a:cs typeface="Georgia"/>
                </a:rPr>
                <a:t>The funnel converts 1.74% of visits into paid conversions</a:t>
              </a:r>
            </a:p>
          </p:txBody>
        </p:sp>
        <p:sp>
          <p:nvSpPr>
            <p:cNvPr id="7" name="TextBox 7"/>
            <p:cNvSpPr txBox="1"/>
            <p:nvPr/>
          </p:nvSpPr>
          <p:spPr>
            <a:xfrm>
              <a:off x="706755" y="1349692"/>
              <a:ext cx="7226189" cy="274320"/>
            </a:xfrm>
            <a:prstGeom prst="rect">
              <a:avLst/>
            </a:prstGeom>
            <a:noFill/>
            <a:ln>
              <a:noFill/>
            </a:ln>
          </p:spPr>
          <p:txBody>
            <a:bodyPr wrap="none" lIns="0" tIns="0" rIns="0" bIns="0" anchor="t" anchorCtr="0">
              <a:spAutoFit/>
            </a:bodyPr>
            <a:lstStyle/>
            <a:p>
              <a:pPr algn="l"/>
              <a:r>
                <a:rPr lang="zh-CN" sz="1350" dirty="0">
                  <a:solidFill>
                    <a:srgbClr val="596579"/>
                  </a:solidFill>
                  <a:latin typeface="Arial"/>
                  <a:ea typeface="Microsoft YaHei"/>
                  <a:cs typeface="Arial"/>
                </a:rPr>
                <a:t>Stage counts and rates use the source denominators from product growth notes.</a:t>
              </a:r>
            </a:p>
          </p:txBody>
        </p:sp>
        <p:sp>
          <p:nvSpPr>
            <p:cNvPr id="8" name="Line 8"/>
            <p:cNvSpPr/>
            <p:nvPr/>
          </p:nvSpPr>
          <p:spPr>
            <a:xfrm>
              <a:off x="723900" y="1695450"/>
              <a:ext cx="10744200" cy="9525"/>
            </a:xfrm>
            <a:custGeom>
              <a:avLst/>
              <a:gdLst/>
              <a:ahLst/>
              <a:cxnLst/>
              <a:rect l="l" t="t" r="r" b="b"/>
              <a:pathLst>
                <a:path w="10744200" h="9525">
                  <a:moveTo>
                    <a:pt x="0" y="0"/>
                  </a:moveTo>
                  <a:lnTo>
                    <a:pt x="10744200" y="0"/>
                  </a:lnTo>
                </a:path>
              </a:pathLst>
            </a:custGeom>
            <a:noFill/>
            <a:ln w="9525">
              <a:solidFill>
                <a:srgbClr val="D9E1EA"/>
              </a:solidFill>
            </a:ln>
          </p:spPr>
        </p:sp>
      </p:grpSp>
      <p:grpSp>
        <p:nvGrpSpPr>
          <p:cNvPr id="15" name="Group 15"/>
          <p:cNvGrpSpPr/>
          <p:nvPr/>
        </p:nvGrpSpPr>
        <p:grpSpPr>
          <a:xfrm>
            <a:off x="1200150" y="2457450"/>
            <a:ext cx="9791700" cy="2628900"/>
            <a:chOff x="1200150" y="2457450"/>
            <a:chExt cx="9791700" cy="2628900"/>
          </a:xfrm>
        </p:grpSpPr>
        <p:sp>
          <p:nvSpPr>
            <p:cNvPr id="10" name="Line 10"/>
            <p:cNvSpPr/>
            <p:nvPr/>
          </p:nvSpPr>
          <p:spPr>
            <a:xfrm>
              <a:off x="1200150" y="4648200"/>
              <a:ext cx="9791700" cy="9525"/>
            </a:xfrm>
            <a:custGeom>
              <a:avLst/>
              <a:gdLst/>
              <a:ahLst/>
              <a:cxnLst/>
              <a:rect l="l" t="t" r="r" b="b"/>
              <a:pathLst>
                <a:path w="9791700" h="9525">
                  <a:moveTo>
                    <a:pt x="0" y="0"/>
                  </a:moveTo>
                  <a:lnTo>
                    <a:pt x="9791700" y="0"/>
                  </a:lnTo>
                </a:path>
              </a:pathLst>
            </a:custGeom>
            <a:noFill/>
            <a:ln w="9525">
              <a:solidFill>
                <a:srgbClr val="E8EEF5"/>
              </a:solidFill>
            </a:ln>
          </p:spPr>
        </p:sp>
        <p:sp>
          <p:nvSpPr>
            <p:cNvPr id="11" name="Polygon 11"/>
            <p:cNvSpPr/>
            <p:nvPr/>
          </p:nvSpPr>
          <p:spPr>
            <a:xfrm>
              <a:off x="1200150" y="2457450"/>
              <a:ext cx="9791700" cy="457200"/>
            </a:xfrm>
            <a:custGeom>
              <a:avLst/>
              <a:gdLst/>
              <a:ahLst/>
              <a:cxnLst/>
              <a:rect l="l" t="t" r="r" b="b"/>
              <a:pathLst>
                <a:path w="9791700" h="457200">
                  <a:moveTo>
                    <a:pt x="0" y="0"/>
                  </a:moveTo>
                  <a:lnTo>
                    <a:pt x="9791700" y="0"/>
                  </a:lnTo>
                  <a:lnTo>
                    <a:pt x="8972550" y="457200"/>
                  </a:lnTo>
                  <a:lnTo>
                    <a:pt x="819150" y="457200"/>
                  </a:lnTo>
                  <a:close/>
                </a:path>
              </a:pathLst>
            </a:custGeom>
            <a:solidFill>
              <a:srgbClr val="2F80ED">
                <a:alpha val="20000"/>
              </a:srgbClr>
            </a:solidFill>
            <a:ln w="9525">
              <a:solidFill>
                <a:srgbClr val="2F80ED"/>
              </a:solidFill>
            </a:ln>
          </p:spPr>
        </p:sp>
        <p:sp>
          <p:nvSpPr>
            <p:cNvPr id="12" name="Polygon 12"/>
            <p:cNvSpPr/>
            <p:nvPr/>
          </p:nvSpPr>
          <p:spPr>
            <a:xfrm>
              <a:off x="2400300" y="3181350"/>
              <a:ext cx="7391400" cy="457200"/>
            </a:xfrm>
            <a:custGeom>
              <a:avLst/>
              <a:gdLst/>
              <a:ahLst/>
              <a:cxnLst/>
              <a:rect l="l" t="t" r="r" b="b"/>
              <a:pathLst>
                <a:path w="7391400" h="457200">
                  <a:moveTo>
                    <a:pt x="0" y="0"/>
                  </a:moveTo>
                  <a:lnTo>
                    <a:pt x="7391400" y="0"/>
                  </a:lnTo>
                  <a:lnTo>
                    <a:pt x="6629400" y="457200"/>
                  </a:lnTo>
                  <a:lnTo>
                    <a:pt x="762000" y="457200"/>
                  </a:lnTo>
                  <a:close/>
                </a:path>
              </a:pathLst>
            </a:custGeom>
            <a:solidFill>
              <a:srgbClr val="14A38B">
                <a:alpha val="20000"/>
              </a:srgbClr>
            </a:solidFill>
            <a:ln w="9525">
              <a:solidFill>
                <a:srgbClr val="14A38B"/>
              </a:solidFill>
            </a:ln>
          </p:spPr>
        </p:sp>
        <p:sp>
          <p:nvSpPr>
            <p:cNvPr id="13" name="Polygon 13"/>
            <p:cNvSpPr/>
            <p:nvPr/>
          </p:nvSpPr>
          <p:spPr>
            <a:xfrm>
              <a:off x="3562350" y="3905250"/>
              <a:ext cx="5067300" cy="457200"/>
            </a:xfrm>
            <a:custGeom>
              <a:avLst/>
              <a:gdLst/>
              <a:ahLst/>
              <a:cxnLst/>
              <a:rect l="l" t="t" r="r" b="b"/>
              <a:pathLst>
                <a:path w="5067300" h="457200">
                  <a:moveTo>
                    <a:pt x="0" y="0"/>
                  </a:moveTo>
                  <a:lnTo>
                    <a:pt x="5067300" y="0"/>
                  </a:lnTo>
                  <a:lnTo>
                    <a:pt x="4400550" y="457200"/>
                  </a:lnTo>
                  <a:lnTo>
                    <a:pt x="666750" y="457200"/>
                  </a:lnTo>
                  <a:close/>
                </a:path>
              </a:pathLst>
            </a:custGeom>
            <a:solidFill>
              <a:srgbClr val="F59E0B">
                <a:alpha val="22000"/>
              </a:srgbClr>
            </a:solidFill>
            <a:ln w="9525">
              <a:solidFill>
                <a:srgbClr val="F59E0B"/>
              </a:solidFill>
            </a:ln>
          </p:spPr>
        </p:sp>
        <p:sp>
          <p:nvSpPr>
            <p:cNvPr id="14" name="Polygon 14"/>
            <p:cNvSpPr/>
            <p:nvPr/>
          </p:nvSpPr>
          <p:spPr>
            <a:xfrm>
              <a:off x="4591050" y="4629150"/>
              <a:ext cx="3009900" cy="457200"/>
            </a:xfrm>
            <a:custGeom>
              <a:avLst/>
              <a:gdLst/>
              <a:ahLst/>
              <a:cxnLst/>
              <a:rect l="l" t="t" r="r" b="b"/>
              <a:pathLst>
                <a:path w="3009900" h="457200">
                  <a:moveTo>
                    <a:pt x="0" y="0"/>
                  </a:moveTo>
                  <a:lnTo>
                    <a:pt x="3009900" y="0"/>
                  </a:lnTo>
                  <a:lnTo>
                    <a:pt x="2552700" y="457200"/>
                  </a:lnTo>
                  <a:lnTo>
                    <a:pt x="457200" y="457200"/>
                  </a:lnTo>
                  <a:close/>
                </a:path>
              </a:pathLst>
            </a:custGeom>
            <a:solidFill>
              <a:srgbClr val="172033">
                <a:alpha val="18000"/>
              </a:srgbClr>
            </a:solidFill>
            <a:ln w="9525">
              <a:solidFill>
                <a:srgbClr val="172033"/>
              </a:solidFill>
            </a:ln>
          </p:spPr>
        </p:sp>
      </p:grpSp>
      <p:grpSp>
        <p:nvGrpSpPr>
          <p:cNvPr id="24" name="Group 24"/>
          <p:cNvGrpSpPr/>
          <p:nvPr/>
        </p:nvGrpSpPr>
        <p:grpSpPr>
          <a:xfrm>
            <a:off x="3730371" y="2490788"/>
            <a:ext cx="4731258" cy="2819400"/>
            <a:chOff x="3730371" y="2490788"/>
            <a:chExt cx="4731258" cy="2819400"/>
          </a:xfrm>
        </p:grpSpPr>
        <p:sp>
          <p:nvSpPr>
            <p:cNvPr id="16" name="TextBox 16"/>
            <p:cNvSpPr txBox="1"/>
            <p:nvPr/>
          </p:nvSpPr>
          <p:spPr>
            <a:xfrm>
              <a:off x="4972663" y="2490788"/>
              <a:ext cx="2246674" cy="457200"/>
            </a:xfrm>
            <a:prstGeom prst="rect">
              <a:avLst/>
            </a:prstGeom>
            <a:noFill/>
            <a:ln>
              <a:noFill/>
            </a:ln>
          </p:spPr>
          <p:txBody>
            <a:bodyPr wrap="none" lIns="0" tIns="0" rIns="0" bIns="0" anchor="t" anchorCtr="0">
              <a:spAutoFit/>
            </a:bodyPr>
            <a:lstStyle/>
            <a:p>
              <a:pPr algn="ctr"/>
              <a:r>
                <a:rPr lang="zh-CN" sz="2250" b="1" dirty="0">
                  <a:solidFill>
                    <a:srgbClr val="172033"/>
                  </a:solidFill>
                  <a:latin typeface="Georgia"/>
                  <a:ea typeface="Microsoft YaHei"/>
                  <a:cs typeface="Georgia"/>
                </a:rPr>
                <a:t>365,800 visits</a:t>
              </a:r>
            </a:p>
          </p:txBody>
        </p:sp>
        <p:sp>
          <p:nvSpPr>
            <p:cNvPr id="17" name="TextBox 17"/>
            <p:cNvSpPr txBox="1"/>
            <p:nvPr/>
          </p:nvSpPr>
          <p:spPr>
            <a:xfrm>
              <a:off x="3730371" y="2925128"/>
              <a:ext cx="4731258" cy="213360"/>
            </a:xfrm>
            <a:prstGeom prst="rect">
              <a:avLst/>
            </a:prstGeom>
            <a:noFill/>
            <a:ln>
              <a:noFill/>
            </a:ln>
          </p:spPr>
          <p:txBody>
            <a:bodyPr wrap="none" lIns="0" tIns="0" rIns="0" bIns="0" anchor="t" anchorCtr="0">
              <a:spAutoFit/>
            </a:bodyPr>
            <a:lstStyle/>
            <a:p>
              <a:pPr algn="ctr"/>
              <a:r>
                <a:rPr lang="zh-CN" sz="1050" dirty="0">
                  <a:solidFill>
                    <a:srgbClr val="596579"/>
                  </a:solidFill>
                  <a:latin typeface="Arial"/>
                  <a:ea typeface="Microsoft YaHei"/>
                  <a:cs typeface="Arial"/>
                </a:rPr>
                <a:t>Top-of-funnel traffic across Search, Paid Social, Referral, Partner</a:t>
              </a:r>
            </a:p>
          </p:txBody>
        </p:sp>
        <p:sp>
          <p:nvSpPr>
            <p:cNvPr id="18" name="TextBox 18"/>
            <p:cNvSpPr txBox="1"/>
            <p:nvPr/>
          </p:nvSpPr>
          <p:spPr>
            <a:xfrm>
              <a:off x="4933283" y="3214688"/>
              <a:ext cx="2325434" cy="457200"/>
            </a:xfrm>
            <a:prstGeom prst="rect">
              <a:avLst/>
            </a:prstGeom>
            <a:noFill/>
            <a:ln>
              <a:noFill/>
            </a:ln>
          </p:spPr>
          <p:txBody>
            <a:bodyPr wrap="none" lIns="0" tIns="0" rIns="0" bIns="0" anchor="t" anchorCtr="0">
              <a:spAutoFit/>
            </a:bodyPr>
            <a:lstStyle/>
            <a:p>
              <a:pPr algn="ctr"/>
              <a:r>
                <a:rPr lang="zh-CN" sz="2250" b="1" dirty="0">
                  <a:solidFill>
                    <a:srgbClr val="172033"/>
                  </a:solidFill>
                  <a:latin typeface="Georgia"/>
                  <a:ea typeface="Microsoft YaHei"/>
                  <a:cs typeface="Georgia"/>
                </a:rPr>
                <a:t>30,415 signups</a:t>
              </a:r>
            </a:p>
          </p:txBody>
        </p:sp>
        <p:sp>
          <p:nvSpPr>
            <p:cNvPr id="19" name="TextBox 19"/>
            <p:cNvSpPr txBox="1"/>
            <p:nvPr/>
          </p:nvSpPr>
          <p:spPr>
            <a:xfrm>
              <a:off x="5599605" y="3649028"/>
              <a:ext cx="992791" cy="213360"/>
            </a:xfrm>
            <a:prstGeom prst="rect">
              <a:avLst/>
            </a:prstGeom>
            <a:noFill/>
            <a:ln>
              <a:noFill/>
            </a:ln>
          </p:spPr>
          <p:txBody>
            <a:bodyPr wrap="none" lIns="0" tIns="0" rIns="0" bIns="0" anchor="t" anchorCtr="0">
              <a:spAutoFit/>
            </a:bodyPr>
            <a:lstStyle/>
            <a:p>
              <a:pPr algn="ctr"/>
              <a:r>
                <a:rPr lang="zh-CN" sz="1050" dirty="0">
                  <a:solidFill>
                    <a:srgbClr val="596579"/>
                  </a:solidFill>
                  <a:latin typeface="Arial"/>
                  <a:ea typeface="Microsoft YaHei"/>
                  <a:cs typeface="Arial"/>
                </a:rPr>
                <a:t>8.3% of visits</a:t>
              </a:r>
            </a:p>
          </p:txBody>
        </p:sp>
        <p:sp>
          <p:nvSpPr>
            <p:cNvPr id="20" name="TextBox 20"/>
            <p:cNvSpPr txBox="1"/>
            <p:nvPr/>
          </p:nvSpPr>
          <p:spPr>
            <a:xfrm>
              <a:off x="4279577" y="3938588"/>
              <a:ext cx="3632847" cy="457200"/>
            </a:xfrm>
            <a:prstGeom prst="rect">
              <a:avLst/>
            </a:prstGeom>
            <a:noFill/>
            <a:ln>
              <a:noFill/>
            </a:ln>
          </p:spPr>
          <p:txBody>
            <a:bodyPr wrap="none" lIns="0" tIns="0" rIns="0" bIns="0" anchor="t" anchorCtr="0">
              <a:spAutoFit/>
            </a:bodyPr>
            <a:lstStyle/>
            <a:p>
              <a:pPr algn="ctr"/>
              <a:r>
                <a:rPr lang="zh-CN" sz="2250" b="1" dirty="0">
                  <a:solidFill>
                    <a:srgbClr val="172033"/>
                  </a:solidFill>
                  <a:latin typeface="Georgia"/>
                  <a:ea typeface="Microsoft YaHei"/>
                  <a:cs typeface="Georgia"/>
                </a:rPr>
                <a:t>20,006 activated users</a:t>
              </a:r>
            </a:p>
          </p:txBody>
        </p:sp>
        <p:sp>
          <p:nvSpPr>
            <p:cNvPr id="21" name="TextBox 21"/>
            <p:cNvSpPr txBox="1"/>
            <p:nvPr/>
          </p:nvSpPr>
          <p:spPr>
            <a:xfrm>
              <a:off x="5505093" y="4372928"/>
              <a:ext cx="1181814" cy="213360"/>
            </a:xfrm>
            <a:prstGeom prst="rect">
              <a:avLst/>
            </a:prstGeom>
            <a:noFill/>
            <a:ln>
              <a:noFill/>
            </a:ln>
          </p:spPr>
          <p:txBody>
            <a:bodyPr wrap="none" lIns="0" tIns="0" rIns="0" bIns="0" anchor="t" anchorCtr="0">
              <a:spAutoFit/>
            </a:bodyPr>
            <a:lstStyle/>
            <a:p>
              <a:pPr algn="ctr"/>
              <a:r>
                <a:rPr lang="zh-CN" sz="1050" dirty="0">
                  <a:solidFill>
                    <a:srgbClr val="596579"/>
                  </a:solidFill>
                  <a:latin typeface="Arial"/>
                  <a:ea typeface="Microsoft YaHei"/>
                  <a:cs typeface="Arial"/>
                </a:rPr>
                <a:t>65.8% of signups</a:t>
              </a:r>
            </a:p>
          </p:txBody>
        </p:sp>
        <p:sp>
          <p:nvSpPr>
            <p:cNvPr id="22" name="TextBox 22"/>
            <p:cNvSpPr txBox="1"/>
            <p:nvPr/>
          </p:nvSpPr>
          <p:spPr>
            <a:xfrm>
              <a:off x="4318956" y="4662488"/>
              <a:ext cx="3554087" cy="457200"/>
            </a:xfrm>
            <a:prstGeom prst="rect">
              <a:avLst/>
            </a:prstGeom>
            <a:noFill/>
            <a:ln>
              <a:noFill/>
            </a:ln>
          </p:spPr>
          <p:txBody>
            <a:bodyPr wrap="none" lIns="0" tIns="0" rIns="0" bIns="0" anchor="t" anchorCtr="0">
              <a:spAutoFit/>
            </a:bodyPr>
            <a:lstStyle/>
            <a:p>
              <a:pPr algn="ctr"/>
              <a:r>
                <a:rPr lang="zh-CN" sz="2250" b="1" dirty="0">
                  <a:solidFill>
                    <a:srgbClr val="172033"/>
                  </a:solidFill>
                  <a:latin typeface="Georgia"/>
                  <a:ea typeface="Microsoft YaHei"/>
                  <a:cs typeface="Georgia"/>
                </a:rPr>
                <a:t>6,370 paid conversions</a:t>
              </a:r>
            </a:p>
          </p:txBody>
        </p:sp>
        <p:sp>
          <p:nvSpPr>
            <p:cNvPr id="23" name="TextBox 23"/>
            <p:cNvSpPr txBox="1"/>
            <p:nvPr/>
          </p:nvSpPr>
          <p:spPr>
            <a:xfrm>
              <a:off x="4629983" y="5096828"/>
              <a:ext cx="2932033" cy="213360"/>
            </a:xfrm>
            <a:prstGeom prst="rect">
              <a:avLst/>
            </a:prstGeom>
            <a:noFill/>
            <a:ln>
              <a:noFill/>
            </a:ln>
          </p:spPr>
          <p:txBody>
            <a:bodyPr wrap="none" lIns="0" tIns="0" rIns="0" bIns="0" anchor="t" anchorCtr="0">
              <a:spAutoFit/>
            </a:bodyPr>
            <a:lstStyle/>
            <a:p>
              <a:pPr algn="ctr"/>
              <a:r>
                <a:rPr lang="zh-CN" sz="1050" dirty="0">
                  <a:solidFill>
                    <a:srgbClr val="596579"/>
                  </a:solidFill>
                  <a:latin typeface="Arial"/>
                  <a:ea typeface="Microsoft YaHei"/>
                  <a:cs typeface="Arial"/>
                </a:rPr>
                <a:t>31.8% of activated users | 1.74% of visits</a:t>
              </a:r>
            </a:p>
          </p:txBody>
        </p:sp>
      </p:grpSp>
      <p:grpSp>
        <p:nvGrpSpPr>
          <p:cNvPr id="37" name="Group 37"/>
          <p:cNvGrpSpPr/>
          <p:nvPr/>
        </p:nvGrpSpPr>
        <p:grpSpPr>
          <a:xfrm>
            <a:off x="723900" y="2209800"/>
            <a:ext cx="11025540" cy="3524250"/>
            <a:chOff x="723900" y="2209800"/>
            <a:chExt cx="11025540" cy="3524250"/>
          </a:xfrm>
        </p:grpSpPr>
        <p:sp>
          <p:nvSpPr>
            <p:cNvPr id="25" name="Rectangle 25"/>
            <p:cNvSpPr/>
            <p:nvPr/>
          </p:nvSpPr>
          <p:spPr>
            <a:xfrm>
              <a:off x="723900" y="2209800"/>
              <a:ext cx="1905000" cy="704850"/>
            </a:xfrm>
            <a:prstGeom prst="roundRect">
              <a:avLst>
                <a:gd name="adj" fmla="val 10811"/>
              </a:avLst>
            </a:prstGeom>
            <a:solidFill>
              <a:srgbClr val="FFFFFF"/>
            </a:solidFill>
            <a:ln w="9525">
              <a:solidFill>
                <a:srgbClr val="D9E1EA"/>
              </a:solidFill>
            </a:ln>
          </p:spPr>
        </p:sp>
        <p:sp>
          <p:nvSpPr>
            <p:cNvPr id="26" name="TextBox 26"/>
            <p:cNvSpPr txBox="1"/>
            <p:nvPr/>
          </p:nvSpPr>
          <p:spPr>
            <a:xfrm>
              <a:off x="883920" y="2379345"/>
              <a:ext cx="1319022" cy="182880"/>
            </a:xfrm>
            <a:prstGeom prst="rect">
              <a:avLst/>
            </a:prstGeom>
            <a:noFill/>
            <a:ln>
              <a:noFill/>
            </a:ln>
          </p:spPr>
          <p:txBody>
            <a:bodyPr wrap="none" lIns="0" tIns="0" rIns="0" bIns="0" anchor="t" anchorCtr="0">
              <a:spAutoFit/>
            </a:bodyPr>
            <a:lstStyle/>
            <a:p>
              <a:pPr algn="l"/>
              <a:r>
                <a:rPr lang="zh-CN" sz="900" dirty="0">
                  <a:solidFill>
                    <a:srgbClr val="596579"/>
                  </a:solidFill>
                  <a:latin typeface="Arial"/>
                  <a:ea typeface="Microsoft YaHei"/>
                  <a:cs typeface="Arial"/>
                </a:rPr>
                <a:t>Largest absolute drop</a:t>
              </a:r>
            </a:p>
          </p:txBody>
        </p:sp>
        <p:sp>
          <p:nvSpPr>
            <p:cNvPr id="27" name="TextBox 27"/>
            <p:cNvSpPr txBox="1"/>
            <p:nvPr/>
          </p:nvSpPr>
          <p:spPr>
            <a:xfrm>
              <a:off x="878205" y="2578418"/>
              <a:ext cx="1565381" cy="274320"/>
            </a:xfrm>
            <a:prstGeom prst="rect">
              <a:avLst/>
            </a:prstGeom>
            <a:noFill/>
            <a:ln>
              <a:noFill/>
            </a:ln>
          </p:spPr>
          <p:txBody>
            <a:bodyPr wrap="none" lIns="0" tIns="0" rIns="0" bIns="0" anchor="t" anchorCtr="0">
              <a:spAutoFit/>
            </a:bodyPr>
            <a:lstStyle/>
            <a:p>
              <a:pPr algn="l"/>
              <a:r>
                <a:rPr lang="zh-CN" sz="1350" b="1" dirty="0">
                  <a:solidFill>
                    <a:srgbClr val="172033"/>
                  </a:solidFill>
                  <a:latin typeface="Arial"/>
                  <a:ea typeface="Microsoft YaHei"/>
                  <a:cs typeface="Arial"/>
                </a:rPr>
                <a:t>Visits -&gt; signups</a:t>
              </a:r>
            </a:p>
          </p:txBody>
        </p:sp>
        <p:sp>
          <p:nvSpPr>
            <p:cNvPr id="28" name="Rectangle 28"/>
            <p:cNvSpPr/>
            <p:nvPr/>
          </p:nvSpPr>
          <p:spPr>
            <a:xfrm>
              <a:off x="9563100" y="2209800"/>
              <a:ext cx="1905000" cy="704850"/>
            </a:xfrm>
            <a:prstGeom prst="roundRect">
              <a:avLst>
                <a:gd name="adj" fmla="val 10811"/>
              </a:avLst>
            </a:prstGeom>
            <a:solidFill>
              <a:srgbClr val="FFFFFF"/>
            </a:solidFill>
            <a:ln w="9525">
              <a:solidFill>
                <a:srgbClr val="D9E1EA"/>
              </a:solidFill>
            </a:ln>
          </p:spPr>
        </p:sp>
        <p:sp>
          <p:nvSpPr>
            <p:cNvPr id="29" name="TextBox 29"/>
            <p:cNvSpPr txBox="1"/>
            <p:nvPr/>
          </p:nvSpPr>
          <p:spPr>
            <a:xfrm>
              <a:off x="9723120" y="2379345"/>
              <a:ext cx="1018984" cy="182880"/>
            </a:xfrm>
            <a:prstGeom prst="rect">
              <a:avLst/>
            </a:prstGeom>
            <a:noFill/>
            <a:ln>
              <a:noFill/>
            </a:ln>
          </p:spPr>
          <p:txBody>
            <a:bodyPr wrap="none" lIns="0" tIns="0" rIns="0" bIns="0" anchor="t" anchorCtr="0">
              <a:spAutoFit/>
            </a:bodyPr>
            <a:lstStyle/>
            <a:p>
              <a:pPr algn="l"/>
              <a:r>
                <a:rPr lang="zh-CN" sz="900" dirty="0">
                  <a:solidFill>
                    <a:srgbClr val="596579"/>
                  </a:solidFill>
                  <a:latin typeface="Arial"/>
                  <a:ea typeface="Microsoft YaHei"/>
                  <a:cs typeface="Arial"/>
                </a:rPr>
                <a:t>Overall paid rate</a:t>
              </a:r>
            </a:p>
          </p:txBody>
        </p:sp>
        <p:sp>
          <p:nvSpPr>
            <p:cNvPr id="30" name="TextBox 30"/>
            <p:cNvSpPr txBox="1"/>
            <p:nvPr/>
          </p:nvSpPr>
          <p:spPr>
            <a:xfrm>
              <a:off x="9717405" y="2578418"/>
              <a:ext cx="1442516" cy="274320"/>
            </a:xfrm>
            <a:prstGeom prst="rect">
              <a:avLst/>
            </a:prstGeom>
            <a:noFill/>
            <a:ln>
              <a:noFill/>
            </a:ln>
          </p:spPr>
          <p:txBody>
            <a:bodyPr wrap="none" lIns="0" tIns="0" rIns="0" bIns="0" anchor="t" anchorCtr="0">
              <a:spAutoFit/>
            </a:bodyPr>
            <a:lstStyle/>
            <a:p>
              <a:pPr algn="l"/>
              <a:r>
                <a:rPr lang="zh-CN" sz="1350" b="1" dirty="0">
                  <a:solidFill>
                    <a:srgbClr val="2F80ED"/>
                  </a:solidFill>
                  <a:latin typeface="Arial"/>
                  <a:ea typeface="Microsoft YaHei"/>
                  <a:cs typeface="Arial"/>
                </a:rPr>
                <a:t>1.74% of visits</a:t>
              </a:r>
            </a:p>
          </p:txBody>
        </p:sp>
        <p:sp>
          <p:nvSpPr>
            <p:cNvPr id="31" name="Rectangle 31"/>
            <p:cNvSpPr/>
            <p:nvPr/>
          </p:nvSpPr>
          <p:spPr>
            <a:xfrm>
              <a:off x="723900" y="4953000"/>
              <a:ext cx="2686050" cy="781050"/>
            </a:xfrm>
            <a:prstGeom prst="roundRect">
              <a:avLst>
                <a:gd name="adj" fmla="val 9756"/>
              </a:avLst>
            </a:prstGeom>
            <a:solidFill>
              <a:srgbClr val="F7F8FA"/>
            </a:solidFill>
            <a:ln w="9525">
              <a:solidFill>
                <a:srgbClr val="D9E1EA"/>
              </a:solidFill>
            </a:ln>
          </p:spPr>
        </p:sp>
        <p:sp>
          <p:nvSpPr>
            <p:cNvPr id="32" name="TextBox 32"/>
            <p:cNvSpPr txBox="1"/>
            <p:nvPr/>
          </p:nvSpPr>
          <p:spPr>
            <a:xfrm>
              <a:off x="901065" y="5125402"/>
              <a:ext cx="1139809" cy="213360"/>
            </a:xfrm>
            <a:prstGeom prst="rect">
              <a:avLst/>
            </a:prstGeom>
            <a:noFill/>
            <a:ln>
              <a:noFill/>
            </a:ln>
          </p:spPr>
          <p:txBody>
            <a:bodyPr wrap="none" lIns="0" tIns="0" rIns="0" bIns="0" anchor="t" anchorCtr="0">
              <a:spAutoFit/>
            </a:bodyPr>
            <a:lstStyle/>
            <a:p>
              <a:pPr algn="l"/>
              <a:r>
                <a:rPr lang="zh-CN" sz="1050" dirty="0">
                  <a:solidFill>
                    <a:srgbClr val="596579"/>
                  </a:solidFill>
                  <a:latin typeface="Arial"/>
                  <a:ea typeface="Microsoft YaHei"/>
                  <a:cs typeface="Arial"/>
                </a:rPr>
                <a:t>Conversion math</a:t>
              </a:r>
            </a:p>
          </p:txBody>
        </p:sp>
        <p:sp>
          <p:nvSpPr>
            <p:cNvPr id="33" name="TextBox 33"/>
            <p:cNvSpPr txBox="1"/>
            <p:nvPr/>
          </p:nvSpPr>
          <p:spPr>
            <a:xfrm>
              <a:off x="897255" y="5359718"/>
              <a:ext cx="1499223" cy="274320"/>
            </a:xfrm>
            <a:prstGeom prst="rect">
              <a:avLst/>
            </a:prstGeom>
            <a:noFill/>
            <a:ln>
              <a:noFill/>
            </a:ln>
          </p:spPr>
          <p:txBody>
            <a:bodyPr wrap="none" lIns="0" tIns="0" rIns="0" bIns="0" anchor="t" anchorCtr="0">
              <a:spAutoFit/>
            </a:bodyPr>
            <a:lstStyle/>
            <a:p>
              <a:pPr algn="l"/>
              <a:r>
                <a:rPr lang="zh-CN" sz="1350" b="1" dirty="0">
                  <a:solidFill>
                    <a:srgbClr val="172033"/>
                  </a:solidFill>
                  <a:latin typeface="Arial"/>
                  <a:ea typeface="Microsoft YaHei"/>
                  <a:cs typeface="Arial"/>
                </a:rPr>
                <a:t>6,370 / 365,800</a:t>
              </a:r>
            </a:p>
          </p:txBody>
        </p:sp>
        <p:sp>
          <p:nvSpPr>
            <p:cNvPr id="34" name="Rectangle 34"/>
            <p:cNvSpPr/>
            <p:nvPr/>
          </p:nvSpPr>
          <p:spPr>
            <a:xfrm>
              <a:off x="8782050" y="4953000"/>
              <a:ext cx="2686050" cy="781050"/>
            </a:xfrm>
            <a:prstGeom prst="roundRect">
              <a:avLst>
                <a:gd name="adj" fmla="val 9756"/>
              </a:avLst>
            </a:prstGeom>
            <a:solidFill>
              <a:srgbClr val="F7F8FA"/>
            </a:solidFill>
            <a:ln w="9525">
              <a:solidFill>
                <a:srgbClr val="D9E1EA"/>
              </a:solidFill>
            </a:ln>
          </p:spPr>
        </p:sp>
        <p:sp>
          <p:nvSpPr>
            <p:cNvPr id="35" name="TextBox 35"/>
            <p:cNvSpPr txBox="1"/>
            <p:nvPr/>
          </p:nvSpPr>
          <p:spPr>
            <a:xfrm>
              <a:off x="8959215" y="5125402"/>
              <a:ext cx="558737" cy="213360"/>
            </a:xfrm>
            <a:prstGeom prst="rect">
              <a:avLst/>
            </a:prstGeom>
            <a:noFill/>
            <a:ln>
              <a:noFill/>
            </a:ln>
          </p:spPr>
          <p:txBody>
            <a:bodyPr wrap="none" lIns="0" tIns="0" rIns="0" bIns="0" anchor="t" anchorCtr="0">
              <a:spAutoFit/>
            </a:bodyPr>
            <a:lstStyle/>
            <a:p>
              <a:pPr algn="l"/>
              <a:r>
                <a:rPr lang="zh-CN" sz="1050" dirty="0">
                  <a:solidFill>
                    <a:srgbClr val="596579"/>
                  </a:solidFill>
                  <a:latin typeface="Arial"/>
                  <a:ea typeface="Microsoft YaHei"/>
                  <a:cs typeface="Arial"/>
                </a:rPr>
                <a:t>So what</a:t>
              </a:r>
            </a:p>
          </p:txBody>
        </p:sp>
        <p:sp>
          <p:nvSpPr>
            <p:cNvPr id="36" name="TextBox 36"/>
            <p:cNvSpPr txBox="1"/>
            <p:nvPr/>
          </p:nvSpPr>
          <p:spPr>
            <a:xfrm>
              <a:off x="8955405" y="5359718"/>
              <a:ext cx="2794035" cy="274320"/>
            </a:xfrm>
            <a:prstGeom prst="rect">
              <a:avLst/>
            </a:prstGeom>
            <a:noFill/>
            <a:ln>
              <a:noFill/>
            </a:ln>
          </p:spPr>
          <p:txBody>
            <a:bodyPr wrap="none" lIns="0" tIns="0" rIns="0" bIns="0" anchor="t" anchorCtr="0">
              <a:spAutoFit/>
            </a:bodyPr>
            <a:lstStyle/>
            <a:p>
              <a:pPr algn="l"/>
              <a:r>
                <a:rPr lang="zh-CN" sz="1350" b="1" dirty="0">
                  <a:solidFill>
                    <a:srgbClr val="172033"/>
                  </a:solidFill>
                  <a:latin typeface="Arial"/>
                  <a:ea typeface="Microsoft YaHei"/>
                  <a:cs typeface="Arial"/>
                </a:rPr>
                <a:t>Improve quality before volume</a:t>
              </a:r>
            </a:p>
          </p:txBody>
        </p:sp>
      </p:grpSp>
      <p:grpSp>
        <p:nvGrpSpPr>
          <p:cNvPr id="40" name="Group 40"/>
          <p:cNvGrpSpPr/>
          <p:nvPr/>
        </p:nvGrpSpPr>
        <p:grpSpPr>
          <a:xfrm>
            <a:off x="712470" y="6075045"/>
            <a:ext cx="10884694" cy="335280"/>
            <a:chOff x="712470" y="6075045"/>
            <a:chExt cx="10884694" cy="335280"/>
          </a:xfrm>
        </p:grpSpPr>
        <p:sp>
          <p:nvSpPr>
            <p:cNvPr id="38" name="TextBox 38"/>
            <p:cNvSpPr txBox="1"/>
            <p:nvPr/>
          </p:nvSpPr>
          <p:spPr>
            <a:xfrm>
              <a:off x="712470" y="6075045"/>
              <a:ext cx="3766185" cy="335280"/>
            </a:xfrm>
            <a:prstGeom prst="rect">
              <a:avLst/>
            </a:prstGeom>
            <a:noFill/>
            <a:ln>
              <a:noFill/>
            </a:ln>
          </p:spPr>
          <p:txBody>
            <a:bodyPr wrap="square" lIns="0" tIns="0" rIns="0" bIns="0" anchor="t" anchorCtr="0"/>
            <a:lstStyle/>
            <a:p>
              <a:pPr algn="l">
                <a:lnSpc>
                  <a:spcPts val="1200"/>
                </a:lnSpc>
              </a:pPr>
              <a:r>
                <a:rPr lang="zh-CN" sz="900" dirty="0">
                  <a:solidFill>
                    <a:srgbClr val="8A94A6"/>
                  </a:solidFill>
                  <a:latin typeface="Arial"/>
                  <a:ea typeface="Microsoft YaHei"/>
                  <a:cs typeface="Arial"/>
                </a:rPr>
                <a:t xml:space="preserve">Source: product_growth_metrics_q1_q2_2026.csv </a:t>
              </a:r>
              <a:r>
                <a:rPr lang="zh-CN" sz="900" dirty="0">
                  <a:solidFill>
                    <a:srgbClr val="8A94A6"/>
                  </a:solidFill>
                  <a:latin typeface="Arial"/>
                  <a:ea typeface="Microsoft YaHei"/>
                  <a:cs typeface="Arial"/>
                </a:rPr>
                <a:t>Funnel stages: visits, signups, activated_users, paid_conversions</a:t>
              </a:r>
            </a:p>
          </p:txBody>
        </p:sp>
        <p:sp>
          <p:nvSpPr>
            <p:cNvPr id="39" name="TextBox 39"/>
            <p:cNvSpPr txBox="1"/>
            <p:nvPr/>
          </p:nvSpPr>
          <p:spPr>
            <a:xfrm>
              <a:off x="11304270" y="6132195"/>
              <a:ext cx="292894" cy="182880"/>
            </a:xfrm>
            <a:prstGeom prst="rect">
              <a:avLst/>
            </a:prstGeom>
            <a:noFill/>
            <a:ln>
              <a:noFill/>
            </a:ln>
          </p:spPr>
          <p:txBody>
            <a:bodyPr wrap="none" lIns="0" tIns="0" rIns="0" bIns="0" anchor="t" anchorCtr="0">
              <a:spAutoFit/>
            </a:bodyPr>
            <a:lstStyle/>
            <a:p>
              <a:pPr algn="l"/>
              <a:r>
                <a:rPr lang="zh-CN" sz="900" dirty="0">
                  <a:solidFill>
                    <a:srgbClr val="8A94A6"/>
                  </a:solidFill>
                  <a:latin typeface="Arial"/>
                  <a:ea typeface="Microsoft YaHei"/>
                  <a:cs typeface="Arial"/>
                </a:rPr>
                <a:t>2 / 7</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400"/>
                                        <p:tgtEl>
                                          <p:spTgt spid="15"/>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slide(fromBottom)">
                                      <p:cBhvr>
                                        <p:cTn id="11" dur="400"/>
                                        <p:tgtEl>
                                          <p:spTgt spid="24"/>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37"/>
                                        </p:tgtEl>
                                        <p:attrNameLst>
                                          <p:attrName>style.visibility</p:attrName>
                                        </p:attrNameLst>
                                      </p:cBhvr>
                                      <p:to>
                                        <p:strVal val="visible"/>
                                      </p:to>
                                    </p:set>
                                    <p:animEffect transition="in" filter="fade">
                                      <p:cBhvr>
                                        <p:cTn id="15"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4" grpId="0"/>
      <p:bldP spid="3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7F8FA"/>
            </a:solidFill>
            <a:ln>
              <a:noFill/>
            </a:ln>
          </p:spPr>
        </p:sp>
        <p:sp>
          <p:nvSpPr>
            <p:cNvPr id="3" name="Rectangle 3"/>
            <p:cNvSpPr/>
            <p:nvPr/>
          </p:nvSpPr>
          <p:spPr>
            <a:xfrm>
              <a:off x="495300" y="400050"/>
              <a:ext cx="11201400" cy="6057900"/>
            </a:xfrm>
            <a:prstGeom prst="roundRect">
              <a:avLst>
                <a:gd name="adj" fmla="val 1572"/>
              </a:avLst>
            </a:prstGeom>
            <a:solidFill>
              <a:srgbClr val="FFFFFF"/>
            </a:solidFill>
            <a:ln w="9525">
              <a:solidFill>
                <a:srgbClr val="D9E1EA"/>
              </a:solidFill>
            </a:ln>
          </p:spPr>
        </p:sp>
      </p:grpSp>
      <p:grpSp>
        <p:nvGrpSpPr>
          <p:cNvPr id="9" name="Group 9"/>
          <p:cNvGrpSpPr/>
          <p:nvPr/>
        </p:nvGrpSpPr>
        <p:grpSpPr>
          <a:xfrm>
            <a:off x="691515" y="645795"/>
            <a:ext cx="10776585" cy="1059180"/>
            <a:chOff x="691515" y="645795"/>
            <a:chExt cx="10776585" cy="1059180"/>
          </a:xfrm>
        </p:grpSpPr>
        <p:sp>
          <p:nvSpPr>
            <p:cNvPr id="5" name="TextBox 5"/>
            <p:cNvSpPr txBox="1"/>
            <p:nvPr/>
          </p:nvSpPr>
          <p:spPr>
            <a:xfrm>
              <a:off x="712470" y="645795"/>
              <a:ext cx="1397032" cy="182880"/>
            </a:xfrm>
            <a:prstGeom prst="rect">
              <a:avLst/>
            </a:prstGeom>
            <a:noFill/>
            <a:ln>
              <a:noFill/>
            </a:ln>
          </p:spPr>
          <p:txBody>
            <a:bodyPr wrap="none" lIns="0" tIns="0" rIns="0" bIns="0" anchor="t" anchorCtr="0">
              <a:spAutoFit/>
            </a:bodyPr>
            <a:lstStyle/>
            <a:p>
              <a:pPr algn="l"/>
              <a:r>
                <a:rPr lang="zh-CN" sz="900" dirty="0">
                  <a:solidFill>
                    <a:srgbClr val="596579"/>
                  </a:solidFill>
                  <a:latin typeface="Arial"/>
                  <a:ea typeface="Microsoft YaHei"/>
                  <a:cs typeface="Arial"/>
                </a:rPr>
                <a:t>MONTHLY REVENUE TREND</a:t>
              </a:r>
            </a:p>
          </p:txBody>
        </p:sp>
        <p:sp>
          <p:nvSpPr>
            <p:cNvPr id="6" name="TextBox 6"/>
            <p:cNvSpPr txBox="1"/>
            <p:nvPr/>
          </p:nvSpPr>
          <p:spPr>
            <a:xfrm>
              <a:off x="691515" y="905828"/>
              <a:ext cx="10704700" cy="518160"/>
            </a:xfrm>
            <a:prstGeom prst="rect">
              <a:avLst/>
            </a:prstGeom>
            <a:noFill/>
            <a:ln>
              <a:noFill/>
            </a:ln>
          </p:spPr>
          <p:txBody>
            <a:bodyPr wrap="none" lIns="0" tIns="0" rIns="0" bIns="0" anchor="t" anchorCtr="0">
              <a:spAutoFit/>
            </a:bodyPr>
            <a:lstStyle/>
            <a:p>
              <a:pPr algn="l"/>
              <a:r>
                <a:rPr lang="zh-CN" sz="2550" b="1" dirty="0">
                  <a:solidFill>
                    <a:srgbClr val="172033"/>
                  </a:solidFill>
                  <a:latin typeface="Georgia"/>
                  <a:ea typeface="Microsoft YaHei"/>
                  <a:cs typeface="Georgia"/>
                </a:rPr>
                <a:t>Monthly revenue compounds from $101K in Jan to $350K in Jun</a:t>
              </a:r>
            </a:p>
          </p:txBody>
        </p:sp>
        <p:sp>
          <p:nvSpPr>
            <p:cNvPr id="7" name="TextBox 7"/>
            <p:cNvSpPr txBox="1"/>
            <p:nvPr/>
          </p:nvSpPr>
          <p:spPr>
            <a:xfrm>
              <a:off x="706755" y="1349692"/>
              <a:ext cx="7289197" cy="274320"/>
            </a:xfrm>
            <a:prstGeom prst="rect">
              <a:avLst/>
            </a:prstGeom>
            <a:noFill/>
            <a:ln>
              <a:noFill/>
            </a:ln>
          </p:spPr>
          <p:txBody>
            <a:bodyPr wrap="none" lIns="0" tIns="0" rIns="0" bIns="0" anchor="t" anchorCtr="0">
              <a:spAutoFit/>
            </a:bodyPr>
            <a:lstStyle/>
            <a:p>
              <a:pPr algn="l"/>
              <a:r>
                <a:rPr lang="zh-CN" sz="1350" dirty="0">
                  <a:solidFill>
                    <a:srgbClr val="596579"/>
                  </a:solidFill>
                  <a:latin typeface="Arial"/>
                  <a:ea typeface="Microsoft YaHei"/>
                  <a:cs typeface="Arial"/>
                </a:rPr>
                <a:t>Jan-Jun totals use the CSV revenue_usd field aggregated across all four channels.</a:t>
              </a:r>
            </a:p>
          </p:txBody>
        </p:sp>
        <p:sp>
          <p:nvSpPr>
            <p:cNvPr id="8" name="Line 8"/>
            <p:cNvSpPr/>
            <p:nvPr/>
          </p:nvSpPr>
          <p:spPr>
            <a:xfrm>
              <a:off x="723900" y="1695450"/>
              <a:ext cx="10744200" cy="9525"/>
            </a:xfrm>
            <a:custGeom>
              <a:avLst/>
              <a:gdLst/>
              <a:ahLst/>
              <a:cxnLst/>
              <a:rect l="l" t="t" r="r" b="b"/>
              <a:pathLst>
                <a:path w="10744200" h="9525">
                  <a:moveTo>
                    <a:pt x="0" y="0"/>
                  </a:moveTo>
                  <a:lnTo>
                    <a:pt x="10744200" y="0"/>
                  </a:lnTo>
                </a:path>
              </a:pathLst>
            </a:custGeom>
            <a:noFill/>
            <a:ln w="9525">
              <a:solidFill>
                <a:srgbClr val="D9E1EA"/>
              </a:solidFill>
            </a:ln>
          </p:spPr>
        </p:sp>
      </p:grpSp>
      <p:grpSp>
        <p:nvGrpSpPr>
          <p:cNvPr id="38" name="Group 38"/>
          <p:cNvGrpSpPr/>
          <p:nvPr/>
        </p:nvGrpSpPr>
        <p:grpSpPr>
          <a:xfrm>
            <a:off x="723900" y="1998345"/>
            <a:ext cx="8553450" cy="3754755"/>
            <a:chOff x="723900" y="1998345"/>
            <a:chExt cx="8553450" cy="3754755"/>
          </a:xfrm>
        </p:grpSpPr>
        <p:sp>
          <p:nvSpPr>
            <p:cNvPr id="10" name="Rectangle 10"/>
            <p:cNvSpPr/>
            <p:nvPr/>
          </p:nvSpPr>
          <p:spPr>
            <a:xfrm>
              <a:off x="723900" y="2000250"/>
              <a:ext cx="8553450" cy="3752850"/>
            </a:xfrm>
            <a:prstGeom prst="roundRect">
              <a:avLst>
                <a:gd name="adj" fmla="val 2030"/>
              </a:avLst>
            </a:prstGeom>
            <a:solidFill>
              <a:srgbClr val="FFFFFF"/>
            </a:solidFill>
            <a:ln w="9525">
              <a:solidFill>
                <a:srgbClr val="D9E1EA"/>
              </a:solidFill>
            </a:ln>
          </p:spPr>
        </p:sp>
        <p:sp>
          <p:nvSpPr>
            <p:cNvPr id="11" name="TextBox 11"/>
            <p:cNvSpPr txBox="1"/>
            <p:nvPr/>
          </p:nvSpPr>
          <p:spPr>
            <a:xfrm>
              <a:off x="1054418" y="2218849"/>
              <a:ext cx="1747480" cy="198120"/>
            </a:xfrm>
            <a:prstGeom prst="rect">
              <a:avLst/>
            </a:prstGeom>
            <a:noFill/>
            <a:ln>
              <a:noFill/>
            </a:ln>
          </p:spPr>
          <p:txBody>
            <a:bodyPr wrap="none" lIns="0" tIns="0" rIns="0" bIns="0" anchor="t" anchorCtr="0">
              <a:spAutoFit/>
            </a:bodyPr>
            <a:lstStyle/>
            <a:p>
              <a:pPr algn="l"/>
              <a:r>
                <a:rPr lang="zh-CN" sz="975" dirty="0">
                  <a:solidFill>
                    <a:srgbClr val="596579"/>
                  </a:solidFill>
                  <a:latin typeface="Arial"/>
                  <a:ea typeface="Microsoft YaHei"/>
                  <a:cs typeface="Arial"/>
                </a:rPr>
                <a:t>Revenue USD, monthly total</a:t>
              </a:r>
            </a:p>
          </p:txBody>
        </p:sp>
        <p:grpSp>
          <p:nvGrpSpPr>
            <p:cNvPr id="25" name="Group 25"/>
            <p:cNvGrpSpPr/>
            <p:nvPr/>
          </p:nvGrpSpPr>
          <p:grpSpPr>
            <a:xfrm>
              <a:off x="1343025" y="2133600"/>
              <a:ext cx="7743825" cy="3095625"/>
              <a:chOff x="1343025" y="2133600"/>
              <a:chExt cx="7743825" cy="3095625"/>
            </a:xfrm>
          </p:grpSpPr>
          <p:sp>
            <p:nvSpPr>
              <p:cNvPr id="12" name="Line 12"/>
              <p:cNvSpPr/>
              <p:nvPr/>
            </p:nvSpPr>
            <p:spPr>
              <a:xfrm>
                <a:off x="1390650" y="2133600"/>
                <a:ext cx="7639050" cy="9525"/>
              </a:xfrm>
              <a:custGeom>
                <a:avLst/>
                <a:gdLst/>
                <a:ahLst/>
                <a:cxnLst/>
                <a:rect l="l" t="t" r="r" b="b"/>
                <a:pathLst>
                  <a:path w="7639050" h="9525">
                    <a:moveTo>
                      <a:pt x="0" y="0"/>
                    </a:moveTo>
                    <a:lnTo>
                      <a:pt x="7639050" y="0"/>
                    </a:lnTo>
                  </a:path>
                </a:pathLst>
              </a:custGeom>
              <a:noFill/>
              <a:ln w="9525">
                <a:solidFill>
                  <a:srgbClr val="E8EEF5"/>
                </a:solidFill>
              </a:ln>
            </p:spPr>
          </p:sp>
          <p:sp>
            <p:nvSpPr>
              <p:cNvPr id="13" name="Line 13"/>
              <p:cNvSpPr/>
              <p:nvPr/>
            </p:nvSpPr>
            <p:spPr>
              <a:xfrm>
                <a:off x="1390650" y="3162300"/>
                <a:ext cx="7639050" cy="9525"/>
              </a:xfrm>
              <a:custGeom>
                <a:avLst/>
                <a:gdLst/>
                <a:ahLst/>
                <a:cxnLst/>
                <a:rect l="l" t="t" r="r" b="b"/>
                <a:pathLst>
                  <a:path w="7639050" h="9525">
                    <a:moveTo>
                      <a:pt x="0" y="0"/>
                    </a:moveTo>
                    <a:lnTo>
                      <a:pt x="7639050" y="0"/>
                    </a:lnTo>
                  </a:path>
                </a:pathLst>
              </a:custGeom>
              <a:noFill/>
              <a:ln w="9525">
                <a:solidFill>
                  <a:srgbClr val="E8EEF5"/>
                </a:solidFill>
              </a:ln>
            </p:spPr>
          </p:sp>
          <p:sp>
            <p:nvSpPr>
              <p:cNvPr id="14" name="Line 14"/>
              <p:cNvSpPr/>
              <p:nvPr/>
            </p:nvSpPr>
            <p:spPr>
              <a:xfrm>
                <a:off x="1390650" y="4191000"/>
                <a:ext cx="7639050" cy="9525"/>
              </a:xfrm>
              <a:custGeom>
                <a:avLst/>
                <a:gdLst/>
                <a:ahLst/>
                <a:cxnLst/>
                <a:rect l="l" t="t" r="r" b="b"/>
                <a:pathLst>
                  <a:path w="7639050" h="9525">
                    <a:moveTo>
                      <a:pt x="0" y="0"/>
                    </a:moveTo>
                    <a:lnTo>
                      <a:pt x="7639050" y="0"/>
                    </a:lnTo>
                  </a:path>
                </a:pathLst>
              </a:custGeom>
              <a:noFill/>
              <a:ln w="9525">
                <a:solidFill>
                  <a:srgbClr val="E8EEF5"/>
                </a:solidFill>
              </a:ln>
            </p:spPr>
          </p:sp>
          <p:sp>
            <p:nvSpPr>
              <p:cNvPr id="15" name="Line 15"/>
              <p:cNvSpPr/>
              <p:nvPr/>
            </p:nvSpPr>
            <p:spPr>
              <a:xfrm>
                <a:off x="1390650" y="5219700"/>
                <a:ext cx="7639050" cy="9525"/>
              </a:xfrm>
              <a:custGeom>
                <a:avLst/>
                <a:gdLst/>
                <a:ahLst/>
                <a:cxnLst/>
                <a:rect l="l" t="t" r="r" b="b"/>
                <a:pathLst>
                  <a:path w="7639050" h="9525">
                    <a:moveTo>
                      <a:pt x="0" y="0"/>
                    </a:moveTo>
                    <a:lnTo>
                      <a:pt x="7639050" y="0"/>
                    </a:lnTo>
                  </a:path>
                </a:pathLst>
              </a:custGeom>
              <a:noFill/>
              <a:ln w="9525">
                <a:solidFill>
                  <a:srgbClr val="D9E1EA"/>
                </a:solidFill>
              </a:ln>
            </p:spPr>
          </p:sp>
          <p:sp>
            <p:nvSpPr>
              <p:cNvPr id="16" name="Line 16"/>
              <p:cNvSpPr/>
              <p:nvPr/>
            </p:nvSpPr>
            <p:spPr>
              <a:xfrm>
                <a:off x="1390650" y="2133600"/>
                <a:ext cx="9525" cy="3086100"/>
              </a:xfrm>
              <a:custGeom>
                <a:avLst/>
                <a:gdLst/>
                <a:ahLst/>
                <a:cxnLst/>
                <a:rect l="l" t="t" r="r" b="b"/>
                <a:pathLst>
                  <a:path w="9525" h="3086100">
                    <a:moveTo>
                      <a:pt x="0" y="0"/>
                    </a:moveTo>
                    <a:lnTo>
                      <a:pt x="0" y="3086100"/>
                    </a:lnTo>
                  </a:path>
                </a:pathLst>
              </a:custGeom>
              <a:noFill/>
              <a:ln w="9525">
                <a:solidFill>
                  <a:srgbClr val="D9E1EA"/>
                </a:solidFill>
              </a:ln>
            </p:spPr>
          </p:sp>
          <p:sp>
            <p:nvSpPr>
              <p:cNvPr id="17" name="Freeform 17"/>
              <p:cNvSpPr/>
              <p:nvPr/>
            </p:nvSpPr>
            <p:spPr>
              <a:xfrm>
                <a:off x="1390650" y="2219325"/>
                <a:ext cx="7639050" cy="3000375"/>
              </a:xfrm>
              <a:custGeom>
                <a:avLst/>
                <a:gdLst/>
                <a:ahLst/>
                <a:cxnLst/>
                <a:rect l="l" t="t" r="r" b="b"/>
                <a:pathLst>
                  <a:path w="7639050" h="3000375">
                    <a:moveTo>
                      <a:pt x="0" y="2143125"/>
                    </a:moveTo>
                    <a:lnTo>
                      <a:pt x="1524000" y="1952625"/>
                    </a:lnTo>
                    <a:lnTo>
                      <a:pt x="3057525" y="1638300"/>
                    </a:lnTo>
                    <a:lnTo>
                      <a:pt x="4581525" y="1238250"/>
                    </a:lnTo>
                    <a:lnTo>
                      <a:pt x="6115050" y="676275"/>
                    </a:lnTo>
                    <a:lnTo>
                      <a:pt x="7639050" y="0"/>
                    </a:lnTo>
                    <a:lnTo>
                      <a:pt x="7639050" y="3000375"/>
                    </a:lnTo>
                    <a:lnTo>
                      <a:pt x="0" y="3000375"/>
                    </a:lnTo>
                    <a:close/>
                  </a:path>
                </a:pathLst>
              </a:custGeom>
              <a:solidFill>
                <a:srgbClr val="2F80ED">
                  <a:alpha val="10000"/>
                </a:srgbClr>
              </a:solidFill>
              <a:ln>
                <a:noFill/>
              </a:ln>
            </p:spPr>
          </p:sp>
          <p:sp>
            <p:nvSpPr>
              <p:cNvPr id="18" name="Polyline 18"/>
              <p:cNvSpPr/>
              <p:nvPr/>
            </p:nvSpPr>
            <p:spPr>
              <a:xfrm>
                <a:off x="1390650" y="2219325"/>
                <a:ext cx="7639050" cy="2143125"/>
              </a:xfrm>
              <a:custGeom>
                <a:avLst/>
                <a:gdLst/>
                <a:ahLst/>
                <a:cxnLst/>
                <a:rect l="l" t="t" r="r" b="b"/>
                <a:pathLst>
                  <a:path w="7639050" h="2143125">
                    <a:moveTo>
                      <a:pt x="0" y="2143125"/>
                    </a:moveTo>
                    <a:lnTo>
                      <a:pt x="1524000" y="1952625"/>
                    </a:lnTo>
                    <a:lnTo>
                      <a:pt x="3057525" y="1638300"/>
                    </a:lnTo>
                    <a:lnTo>
                      <a:pt x="4581525" y="1238250"/>
                    </a:lnTo>
                    <a:lnTo>
                      <a:pt x="6115050" y="676275"/>
                    </a:lnTo>
                    <a:lnTo>
                      <a:pt x="7639050" y="0"/>
                    </a:lnTo>
                  </a:path>
                </a:pathLst>
              </a:custGeom>
              <a:noFill/>
              <a:ln w="38100">
                <a:solidFill>
                  <a:srgbClr val="2F80ED"/>
                </a:solidFill>
                <a:round/>
              </a:ln>
            </p:spPr>
          </p:sp>
          <p:sp>
            <p:nvSpPr>
              <p:cNvPr id="19" name="Ellipse 19"/>
              <p:cNvSpPr/>
              <p:nvPr/>
            </p:nvSpPr>
            <p:spPr>
              <a:xfrm>
                <a:off x="1343025" y="4314825"/>
                <a:ext cx="95250" cy="95250"/>
              </a:xfrm>
              <a:prstGeom prst="ellipse">
                <a:avLst/>
              </a:prstGeom>
              <a:solidFill>
                <a:srgbClr val="2F80ED"/>
              </a:solidFill>
              <a:ln>
                <a:noFill/>
              </a:ln>
            </p:spPr>
          </p:sp>
          <p:sp>
            <p:nvSpPr>
              <p:cNvPr id="20" name="Ellipse 20"/>
              <p:cNvSpPr/>
              <p:nvPr/>
            </p:nvSpPr>
            <p:spPr>
              <a:xfrm>
                <a:off x="2867025" y="4124325"/>
                <a:ext cx="95250" cy="95250"/>
              </a:xfrm>
              <a:prstGeom prst="ellipse">
                <a:avLst/>
              </a:prstGeom>
              <a:solidFill>
                <a:srgbClr val="2F80ED"/>
              </a:solidFill>
              <a:ln>
                <a:noFill/>
              </a:ln>
            </p:spPr>
          </p:sp>
          <p:sp>
            <p:nvSpPr>
              <p:cNvPr id="21" name="Ellipse 21"/>
              <p:cNvSpPr/>
              <p:nvPr/>
            </p:nvSpPr>
            <p:spPr>
              <a:xfrm>
                <a:off x="4400550" y="3810000"/>
                <a:ext cx="95250" cy="95250"/>
              </a:xfrm>
              <a:prstGeom prst="ellipse">
                <a:avLst/>
              </a:prstGeom>
              <a:solidFill>
                <a:srgbClr val="2F80ED"/>
              </a:solidFill>
              <a:ln>
                <a:noFill/>
              </a:ln>
            </p:spPr>
          </p:sp>
          <p:sp>
            <p:nvSpPr>
              <p:cNvPr id="22" name="Ellipse 22"/>
              <p:cNvSpPr/>
              <p:nvPr/>
            </p:nvSpPr>
            <p:spPr>
              <a:xfrm>
                <a:off x="5924550" y="3409950"/>
                <a:ext cx="95250" cy="95250"/>
              </a:xfrm>
              <a:prstGeom prst="ellipse">
                <a:avLst/>
              </a:prstGeom>
              <a:solidFill>
                <a:srgbClr val="2F80ED"/>
              </a:solidFill>
              <a:ln>
                <a:noFill/>
              </a:ln>
            </p:spPr>
          </p:sp>
          <p:sp>
            <p:nvSpPr>
              <p:cNvPr id="23" name="Ellipse 23"/>
              <p:cNvSpPr/>
              <p:nvPr/>
            </p:nvSpPr>
            <p:spPr>
              <a:xfrm>
                <a:off x="7458075" y="2847975"/>
                <a:ext cx="95250" cy="95250"/>
              </a:xfrm>
              <a:prstGeom prst="ellipse">
                <a:avLst/>
              </a:prstGeom>
              <a:solidFill>
                <a:srgbClr val="2F80ED"/>
              </a:solidFill>
              <a:ln>
                <a:noFill/>
              </a:ln>
            </p:spPr>
          </p:sp>
          <p:sp>
            <p:nvSpPr>
              <p:cNvPr id="24" name="Ellipse 24"/>
              <p:cNvSpPr/>
              <p:nvPr/>
            </p:nvSpPr>
            <p:spPr>
              <a:xfrm>
                <a:off x="8972550" y="2162175"/>
                <a:ext cx="114300" cy="114300"/>
              </a:xfrm>
              <a:prstGeom prst="ellipse">
                <a:avLst/>
              </a:prstGeom>
              <a:solidFill>
                <a:srgbClr val="14A38B"/>
              </a:solidFill>
              <a:ln>
                <a:noFill/>
              </a:ln>
            </p:spPr>
          </p:sp>
        </p:grpSp>
        <p:sp>
          <p:nvSpPr>
            <p:cNvPr id="26" name="TextBox 26"/>
            <p:cNvSpPr txBox="1"/>
            <p:nvPr/>
          </p:nvSpPr>
          <p:spPr>
            <a:xfrm>
              <a:off x="998220" y="2074545"/>
              <a:ext cx="352901" cy="182880"/>
            </a:xfrm>
            <a:prstGeom prst="rect">
              <a:avLst/>
            </a:prstGeom>
            <a:noFill/>
            <a:ln>
              <a:noFill/>
            </a:ln>
          </p:spPr>
          <p:txBody>
            <a:bodyPr wrap="none" lIns="0" tIns="0" rIns="0" bIns="0" anchor="t" anchorCtr="0">
              <a:spAutoFit/>
            </a:bodyPr>
            <a:lstStyle/>
            <a:p>
              <a:pPr algn="l"/>
              <a:r>
                <a:rPr lang="zh-CN" sz="900" dirty="0">
                  <a:solidFill>
                    <a:srgbClr val="8A94A6"/>
                  </a:solidFill>
                  <a:latin typeface="Arial"/>
                  <a:ea typeface="Microsoft YaHei"/>
                  <a:cs typeface="Arial"/>
                </a:rPr>
                <a:t>$360K</a:t>
              </a:r>
            </a:p>
          </p:txBody>
        </p:sp>
        <p:sp>
          <p:nvSpPr>
            <p:cNvPr id="27" name="TextBox 27"/>
            <p:cNvSpPr txBox="1"/>
            <p:nvPr/>
          </p:nvSpPr>
          <p:spPr>
            <a:xfrm>
              <a:off x="998220" y="3103245"/>
              <a:ext cx="352901" cy="182880"/>
            </a:xfrm>
            <a:prstGeom prst="rect">
              <a:avLst/>
            </a:prstGeom>
            <a:noFill/>
            <a:ln>
              <a:noFill/>
            </a:ln>
          </p:spPr>
          <p:txBody>
            <a:bodyPr wrap="none" lIns="0" tIns="0" rIns="0" bIns="0" anchor="t" anchorCtr="0">
              <a:spAutoFit/>
            </a:bodyPr>
            <a:lstStyle/>
            <a:p>
              <a:pPr algn="l"/>
              <a:r>
                <a:rPr lang="zh-CN" sz="900" dirty="0">
                  <a:solidFill>
                    <a:srgbClr val="8A94A6"/>
                  </a:solidFill>
                  <a:latin typeface="Arial"/>
                  <a:ea typeface="Microsoft YaHei"/>
                  <a:cs typeface="Arial"/>
                </a:rPr>
                <a:t>$240K</a:t>
              </a:r>
            </a:p>
          </p:txBody>
        </p:sp>
        <p:sp>
          <p:nvSpPr>
            <p:cNvPr id="28" name="TextBox 28"/>
            <p:cNvSpPr txBox="1"/>
            <p:nvPr/>
          </p:nvSpPr>
          <p:spPr>
            <a:xfrm>
              <a:off x="998220" y="4131945"/>
              <a:ext cx="352901" cy="182880"/>
            </a:xfrm>
            <a:prstGeom prst="rect">
              <a:avLst/>
            </a:prstGeom>
            <a:noFill/>
            <a:ln>
              <a:noFill/>
            </a:ln>
          </p:spPr>
          <p:txBody>
            <a:bodyPr wrap="none" lIns="0" tIns="0" rIns="0" bIns="0" anchor="t" anchorCtr="0">
              <a:spAutoFit/>
            </a:bodyPr>
            <a:lstStyle/>
            <a:p>
              <a:pPr algn="l"/>
              <a:r>
                <a:rPr lang="zh-CN" sz="900" dirty="0">
                  <a:solidFill>
                    <a:srgbClr val="8A94A6"/>
                  </a:solidFill>
                  <a:latin typeface="Arial"/>
                  <a:ea typeface="Microsoft YaHei"/>
                  <a:cs typeface="Arial"/>
                </a:rPr>
                <a:t>$120K</a:t>
              </a:r>
            </a:p>
          </p:txBody>
        </p:sp>
        <p:sp>
          <p:nvSpPr>
            <p:cNvPr id="29" name="TextBox 29"/>
            <p:cNvSpPr txBox="1"/>
            <p:nvPr/>
          </p:nvSpPr>
          <p:spPr>
            <a:xfrm>
              <a:off x="1188720" y="5160645"/>
              <a:ext cx="154877" cy="182880"/>
            </a:xfrm>
            <a:prstGeom prst="rect">
              <a:avLst/>
            </a:prstGeom>
            <a:noFill/>
            <a:ln>
              <a:noFill/>
            </a:ln>
          </p:spPr>
          <p:txBody>
            <a:bodyPr wrap="none" lIns="0" tIns="0" rIns="0" bIns="0" anchor="t" anchorCtr="0">
              <a:spAutoFit/>
            </a:bodyPr>
            <a:lstStyle/>
            <a:p>
              <a:pPr algn="l"/>
              <a:r>
                <a:rPr lang="zh-CN" sz="900" dirty="0">
                  <a:solidFill>
                    <a:srgbClr val="8A94A6"/>
                  </a:solidFill>
                  <a:latin typeface="Arial"/>
                  <a:ea typeface="Microsoft YaHei"/>
                  <a:cs typeface="Arial"/>
                </a:rPr>
                <a:t>$0</a:t>
              </a:r>
            </a:p>
          </p:txBody>
        </p:sp>
        <p:sp>
          <p:nvSpPr>
            <p:cNvPr id="30" name="TextBox 30"/>
            <p:cNvSpPr txBox="1"/>
            <p:nvPr/>
          </p:nvSpPr>
          <p:spPr>
            <a:xfrm>
              <a:off x="1283018" y="5400199"/>
              <a:ext cx="239292" cy="198120"/>
            </a:xfrm>
            <a:prstGeom prst="rect">
              <a:avLst/>
            </a:prstGeom>
            <a:noFill/>
            <a:ln>
              <a:noFill/>
            </a:ln>
          </p:spPr>
          <p:txBody>
            <a:bodyPr wrap="none" lIns="0" tIns="0" rIns="0" bIns="0" anchor="t" anchorCtr="0">
              <a:spAutoFit/>
            </a:bodyPr>
            <a:lstStyle/>
            <a:p>
              <a:pPr algn="l"/>
              <a:r>
                <a:rPr lang="zh-CN" sz="975" dirty="0">
                  <a:solidFill>
                    <a:srgbClr val="596579"/>
                  </a:solidFill>
                  <a:latin typeface="Arial"/>
                  <a:ea typeface="Microsoft YaHei"/>
                  <a:cs typeface="Arial"/>
                </a:rPr>
                <a:t>Jan</a:t>
              </a:r>
            </a:p>
          </p:txBody>
        </p:sp>
        <p:sp>
          <p:nvSpPr>
            <p:cNvPr id="31" name="TextBox 31"/>
            <p:cNvSpPr txBox="1"/>
            <p:nvPr/>
          </p:nvSpPr>
          <p:spPr>
            <a:xfrm>
              <a:off x="2807018" y="5400199"/>
              <a:ext cx="239292" cy="198120"/>
            </a:xfrm>
            <a:prstGeom prst="rect">
              <a:avLst/>
            </a:prstGeom>
            <a:noFill/>
            <a:ln>
              <a:noFill/>
            </a:ln>
          </p:spPr>
          <p:txBody>
            <a:bodyPr wrap="none" lIns="0" tIns="0" rIns="0" bIns="0" anchor="t" anchorCtr="0">
              <a:spAutoFit/>
            </a:bodyPr>
            <a:lstStyle/>
            <a:p>
              <a:pPr algn="l"/>
              <a:r>
                <a:rPr lang="zh-CN" sz="975" dirty="0">
                  <a:solidFill>
                    <a:srgbClr val="596579"/>
                  </a:solidFill>
                  <a:latin typeface="Arial"/>
                  <a:ea typeface="Microsoft YaHei"/>
                  <a:cs typeface="Arial"/>
                </a:rPr>
                <a:t>Feb</a:t>
              </a:r>
            </a:p>
          </p:txBody>
        </p:sp>
        <p:sp>
          <p:nvSpPr>
            <p:cNvPr id="32" name="TextBox 32"/>
            <p:cNvSpPr txBox="1"/>
            <p:nvPr/>
          </p:nvSpPr>
          <p:spPr>
            <a:xfrm>
              <a:off x="4340542" y="5400199"/>
              <a:ext cx="265295" cy="198120"/>
            </a:xfrm>
            <a:prstGeom prst="rect">
              <a:avLst/>
            </a:prstGeom>
            <a:noFill/>
            <a:ln>
              <a:noFill/>
            </a:ln>
          </p:spPr>
          <p:txBody>
            <a:bodyPr wrap="none" lIns="0" tIns="0" rIns="0" bIns="0" anchor="t" anchorCtr="0">
              <a:spAutoFit/>
            </a:bodyPr>
            <a:lstStyle/>
            <a:p>
              <a:pPr algn="l"/>
              <a:r>
                <a:rPr lang="zh-CN" sz="975" dirty="0">
                  <a:solidFill>
                    <a:srgbClr val="596579"/>
                  </a:solidFill>
                  <a:latin typeface="Arial"/>
                  <a:ea typeface="Microsoft YaHei"/>
                  <a:cs typeface="Arial"/>
                </a:rPr>
                <a:t>Mar</a:t>
              </a:r>
            </a:p>
          </p:txBody>
        </p:sp>
        <p:sp>
          <p:nvSpPr>
            <p:cNvPr id="33" name="TextBox 33"/>
            <p:cNvSpPr txBox="1"/>
            <p:nvPr/>
          </p:nvSpPr>
          <p:spPr>
            <a:xfrm>
              <a:off x="5864542" y="5400199"/>
              <a:ext cx="239292" cy="198120"/>
            </a:xfrm>
            <a:prstGeom prst="rect">
              <a:avLst/>
            </a:prstGeom>
            <a:noFill/>
            <a:ln>
              <a:noFill/>
            </a:ln>
          </p:spPr>
          <p:txBody>
            <a:bodyPr wrap="none" lIns="0" tIns="0" rIns="0" bIns="0" anchor="t" anchorCtr="0">
              <a:spAutoFit/>
            </a:bodyPr>
            <a:lstStyle/>
            <a:p>
              <a:pPr algn="l"/>
              <a:r>
                <a:rPr lang="zh-CN" sz="975" dirty="0">
                  <a:solidFill>
                    <a:srgbClr val="596579"/>
                  </a:solidFill>
                  <a:latin typeface="Arial"/>
                  <a:ea typeface="Microsoft YaHei"/>
                  <a:cs typeface="Arial"/>
                </a:rPr>
                <a:t>Apr</a:t>
              </a:r>
            </a:p>
          </p:txBody>
        </p:sp>
        <p:sp>
          <p:nvSpPr>
            <p:cNvPr id="34" name="TextBox 34"/>
            <p:cNvSpPr txBox="1"/>
            <p:nvPr/>
          </p:nvSpPr>
          <p:spPr>
            <a:xfrm>
              <a:off x="7398068" y="5400199"/>
              <a:ext cx="265295" cy="198120"/>
            </a:xfrm>
            <a:prstGeom prst="rect">
              <a:avLst/>
            </a:prstGeom>
            <a:noFill/>
            <a:ln>
              <a:noFill/>
            </a:ln>
          </p:spPr>
          <p:txBody>
            <a:bodyPr wrap="none" lIns="0" tIns="0" rIns="0" bIns="0" anchor="t" anchorCtr="0">
              <a:spAutoFit/>
            </a:bodyPr>
            <a:lstStyle/>
            <a:p>
              <a:pPr algn="l"/>
              <a:r>
                <a:rPr lang="zh-CN" sz="975" dirty="0">
                  <a:solidFill>
                    <a:srgbClr val="596579"/>
                  </a:solidFill>
                  <a:latin typeface="Arial"/>
                  <a:ea typeface="Microsoft YaHei"/>
                  <a:cs typeface="Arial"/>
                </a:rPr>
                <a:t>May</a:t>
              </a:r>
            </a:p>
          </p:txBody>
        </p:sp>
        <p:sp>
          <p:nvSpPr>
            <p:cNvPr id="35" name="TextBox 35"/>
            <p:cNvSpPr txBox="1"/>
            <p:nvPr/>
          </p:nvSpPr>
          <p:spPr>
            <a:xfrm>
              <a:off x="8922068" y="5400199"/>
              <a:ext cx="239292" cy="198120"/>
            </a:xfrm>
            <a:prstGeom prst="rect">
              <a:avLst/>
            </a:prstGeom>
            <a:noFill/>
            <a:ln>
              <a:noFill/>
            </a:ln>
          </p:spPr>
          <p:txBody>
            <a:bodyPr wrap="none" lIns="0" tIns="0" rIns="0" bIns="0" anchor="t" anchorCtr="0">
              <a:spAutoFit/>
            </a:bodyPr>
            <a:lstStyle/>
            <a:p>
              <a:pPr algn="l"/>
              <a:r>
                <a:rPr lang="zh-CN" sz="975" dirty="0">
                  <a:solidFill>
                    <a:srgbClr val="596579"/>
                  </a:solidFill>
                  <a:latin typeface="Arial"/>
                  <a:ea typeface="Microsoft YaHei"/>
                  <a:cs typeface="Arial"/>
                </a:rPr>
                <a:t>Jun</a:t>
              </a:r>
            </a:p>
          </p:txBody>
        </p:sp>
        <p:sp>
          <p:nvSpPr>
            <p:cNvPr id="36" name="TextBox 36"/>
            <p:cNvSpPr txBox="1"/>
            <p:nvPr/>
          </p:nvSpPr>
          <p:spPr>
            <a:xfrm>
              <a:off x="1550670" y="4189095"/>
              <a:ext cx="484918" cy="182880"/>
            </a:xfrm>
            <a:prstGeom prst="rect">
              <a:avLst/>
            </a:prstGeom>
            <a:noFill/>
            <a:ln>
              <a:noFill/>
            </a:ln>
          </p:spPr>
          <p:txBody>
            <a:bodyPr wrap="none" lIns="0" tIns="0" rIns="0" bIns="0" anchor="t" anchorCtr="0">
              <a:spAutoFit/>
            </a:bodyPr>
            <a:lstStyle/>
            <a:p>
              <a:pPr algn="l"/>
              <a:r>
                <a:rPr lang="zh-CN" sz="900" dirty="0">
                  <a:solidFill>
                    <a:srgbClr val="596579"/>
                  </a:solidFill>
                  <a:latin typeface="Arial"/>
                  <a:ea typeface="Microsoft YaHei"/>
                  <a:cs typeface="Arial"/>
                </a:rPr>
                <a:t>$100.6K</a:t>
              </a:r>
            </a:p>
          </p:txBody>
        </p:sp>
        <p:sp>
          <p:nvSpPr>
            <p:cNvPr id="37" name="TextBox 37"/>
            <p:cNvSpPr txBox="1"/>
            <p:nvPr/>
          </p:nvSpPr>
          <p:spPr>
            <a:xfrm>
              <a:off x="8561070" y="1998345"/>
              <a:ext cx="508021" cy="182880"/>
            </a:xfrm>
            <a:prstGeom prst="rect">
              <a:avLst/>
            </a:prstGeom>
            <a:noFill/>
            <a:ln>
              <a:noFill/>
            </a:ln>
          </p:spPr>
          <p:txBody>
            <a:bodyPr wrap="none" lIns="0" tIns="0" rIns="0" bIns="0" anchor="t" anchorCtr="0">
              <a:spAutoFit/>
            </a:bodyPr>
            <a:lstStyle/>
            <a:p>
              <a:pPr algn="l"/>
              <a:r>
                <a:rPr lang="zh-CN" sz="900" b="1" dirty="0">
                  <a:solidFill>
                    <a:srgbClr val="14A38B"/>
                  </a:solidFill>
                  <a:latin typeface="Arial"/>
                  <a:ea typeface="Microsoft YaHei"/>
                  <a:cs typeface="Arial"/>
                </a:rPr>
                <a:t>$349.7K</a:t>
              </a:r>
            </a:p>
          </p:txBody>
        </p:sp>
      </p:grpSp>
      <p:grpSp>
        <p:nvGrpSpPr>
          <p:cNvPr id="48" name="Group 48"/>
          <p:cNvGrpSpPr/>
          <p:nvPr/>
        </p:nvGrpSpPr>
        <p:grpSpPr>
          <a:xfrm>
            <a:off x="9563100" y="2000250"/>
            <a:ext cx="2217039" cy="3752850"/>
            <a:chOff x="9563100" y="2000250"/>
            <a:chExt cx="2217039" cy="3752850"/>
          </a:xfrm>
        </p:grpSpPr>
        <p:sp>
          <p:nvSpPr>
            <p:cNvPr id="39" name="Rectangle 39"/>
            <p:cNvSpPr/>
            <p:nvPr/>
          </p:nvSpPr>
          <p:spPr>
            <a:xfrm>
              <a:off x="9563100" y="2000250"/>
              <a:ext cx="1905000" cy="3752850"/>
            </a:xfrm>
            <a:prstGeom prst="roundRect">
              <a:avLst>
                <a:gd name="adj" fmla="val 4000"/>
              </a:avLst>
            </a:prstGeom>
            <a:solidFill>
              <a:srgbClr val="F7F8FA"/>
            </a:solidFill>
            <a:ln w="9525">
              <a:solidFill>
                <a:srgbClr val="D9E1EA"/>
              </a:solidFill>
            </a:ln>
          </p:spPr>
        </p:sp>
        <p:sp>
          <p:nvSpPr>
            <p:cNvPr id="40" name="TextBox 40"/>
            <p:cNvSpPr txBox="1"/>
            <p:nvPr/>
          </p:nvSpPr>
          <p:spPr>
            <a:xfrm>
              <a:off x="9760268" y="2275999"/>
              <a:ext cx="622840" cy="198120"/>
            </a:xfrm>
            <a:prstGeom prst="rect">
              <a:avLst/>
            </a:prstGeom>
            <a:noFill/>
            <a:ln>
              <a:noFill/>
            </a:ln>
          </p:spPr>
          <p:txBody>
            <a:bodyPr wrap="none" lIns="0" tIns="0" rIns="0" bIns="0" anchor="t" anchorCtr="0">
              <a:spAutoFit/>
            </a:bodyPr>
            <a:lstStyle/>
            <a:p>
              <a:pPr algn="l"/>
              <a:r>
                <a:rPr lang="zh-CN" sz="975" dirty="0">
                  <a:solidFill>
                    <a:srgbClr val="596579"/>
                  </a:solidFill>
                  <a:latin typeface="Arial"/>
                  <a:ea typeface="Microsoft YaHei"/>
                  <a:cs typeface="Arial"/>
                </a:rPr>
                <a:t>Takeaway</a:t>
              </a:r>
            </a:p>
          </p:txBody>
        </p:sp>
        <p:sp>
          <p:nvSpPr>
            <p:cNvPr id="41" name="TextBox 41"/>
            <p:cNvSpPr txBox="1"/>
            <p:nvPr/>
          </p:nvSpPr>
          <p:spPr>
            <a:xfrm>
              <a:off x="9732645" y="2536508"/>
              <a:ext cx="1292912" cy="640080"/>
            </a:xfrm>
            <a:prstGeom prst="rect">
              <a:avLst/>
            </a:prstGeom>
            <a:noFill/>
            <a:ln>
              <a:noFill/>
            </a:ln>
          </p:spPr>
          <p:txBody>
            <a:bodyPr wrap="none" lIns="0" tIns="0" rIns="0" bIns="0" anchor="t" anchorCtr="0">
              <a:spAutoFit/>
            </a:bodyPr>
            <a:lstStyle/>
            <a:p>
              <a:pPr algn="l"/>
              <a:r>
                <a:rPr lang="zh-CN" sz="3150" b="1" dirty="0">
                  <a:solidFill>
                    <a:srgbClr val="172033"/>
                  </a:solidFill>
                  <a:latin typeface="Georgia"/>
                  <a:ea typeface="Microsoft YaHei"/>
                  <a:cs typeface="Georgia"/>
                </a:rPr>
                <a:t>3.48x</a:t>
              </a:r>
            </a:p>
          </p:txBody>
        </p:sp>
        <p:sp>
          <p:nvSpPr>
            <p:cNvPr id="42" name="TextBox 42"/>
            <p:cNvSpPr txBox="1"/>
            <p:nvPr/>
          </p:nvSpPr>
          <p:spPr>
            <a:xfrm>
              <a:off x="9757410" y="3032760"/>
              <a:ext cx="2022729" cy="243840"/>
            </a:xfrm>
            <a:prstGeom prst="rect">
              <a:avLst/>
            </a:prstGeom>
            <a:noFill/>
            <a:ln>
              <a:noFill/>
            </a:ln>
          </p:spPr>
          <p:txBody>
            <a:bodyPr wrap="none" lIns="0" tIns="0" rIns="0" bIns="0" anchor="t" anchorCtr="0">
              <a:spAutoFit/>
            </a:bodyPr>
            <a:lstStyle/>
            <a:p>
              <a:pPr algn="l"/>
              <a:r>
                <a:rPr lang="zh-CN" sz="1200" dirty="0">
                  <a:solidFill>
                    <a:srgbClr val="596579"/>
                  </a:solidFill>
                  <a:latin typeface="Arial"/>
                  <a:ea typeface="Microsoft YaHei"/>
                  <a:cs typeface="Arial"/>
                </a:rPr>
                <a:t>June revenue vs. January</a:t>
              </a:r>
            </a:p>
          </p:txBody>
        </p:sp>
        <p:sp>
          <p:nvSpPr>
            <p:cNvPr id="43" name="Line 43"/>
            <p:cNvSpPr/>
            <p:nvPr/>
          </p:nvSpPr>
          <p:spPr>
            <a:xfrm>
              <a:off x="9772650" y="3409950"/>
              <a:ext cx="1485900" cy="9525"/>
            </a:xfrm>
            <a:custGeom>
              <a:avLst/>
              <a:gdLst/>
              <a:ahLst/>
              <a:cxnLst/>
              <a:rect l="l" t="t" r="r" b="b"/>
              <a:pathLst>
                <a:path w="1485900" h="9525">
                  <a:moveTo>
                    <a:pt x="0" y="0"/>
                  </a:moveTo>
                  <a:lnTo>
                    <a:pt x="1485900" y="0"/>
                  </a:lnTo>
                </a:path>
              </a:pathLst>
            </a:custGeom>
            <a:noFill/>
            <a:ln w="9525">
              <a:solidFill>
                <a:srgbClr val="D9E1EA"/>
              </a:solidFill>
            </a:ln>
          </p:spPr>
        </p:sp>
        <p:sp>
          <p:nvSpPr>
            <p:cNvPr id="44" name="TextBox 44"/>
            <p:cNvSpPr txBox="1"/>
            <p:nvPr/>
          </p:nvSpPr>
          <p:spPr>
            <a:xfrm>
              <a:off x="9759315" y="3620452"/>
              <a:ext cx="1104805" cy="213360"/>
            </a:xfrm>
            <a:prstGeom prst="rect">
              <a:avLst/>
            </a:prstGeom>
            <a:noFill/>
            <a:ln>
              <a:noFill/>
            </a:ln>
          </p:spPr>
          <p:txBody>
            <a:bodyPr wrap="none" lIns="0" tIns="0" rIns="0" bIns="0" anchor="t" anchorCtr="0">
              <a:spAutoFit/>
            </a:bodyPr>
            <a:lstStyle/>
            <a:p>
              <a:pPr algn="l"/>
              <a:r>
                <a:rPr lang="zh-CN" sz="1050" dirty="0">
                  <a:solidFill>
                    <a:srgbClr val="596579"/>
                  </a:solidFill>
                  <a:latin typeface="Arial"/>
                  <a:ea typeface="Microsoft YaHei"/>
                  <a:cs typeface="Arial"/>
                </a:rPr>
                <a:t>May to Jun adds</a:t>
              </a:r>
            </a:p>
          </p:txBody>
        </p:sp>
        <p:sp>
          <p:nvSpPr>
            <p:cNvPr id="45" name="TextBox 45"/>
            <p:cNvSpPr txBox="1"/>
            <p:nvPr/>
          </p:nvSpPr>
          <p:spPr>
            <a:xfrm>
              <a:off x="9744075" y="3795712"/>
              <a:ext cx="1096780" cy="457200"/>
            </a:xfrm>
            <a:prstGeom prst="rect">
              <a:avLst/>
            </a:prstGeom>
            <a:noFill/>
            <a:ln>
              <a:noFill/>
            </a:ln>
          </p:spPr>
          <p:txBody>
            <a:bodyPr wrap="none" lIns="0" tIns="0" rIns="0" bIns="0" anchor="t" anchorCtr="0">
              <a:spAutoFit/>
            </a:bodyPr>
            <a:lstStyle/>
            <a:p>
              <a:pPr algn="l"/>
              <a:r>
                <a:rPr lang="zh-CN" sz="2250" b="1" dirty="0">
                  <a:solidFill>
                    <a:srgbClr val="14A38B"/>
                  </a:solidFill>
                  <a:latin typeface="Georgia"/>
                  <a:ea typeface="Microsoft YaHei"/>
                  <a:cs typeface="Georgia"/>
                </a:rPr>
                <a:t>$78.1K</a:t>
              </a:r>
            </a:p>
          </p:txBody>
        </p:sp>
        <p:sp>
          <p:nvSpPr>
            <p:cNvPr id="46" name="TextBox 46"/>
            <p:cNvSpPr txBox="1"/>
            <p:nvPr/>
          </p:nvSpPr>
          <p:spPr>
            <a:xfrm>
              <a:off x="9759315" y="4344352"/>
              <a:ext cx="1874901" cy="213360"/>
            </a:xfrm>
            <a:prstGeom prst="rect">
              <a:avLst/>
            </a:prstGeom>
            <a:noFill/>
            <a:ln>
              <a:noFill/>
            </a:ln>
          </p:spPr>
          <p:txBody>
            <a:bodyPr wrap="none" lIns="0" tIns="0" rIns="0" bIns="0" anchor="t" anchorCtr="0">
              <a:spAutoFit/>
            </a:bodyPr>
            <a:lstStyle/>
            <a:p>
              <a:pPr algn="l"/>
              <a:r>
                <a:rPr lang="zh-CN" sz="1050" dirty="0">
                  <a:solidFill>
                    <a:srgbClr val="596579"/>
                  </a:solidFill>
                  <a:latin typeface="Arial"/>
                  <a:ea typeface="Microsoft YaHei"/>
                  <a:cs typeface="Arial"/>
                </a:rPr>
                <a:t>No forecast months added;</a:t>
              </a:r>
            </a:p>
          </p:txBody>
        </p:sp>
        <p:sp>
          <p:nvSpPr>
            <p:cNvPr id="47" name="TextBox 47"/>
            <p:cNvSpPr txBox="1"/>
            <p:nvPr/>
          </p:nvSpPr>
          <p:spPr>
            <a:xfrm>
              <a:off x="9759315" y="4553902"/>
              <a:ext cx="1937909" cy="213360"/>
            </a:xfrm>
            <a:prstGeom prst="rect">
              <a:avLst/>
            </a:prstGeom>
            <a:noFill/>
            <a:ln>
              <a:noFill/>
            </a:ln>
          </p:spPr>
          <p:txBody>
            <a:bodyPr wrap="none" lIns="0" tIns="0" rIns="0" bIns="0" anchor="t" anchorCtr="0">
              <a:spAutoFit/>
            </a:bodyPr>
            <a:lstStyle/>
            <a:p>
              <a:pPr algn="l"/>
              <a:r>
                <a:rPr lang="zh-CN" sz="1050" dirty="0">
                  <a:solidFill>
                    <a:srgbClr val="596579"/>
                  </a:solidFill>
                  <a:latin typeface="Arial"/>
                  <a:ea typeface="Microsoft YaHei"/>
                  <a:cs typeface="Arial"/>
                </a:rPr>
                <a:t>this is source-only H1 data.</a:t>
              </a:r>
            </a:p>
          </p:txBody>
        </p:sp>
      </p:grpSp>
      <p:grpSp>
        <p:nvGrpSpPr>
          <p:cNvPr id="51" name="Group 51"/>
          <p:cNvGrpSpPr/>
          <p:nvPr/>
        </p:nvGrpSpPr>
        <p:grpSpPr>
          <a:xfrm>
            <a:off x="712470" y="6075045"/>
            <a:ext cx="10884694" cy="335280"/>
            <a:chOff x="712470" y="6075045"/>
            <a:chExt cx="10884694" cy="335280"/>
          </a:xfrm>
        </p:grpSpPr>
        <p:sp>
          <p:nvSpPr>
            <p:cNvPr id="49" name="TextBox 49"/>
            <p:cNvSpPr txBox="1"/>
            <p:nvPr/>
          </p:nvSpPr>
          <p:spPr>
            <a:xfrm>
              <a:off x="712470" y="6075045"/>
              <a:ext cx="4337685" cy="335280"/>
            </a:xfrm>
            <a:prstGeom prst="rect">
              <a:avLst/>
            </a:prstGeom>
            <a:noFill/>
            <a:ln>
              <a:noFill/>
            </a:ln>
          </p:spPr>
          <p:txBody>
            <a:bodyPr wrap="square" lIns="0" tIns="0" rIns="0" bIns="0" anchor="t" anchorCtr="0"/>
            <a:lstStyle/>
            <a:p>
              <a:pPr algn="l">
                <a:lnSpc>
                  <a:spcPts val="1200"/>
                </a:lnSpc>
              </a:pPr>
              <a:r>
                <a:rPr lang="zh-CN" sz="900" dirty="0">
                  <a:solidFill>
                    <a:srgbClr val="8A94A6"/>
                  </a:solidFill>
                  <a:latin typeface="Arial"/>
                  <a:ea typeface="Microsoft YaHei"/>
                  <a:cs typeface="Arial"/>
                </a:rPr>
                <a:t xml:space="preserve">Source: product_growth_metrics_q1_q2_2026.csv </a:t>
              </a:r>
              <a:r>
                <a:rPr lang="zh-CN" sz="900" dirty="0">
                  <a:solidFill>
                    <a:srgbClr val="8A94A6"/>
                  </a:solidFill>
                  <a:latin typeface="Arial"/>
                  <a:ea typeface="Microsoft YaHei"/>
                  <a:cs typeface="Arial"/>
                </a:rPr>
                <a:t>Monthly revenue_usd sums: 100550, 122100, 158750, 205450, 271600, 349675</a:t>
              </a:r>
            </a:p>
          </p:txBody>
        </p:sp>
        <p:sp>
          <p:nvSpPr>
            <p:cNvPr id="50" name="TextBox 50"/>
            <p:cNvSpPr txBox="1"/>
            <p:nvPr/>
          </p:nvSpPr>
          <p:spPr>
            <a:xfrm>
              <a:off x="11304270" y="6132195"/>
              <a:ext cx="292894" cy="182880"/>
            </a:xfrm>
            <a:prstGeom prst="rect">
              <a:avLst/>
            </a:prstGeom>
            <a:noFill/>
            <a:ln>
              <a:noFill/>
            </a:ln>
          </p:spPr>
          <p:txBody>
            <a:bodyPr wrap="none" lIns="0" tIns="0" rIns="0" bIns="0" anchor="t" anchorCtr="0">
              <a:spAutoFit/>
            </a:bodyPr>
            <a:lstStyle/>
            <a:p>
              <a:pPr algn="l"/>
              <a:r>
                <a:rPr lang="zh-CN" sz="900" dirty="0">
                  <a:solidFill>
                    <a:srgbClr val="8A94A6"/>
                  </a:solidFill>
                  <a:latin typeface="Arial"/>
                  <a:ea typeface="Microsoft YaHei"/>
                  <a:cs typeface="Arial"/>
                </a:rPr>
                <a:t>3 / 7</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left)">
                                      <p:cBhvr>
                                        <p:cTn id="7" dur="400"/>
                                        <p:tgtEl>
                                          <p:spTgt spid="38"/>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fade">
                                      <p:cBhvr>
                                        <p:cTn id="11" dur="4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4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7F8FA"/>
            </a:solidFill>
            <a:ln>
              <a:noFill/>
            </a:ln>
          </p:spPr>
        </p:sp>
        <p:sp>
          <p:nvSpPr>
            <p:cNvPr id="3" name="Rectangle 3"/>
            <p:cNvSpPr/>
            <p:nvPr/>
          </p:nvSpPr>
          <p:spPr>
            <a:xfrm>
              <a:off x="495300" y="400050"/>
              <a:ext cx="11201400" cy="6057900"/>
            </a:xfrm>
            <a:prstGeom prst="roundRect">
              <a:avLst>
                <a:gd name="adj" fmla="val 1572"/>
              </a:avLst>
            </a:prstGeom>
            <a:solidFill>
              <a:srgbClr val="FFFFFF"/>
            </a:solidFill>
            <a:ln w="9525">
              <a:solidFill>
                <a:srgbClr val="D9E1EA"/>
              </a:solidFill>
            </a:ln>
          </p:spPr>
        </p:sp>
      </p:grpSp>
      <p:grpSp>
        <p:nvGrpSpPr>
          <p:cNvPr id="9" name="Group 9"/>
          <p:cNvGrpSpPr/>
          <p:nvPr/>
        </p:nvGrpSpPr>
        <p:grpSpPr>
          <a:xfrm>
            <a:off x="691515" y="645795"/>
            <a:ext cx="10776585" cy="1059180"/>
            <a:chOff x="691515" y="645795"/>
            <a:chExt cx="10776585" cy="1059180"/>
          </a:xfrm>
        </p:grpSpPr>
        <p:sp>
          <p:nvSpPr>
            <p:cNvPr id="5" name="TextBox 5"/>
            <p:cNvSpPr txBox="1"/>
            <p:nvPr/>
          </p:nvSpPr>
          <p:spPr>
            <a:xfrm>
              <a:off x="712470" y="645795"/>
              <a:ext cx="1211008" cy="182880"/>
            </a:xfrm>
            <a:prstGeom prst="rect">
              <a:avLst/>
            </a:prstGeom>
            <a:noFill/>
            <a:ln>
              <a:noFill/>
            </a:ln>
          </p:spPr>
          <p:txBody>
            <a:bodyPr wrap="none" lIns="0" tIns="0" rIns="0" bIns="0" anchor="t" anchorCtr="0">
              <a:spAutoFit/>
            </a:bodyPr>
            <a:lstStyle/>
            <a:p>
              <a:pPr algn="l"/>
              <a:r>
                <a:rPr lang="zh-CN" sz="900" dirty="0">
                  <a:solidFill>
                    <a:srgbClr val="596579"/>
                  </a:solidFill>
                  <a:latin typeface="Arial"/>
                  <a:ea typeface="Microsoft YaHei"/>
                  <a:cs typeface="Arial"/>
                </a:rPr>
                <a:t>CHANNEL REVENUE MIX</a:t>
              </a:r>
            </a:p>
          </p:txBody>
        </p:sp>
        <p:sp>
          <p:nvSpPr>
            <p:cNvPr id="6" name="TextBox 6"/>
            <p:cNvSpPr txBox="1"/>
            <p:nvPr/>
          </p:nvSpPr>
          <p:spPr>
            <a:xfrm>
              <a:off x="691515" y="905828"/>
              <a:ext cx="8955181" cy="518160"/>
            </a:xfrm>
            <a:prstGeom prst="rect">
              <a:avLst/>
            </a:prstGeom>
            <a:noFill/>
            <a:ln>
              <a:noFill/>
            </a:ln>
          </p:spPr>
          <p:txBody>
            <a:bodyPr wrap="none" lIns="0" tIns="0" rIns="0" bIns="0" anchor="t" anchorCtr="0">
              <a:spAutoFit/>
            </a:bodyPr>
            <a:lstStyle/>
            <a:p>
              <a:pPr algn="l"/>
              <a:r>
                <a:rPr lang="zh-CN" sz="2550" b="1" dirty="0">
                  <a:solidFill>
                    <a:srgbClr val="172033"/>
                  </a:solidFill>
                  <a:latin typeface="Georgia"/>
                  <a:ea typeface="Microsoft YaHei"/>
                  <a:cs typeface="Georgia"/>
                </a:rPr>
                <a:t>Search and Referral account for 60% of H1 revenue</a:t>
              </a:r>
            </a:p>
          </p:txBody>
        </p:sp>
        <p:sp>
          <p:nvSpPr>
            <p:cNvPr id="7" name="TextBox 7"/>
            <p:cNvSpPr txBox="1"/>
            <p:nvPr/>
          </p:nvSpPr>
          <p:spPr>
            <a:xfrm>
              <a:off x="706755" y="1349692"/>
              <a:ext cx="8531352" cy="274320"/>
            </a:xfrm>
            <a:prstGeom prst="rect">
              <a:avLst/>
            </a:prstGeom>
            <a:noFill/>
            <a:ln>
              <a:noFill/>
            </a:ln>
          </p:spPr>
          <p:txBody>
            <a:bodyPr wrap="none" lIns="0" tIns="0" rIns="0" bIns="0" anchor="t" anchorCtr="0">
              <a:spAutoFit/>
            </a:bodyPr>
            <a:lstStyle/>
            <a:p>
              <a:pPr algn="l"/>
              <a:r>
                <a:rPr lang="zh-CN" sz="1350" dirty="0">
                  <a:solidFill>
                    <a:srgbClr val="596579"/>
                  </a:solidFill>
                  <a:latin typeface="Arial"/>
                  <a:ea typeface="Microsoft YaHei"/>
                  <a:cs typeface="Arial"/>
                </a:rPr>
                <a:t>Revenue composition is source-aggregated by month and channel; no forecast months are added.</a:t>
              </a:r>
            </a:p>
          </p:txBody>
        </p:sp>
        <p:sp>
          <p:nvSpPr>
            <p:cNvPr id="8" name="Line 8"/>
            <p:cNvSpPr/>
            <p:nvPr/>
          </p:nvSpPr>
          <p:spPr>
            <a:xfrm>
              <a:off x="723900" y="1695450"/>
              <a:ext cx="10744200" cy="9525"/>
            </a:xfrm>
            <a:custGeom>
              <a:avLst/>
              <a:gdLst/>
              <a:ahLst/>
              <a:cxnLst/>
              <a:rect l="l" t="t" r="r" b="b"/>
              <a:pathLst>
                <a:path w="10744200" h="9525">
                  <a:moveTo>
                    <a:pt x="0" y="0"/>
                  </a:moveTo>
                  <a:lnTo>
                    <a:pt x="10744200" y="0"/>
                  </a:lnTo>
                </a:path>
              </a:pathLst>
            </a:custGeom>
            <a:noFill/>
            <a:ln w="9525">
              <a:solidFill>
                <a:srgbClr val="D9E1EA"/>
              </a:solidFill>
            </a:ln>
          </p:spPr>
        </p:sp>
      </p:grpSp>
      <p:grpSp>
        <p:nvGrpSpPr>
          <p:cNvPr id="52" name="Group 52"/>
          <p:cNvGrpSpPr/>
          <p:nvPr/>
        </p:nvGrpSpPr>
        <p:grpSpPr>
          <a:xfrm>
            <a:off x="723900" y="2000250"/>
            <a:ext cx="7429500" cy="3752850"/>
            <a:chOff x="723900" y="2000250"/>
            <a:chExt cx="7429500" cy="3752850"/>
          </a:xfrm>
        </p:grpSpPr>
        <p:sp>
          <p:nvSpPr>
            <p:cNvPr id="10" name="Rectangle 10"/>
            <p:cNvSpPr/>
            <p:nvPr/>
          </p:nvSpPr>
          <p:spPr>
            <a:xfrm>
              <a:off x="723900" y="2000250"/>
              <a:ext cx="7429500" cy="3752850"/>
            </a:xfrm>
            <a:prstGeom prst="roundRect">
              <a:avLst>
                <a:gd name="adj" fmla="val 2030"/>
              </a:avLst>
            </a:prstGeom>
            <a:solidFill>
              <a:srgbClr val="FFFFFF"/>
            </a:solidFill>
            <a:ln w="9525">
              <a:solidFill>
                <a:srgbClr val="D9E1EA"/>
              </a:solidFill>
            </a:ln>
          </p:spPr>
        </p:sp>
        <p:sp>
          <p:nvSpPr>
            <p:cNvPr id="11" name="TextBox 11"/>
            <p:cNvSpPr txBox="1"/>
            <p:nvPr/>
          </p:nvSpPr>
          <p:spPr>
            <a:xfrm>
              <a:off x="1035368" y="2199799"/>
              <a:ext cx="2072521" cy="198120"/>
            </a:xfrm>
            <a:prstGeom prst="rect">
              <a:avLst/>
            </a:prstGeom>
            <a:noFill/>
            <a:ln>
              <a:noFill/>
            </a:ln>
          </p:spPr>
          <p:txBody>
            <a:bodyPr wrap="none" lIns="0" tIns="0" rIns="0" bIns="0" anchor="t" anchorCtr="0">
              <a:spAutoFit/>
            </a:bodyPr>
            <a:lstStyle/>
            <a:p>
              <a:pPr algn="l"/>
              <a:r>
                <a:rPr lang="zh-CN" sz="975" dirty="0">
                  <a:solidFill>
                    <a:srgbClr val="596579"/>
                  </a:solidFill>
                  <a:latin typeface="Arial"/>
                  <a:ea typeface="Microsoft YaHei"/>
                  <a:cs typeface="Arial"/>
                </a:rPr>
                <a:t>Monthly revenue by channel, USD</a:t>
              </a:r>
            </a:p>
          </p:txBody>
        </p:sp>
        <p:grpSp>
          <p:nvGrpSpPr>
            <p:cNvPr id="41" name="Group 41"/>
            <p:cNvGrpSpPr/>
            <p:nvPr/>
          </p:nvGrpSpPr>
          <p:grpSpPr>
            <a:xfrm>
              <a:off x="1238250" y="2266950"/>
              <a:ext cx="6581775" cy="3076575"/>
              <a:chOff x="1238250" y="2266950"/>
              <a:chExt cx="6581775" cy="3076575"/>
            </a:xfrm>
          </p:grpSpPr>
          <p:sp>
            <p:nvSpPr>
              <p:cNvPr id="12" name="Line 12"/>
              <p:cNvSpPr/>
              <p:nvPr/>
            </p:nvSpPr>
            <p:spPr>
              <a:xfrm>
                <a:off x="1238250" y="2266950"/>
                <a:ext cx="6572250" cy="9525"/>
              </a:xfrm>
              <a:custGeom>
                <a:avLst/>
                <a:gdLst/>
                <a:ahLst/>
                <a:cxnLst/>
                <a:rect l="l" t="t" r="r" b="b"/>
                <a:pathLst>
                  <a:path w="6572250" h="9525">
                    <a:moveTo>
                      <a:pt x="0" y="0"/>
                    </a:moveTo>
                    <a:lnTo>
                      <a:pt x="6572250" y="0"/>
                    </a:lnTo>
                  </a:path>
                </a:pathLst>
              </a:custGeom>
              <a:noFill/>
              <a:ln w="9525">
                <a:solidFill>
                  <a:srgbClr val="E8EEF5"/>
                </a:solidFill>
              </a:ln>
            </p:spPr>
          </p:sp>
          <p:sp>
            <p:nvSpPr>
              <p:cNvPr id="13" name="Line 13"/>
              <p:cNvSpPr/>
              <p:nvPr/>
            </p:nvSpPr>
            <p:spPr>
              <a:xfrm>
                <a:off x="1238250" y="3286125"/>
                <a:ext cx="6572250" cy="9525"/>
              </a:xfrm>
              <a:custGeom>
                <a:avLst/>
                <a:gdLst/>
                <a:ahLst/>
                <a:cxnLst/>
                <a:rect l="l" t="t" r="r" b="b"/>
                <a:pathLst>
                  <a:path w="6572250" h="9525">
                    <a:moveTo>
                      <a:pt x="0" y="0"/>
                    </a:moveTo>
                    <a:lnTo>
                      <a:pt x="6572250" y="0"/>
                    </a:lnTo>
                  </a:path>
                </a:pathLst>
              </a:custGeom>
              <a:noFill/>
              <a:ln w="9525">
                <a:solidFill>
                  <a:srgbClr val="E8EEF5"/>
                </a:solidFill>
              </a:ln>
            </p:spPr>
          </p:sp>
          <p:sp>
            <p:nvSpPr>
              <p:cNvPr id="14" name="Line 14"/>
              <p:cNvSpPr/>
              <p:nvPr/>
            </p:nvSpPr>
            <p:spPr>
              <a:xfrm>
                <a:off x="1238250" y="4305300"/>
                <a:ext cx="6572250" cy="9525"/>
              </a:xfrm>
              <a:custGeom>
                <a:avLst/>
                <a:gdLst/>
                <a:ahLst/>
                <a:cxnLst/>
                <a:rect l="l" t="t" r="r" b="b"/>
                <a:pathLst>
                  <a:path w="6572250" h="9525">
                    <a:moveTo>
                      <a:pt x="0" y="0"/>
                    </a:moveTo>
                    <a:lnTo>
                      <a:pt x="6572250" y="0"/>
                    </a:lnTo>
                  </a:path>
                </a:pathLst>
              </a:custGeom>
              <a:noFill/>
              <a:ln w="9525">
                <a:solidFill>
                  <a:srgbClr val="E8EEF5"/>
                </a:solidFill>
              </a:ln>
            </p:spPr>
          </p:sp>
          <p:sp>
            <p:nvSpPr>
              <p:cNvPr id="15" name="Line 15"/>
              <p:cNvSpPr/>
              <p:nvPr/>
            </p:nvSpPr>
            <p:spPr>
              <a:xfrm>
                <a:off x="1238250" y="5334000"/>
                <a:ext cx="6572250" cy="9525"/>
              </a:xfrm>
              <a:custGeom>
                <a:avLst/>
                <a:gdLst/>
                <a:ahLst/>
                <a:cxnLst/>
                <a:rect l="l" t="t" r="r" b="b"/>
                <a:pathLst>
                  <a:path w="6572250" h="9525">
                    <a:moveTo>
                      <a:pt x="0" y="0"/>
                    </a:moveTo>
                    <a:lnTo>
                      <a:pt x="6572250" y="0"/>
                    </a:lnTo>
                  </a:path>
                </a:pathLst>
              </a:custGeom>
              <a:noFill/>
              <a:ln w="9525">
                <a:solidFill>
                  <a:srgbClr val="D9E1EA"/>
                </a:solidFill>
              </a:ln>
            </p:spPr>
          </p:sp>
          <p:sp>
            <p:nvSpPr>
              <p:cNvPr id="16" name="Line 16"/>
              <p:cNvSpPr/>
              <p:nvPr/>
            </p:nvSpPr>
            <p:spPr>
              <a:xfrm>
                <a:off x="1238250" y="2266950"/>
                <a:ext cx="9525" cy="3067050"/>
              </a:xfrm>
              <a:custGeom>
                <a:avLst/>
                <a:gdLst/>
                <a:ahLst/>
                <a:cxnLst/>
                <a:rect l="l" t="t" r="r" b="b"/>
                <a:pathLst>
                  <a:path w="9525" h="3067050">
                    <a:moveTo>
                      <a:pt x="0" y="0"/>
                    </a:moveTo>
                    <a:lnTo>
                      <a:pt x="0" y="3067050"/>
                    </a:lnTo>
                  </a:path>
                </a:pathLst>
              </a:custGeom>
              <a:noFill/>
              <a:ln w="9525">
                <a:solidFill>
                  <a:srgbClr val="D9E1EA"/>
                </a:solidFill>
              </a:ln>
            </p:spPr>
          </p:sp>
          <p:sp>
            <p:nvSpPr>
              <p:cNvPr id="17" name="Rectangle 17"/>
              <p:cNvSpPr/>
              <p:nvPr/>
            </p:nvSpPr>
            <p:spPr>
              <a:xfrm>
                <a:off x="1323975" y="5188268"/>
                <a:ext cx="590550" cy="145732"/>
              </a:xfrm>
              <a:prstGeom prst="rect">
                <a:avLst/>
              </a:prstGeom>
              <a:solidFill>
                <a:srgbClr val="F59E0B"/>
              </a:solidFill>
              <a:ln>
                <a:noFill/>
              </a:ln>
            </p:spPr>
          </p:sp>
          <p:sp>
            <p:nvSpPr>
              <p:cNvPr id="18" name="Rectangle 18"/>
              <p:cNvSpPr/>
              <p:nvPr/>
            </p:nvSpPr>
            <p:spPr>
              <a:xfrm>
                <a:off x="1323975" y="4942522"/>
                <a:ext cx="590550" cy="245745"/>
              </a:xfrm>
              <a:prstGeom prst="rect">
                <a:avLst/>
              </a:prstGeom>
              <a:solidFill>
                <a:srgbClr val="14A38B"/>
              </a:solidFill>
              <a:ln>
                <a:noFill/>
              </a:ln>
            </p:spPr>
          </p:sp>
          <p:sp>
            <p:nvSpPr>
              <p:cNvPr id="19" name="Rectangle 19"/>
              <p:cNvSpPr/>
              <p:nvPr/>
            </p:nvSpPr>
            <p:spPr>
              <a:xfrm>
                <a:off x="1323975" y="4771072"/>
                <a:ext cx="590550" cy="171450"/>
              </a:xfrm>
              <a:prstGeom prst="rect">
                <a:avLst/>
              </a:prstGeom>
              <a:solidFill>
                <a:srgbClr val="C2410C">
                  <a:alpha val="75000"/>
                </a:srgbClr>
              </a:solidFill>
              <a:ln>
                <a:noFill/>
              </a:ln>
            </p:spPr>
          </p:sp>
          <p:sp>
            <p:nvSpPr>
              <p:cNvPr id="20" name="Rectangle 20"/>
              <p:cNvSpPr/>
              <p:nvPr/>
            </p:nvSpPr>
            <p:spPr>
              <a:xfrm>
                <a:off x="1323975" y="4476750"/>
                <a:ext cx="590550" cy="294322"/>
              </a:xfrm>
              <a:prstGeom prst="rect">
                <a:avLst/>
              </a:prstGeom>
              <a:solidFill>
                <a:srgbClr val="2F80ED"/>
              </a:solidFill>
              <a:ln>
                <a:noFill/>
              </a:ln>
            </p:spPr>
          </p:sp>
          <p:sp>
            <p:nvSpPr>
              <p:cNvPr id="21" name="Rectangle 21"/>
              <p:cNvSpPr/>
              <p:nvPr/>
            </p:nvSpPr>
            <p:spPr>
              <a:xfrm>
                <a:off x="2505075" y="5160645"/>
                <a:ext cx="590550" cy="173355"/>
              </a:xfrm>
              <a:prstGeom prst="rect">
                <a:avLst/>
              </a:prstGeom>
              <a:solidFill>
                <a:srgbClr val="F59E0B"/>
              </a:solidFill>
              <a:ln>
                <a:noFill/>
              </a:ln>
            </p:spPr>
          </p:sp>
          <p:sp>
            <p:nvSpPr>
              <p:cNvPr id="22" name="Rectangle 22"/>
              <p:cNvSpPr/>
              <p:nvPr/>
            </p:nvSpPr>
            <p:spPr>
              <a:xfrm>
                <a:off x="2505075" y="4863465"/>
                <a:ext cx="590550" cy="297180"/>
              </a:xfrm>
              <a:prstGeom prst="rect">
                <a:avLst/>
              </a:prstGeom>
              <a:solidFill>
                <a:srgbClr val="14A38B"/>
              </a:solidFill>
              <a:ln>
                <a:noFill/>
              </a:ln>
            </p:spPr>
          </p:sp>
          <p:sp>
            <p:nvSpPr>
              <p:cNvPr id="23" name="Rectangle 23"/>
              <p:cNvSpPr/>
              <p:nvPr/>
            </p:nvSpPr>
            <p:spPr>
              <a:xfrm>
                <a:off x="2505075" y="4636770"/>
                <a:ext cx="590550" cy="226695"/>
              </a:xfrm>
              <a:prstGeom prst="rect">
                <a:avLst/>
              </a:prstGeom>
              <a:solidFill>
                <a:srgbClr val="C2410C">
                  <a:alpha val="75000"/>
                </a:srgbClr>
              </a:solidFill>
              <a:ln>
                <a:noFill/>
              </a:ln>
            </p:spPr>
          </p:sp>
          <p:sp>
            <p:nvSpPr>
              <p:cNvPr id="24" name="Rectangle 24"/>
              <p:cNvSpPr/>
              <p:nvPr/>
            </p:nvSpPr>
            <p:spPr>
              <a:xfrm>
                <a:off x="2505075" y="4293870"/>
                <a:ext cx="590550" cy="342900"/>
              </a:xfrm>
              <a:prstGeom prst="rect">
                <a:avLst/>
              </a:prstGeom>
              <a:solidFill>
                <a:srgbClr val="2F80ED"/>
              </a:solidFill>
              <a:ln>
                <a:noFill/>
              </a:ln>
            </p:spPr>
          </p:sp>
          <p:sp>
            <p:nvSpPr>
              <p:cNvPr id="25" name="Rectangle 25"/>
              <p:cNvSpPr/>
              <p:nvPr/>
            </p:nvSpPr>
            <p:spPr>
              <a:xfrm>
                <a:off x="3686175" y="5093018"/>
                <a:ext cx="590550" cy="240982"/>
              </a:xfrm>
              <a:prstGeom prst="rect">
                <a:avLst/>
              </a:prstGeom>
              <a:solidFill>
                <a:srgbClr val="F59E0B"/>
              </a:solidFill>
              <a:ln>
                <a:noFill/>
              </a:ln>
            </p:spPr>
          </p:sp>
          <p:sp>
            <p:nvSpPr>
              <p:cNvPr id="26" name="Rectangle 26"/>
              <p:cNvSpPr/>
              <p:nvPr/>
            </p:nvSpPr>
            <p:spPr>
              <a:xfrm>
                <a:off x="3686175" y="4707255"/>
                <a:ext cx="590550" cy="385762"/>
              </a:xfrm>
              <a:prstGeom prst="rect">
                <a:avLst/>
              </a:prstGeom>
              <a:solidFill>
                <a:srgbClr val="14A38B"/>
              </a:solidFill>
              <a:ln>
                <a:noFill/>
              </a:ln>
            </p:spPr>
          </p:sp>
          <p:sp>
            <p:nvSpPr>
              <p:cNvPr id="27" name="Rectangle 27"/>
              <p:cNvSpPr/>
              <p:nvPr/>
            </p:nvSpPr>
            <p:spPr>
              <a:xfrm>
                <a:off x="3686175" y="4419600"/>
                <a:ext cx="590550" cy="287655"/>
              </a:xfrm>
              <a:prstGeom prst="rect">
                <a:avLst/>
              </a:prstGeom>
              <a:solidFill>
                <a:srgbClr val="C2410C">
                  <a:alpha val="75000"/>
                </a:srgbClr>
              </a:solidFill>
              <a:ln>
                <a:noFill/>
              </a:ln>
            </p:spPr>
          </p:sp>
          <p:sp>
            <p:nvSpPr>
              <p:cNvPr id="28" name="Rectangle 28"/>
              <p:cNvSpPr/>
              <p:nvPr/>
            </p:nvSpPr>
            <p:spPr>
              <a:xfrm>
                <a:off x="3686175" y="3981450"/>
                <a:ext cx="590550" cy="438150"/>
              </a:xfrm>
              <a:prstGeom prst="rect">
                <a:avLst/>
              </a:prstGeom>
              <a:solidFill>
                <a:srgbClr val="2F80ED"/>
              </a:solidFill>
              <a:ln>
                <a:noFill/>
              </a:ln>
            </p:spPr>
          </p:sp>
          <p:sp>
            <p:nvSpPr>
              <p:cNvPr id="29" name="Rectangle 29"/>
              <p:cNvSpPr/>
              <p:nvPr/>
            </p:nvSpPr>
            <p:spPr>
              <a:xfrm>
                <a:off x="4867275" y="5012055"/>
                <a:ext cx="590550" cy="321945"/>
              </a:xfrm>
              <a:prstGeom prst="rect">
                <a:avLst/>
              </a:prstGeom>
              <a:solidFill>
                <a:srgbClr val="F59E0B"/>
              </a:solidFill>
              <a:ln>
                <a:noFill/>
              </a:ln>
            </p:spPr>
          </p:sp>
          <p:sp>
            <p:nvSpPr>
              <p:cNvPr id="30" name="Rectangle 30"/>
              <p:cNvSpPr/>
              <p:nvPr/>
            </p:nvSpPr>
            <p:spPr>
              <a:xfrm>
                <a:off x="4867275" y="4500562"/>
                <a:ext cx="590550" cy="511492"/>
              </a:xfrm>
              <a:prstGeom prst="rect">
                <a:avLst/>
              </a:prstGeom>
              <a:solidFill>
                <a:srgbClr val="14A38B"/>
              </a:solidFill>
              <a:ln>
                <a:noFill/>
              </a:ln>
            </p:spPr>
          </p:sp>
          <p:sp>
            <p:nvSpPr>
              <p:cNvPr id="31" name="Rectangle 31"/>
              <p:cNvSpPr/>
              <p:nvPr/>
            </p:nvSpPr>
            <p:spPr>
              <a:xfrm>
                <a:off x="4867275" y="4134802"/>
                <a:ext cx="590550" cy="365760"/>
              </a:xfrm>
              <a:prstGeom prst="rect">
                <a:avLst/>
              </a:prstGeom>
              <a:solidFill>
                <a:srgbClr val="C2410C">
                  <a:alpha val="75000"/>
                </a:srgbClr>
              </a:solidFill>
              <a:ln>
                <a:noFill/>
              </a:ln>
            </p:spPr>
          </p:sp>
          <p:sp>
            <p:nvSpPr>
              <p:cNvPr id="32" name="Rectangle 32"/>
              <p:cNvSpPr/>
              <p:nvPr/>
            </p:nvSpPr>
            <p:spPr>
              <a:xfrm>
                <a:off x="4867275" y="3583305"/>
                <a:ext cx="590550" cy="551498"/>
              </a:xfrm>
              <a:prstGeom prst="rect">
                <a:avLst/>
              </a:prstGeom>
              <a:solidFill>
                <a:srgbClr val="2F80ED"/>
              </a:solidFill>
              <a:ln>
                <a:noFill/>
              </a:ln>
            </p:spPr>
          </p:sp>
          <p:sp>
            <p:nvSpPr>
              <p:cNvPr id="33" name="Rectangle 33"/>
              <p:cNvSpPr/>
              <p:nvPr/>
            </p:nvSpPr>
            <p:spPr>
              <a:xfrm>
                <a:off x="6048375" y="4883468"/>
                <a:ext cx="590550" cy="450532"/>
              </a:xfrm>
              <a:prstGeom prst="rect">
                <a:avLst/>
              </a:prstGeom>
              <a:solidFill>
                <a:srgbClr val="F59E0B"/>
              </a:solidFill>
              <a:ln>
                <a:noFill/>
              </a:ln>
            </p:spPr>
          </p:sp>
          <p:sp>
            <p:nvSpPr>
              <p:cNvPr id="34" name="Rectangle 34"/>
              <p:cNvSpPr/>
              <p:nvPr/>
            </p:nvSpPr>
            <p:spPr>
              <a:xfrm>
                <a:off x="6048375" y="4218622"/>
                <a:ext cx="590550" cy="664845"/>
              </a:xfrm>
              <a:prstGeom prst="rect">
                <a:avLst/>
              </a:prstGeom>
              <a:solidFill>
                <a:srgbClr val="14A38B"/>
              </a:solidFill>
              <a:ln>
                <a:noFill/>
              </a:ln>
            </p:spPr>
          </p:sp>
          <p:sp>
            <p:nvSpPr>
              <p:cNvPr id="35" name="Rectangle 35"/>
              <p:cNvSpPr/>
              <p:nvPr/>
            </p:nvSpPr>
            <p:spPr>
              <a:xfrm>
                <a:off x="6048375" y="3716655"/>
                <a:ext cx="590550" cy="501968"/>
              </a:xfrm>
              <a:prstGeom prst="rect">
                <a:avLst/>
              </a:prstGeom>
              <a:solidFill>
                <a:srgbClr val="C2410C">
                  <a:alpha val="75000"/>
                </a:srgbClr>
              </a:solidFill>
              <a:ln>
                <a:noFill/>
              </a:ln>
            </p:spPr>
          </p:sp>
          <p:sp>
            <p:nvSpPr>
              <p:cNvPr id="36" name="Rectangle 36"/>
              <p:cNvSpPr/>
              <p:nvPr/>
            </p:nvSpPr>
            <p:spPr>
              <a:xfrm>
                <a:off x="6048375" y="3020378"/>
                <a:ext cx="590550" cy="696278"/>
              </a:xfrm>
              <a:prstGeom prst="rect">
                <a:avLst/>
              </a:prstGeom>
              <a:solidFill>
                <a:srgbClr val="2F80ED"/>
              </a:solidFill>
              <a:ln>
                <a:noFill/>
              </a:ln>
            </p:spPr>
          </p:sp>
          <p:sp>
            <p:nvSpPr>
              <p:cNvPr id="37" name="Rectangle 37"/>
              <p:cNvSpPr/>
              <p:nvPr/>
            </p:nvSpPr>
            <p:spPr>
              <a:xfrm>
                <a:off x="7229475" y="4751070"/>
                <a:ext cx="590550" cy="582930"/>
              </a:xfrm>
              <a:prstGeom prst="rect">
                <a:avLst/>
              </a:prstGeom>
              <a:solidFill>
                <a:srgbClr val="F59E0B"/>
              </a:solidFill>
              <a:ln>
                <a:noFill/>
              </a:ln>
            </p:spPr>
          </p:sp>
          <p:sp>
            <p:nvSpPr>
              <p:cNvPr id="38" name="Rectangle 38"/>
              <p:cNvSpPr/>
              <p:nvPr/>
            </p:nvSpPr>
            <p:spPr>
              <a:xfrm>
                <a:off x="7229475" y="3890962"/>
                <a:ext cx="590550" cy="860108"/>
              </a:xfrm>
              <a:prstGeom prst="rect">
                <a:avLst/>
              </a:prstGeom>
              <a:solidFill>
                <a:srgbClr val="14A38B"/>
              </a:solidFill>
              <a:ln>
                <a:noFill/>
              </a:ln>
            </p:spPr>
          </p:sp>
          <p:sp>
            <p:nvSpPr>
              <p:cNvPr id="39" name="Rectangle 39"/>
              <p:cNvSpPr/>
              <p:nvPr/>
            </p:nvSpPr>
            <p:spPr>
              <a:xfrm>
                <a:off x="7229475" y="3220402"/>
                <a:ext cx="590550" cy="670560"/>
              </a:xfrm>
              <a:prstGeom prst="rect">
                <a:avLst/>
              </a:prstGeom>
              <a:solidFill>
                <a:srgbClr val="C2410C">
                  <a:alpha val="75000"/>
                </a:srgbClr>
              </a:solidFill>
              <a:ln>
                <a:noFill/>
              </a:ln>
            </p:spPr>
          </p:sp>
          <p:sp>
            <p:nvSpPr>
              <p:cNvPr id="40" name="Rectangle 40"/>
              <p:cNvSpPr/>
              <p:nvPr/>
            </p:nvSpPr>
            <p:spPr>
              <a:xfrm>
                <a:off x="7229475" y="2355532"/>
                <a:ext cx="590550" cy="864870"/>
              </a:xfrm>
              <a:prstGeom prst="rect">
                <a:avLst/>
              </a:prstGeom>
              <a:solidFill>
                <a:srgbClr val="2F80ED"/>
              </a:solidFill>
              <a:ln>
                <a:noFill/>
              </a:ln>
            </p:spPr>
          </p:sp>
        </p:grpSp>
        <p:sp>
          <p:nvSpPr>
            <p:cNvPr id="42" name="TextBox 42"/>
            <p:cNvSpPr txBox="1"/>
            <p:nvPr/>
          </p:nvSpPr>
          <p:spPr>
            <a:xfrm>
              <a:off x="864870" y="2207895"/>
              <a:ext cx="352901" cy="182880"/>
            </a:xfrm>
            <a:prstGeom prst="rect">
              <a:avLst/>
            </a:prstGeom>
            <a:noFill/>
            <a:ln>
              <a:noFill/>
            </a:ln>
          </p:spPr>
          <p:txBody>
            <a:bodyPr wrap="none" lIns="0" tIns="0" rIns="0" bIns="0" anchor="t" anchorCtr="0">
              <a:spAutoFit/>
            </a:bodyPr>
            <a:lstStyle/>
            <a:p>
              <a:pPr algn="l"/>
              <a:r>
                <a:rPr lang="zh-CN" sz="900" dirty="0">
                  <a:solidFill>
                    <a:srgbClr val="8A94A6"/>
                  </a:solidFill>
                  <a:latin typeface="Arial"/>
                  <a:ea typeface="Microsoft YaHei"/>
                  <a:cs typeface="Arial"/>
                </a:rPr>
                <a:t>$360K</a:t>
              </a:r>
            </a:p>
          </p:txBody>
        </p:sp>
        <p:sp>
          <p:nvSpPr>
            <p:cNvPr id="43" name="TextBox 43"/>
            <p:cNvSpPr txBox="1"/>
            <p:nvPr/>
          </p:nvSpPr>
          <p:spPr>
            <a:xfrm>
              <a:off x="864870" y="3227070"/>
              <a:ext cx="352901" cy="182880"/>
            </a:xfrm>
            <a:prstGeom prst="rect">
              <a:avLst/>
            </a:prstGeom>
            <a:noFill/>
            <a:ln>
              <a:noFill/>
            </a:ln>
          </p:spPr>
          <p:txBody>
            <a:bodyPr wrap="none" lIns="0" tIns="0" rIns="0" bIns="0" anchor="t" anchorCtr="0">
              <a:spAutoFit/>
            </a:bodyPr>
            <a:lstStyle/>
            <a:p>
              <a:pPr algn="l"/>
              <a:r>
                <a:rPr lang="zh-CN" sz="900" dirty="0">
                  <a:solidFill>
                    <a:srgbClr val="8A94A6"/>
                  </a:solidFill>
                  <a:latin typeface="Arial"/>
                  <a:ea typeface="Microsoft YaHei"/>
                  <a:cs typeface="Arial"/>
                </a:rPr>
                <a:t>$240K</a:t>
              </a:r>
            </a:p>
          </p:txBody>
        </p:sp>
        <p:sp>
          <p:nvSpPr>
            <p:cNvPr id="44" name="TextBox 44"/>
            <p:cNvSpPr txBox="1"/>
            <p:nvPr/>
          </p:nvSpPr>
          <p:spPr>
            <a:xfrm>
              <a:off x="864870" y="4246245"/>
              <a:ext cx="352901" cy="182880"/>
            </a:xfrm>
            <a:prstGeom prst="rect">
              <a:avLst/>
            </a:prstGeom>
            <a:noFill/>
            <a:ln>
              <a:noFill/>
            </a:ln>
          </p:spPr>
          <p:txBody>
            <a:bodyPr wrap="none" lIns="0" tIns="0" rIns="0" bIns="0" anchor="t" anchorCtr="0">
              <a:spAutoFit/>
            </a:bodyPr>
            <a:lstStyle/>
            <a:p>
              <a:pPr algn="l"/>
              <a:r>
                <a:rPr lang="zh-CN" sz="900" dirty="0">
                  <a:solidFill>
                    <a:srgbClr val="8A94A6"/>
                  </a:solidFill>
                  <a:latin typeface="Arial"/>
                  <a:ea typeface="Microsoft YaHei"/>
                  <a:cs typeface="Arial"/>
                </a:rPr>
                <a:t>$120K</a:t>
              </a:r>
            </a:p>
          </p:txBody>
        </p:sp>
        <p:sp>
          <p:nvSpPr>
            <p:cNvPr id="45" name="TextBox 45"/>
            <p:cNvSpPr txBox="1"/>
            <p:nvPr/>
          </p:nvSpPr>
          <p:spPr>
            <a:xfrm>
              <a:off x="1055370" y="5274945"/>
              <a:ext cx="154877" cy="182880"/>
            </a:xfrm>
            <a:prstGeom prst="rect">
              <a:avLst/>
            </a:prstGeom>
            <a:noFill/>
            <a:ln>
              <a:noFill/>
            </a:ln>
          </p:spPr>
          <p:txBody>
            <a:bodyPr wrap="none" lIns="0" tIns="0" rIns="0" bIns="0" anchor="t" anchorCtr="0">
              <a:spAutoFit/>
            </a:bodyPr>
            <a:lstStyle/>
            <a:p>
              <a:pPr algn="l"/>
              <a:r>
                <a:rPr lang="zh-CN" sz="900" dirty="0">
                  <a:solidFill>
                    <a:srgbClr val="8A94A6"/>
                  </a:solidFill>
                  <a:latin typeface="Arial"/>
                  <a:ea typeface="Microsoft YaHei"/>
                  <a:cs typeface="Arial"/>
                </a:rPr>
                <a:t>$0</a:t>
              </a:r>
            </a:p>
          </p:txBody>
        </p:sp>
        <p:sp>
          <p:nvSpPr>
            <p:cNvPr id="46" name="TextBox 46"/>
            <p:cNvSpPr txBox="1"/>
            <p:nvPr/>
          </p:nvSpPr>
          <p:spPr>
            <a:xfrm>
              <a:off x="1444942" y="5466874"/>
              <a:ext cx="239292" cy="198120"/>
            </a:xfrm>
            <a:prstGeom prst="rect">
              <a:avLst/>
            </a:prstGeom>
            <a:noFill/>
            <a:ln>
              <a:noFill/>
            </a:ln>
          </p:spPr>
          <p:txBody>
            <a:bodyPr wrap="none" lIns="0" tIns="0" rIns="0" bIns="0" anchor="t" anchorCtr="0">
              <a:spAutoFit/>
            </a:bodyPr>
            <a:lstStyle/>
            <a:p>
              <a:pPr algn="l"/>
              <a:r>
                <a:rPr lang="zh-CN" sz="975" dirty="0">
                  <a:solidFill>
                    <a:srgbClr val="596579"/>
                  </a:solidFill>
                  <a:latin typeface="Arial"/>
                  <a:ea typeface="Microsoft YaHei"/>
                  <a:cs typeface="Arial"/>
                </a:rPr>
                <a:t>Jan</a:t>
              </a:r>
            </a:p>
          </p:txBody>
        </p:sp>
        <p:sp>
          <p:nvSpPr>
            <p:cNvPr id="47" name="TextBox 47"/>
            <p:cNvSpPr txBox="1"/>
            <p:nvPr/>
          </p:nvSpPr>
          <p:spPr>
            <a:xfrm>
              <a:off x="2626042" y="5466874"/>
              <a:ext cx="239292" cy="198120"/>
            </a:xfrm>
            <a:prstGeom prst="rect">
              <a:avLst/>
            </a:prstGeom>
            <a:noFill/>
            <a:ln>
              <a:noFill/>
            </a:ln>
          </p:spPr>
          <p:txBody>
            <a:bodyPr wrap="none" lIns="0" tIns="0" rIns="0" bIns="0" anchor="t" anchorCtr="0">
              <a:spAutoFit/>
            </a:bodyPr>
            <a:lstStyle/>
            <a:p>
              <a:pPr algn="l"/>
              <a:r>
                <a:rPr lang="zh-CN" sz="975" dirty="0">
                  <a:solidFill>
                    <a:srgbClr val="596579"/>
                  </a:solidFill>
                  <a:latin typeface="Arial"/>
                  <a:ea typeface="Microsoft YaHei"/>
                  <a:cs typeface="Arial"/>
                </a:rPr>
                <a:t>Feb</a:t>
              </a:r>
            </a:p>
          </p:txBody>
        </p:sp>
        <p:sp>
          <p:nvSpPr>
            <p:cNvPr id="48" name="TextBox 48"/>
            <p:cNvSpPr txBox="1"/>
            <p:nvPr/>
          </p:nvSpPr>
          <p:spPr>
            <a:xfrm>
              <a:off x="3807142" y="5466874"/>
              <a:ext cx="265295" cy="198120"/>
            </a:xfrm>
            <a:prstGeom prst="rect">
              <a:avLst/>
            </a:prstGeom>
            <a:noFill/>
            <a:ln>
              <a:noFill/>
            </a:ln>
          </p:spPr>
          <p:txBody>
            <a:bodyPr wrap="none" lIns="0" tIns="0" rIns="0" bIns="0" anchor="t" anchorCtr="0">
              <a:spAutoFit/>
            </a:bodyPr>
            <a:lstStyle/>
            <a:p>
              <a:pPr algn="l"/>
              <a:r>
                <a:rPr lang="zh-CN" sz="975" dirty="0">
                  <a:solidFill>
                    <a:srgbClr val="596579"/>
                  </a:solidFill>
                  <a:latin typeface="Arial"/>
                  <a:ea typeface="Microsoft YaHei"/>
                  <a:cs typeface="Arial"/>
                </a:rPr>
                <a:t>Mar</a:t>
              </a:r>
            </a:p>
          </p:txBody>
        </p:sp>
        <p:sp>
          <p:nvSpPr>
            <p:cNvPr id="49" name="TextBox 49"/>
            <p:cNvSpPr txBox="1"/>
            <p:nvPr/>
          </p:nvSpPr>
          <p:spPr>
            <a:xfrm>
              <a:off x="4988242" y="5466874"/>
              <a:ext cx="239292" cy="198120"/>
            </a:xfrm>
            <a:prstGeom prst="rect">
              <a:avLst/>
            </a:prstGeom>
            <a:noFill/>
            <a:ln>
              <a:noFill/>
            </a:ln>
          </p:spPr>
          <p:txBody>
            <a:bodyPr wrap="none" lIns="0" tIns="0" rIns="0" bIns="0" anchor="t" anchorCtr="0">
              <a:spAutoFit/>
            </a:bodyPr>
            <a:lstStyle/>
            <a:p>
              <a:pPr algn="l"/>
              <a:r>
                <a:rPr lang="zh-CN" sz="975" dirty="0">
                  <a:solidFill>
                    <a:srgbClr val="596579"/>
                  </a:solidFill>
                  <a:latin typeface="Arial"/>
                  <a:ea typeface="Microsoft YaHei"/>
                  <a:cs typeface="Arial"/>
                </a:rPr>
                <a:t>Apr</a:t>
              </a:r>
            </a:p>
          </p:txBody>
        </p:sp>
        <p:sp>
          <p:nvSpPr>
            <p:cNvPr id="50" name="TextBox 50"/>
            <p:cNvSpPr txBox="1"/>
            <p:nvPr/>
          </p:nvSpPr>
          <p:spPr>
            <a:xfrm>
              <a:off x="6169342" y="5466874"/>
              <a:ext cx="265295" cy="198120"/>
            </a:xfrm>
            <a:prstGeom prst="rect">
              <a:avLst/>
            </a:prstGeom>
            <a:noFill/>
            <a:ln>
              <a:noFill/>
            </a:ln>
          </p:spPr>
          <p:txBody>
            <a:bodyPr wrap="none" lIns="0" tIns="0" rIns="0" bIns="0" anchor="t" anchorCtr="0">
              <a:spAutoFit/>
            </a:bodyPr>
            <a:lstStyle/>
            <a:p>
              <a:pPr algn="l"/>
              <a:r>
                <a:rPr lang="zh-CN" sz="975" dirty="0">
                  <a:solidFill>
                    <a:srgbClr val="596579"/>
                  </a:solidFill>
                  <a:latin typeface="Arial"/>
                  <a:ea typeface="Microsoft YaHei"/>
                  <a:cs typeface="Arial"/>
                </a:rPr>
                <a:t>May</a:t>
              </a:r>
            </a:p>
          </p:txBody>
        </p:sp>
        <p:sp>
          <p:nvSpPr>
            <p:cNvPr id="51" name="TextBox 51"/>
            <p:cNvSpPr txBox="1"/>
            <p:nvPr/>
          </p:nvSpPr>
          <p:spPr>
            <a:xfrm>
              <a:off x="7350442" y="5466874"/>
              <a:ext cx="239292" cy="198120"/>
            </a:xfrm>
            <a:prstGeom prst="rect">
              <a:avLst/>
            </a:prstGeom>
            <a:noFill/>
            <a:ln>
              <a:noFill/>
            </a:ln>
          </p:spPr>
          <p:txBody>
            <a:bodyPr wrap="none" lIns="0" tIns="0" rIns="0" bIns="0" anchor="t" anchorCtr="0">
              <a:spAutoFit/>
            </a:bodyPr>
            <a:lstStyle/>
            <a:p>
              <a:pPr algn="l"/>
              <a:r>
                <a:rPr lang="zh-CN" sz="975" dirty="0">
                  <a:solidFill>
                    <a:srgbClr val="596579"/>
                  </a:solidFill>
                  <a:latin typeface="Arial"/>
                  <a:ea typeface="Microsoft YaHei"/>
                  <a:cs typeface="Arial"/>
                </a:rPr>
                <a:t>Jun</a:t>
              </a:r>
            </a:p>
          </p:txBody>
        </p:sp>
      </p:grpSp>
      <p:grpSp>
        <p:nvGrpSpPr>
          <p:cNvPr id="76" name="Group 76"/>
          <p:cNvGrpSpPr/>
          <p:nvPr/>
        </p:nvGrpSpPr>
        <p:grpSpPr>
          <a:xfrm>
            <a:off x="8420100" y="2000250"/>
            <a:ext cx="3644360" cy="3752850"/>
            <a:chOff x="8420100" y="2000250"/>
            <a:chExt cx="3644360" cy="3752850"/>
          </a:xfrm>
        </p:grpSpPr>
        <p:sp>
          <p:nvSpPr>
            <p:cNvPr id="53" name="Rectangle 53"/>
            <p:cNvSpPr/>
            <p:nvPr/>
          </p:nvSpPr>
          <p:spPr>
            <a:xfrm>
              <a:off x="8420100" y="2000250"/>
              <a:ext cx="3048000" cy="3752850"/>
            </a:xfrm>
            <a:prstGeom prst="roundRect">
              <a:avLst>
                <a:gd name="adj" fmla="val 2500"/>
              </a:avLst>
            </a:prstGeom>
            <a:solidFill>
              <a:srgbClr val="F7F8FA"/>
            </a:solidFill>
            <a:ln w="9525">
              <a:solidFill>
                <a:srgbClr val="D9E1EA"/>
              </a:solidFill>
            </a:ln>
          </p:spPr>
        </p:sp>
        <p:sp>
          <p:nvSpPr>
            <p:cNvPr id="54" name="TextBox 54"/>
            <p:cNvSpPr txBox="1"/>
            <p:nvPr/>
          </p:nvSpPr>
          <p:spPr>
            <a:xfrm>
              <a:off x="8627745" y="2184082"/>
              <a:ext cx="2479265" cy="335280"/>
            </a:xfrm>
            <a:prstGeom prst="rect">
              <a:avLst/>
            </a:prstGeom>
            <a:noFill/>
            <a:ln>
              <a:noFill/>
            </a:ln>
          </p:spPr>
          <p:txBody>
            <a:bodyPr wrap="none" lIns="0" tIns="0" rIns="0" bIns="0" anchor="t" anchorCtr="0">
              <a:spAutoFit/>
            </a:bodyPr>
            <a:lstStyle/>
            <a:p>
              <a:pPr algn="l"/>
              <a:r>
                <a:rPr lang="zh-CN" sz="1650" b="1" dirty="0">
                  <a:solidFill>
                    <a:srgbClr val="172033"/>
                  </a:solidFill>
                  <a:latin typeface="Georgia"/>
                  <a:ea typeface="Microsoft YaHei"/>
                  <a:cs typeface="Georgia"/>
                </a:rPr>
                <a:t>H1 revenue by channel</a:t>
              </a:r>
            </a:p>
          </p:txBody>
        </p:sp>
        <p:sp>
          <p:nvSpPr>
            <p:cNvPr id="55" name="TextBox 55"/>
            <p:cNvSpPr txBox="1"/>
            <p:nvPr/>
          </p:nvSpPr>
          <p:spPr>
            <a:xfrm>
              <a:off x="8635365" y="2591752"/>
              <a:ext cx="3429095" cy="213360"/>
            </a:xfrm>
            <a:prstGeom prst="rect">
              <a:avLst/>
            </a:prstGeom>
            <a:noFill/>
            <a:ln>
              <a:noFill/>
            </a:ln>
          </p:spPr>
          <p:txBody>
            <a:bodyPr wrap="none" lIns="0" tIns="0" rIns="0" bIns="0" anchor="t" anchorCtr="0">
              <a:spAutoFit/>
            </a:bodyPr>
            <a:lstStyle/>
            <a:p>
              <a:pPr algn="l"/>
              <a:r>
                <a:rPr lang="zh-CN" sz="1050" dirty="0">
                  <a:solidFill>
                    <a:srgbClr val="596579"/>
                  </a:solidFill>
                  <a:latin typeface="Arial"/>
                  <a:ea typeface="Microsoft YaHei"/>
                  <a:cs typeface="Arial"/>
                </a:rPr>
                <a:t>Search and Referral together: 59.8% of revenue.</a:t>
              </a:r>
            </a:p>
          </p:txBody>
        </p:sp>
        <p:sp>
          <p:nvSpPr>
            <p:cNvPr id="56" name="Rectangle 56"/>
            <p:cNvSpPr/>
            <p:nvPr/>
          </p:nvSpPr>
          <p:spPr>
            <a:xfrm>
              <a:off x="8648700" y="3048000"/>
              <a:ext cx="133350" cy="133350"/>
            </a:xfrm>
            <a:prstGeom prst="rect">
              <a:avLst/>
            </a:prstGeom>
            <a:solidFill>
              <a:srgbClr val="2F80ED"/>
            </a:solidFill>
            <a:ln>
              <a:noFill/>
            </a:ln>
          </p:spPr>
        </p:sp>
        <p:sp>
          <p:nvSpPr>
            <p:cNvPr id="57" name="TextBox 57"/>
            <p:cNvSpPr txBox="1"/>
            <p:nvPr/>
          </p:nvSpPr>
          <p:spPr>
            <a:xfrm>
              <a:off x="8863012" y="3050381"/>
              <a:ext cx="523637" cy="228600"/>
            </a:xfrm>
            <a:prstGeom prst="rect">
              <a:avLst/>
            </a:prstGeom>
            <a:noFill/>
            <a:ln>
              <a:noFill/>
            </a:ln>
          </p:spPr>
          <p:txBody>
            <a:bodyPr wrap="none" lIns="0" tIns="0" rIns="0" bIns="0" anchor="t" anchorCtr="0">
              <a:spAutoFit/>
            </a:bodyPr>
            <a:lstStyle/>
            <a:p>
              <a:pPr algn="l"/>
              <a:r>
                <a:rPr lang="zh-CN" sz="1125" dirty="0">
                  <a:solidFill>
                    <a:srgbClr val="172033"/>
                  </a:solidFill>
                  <a:latin typeface="Arial"/>
                  <a:ea typeface="Microsoft YaHei"/>
                  <a:cs typeface="Arial"/>
                </a:rPr>
                <a:t>Search</a:t>
              </a:r>
            </a:p>
          </p:txBody>
        </p:sp>
        <p:sp>
          <p:nvSpPr>
            <p:cNvPr id="58" name="TextBox 58"/>
            <p:cNvSpPr txBox="1"/>
            <p:nvPr/>
          </p:nvSpPr>
          <p:spPr>
            <a:xfrm>
              <a:off x="10123462" y="3050381"/>
              <a:ext cx="635026" cy="228600"/>
            </a:xfrm>
            <a:prstGeom prst="rect">
              <a:avLst/>
            </a:prstGeom>
            <a:noFill/>
            <a:ln>
              <a:noFill/>
            </a:ln>
          </p:spPr>
          <p:txBody>
            <a:bodyPr wrap="none" lIns="0" tIns="0" rIns="0" bIns="0" anchor="t" anchorCtr="0">
              <a:spAutoFit/>
            </a:bodyPr>
            <a:lstStyle/>
            <a:p>
              <a:pPr algn="r"/>
              <a:r>
                <a:rPr lang="zh-CN" sz="1125" b="1" dirty="0">
                  <a:solidFill>
                    <a:srgbClr val="172033"/>
                  </a:solidFill>
                  <a:latin typeface="Arial"/>
                  <a:ea typeface="Microsoft YaHei"/>
                  <a:cs typeface="Arial"/>
                </a:rPr>
                <a:t>$374.1K</a:t>
              </a:r>
            </a:p>
          </p:txBody>
        </p:sp>
        <p:sp>
          <p:nvSpPr>
            <p:cNvPr id="59" name="Rectangle 59"/>
            <p:cNvSpPr/>
            <p:nvPr/>
          </p:nvSpPr>
          <p:spPr>
            <a:xfrm>
              <a:off x="8648700" y="3276600"/>
              <a:ext cx="2343150" cy="76200"/>
            </a:xfrm>
            <a:prstGeom prst="roundRect">
              <a:avLst>
                <a:gd name="adj" fmla="val 50000"/>
              </a:avLst>
            </a:prstGeom>
            <a:solidFill>
              <a:srgbClr val="E8EEF5"/>
            </a:solidFill>
            <a:ln>
              <a:noFill/>
            </a:ln>
          </p:spPr>
        </p:sp>
        <p:sp>
          <p:nvSpPr>
            <p:cNvPr id="60" name="Rectangle 60"/>
            <p:cNvSpPr/>
            <p:nvPr/>
          </p:nvSpPr>
          <p:spPr>
            <a:xfrm>
              <a:off x="8648700" y="3276600"/>
              <a:ext cx="723900" cy="76200"/>
            </a:xfrm>
            <a:prstGeom prst="roundRect">
              <a:avLst>
                <a:gd name="adj" fmla="val 50000"/>
              </a:avLst>
            </a:prstGeom>
            <a:solidFill>
              <a:srgbClr val="2F80ED"/>
            </a:solidFill>
            <a:ln>
              <a:noFill/>
            </a:ln>
          </p:spPr>
        </p:sp>
        <p:sp>
          <p:nvSpPr>
            <p:cNvPr id="61" name="Rectangle 61"/>
            <p:cNvSpPr/>
            <p:nvPr/>
          </p:nvSpPr>
          <p:spPr>
            <a:xfrm>
              <a:off x="8648700" y="3600450"/>
              <a:ext cx="133350" cy="133350"/>
            </a:xfrm>
            <a:prstGeom prst="rect">
              <a:avLst/>
            </a:prstGeom>
            <a:solidFill>
              <a:srgbClr val="14A38B"/>
            </a:solidFill>
            <a:ln>
              <a:noFill/>
            </a:ln>
          </p:spPr>
        </p:sp>
        <p:sp>
          <p:nvSpPr>
            <p:cNvPr id="62" name="TextBox 62"/>
            <p:cNvSpPr txBox="1"/>
            <p:nvPr/>
          </p:nvSpPr>
          <p:spPr>
            <a:xfrm>
              <a:off x="8863012" y="3602831"/>
              <a:ext cx="651153" cy="228600"/>
            </a:xfrm>
            <a:prstGeom prst="rect">
              <a:avLst/>
            </a:prstGeom>
            <a:noFill/>
            <a:ln>
              <a:noFill/>
            </a:ln>
          </p:spPr>
          <p:txBody>
            <a:bodyPr wrap="none" lIns="0" tIns="0" rIns="0" bIns="0" anchor="t" anchorCtr="0">
              <a:spAutoFit/>
            </a:bodyPr>
            <a:lstStyle/>
            <a:p>
              <a:pPr algn="l"/>
              <a:r>
                <a:rPr lang="zh-CN" sz="1125" dirty="0">
                  <a:solidFill>
                    <a:srgbClr val="172033"/>
                  </a:solidFill>
                  <a:latin typeface="Arial"/>
                  <a:ea typeface="Microsoft YaHei"/>
                  <a:cs typeface="Arial"/>
                </a:rPr>
                <a:t>Referral</a:t>
              </a:r>
            </a:p>
          </p:txBody>
        </p:sp>
        <p:sp>
          <p:nvSpPr>
            <p:cNvPr id="63" name="TextBox 63"/>
            <p:cNvSpPr txBox="1"/>
            <p:nvPr/>
          </p:nvSpPr>
          <p:spPr>
            <a:xfrm>
              <a:off x="10123462" y="3602831"/>
              <a:ext cx="635026" cy="228600"/>
            </a:xfrm>
            <a:prstGeom prst="rect">
              <a:avLst/>
            </a:prstGeom>
            <a:noFill/>
            <a:ln>
              <a:noFill/>
            </a:ln>
          </p:spPr>
          <p:txBody>
            <a:bodyPr wrap="none" lIns="0" tIns="0" rIns="0" bIns="0" anchor="t" anchorCtr="0">
              <a:spAutoFit/>
            </a:bodyPr>
            <a:lstStyle/>
            <a:p>
              <a:pPr algn="r"/>
              <a:r>
                <a:rPr lang="zh-CN" sz="1125" b="1" dirty="0">
                  <a:solidFill>
                    <a:srgbClr val="172033"/>
                  </a:solidFill>
                  <a:latin typeface="Arial"/>
                  <a:ea typeface="Microsoft YaHei"/>
                  <a:cs typeface="Arial"/>
                </a:rPr>
                <a:t>$348.1K</a:t>
              </a:r>
            </a:p>
          </p:txBody>
        </p:sp>
        <p:sp>
          <p:nvSpPr>
            <p:cNvPr id="64" name="Rectangle 64"/>
            <p:cNvSpPr/>
            <p:nvPr/>
          </p:nvSpPr>
          <p:spPr>
            <a:xfrm>
              <a:off x="8648700" y="3829050"/>
              <a:ext cx="2343150" cy="76200"/>
            </a:xfrm>
            <a:prstGeom prst="roundRect">
              <a:avLst>
                <a:gd name="adj" fmla="val 50000"/>
              </a:avLst>
            </a:prstGeom>
            <a:solidFill>
              <a:srgbClr val="E8EEF5"/>
            </a:solidFill>
            <a:ln>
              <a:noFill/>
            </a:ln>
          </p:spPr>
        </p:sp>
        <p:sp>
          <p:nvSpPr>
            <p:cNvPr id="65" name="Rectangle 65"/>
            <p:cNvSpPr/>
            <p:nvPr/>
          </p:nvSpPr>
          <p:spPr>
            <a:xfrm>
              <a:off x="8648700" y="3829050"/>
              <a:ext cx="676275" cy="76200"/>
            </a:xfrm>
            <a:prstGeom prst="roundRect">
              <a:avLst>
                <a:gd name="adj" fmla="val 50000"/>
              </a:avLst>
            </a:prstGeom>
            <a:solidFill>
              <a:srgbClr val="14A38B"/>
            </a:solidFill>
            <a:ln>
              <a:noFill/>
            </a:ln>
          </p:spPr>
        </p:sp>
        <p:sp>
          <p:nvSpPr>
            <p:cNvPr id="66" name="Rectangle 66"/>
            <p:cNvSpPr/>
            <p:nvPr/>
          </p:nvSpPr>
          <p:spPr>
            <a:xfrm>
              <a:off x="8648700" y="4152900"/>
              <a:ext cx="133350" cy="133350"/>
            </a:xfrm>
            <a:prstGeom prst="rect">
              <a:avLst/>
            </a:prstGeom>
            <a:solidFill>
              <a:srgbClr val="C2410C">
                <a:alpha val="75000"/>
              </a:srgbClr>
            </a:solidFill>
            <a:ln>
              <a:noFill/>
            </a:ln>
          </p:spPr>
        </p:sp>
        <p:sp>
          <p:nvSpPr>
            <p:cNvPr id="67" name="TextBox 67"/>
            <p:cNvSpPr txBox="1"/>
            <p:nvPr/>
          </p:nvSpPr>
          <p:spPr>
            <a:xfrm>
              <a:off x="8863012" y="4155281"/>
              <a:ext cx="786170" cy="228600"/>
            </a:xfrm>
            <a:prstGeom prst="rect">
              <a:avLst/>
            </a:prstGeom>
            <a:noFill/>
            <a:ln>
              <a:noFill/>
            </a:ln>
          </p:spPr>
          <p:txBody>
            <a:bodyPr wrap="none" lIns="0" tIns="0" rIns="0" bIns="0" anchor="t" anchorCtr="0">
              <a:spAutoFit/>
            </a:bodyPr>
            <a:lstStyle/>
            <a:p>
              <a:pPr algn="l"/>
              <a:r>
                <a:rPr lang="zh-CN" sz="1125" dirty="0">
                  <a:solidFill>
                    <a:srgbClr val="172033"/>
                  </a:solidFill>
                  <a:latin typeface="Arial"/>
                  <a:ea typeface="Microsoft YaHei"/>
                  <a:cs typeface="Arial"/>
                </a:rPr>
                <a:t>Paid Social</a:t>
              </a:r>
            </a:p>
          </p:txBody>
        </p:sp>
        <p:sp>
          <p:nvSpPr>
            <p:cNvPr id="68" name="TextBox 68"/>
            <p:cNvSpPr txBox="1"/>
            <p:nvPr/>
          </p:nvSpPr>
          <p:spPr>
            <a:xfrm>
              <a:off x="10123462" y="4155281"/>
              <a:ext cx="635026" cy="228600"/>
            </a:xfrm>
            <a:prstGeom prst="rect">
              <a:avLst/>
            </a:prstGeom>
            <a:noFill/>
            <a:ln>
              <a:noFill/>
            </a:ln>
          </p:spPr>
          <p:txBody>
            <a:bodyPr wrap="none" lIns="0" tIns="0" rIns="0" bIns="0" anchor="t" anchorCtr="0">
              <a:spAutoFit/>
            </a:bodyPr>
            <a:lstStyle/>
            <a:p>
              <a:pPr algn="r"/>
              <a:r>
                <a:rPr lang="zh-CN" sz="1125" b="1" dirty="0">
                  <a:solidFill>
                    <a:srgbClr val="172033"/>
                  </a:solidFill>
                  <a:latin typeface="Arial"/>
                  <a:ea typeface="Microsoft YaHei"/>
                  <a:cs typeface="Arial"/>
                </a:rPr>
                <a:t>$261.1K</a:t>
              </a:r>
            </a:p>
          </p:txBody>
        </p:sp>
        <p:sp>
          <p:nvSpPr>
            <p:cNvPr id="69" name="Rectangle 69"/>
            <p:cNvSpPr/>
            <p:nvPr/>
          </p:nvSpPr>
          <p:spPr>
            <a:xfrm>
              <a:off x="8648700" y="4381500"/>
              <a:ext cx="2343150" cy="76200"/>
            </a:xfrm>
            <a:prstGeom prst="roundRect">
              <a:avLst>
                <a:gd name="adj" fmla="val 50000"/>
              </a:avLst>
            </a:prstGeom>
            <a:solidFill>
              <a:srgbClr val="E8EEF5"/>
            </a:solidFill>
            <a:ln>
              <a:noFill/>
            </a:ln>
          </p:spPr>
        </p:sp>
        <p:sp>
          <p:nvSpPr>
            <p:cNvPr id="70" name="Rectangle 70"/>
            <p:cNvSpPr/>
            <p:nvPr/>
          </p:nvSpPr>
          <p:spPr>
            <a:xfrm>
              <a:off x="8648700" y="4381500"/>
              <a:ext cx="504825" cy="76200"/>
            </a:xfrm>
            <a:prstGeom prst="roundRect">
              <a:avLst>
                <a:gd name="adj" fmla="val 50000"/>
              </a:avLst>
            </a:prstGeom>
            <a:solidFill>
              <a:srgbClr val="C2410C">
                <a:alpha val="75000"/>
              </a:srgbClr>
            </a:solidFill>
            <a:ln>
              <a:noFill/>
            </a:ln>
          </p:spPr>
        </p:sp>
        <p:sp>
          <p:nvSpPr>
            <p:cNvPr id="71" name="Rectangle 71"/>
            <p:cNvSpPr/>
            <p:nvPr/>
          </p:nvSpPr>
          <p:spPr>
            <a:xfrm>
              <a:off x="8648700" y="4705350"/>
              <a:ext cx="133350" cy="133350"/>
            </a:xfrm>
            <a:prstGeom prst="rect">
              <a:avLst/>
            </a:prstGeom>
            <a:solidFill>
              <a:srgbClr val="F59E0B"/>
            </a:solidFill>
            <a:ln>
              <a:noFill/>
            </a:ln>
          </p:spPr>
        </p:sp>
        <p:sp>
          <p:nvSpPr>
            <p:cNvPr id="72" name="TextBox 72"/>
            <p:cNvSpPr txBox="1"/>
            <p:nvPr/>
          </p:nvSpPr>
          <p:spPr>
            <a:xfrm>
              <a:off x="8863012" y="4707731"/>
              <a:ext cx="606147" cy="228600"/>
            </a:xfrm>
            <a:prstGeom prst="rect">
              <a:avLst/>
            </a:prstGeom>
            <a:noFill/>
            <a:ln>
              <a:noFill/>
            </a:ln>
          </p:spPr>
          <p:txBody>
            <a:bodyPr wrap="none" lIns="0" tIns="0" rIns="0" bIns="0" anchor="t" anchorCtr="0">
              <a:spAutoFit/>
            </a:bodyPr>
            <a:lstStyle/>
            <a:p>
              <a:pPr algn="l"/>
              <a:r>
                <a:rPr lang="zh-CN" sz="1125" dirty="0">
                  <a:solidFill>
                    <a:srgbClr val="172033"/>
                  </a:solidFill>
                  <a:latin typeface="Arial"/>
                  <a:ea typeface="Microsoft YaHei"/>
                  <a:cs typeface="Arial"/>
                </a:rPr>
                <a:t>Partner</a:t>
              </a:r>
            </a:p>
          </p:txBody>
        </p:sp>
        <p:sp>
          <p:nvSpPr>
            <p:cNvPr id="73" name="TextBox 73"/>
            <p:cNvSpPr txBox="1"/>
            <p:nvPr/>
          </p:nvSpPr>
          <p:spPr>
            <a:xfrm>
              <a:off x="10123462" y="4707731"/>
              <a:ext cx="635026" cy="228600"/>
            </a:xfrm>
            <a:prstGeom prst="rect">
              <a:avLst/>
            </a:prstGeom>
            <a:noFill/>
            <a:ln>
              <a:noFill/>
            </a:ln>
          </p:spPr>
          <p:txBody>
            <a:bodyPr wrap="none" lIns="0" tIns="0" rIns="0" bIns="0" anchor="t" anchorCtr="0">
              <a:spAutoFit/>
            </a:bodyPr>
            <a:lstStyle/>
            <a:p>
              <a:pPr algn="r"/>
              <a:r>
                <a:rPr lang="zh-CN" sz="1125" b="1" dirty="0">
                  <a:solidFill>
                    <a:srgbClr val="172033"/>
                  </a:solidFill>
                  <a:latin typeface="Arial"/>
                  <a:ea typeface="Microsoft YaHei"/>
                  <a:cs typeface="Arial"/>
                </a:rPr>
                <a:t>$224.8K</a:t>
              </a:r>
            </a:p>
          </p:txBody>
        </p:sp>
        <p:sp>
          <p:nvSpPr>
            <p:cNvPr id="74" name="Rectangle 74"/>
            <p:cNvSpPr/>
            <p:nvPr/>
          </p:nvSpPr>
          <p:spPr>
            <a:xfrm>
              <a:off x="8648700" y="4933950"/>
              <a:ext cx="2343150" cy="76200"/>
            </a:xfrm>
            <a:prstGeom prst="roundRect">
              <a:avLst>
                <a:gd name="adj" fmla="val 50000"/>
              </a:avLst>
            </a:prstGeom>
            <a:solidFill>
              <a:srgbClr val="E8EEF5"/>
            </a:solidFill>
            <a:ln>
              <a:noFill/>
            </a:ln>
          </p:spPr>
        </p:sp>
        <p:sp>
          <p:nvSpPr>
            <p:cNvPr id="75" name="Rectangle 75"/>
            <p:cNvSpPr/>
            <p:nvPr/>
          </p:nvSpPr>
          <p:spPr>
            <a:xfrm>
              <a:off x="8648700" y="4933950"/>
              <a:ext cx="438150" cy="76200"/>
            </a:xfrm>
            <a:prstGeom prst="roundRect">
              <a:avLst>
                <a:gd name="adj" fmla="val 50000"/>
              </a:avLst>
            </a:prstGeom>
            <a:solidFill>
              <a:srgbClr val="F59E0B"/>
            </a:solidFill>
            <a:ln>
              <a:noFill/>
            </a:ln>
          </p:spPr>
        </p:sp>
      </p:grpSp>
      <p:grpSp>
        <p:nvGrpSpPr>
          <p:cNvPr id="79" name="Group 79"/>
          <p:cNvGrpSpPr/>
          <p:nvPr/>
        </p:nvGrpSpPr>
        <p:grpSpPr>
          <a:xfrm>
            <a:off x="712470" y="6075045"/>
            <a:ext cx="10884694" cy="335280"/>
            <a:chOff x="712470" y="6075045"/>
            <a:chExt cx="10884694" cy="335280"/>
          </a:xfrm>
        </p:grpSpPr>
        <p:sp>
          <p:nvSpPr>
            <p:cNvPr id="77" name="TextBox 77"/>
            <p:cNvSpPr txBox="1"/>
            <p:nvPr/>
          </p:nvSpPr>
          <p:spPr>
            <a:xfrm>
              <a:off x="712470" y="6075045"/>
              <a:ext cx="4720590" cy="335280"/>
            </a:xfrm>
            <a:prstGeom prst="rect">
              <a:avLst/>
            </a:prstGeom>
            <a:noFill/>
            <a:ln>
              <a:noFill/>
            </a:ln>
          </p:spPr>
          <p:txBody>
            <a:bodyPr wrap="square" lIns="0" tIns="0" rIns="0" bIns="0" anchor="t" anchorCtr="0"/>
            <a:lstStyle/>
            <a:p>
              <a:pPr algn="l">
                <a:lnSpc>
                  <a:spcPts val="1200"/>
                </a:lnSpc>
              </a:pPr>
              <a:r>
                <a:rPr lang="zh-CN" sz="900" dirty="0">
                  <a:solidFill>
                    <a:srgbClr val="8A94A6"/>
                  </a:solidFill>
                  <a:latin typeface="Arial"/>
                  <a:ea typeface="Microsoft YaHei"/>
                  <a:cs typeface="Arial"/>
                </a:rPr>
                <a:t xml:space="preserve">Source: product_growth_metrics_q1_q2_2026.csv </a:t>
              </a:r>
              <a:r>
                <a:rPr lang="zh-CN" sz="900" dirty="0">
                  <a:solidFill>
                    <a:srgbClr val="8A94A6"/>
                  </a:solidFill>
                  <a:latin typeface="Arial"/>
                  <a:ea typeface="Microsoft YaHei"/>
                  <a:cs typeface="Arial"/>
                </a:rPr>
                <a:t>Channel totals: Search 374125, Paid Social 261050, Referral 348125, Partner 224825</a:t>
              </a:r>
            </a:p>
          </p:txBody>
        </p:sp>
        <p:sp>
          <p:nvSpPr>
            <p:cNvPr id="78" name="TextBox 78"/>
            <p:cNvSpPr txBox="1"/>
            <p:nvPr/>
          </p:nvSpPr>
          <p:spPr>
            <a:xfrm>
              <a:off x="11304270" y="6132195"/>
              <a:ext cx="292894" cy="182880"/>
            </a:xfrm>
            <a:prstGeom prst="rect">
              <a:avLst/>
            </a:prstGeom>
            <a:noFill/>
            <a:ln>
              <a:noFill/>
            </a:ln>
          </p:spPr>
          <p:txBody>
            <a:bodyPr wrap="none" lIns="0" tIns="0" rIns="0" bIns="0" anchor="t" anchorCtr="0">
              <a:spAutoFit/>
            </a:bodyPr>
            <a:lstStyle/>
            <a:p>
              <a:pPr algn="l"/>
              <a:r>
                <a:rPr lang="zh-CN" sz="900" dirty="0">
                  <a:solidFill>
                    <a:srgbClr val="8A94A6"/>
                  </a:solidFill>
                  <a:latin typeface="Arial"/>
                  <a:ea typeface="Microsoft YaHei"/>
                  <a:cs typeface="Arial"/>
                </a:rPr>
                <a:t>4 / 7</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wipe(left)">
                                      <p:cBhvr>
                                        <p:cTn id="7" dur="400"/>
                                        <p:tgtEl>
                                          <p:spTgt spid="52"/>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76"/>
                                        </p:tgtEl>
                                        <p:attrNameLst>
                                          <p:attrName>style.visibility</p:attrName>
                                        </p:attrNameLst>
                                      </p:cBhvr>
                                      <p:to>
                                        <p:strVal val="visible"/>
                                      </p:to>
                                    </p:set>
                                    <p:animEffect transition="in" filter="wipe(left)">
                                      <p:cBhvr>
                                        <p:cTn id="11" dur="40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P spid="7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7F8FA"/>
            </a:solidFill>
            <a:ln>
              <a:noFill/>
            </a:ln>
          </p:spPr>
        </p:sp>
        <p:sp>
          <p:nvSpPr>
            <p:cNvPr id="3" name="Rectangle 3"/>
            <p:cNvSpPr/>
            <p:nvPr/>
          </p:nvSpPr>
          <p:spPr>
            <a:xfrm>
              <a:off x="495300" y="400050"/>
              <a:ext cx="11201400" cy="6057900"/>
            </a:xfrm>
            <a:prstGeom prst="roundRect">
              <a:avLst>
                <a:gd name="adj" fmla="val 1572"/>
              </a:avLst>
            </a:prstGeom>
            <a:solidFill>
              <a:srgbClr val="FFFFFF"/>
            </a:solidFill>
            <a:ln w="9525">
              <a:solidFill>
                <a:srgbClr val="D9E1EA"/>
              </a:solidFill>
            </a:ln>
          </p:spPr>
        </p:sp>
      </p:grpSp>
      <p:grpSp>
        <p:nvGrpSpPr>
          <p:cNvPr id="9" name="Group 9"/>
          <p:cNvGrpSpPr/>
          <p:nvPr/>
        </p:nvGrpSpPr>
        <p:grpSpPr>
          <a:xfrm>
            <a:off x="691515" y="645795"/>
            <a:ext cx="10776585" cy="1059180"/>
            <a:chOff x="691515" y="645795"/>
            <a:chExt cx="10776585" cy="1059180"/>
          </a:xfrm>
        </p:grpSpPr>
        <p:sp>
          <p:nvSpPr>
            <p:cNvPr id="5" name="TextBox 5"/>
            <p:cNvSpPr txBox="1"/>
            <p:nvPr/>
          </p:nvSpPr>
          <p:spPr>
            <a:xfrm>
              <a:off x="712470" y="645795"/>
              <a:ext cx="1120997" cy="182880"/>
            </a:xfrm>
            <a:prstGeom prst="rect">
              <a:avLst/>
            </a:prstGeom>
            <a:noFill/>
            <a:ln>
              <a:noFill/>
            </a:ln>
          </p:spPr>
          <p:txBody>
            <a:bodyPr wrap="none" lIns="0" tIns="0" rIns="0" bIns="0" anchor="t" anchorCtr="0">
              <a:spAutoFit/>
            </a:bodyPr>
            <a:lstStyle/>
            <a:p>
              <a:pPr algn="l"/>
              <a:r>
                <a:rPr lang="zh-CN" sz="900" dirty="0">
                  <a:solidFill>
                    <a:srgbClr val="596579"/>
                  </a:solidFill>
                  <a:latin typeface="Arial"/>
                  <a:ea typeface="Microsoft YaHei"/>
                  <a:cs typeface="Arial"/>
                </a:rPr>
                <a:t>CHANNEL EFFICIENCY</a:t>
              </a:r>
            </a:p>
          </p:txBody>
        </p:sp>
        <p:sp>
          <p:nvSpPr>
            <p:cNvPr id="6" name="TextBox 6"/>
            <p:cNvSpPr txBox="1"/>
            <p:nvPr/>
          </p:nvSpPr>
          <p:spPr>
            <a:xfrm>
              <a:off x="691515" y="905828"/>
              <a:ext cx="10561882" cy="518160"/>
            </a:xfrm>
            <a:prstGeom prst="rect">
              <a:avLst/>
            </a:prstGeom>
            <a:noFill/>
            <a:ln>
              <a:noFill/>
            </a:ln>
          </p:spPr>
          <p:txBody>
            <a:bodyPr wrap="none" lIns="0" tIns="0" rIns="0" bIns="0" anchor="t" anchorCtr="0">
              <a:spAutoFit/>
            </a:bodyPr>
            <a:lstStyle/>
            <a:p>
              <a:pPr algn="l"/>
              <a:r>
                <a:rPr lang="zh-CN" sz="2550" b="1" dirty="0">
                  <a:solidFill>
                    <a:srgbClr val="172033"/>
                  </a:solidFill>
                  <a:latin typeface="Georgia"/>
                  <a:ea typeface="Microsoft YaHei"/>
                  <a:cs typeface="Georgia"/>
                </a:rPr>
                <a:t>Referral is the efficiency outlier; Paid Social is the CAC risk</a:t>
              </a:r>
            </a:p>
          </p:txBody>
        </p:sp>
        <p:sp>
          <p:nvSpPr>
            <p:cNvPr id="7" name="TextBox 7"/>
            <p:cNvSpPr txBox="1"/>
            <p:nvPr/>
          </p:nvSpPr>
          <p:spPr>
            <a:xfrm>
              <a:off x="706755" y="1349692"/>
              <a:ext cx="6542103" cy="274320"/>
            </a:xfrm>
            <a:prstGeom prst="rect">
              <a:avLst/>
            </a:prstGeom>
            <a:noFill/>
            <a:ln>
              <a:noFill/>
            </a:ln>
          </p:spPr>
          <p:txBody>
            <a:bodyPr wrap="none" lIns="0" tIns="0" rIns="0" bIns="0" anchor="t" anchorCtr="0">
              <a:spAutoFit/>
            </a:bodyPr>
            <a:lstStyle/>
            <a:p>
              <a:pPr algn="l"/>
              <a:r>
                <a:rPr lang="zh-CN" sz="1350" dirty="0">
                  <a:solidFill>
                    <a:srgbClr val="596579"/>
                  </a:solidFill>
                  <a:latin typeface="Arial"/>
                  <a:ea typeface="Microsoft YaHei"/>
                  <a:cs typeface="Arial"/>
                </a:rPr>
                <a:t>CAC per paid conversion is calculated as ad_spend_usd / paid_conversions.</a:t>
              </a:r>
            </a:p>
          </p:txBody>
        </p:sp>
        <p:sp>
          <p:nvSpPr>
            <p:cNvPr id="8" name="Line 8"/>
            <p:cNvSpPr/>
            <p:nvPr/>
          </p:nvSpPr>
          <p:spPr>
            <a:xfrm>
              <a:off x="723900" y="1695450"/>
              <a:ext cx="10744200" cy="9525"/>
            </a:xfrm>
            <a:custGeom>
              <a:avLst/>
              <a:gdLst/>
              <a:ahLst/>
              <a:cxnLst/>
              <a:rect l="l" t="t" r="r" b="b"/>
              <a:pathLst>
                <a:path w="10744200" h="9525">
                  <a:moveTo>
                    <a:pt x="0" y="0"/>
                  </a:moveTo>
                  <a:lnTo>
                    <a:pt x="10744200" y="0"/>
                  </a:lnTo>
                </a:path>
              </a:pathLst>
            </a:custGeom>
            <a:noFill/>
            <a:ln w="9525">
              <a:solidFill>
                <a:srgbClr val="D9E1EA"/>
              </a:solidFill>
            </a:ln>
          </p:spPr>
        </p:sp>
      </p:grpSp>
      <p:grpSp>
        <p:nvGrpSpPr>
          <p:cNvPr id="33" name="Group 33"/>
          <p:cNvGrpSpPr/>
          <p:nvPr/>
        </p:nvGrpSpPr>
        <p:grpSpPr>
          <a:xfrm>
            <a:off x="723900" y="2000250"/>
            <a:ext cx="6838950" cy="3752850"/>
            <a:chOff x="723900" y="2000250"/>
            <a:chExt cx="6838950" cy="3752850"/>
          </a:xfrm>
        </p:grpSpPr>
        <p:sp>
          <p:nvSpPr>
            <p:cNvPr id="10" name="Rectangle 10"/>
            <p:cNvSpPr/>
            <p:nvPr/>
          </p:nvSpPr>
          <p:spPr>
            <a:xfrm>
              <a:off x="723900" y="2000250"/>
              <a:ext cx="6838950" cy="3752850"/>
            </a:xfrm>
            <a:prstGeom prst="roundRect">
              <a:avLst>
                <a:gd name="adj" fmla="val 2030"/>
              </a:avLst>
            </a:prstGeom>
            <a:solidFill>
              <a:srgbClr val="FFFFFF"/>
            </a:solidFill>
            <a:ln w="9525">
              <a:solidFill>
                <a:srgbClr val="D9E1EA"/>
              </a:solidFill>
            </a:ln>
          </p:spPr>
        </p:sp>
        <p:sp>
          <p:nvSpPr>
            <p:cNvPr id="11" name="TextBox 11"/>
            <p:cNvSpPr txBox="1"/>
            <p:nvPr/>
          </p:nvSpPr>
          <p:spPr>
            <a:xfrm>
              <a:off x="1054418" y="2199799"/>
              <a:ext cx="4809363" cy="198120"/>
            </a:xfrm>
            <a:prstGeom prst="rect">
              <a:avLst/>
            </a:prstGeom>
            <a:noFill/>
            <a:ln>
              <a:noFill/>
            </a:ln>
          </p:spPr>
          <p:txBody>
            <a:bodyPr wrap="none" lIns="0" tIns="0" rIns="0" bIns="0" anchor="t" anchorCtr="0">
              <a:spAutoFit/>
            </a:bodyPr>
            <a:lstStyle/>
            <a:p>
              <a:pPr algn="l"/>
              <a:r>
                <a:rPr lang="zh-CN" sz="975" dirty="0">
                  <a:solidFill>
                    <a:srgbClr val="596579"/>
                  </a:solidFill>
                  <a:latin typeface="Arial"/>
                  <a:ea typeface="Microsoft YaHei"/>
                  <a:cs typeface="Arial"/>
                </a:rPr>
                <a:t>X-axis: CAC per paid conversion | Y-axis: paid conversions | bubble: revenue</a:t>
              </a:r>
            </a:p>
          </p:txBody>
        </p:sp>
        <p:grpSp>
          <p:nvGrpSpPr>
            <p:cNvPr id="22" name="Group 22"/>
            <p:cNvGrpSpPr/>
            <p:nvPr/>
          </p:nvGrpSpPr>
          <p:grpSpPr>
            <a:xfrm>
              <a:off x="1200150" y="2209800"/>
              <a:ext cx="6048375" cy="3076575"/>
              <a:chOff x="1200150" y="2209800"/>
              <a:chExt cx="6048375" cy="3076575"/>
            </a:xfrm>
          </p:grpSpPr>
          <p:sp>
            <p:nvSpPr>
              <p:cNvPr id="12" name="Line 12"/>
              <p:cNvSpPr/>
              <p:nvPr/>
            </p:nvSpPr>
            <p:spPr>
              <a:xfrm>
                <a:off x="1200150" y="2286000"/>
                <a:ext cx="9525" cy="2990850"/>
              </a:xfrm>
              <a:custGeom>
                <a:avLst/>
                <a:gdLst/>
                <a:ahLst/>
                <a:cxnLst/>
                <a:rect l="l" t="t" r="r" b="b"/>
                <a:pathLst>
                  <a:path w="9525" h="2990850">
                    <a:moveTo>
                      <a:pt x="0" y="0"/>
                    </a:moveTo>
                    <a:lnTo>
                      <a:pt x="0" y="2990850"/>
                    </a:lnTo>
                  </a:path>
                </a:pathLst>
              </a:custGeom>
              <a:noFill/>
              <a:ln w="9525">
                <a:solidFill>
                  <a:srgbClr val="D9E1EA"/>
                </a:solidFill>
              </a:ln>
            </p:spPr>
          </p:sp>
          <p:sp>
            <p:nvSpPr>
              <p:cNvPr id="13" name="Line 13"/>
              <p:cNvSpPr/>
              <p:nvPr/>
            </p:nvSpPr>
            <p:spPr>
              <a:xfrm>
                <a:off x="1200150" y="5276850"/>
                <a:ext cx="6038850" cy="9525"/>
              </a:xfrm>
              <a:custGeom>
                <a:avLst/>
                <a:gdLst/>
                <a:ahLst/>
                <a:cxnLst/>
                <a:rect l="l" t="t" r="r" b="b"/>
                <a:pathLst>
                  <a:path w="6038850" h="9525">
                    <a:moveTo>
                      <a:pt x="0" y="0"/>
                    </a:moveTo>
                    <a:lnTo>
                      <a:pt x="6038850" y="0"/>
                    </a:lnTo>
                  </a:path>
                </a:pathLst>
              </a:custGeom>
              <a:noFill/>
              <a:ln w="9525">
                <a:solidFill>
                  <a:srgbClr val="D9E1EA"/>
                </a:solidFill>
              </a:ln>
            </p:spPr>
          </p:sp>
          <p:sp>
            <p:nvSpPr>
              <p:cNvPr id="14" name="Line 14"/>
              <p:cNvSpPr/>
              <p:nvPr/>
            </p:nvSpPr>
            <p:spPr>
              <a:xfrm>
                <a:off x="1200150" y="3781425"/>
                <a:ext cx="6038850" cy="9525"/>
              </a:xfrm>
              <a:custGeom>
                <a:avLst/>
                <a:gdLst/>
                <a:ahLst/>
                <a:cxnLst/>
                <a:rect l="l" t="t" r="r" b="b"/>
                <a:pathLst>
                  <a:path w="6038850" h="9525">
                    <a:moveTo>
                      <a:pt x="0" y="0"/>
                    </a:moveTo>
                    <a:lnTo>
                      <a:pt x="6038850" y="0"/>
                    </a:lnTo>
                  </a:path>
                </a:pathLst>
              </a:custGeom>
              <a:noFill/>
              <a:ln w="9525">
                <a:solidFill>
                  <a:srgbClr val="E8EEF5"/>
                </a:solidFill>
              </a:ln>
            </p:spPr>
          </p:sp>
          <p:sp>
            <p:nvSpPr>
              <p:cNvPr id="15" name="Line 15"/>
              <p:cNvSpPr/>
              <p:nvPr/>
            </p:nvSpPr>
            <p:spPr>
              <a:xfrm>
                <a:off x="1200150" y="2286000"/>
                <a:ext cx="6038850" cy="9525"/>
              </a:xfrm>
              <a:custGeom>
                <a:avLst/>
                <a:gdLst/>
                <a:ahLst/>
                <a:cxnLst/>
                <a:rect l="l" t="t" r="r" b="b"/>
                <a:pathLst>
                  <a:path w="6038850" h="9525">
                    <a:moveTo>
                      <a:pt x="0" y="0"/>
                    </a:moveTo>
                    <a:lnTo>
                      <a:pt x="6038850" y="0"/>
                    </a:lnTo>
                  </a:path>
                </a:pathLst>
              </a:custGeom>
              <a:noFill/>
              <a:ln w="9525">
                <a:solidFill>
                  <a:srgbClr val="E8EEF5"/>
                </a:solidFill>
              </a:ln>
            </p:spPr>
          </p:sp>
          <p:sp>
            <p:nvSpPr>
              <p:cNvPr id="16" name="Line 16"/>
              <p:cNvSpPr/>
              <p:nvPr/>
            </p:nvSpPr>
            <p:spPr>
              <a:xfrm>
                <a:off x="4219575" y="2286000"/>
                <a:ext cx="9525" cy="2990850"/>
              </a:xfrm>
              <a:custGeom>
                <a:avLst/>
                <a:gdLst/>
                <a:ahLst/>
                <a:cxnLst/>
                <a:rect l="l" t="t" r="r" b="b"/>
                <a:pathLst>
                  <a:path w="9525" h="2990850">
                    <a:moveTo>
                      <a:pt x="0" y="0"/>
                    </a:moveTo>
                    <a:lnTo>
                      <a:pt x="0" y="2990850"/>
                    </a:lnTo>
                  </a:path>
                </a:pathLst>
              </a:custGeom>
              <a:noFill/>
              <a:ln w="9525">
                <a:solidFill>
                  <a:srgbClr val="E8EEF5"/>
                </a:solidFill>
              </a:ln>
            </p:spPr>
          </p:sp>
          <p:sp>
            <p:nvSpPr>
              <p:cNvPr id="17" name="Line 17"/>
              <p:cNvSpPr/>
              <p:nvPr/>
            </p:nvSpPr>
            <p:spPr>
              <a:xfrm>
                <a:off x="7239000" y="2286000"/>
                <a:ext cx="9525" cy="2990850"/>
              </a:xfrm>
              <a:custGeom>
                <a:avLst/>
                <a:gdLst/>
                <a:ahLst/>
                <a:cxnLst/>
                <a:rect l="l" t="t" r="r" b="b"/>
                <a:pathLst>
                  <a:path w="9525" h="2990850">
                    <a:moveTo>
                      <a:pt x="0" y="0"/>
                    </a:moveTo>
                    <a:lnTo>
                      <a:pt x="0" y="2990850"/>
                    </a:lnTo>
                  </a:path>
                </a:pathLst>
              </a:custGeom>
              <a:noFill/>
              <a:ln w="9525">
                <a:solidFill>
                  <a:srgbClr val="E8EEF5"/>
                </a:solidFill>
              </a:ln>
            </p:spPr>
          </p:sp>
          <p:sp>
            <p:nvSpPr>
              <p:cNvPr id="18" name="Ellipse 18"/>
              <p:cNvSpPr/>
              <p:nvPr/>
            </p:nvSpPr>
            <p:spPr>
              <a:xfrm>
                <a:off x="3324225" y="2209800"/>
                <a:ext cx="438150" cy="438150"/>
              </a:xfrm>
              <a:prstGeom prst="ellipse">
                <a:avLst/>
              </a:prstGeom>
              <a:solidFill>
                <a:srgbClr val="2F80ED">
                  <a:alpha val="72000"/>
                </a:srgbClr>
              </a:solidFill>
              <a:ln w="9525">
                <a:solidFill>
                  <a:srgbClr val="172033"/>
                </a:solidFill>
              </a:ln>
            </p:spPr>
          </p:sp>
          <p:sp>
            <p:nvSpPr>
              <p:cNvPr id="19" name="Ellipse 19"/>
              <p:cNvSpPr/>
              <p:nvPr/>
            </p:nvSpPr>
            <p:spPr>
              <a:xfrm>
                <a:off x="6448425" y="3038475"/>
                <a:ext cx="361950" cy="361950"/>
              </a:xfrm>
              <a:prstGeom prst="ellipse">
                <a:avLst/>
              </a:prstGeom>
              <a:solidFill>
                <a:srgbClr val="C2410C">
                  <a:alpha val="70000"/>
                </a:srgbClr>
              </a:solidFill>
              <a:ln w="9525">
                <a:solidFill>
                  <a:srgbClr val="172033"/>
                </a:solidFill>
              </a:ln>
            </p:spPr>
          </p:sp>
          <p:sp>
            <p:nvSpPr>
              <p:cNvPr id="20" name="Ellipse 20"/>
              <p:cNvSpPr/>
              <p:nvPr/>
            </p:nvSpPr>
            <p:spPr>
              <a:xfrm>
                <a:off x="1685925" y="2733675"/>
                <a:ext cx="419100" cy="419100"/>
              </a:xfrm>
              <a:prstGeom prst="ellipse">
                <a:avLst/>
              </a:prstGeom>
              <a:solidFill>
                <a:srgbClr val="14A38B">
                  <a:alpha val="78000"/>
                </a:srgbClr>
              </a:solidFill>
              <a:ln w="9525">
                <a:solidFill>
                  <a:srgbClr val="172033"/>
                </a:solidFill>
              </a:ln>
            </p:spPr>
          </p:sp>
          <p:sp>
            <p:nvSpPr>
              <p:cNvPr id="21" name="Ellipse 21"/>
              <p:cNvSpPr/>
              <p:nvPr/>
            </p:nvSpPr>
            <p:spPr>
              <a:xfrm>
                <a:off x="2828925" y="3695700"/>
                <a:ext cx="323850" cy="323850"/>
              </a:xfrm>
              <a:prstGeom prst="ellipse">
                <a:avLst/>
              </a:prstGeom>
              <a:solidFill>
                <a:srgbClr val="F59E0B">
                  <a:alpha val="78000"/>
                </a:srgbClr>
              </a:solidFill>
              <a:ln w="9525">
                <a:solidFill>
                  <a:srgbClr val="172033"/>
                </a:solidFill>
              </a:ln>
            </p:spPr>
          </p:sp>
        </p:grpSp>
        <p:sp>
          <p:nvSpPr>
            <p:cNvPr id="23" name="TextBox 23"/>
            <p:cNvSpPr txBox="1"/>
            <p:nvPr/>
          </p:nvSpPr>
          <p:spPr>
            <a:xfrm>
              <a:off x="1055370" y="2226945"/>
              <a:ext cx="352901" cy="182880"/>
            </a:xfrm>
            <a:prstGeom prst="rect">
              <a:avLst/>
            </a:prstGeom>
            <a:noFill/>
            <a:ln>
              <a:noFill/>
            </a:ln>
          </p:spPr>
          <p:txBody>
            <a:bodyPr wrap="none" lIns="0" tIns="0" rIns="0" bIns="0" anchor="t" anchorCtr="0">
              <a:spAutoFit/>
            </a:bodyPr>
            <a:lstStyle/>
            <a:p>
              <a:pPr algn="l"/>
              <a:r>
                <a:rPr lang="zh-CN" sz="900" dirty="0">
                  <a:solidFill>
                    <a:srgbClr val="8A94A6"/>
                  </a:solidFill>
                  <a:latin typeface="Arial"/>
                  <a:ea typeface="Microsoft YaHei"/>
                  <a:cs typeface="Arial"/>
                </a:rPr>
                <a:t>2,200</a:t>
              </a:r>
            </a:p>
          </p:txBody>
        </p:sp>
        <p:sp>
          <p:nvSpPr>
            <p:cNvPr id="24" name="TextBox 24"/>
            <p:cNvSpPr txBox="1"/>
            <p:nvPr/>
          </p:nvSpPr>
          <p:spPr>
            <a:xfrm>
              <a:off x="1055370" y="3722370"/>
              <a:ext cx="352901" cy="182880"/>
            </a:xfrm>
            <a:prstGeom prst="rect">
              <a:avLst/>
            </a:prstGeom>
            <a:noFill/>
            <a:ln>
              <a:noFill/>
            </a:ln>
          </p:spPr>
          <p:txBody>
            <a:bodyPr wrap="none" lIns="0" tIns="0" rIns="0" bIns="0" anchor="t" anchorCtr="0">
              <a:spAutoFit/>
            </a:bodyPr>
            <a:lstStyle/>
            <a:p>
              <a:pPr algn="l"/>
              <a:r>
                <a:rPr lang="zh-CN" sz="900" dirty="0">
                  <a:solidFill>
                    <a:srgbClr val="8A94A6"/>
                  </a:solidFill>
                  <a:latin typeface="Arial"/>
                  <a:ea typeface="Microsoft YaHei"/>
                  <a:cs typeface="Arial"/>
                </a:rPr>
                <a:t>1,100</a:t>
              </a:r>
            </a:p>
          </p:txBody>
        </p:sp>
        <p:sp>
          <p:nvSpPr>
            <p:cNvPr id="25" name="TextBox 25"/>
            <p:cNvSpPr txBox="1"/>
            <p:nvPr/>
          </p:nvSpPr>
          <p:spPr>
            <a:xfrm>
              <a:off x="1131570" y="5341620"/>
              <a:ext cx="88868" cy="182880"/>
            </a:xfrm>
            <a:prstGeom prst="rect">
              <a:avLst/>
            </a:prstGeom>
            <a:noFill/>
            <a:ln>
              <a:noFill/>
            </a:ln>
          </p:spPr>
          <p:txBody>
            <a:bodyPr wrap="none" lIns="0" tIns="0" rIns="0" bIns="0" anchor="t" anchorCtr="0">
              <a:spAutoFit/>
            </a:bodyPr>
            <a:lstStyle/>
            <a:p>
              <a:pPr algn="l"/>
              <a:r>
                <a:rPr lang="zh-CN" sz="900" dirty="0">
                  <a:solidFill>
                    <a:srgbClr val="8A94A6"/>
                  </a:solidFill>
                  <a:latin typeface="Arial"/>
                  <a:ea typeface="Microsoft YaHei"/>
                  <a:cs typeface="Arial"/>
                </a:rPr>
                <a:t>0</a:t>
              </a:r>
            </a:p>
          </p:txBody>
        </p:sp>
        <p:sp>
          <p:nvSpPr>
            <p:cNvPr id="26" name="TextBox 26"/>
            <p:cNvSpPr txBox="1"/>
            <p:nvPr/>
          </p:nvSpPr>
          <p:spPr>
            <a:xfrm>
              <a:off x="1093470" y="5484495"/>
              <a:ext cx="154877" cy="182880"/>
            </a:xfrm>
            <a:prstGeom prst="rect">
              <a:avLst/>
            </a:prstGeom>
            <a:noFill/>
            <a:ln>
              <a:noFill/>
            </a:ln>
          </p:spPr>
          <p:txBody>
            <a:bodyPr wrap="none" lIns="0" tIns="0" rIns="0" bIns="0" anchor="t" anchorCtr="0">
              <a:spAutoFit/>
            </a:bodyPr>
            <a:lstStyle/>
            <a:p>
              <a:pPr algn="l"/>
              <a:r>
                <a:rPr lang="zh-CN" sz="900" dirty="0">
                  <a:solidFill>
                    <a:srgbClr val="8A94A6"/>
                  </a:solidFill>
                  <a:latin typeface="Arial"/>
                  <a:ea typeface="Microsoft YaHei"/>
                  <a:cs typeface="Arial"/>
                </a:rPr>
                <a:t>$0</a:t>
              </a:r>
            </a:p>
          </p:txBody>
        </p:sp>
        <p:sp>
          <p:nvSpPr>
            <p:cNvPr id="27" name="TextBox 27"/>
            <p:cNvSpPr txBox="1"/>
            <p:nvPr/>
          </p:nvSpPr>
          <p:spPr>
            <a:xfrm>
              <a:off x="4065270" y="5484495"/>
              <a:ext cx="220885" cy="182880"/>
            </a:xfrm>
            <a:prstGeom prst="rect">
              <a:avLst/>
            </a:prstGeom>
            <a:noFill/>
            <a:ln>
              <a:noFill/>
            </a:ln>
          </p:spPr>
          <p:txBody>
            <a:bodyPr wrap="none" lIns="0" tIns="0" rIns="0" bIns="0" anchor="t" anchorCtr="0">
              <a:spAutoFit/>
            </a:bodyPr>
            <a:lstStyle/>
            <a:p>
              <a:pPr algn="l"/>
              <a:r>
                <a:rPr lang="zh-CN" sz="900" dirty="0">
                  <a:solidFill>
                    <a:srgbClr val="8A94A6"/>
                  </a:solidFill>
                  <a:latin typeface="Arial"/>
                  <a:ea typeface="Microsoft YaHei"/>
                  <a:cs typeface="Arial"/>
                </a:rPr>
                <a:t>$40</a:t>
              </a:r>
            </a:p>
          </p:txBody>
        </p:sp>
        <p:sp>
          <p:nvSpPr>
            <p:cNvPr id="28" name="TextBox 28"/>
            <p:cNvSpPr txBox="1"/>
            <p:nvPr/>
          </p:nvSpPr>
          <p:spPr>
            <a:xfrm>
              <a:off x="7075170" y="5484495"/>
              <a:ext cx="220885" cy="182880"/>
            </a:xfrm>
            <a:prstGeom prst="rect">
              <a:avLst/>
            </a:prstGeom>
            <a:noFill/>
            <a:ln>
              <a:noFill/>
            </a:ln>
          </p:spPr>
          <p:txBody>
            <a:bodyPr wrap="none" lIns="0" tIns="0" rIns="0" bIns="0" anchor="t" anchorCtr="0">
              <a:spAutoFit/>
            </a:bodyPr>
            <a:lstStyle/>
            <a:p>
              <a:pPr algn="l"/>
              <a:r>
                <a:rPr lang="zh-CN" sz="900" dirty="0">
                  <a:solidFill>
                    <a:srgbClr val="8A94A6"/>
                  </a:solidFill>
                  <a:latin typeface="Arial"/>
                  <a:ea typeface="Microsoft YaHei"/>
                  <a:cs typeface="Arial"/>
                </a:rPr>
                <a:t>$80</a:t>
              </a:r>
            </a:p>
          </p:txBody>
        </p:sp>
        <p:sp>
          <p:nvSpPr>
            <p:cNvPr id="29" name="TextBox 29"/>
            <p:cNvSpPr txBox="1"/>
            <p:nvPr/>
          </p:nvSpPr>
          <p:spPr>
            <a:xfrm>
              <a:off x="3378518" y="2085499"/>
              <a:ext cx="475271" cy="198120"/>
            </a:xfrm>
            <a:prstGeom prst="rect">
              <a:avLst/>
            </a:prstGeom>
            <a:noFill/>
            <a:ln>
              <a:noFill/>
            </a:ln>
          </p:spPr>
          <p:txBody>
            <a:bodyPr wrap="none" lIns="0" tIns="0" rIns="0" bIns="0" anchor="t" anchorCtr="0">
              <a:spAutoFit/>
            </a:bodyPr>
            <a:lstStyle/>
            <a:p>
              <a:pPr algn="l"/>
              <a:r>
                <a:rPr lang="zh-CN" sz="975" b="1" dirty="0">
                  <a:solidFill>
                    <a:srgbClr val="172033"/>
                  </a:solidFill>
                  <a:latin typeface="Arial"/>
                  <a:ea typeface="Microsoft YaHei"/>
                  <a:cs typeface="Arial"/>
                </a:rPr>
                <a:t>Search</a:t>
              </a:r>
            </a:p>
          </p:txBody>
        </p:sp>
        <p:sp>
          <p:nvSpPr>
            <p:cNvPr id="30" name="TextBox 30"/>
            <p:cNvSpPr txBox="1"/>
            <p:nvPr/>
          </p:nvSpPr>
          <p:spPr>
            <a:xfrm>
              <a:off x="6264592" y="2980849"/>
              <a:ext cx="714176" cy="198120"/>
            </a:xfrm>
            <a:prstGeom prst="rect">
              <a:avLst/>
            </a:prstGeom>
            <a:noFill/>
            <a:ln>
              <a:noFill/>
            </a:ln>
          </p:spPr>
          <p:txBody>
            <a:bodyPr wrap="none" lIns="0" tIns="0" rIns="0" bIns="0" anchor="t" anchorCtr="0">
              <a:spAutoFit/>
            </a:bodyPr>
            <a:lstStyle/>
            <a:p>
              <a:pPr algn="l"/>
              <a:r>
                <a:rPr lang="zh-CN" sz="975" b="1" dirty="0">
                  <a:solidFill>
                    <a:srgbClr val="C2410C"/>
                  </a:solidFill>
                  <a:latin typeface="Arial"/>
                  <a:ea typeface="Microsoft YaHei"/>
                  <a:cs typeface="Arial"/>
                </a:rPr>
                <a:t>Paid Social</a:t>
              </a:r>
            </a:p>
          </p:txBody>
        </p:sp>
        <p:sp>
          <p:nvSpPr>
            <p:cNvPr id="31" name="TextBox 31"/>
            <p:cNvSpPr txBox="1"/>
            <p:nvPr/>
          </p:nvSpPr>
          <p:spPr>
            <a:xfrm>
              <a:off x="1959292" y="2771299"/>
              <a:ext cx="591311" cy="198120"/>
            </a:xfrm>
            <a:prstGeom prst="rect">
              <a:avLst/>
            </a:prstGeom>
            <a:noFill/>
            <a:ln>
              <a:noFill/>
            </a:ln>
          </p:spPr>
          <p:txBody>
            <a:bodyPr wrap="none" lIns="0" tIns="0" rIns="0" bIns="0" anchor="t" anchorCtr="0">
              <a:spAutoFit/>
            </a:bodyPr>
            <a:lstStyle/>
            <a:p>
              <a:pPr algn="l"/>
              <a:r>
                <a:rPr lang="zh-CN" sz="975" b="1" dirty="0">
                  <a:solidFill>
                    <a:srgbClr val="14A38B"/>
                  </a:solidFill>
                  <a:latin typeface="Arial"/>
                  <a:ea typeface="Microsoft YaHei"/>
                  <a:cs typeface="Arial"/>
                </a:rPr>
                <a:t>Referral</a:t>
              </a:r>
            </a:p>
          </p:txBody>
        </p:sp>
        <p:sp>
          <p:nvSpPr>
            <p:cNvPr id="32" name="TextBox 32"/>
            <p:cNvSpPr txBox="1"/>
            <p:nvPr/>
          </p:nvSpPr>
          <p:spPr>
            <a:xfrm>
              <a:off x="3064192" y="3799999"/>
              <a:ext cx="550356" cy="198120"/>
            </a:xfrm>
            <a:prstGeom prst="rect">
              <a:avLst/>
            </a:prstGeom>
            <a:noFill/>
            <a:ln>
              <a:noFill/>
            </a:ln>
          </p:spPr>
          <p:txBody>
            <a:bodyPr wrap="none" lIns="0" tIns="0" rIns="0" bIns="0" anchor="t" anchorCtr="0">
              <a:spAutoFit/>
            </a:bodyPr>
            <a:lstStyle/>
            <a:p>
              <a:pPr algn="l"/>
              <a:r>
                <a:rPr lang="zh-CN" sz="975" b="1" dirty="0">
                  <a:solidFill>
                    <a:srgbClr val="F59E0B"/>
                  </a:solidFill>
                  <a:latin typeface="Arial"/>
                  <a:ea typeface="Microsoft YaHei"/>
                  <a:cs typeface="Arial"/>
                </a:rPr>
                <a:t>Partner</a:t>
              </a:r>
            </a:p>
          </p:txBody>
        </p:sp>
      </p:grpSp>
      <p:grpSp>
        <p:nvGrpSpPr>
          <p:cNvPr id="59" name="Group 59"/>
          <p:cNvGrpSpPr/>
          <p:nvPr/>
        </p:nvGrpSpPr>
        <p:grpSpPr>
          <a:xfrm>
            <a:off x="7848600" y="2000250"/>
            <a:ext cx="4982408" cy="3752850"/>
            <a:chOff x="7848600" y="2000250"/>
            <a:chExt cx="4982408" cy="3752850"/>
          </a:xfrm>
        </p:grpSpPr>
        <p:sp>
          <p:nvSpPr>
            <p:cNvPr id="34" name="Rectangle 34"/>
            <p:cNvSpPr/>
            <p:nvPr/>
          </p:nvSpPr>
          <p:spPr>
            <a:xfrm>
              <a:off x="7848600" y="2000250"/>
              <a:ext cx="3619500" cy="3752850"/>
            </a:xfrm>
            <a:prstGeom prst="roundRect">
              <a:avLst>
                <a:gd name="adj" fmla="val 2105"/>
              </a:avLst>
            </a:prstGeom>
            <a:solidFill>
              <a:srgbClr val="F7F8FA"/>
            </a:solidFill>
            <a:ln w="9525">
              <a:solidFill>
                <a:srgbClr val="D9E1EA"/>
              </a:solidFill>
            </a:ln>
          </p:spPr>
        </p:sp>
        <p:sp>
          <p:nvSpPr>
            <p:cNvPr id="35" name="TextBox 35"/>
            <p:cNvSpPr txBox="1"/>
            <p:nvPr/>
          </p:nvSpPr>
          <p:spPr>
            <a:xfrm>
              <a:off x="8056245" y="2184082"/>
              <a:ext cx="1843935" cy="335280"/>
            </a:xfrm>
            <a:prstGeom prst="rect">
              <a:avLst/>
            </a:prstGeom>
            <a:noFill/>
            <a:ln>
              <a:noFill/>
            </a:ln>
          </p:spPr>
          <p:txBody>
            <a:bodyPr wrap="none" lIns="0" tIns="0" rIns="0" bIns="0" anchor="t" anchorCtr="0">
              <a:spAutoFit/>
            </a:bodyPr>
            <a:lstStyle/>
            <a:p>
              <a:pPr algn="l"/>
              <a:r>
                <a:rPr lang="zh-CN" sz="1650" b="1" dirty="0">
                  <a:solidFill>
                    <a:srgbClr val="172033"/>
                  </a:solidFill>
                  <a:latin typeface="Georgia"/>
                  <a:ea typeface="Microsoft YaHei"/>
                  <a:cs typeface="Georgia"/>
                </a:rPr>
                <a:t>Efficiency table</a:t>
              </a:r>
            </a:p>
          </p:txBody>
        </p:sp>
        <p:sp>
          <p:nvSpPr>
            <p:cNvPr id="36" name="Line 36"/>
            <p:cNvSpPr/>
            <p:nvPr/>
          </p:nvSpPr>
          <p:spPr>
            <a:xfrm>
              <a:off x="8077200" y="2647950"/>
              <a:ext cx="3162300" cy="9525"/>
            </a:xfrm>
            <a:custGeom>
              <a:avLst/>
              <a:gdLst/>
              <a:ahLst/>
              <a:cxnLst/>
              <a:rect l="l" t="t" r="r" b="b"/>
              <a:pathLst>
                <a:path w="3162300" h="9525">
                  <a:moveTo>
                    <a:pt x="0" y="0"/>
                  </a:moveTo>
                  <a:lnTo>
                    <a:pt x="3162300" y="0"/>
                  </a:lnTo>
                </a:path>
              </a:pathLst>
            </a:custGeom>
            <a:noFill/>
            <a:ln w="9525">
              <a:solidFill>
                <a:srgbClr val="D9E1EA"/>
              </a:solidFill>
            </a:ln>
          </p:spPr>
        </p:sp>
        <p:sp>
          <p:nvSpPr>
            <p:cNvPr id="37" name="TextBox 37"/>
            <p:cNvSpPr txBox="1"/>
            <p:nvPr/>
          </p:nvSpPr>
          <p:spPr>
            <a:xfrm>
              <a:off x="8065770" y="2817495"/>
              <a:ext cx="454914" cy="182880"/>
            </a:xfrm>
            <a:prstGeom prst="rect">
              <a:avLst/>
            </a:prstGeom>
            <a:noFill/>
            <a:ln>
              <a:noFill/>
            </a:ln>
          </p:spPr>
          <p:txBody>
            <a:bodyPr wrap="none" lIns="0" tIns="0" rIns="0" bIns="0" anchor="t" anchorCtr="0">
              <a:spAutoFit/>
            </a:bodyPr>
            <a:lstStyle/>
            <a:p>
              <a:pPr algn="l"/>
              <a:r>
                <a:rPr lang="zh-CN" sz="900" dirty="0">
                  <a:solidFill>
                    <a:srgbClr val="8A94A6"/>
                  </a:solidFill>
                  <a:latin typeface="Arial"/>
                  <a:ea typeface="Microsoft YaHei"/>
                  <a:cs typeface="Arial"/>
                </a:rPr>
                <a:t>Channel</a:t>
              </a:r>
            </a:p>
          </p:txBody>
        </p:sp>
        <p:sp>
          <p:nvSpPr>
            <p:cNvPr id="38" name="TextBox 38"/>
            <p:cNvSpPr txBox="1"/>
            <p:nvPr/>
          </p:nvSpPr>
          <p:spPr>
            <a:xfrm>
              <a:off x="9220295" y="2817495"/>
              <a:ext cx="220885" cy="182880"/>
            </a:xfrm>
            <a:prstGeom prst="rect">
              <a:avLst/>
            </a:prstGeom>
            <a:noFill/>
            <a:ln>
              <a:noFill/>
            </a:ln>
          </p:spPr>
          <p:txBody>
            <a:bodyPr wrap="none" lIns="0" tIns="0" rIns="0" bIns="0" anchor="t" anchorCtr="0">
              <a:spAutoFit/>
            </a:bodyPr>
            <a:lstStyle/>
            <a:p>
              <a:pPr algn="r"/>
              <a:r>
                <a:rPr lang="zh-CN" sz="900" dirty="0">
                  <a:solidFill>
                    <a:srgbClr val="8A94A6"/>
                  </a:solidFill>
                  <a:latin typeface="Arial"/>
                  <a:ea typeface="Microsoft YaHei"/>
                  <a:cs typeface="Arial"/>
                </a:rPr>
                <a:t>CAC</a:t>
              </a:r>
            </a:p>
          </p:txBody>
        </p:sp>
        <p:sp>
          <p:nvSpPr>
            <p:cNvPr id="39" name="TextBox 39"/>
            <p:cNvSpPr txBox="1"/>
            <p:nvPr/>
          </p:nvSpPr>
          <p:spPr>
            <a:xfrm>
              <a:off x="9656445" y="2817495"/>
              <a:ext cx="622935" cy="182880"/>
            </a:xfrm>
            <a:prstGeom prst="rect">
              <a:avLst/>
            </a:prstGeom>
            <a:noFill/>
            <a:ln>
              <a:noFill/>
            </a:ln>
          </p:spPr>
          <p:txBody>
            <a:bodyPr wrap="none" lIns="0" tIns="0" rIns="0" bIns="0" anchor="t" anchorCtr="0">
              <a:spAutoFit/>
            </a:bodyPr>
            <a:lstStyle/>
            <a:p>
              <a:pPr algn="r"/>
              <a:r>
                <a:rPr lang="zh-CN" sz="900" dirty="0">
                  <a:solidFill>
                    <a:srgbClr val="8A94A6"/>
                  </a:solidFill>
                  <a:latin typeface="Arial"/>
                  <a:ea typeface="Microsoft YaHei"/>
                  <a:cs typeface="Arial"/>
                </a:rPr>
                <a:t>Paid conv.</a:t>
              </a:r>
            </a:p>
          </p:txBody>
        </p:sp>
        <p:sp>
          <p:nvSpPr>
            <p:cNvPr id="40" name="TextBox 40"/>
            <p:cNvSpPr txBox="1"/>
            <p:nvPr/>
          </p:nvSpPr>
          <p:spPr>
            <a:xfrm>
              <a:off x="10766012" y="2817495"/>
              <a:ext cx="484918" cy="182880"/>
            </a:xfrm>
            <a:prstGeom prst="rect">
              <a:avLst/>
            </a:prstGeom>
            <a:noFill/>
            <a:ln>
              <a:noFill/>
            </a:ln>
          </p:spPr>
          <p:txBody>
            <a:bodyPr wrap="none" lIns="0" tIns="0" rIns="0" bIns="0" anchor="t" anchorCtr="0">
              <a:spAutoFit/>
            </a:bodyPr>
            <a:lstStyle/>
            <a:p>
              <a:pPr algn="r"/>
              <a:r>
                <a:rPr lang="zh-CN" sz="900" dirty="0">
                  <a:solidFill>
                    <a:srgbClr val="8A94A6"/>
                  </a:solidFill>
                  <a:latin typeface="Arial"/>
                  <a:ea typeface="Microsoft YaHei"/>
                  <a:cs typeface="Arial"/>
                </a:rPr>
                <a:t>Revenue</a:t>
              </a:r>
            </a:p>
          </p:txBody>
        </p:sp>
        <p:sp>
          <p:nvSpPr>
            <p:cNvPr id="41" name="TextBox 41"/>
            <p:cNvSpPr txBox="1"/>
            <p:nvPr/>
          </p:nvSpPr>
          <p:spPr>
            <a:xfrm>
              <a:off x="8061960" y="3147060"/>
              <a:ext cx="727767" cy="243840"/>
            </a:xfrm>
            <a:prstGeom prst="rect">
              <a:avLst/>
            </a:prstGeom>
            <a:noFill/>
            <a:ln>
              <a:noFill/>
            </a:ln>
          </p:spPr>
          <p:txBody>
            <a:bodyPr wrap="none" lIns="0" tIns="0" rIns="0" bIns="0" anchor="t" anchorCtr="0">
              <a:spAutoFit/>
            </a:bodyPr>
            <a:lstStyle/>
            <a:p>
              <a:pPr algn="l"/>
              <a:r>
                <a:rPr lang="zh-CN" sz="1200" b="1" dirty="0">
                  <a:solidFill>
                    <a:srgbClr val="14A38B"/>
                  </a:solidFill>
                  <a:latin typeface="Arial"/>
                  <a:ea typeface="Microsoft YaHei"/>
                  <a:cs typeface="Arial"/>
                </a:rPr>
                <a:t>Referral</a:t>
              </a:r>
            </a:p>
          </p:txBody>
        </p:sp>
        <p:sp>
          <p:nvSpPr>
            <p:cNvPr id="42" name="TextBox 42"/>
            <p:cNvSpPr txBox="1"/>
            <p:nvPr/>
          </p:nvSpPr>
          <p:spPr>
            <a:xfrm>
              <a:off x="8974455" y="3147060"/>
              <a:ext cx="470535" cy="243840"/>
            </a:xfrm>
            <a:prstGeom prst="rect">
              <a:avLst/>
            </a:prstGeom>
            <a:noFill/>
            <a:ln>
              <a:noFill/>
            </a:ln>
          </p:spPr>
          <p:txBody>
            <a:bodyPr wrap="none" lIns="0" tIns="0" rIns="0" bIns="0" anchor="t" anchorCtr="0">
              <a:spAutoFit/>
            </a:bodyPr>
            <a:lstStyle/>
            <a:p>
              <a:pPr algn="r"/>
              <a:r>
                <a:rPr lang="zh-CN" sz="1200" dirty="0">
                  <a:solidFill>
                    <a:srgbClr val="172033"/>
                  </a:solidFill>
                  <a:latin typeface="Arial"/>
                  <a:ea typeface="Microsoft YaHei"/>
                  <a:cs typeface="Arial"/>
                </a:rPr>
                <a:t>$9.15</a:t>
              </a:r>
            </a:p>
          </p:txBody>
        </p:sp>
        <p:sp>
          <p:nvSpPr>
            <p:cNvPr id="43" name="TextBox 43"/>
            <p:cNvSpPr txBox="1"/>
            <p:nvPr/>
          </p:nvSpPr>
          <p:spPr>
            <a:xfrm>
              <a:off x="9812655" y="3147060"/>
              <a:ext cx="470535" cy="243840"/>
            </a:xfrm>
            <a:prstGeom prst="rect">
              <a:avLst/>
            </a:prstGeom>
            <a:noFill/>
            <a:ln>
              <a:noFill/>
            </a:ln>
          </p:spPr>
          <p:txBody>
            <a:bodyPr wrap="none" lIns="0" tIns="0" rIns="0" bIns="0" anchor="t" anchorCtr="0">
              <a:spAutoFit/>
            </a:bodyPr>
            <a:lstStyle/>
            <a:p>
              <a:pPr algn="r"/>
              <a:r>
                <a:rPr lang="zh-CN" sz="1200" dirty="0">
                  <a:solidFill>
                    <a:srgbClr val="172033"/>
                  </a:solidFill>
                  <a:latin typeface="Arial"/>
                  <a:ea typeface="Microsoft YaHei"/>
                  <a:cs typeface="Arial"/>
                </a:rPr>
                <a:t>1,715</a:t>
              </a:r>
            </a:p>
          </p:txBody>
        </p:sp>
        <p:sp>
          <p:nvSpPr>
            <p:cNvPr id="44" name="TextBox 44"/>
            <p:cNvSpPr txBox="1"/>
            <p:nvPr/>
          </p:nvSpPr>
          <p:spPr>
            <a:xfrm>
              <a:off x="10784205" y="3147060"/>
              <a:ext cx="470535" cy="243840"/>
            </a:xfrm>
            <a:prstGeom prst="rect">
              <a:avLst/>
            </a:prstGeom>
            <a:noFill/>
            <a:ln>
              <a:noFill/>
            </a:ln>
          </p:spPr>
          <p:txBody>
            <a:bodyPr wrap="none" lIns="0" tIns="0" rIns="0" bIns="0" anchor="t" anchorCtr="0">
              <a:spAutoFit/>
            </a:bodyPr>
            <a:lstStyle/>
            <a:p>
              <a:pPr algn="r"/>
              <a:r>
                <a:rPr lang="zh-CN" sz="1200" dirty="0">
                  <a:solidFill>
                    <a:srgbClr val="172033"/>
                  </a:solidFill>
                  <a:latin typeface="Arial"/>
                  <a:ea typeface="Microsoft YaHei"/>
                  <a:cs typeface="Arial"/>
                </a:rPr>
                <a:t>$348K</a:t>
              </a:r>
            </a:p>
          </p:txBody>
        </p:sp>
        <p:sp>
          <p:nvSpPr>
            <p:cNvPr id="45" name="TextBox 45"/>
            <p:cNvSpPr txBox="1"/>
            <p:nvPr/>
          </p:nvSpPr>
          <p:spPr>
            <a:xfrm>
              <a:off x="8061960" y="3585210"/>
              <a:ext cx="677361" cy="243840"/>
            </a:xfrm>
            <a:prstGeom prst="rect">
              <a:avLst/>
            </a:prstGeom>
            <a:noFill/>
            <a:ln>
              <a:noFill/>
            </a:ln>
          </p:spPr>
          <p:txBody>
            <a:bodyPr wrap="none" lIns="0" tIns="0" rIns="0" bIns="0" anchor="t" anchorCtr="0">
              <a:spAutoFit/>
            </a:bodyPr>
            <a:lstStyle/>
            <a:p>
              <a:pPr algn="l"/>
              <a:r>
                <a:rPr lang="zh-CN" sz="1200" b="1" dirty="0">
                  <a:solidFill>
                    <a:srgbClr val="F59E0B"/>
                  </a:solidFill>
                  <a:latin typeface="Arial"/>
                  <a:ea typeface="Microsoft YaHei"/>
                  <a:cs typeface="Arial"/>
                </a:rPr>
                <a:t>Partner</a:t>
              </a:r>
            </a:p>
          </p:txBody>
        </p:sp>
        <p:sp>
          <p:nvSpPr>
            <p:cNvPr id="46" name="TextBox 46"/>
            <p:cNvSpPr txBox="1"/>
            <p:nvPr/>
          </p:nvSpPr>
          <p:spPr>
            <a:xfrm>
              <a:off x="8886444" y="3585210"/>
              <a:ext cx="558546" cy="243840"/>
            </a:xfrm>
            <a:prstGeom prst="rect">
              <a:avLst/>
            </a:prstGeom>
            <a:noFill/>
            <a:ln>
              <a:noFill/>
            </a:ln>
          </p:spPr>
          <p:txBody>
            <a:bodyPr wrap="none" lIns="0" tIns="0" rIns="0" bIns="0" anchor="t" anchorCtr="0">
              <a:spAutoFit/>
            </a:bodyPr>
            <a:lstStyle/>
            <a:p>
              <a:pPr algn="r"/>
              <a:r>
                <a:rPr lang="zh-CN" sz="1200" dirty="0">
                  <a:solidFill>
                    <a:srgbClr val="172033"/>
                  </a:solidFill>
                  <a:latin typeface="Arial"/>
                  <a:ea typeface="Microsoft YaHei"/>
                  <a:cs typeface="Arial"/>
                </a:rPr>
                <a:t>$23.73</a:t>
              </a:r>
            </a:p>
          </p:txBody>
        </p:sp>
        <p:sp>
          <p:nvSpPr>
            <p:cNvPr id="47" name="TextBox 47"/>
            <p:cNvSpPr txBox="1"/>
            <p:nvPr/>
          </p:nvSpPr>
          <p:spPr>
            <a:xfrm>
              <a:off x="9812655" y="3585210"/>
              <a:ext cx="470535" cy="243840"/>
            </a:xfrm>
            <a:prstGeom prst="rect">
              <a:avLst/>
            </a:prstGeom>
            <a:noFill/>
            <a:ln>
              <a:noFill/>
            </a:ln>
          </p:spPr>
          <p:txBody>
            <a:bodyPr wrap="none" lIns="0" tIns="0" rIns="0" bIns="0" anchor="t" anchorCtr="0">
              <a:spAutoFit/>
            </a:bodyPr>
            <a:lstStyle/>
            <a:p>
              <a:pPr algn="r"/>
              <a:r>
                <a:rPr lang="zh-CN" sz="1200" dirty="0">
                  <a:solidFill>
                    <a:srgbClr val="172033"/>
                  </a:solidFill>
                  <a:latin typeface="Arial"/>
                  <a:ea typeface="Microsoft YaHei"/>
                  <a:cs typeface="Arial"/>
                </a:rPr>
                <a:t>1,045</a:t>
              </a:r>
            </a:p>
          </p:txBody>
        </p:sp>
        <p:sp>
          <p:nvSpPr>
            <p:cNvPr id="48" name="TextBox 48"/>
            <p:cNvSpPr txBox="1"/>
            <p:nvPr/>
          </p:nvSpPr>
          <p:spPr>
            <a:xfrm>
              <a:off x="10784205" y="3585210"/>
              <a:ext cx="470535" cy="243840"/>
            </a:xfrm>
            <a:prstGeom prst="rect">
              <a:avLst/>
            </a:prstGeom>
            <a:noFill/>
            <a:ln>
              <a:noFill/>
            </a:ln>
          </p:spPr>
          <p:txBody>
            <a:bodyPr wrap="none" lIns="0" tIns="0" rIns="0" bIns="0" anchor="t" anchorCtr="0">
              <a:spAutoFit/>
            </a:bodyPr>
            <a:lstStyle/>
            <a:p>
              <a:pPr algn="r"/>
              <a:r>
                <a:rPr lang="zh-CN" sz="1200" dirty="0">
                  <a:solidFill>
                    <a:srgbClr val="172033"/>
                  </a:solidFill>
                  <a:latin typeface="Arial"/>
                  <a:ea typeface="Microsoft YaHei"/>
                  <a:cs typeface="Arial"/>
                </a:rPr>
                <a:t>$225K</a:t>
              </a:r>
            </a:p>
          </p:txBody>
        </p:sp>
        <p:sp>
          <p:nvSpPr>
            <p:cNvPr id="49" name="TextBox 49"/>
            <p:cNvSpPr txBox="1"/>
            <p:nvPr/>
          </p:nvSpPr>
          <p:spPr>
            <a:xfrm>
              <a:off x="8061960" y="4023360"/>
              <a:ext cx="584949" cy="243840"/>
            </a:xfrm>
            <a:prstGeom prst="rect">
              <a:avLst/>
            </a:prstGeom>
            <a:noFill/>
            <a:ln>
              <a:noFill/>
            </a:ln>
          </p:spPr>
          <p:txBody>
            <a:bodyPr wrap="none" lIns="0" tIns="0" rIns="0" bIns="0" anchor="t" anchorCtr="0">
              <a:spAutoFit/>
            </a:bodyPr>
            <a:lstStyle/>
            <a:p>
              <a:pPr algn="l"/>
              <a:r>
                <a:rPr lang="zh-CN" sz="1200" b="1" dirty="0">
                  <a:solidFill>
                    <a:srgbClr val="2F80ED"/>
                  </a:solidFill>
                  <a:latin typeface="Arial"/>
                  <a:ea typeface="Microsoft YaHei"/>
                  <a:cs typeface="Arial"/>
                </a:rPr>
                <a:t>Search</a:t>
              </a:r>
            </a:p>
          </p:txBody>
        </p:sp>
        <p:sp>
          <p:nvSpPr>
            <p:cNvPr id="50" name="TextBox 50"/>
            <p:cNvSpPr txBox="1"/>
            <p:nvPr/>
          </p:nvSpPr>
          <p:spPr>
            <a:xfrm>
              <a:off x="8886444" y="4023360"/>
              <a:ext cx="558546" cy="243840"/>
            </a:xfrm>
            <a:prstGeom prst="rect">
              <a:avLst/>
            </a:prstGeom>
            <a:noFill/>
            <a:ln>
              <a:noFill/>
            </a:ln>
          </p:spPr>
          <p:txBody>
            <a:bodyPr wrap="none" lIns="0" tIns="0" rIns="0" bIns="0" anchor="t" anchorCtr="0">
              <a:spAutoFit/>
            </a:bodyPr>
            <a:lstStyle/>
            <a:p>
              <a:pPr algn="r"/>
              <a:r>
                <a:rPr lang="zh-CN" sz="1200" dirty="0">
                  <a:solidFill>
                    <a:srgbClr val="172033"/>
                  </a:solidFill>
                  <a:latin typeface="Arial"/>
                  <a:ea typeface="Microsoft YaHei"/>
                  <a:cs typeface="Arial"/>
                </a:rPr>
                <a:t>$31.03</a:t>
              </a:r>
            </a:p>
          </p:txBody>
        </p:sp>
        <p:sp>
          <p:nvSpPr>
            <p:cNvPr id="51" name="TextBox 51"/>
            <p:cNvSpPr txBox="1"/>
            <p:nvPr/>
          </p:nvSpPr>
          <p:spPr>
            <a:xfrm>
              <a:off x="9812655" y="4023360"/>
              <a:ext cx="470535" cy="243840"/>
            </a:xfrm>
            <a:prstGeom prst="rect">
              <a:avLst/>
            </a:prstGeom>
            <a:noFill/>
            <a:ln>
              <a:noFill/>
            </a:ln>
          </p:spPr>
          <p:txBody>
            <a:bodyPr wrap="none" lIns="0" tIns="0" rIns="0" bIns="0" anchor="t" anchorCtr="0">
              <a:spAutoFit/>
            </a:bodyPr>
            <a:lstStyle/>
            <a:p>
              <a:pPr algn="r"/>
              <a:r>
                <a:rPr lang="zh-CN" sz="1200" dirty="0">
                  <a:solidFill>
                    <a:srgbClr val="172033"/>
                  </a:solidFill>
                  <a:latin typeface="Arial"/>
                  <a:ea typeface="Microsoft YaHei"/>
                  <a:cs typeface="Arial"/>
                </a:rPr>
                <a:t>2,095</a:t>
              </a:r>
            </a:p>
          </p:txBody>
        </p:sp>
        <p:sp>
          <p:nvSpPr>
            <p:cNvPr id="52" name="TextBox 52"/>
            <p:cNvSpPr txBox="1"/>
            <p:nvPr/>
          </p:nvSpPr>
          <p:spPr>
            <a:xfrm>
              <a:off x="10784205" y="4023360"/>
              <a:ext cx="470535" cy="243840"/>
            </a:xfrm>
            <a:prstGeom prst="rect">
              <a:avLst/>
            </a:prstGeom>
            <a:noFill/>
            <a:ln>
              <a:noFill/>
            </a:ln>
          </p:spPr>
          <p:txBody>
            <a:bodyPr wrap="none" lIns="0" tIns="0" rIns="0" bIns="0" anchor="t" anchorCtr="0">
              <a:spAutoFit/>
            </a:bodyPr>
            <a:lstStyle/>
            <a:p>
              <a:pPr algn="r"/>
              <a:r>
                <a:rPr lang="zh-CN" sz="1200" dirty="0">
                  <a:solidFill>
                    <a:srgbClr val="172033"/>
                  </a:solidFill>
                  <a:latin typeface="Arial"/>
                  <a:ea typeface="Microsoft YaHei"/>
                  <a:cs typeface="Arial"/>
                </a:rPr>
                <a:t>$374K</a:t>
              </a:r>
            </a:p>
          </p:txBody>
        </p:sp>
        <p:sp>
          <p:nvSpPr>
            <p:cNvPr id="53" name="TextBox 53"/>
            <p:cNvSpPr txBox="1"/>
            <p:nvPr/>
          </p:nvSpPr>
          <p:spPr>
            <a:xfrm>
              <a:off x="8061960" y="4461510"/>
              <a:ext cx="878986" cy="243840"/>
            </a:xfrm>
            <a:prstGeom prst="rect">
              <a:avLst/>
            </a:prstGeom>
            <a:noFill/>
            <a:ln>
              <a:noFill/>
            </a:ln>
          </p:spPr>
          <p:txBody>
            <a:bodyPr wrap="none" lIns="0" tIns="0" rIns="0" bIns="0" anchor="t" anchorCtr="0">
              <a:spAutoFit/>
            </a:bodyPr>
            <a:lstStyle/>
            <a:p>
              <a:pPr algn="l"/>
              <a:r>
                <a:rPr lang="zh-CN" sz="1200" b="1" dirty="0">
                  <a:solidFill>
                    <a:srgbClr val="C2410C"/>
                  </a:solidFill>
                  <a:latin typeface="Arial"/>
                  <a:ea typeface="Microsoft YaHei"/>
                  <a:cs typeface="Arial"/>
                </a:rPr>
                <a:t>Paid Social</a:t>
              </a:r>
            </a:p>
          </p:txBody>
        </p:sp>
        <p:sp>
          <p:nvSpPr>
            <p:cNvPr id="54" name="TextBox 54"/>
            <p:cNvSpPr txBox="1"/>
            <p:nvPr/>
          </p:nvSpPr>
          <p:spPr>
            <a:xfrm>
              <a:off x="8886444" y="4461510"/>
              <a:ext cx="558546" cy="243840"/>
            </a:xfrm>
            <a:prstGeom prst="rect">
              <a:avLst/>
            </a:prstGeom>
            <a:noFill/>
            <a:ln>
              <a:noFill/>
            </a:ln>
          </p:spPr>
          <p:txBody>
            <a:bodyPr wrap="none" lIns="0" tIns="0" rIns="0" bIns="0" anchor="t" anchorCtr="0">
              <a:spAutoFit/>
            </a:bodyPr>
            <a:lstStyle/>
            <a:p>
              <a:pPr algn="r"/>
              <a:r>
                <a:rPr lang="zh-CN" sz="1200" dirty="0">
                  <a:solidFill>
                    <a:srgbClr val="172033"/>
                  </a:solidFill>
                  <a:latin typeface="Arial"/>
                  <a:ea typeface="Microsoft YaHei"/>
                  <a:cs typeface="Arial"/>
                </a:rPr>
                <a:t>$71.95</a:t>
              </a:r>
            </a:p>
          </p:txBody>
        </p:sp>
        <p:sp>
          <p:nvSpPr>
            <p:cNvPr id="55" name="TextBox 55"/>
            <p:cNvSpPr txBox="1"/>
            <p:nvPr/>
          </p:nvSpPr>
          <p:spPr>
            <a:xfrm>
              <a:off x="9812655" y="4461510"/>
              <a:ext cx="470535" cy="243840"/>
            </a:xfrm>
            <a:prstGeom prst="rect">
              <a:avLst/>
            </a:prstGeom>
            <a:noFill/>
            <a:ln>
              <a:noFill/>
            </a:ln>
          </p:spPr>
          <p:txBody>
            <a:bodyPr wrap="none" lIns="0" tIns="0" rIns="0" bIns="0" anchor="t" anchorCtr="0">
              <a:spAutoFit/>
            </a:bodyPr>
            <a:lstStyle/>
            <a:p>
              <a:pPr algn="r"/>
              <a:r>
                <a:rPr lang="zh-CN" sz="1200" dirty="0">
                  <a:solidFill>
                    <a:srgbClr val="172033"/>
                  </a:solidFill>
                  <a:latin typeface="Arial"/>
                  <a:ea typeface="Microsoft YaHei"/>
                  <a:cs typeface="Arial"/>
                </a:rPr>
                <a:t>1,515</a:t>
              </a:r>
            </a:p>
          </p:txBody>
        </p:sp>
        <p:sp>
          <p:nvSpPr>
            <p:cNvPr id="56" name="TextBox 56"/>
            <p:cNvSpPr txBox="1"/>
            <p:nvPr/>
          </p:nvSpPr>
          <p:spPr>
            <a:xfrm>
              <a:off x="10784205" y="4461510"/>
              <a:ext cx="470535" cy="243840"/>
            </a:xfrm>
            <a:prstGeom prst="rect">
              <a:avLst/>
            </a:prstGeom>
            <a:noFill/>
            <a:ln>
              <a:noFill/>
            </a:ln>
          </p:spPr>
          <p:txBody>
            <a:bodyPr wrap="none" lIns="0" tIns="0" rIns="0" bIns="0" anchor="t" anchorCtr="0">
              <a:spAutoFit/>
            </a:bodyPr>
            <a:lstStyle/>
            <a:p>
              <a:pPr algn="r"/>
              <a:r>
                <a:rPr lang="zh-CN" sz="1200" dirty="0">
                  <a:solidFill>
                    <a:srgbClr val="172033"/>
                  </a:solidFill>
                  <a:latin typeface="Arial"/>
                  <a:ea typeface="Microsoft YaHei"/>
                  <a:cs typeface="Arial"/>
                </a:rPr>
                <a:t>$261K</a:t>
              </a:r>
            </a:p>
          </p:txBody>
        </p:sp>
        <p:sp>
          <p:nvSpPr>
            <p:cNvPr id="57" name="Rectangle 57"/>
            <p:cNvSpPr/>
            <p:nvPr/>
          </p:nvSpPr>
          <p:spPr>
            <a:xfrm>
              <a:off x="8077200" y="4991100"/>
              <a:ext cx="3162300" cy="457200"/>
            </a:xfrm>
            <a:prstGeom prst="roundRect">
              <a:avLst>
                <a:gd name="adj" fmla="val 16667"/>
              </a:avLst>
            </a:prstGeom>
            <a:solidFill>
              <a:srgbClr val="FFFFFF"/>
            </a:solidFill>
            <a:ln w="9525">
              <a:solidFill>
                <a:srgbClr val="D9E1EA"/>
              </a:solidFill>
            </a:ln>
          </p:spPr>
        </p:sp>
        <p:sp>
          <p:nvSpPr>
            <p:cNvPr id="58" name="TextBox 58"/>
            <p:cNvSpPr txBox="1"/>
            <p:nvPr/>
          </p:nvSpPr>
          <p:spPr>
            <a:xfrm>
              <a:off x="8234362" y="5155406"/>
              <a:ext cx="4596646" cy="228600"/>
            </a:xfrm>
            <a:prstGeom prst="rect">
              <a:avLst/>
            </a:prstGeom>
            <a:noFill/>
            <a:ln>
              <a:noFill/>
            </a:ln>
          </p:spPr>
          <p:txBody>
            <a:bodyPr wrap="none" lIns="0" tIns="0" rIns="0" bIns="0" anchor="t" anchorCtr="0">
              <a:spAutoFit/>
            </a:bodyPr>
            <a:lstStyle/>
            <a:p>
              <a:pPr algn="l"/>
              <a:r>
                <a:rPr lang="zh-CN" sz="1125" dirty="0">
                  <a:solidFill>
                    <a:srgbClr val="172033"/>
                  </a:solidFill>
                  <a:latin typeface="Arial"/>
                  <a:ea typeface="Microsoft YaHei"/>
                  <a:cs typeface="Arial"/>
                </a:rPr>
                <a:t>Implication: shift incremental tests toward efficient quality.</a:t>
              </a:r>
            </a:p>
          </p:txBody>
        </p:sp>
      </p:grpSp>
      <p:grpSp>
        <p:nvGrpSpPr>
          <p:cNvPr id="62" name="Group 62"/>
          <p:cNvGrpSpPr/>
          <p:nvPr/>
        </p:nvGrpSpPr>
        <p:grpSpPr>
          <a:xfrm>
            <a:off x="712470" y="6132195"/>
            <a:ext cx="10884694" cy="182880"/>
            <a:chOff x="712470" y="6132195"/>
            <a:chExt cx="10884694" cy="182880"/>
          </a:xfrm>
        </p:grpSpPr>
        <p:sp>
          <p:nvSpPr>
            <p:cNvPr id="60" name="TextBox 60"/>
            <p:cNvSpPr txBox="1"/>
            <p:nvPr/>
          </p:nvSpPr>
          <p:spPr>
            <a:xfrm>
              <a:off x="712470" y="6132195"/>
              <a:ext cx="5351526" cy="182880"/>
            </a:xfrm>
            <a:prstGeom prst="rect">
              <a:avLst/>
            </a:prstGeom>
            <a:noFill/>
            <a:ln>
              <a:noFill/>
            </a:ln>
          </p:spPr>
          <p:txBody>
            <a:bodyPr wrap="none" lIns="0" tIns="0" rIns="0" bIns="0" anchor="t" anchorCtr="0">
              <a:spAutoFit/>
            </a:bodyPr>
            <a:lstStyle/>
            <a:p>
              <a:pPr algn="l"/>
              <a:r>
                <a:rPr lang="zh-CN" sz="900" dirty="0">
                  <a:solidFill>
                    <a:srgbClr val="8A94A6"/>
                  </a:solidFill>
                  <a:latin typeface="Arial"/>
                  <a:ea typeface="Microsoft YaHei"/>
                  <a:cs typeface="Arial"/>
                </a:rPr>
                <a:t>Source: product_growth_metrics_q1_q2_2026.csv | CAC = ad_spend_usd / paid_conversions</a:t>
              </a:r>
            </a:p>
          </p:txBody>
        </p:sp>
        <p:sp>
          <p:nvSpPr>
            <p:cNvPr id="61" name="TextBox 61"/>
            <p:cNvSpPr txBox="1"/>
            <p:nvPr/>
          </p:nvSpPr>
          <p:spPr>
            <a:xfrm>
              <a:off x="11304270" y="6132195"/>
              <a:ext cx="292894" cy="182880"/>
            </a:xfrm>
            <a:prstGeom prst="rect">
              <a:avLst/>
            </a:prstGeom>
            <a:noFill/>
            <a:ln>
              <a:noFill/>
            </a:ln>
          </p:spPr>
          <p:txBody>
            <a:bodyPr wrap="none" lIns="0" tIns="0" rIns="0" bIns="0" anchor="t" anchorCtr="0">
              <a:spAutoFit/>
            </a:bodyPr>
            <a:lstStyle/>
            <a:p>
              <a:pPr algn="l"/>
              <a:r>
                <a:rPr lang="zh-CN" sz="900" dirty="0">
                  <a:solidFill>
                    <a:srgbClr val="8A94A6"/>
                  </a:solidFill>
                  <a:latin typeface="Arial"/>
                  <a:ea typeface="Microsoft YaHei"/>
                  <a:cs typeface="Arial"/>
                </a:rPr>
                <a:t>5 / 7</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slide(fromBottom)">
                                      <p:cBhvr>
                                        <p:cTn id="7" dur="400"/>
                                        <p:tgtEl>
                                          <p:spTgt spid="33"/>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59"/>
                                        </p:tgtEl>
                                        <p:attrNameLst>
                                          <p:attrName>style.visibility</p:attrName>
                                        </p:attrNameLst>
                                      </p:cBhvr>
                                      <p:to>
                                        <p:strVal val="visible"/>
                                      </p:to>
                                    </p:set>
                                    <p:animEffect transition="in" filter="wipe(left)">
                                      <p:cBhvr>
                                        <p:cTn id="11" dur="4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5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7F8FA"/>
            </a:solidFill>
            <a:ln>
              <a:noFill/>
            </a:ln>
          </p:spPr>
        </p:sp>
        <p:sp>
          <p:nvSpPr>
            <p:cNvPr id="3" name="Rectangle 3"/>
            <p:cNvSpPr/>
            <p:nvPr/>
          </p:nvSpPr>
          <p:spPr>
            <a:xfrm>
              <a:off x="495300" y="400050"/>
              <a:ext cx="11201400" cy="6057900"/>
            </a:xfrm>
            <a:prstGeom prst="roundRect">
              <a:avLst>
                <a:gd name="adj" fmla="val 1572"/>
              </a:avLst>
            </a:prstGeom>
            <a:solidFill>
              <a:srgbClr val="FFFFFF"/>
            </a:solidFill>
            <a:ln w="9525">
              <a:solidFill>
                <a:srgbClr val="D9E1EA"/>
              </a:solidFill>
            </a:ln>
          </p:spPr>
        </p:sp>
      </p:grpSp>
      <p:grpSp>
        <p:nvGrpSpPr>
          <p:cNvPr id="9" name="Group 9"/>
          <p:cNvGrpSpPr/>
          <p:nvPr/>
        </p:nvGrpSpPr>
        <p:grpSpPr>
          <a:xfrm>
            <a:off x="691515" y="645795"/>
            <a:ext cx="10776585" cy="1059180"/>
            <a:chOff x="691515" y="645795"/>
            <a:chExt cx="10776585" cy="1059180"/>
          </a:xfrm>
        </p:grpSpPr>
        <p:sp>
          <p:nvSpPr>
            <p:cNvPr id="5" name="TextBox 5"/>
            <p:cNvSpPr txBox="1"/>
            <p:nvPr/>
          </p:nvSpPr>
          <p:spPr>
            <a:xfrm>
              <a:off x="712470" y="645795"/>
              <a:ext cx="1613059" cy="182880"/>
            </a:xfrm>
            <a:prstGeom prst="rect">
              <a:avLst/>
            </a:prstGeom>
            <a:noFill/>
            <a:ln>
              <a:noFill/>
            </a:ln>
          </p:spPr>
          <p:txBody>
            <a:bodyPr wrap="none" lIns="0" tIns="0" rIns="0" bIns="0" anchor="t" anchorCtr="0">
              <a:spAutoFit/>
            </a:bodyPr>
            <a:lstStyle/>
            <a:p>
              <a:pPr algn="l"/>
              <a:r>
                <a:rPr lang="zh-CN" sz="900" dirty="0">
                  <a:solidFill>
                    <a:srgbClr val="596579"/>
                  </a:solidFill>
                  <a:latin typeface="Arial"/>
                  <a:ea typeface="Microsoft YaHei"/>
                  <a:cs typeface="Arial"/>
                </a:rPr>
                <a:t>RETENTION AND CHURN SIGNAL</a:t>
              </a:r>
            </a:p>
          </p:txBody>
        </p:sp>
        <p:sp>
          <p:nvSpPr>
            <p:cNvPr id="6" name="TextBox 6"/>
            <p:cNvSpPr txBox="1"/>
            <p:nvPr/>
          </p:nvSpPr>
          <p:spPr>
            <a:xfrm>
              <a:off x="691515" y="905828"/>
              <a:ext cx="8098274" cy="518160"/>
            </a:xfrm>
            <a:prstGeom prst="rect">
              <a:avLst/>
            </a:prstGeom>
            <a:noFill/>
            <a:ln>
              <a:noFill/>
            </a:ln>
          </p:spPr>
          <p:txBody>
            <a:bodyPr wrap="none" lIns="0" tIns="0" rIns="0" bIns="0" anchor="t" anchorCtr="0">
              <a:spAutoFit/>
            </a:bodyPr>
            <a:lstStyle/>
            <a:p>
              <a:pPr algn="l"/>
              <a:r>
                <a:rPr lang="zh-CN" sz="2550" b="1" dirty="0">
                  <a:solidFill>
                    <a:srgbClr val="172033"/>
                  </a:solidFill>
                  <a:latin typeface="Georgia"/>
                  <a:ea typeface="Microsoft YaHei"/>
                  <a:cs typeface="Georgia"/>
                </a:rPr>
                <a:t>Retention quality favors Referral and Partner</a:t>
              </a:r>
            </a:p>
          </p:txBody>
        </p:sp>
        <p:sp>
          <p:nvSpPr>
            <p:cNvPr id="7" name="TextBox 7"/>
            <p:cNvSpPr txBox="1"/>
            <p:nvPr/>
          </p:nvSpPr>
          <p:spPr>
            <a:xfrm>
              <a:off x="706755" y="1349692"/>
              <a:ext cx="8099298" cy="274320"/>
            </a:xfrm>
            <a:prstGeom prst="rect">
              <a:avLst/>
            </a:prstGeom>
            <a:noFill/>
            <a:ln>
              <a:noFill/>
            </a:ln>
          </p:spPr>
          <p:txBody>
            <a:bodyPr wrap="none" lIns="0" tIns="0" rIns="0" bIns="0" anchor="t" anchorCtr="0">
              <a:spAutoFit/>
            </a:bodyPr>
            <a:lstStyle/>
            <a:p>
              <a:pPr algn="l"/>
              <a:r>
                <a:rPr lang="zh-CN" sz="1350" dirty="0">
                  <a:solidFill>
                    <a:srgbClr val="596579"/>
                  </a:solidFill>
                  <a:latin typeface="Arial"/>
                  <a:ea typeface="Microsoft YaHei"/>
                  <a:cs typeface="Arial"/>
                </a:rPr>
                <a:t>Retention uses retained_m30_pct; churn uses churned_paid_users, not revenue as a proxy.</a:t>
              </a:r>
            </a:p>
          </p:txBody>
        </p:sp>
        <p:sp>
          <p:nvSpPr>
            <p:cNvPr id="8" name="Line 8"/>
            <p:cNvSpPr/>
            <p:nvPr/>
          </p:nvSpPr>
          <p:spPr>
            <a:xfrm>
              <a:off x="723900" y="1695450"/>
              <a:ext cx="10744200" cy="9525"/>
            </a:xfrm>
            <a:custGeom>
              <a:avLst/>
              <a:gdLst/>
              <a:ahLst/>
              <a:cxnLst/>
              <a:rect l="l" t="t" r="r" b="b"/>
              <a:pathLst>
                <a:path w="10744200" h="9525">
                  <a:moveTo>
                    <a:pt x="0" y="0"/>
                  </a:moveTo>
                  <a:lnTo>
                    <a:pt x="10744200" y="0"/>
                  </a:lnTo>
                </a:path>
              </a:pathLst>
            </a:custGeom>
            <a:noFill/>
            <a:ln w="9525">
              <a:solidFill>
                <a:srgbClr val="D9E1EA"/>
              </a:solidFill>
            </a:ln>
          </p:spPr>
        </p:sp>
      </p:grpSp>
      <p:grpSp>
        <p:nvGrpSpPr>
          <p:cNvPr id="37" name="Group 37"/>
          <p:cNvGrpSpPr/>
          <p:nvPr/>
        </p:nvGrpSpPr>
        <p:grpSpPr>
          <a:xfrm>
            <a:off x="723900" y="2000250"/>
            <a:ext cx="6381750" cy="3752850"/>
            <a:chOff x="723900" y="2000250"/>
            <a:chExt cx="6381750" cy="3752850"/>
          </a:xfrm>
        </p:grpSpPr>
        <p:sp>
          <p:nvSpPr>
            <p:cNvPr id="10" name="Rectangle 10"/>
            <p:cNvSpPr/>
            <p:nvPr/>
          </p:nvSpPr>
          <p:spPr>
            <a:xfrm>
              <a:off x="723900" y="2000250"/>
              <a:ext cx="6381750" cy="3752850"/>
            </a:xfrm>
            <a:prstGeom prst="roundRect">
              <a:avLst>
                <a:gd name="adj" fmla="val 2030"/>
              </a:avLst>
            </a:prstGeom>
            <a:solidFill>
              <a:srgbClr val="FFFFFF"/>
            </a:solidFill>
            <a:ln w="9525">
              <a:solidFill>
                <a:srgbClr val="D9E1EA"/>
              </a:solidFill>
            </a:ln>
          </p:spPr>
        </p:sp>
        <p:sp>
          <p:nvSpPr>
            <p:cNvPr id="11" name="TextBox 11"/>
            <p:cNvSpPr txBox="1"/>
            <p:nvPr/>
          </p:nvSpPr>
          <p:spPr>
            <a:xfrm>
              <a:off x="988695" y="2165032"/>
              <a:ext cx="2698742" cy="335280"/>
            </a:xfrm>
            <a:prstGeom prst="rect">
              <a:avLst/>
            </a:prstGeom>
            <a:noFill/>
            <a:ln>
              <a:noFill/>
            </a:ln>
          </p:spPr>
          <p:txBody>
            <a:bodyPr wrap="none" lIns="0" tIns="0" rIns="0" bIns="0" anchor="t" anchorCtr="0">
              <a:spAutoFit/>
            </a:bodyPr>
            <a:lstStyle/>
            <a:p>
              <a:pPr algn="l"/>
              <a:r>
                <a:rPr lang="zh-CN" sz="1650" b="1" dirty="0">
                  <a:solidFill>
                    <a:srgbClr val="172033"/>
                  </a:solidFill>
                  <a:latin typeface="Georgia"/>
                  <a:ea typeface="Microsoft YaHei"/>
                  <a:cs typeface="Georgia"/>
                </a:rPr>
                <a:t>Weighted M30 retention</a:t>
              </a:r>
            </a:p>
          </p:txBody>
        </p:sp>
        <p:sp>
          <p:nvSpPr>
            <p:cNvPr id="12" name="TextBox 12"/>
            <p:cNvSpPr txBox="1"/>
            <p:nvPr/>
          </p:nvSpPr>
          <p:spPr>
            <a:xfrm>
              <a:off x="996315" y="2496502"/>
              <a:ext cx="3436096" cy="213360"/>
            </a:xfrm>
            <a:prstGeom prst="rect">
              <a:avLst/>
            </a:prstGeom>
            <a:noFill/>
            <a:ln>
              <a:noFill/>
            </a:ln>
          </p:spPr>
          <p:txBody>
            <a:bodyPr wrap="none" lIns="0" tIns="0" rIns="0" bIns="0" anchor="t" anchorCtr="0">
              <a:spAutoFit/>
            </a:bodyPr>
            <a:lstStyle/>
            <a:p>
              <a:pPr algn="l"/>
              <a:r>
                <a:rPr lang="zh-CN" sz="1050" dirty="0">
                  <a:solidFill>
                    <a:srgbClr val="596579"/>
                  </a:solidFill>
                  <a:latin typeface="Arial"/>
                  <a:ea typeface="Microsoft YaHei"/>
                  <a:cs typeface="Arial"/>
                </a:rPr>
                <a:t>Weighted by paid conversions within each channel.</a:t>
              </a:r>
            </a:p>
          </p:txBody>
        </p:sp>
        <p:grpSp>
          <p:nvGrpSpPr>
            <p:cNvPr id="25" name="Group 25"/>
            <p:cNvGrpSpPr/>
            <p:nvPr/>
          </p:nvGrpSpPr>
          <p:grpSpPr>
            <a:xfrm>
              <a:off x="1238250" y="2800350"/>
              <a:ext cx="5438775" cy="2238375"/>
              <a:chOff x="1238250" y="2800350"/>
              <a:chExt cx="5438775" cy="2238375"/>
            </a:xfrm>
          </p:grpSpPr>
          <p:sp>
            <p:nvSpPr>
              <p:cNvPr id="13" name="Line 13"/>
              <p:cNvSpPr/>
              <p:nvPr/>
            </p:nvSpPr>
            <p:spPr>
              <a:xfrm>
                <a:off x="1238250" y="5029200"/>
                <a:ext cx="5429250" cy="9525"/>
              </a:xfrm>
              <a:custGeom>
                <a:avLst/>
                <a:gdLst/>
                <a:ahLst/>
                <a:cxnLst/>
                <a:rect l="l" t="t" r="r" b="b"/>
                <a:pathLst>
                  <a:path w="5429250" h="9525">
                    <a:moveTo>
                      <a:pt x="0" y="0"/>
                    </a:moveTo>
                    <a:lnTo>
                      <a:pt x="5429250" y="0"/>
                    </a:lnTo>
                  </a:path>
                </a:pathLst>
              </a:custGeom>
              <a:noFill/>
              <a:ln w="9525">
                <a:solidFill>
                  <a:srgbClr val="D9E1EA"/>
                </a:solidFill>
              </a:ln>
            </p:spPr>
          </p:sp>
          <p:sp>
            <p:nvSpPr>
              <p:cNvPr id="14" name="Line 14"/>
              <p:cNvSpPr/>
              <p:nvPr/>
            </p:nvSpPr>
            <p:spPr>
              <a:xfrm>
                <a:off x="1238250" y="2800350"/>
                <a:ext cx="9525" cy="2228850"/>
              </a:xfrm>
              <a:custGeom>
                <a:avLst/>
                <a:gdLst/>
                <a:ahLst/>
                <a:cxnLst/>
                <a:rect l="l" t="t" r="r" b="b"/>
                <a:pathLst>
                  <a:path w="9525" h="2228850">
                    <a:moveTo>
                      <a:pt x="0" y="0"/>
                    </a:moveTo>
                    <a:lnTo>
                      <a:pt x="0" y="2228850"/>
                    </a:lnTo>
                  </a:path>
                </a:pathLst>
              </a:custGeom>
              <a:noFill/>
              <a:ln w="9525">
                <a:solidFill>
                  <a:srgbClr val="D9E1EA"/>
                </a:solidFill>
              </a:ln>
            </p:spPr>
          </p:sp>
          <p:sp>
            <p:nvSpPr>
              <p:cNvPr id="15" name="Line 15"/>
              <p:cNvSpPr/>
              <p:nvPr/>
            </p:nvSpPr>
            <p:spPr>
              <a:xfrm>
                <a:off x="3705225" y="2800350"/>
                <a:ext cx="9525" cy="2228850"/>
              </a:xfrm>
              <a:custGeom>
                <a:avLst/>
                <a:gdLst/>
                <a:ahLst/>
                <a:cxnLst/>
                <a:rect l="l" t="t" r="r" b="b"/>
                <a:pathLst>
                  <a:path w="9525" h="2228850">
                    <a:moveTo>
                      <a:pt x="0" y="0"/>
                    </a:moveTo>
                    <a:lnTo>
                      <a:pt x="0" y="2228850"/>
                    </a:lnTo>
                  </a:path>
                </a:pathLst>
              </a:custGeom>
              <a:noFill/>
              <a:ln w="9525">
                <a:solidFill>
                  <a:srgbClr val="E8EEF5"/>
                </a:solidFill>
              </a:ln>
            </p:spPr>
          </p:sp>
          <p:sp>
            <p:nvSpPr>
              <p:cNvPr id="16" name="Line 16"/>
              <p:cNvSpPr/>
              <p:nvPr/>
            </p:nvSpPr>
            <p:spPr>
              <a:xfrm>
                <a:off x="6667500" y="2800350"/>
                <a:ext cx="9525" cy="2228850"/>
              </a:xfrm>
              <a:custGeom>
                <a:avLst/>
                <a:gdLst/>
                <a:ahLst/>
                <a:cxnLst/>
                <a:rect l="l" t="t" r="r" b="b"/>
                <a:pathLst>
                  <a:path w="9525" h="2228850">
                    <a:moveTo>
                      <a:pt x="0" y="0"/>
                    </a:moveTo>
                    <a:lnTo>
                      <a:pt x="0" y="2228850"/>
                    </a:lnTo>
                  </a:path>
                </a:pathLst>
              </a:custGeom>
              <a:noFill/>
              <a:ln w="9525">
                <a:solidFill>
                  <a:srgbClr val="E8EEF5"/>
                </a:solidFill>
              </a:ln>
            </p:spPr>
          </p:sp>
          <p:sp>
            <p:nvSpPr>
              <p:cNvPr id="17" name="Line 17"/>
              <p:cNvSpPr/>
              <p:nvPr/>
            </p:nvSpPr>
            <p:spPr>
              <a:xfrm>
                <a:off x="1238250" y="2990850"/>
                <a:ext cx="2914650" cy="9525"/>
              </a:xfrm>
              <a:custGeom>
                <a:avLst/>
                <a:gdLst/>
                <a:ahLst/>
                <a:cxnLst/>
                <a:rect l="l" t="t" r="r" b="b"/>
                <a:pathLst>
                  <a:path w="2914650" h="9525">
                    <a:moveTo>
                      <a:pt x="0" y="0"/>
                    </a:moveTo>
                    <a:lnTo>
                      <a:pt x="2914650" y="0"/>
                    </a:lnTo>
                  </a:path>
                </a:pathLst>
              </a:custGeom>
              <a:noFill/>
              <a:ln w="47625" cap="rnd">
                <a:solidFill>
                  <a:srgbClr val="2F80ED"/>
                </a:solidFill>
              </a:ln>
            </p:spPr>
          </p:sp>
          <p:sp>
            <p:nvSpPr>
              <p:cNvPr id="18" name="Ellipse 18"/>
              <p:cNvSpPr/>
              <p:nvPr/>
            </p:nvSpPr>
            <p:spPr>
              <a:xfrm>
                <a:off x="4067175" y="2905125"/>
                <a:ext cx="171450" cy="171450"/>
              </a:xfrm>
              <a:prstGeom prst="ellipse">
                <a:avLst/>
              </a:prstGeom>
              <a:solidFill>
                <a:srgbClr val="2F80ED"/>
              </a:solidFill>
              <a:ln>
                <a:noFill/>
              </a:ln>
            </p:spPr>
          </p:sp>
          <p:sp>
            <p:nvSpPr>
              <p:cNvPr id="19" name="Line 19"/>
              <p:cNvSpPr/>
              <p:nvPr/>
            </p:nvSpPr>
            <p:spPr>
              <a:xfrm>
                <a:off x="1238250" y="3562350"/>
                <a:ext cx="695325" cy="9525"/>
              </a:xfrm>
              <a:custGeom>
                <a:avLst/>
                <a:gdLst/>
                <a:ahLst/>
                <a:cxnLst/>
                <a:rect l="l" t="t" r="r" b="b"/>
                <a:pathLst>
                  <a:path w="695325" h="9525">
                    <a:moveTo>
                      <a:pt x="0" y="0"/>
                    </a:moveTo>
                    <a:lnTo>
                      <a:pt x="695325" y="0"/>
                    </a:lnTo>
                  </a:path>
                </a:pathLst>
              </a:custGeom>
              <a:noFill/>
              <a:ln w="47625" cap="rnd">
                <a:solidFill>
                  <a:srgbClr val="C2410C"/>
                </a:solidFill>
              </a:ln>
            </p:spPr>
          </p:sp>
          <p:sp>
            <p:nvSpPr>
              <p:cNvPr id="20" name="Ellipse 20"/>
              <p:cNvSpPr/>
              <p:nvPr/>
            </p:nvSpPr>
            <p:spPr>
              <a:xfrm>
                <a:off x="1847850" y="3476625"/>
                <a:ext cx="171450" cy="171450"/>
              </a:xfrm>
              <a:prstGeom prst="ellipse">
                <a:avLst/>
              </a:prstGeom>
              <a:solidFill>
                <a:srgbClr val="C2410C"/>
              </a:solidFill>
              <a:ln>
                <a:noFill/>
              </a:ln>
            </p:spPr>
          </p:sp>
          <p:sp>
            <p:nvSpPr>
              <p:cNvPr id="21" name="Line 21"/>
              <p:cNvSpPr/>
              <p:nvPr/>
            </p:nvSpPr>
            <p:spPr>
              <a:xfrm>
                <a:off x="1238250" y="4133850"/>
                <a:ext cx="4686300" cy="9525"/>
              </a:xfrm>
              <a:custGeom>
                <a:avLst/>
                <a:gdLst/>
                <a:ahLst/>
                <a:cxnLst/>
                <a:rect l="l" t="t" r="r" b="b"/>
                <a:pathLst>
                  <a:path w="4686300" h="9525">
                    <a:moveTo>
                      <a:pt x="0" y="0"/>
                    </a:moveTo>
                    <a:lnTo>
                      <a:pt x="4686300" y="0"/>
                    </a:lnTo>
                  </a:path>
                </a:pathLst>
              </a:custGeom>
              <a:noFill/>
              <a:ln w="47625" cap="rnd">
                <a:solidFill>
                  <a:srgbClr val="14A38B"/>
                </a:solidFill>
              </a:ln>
            </p:spPr>
          </p:sp>
          <p:sp>
            <p:nvSpPr>
              <p:cNvPr id="22" name="Ellipse 22"/>
              <p:cNvSpPr/>
              <p:nvPr/>
            </p:nvSpPr>
            <p:spPr>
              <a:xfrm>
                <a:off x="5838825" y="4048125"/>
                <a:ext cx="171450" cy="171450"/>
              </a:xfrm>
              <a:prstGeom prst="ellipse">
                <a:avLst/>
              </a:prstGeom>
              <a:solidFill>
                <a:srgbClr val="14A38B"/>
              </a:solidFill>
              <a:ln>
                <a:noFill/>
              </a:ln>
            </p:spPr>
          </p:sp>
          <p:sp>
            <p:nvSpPr>
              <p:cNvPr id="23" name="Line 23"/>
              <p:cNvSpPr/>
              <p:nvPr/>
            </p:nvSpPr>
            <p:spPr>
              <a:xfrm>
                <a:off x="1238250" y="4705350"/>
                <a:ext cx="4219575" cy="9525"/>
              </a:xfrm>
              <a:custGeom>
                <a:avLst/>
                <a:gdLst/>
                <a:ahLst/>
                <a:cxnLst/>
                <a:rect l="l" t="t" r="r" b="b"/>
                <a:pathLst>
                  <a:path w="4219575" h="9525">
                    <a:moveTo>
                      <a:pt x="0" y="0"/>
                    </a:moveTo>
                    <a:lnTo>
                      <a:pt x="4219575" y="0"/>
                    </a:lnTo>
                  </a:path>
                </a:pathLst>
              </a:custGeom>
              <a:noFill/>
              <a:ln w="47625" cap="rnd">
                <a:solidFill>
                  <a:srgbClr val="F59E0B"/>
                </a:solidFill>
              </a:ln>
            </p:spPr>
          </p:sp>
          <p:sp>
            <p:nvSpPr>
              <p:cNvPr id="24" name="Ellipse 24"/>
              <p:cNvSpPr/>
              <p:nvPr/>
            </p:nvSpPr>
            <p:spPr>
              <a:xfrm>
                <a:off x="5372100" y="4619625"/>
                <a:ext cx="171450" cy="171450"/>
              </a:xfrm>
              <a:prstGeom prst="ellipse">
                <a:avLst/>
              </a:prstGeom>
              <a:solidFill>
                <a:srgbClr val="F59E0B"/>
              </a:solidFill>
              <a:ln>
                <a:noFill/>
              </a:ln>
            </p:spPr>
          </p:sp>
        </p:grpSp>
        <p:sp>
          <p:nvSpPr>
            <p:cNvPr id="26" name="TextBox 26"/>
            <p:cNvSpPr txBox="1"/>
            <p:nvPr/>
          </p:nvSpPr>
          <p:spPr>
            <a:xfrm>
              <a:off x="996315" y="2915602"/>
              <a:ext cx="488728" cy="213360"/>
            </a:xfrm>
            <a:prstGeom prst="rect">
              <a:avLst/>
            </a:prstGeom>
            <a:noFill/>
            <a:ln>
              <a:noFill/>
            </a:ln>
          </p:spPr>
          <p:txBody>
            <a:bodyPr wrap="none" lIns="0" tIns="0" rIns="0" bIns="0" anchor="t" anchorCtr="0">
              <a:spAutoFit/>
            </a:bodyPr>
            <a:lstStyle/>
            <a:p>
              <a:pPr algn="l"/>
              <a:r>
                <a:rPr lang="zh-CN" sz="1050" dirty="0">
                  <a:solidFill>
                    <a:srgbClr val="172033"/>
                  </a:solidFill>
                  <a:latin typeface="Arial"/>
                  <a:ea typeface="Microsoft YaHei"/>
                  <a:cs typeface="Arial"/>
                </a:rPr>
                <a:t>Search</a:t>
              </a:r>
            </a:p>
          </p:txBody>
        </p:sp>
        <p:sp>
          <p:nvSpPr>
            <p:cNvPr id="27" name="TextBox 27"/>
            <p:cNvSpPr txBox="1"/>
            <p:nvPr/>
          </p:nvSpPr>
          <p:spPr>
            <a:xfrm>
              <a:off x="4311015" y="2925128"/>
              <a:ext cx="460374" cy="213360"/>
            </a:xfrm>
            <a:prstGeom prst="rect">
              <a:avLst/>
            </a:prstGeom>
            <a:noFill/>
            <a:ln>
              <a:noFill/>
            </a:ln>
          </p:spPr>
          <p:txBody>
            <a:bodyPr wrap="none" lIns="0" tIns="0" rIns="0" bIns="0" anchor="t" anchorCtr="0">
              <a:spAutoFit/>
            </a:bodyPr>
            <a:lstStyle/>
            <a:p>
              <a:pPr algn="l"/>
              <a:r>
                <a:rPr lang="zh-CN" sz="1050" b="1" dirty="0">
                  <a:solidFill>
                    <a:srgbClr val="2F80ED"/>
                  </a:solidFill>
                  <a:latin typeface="Arial"/>
                  <a:ea typeface="Microsoft YaHei"/>
                  <a:cs typeface="Arial"/>
                </a:rPr>
                <a:t>81.8%</a:t>
              </a:r>
            </a:p>
          </p:txBody>
        </p:sp>
        <p:sp>
          <p:nvSpPr>
            <p:cNvPr id="28" name="TextBox 28"/>
            <p:cNvSpPr txBox="1"/>
            <p:nvPr/>
          </p:nvSpPr>
          <p:spPr>
            <a:xfrm>
              <a:off x="996315" y="3487102"/>
              <a:ext cx="733758" cy="213360"/>
            </a:xfrm>
            <a:prstGeom prst="rect">
              <a:avLst/>
            </a:prstGeom>
            <a:noFill/>
            <a:ln>
              <a:noFill/>
            </a:ln>
          </p:spPr>
          <p:txBody>
            <a:bodyPr wrap="none" lIns="0" tIns="0" rIns="0" bIns="0" anchor="t" anchorCtr="0">
              <a:spAutoFit/>
            </a:bodyPr>
            <a:lstStyle/>
            <a:p>
              <a:pPr algn="l"/>
              <a:r>
                <a:rPr lang="zh-CN" sz="1050" dirty="0">
                  <a:solidFill>
                    <a:srgbClr val="172033"/>
                  </a:solidFill>
                  <a:latin typeface="Arial"/>
                  <a:ea typeface="Microsoft YaHei"/>
                  <a:cs typeface="Arial"/>
                </a:rPr>
                <a:t>Paid Social</a:t>
              </a:r>
            </a:p>
          </p:txBody>
        </p:sp>
        <p:sp>
          <p:nvSpPr>
            <p:cNvPr id="29" name="TextBox 29"/>
            <p:cNvSpPr txBox="1"/>
            <p:nvPr/>
          </p:nvSpPr>
          <p:spPr>
            <a:xfrm>
              <a:off x="2091690" y="3496628"/>
              <a:ext cx="460374" cy="213360"/>
            </a:xfrm>
            <a:prstGeom prst="rect">
              <a:avLst/>
            </a:prstGeom>
            <a:noFill/>
            <a:ln>
              <a:noFill/>
            </a:ln>
          </p:spPr>
          <p:txBody>
            <a:bodyPr wrap="none" lIns="0" tIns="0" rIns="0" bIns="0" anchor="t" anchorCtr="0">
              <a:spAutoFit/>
            </a:bodyPr>
            <a:lstStyle/>
            <a:p>
              <a:pPr algn="l"/>
              <a:r>
                <a:rPr lang="zh-CN" sz="1050" b="1" dirty="0">
                  <a:solidFill>
                    <a:srgbClr val="C2410C"/>
                  </a:solidFill>
                  <a:latin typeface="Arial"/>
                  <a:ea typeface="Microsoft YaHei"/>
                  <a:cs typeface="Arial"/>
                </a:rPr>
                <a:t>72.8%</a:t>
              </a:r>
            </a:p>
          </p:txBody>
        </p:sp>
        <p:sp>
          <p:nvSpPr>
            <p:cNvPr id="30" name="TextBox 30"/>
            <p:cNvSpPr txBox="1"/>
            <p:nvPr/>
          </p:nvSpPr>
          <p:spPr>
            <a:xfrm>
              <a:off x="996315" y="4058602"/>
              <a:ext cx="607743" cy="213360"/>
            </a:xfrm>
            <a:prstGeom prst="rect">
              <a:avLst/>
            </a:prstGeom>
            <a:noFill/>
            <a:ln>
              <a:noFill/>
            </a:ln>
          </p:spPr>
          <p:txBody>
            <a:bodyPr wrap="none" lIns="0" tIns="0" rIns="0" bIns="0" anchor="t" anchorCtr="0">
              <a:spAutoFit/>
            </a:bodyPr>
            <a:lstStyle/>
            <a:p>
              <a:pPr algn="l"/>
              <a:r>
                <a:rPr lang="zh-CN" sz="1050" dirty="0">
                  <a:solidFill>
                    <a:srgbClr val="172033"/>
                  </a:solidFill>
                  <a:latin typeface="Arial"/>
                  <a:ea typeface="Microsoft YaHei"/>
                  <a:cs typeface="Arial"/>
                </a:rPr>
                <a:t>Referral</a:t>
              </a:r>
            </a:p>
          </p:txBody>
        </p:sp>
        <p:sp>
          <p:nvSpPr>
            <p:cNvPr id="31" name="TextBox 31"/>
            <p:cNvSpPr txBox="1"/>
            <p:nvPr/>
          </p:nvSpPr>
          <p:spPr>
            <a:xfrm>
              <a:off x="6082665" y="4068128"/>
              <a:ext cx="460374" cy="213360"/>
            </a:xfrm>
            <a:prstGeom prst="rect">
              <a:avLst/>
            </a:prstGeom>
            <a:noFill/>
            <a:ln>
              <a:noFill/>
            </a:ln>
          </p:spPr>
          <p:txBody>
            <a:bodyPr wrap="none" lIns="0" tIns="0" rIns="0" bIns="0" anchor="t" anchorCtr="0">
              <a:spAutoFit/>
            </a:bodyPr>
            <a:lstStyle/>
            <a:p>
              <a:pPr algn="l"/>
              <a:r>
                <a:rPr lang="zh-CN" sz="1050" b="1" dirty="0">
                  <a:solidFill>
                    <a:srgbClr val="14A38B"/>
                  </a:solidFill>
                  <a:latin typeface="Arial"/>
                  <a:ea typeface="Microsoft YaHei"/>
                  <a:cs typeface="Arial"/>
                </a:rPr>
                <a:t>89.0%</a:t>
              </a:r>
            </a:p>
          </p:txBody>
        </p:sp>
        <p:sp>
          <p:nvSpPr>
            <p:cNvPr id="32" name="TextBox 32"/>
            <p:cNvSpPr txBox="1"/>
            <p:nvPr/>
          </p:nvSpPr>
          <p:spPr>
            <a:xfrm>
              <a:off x="996315" y="4630102"/>
              <a:ext cx="565737" cy="213360"/>
            </a:xfrm>
            <a:prstGeom prst="rect">
              <a:avLst/>
            </a:prstGeom>
            <a:noFill/>
            <a:ln>
              <a:noFill/>
            </a:ln>
          </p:spPr>
          <p:txBody>
            <a:bodyPr wrap="none" lIns="0" tIns="0" rIns="0" bIns="0" anchor="t" anchorCtr="0">
              <a:spAutoFit/>
            </a:bodyPr>
            <a:lstStyle/>
            <a:p>
              <a:pPr algn="l"/>
              <a:r>
                <a:rPr lang="zh-CN" sz="1050" dirty="0">
                  <a:solidFill>
                    <a:srgbClr val="172033"/>
                  </a:solidFill>
                  <a:latin typeface="Arial"/>
                  <a:ea typeface="Microsoft YaHei"/>
                  <a:cs typeface="Arial"/>
                </a:rPr>
                <a:t>Partner</a:t>
              </a:r>
            </a:p>
          </p:txBody>
        </p:sp>
        <p:sp>
          <p:nvSpPr>
            <p:cNvPr id="33" name="TextBox 33"/>
            <p:cNvSpPr txBox="1"/>
            <p:nvPr/>
          </p:nvSpPr>
          <p:spPr>
            <a:xfrm>
              <a:off x="5615940" y="4639628"/>
              <a:ext cx="460374" cy="213360"/>
            </a:xfrm>
            <a:prstGeom prst="rect">
              <a:avLst/>
            </a:prstGeom>
            <a:noFill/>
            <a:ln>
              <a:noFill/>
            </a:ln>
          </p:spPr>
          <p:txBody>
            <a:bodyPr wrap="none" lIns="0" tIns="0" rIns="0" bIns="0" anchor="t" anchorCtr="0">
              <a:spAutoFit/>
            </a:bodyPr>
            <a:lstStyle/>
            <a:p>
              <a:pPr algn="l"/>
              <a:r>
                <a:rPr lang="zh-CN" sz="1050" b="1" dirty="0">
                  <a:solidFill>
                    <a:srgbClr val="F59E0B"/>
                  </a:solidFill>
                  <a:latin typeface="Arial"/>
                  <a:ea typeface="Microsoft YaHei"/>
                  <a:cs typeface="Arial"/>
                </a:rPr>
                <a:t>87.1%</a:t>
              </a:r>
            </a:p>
          </p:txBody>
        </p:sp>
        <p:sp>
          <p:nvSpPr>
            <p:cNvPr id="34" name="TextBox 34"/>
            <p:cNvSpPr txBox="1"/>
            <p:nvPr/>
          </p:nvSpPr>
          <p:spPr>
            <a:xfrm>
              <a:off x="1188720" y="5160645"/>
              <a:ext cx="244888" cy="182880"/>
            </a:xfrm>
            <a:prstGeom prst="rect">
              <a:avLst/>
            </a:prstGeom>
            <a:noFill/>
            <a:ln>
              <a:noFill/>
            </a:ln>
          </p:spPr>
          <p:txBody>
            <a:bodyPr wrap="none" lIns="0" tIns="0" rIns="0" bIns="0" anchor="t" anchorCtr="0">
              <a:spAutoFit/>
            </a:bodyPr>
            <a:lstStyle/>
            <a:p>
              <a:pPr algn="l"/>
              <a:r>
                <a:rPr lang="zh-CN" sz="900" dirty="0">
                  <a:solidFill>
                    <a:srgbClr val="8A94A6"/>
                  </a:solidFill>
                  <a:latin typeface="Arial"/>
                  <a:ea typeface="Microsoft YaHei"/>
                  <a:cs typeface="Arial"/>
                </a:rPr>
                <a:t>70%</a:t>
              </a:r>
            </a:p>
          </p:txBody>
        </p:sp>
        <p:sp>
          <p:nvSpPr>
            <p:cNvPr id="35" name="TextBox 35"/>
            <p:cNvSpPr txBox="1"/>
            <p:nvPr/>
          </p:nvSpPr>
          <p:spPr>
            <a:xfrm>
              <a:off x="3617595" y="5160645"/>
              <a:ext cx="244888" cy="182880"/>
            </a:xfrm>
            <a:prstGeom prst="rect">
              <a:avLst/>
            </a:prstGeom>
            <a:noFill/>
            <a:ln>
              <a:noFill/>
            </a:ln>
          </p:spPr>
          <p:txBody>
            <a:bodyPr wrap="none" lIns="0" tIns="0" rIns="0" bIns="0" anchor="t" anchorCtr="0">
              <a:spAutoFit/>
            </a:bodyPr>
            <a:lstStyle/>
            <a:p>
              <a:pPr algn="l"/>
              <a:r>
                <a:rPr lang="zh-CN" sz="900" dirty="0">
                  <a:solidFill>
                    <a:srgbClr val="8A94A6"/>
                  </a:solidFill>
                  <a:latin typeface="Arial"/>
                  <a:ea typeface="Microsoft YaHei"/>
                  <a:cs typeface="Arial"/>
                </a:rPr>
                <a:t>80%</a:t>
              </a:r>
            </a:p>
          </p:txBody>
        </p:sp>
        <p:sp>
          <p:nvSpPr>
            <p:cNvPr id="36" name="TextBox 36"/>
            <p:cNvSpPr txBox="1"/>
            <p:nvPr/>
          </p:nvSpPr>
          <p:spPr>
            <a:xfrm>
              <a:off x="6579870" y="5160645"/>
              <a:ext cx="244888" cy="182880"/>
            </a:xfrm>
            <a:prstGeom prst="rect">
              <a:avLst/>
            </a:prstGeom>
            <a:noFill/>
            <a:ln>
              <a:noFill/>
            </a:ln>
          </p:spPr>
          <p:txBody>
            <a:bodyPr wrap="none" lIns="0" tIns="0" rIns="0" bIns="0" anchor="t" anchorCtr="0">
              <a:spAutoFit/>
            </a:bodyPr>
            <a:lstStyle/>
            <a:p>
              <a:pPr algn="l"/>
              <a:r>
                <a:rPr lang="zh-CN" sz="900" dirty="0">
                  <a:solidFill>
                    <a:srgbClr val="8A94A6"/>
                  </a:solidFill>
                  <a:latin typeface="Arial"/>
                  <a:ea typeface="Microsoft YaHei"/>
                  <a:cs typeface="Arial"/>
                </a:rPr>
                <a:t>92%</a:t>
              </a:r>
            </a:p>
          </p:txBody>
        </p:sp>
      </p:grpSp>
      <p:grpSp>
        <p:nvGrpSpPr>
          <p:cNvPr id="57" name="Group 57"/>
          <p:cNvGrpSpPr/>
          <p:nvPr/>
        </p:nvGrpSpPr>
        <p:grpSpPr>
          <a:xfrm>
            <a:off x="6937677" y="2000250"/>
            <a:ext cx="5378767" cy="3752850"/>
            <a:chOff x="6937677" y="2000250"/>
            <a:chExt cx="5378767" cy="3752850"/>
          </a:xfrm>
        </p:grpSpPr>
        <p:sp>
          <p:nvSpPr>
            <p:cNvPr id="38" name="Rectangle 38"/>
            <p:cNvSpPr/>
            <p:nvPr/>
          </p:nvSpPr>
          <p:spPr>
            <a:xfrm>
              <a:off x="7391400" y="2000250"/>
              <a:ext cx="4076700" cy="3752850"/>
            </a:xfrm>
            <a:prstGeom prst="roundRect">
              <a:avLst>
                <a:gd name="adj" fmla="val 2030"/>
              </a:avLst>
            </a:prstGeom>
            <a:solidFill>
              <a:srgbClr val="F7F8FA"/>
            </a:solidFill>
            <a:ln w="9525">
              <a:solidFill>
                <a:srgbClr val="D9E1EA"/>
              </a:solidFill>
            </a:ln>
          </p:spPr>
        </p:sp>
        <p:sp>
          <p:nvSpPr>
            <p:cNvPr id="39" name="TextBox 39"/>
            <p:cNvSpPr txBox="1"/>
            <p:nvPr/>
          </p:nvSpPr>
          <p:spPr>
            <a:xfrm>
              <a:off x="7637145" y="2165032"/>
              <a:ext cx="2155824" cy="335280"/>
            </a:xfrm>
            <a:prstGeom prst="rect">
              <a:avLst/>
            </a:prstGeom>
            <a:noFill/>
            <a:ln>
              <a:noFill/>
            </a:ln>
          </p:spPr>
          <p:txBody>
            <a:bodyPr wrap="none" lIns="0" tIns="0" rIns="0" bIns="0" anchor="t" anchorCtr="0">
              <a:spAutoFit/>
            </a:bodyPr>
            <a:lstStyle/>
            <a:p>
              <a:pPr algn="l"/>
              <a:r>
                <a:rPr lang="zh-CN" sz="1650" b="1" dirty="0">
                  <a:solidFill>
                    <a:srgbClr val="172033"/>
                  </a:solidFill>
                  <a:latin typeface="Georgia"/>
                  <a:ea typeface="Microsoft YaHei"/>
                  <a:cs typeface="Georgia"/>
                </a:rPr>
                <a:t>Churned paid users</a:t>
              </a:r>
            </a:p>
          </p:txBody>
        </p:sp>
        <p:sp>
          <p:nvSpPr>
            <p:cNvPr id="40" name="TextBox 40"/>
            <p:cNvSpPr txBox="1"/>
            <p:nvPr/>
          </p:nvSpPr>
          <p:spPr>
            <a:xfrm>
              <a:off x="7644765" y="2496502"/>
              <a:ext cx="1300829" cy="213360"/>
            </a:xfrm>
            <a:prstGeom prst="rect">
              <a:avLst/>
            </a:prstGeom>
            <a:noFill/>
            <a:ln>
              <a:noFill/>
            </a:ln>
          </p:spPr>
          <p:txBody>
            <a:bodyPr wrap="none" lIns="0" tIns="0" rIns="0" bIns="0" anchor="t" anchorCtr="0">
              <a:spAutoFit/>
            </a:bodyPr>
            <a:lstStyle/>
            <a:p>
              <a:pPr algn="l"/>
              <a:r>
                <a:rPr lang="zh-CN" sz="1050" dirty="0">
                  <a:solidFill>
                    <a:srgbClr val="596579"/>
                  </a:solidFill>
                  <a:latin typeface="Arial"/>
                  <a:ea typeface="Microsoft YaHei"/>
                  <a:cs typeface="Arial"/>
                </a:rPr>
                <a:t>H1 sum by channel.</a:t>
              </a:r>
            </a:p>
          </p:txBody>
        </p:sp>
        <p:grpSp>
          <p:nvGrpSpPr>
            <p:cNvPr id="54" name="Group 54"/>
            <p:cNvGrpSpPr/>
            <p:nvPr/>
          </p:nvGrpSpPr>
          <p:grpSpPr>
            <a:xfrm>
              <a:off x="6937677" y="2914650"/>
              <a:ext cx="3871938" cy="2124075"/>
              <a:chOff x="6937677" y="2914650"/>
              <a:chExt cx="3871938" cy="2124075"/>
            </a:xfrm>
          </p:grpSpPr>
          <p:sp>
            <p:nvSpPr>
              <p:cNvPr id="41" name="Line 41"/>
              <p:cNvSpPr/>
              <p:nvPr/>
            </p:nvSpPr>
            <p:spPr>
              <a:xfrm>
                <a:off x="7810500" y="5029200"/>
                <a:ext cx="2952750" cy="9525"/>
              </a:xfrm>
              <a:custGeom>
                <a:avLst/>
                <a:gdLst/>
                <a:ahLst/>
                <a:cxnLst/>
                <a:rect l="l" t="t" r="r" b="b"/>
                <a:pathLst>
                  <a:path w="2952750" h="9525">
                    <a:moveTo>
                      <a:pt x="0" y="0"/>
                    </a:moveTo>
                    <a:lnTo>
                      <a:pt x="2952750" y="0"/>
                    </a:lnTo>
                  </a:path>
                </a:pathLst>
              </a:custGeom>
              <a:noFill/>
              <a:ln w="9525">
                <a:solidFill>
                  <a:srgbClr val="D9E1EA"/>
                </a:solidFill>
              </a:ln>
            </p:spPr>
          </p:sp>
          <p:sp>
            <p:nvSpPr>
              <p:cNvPr id="42" name="Rectangle 42"/>
              <p:cNvSpPr/>
              <p:nvPr/>
            </p:nvSpPr>
            <p:spPr>
              <a:xfrm>
                <a:off x="7810500" y="2914650"/>
                <a:ext cx="2266950" cy="266700"/>
              </a:xfrm>
              <a:prstGeom prst="roundRect">
                <a:avLst>
                  <a:gd name="adj" fmla="val 14286"/>
                </a:avLst>
              </a:prstGeom>
              <a:solidFill>
                <a:srgbClr val="2F80ED"/>
              </a:solidFill>
              <a:ln>
                <a:noFill/>
              </a:ln>
            </p:spPr>
          </p:sp>
          <p:sp>
            <p:nvSpPr>
              <p:cNvPr id="43" name="TextBox 43"/>
              <p:cNvSpPr txBox="1"/>
              <p:nvPr/>
            </p:nvSpPr>
            <p:spPr>
              <a:xfrm>
                <a:off x="7182707" y="2991802"/>
                <a:ext cx="488728" cy="213360"/>
              </a:xfrm>
              <a:prstGeom prst="rect">
                <a:avLst/>
              </a:prstGeom>
              <a:noFill/>
              <a:ln>
                <a:noFill/>
              </a:ln>
            </p:spPr>
            <p:txBody>
              <a:bodyPr wrap="none" lIns="0" tIns="0" rIns="0" bIns="0" anchor="t" anchorCtr="0">
                <a:spAutoFit/>
              </a:bodyPr>
              <a:lstStyle/>
              <a:p>
                <a:pPr algn="r"/>
                <a:r>
                  <a:rPr lang="zh-CN" sz="1050" dirty="0">
                    <a:solidFill>
                      <a:srgbClr val="172033"/>
                    </a:solidFill>
                    <a:latin typeface="Arial"/>
                    <a:ea typeface="Microsoft YaHei"/>
                    <a:cs typeface="Arial"/>
                  </a:rPr>
                  <a:t>Search</a:t>
                </a:r>
              </a:p>
            </p:txBody>
          </p:sp>
          <p:sp>
            <p:nvSpPr>
              <p:cNvPr id="44" name="TextBox 44"/>
              <p:cNvSpPr txBox="1"/>
              <p:nvPr/>
            </p:nvSpPr>
            <p:spPr>
              <a:xfrm>
                <a:off x="10178415" y="2991802"/>
                <a:ext cx="269250" cy="213360"/>
              </a:xfrm>
              <a:prstGeom prst="rect">
                <a:avLst/>
              </a:prstGeom>
              <a:noFill/>
              <a:ln>
                <a:noFill/>
              </a:ln>
            </p:spPr>
            <p:txBody>
              <a:bodyPr wrap="none" lIns="0" tIns="0" rIns="0" bIns="0" anchor="t" anchorCtr="0">
                <a:spAutoFit/>
              </a:bodyPr>
              <a:lstStyle/>
              <a:p>
                <a:pPr algn="l"/>
                <a:r>
                  <a:rPr lang="zh-CN" sz="1050" b="1" dirty="0">
                    <a:solidFill>
                      <a:srgbClr val="172033"/>
                    </a:solidFill>
                    <a:latin typeface="Arial"/>
                    <a:ea typeface="Microsoft YaHei"/>
                    <a:cs typeface="Arial"/>
                  </a:rPr>
                  <a:t>138</a:t>
                </a:r>
              </a:p>
            </p:txBody>
          </p:sp>
          <p:sp>
            <p:nvSpPr>
              <p:cNvPr id="45" name="Rectangle 45"/>
              <p:cNvSpPr/>
              <p:nvPr/>
            </p:nvSpPr>
            <p:spPr>
              <a:xfrm>
                <a:off x="7810500" y="3486150"/>
                <a:ext cx="2638425" cy="266700"/>
              </a:xfrm>
              <a:prstGeom prst="roundRect">
                <a:avLst>
                  <a:gd name="adj" fmla="val 14286"/>
                </a:avLst>
              </a:prstGeom>
              <a:solidFill>
                <a:srgbClr val="C2410C">
                  <a:alpha val="75000"/>
                </a:srgbClr>
              </a:solidFill>
              <a:ln>
                <a:noFill/>
              </a:ln>
            </p:spPr>
          </p:sp>
          <p:sp>
            <p:nvSpPr>
              <p:cNvPr id="46" name="TextBox 46"/>
              <p:cNvSpPr txBox="1"/>
              <p:nvPr/>
            </p:nvSpPr>
            <p:spPr>
              <a:xfrm>
                <a:off x="6937677" y="3563302"/>
                <a:ext cx="733758" cy="213360"/>
              </a:xfrm>
              <a:prstGeom prst="rect">
                <a:avLst/>
              </a:prstGeom>
              <a:noFill/>
              <a:ln>
                <a:noFill/>
              </a:ln>
            </p:spPr>
            <p:txBody>
              <a:bodyPr wrap="none" lIns="0" tIns="0" rIns="0" bIns="0" anchor="t" anchorCtr="0">
                <a:spAutoFit/>
              </a:bodyPr>
              <a:lstStyle/>
              <a:p>
                <a:pPr algn="r"/>
                <a:r>
                  <a:rPr lang="zh-CN" sz="1050" dirty="0">
                    <a:solidFill>
                      <a:srgbClr val="172033"/>
                    </a:solidFill>
                    <a:latin typeface="Arial"/>
                    <a:ea typeface="Microsoft YaHei"/>
                    <a:cs typeface="Arial"/>
                  </a:rPr>
                  <a:t>Paid Social</a:t>
                </a:r>
              </a:p>
            </p:txBody>
          </p:sp>
          <p:sp>
            <p:nvSpPr>
              <p:cNvPr id="47" name="TextBox 47"/>
              <p:cNvSpPr txBox="1"/>
              <p:nvPr/>
            </p:nvSpPr>
            <p:spPr>
              <a:xfrm>
                <a:off x="10540365" y="3563302"/>
                <a:ext cx="269250" cy="213360"/>
              </a:xfrm>
              <a:prstGeom prst="rect">
                <a:avLst/>
              </a:prstGeom>
              <a:noFill/>
              <a:ln>
                <a:noFill/>
              </a:ln>
            </p:spPr>
            <p:txBody>
              <a:bodyPr wrap="none" lIns="0" tIns="0" rIns="0" bIns="0" anchor="t" anchorCtr="0">
                <a:spAutoFit/>
              </a:bodyPr>
              <a:lstStyle/>
              <a:p>
                <a:pPr algn="l"/>
                <a:r>
                  <a:rPr lang="zh-CN" sz="1050" b="1" dirty="0">
                    <a:solidFill>
                      <a:srgbClr val="172033"/>
                    </a:solidFill>
                    <a:latin typeface="Arial"/>
                    <a:ea typeface="Microsoft YaHei"/>
                    <a:cs typeface="Arial"/>
                  </a:rPr>
                  <a:t>161</a:t>
                </a:r>
              </a:p>
            </p:txBody>
          </p:sp>
          <p:sp>
            <p:nvSpPr>
              <p:cNvPr id="48" name="Rectangle 48"/>
              <p:cNvSpPr/>
              <p:nvPr/>
            </p:nvSpPr>
            <p:spPr>
              <a:xfrm>
                <a:off x="7810500" y="4057650"/>
                <a:ext cx="1247775" cy="266700"/>
              </a:xfrm>
              <a:prstGeom prst="roundRect">
                <a:avLst>
                  <a:gd name="adj" fmla="val 14286"/>
                </a:avLst>
              </a:prstGeom>
              <a:solidFill>
                <a:srgbClr val="14A38B"/>
              </a:solidFill>
              <a:ln>
                <a:noFill/>
              </a:ln>
            </p:spPr>
          </p:sp>
          <p:sp>
            <p:nvSpPr>
              <p:cNvPr id="49" name="TextBox 49"/>
              <p:cNvSpPr txBox="1"/>
              <p:nvPr/>
            </p:nvSpPr>
            <p:spPr>
              <a:xfrm>
                <a:off x="7063692" y="4134802"/>
                <a:ext cx="607743" cy="213360"/>
              </a:xfrm>
              <a:prstGeom prst="rect">
                <a:avLst/>
              </a:prstGeom>
              <a:noFill/>
              <a:ln>
                <a:noFill/>
              </a:ln>
            </p:spPr>
            <p:txBody>
              <a:bodyPr wrap="none" lIns="0" tIns="0" rIns="0" bIns="0" anchor="t" anchorCtr="0">
                <a:spAutoFit/>
              </a:bodyPr>
              <a:lstStyle/>
              <a:p>
                <a:pPr algn="r"/>
                <a:r>
                  <a:rPr lang="zh-CN" sz="1050" dirty="0">
                    <a:solidFill>
                      <a:srgbClr val="172033"/>
                    </a:solidFill>
                    <a:latin typeface="Arial"/>
                    <a:ea typeface="Microsoft YaHei"/>
                    <a:cs typeface="Arial"/>
                  </a:rPr>
                  <a:t>Referral</a:t>
                </a:r>
              </a:p>
            </p:txBody>
          </p:sp>
          <p:sp>
            <p:nvSpPr>
              <p:cNvPr id="50" name="TextBox 50"/>
              <p:cNvSpPr txBox="1"/>
              <p:nvPr/>
            </p:nvSpPr>
            <p:spPr>
              <a:xfrm>
                <a:off x="9168765" y="4134802"/>
                <a:ext cx="188390" cy="213360"/>
              </a:xfrm>
              <a:prstGeom prst="rect">
                <a:avLst/>
              </a:prstGeom>
              <a:noFill/>
              <a:ln>
                <a:noFill/>
              </a:ln>
            </p:spPr>
            <p:txBody>
              <a:bodyPr wrap="none" lIns="0" tIns="0" rIns="0" bIns="0" anchor="t" anchorCtr="0">
                <a:spAutoFit/>
              </a:bodyPr>
              <a:lstStyle/>
              <a:p>
                <a:pPr algn="l"/>
                <a:r>
                  <a:rPr lang="zh-CN" sz="1050" b="1" dirty="0">
                    <a:solidFill>
                      <a:srgbClr val="172033"/>
                    </a:solidFill>
                    <a:latin typeface="Arial"/>
                    <a:ea typeface="Microsoft YaHei"/>
                    <a:cs typeface="Arial"/>
                  </a:rPr>
                  <a:t>76</a:t>
                </a:r>
              </a:p>
            </p:txBody>
          </p:sp>
          <p:sp>
            <p:nvSpPr>
              <p:cNvPr id="51" name="Rectangle 51"/>
              <p:cNvSpPr/>
              <p:nvPr/>
            </p:nvSpPr>
            <p:spPr>
              <a:xfrm>
                <a:off x="7810500" y="4629150"/>
                <a:ext cx="771525" cy="266700"/>
              </a:xfrm>
              <a:prstGeom prst="roundRect">
                <a:avLst>
                  <a:gd name="adj" fmla="val 14286"/>
                </a:avLst>
              </a:prstGeom>
              <a:solidFill>
                <a:srgbClr val="F59E0B"/>
              </a:solidFill>
              <a:ln>
                <a:noFill/>
              </a:ln>
            </p:spPr>
          </p:sp>
          <p:sp>
            <p:nvSpPr>
              <p:cNvPr id="52" name="TextBox 52"/>
              <p:cNvSpPr txBox="1"/>
              <p:nvPr/>
            </p:nvSpPr>
            <p:spPr>
              <a:xfrm>
                <a:off x="7105698" y="4706302"/>
                <a:ext cx="565737" cy="213360"/>
              </a:xfrm>
              <a:prstGeom prst="rect">
                <a:avLst/>
              </a:prstGeom>
              <a:noFill/>
              <a:ln>
                <a:noFill/>
              </a:ln>
            </p:spPr>
            <p:txBody>
              <a:bodyPr wrap="none" lIns="0" tIns="0" rIns="0" bIns="0" anchor="t" anchorCtr="0">
                <a:spAutoFit/>
              </a:bodyPr>
              <a:lstStyle/>
              <a:p>
                <a:pPr algn="r"/>
                <a:r>
                  <a:rPr lang="zh-CN" sz="1050" dirty="0">
                    <a:solidFill>
                      <a:srgbClr val="172033"/>
                    </a:solidFill>
                    <a:latin typeface="Arial"/>
                    <a:ea typeface="Microsoft YaHei"/>
                    <a:cs typeface="Arial"/>
                  </a:rPr>
                  <a:t>Partner</a:t>
                </a:r>
              </a:p>
            </p:txBody>
          </p:sp>
          <p:sp>
            <p:nvSpPr>
              <p:cNvPr id="53" name="TextBox 53"/>
              <p:cNvSpPr txBox="1"/>
              <p:nvPr/>
            </p:nvSpPr>
            <p:spPr>
              <a:xfrm>
                <a:off x="8673465" y="4706302"/>
                <a:ext cx="188390" cy="213360"/>
              </a:xfrm>
              <a:prstGeom prst="rect">
                <a:avLst/>
              </a:prstGeom>
              <a:noFill/>
              <a:ln>
                <a:noFill/>
              </a:ln>
            </p:spPr>
            <p:txBody>
              <a:bodyPr wrap="none" lIns="0" tIns="0" rIns="0" bIns="0" anchor="t" anchorCtr="0">
                <a:spAutoFit/>
              </a:bodyPr>
              <a:lstStyle/>
              <a:p>
                <a:pPr algn="l"/>
                <a:r>
                  <a:rPr lang="zh-CN" sz="1050" b="1" dirty="0">
                    <a:solidFill>
                      <a:srgbClr val="172033"/>
                    </a:solidFill>
                    <a:latin typeface="Arial"/>
                    <a:ea typeface="Microsoft YaHei"/>
                    <a:cs typeface="Arial"/>
                  </a:rPr>
                  <a:t>47</a:t>
                </a:r>
              </a:p>
            </p:txBody>
          </p:sp>
        </p:grpSp>
        <p:sp>
          <p:nvSpPr>
            <p:cNvPr id="55" name="Rectangle 55"/>
            <p:cNvSpPr/>
            <p:nvPr/>
          </p:nvSpPr>
          <p:spPr>
            <a:xfrm>
              <a:off x="7658100" y="5219700"/>
              <a:ext cx="3543300" cy="342900"/>
            </a:xfrm>
            <a:prstGeom prst="roundRect">
              <a:avLst>
                <a:gd name="adj" fmla="val 22222"/>
              </a:avLst>
            </a:prstGeom>
            <a:solidFill>
              <a:srgbClr val="FFFFFF"/>
            </a:solidFill>
            <a:ln w="9525">
              <a:solidFill>
                <a:srgbClr val="D9E1EA"/>
              </a:solidFill>
            </a:ln>
          </p:spPr>
        </p:sp>
        <p:sp>
          <p:nvSpPr>
            <p:cNvPr id="56" name="TextBox 56"/>
            <p:cNvSpPr txBox="1"/>
            <p:nvPr/>
          </p:nvSpPr>
          <p:spPr>
            <a:xfrm>
              <a:off x="7816215" y="5334952"/>
              <a:ext cx="4500229" cy="213360"/>
            </a:xfrm>
            <a:prstGeom prst="rect">
              <a:avLst/>
            </a:prstGeom>
            <a:noFill/>
            <a:ln>
              <a:noFill/>
            </a:ln>
          </p:spPr>
          <p:txBody>
            <a:bodyPr wrap="none" lIns="0" tIns="0" rIns="0" bIns="0" anchor="t" anchorCtr="0">
              <a:spAutoFit/>
            </a:bodyPr>
            <a:lstStyle/>
            <a:p>
              <a:pPr algn="l"/>
              <a:r>
                <a:rPr lang="zh-CN" sz="1050" dirty="0">
                  <a:solidFill>
                    <a:srgbClr val="172033"/>
                  </a:solidFill>
                  <a:latin typeface="Arial"/>
                  <a:ea typeface="Microsoft YaHei"/>
                  <a:cs typeface="Arial"/>
                </a:rPr>
                <a:t>Paid Social has the lowest retention and the highest churn count.</a:t>
              </a:r>
            </a:p>
          </p:txBody>
        </p:sp>
      </p:grpSp>
      <p:grpSp>
        <p:nvGrpSpPr>
          <p:cNvPr id="60" name="Group 60"/>
          <p:cNvGrpSpPr/>
          <p:nvPr/>
        </p:nvGrpSpPr>
        <p:grpSpPr>
          <a:xfrm>
            <a:off x="712470" y="6075045"/>
            <a:ext cx="10884694" cy="335280"/>
            <a:chOff x="712470" y="6075045"/>
            <a:chExt cx="10884694" cy="335280"/>
          </a:xfrm>
        </p:grpSpPr>
        <p:sp>
          <p:nvSpPr>
            <p:cNvPr id="58" name="TextBox 58"/>
            <p:cNvSpPr txBox="1"/>
            <p:nvPr/>
          </p:nvSpPr>
          <p:spPr>
            <a:xfrm>
              <a:off x="712470" y="6075045"/>
              <a:ext cx="3714750" cy="335280"/>
            </a:xfrm>
            <a:prstGeom prst="rect">
              <a:avLst/>
            </a:prstGeom>
            <a:noFill/>
            <a:ln>
              <a:noFill/>
            </a:ln>
          </p:spPr>
          <p:txBody>
            <a:bodyPr wrap="square" lIns="0" tIns="0" rIns="0" bIns="0" anchor="t" anchorCtr="0"/>
            <a:lstStyle/>
            <a:p>
              <a:pPr algn="l">
                <a:lnSpc>
                  <a:spcPts val="1200"/>
                </a:lnSpc>
              </a:pPr>
              <a:r>
                <a:rPr lang="zh-CN" sz="900" dirty="0">
                  <a:solidFill>
                    <a:srgbClr val="8A94A6"/>
                  </a:solidFill>
                  <a:latin typeface="Arial"/>
                  <a:ea typeface="Microsoft YaHei"/>
                  <a:cs typeface="Arial"/>
                </a:rPr>
                <a:t xml:space="preserve">Source: product_growth_metrics_q1_q2_2026.csv </a:t>
              </a:r>
              <a:r>
                <a:rPr lang="zh-CN" sz="900" dirty="0">
                  <a:solidFill>
                    <a:srgbClr val="8A94A6"/>
                  </a:solidFill>
                  <a:latin typeface="Arial"/>
                  <a:ea typeface="Microsoft YaHei"/>
                  <a:cs typeface="Arial"/>
                </a:rPr>
                <a:t>Retention uses retained_m30_pct; churn uses churned_paid_users</a:t>
              </a:r>
            </a:p>
          </p:txBody>
        </p:sp>
        <p:sp>
          <p:nvSpPr>
            <p:cNvPr id="59" name="TextBox 59"/>
            <p:cNvSpPr txBox="1"/>
            <p:nvPr/>
          </p:nvSpPr>
          <p:spPr>
            <a:xfrm>
              <a:off x="11304270" y="6132195"/>
              <a:ext cx="292894" cy="182880"/>
            </a:xfrm>
            <a:prstGeom prst="rect">
              <a:avLst/>
            </a:prstGeom>
            <a:noFill/>
            <a:ln>
              <a:noFill/>
            </a:ln>
          </p:spPr>
          <p:txBody>
            <a:bodyPr wrap="none" lIns="0" tIns="0" rIns="0" bIns="0" anchor="t" anchorCtr="0">
              <a:spAutoFit/>
            </a:bodyPr>
            <a:lstStyle/>
            <a:p>
              <a:pPr algn="l"/>
              <a:r>
                <a:rPr lang="zh-CN" sz="900" dirty="0">
                  <a:solidFill>
                    <a:srgbClr val="8A94A6"/>
                  </a:solidFill>
                  <a:latin typeface="Arial"/>
                  <a:ea typeface="Microsoft YaHei"/>
                  <a:cs typeface="Arial"/>
                </a:rPr>
                <a:t>6 / 7</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400"/>
                                        <p:tgtEl>
                                          <p:spTgt spid="37"/>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57"/>
                                        </p:tgtEl>
                                        <p:attrNameLst>
                                          <p:attrName>style.visibility</p:attrName>
                                        </p:attrNameLst>
                                      </p:cBhvr>
                                      <p:to>
                                        <p:strVal val="visible"/>
                                      </p:to>
                                    </p:set>
                                    <p:animEffect transition="in" filter="wipe(left)">
                                      <p:cBhvr>
                                        <p:cTn id="11" dur="4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5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7F8FA"/>
            </a:solidFill>
            <a:ln>
              <a:noFill/>
            </a:ln>
          </p:spPr>
        </p:sp>
        <p:sp>
          <p:nvSpPr>
            <p:cNvPr id="3" name="Rectangle 3"/>
            <p:cNvSpPr/>
            <p:nvPr/>
          </p:nvSpPr>
          <p:spPr>
            <a:xfrm>
              <a:off x="495300" y="400050"/>
              <a:ext cx="11201400" cy="6057900"/>
            </a:xfrm>
            <a:prstGeom prst="roundRect">
              <a:avLst>
                <a:gd name="adj" fmla="val 1572"/>
              </a:avLst>
            </a:prstGeom>
            <a:solidFill>
              <a:srgbClr val="FFFFFF"/>
            </a:solidFill>
            <a:ln w="9525">
              <a:solidFill>
                <a:srgbClr val="D9E1EA"/>
              </a:solidFill>
            </a:ln>
          </p:spPr>
        </p:sp>
      </p:grpSp>
      <p:grpSp>
        <p:nvGrpSpPr>
          <p:cNvPr id="9" name="Group 9"/>
          <p:cNvGrpSpPr/>
          <p:nvPr/>
        </p:nvGrpSpPr>
        <p:grpSpPr>
          <a:xfrm>
            <a:off x="691515" y="645795"/>
            <a:ext cx="10776585" cy="1059180"/>
            <a:chOff x="691515" y="645795"/>
            <a:chExt cx="10776585" cy="1059180"/>
          </a:xfrm>
        </p:grpSpPr>
        <p:sp>
          <p:nvSpPr>
            <p:cNvPr id="5" name="TextBox 5"/>
            <p:cNvSpPr txBox="1"/>
            <p:nvPr/>
          </p:nvSpPr>
          <p:spPr>
            <a:xfrm>
              <a:off x="712470" y="645795"/>
              <a:ext cx="1613059" cy="182880"/>
            </a:xfrm>
            <a:prstGeom prst="rect">
              <a:avLst/>
            </a:prstGeom>
            <a:noFill/>
            <a:ln>
              <a:noFill/>
            </a:ln>
          </p:spPr>
          <p:txBody>
            <a:bodyPr wrap="none" lIns="0" tIns="0" rIns="0" bIns="0" anchor="t" anchorCtr="0">
              <a:spAutoFit/>
            </a:bodyPr>
            <a:lstStyle/>
            <a:p>
              <a:pPr algn="l"/>
              <a:r>
                <a:rPr lang="zh-CN" sz="900" dirty="0">
                  <a:solidFill>
                    <a:srgbClr val="596579"/>
                  </a:solidFill>
                  <a:latin typeface="Arial"/>
                  <a:ea typeface="Microsoft YaHei"/>
                  <a:cs typeface="Arial"/>
                </a:rPr>
                <a:t>RECOMMENDED NEXT ACTIONS</a:t>
              </a:r>
            </a:p>
          </p:txBody>
        </p:sp>
        <p:sp>
          <p:nvSpPr>
            <p:cNvPr id="6" name="TextBox 6"/>
            <p:cNvSpPr txBox="1"/>
            <p:nvPr/>
          </p:nvSpPr>
          <p:spPr>
            <a:xfrm>
              <a:off x="691515" y="905828"/>
              <a:ext cx="10454769" cy="518160"/>
            </a:xfrm>
            <a:prstGeom prst="rect">
              <a:avLst/>
            </a:prstGeom>
            <a:noFill/>
            <a:ln>
              <a:noFill/>
            </a:ln>
          </p:spPr>
          <p:txBody>
            <a:bodyPr wrap="none" lIns="0" tIns="0" rIns="0" bIns="0" anchor="t" anchorCtr="0">
              <a:spAutoFit/>
            </a:bodyPr>
            <a:lstStyle/>
            <a:p>
              <a:pPr algn="l"/>
              <a:r>
                <a:rPr lang="zh-CN" sz="2550" b="1" dirty="0">
                  <a:solidFill>
                    <a:srgbClr val="172033"/>
                  </a:solidFill>
                  <a:latin typeface="Georgia"/>
                  <a:ea typeface="Microsoft YaHei"/>
                  <a:cs typeface="Georgia"/>
                </a:rPr>
                <a:t>Reallocate effort toward efficient quality, not just volume</a:t>
              </a:r>
            </a:p>
          </p:txBody>
        </p:sp>
        <p:sp>
          <p:nvSpPr>
            <p:cNvPr id="7" name="TextBox 7"/>
            <p:cNvSpPr txBox="1"/>
            <p:nvPr/>
          </p:nvSpPr>
          <p:spPr>
            <a:xfrm>
              <a:off x="706755" y="1349692"/>
              <a:ext cx="8441341" cy="274320"/>
            </a:xfrm>
            <a:prstGeom prst="rect">
              <a:avLst/>
            </a:prstGeom>
            <a:noFill/>
            <a:ln>
              <a:noFill/>
            </a:ln>
          </p:spPr>
          <p:txBody>
            <a:bodyPr wrap="none" lIns="0" tIns="0" rIns="0" bIns="0" anchor="t" anchorCtr="0">
              <a:spAutoFit/>
            </a:bodyPr>
            <a:lstStyle/>
            <a:p>
              <a:pPr algn="l"/>
              <a:r>
                <a:rPr lang="zh-CN" sz="1350" dirty="0">
                  <a:solidFill>
                    <a:srgbClr val="596579"/>
                  </a:solidFill>
                  <a:latin typeface="Arial"/>
                  <a:ea typeface="Microsoft YaHei"/>
                  <a:cs typeface="Arial"/>
                </a:rPr>
                <a:t>Every action is tied to source-derived H1 revenue, paid conversions, CAC, retention, or churn.</a:t>
              </a:r>
            </a:p>
          </p:txBody>
        </p:sp>
        <p:sp>
          <p:nvSpPr>
            <p:cNvPr id="8" name="Line 8"/>
            <p:cNvSpPr/>
            <p:nvPr/>
          </p:nvSpPr>
          <p:spPr>
            <a:xfrm>
              <a:off x="723900" y="1695450"/>
              <a:ext cx="10744200" cy="9525"/>
            </a:xfrm>
            <a:custGeom>
              <a:avLst/>
              <a:gdLst/>
              <a:ahLst/>
              <a:cxnLst/>
              <a:rect l="l" t="t" r="r" b="b"/>
              <a:pathLst>
                <a:path w="10744200" h="9525">
                  <a:moveTo>
                    <a:pt x="0" y="0"/>
                  </a:moveTo>
                  <a:lnTo>
                    <a:pt x="10744200" y="0"/>
                  </a:lnTo>
                </a:path>
              </a:pathLst>
            </a:custGeom>
            <a:noFill/>
            <a:ln w="9525">
              <a:solidFill>
                <a:srgbClr val="D9E1EA"/>
              </a:solidFill>
            </a:ln>
          </p:spPr>
        </p:sp>
      </p:grpSp>
      <p:grpSp>
        <p:nvGrpSpPr>
          <p:cNvPr id="46" name="Group 46"/>
          <p:cNvGrpSpPr/>
          <p:nvPr/>
        </p:nvGrpSpPr>
        <p:grpSpPr>
          <a:xfrm>
            <a:off x="723900" y="2038350"/>
            <a:ext cx="11673959" cy="3448050"/>
            <a:chOff x="723900" y="2038350"/>
            <a:chExt cx="11673959" cy="3448050"/>
          </a:xfrm>
        </p:grpSpPr>
        <p:sp>
          <p:nvSpPr>
            <p:cNvPr id="10" name="Rectangle 10"/>
            <p:cNvSpPr/>
            <p:nvPr/>
          </p:nvSpPr>
          <p:spPr>
            <a:xfrm>
              <a:off x="723900" y="2038350"/>
              <a:ext cx="10744200" cy="3448050"/>
            </a:xfrm>
            <a:prstGeom prst="roundRect">
              <a:avLst>
                <a:gd name="adj" fmla="val 2210"/>
              </a:avLst>
            </a:prstGeom>
            <a:solidFill>
              <a:srgbClr val="FFFFFF"/>
            </a:solidFill>
            <a:ln w="9525">
              <a:solidFill>
                <a:srgbClr val="D9E1EA"/>
              </a:solidFill>
            </a:ln>
          </p:spPr>
        </p:sp>
        <p:sp>
          <p:nvSpPr>
            <p:cNvPr id="11" name="Rectangle 11"/>
            <p:cNvSpPr/>
            <p:nvPr/>
          </p:nvSpPr>
          <p:spPr>
            <a:xfrm>
              <a:off x="723900" y="2038350"/>
              <a:ext cx="10744200" cy="438150"/>
            </a:xfrm>
            <a:prstGeom prst="roundRect">
              <a:avLst>
                <a:gd name="adj" fmla="val 17391"/>
              </a:avLst>
            </a:prstGeom>
            <a:solidFill>
              <a:srgbClr val="F7F8FA"/>
            </a:solidFill>
            <a:ln w="9525">
              <a:solidFill>
                <a:srgbClr val="D9E1EA"/>
              </a:solidFill>
            </a:ln>
          </p:spPr>
        </p:sp>
        <p:sp>
          <p:nvSpPr>
            <p:cNvPr id="12" name="TextBox 12"/>
            <p:cNvSpPr txBox="1"/>
            <p:nvPr/>
          </p:nvSpPr>
          <p:spPr>
            <a:xfrm>
              <a:off x="959168" y="2209324"/>
              <a:ext cx="516226" cy="198120"/>
            </a:xfrm>
            <a:prstGeom prst="rect">
              <a:avLst/>
            </a:prstGeom>
            <a:noFill/>
            <a:ln>
              <a:noFill/>
            </a:ln>
          </p:spPr>
          <p:txBody>
            <a:bodyPr wrap="none" lIns="0" tIns="0" rIns="0" bIns="0" anchor="t" anchorCtr="0">
              <a:spAutoFit/>
            </a:bodyPr>
            <a:lstStyle/>
            <a:p>
              <a:pPr algn="l"/>
              <a:r>
                <a:rPr lang="zh-CN" sz="975" b="1" dirty="0">
                  <a:solidFill>
                    <a:srgbClr val="596579"/>
                  </a:solidFill>
                  <a:latin typeface="Arial"/>
                  <a:ea typeface="Microsoft YaHei"/>
                  <a:cs typeface="Arial"/>
                </a:rPr>
                <a:t>Channel</a:t>
              </a:r>
            </a:p>
          </p:txBody>
        </p:sp>
        <p:sp>
          <p:nvSpPr>
            <p:cNvPr id="13" name="TextBox 13"/>
            <p:cNvSpPr txBox="1"/>
            <p:nvPr/>
          </p:nvSpPr>
          <p:spPr>
            <a:xfrm>
              <a:off x="2768918" y="2209324"/>
              <a:ext cx="1642492" cy="198120"/>
            </a:xfrm>
            <a:prstGeom prst="rect">
              <a:avLst/>
            </a:prstGeom>
            <a:noFill/>
            <a:ln>
              <a:noFill/>
            </a:ln>
          </p:spPr>
          <p:txBody>
            <a:bodyPr wrap="none" lIns="0" tIns="0" rIns="0" bIns="0" anchor="t" anchorCtr="0">
              <a:spAutoFit/>
            </a:bodyPr>
            <a:lstStyle/>
            <a:p>
              <a:pPr algn="l"/>
              <a:r>
                <a:rPr lang="zh-CN" sz="975" b="1" dirty="0">
                  <a:solidFill>
                    <a:srgbClr val="596579"/>
                  </a:solidFill>
                  <a:latin typeface="Arial"/>
                  <a:ea typeface="Microsoft YaHei"/>
                  <a:cs typeface="Arial"/>
                </a:rPr>
                <a:t>Evidence from H1 source</a:t>
              </a:r>
            </a:p>
          </p:txBody>
        </p:sp>
        <p:sp>
          <p:nvSpPr>
            <p:cNvPr id="14" name="TextBox 14"/>
            <p:cNvSpPr txBox="1"/>
            <p:nvPr/>
          </p:nvSpPr>
          <p:spPr>
            <a:xfrm>
              <a:off x="6064568" y="2209324"/>
              <a:ext cx="1362632" cy="198120"/>
            </a:xfrm>
            <a:prstGeom prst="rect">
              <a:avLst/>
            </a:prstGeom>
            <a:noFill/>
            <a:ln>
              <a:noFill/>
            </a:ln>
          </p:spPr>
          <p:txBody>
            <a:bodyPr wrap="none" lIns="0" tIns="0" rIns="0" bIns="0" anchor="t" anchorCtr="0">
              <a:spAutoFit/>
            </a:bodyPr>
            <a:lstStyle/>
            <a:p>
              <a:pPr algn="l"/>
              <a:r>
                <a:rPr lang="zh-CN" sz="975" b="1" dirty="0">
                  <a:solidFill>
                    <a:srgbClr val="596579"/>
                  </a:solidFill>
                  <a:latin typeface="Arial"/>
                  <a:ea typeface="Microsoft YaHei"/>
                  <a:cs typeface="Arial"/>
                </a:rPr>
                <a:t>Recommended action</a:t>
              </a:r>
            </a:p>
          </p:txBody>
        </p:sp>
        <p:sp>
          <p:nvSpPr>
            <p:cNvPr id="15" name="TextBox 15"/>
            <p:cNvSpPr txBox="1"/>
            <p:nvPr/>
          </p:nvSpPr>
          <p:spPr>
            <a:xfrm>
              <a:off x="9798368" y="2209324"/>
              <a:ext cx="427490" cy="198120"/>
            </a:xfrm>
            <a:prstGeom prst="rect">
              <a:avLst/>
            </a:prstGeom>
            <a:noFill/>
            <a:ln>
              <a:noFill/>
            </a:ln>
          </p:spPr>
          <p:txBody>
            <a:bodyPr wrap="none" lIns="0" tIns="0" rIns="0" bIns="0" anchor="t" anchorCtr="0">
              <a:spAutoFit/>
            </a:bodyPr>
            <a:lstStyle/>
            <a:p>
              <a:pPr algn="l"/>
              <a:r>
                <a:rPr lang="zh-CN" sz="975" b="1" dirty="0">
                  <a:solidFill>
                    <a:srgbClr val="596579"/>
                  </a:solidFill>
                  <a:latin typeface="Arial"/>
                  <a:ea typeface="Microsoft YaHei"/>
                  <a:cs typeface="Arial"/>
                </a:rPr>
                <a:t>Watch</a:t>
              </a:r>
            </a:p>
          </p:txBody>
        </p:sp>
        <p:sp>
          <p:nvSpPr>
            <p:cNvPr id="16" name="Line 16"/>
            <p:cNvSpPr/>
            <p:nvPr/>
          </p:nvSpPr>
          <p:spPr>
            <a:xfrm>
              <a:off x="723900" y="3219450"/>
              <a:ext cx="10744200" cy="9525"/>
            </a:xfrm>
            <a:custGeom>
              <a:avLst/>
              <a:gdLst/>
              <a:ahLst/>
              <a:cxnLst/>
              <a:rect l="l" t="t" r="r" b="b"/>
              <a:pathLst>
                <a:path w="10744200" h="9525">
                  <a:moveTo>
                    <a:pt x="0" y="0"/>
                  </a:moveTo>
                  <a:lnTo>
                    <a:pt x="10744200" y="0"/>
                  </a:lnTo>
                </a:path>
              </a:pathLst>
            </a:custGeom>
            <a:noFill/>
            <a:ln w="9525">
              <a:solidFill>
                <a:srgbClr val="E8EEF5"/>
              </a:solidFill>
            </a:ln>
          </p:spPr>
        </p:sp>
        <p:sp>
          <p:nvSpPr>
            <p:cNvPr id="17" name="Line 17"/>
            <p:cNvSpPr/>
            <p:nvPr/>
          </p:nvSpPr>
          <p:spPr>
            <a:xfrm>
              <a:off x="723900" y="3962400"/>
              <a:ext cx="10744200" cy="9525"/>
            </a:xfrm>
            <a:custGeom>
              <a:avLst/>
              <a:gdLst/>
              <a:ahLst/>
              <a:cxnLst/>
              <a:rect l="l" t="t" r="r" b="b"/>
              <a:pathLst>
                <a:path w="10744200" h="9525">
                  <a:moveTo>
                    <a:pt x="0" y="0"/>
                  </a:moveTo>
                  <a:lnTo>
                    <a:pt x="10744200" y="0"/>
                  </a:lnTo>
                </a:path>
              </a:pathLst>
            </a:custGeom>
            <a:noFill/>
            <a:ln w="9525">
              <a:solidFill>
                <a:srgbClr val="E8EEF5"/>
              </a:solidFill>
            </a:ln>
          </p:spPr>
        </p:sp>
        <p:sp>
          <p:nvSpPr>
            <p:cNvPr id="18" name="Line 18"/>
            <p:cNvSpPr/>
            <p:nvPr/>
          </p:nvSpPr>
          <p:spPr>
            <a:xfrm>
              <a:off x="723900" y="4705350"/>
              <a:ext cx="10744200" cy="9525"/>
            </a:xfrm>
            <a:custGeom>
              <a:avLst/>
              <a:gdLst/>
              <a:ahLst/>
              <a:cxnLst/>
              <a:rect l="l" t="t" r="r" b="b"/>
              <a:pathLst>
                <a:path w="10744200" h="9525">
                  <a:moveTo>
                    <a:pt x="0" y="0"/>
                  </a:moveTo>
                  <a:lnTo>
                    <a:pt x="10744200" y="0"/>
                  </a:lnTo>
                </a:path>
              </a:pathLst>
            </a:custGeom>
            <a:noFill/>
            <a:ln w="9525">
              <a:solidFill>
                <a:srgbClr val="E8EEF5"/>
              </a:solidFill>
            </a:ln>
          </p:spPr>
        </p:sp>
        <p:sp>
          <p:nvSpPr>
            <p:cNvPr id="19" name="Line 19"/>
            <p:cNvSpPr/>
            <p:nvPr/>
          </p:nvSpPr>
          <p:spPr>
            <a:xfrm>
              <a:off x="2476500" y="2038350"/>
              <a:ext cx="9525" cy="3448050"/>
            </a:xfrm>
            <a:custGeom>
              <a:avLst/>
              <a:gdLst/>
              <a:ahLst/>
              <a:cxnLst/>
              <a:rect l="l" t="t" r="r" b="b"/>
              <a:pathLst>
                <a:path w="9525" h="3448050">
                  <a:moveTo>
                    <a:pt x="0" y="0"/>
                  </a:moveTo>
                  <a:lnTo>
                    <a:pt x="0" y="3448050"/>
                  </a:lnTo>
                </a:path>
              </a:pathLst>
            </a:custGeom>
            <a:noFill/>
            <a:ln w="9525">
              <a:solidFill>
                <a:srgbClr val="E8EEF5"/>
              </a:solidFill>
            </a:ln>
          </p:spPr>
        </p:sp>
        <p:sp>
          <p:nvSpPr>
            <p:cNvPr id="20" name="Line 20"/>
            <p:cNvSpPr/>
            <p:nvPr/>
          </p:nvSpPr>
          <p:spPr>
            <a:xfrm>
              <a:off x="5810250" y="2038350"/>
              <a:ext cx="9525" cy="3448050"/>
            </a:xfrm>
            <a:custGeom>
              <a:avLst/>
              <a:gdLst/>
              <a:ahLst/>
              <a:cxnLst/>
              <a:rect l="l" t="t" r="r" b="b"/>
              <a:pathLst>
                <a:path w="9525" h="3448050">
                  <a:moveTo>
                    <a:pt x="0" y="0"/>
                  </a:moveTo>
                  <a:lnTo>
                    <a:pt x="0" y="3448050"/>
                  </a:lnTo>
                </a:path>
              </a:pathLst>
            </a:custGeom>
            <a:noFill/>
            <a:ln w="9525">
              <a:solidFill>
                <a:srgbClr val="E8EEF5"/>
              </a:solidFill>
            </a:ln>
          </p:spPr>
        </p:sp>
        <p:sp>
          <p:nvSpPr>
            <p:cNvPr id="21" name="Line 21"/>
            <p:cNvSpPr/>
            <p:nvPr/>
          </p:nvSpPr>
          <p:spPr>
            <a:xfrm>
              <a:off x="9620250" y="2038350"/>
              <a:ext cx="9525" cy="3448050"/>
            </a:xfrm>
            <a:custGeom>
              <a:avLst/>
              <a:gdLst/>
              <a:ahLst/>
              <a:cxnLst/>
              <a:rect l="l" t="t" r="r" b="b"/>
              <a:pathLst>
                <a:path w="9525" h="3448050">
                  <a:moveTo>
                    <a:pt x="0" y="0"/>
                  </a:moveTo>
                  <a:lnTo>
                    <a:pt x="0" y="3448050"/>
                  </a:lnTo>
                </a:path>
              </a:pathLst>
            </a:custGeom>
            <a:noFill/>
            <a:ln w="9525">
              <a:solidFill>
                <a:srgbClr val="E8EEF5"/>
              </a:solidFill>
            </a:ln>
          </p:spPr>
        </p:sp>
        <p:sp>
          <p:nvSpPr>
            <p:cNvPr id="22" name="Rectangle 22"/>
            <p:cNvSpPr/>
            <p:nvPr/>
          </p:nvSpPr>
          <p:spPr>
            <a:xfrm>
              <a:off x="971550" y="2724150"/>
              <a:ext cx="133350" cy="133350"/>
            </a:xfrm>
            <a:prstGeom prst="rect">
              <a:avLst/>
            </a:prstGeom>
            <a:solidFill>
              <a:srgbClr val="14A38B"/>
            </a:solidFill>
            <a:ln>
              <a:noFill/>
            </a:ln>
          </p:spPr>
        </p:sp>
        <p:sp>
          <p:nvSpPr>
            <p:cNvPr id="23" name="TextBox 23"/>
            <p:cNvSpPr txBox="1"/>
            <p:nvPr/>
          </p:nvSpPr>
          <p:spPr>
            <a:xfrm>
              <a:off x="1183005" y="2711768"/>
              <a:ext cx="818738" cy="274320"/>
            </a:xfrm>
            <a:prstGeom prst="rect">
              <a:avLst/>
            </a:prstGeom>
            <a:noFill/>
            <a:ln>
              <a:noFill/>
            </a:ln>
          </p:spPr>
          <p:txBody>
            <a:bodyPr wrap="none" lIns="0" tIns="0" rIns="0" bIns="0" anchor="t" anchorCtr="0">
              <a:spAutoFit/>
            </a:bodyPr>
            <a:lstStyle/>
            <a:p>
              <a:pPr algn="l"/>
              <a:r>
                <a:rPr lang="zh-CN" sz="1350" b="1" dirty="0">
                  <a:solidFill>
                    <a:srgbClr val="172033"/>
                  </a:solidFill>
                  <a:latin typeface="Arial"/>
                  <a:ea typeface="Microsoft YaHei"/>
                  <a:cs typeface="Arial"/>
                </a:rPr>
                <a:t>Referral</a:t>
              </a:r>
            </a:p>
          </p:txBody>
        </p:sp>
        <p:sp>
          <p:nvSpPr>
            <p:cNvPr id="24" name="TextBox 24"/>
            <p:cNvSpPr txBox="1"/>
            <p:nvPr/>
          </p:nvSpPr>
          <p:spPr>
            <a:xfrm>
              <a:off x="2767012" y="2640806"/>
              <a:ext cx="3021449" cy="228600"/>
            </a:xfrm>
            <a:prstGeom prst="rect">
              <a:avLst/>
            </a:prstGeom>
            <a:noFill/>
            <a:ln>
              <a:noFill/>
            </a:ln>
          </p:spPr>
          <p:txBody>
            <a:bodyPr wrap="none" lIns="0" tIns="0" rIns="0" bIns="0" anchor="t" anchorCtr="0">
              <a:spAutoFit/>
            </a:bodyPr>
            <a:lstStyle/>
            <a:p>
              <a:pPr algn="l"/>
              <a:r>
                <a:rPr lang="zh-CN" sz="1125" dirty="0">
                  <a:solidFill>
                    <a:srgbClr val="172033"/>
                  </a:solidFill>
                  <a:latin typeface="Arial"/>
                  <a:ea typeface="Microsoft YaHei"/>
                  <a:cs typeface="Arial"/>
                </a:rPr>
                <a:t>$348.1K revenue; 1,715 paid conversions</a:t>
              </a:r>
            </a:p>
          </p:txBody>
        </p:sp>
        <p:sp>
          <p:nvSpPr>
            <p:cNvPr id="25" name="TextBox 25"/>
            <p:cNvSpPr txBox="1"/>
            <p:nvPr/>
          </p:nvSpPr>
          <p:spPr>
            <a:xfrm>
              <a:off x="2767012" y="2869406"/>
              <a:ext cx="2493758" cy="228600"/>
            </a:xfrm>
            <a:prstGeom prst="rect">
              <a:avLst/>
            </a:prstGeom>
            <a:noFill/>
            <a:ln>
              <a:noFill/>
            </a:ln>
          </p:spPr>
          <p:txBody>
            <a:bodyPr wrap="none" lIns="0" tIns="0" rIns="0" bIns="0" anchor="t" anchorCtr="0">
              <a:spAutoFit/>
            </a:bodyPr>
            <a:lstStyle/>
            <a:p>
              <a:pPr algn="l"/>
              <a:r>
                <a:rPr lang="zh-CN" sz="1125" b="1" dirty="0">
                  <a:solidFill>
                    <a:srgbClr val="14A38B"/>
                  </a:solidFill>
                  <a:latin typeface="Arial"/>
                  <a:ea typeface="Microsoft YaHei"/>
                  <a:cs typeface="Arial"/>
                </a:rPr>
                <a:t>$9.15 CAC; 89.0% M30 retention</a:t>
              </a:r>
            </a:p>
          </p:txBody>
        </p:sp>
        <p:sp>
          <p:nvSpPr>
            <p:cNvPr id="26" name="TextBox 26"/>
            <p:cNvSpPr txBox="1"/>
            <p:nvPr/>
          </p:nvSpPr>
          <p:spPr>
            <a:xfrm>
              <a:off x="6061710" y="2727960"/>
              <a:ext cx="3934968" cy="243840"/>
            </a:xfrm>
            <a:prstGeom prst="rect">
              <a:avLst/>
            </a:prstGeom>
            <a:noFill/>
            <a:ln>
              <a:noFill/>
            </a:ln>
          </p:spPr>
          <p:txBody>
            <a:bodyPr wrap="none" lIns="0" tIns="0" rIns="0" bIns="0" anchor="t" anchorCtr="0">
              <a:spAutoFit/>
            </a:bodyPr>
            <a:lstStyle/>
            <a:p>
              <a:pPr algn="l"/>
              <a:r>
                <a:rPr lang="zh-CN" sz="1200" dirty="0">
                  <a:solidFill>
                    <a:srgbClr val="172033"/>
                  </a:solidFill>
                  <a:latin typeface="Arial"/>
                  <a:ea typeface="Microsoft YaHei"/>
                  <a:cs typeface="Arial"/>
                </a:rPr>
                <a:t>Prioritize referral-led experiments and capacity.</a:t>
              </a:r>
            </a:p>
          </p:txBody>
        </p:sp>
        <p:sp>
          <p:nvSpPr>
            <p:cNvPr id="27" name="TextBox 27"/>
            <p:cNvSpPr txBox="1"/>
            <p:nvPr/>
          </p:nvSpPr>
          <p:spPr>
            <a:xfrm>
              <a:off x="9796462" y="2736056"/>
              <a:ext cx="2436376" cy="228600"/>
            </a:xfrm>
            <a:prstGeom prst="rect">
              <a:avLst/>
            </a:prstGeom>
            <a:noFill/>
            <a:ln>
              <a:noFill/>
            </a:ln>
          </p:spPr>
          <p:txBody>
            <a:bodyPr wrap="none" lIns="0" tIns="0" rIns="0" bIns="0" anchor="t" anchorCtr="0">
              <a:spAutoFit/>
            </a:bodyPr>
            <a:lstStyle/>
            <a:p>
              <a:pPr algn="l"/>
              <a:r>
                <a:rPr lang="zh-CN" sz="1125" dirty="0">
                  <a:solidFill>
                    <a:srgbClr val="596579"/>
                  </a:solidFill>
                  <a:latin typeface="Arial"/>
                  <a:ea typeface="Microsoft YaHei"/>
                  <a:cs typeface="Arial"/>
                </a:rPr>
                <a:t>Maintain quality as volume rises.</a:t>
              </a:r>
            </a:p>
          </p:txBody>
        </p:sp>
        <p:sp>
          <p:nvSpPr>
            <p:cNvPr id="28" name="Rectangle 28"/>
            <p:cNvSpPr/>
            <p:nvPr/>
          </p:nvSpPr>
          <p:spPr>
            <a:xfrm>
              <a:off x="971550" y="3467100"/>
              <a:ext cx="133350" cy="133350"/>
            </a:xfrm>
            <a:prstGeom prst="rect">
              <a:avLst/>
            </a:prstGeom>
            <a:solidFill>
              <a:srgbClr val="2F80ED"/>
            </a:solidFill>
            <a:ln>
              <a:noFill/>
            </a:ln>
          </p:spPr>
        </p:sp>
        <p:sp>
          <p:nvSpPr>
            <p:cNvPr id="29" name="TextBox 29"/>
            <p:cNvSpPr txBox="1"/>
            <p:nvPr/>
          </p:nvSpPr>
          <p:spPr>
            <a:xfrm>
              <a:off x="1183005" y="3454718"/>
              <a:ext cx="658068" cy="274320"/>
            </a:xfrm>
            <a:prstGeom prst="rect">
              <a:avLst/>
            </a:prstGeom>
            <a:noFill/>
            <a:ln>
              <a:noFill/>
            </a:ln>
          </p:spPr>
          <p:txBody>
            <a:bodyPr wrap="none" lIns="0" tIns="0" rIns="0" bIns="0" anchor="t" anchorCtr="0">
              <a:spAutoFit/>
            </a:bodyPr>
            <a:lstStyle/>
            <a:p>
              <a:pPr algn="l"/>
              <a:r>
                <a:rPr lang="zh-CN" sz="1350" b="1" dirty="0">
                  <a:solidFill>
                    <a:srgbClr val="172033"/>
                  </a:solidFill>
                  <a:latin typeface="Arial"/>
                  <a:ea typeface="Microsoft YaHei"/>
                  <a:cs typeface="Arial"/>
                </a:rPr>
                <a:t>Search</a:t>
              </a:r>
            </a:p>
          </p:txBody>
        </p:sp>
        <p:sp>
          <p:nvSpPr>
            <p:cNvPr id="30" name="TextBox 30"/>
            <p:cNvSpPr txBox="1"/>
            <p:nvPr/>
          </p:nvSpPr>
          <p:spPr>
            <a:xfrm>
              <a:off x="2767012" y="3383756"/>
              <a:ext cx="3021449" cy="228600"/>
            </a:xfrm>
            <a:prstGeom prst="rect">
              <a:avLst/>
            </a:prstGeom>
            <a:noFill/>
            <a:ln>
              <a:noFill/>
            </a:ln>
          </p:spPr>
          <p:txBody>
            <a:bodyPr wrap="none" lIns="0" tIns="0" rIns="0" bIns="0" anchor="t" anchorCtr="0">
              <a:spAutoFit/>
            </a:bodyPr>
            <a:lstStyle/>
            <a:p>
              <a:pPr algn="l"/>
              <a:r>
                <a:rPr lang="zh-CN" sz="1125" dirty="0">
                  <a:solidFill>
                    <a:srgbClr val="172033"/>
                  </a:solidFill>
                  <a:latin typeface="Arial"/>
                  <a:ea typeface="Microsoft YaHei"/>
                  <a:cs typeface="Arial"/>
                </a:rPr>
                <a:t>$374.1K revenue; 2,095 paid conversions</a:t>
              </a:r>
            </a:p>
          </p:txBody>
        </p:sp>
        <p:sp>
          <p:nvSpPr>
            <p:cNvPr id="31" name="TextBox 31"/>
            <p:cNvSpPr txBox="1"/>
            <p:nvPr/>
          </p:nvSpPr>
          <p:spPr>
            <a:xfrm>
              <a:off x="2767012" y="3612356"/>
              <a:ext cx="2580394" cy="228600"/>
            </a:xfrm>
            <a:prstGeom prst="rect">
              <a:avLst/>
            </a:prstGeom>
            <a:noFill/>
            <a:ln>
              <a:noFill/>
            </a:ln>
          </p:spPr>
          <p:txBody>
            <a:bodyPr wrap="none" lIns="0" tIns="0" rIns="0" bIns="0" anchor="t" anchorCtr="0">
              <a:spAutoFit/>
            </a:bodyPr>
            <a:lstStyle/>
            <a:p>
              <a:pPr algn="l"/>
              <a:r>
                <a:rPr lang="zh-CN" sz="1125" b="1" dirty="0">
                  <a:solidFill>
                    <a:srgbClr val="2F80ED"/>
                  </a:solidFill>
                  <a:latin typeface="Arial"/>
                  <a:ea typeface="Microsoft YaHei"/>
                  <a:cs typeface="Arial"/>
                </a:rPr>
                <a:t>$31.03 CAC; 81.8% M30 retention</a:t>
              </a:r>
            </a:p>
          </p:txBody>
        </p:sp>
        <p:sp>
          <p:nvSpPr>
            <p:cNvPr id="32" name="TextBox 32"/>
            <p:cNvSpPr txBox="1"/>
            <p:nvPr/>
          </p:nvSpPr>
          <p:spPr>
            <a:xfrm>
              <a:off x="6061710" y="3470910"/>
              <a:ext cx="3854958" cy="243840"/>
            </a:xfrm>
            <a:prstGeom prst="rect">
              <a:avLst/>
            </a:prstGeom>
            <a:noFill/>
            <a:ln>
              <a:noFill/>
            </a:ln>
          </p:spPr>
          <p:txBody>
            <a:bodyPr wrap="none" lIns="0" tIns="0" rIns="0" bIns="0" anchor="t" anchorCtr="0">
              <a:spAutoFit/>
            </a:bodyPr>
            <a:lstStyle/>
            <a:p>
              <a:pPr algn="l"/>
              <a:r>
                <a:rPr lang="zh-CN" sz="1200" dirty="0">
                  <a:solidFill>
                    <a:srgbClr val="172033"/>
                  </a:solidFill>
                  <a:latin typeface="Arial"/>
                  <a:ea typeface="Microsoft YaHei"/>
                  <a:cs typeface="Arial"/>
                </a:rPr>
                <a:t>Keep scaling where paid conversion quality holds.</a:t>
              </a:r>
            </a:p>
          </p:txBody>
        </p:sp>
        <p:sp>
          <p:nvSpPr>
            <p:cNvPr id="33" name="TextBox 33"/>
            <p:cNvSpPr txBox="1"/>
            <p:nvPr/>
          </p:nvSpPr>
          <p:spPr>
            <a:xfrm>
              <a:off x="9796462" y="3479006"/>
              <a:ext cx="2008822" cy="228600"/>
            </a:xfrm>
            <a:prstGeom prst="rect">
              <a:avLst/>
            </a:prstGeom>
            <a:noFill/>
            <a:ln>
              <a:noFill/>
            </a:ln>
          </p:spPr>
          <p:txBody>
            <a:bodyPr wrap="none" lIns="0" tIns="0" rIns="0" bIns="0" anchor="t" anchorCtr="0">
              <a:spAutoFit/>
            </a:bodyPr>
            <a:lstStyle/>
            <a:p>
              <a:pPr algn="l"/>
              <a:r>
                <a:rPr lang="zh-CN" sz="1125" dirty="0">
                  <a:solidFill>
                    <a:srgbClr val="596579"/>
                  </a:solidFill>
                  <a:latin typeface="Arial"/>
                  <a:ea typeface="Microsoft YaHei"/>
                  <a:cs typeface="Arial"/>
                </a:rPr>
                <a:t>Watch churned users: 138.</a:t>
              </a:r>
            </a:p>
          </p:txBody>
        </p:sp>
        <p:sp>
          <p:nvSpPr>
            <p:cNvPr id="34" name="Rectangle 34"/>
            <p:cNvSpPr/>
            <p:nvPr/>
          </p:nvSpPr>
          <p:spPr>
            <a:xfrm>
              <a:off x="971550" y="4210050"/>
              <a:ext cx="133350" cy="133350"/>
            </a:xfrm>
            <a:prstGeom prst="rect">
              <a:avLst/>
            </a:prstGeom>
            <a:solidFill>
              <a:srgbClr val="F59E0B"/>
            </a:solidFill>
            <a:ln>
              <a:noFill/>
            </a:ln>
          </p:spPr>
        </p:sp>
        <p:sp>
          <p:nvSpPr>
            <p:cNvPr id="35" name="TextBox 35"/>
            <p:cNvSpPr txBox="1"/>
            <p:nvPr/>
          </p:nvSpPr>
          <p:spPr>
            <a:xfrm>
              <a:off x="1183005" y="4197668"/>
              <a:ext cx="762031" cy="274320"/>
            </a:xfrm>
            <a:prstGeom prst="rect">
              <a:avLst/>
            </a:prstGeom>
            <a:noFill/>
            <a:ln>
              <a:noFill/>
            </a:ln>
          </p:spPr>
          <p:txBody>
            <a:bodyPr wrap="none" lIns="0" tIns="0" rIns="0" bIns="0" anchor="t" anchorCtr="0">
              <a:spAutoFit/>
            </a:bodyPr>
            <a:lstStyle/>
            <a:p>
              <a:pPr algn="l"/>
              <a:r>
                <a:rPr lang="zh-CN" sz="1350" b="1" dirty="0">
                  <a:solidFill>
                    <a:srgbClr val="172033"/>
                  </a:solidFill>
                  <a:latin typeface="Arial"/>
                  <a:ea typeface="Microsoft YaHei"/>
                  <a:cs typeface="Arial"/>
                </a:rPr>
                <a:t>Partner</a:t>
              </a:r>
            </a:p>
          </p:txBody>
        </p:sp>
        <p:sp>
          <p:nvSpPr>
            <p:cNvPr id="36" name="TextBox 36"/>
            <p:cNvSpPr txBox="1"/>
            <p:nvPr/>
          </p:nvSpPr>
          <p:spPr>
            <a:xfrm>
              <a:off x="2767012" y="4126706"/>
              <a:ext cx="3021449" cy="228600"/>
            </a:xfrm>
            <a:prstGeom prst="rect">
              <a:avLst/>
            </a:prstGeom>
            <a:noFill/>
            <a:ln>
              <a:noFill/>
            </a:ln>
          </p:spPr>
          <p:txBody>
            <a:bodyPr wrap="none" lIns="0" tIns="0" rIns="0" bIns="0" anchor="t" anchorCtr="0">
              <a:spAutoFit/>
            </a:bodyPr>
            <a:lstStyle/>
            <a:p>
              <a:pPr algn="l"/>
              <a:r>
                <a:rPr lang="zh-CN" sz="1125" dirty="0">
                  <a:solidFill>
                    <a:srgbClr val="172033"/>
                  </a:solidFill>
                  <a:latin typeface="Arial"/>
                  <a:ea typeface="Microsoft YaHei"/>
                  <a:cs typeface="Arial"/>
                </a:rPr>
                <a:t>$224.8K revenue; 1,045 paid conversions</a:t>
              </a:r>
            </a:p>
          </p:txBody>
        </p:sp>
        <p:sp>
          <p:nvSpPr>
            <p:cNvPr id="37" name="TextBox 37"/>
            <p:cNvSpPr txBox="1"/>
            <p:nvPr/>
          </p:nvSpPr>
          <p:spPr>
            <a:xfrm>
              <a:off x="2767012" y="4355306"/>
              <a:ext cx="2580394" cy="228600"/>
            </a:xfrm>
            <a:prstGeom prst="rect">
              <a:avLst/>
            </a:prstGeom>
            <a:noFill/>
            <a:ln>
              <a:noFill/>
            </a:ln>
          </p:spPr>
          <p:txBody>
            <a:bodyPr wrap="none" lIns="0" tIns="0" rIns="0" bIns="0" anchor="t" anchorCtr="0">
              <a:spAutoFit/>
            </a:bodyPr>
            <a:lstStyle/>
            <a:p>
              <a:pPr algn="l"/>
              <a:r>
                <a:rPr lang="zh-CN" sz="1125" b="1" dirty="0">
                  <a:solidFill>
                    <a:srgbClr val="F59E0B"/>
                  </a:solidFill>
                  <a:latin typeface="Arial"/>
                  <a:ea typeface="Microsoft YaHei"/>
                  <a:cs typeface="Arial"/>
                </a:rPr>
                <a:t>$23.73 CAC; 87.1% M30 retention</a:t>
              </a:r>
            </a:p>
          </p:txBody>
        </p:sp>
        <p:sp>
          <p:nvSpPr>
            <p:cNvPr id="38" name="TextBox 38"/>
            <p:cNvSpPr txBox="1"/>
            <p:nvPr/>
          </p:nvSpPr>
          <p:spPr>
            <a:xfrm>
              <a:off x="6061710" y="4213860"/>
              <a:ext cx="3462909" cy="243840"/>
            </a:xfrm>
            <a:prstGeom prst="rect">
              <a:avLst/>
            </a:prstGeom>
            <a:noFill/>
            <a:ln>
              <a:noFill/>
            </a:ln>
          </p:spPr>
          <p:txBody>
            <a:bodyPr wrap="none" lIns="0" tIns="0" rIns="0" bIns="0" anchor="t" anchorCtr="0">
              <a:spAutoFit/>
            </a:bodyPr>
            <a:lstStyle/>
            <a:p>
              <a:pPr algn="l"/>
              <a:r>
                <a:rPr lang="zh-CN" sz="1200" dirty="0">
                  <a:solidFill>
                    <a:srgbClr val="172033"/>
                  </a:solidFill>
                  <a:latin typeface="Arial"/>
                  <a:ea typeface="Microsoft YaHei"/>
                  <a:cs typeface="Arial"/>
                </a:rPr>
                <a:t>Use as controlled quality expansion channel.</a:t>
              </a:r>
            </a:p>
          </p:txBody>
        </p:sp>
        <p:sp>
          <p:nvSpPr>
            <p:cNvPr id="39" name="TextBox 39"/>
            <p:cNvSpPr txBox="1"/>
            <p:nvPr/>
          </p:nvSpPr>
          <p:spPr>
            <a:xfrm>
              <a:off x="9796462" y="4221956"/>
              <a:ext cx="2601397" cy="228600"/>
            </a:xfrm>
            <a:prstGeom prst="rect">
              <a:avLst/>
            </a:prstGeom>
            <a:noFill/>
            <a:ln>
              <a:noFill/>
            </a:ln>
          </p:spPr>
          <p:txBody>
            <a:bodyPr wrap="none" lIns="0" tIns="0" rIns="0" bIns="0" anchor="t" anchorCtr="0">
              <a:spAutoFit/>
            </a:bodyPr>
            <a:lstStyle/>
            <a:p>
              <a:pPr algn="l"/>
              <a:r>
                <a:rPr lang="zh-CN" sz="1125" dirty="0">
                  <a:solidFill>
                    <a:srgbClr val="596579"/>
                  </a:solidFill>
                  <a:latin typeface="Arial"/>
                  <a:ea typeface="Microsoft YaHei"/>
                  <a:cs typeface="Arial"/>
                </a:rPr>
                <a:t>Guard against small base overread.</a:t>
              </a:r>
            </a:p>
          </p:txBody>
        </p:sp>
        <p:sp>
          <p:nvSpPr>
            <p:cNvPr id="40" name="Rectangle 40"/>
            <p:cNvSpPr/>
            <p:nvPr/>
          </p:nvSpPr>
          <p:spPr>
            <a:xfrm>
              <a:off x="971550" y="4953000"/>
              <a:ext cx="133350" cy="133350"/>
            </a:xfrm>
            <a:prstGeom prst="rect">
              <a:avLst/>
            </a:prstGeom>
            <a:solidFill>
              <a:srgbClr val="C2410C">
                <a:alpha val="75000"/>
              </a:srgbClr>
            </a:solidFill>
            <a:ln>
              <a:noFill/>
            </a:ln>
          </p:spPr>
        </p:sp>
        <p:sp>
          <p:nvSpPr>
            <p:cNvPr id="41" name="TextBox 41"/>
            <p:cNvSpPr txBox="1"/>
            <p:nvPr/>
          </p:nvSpPr>
          <p:spPr>
            <a:xfrm>
              <a:off x="1183005" y="4940618"/>
              <a:ext cx="988859" cy="274320"/>
            </a:xfrm>
            <a:prstGeom prst="rect">
              <a:avLst/>
            </a:prstGeom>
            <a:noFill/>
            <a:ln>
              <a:noFill/>
            </a:ln>
          </p:spPr>
          <p:txBody>
            <a:bodyPr wrap="none" lIns="0" tIns="0" rIns="0" bIns="0" anchor="t" anchorCtr="0">
              <a:spAutoFit/>
            </a:bodyPr>
            <a:lstStyle/>
            <a:p>
              <a:pPr algn="l"/>
              <a:r>
                <a:rPr lang="zh-CN" sz="1350" b="1" dirty="0">
                  <a:solidFill>
                    <a:srgbClr val="172033"/>
                  </a:solidFill>
                  <a:latin typeface="Arial"/>
                  <a:ea typeface="Microsoft YaHei"/>
                  <a:cs typeface="Arial"/>
                </a:rPr>
                <a:t>Paid Social</a:t>
              </a:r>
            </a:p>
          </p:txBody>
        </p:sp>
        <p:sp>
          <p:nvSpPr>
            <p:cNvPr id="42" name="TextBox 42"/>
            <p:cNvSpPr txBox="1"/>
            <p:nvPr/>
          </p:nvSpPr>
          <p:spPr>
            <a:xfrm>
              <a:off x="2767012" y="4869656"/>
              <a:ext cx="3021449" cy="228600"/>
            </a:xfrm>
            <a:prstGeom prst="rect">
              <a:avLst/>
            </a:prstGeom>
            <a:noFill/>
            <a:ln>
              <a:noFill/>
            </a:ln>
          </p:spPr>
          <p:txBody>
            <a:bodyPr wrap="none" lIns="0" tIns="0" rIns="0" bIns="0" anchor="t" anchorCtr="0">
              <a:spAutoFit/>
            </a:bodyPr>
            <a:lstStyle/>
            <a:p>
              <a:pPr algn="l"/>
              <a:r>
                <a:rPr lang="zh-CN" sz="1125" dirty="0">
                  <a:solidFill>
                    <a:srgbClr val="172033"/>
                  </a:solidFill>
                  <a:latin typeface="Arial"/>
                  <a:ea typeface="Microsoft YaHei"/>
                  <a:cs typeface="Arial"/>
                </a:rPr>
                <a:t>$261.1K revenue; 1,515 paid conversions</a:t>
              </a:r>
            </a:p>
          </p:txBody>
        </p:sp>
        <p:sp>
          <p:nvSpPr>
            <p:cNvPr id="43" name="TextBox 43"/>
            <p:cNvSpPr txBox="1"/>
            <p:nvPr/>
          </p:nvSpPr>
          <p:spPr>
            <a:xfrm>
              <a:off x="2767012" y="5098256"/>
              <a:ext cx="2580394" cy="228600"/>
            </a:xfrm>
            <a:prstGeom prst="rect">
              <a:avLst/>
            </a:prstGeom>
            <a:noFill/>
            <a:ln>
              <a:noFill/>
            </a:ln>
          </p:spPr>
          <p:txBody>
            <a:bodyPr wrap="none" lIns="0" tIns="0" rIns="0" bIns="0" anchor="t" anchorCtr="0">
              <a:spAutoFit/>
            </a:bodyPr>
            <a:lstStyle/>
            <a:p>
              <a:pPr algn="l"/>
              <a:r>
                <a:rPr lang="zh-CN" sz="1125" b="1" dirty="0">
                  <a:solidFill>
                    <a:srgbClr val="C2410C"/>
                  </a:solidFill>
                  <a:latin typeface="Arial"/>
                  <a:ea typeface="Microsoft YaHei"/>
                  <a:cs typeface="Arial"/>
                </a:rPr>
                <a:t>$71.95 CAC; 72.8% M30 retention</a:t>
              </a:r>
            </a:p>
          </p:txBody>
        </p:sp>
        <p:sp>
          <p:nvSpPr>
            <p:cNvPr id="44" name="TextBox 44"/>
            <p:cNvSpPr txBox="1"/>
            <p:nvPr/>
          </p:nvSpPr>
          <p:spPr>
            <a:xfrm>
              <a:off x="6062662" y="4888706"/>
              <a:ext cx="2771775" cy="419100"/>
            </a:xfrm>
            <a:prstGeom prst="rect">
              <a:avLst/>
            </a:prstGeom>
            <a:noFill/>
            <a:ln>
              <a:noFill/>
            </a:ln>
          </p:spPr>
          <p:txBody>
            <a:bodyPr wrap="square" lIns="0" tIns="0" rIns="0" bIns="0" anchor="t" anchorCtr="0"/>
            <a:lstStyle/>
            <a:p>
              <a:pPr algn="l">
                <a:lnSpc>
                  <a:spcPts val="1500"/>
                </a:lnSpc>
              </a:pPr>
              <a:r>
                <a:rPr lang="zh-CN" sz="1125" dirty="0">
                  <a:solidFill>
                    <a:srgbClr val="172033"/>
                  </a:solidFill>
                  <a:latin typeface="Arial"/>
                  <a:ea typeface="Microsoft YaHei"/>
                  <a:cs typeface="Arial"/>
                </a:rPr>
                <a:t xml:space="preserve">Tighten creative, audience, and landing </a:t>
              </a:r>
              <a:r>
                <a:rPr lang="zh-CN" sz="1125" dirty="0">
                  <a:solidFill>
                    <a:srgbClr val="172033"/>
                  </a:solidFill>
                  <a:latin typeface="Arial"/>
                  <a:ea typeface="Microsoft YaHei"/>
                  <a:cs typeface="Arial"/>
                </a:rPr>
                <a:t>economics before scale.</a:t>
              </a:r>
            </a:p>
          </p:txBody>
        </p:sp>
        <p:sp>
          <p:nvSpPr>
            <p:cNvPr id="45" name="TextBox 45"/>
            <p:cNvSpPr txBox="1"/>
            <p:nvPr/>
          </p:nvSpPr>
          <p:spPr>
            <a:xfrm>
              <a:off x="9796462" y="4964906"/>
              <a:ext cx="1483757" cy="228600"/>
            </a:xfrm>
            <a:prstGeom prst="rect">
              <a:avLst/>
            </a:prstGeom>
            <a:noFill/>
            <a:ln>
              <a:noFill/>
            </a:ln>
          </p:spPr>
          <p:txBody>
            <a:bodyPr wrap="none" lIns="0" tIns="0" rIns="0" bIns="0" anchor="t" anchorCtr="0">
              <a:spAutoFit/>
            </a:bodyPr>
            <a:lstStyle/>
            <a:p>
              <a:pPr algn="l"/>
              <a:r>
                <a:rPr lang="zh-CN" sz="1125" dirty="0">
                  <a:solidFill>
                    <a:srgbClr val="596579"/>
                  </a:solidFill>
                  <a:latin typeface="Arial"/>
                  <a:ea typeface="Microsoft YaHei"/>
                  <a:cs typeface="Arial"/>
                </a:rPr>
                <a:t>Highest churn: 161.</a:t>
              </a:r>
            </a:p>
          </p:txBody>
        </p:sp>
      </p:grpSp>
      <p:grpSp>
        <p:nvGrpSpPr>
          <p:cNvPr id="49" name="Group 49"/>
          <p:cNvGrpSpPr/>
          <p:nvPr/>
        </p:nvGrpSpPr>
        <p:grpSpPr>
          <a:xfrm>
            <a:off x="723900" y="5734050"/>
            <a:ext cx="10744200" cy="400050"/>
            <a:chOff x="723900" y="5734050"/>
            <a:chExt cx="10744200" cy="400050"/>
          </a:xfrm>
        </p:grpSpPr>
        <p:sp>
          <p:nvSpPr>
            <p:cNvPr id="47" name="Rectangle 47"/>
            <p:cNvSpPr/>
            <p:nvPr/>
          </p:nvSpPr>
          <p:spPr>
            <a:xfrm>
              <a:off x="723900" y="5734050"/>
              <a:ext cx="10744200" cy="400050"/>
            </a:xfrm>
            <a:prstGeom prst="roundRect">
              <a:avLst>
                <a:gd name="adj" fmla="val 19048"/>
              </a:avLst>
            </a:prstGeom>
            <a:solidFill>
              <a:srgbClr val="172033"/>
            </a:solidFill>
            <a:ln>
              <a:noFill/>
            </a:ln>
          </p:spPr>
        </p:sp>
        <p:sp>
          <p:nvSpPr>
            <p:cNvPr id="48" name="TextBox 48"/>
            <p:cNvSpPr txBox="1"/>
            <p:nvPr/>
          </p:nvSpPr>
          <p:spPr>
            <a:xfrm>
              <a:off x="937260" y="5861685"/>
              <a:ext cx="5559171" cy="243840"/>
            </a:xfrm>
            <a:prstGeom prst="rect">
              <a:avLst/>
            </a:prstGeom>
            <a:noFill/>
            <a:ln>
              <a:noFill/>
            </a:ln>
          </p:spPr>
          <p:txBody>
            <a:bodyPr wrap="none" lIns="0" tIns="0" rIns="0" bIns="0" anchor="t" anchorCtr="0">
              <a:spAutoFit/>
            </a:bodyPr>
            <a:lstStyle/>
            <a:p>
              <a:pPr algn="l"/>
              <a:r>
                <a:rPr lang="zh-CN" sz="1200" dirty="0">
                  <a:solidFill>
                    <a:srgbClr val="FFFFFF"/>
                  </a:solidFill>
                  <a:latin typeface="Arial"/>
                  <a:ea typeface="Microsoft YaHei"/>
                  <a:cs typeface="Arial"/>
                </a:rPr>
                <a:t>No Q3 forecasts, extra channels, or unsupported causal claims added.</a:t>
              </a:r>
            </a:p>
          </p:txBody>
        </p:sp>
      </p:grpSp>
      <p:grpSp>
        <p:nvGrpSpPr>
          <p:cNvPr id="52" name="Group 52"/>
          <p:cNvGrpSpPr/>
          <p:nvPr/>
        </p:nvGrpSpPr>
        <p:grpSpPr>
          <a:xfrm>
            <a:off x="712470" y="6208395"/>
            <a:ext cx="10884694" cy="335280"/>
            <a:chOff x="712470" y="6208395"/>
            <a:chExt cx="10884694" cy="335280"/>
          </a:xfrm>
        </p:grpSpPr>
        <p:sp>
          <p:nvSpPr>
            <p:cNvPr id="50" name="TextBox 50"/>
            <p:cNvSpPr txBox="1"/>
            <p:nvPr/>
          </p:nvSpPr>
          <p:spPr>
            <a:xfrm>
              <a:off x="712470" y="6208395"/>
              <a:ext cx="4331970" cy="335280"/>
            </a:xfrm>
            <a:prstGeom prst="rect">
              <a:avLst/>
            </a:prstGeom>
            <a:noFill/>
            <a:ln>
              <a:noFill/>
            </a:ln>
          </p:spPr>
          <p:txBody>
            <a:bodyPr wrap="square" lIns="0" tIns="0" rIns="0" bIns="0" anchor="t" anchorCtr="0"/>
            <a:lstStyle/>
            <a:p>
              <a:pPr algn="l">
                <a:lnSpc>
                  <a:spcPts val="1200"/>
                </a:lnSpc>
              </a:pPr>
              <a:r>
                <a:rPr lang="zh-CN" sz="900" dirty="0">
                  <a:solidFill>
                    <a:srgbClr val="8A94A6"/>
                  </a:solidFill>
                  <a:latin typeface="Arial"/>
                  <a:ea typeface="Microsoft YaHei"/>
                  <a:cs typeface="Arial"/>
                </a:rPr>
                <a:t xml:space="preserve">Source: product_growth_metrics_q1_q2_2026.csv </a:t>
              </a:r>
              <a:r>
                <a:rPr lang="zh-CN" sz="900" dirty="0">
                  <a:solidFill>
                    <a:srgbClr val="8A94A6"/>
                  </a:solidFill>
                  <a:latin typeface="Arial"/>
                  <a:ea typeface="Microsoft YaHei"/>
                  <a:cs typeface="Arial"/>
                </a:rPr>
                <a:t>Actions derive from H1 revenue, paid conversions, CAC, retention, and churn</a:t>
              </a:r>
            </a:p>
          </p:txBody>
        </p:sp>
        <p:sp>
          <p:nvSpPr>
            <p:cNvPr id="51" name="TextBox 51"/>
            <p:cNvSpPr txBox="1"/>
            <p:nvPr/>
          </p:nvSpPr>
          <p:spPr>
            <a:xfrm>
              <a:off x="11304270" y="6265545"/>
              <a:ext cx="292894" cy="182880"/>
            </a:xfrm>
            <a:prstGeom prst="rect">
              <a:avLst/>
            </a:prstGeom>
            <a:noFill/>
            <a:ln>
              <a:noFill/>
            </a:ln>
          </p:spPr>
          <p:txBody>
            <a:bodyPr wrap="none" lIns="0" tIns="0" rIns="0" bIns="0" anchor="t" anchorCtr="0">
              <a:spAutoFit/>
            </a:bodyPr>
            <a:lstStyle/>
            <a:p>
              <a:pPr algn="l"/>
              <a:r>
                <a:rPr lang="zh-CN" sz="900" dirty="0">
                  <a:solidFill>
                    <a:srgbClr val="8A94A6"/>
                  </a:solidFill>
                  <a:latin typeface="Arial"/>
                  <a:ea typeface="Microsoft YaHei"/>
                  <a:cs typeface="Arial"/>
                </a:rPr>
                <a:t>7 / 7</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slide(fromBottom)">
                                      <p:cBhvr>
                                        <p:cTn id="7" dur="400"/>
                                        <p:tgtEl>
                                          <p:spTgt spid="46"/>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49"/>
                                        </p:tgtEl>
                                        <p:attrNameLst>
                                          <p:attrName>style.visibility</p:attrName>
                                        </p:attrNameLst>
                                      </p:cBhvr>
                                      <p:to>
                                        <p:strVal val="visible"/>
                                      </p:to>
                                    </p:set>
                                    <p:animEffect transition="in" filter="image">
                                      <p:cBhvr>
                                        <p:cTn id="11" dur="4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9"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7</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2026-07-03T03:50:28Z</dcterms:created>
  <dcterms:modified xsi:type="dcterms:W3CDTF">2026-07-03T03:50:28Z</dcterms:modified>
  <cp:category/>
  <cp:contentStatus/>
</cp:coreProperties>
</file>
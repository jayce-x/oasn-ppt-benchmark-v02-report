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Good morning. Thank you for taking the time to meet with us today. I'm here to introduce Fancy's Foods, a gourmet flavored whipped cream company based in southeastern Oklahoma. Over the next ten minutes, I'll walk you through how eighteen years of restaurant success led to a differentiated product, a clear market opportunity, and a path to profitability from year one.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start with the market. The U.S. dairy industry is a two hundred and sixty-eight billion dollar market, and it's growing one and a half to two percent annually. But the real opportunity sits in a converging segment — gourmet and specialty foods. That thirty-nine billion dollar industry has doubled since nineteen ninety-two and continues double-digit growth. Two growing markets, one whitespace for flavored whipped cream.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Here's what makes us different. No major competitor — not Kraft, not Sara Lee — produces a flavored whipped topping. We offer four flavors: chocolate, raspberry, cinnamon almond, and strawberry. We are also the only real dairy option in the flavored space. Competitors compete on price and shelf space. We compete on flavor innovation.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isn't a concept — it's a proven product. We've operated two successful restaurants since nineteen eighty-one, serving these exact flavored whipped creams to customers for eighteen years. The demand was so consistent that customers repeatedly asked to buy the toppings separately. That's what led us here. And we're already producing at commercial scale — fifty-gallon mixer, nitrous oxide system, walk-in freezer, all operational.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Our rollout is disciplined and phased. Phase one: Antlers and Hugo, where we have an established reputation and letters of intent from local grocers. Phase two: Oklahoma City, through the Made in Oklahoma Demonstration Program with the state Department of Agriculture. Phase three: Tulsa in two thousand. Each phase targets five percent market share initially, scaling to ten percent year-over-year growth.</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 run a dual-format strategy that mirrors the market split. Sixty-five percent of prepared whipped topping is sold in frozen tubs — we produce those in-house. Thirty-five percent is in pressurized cans — we've contracted that to Farm Fresh, an Oklahoma dairy processor, with a non-compete agreement already signed. Both production channels are operational.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be direct about the competition. Kraft and Sara Lee have massive distribution and lower prices — one twenty-nine to one eighty-nine per unit. But they have a critical weakness: zero flavors. Many aren't even dairy. We enter an uncontested niche — the only flavored, real-dairy whipped cream on the shelf.</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the numbers. Year one: two hundred and forty thousand in revenue, fifteen thousand in net income, and positive cash flow of twenty-one thousand five hundred fifty dollars. Return on equity in year one: ten point eight eight percent. By year three, we project five hundred ninety-two thousand in revenue. Current ratio is two point seven three. Debt to equity is zero point three eight. All year one and two profits are reinvested into market expansion.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We've planned for what could go wrong. If sales fall below ninety percent of projections, we have four pre-planned responses. Local sales shortfalls trigger doubled in-store promotions, then advertising. Metro shortfalls trigger commission-based marketing specialists. Liquidity issues trigger accounts receivable review. And ROE shortfalls trigger cost analysis and targeted price increases in specialty channels.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So here's our ask. We're seeking investment capital to scale production and enter the Oklahoma City and Tulsa markets. We're also looking for channel partnerships with grocery distributors and specialty food retailers. And we welcome strategic guidance as we scale from local to regional. Fancy's Foods has the product, the validation, and the financials. We'd love to build this with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0" y="0"/>
            <a:ext cx="12192000" cy="6858000"/>
            <a:chOff x="0" y="0"/>
            <a:chExt cx="12192000" cy="6858000"/>
          </a:xfrm>
        </p:grpSpPr>
        <p:sp>
          <p:nvSpPr>
            <p:cNvPr id="3" name="Rectangle 3"/>
            <p:cNvSpPr/>
            <p:nvPr/>
          </p:nvSpPr>
          <p:spPr>
            <a:xfrm>
              <a:off x="0" y="0"/>
              <a:ext cx="76200" cy="6858000"/>
            </a:xfrm>
            <a:prstGeom prst="rect">
              <a:avLst/>
            </a:prstGeom>
            <a:solidFill>
              <a:srgbClr val="D04A02"/>
            </a:solidFill>
            <a:ln>
              <a:noFill/>
            </a:ln>
          </p:spPr>
        </p:sp>
        <p:sp>
          <p:nvSpPr>
            <p:cNvPr id="4" name="Rectangle 4"/>
            <p:cNvSpPr/>
            <p:nvPr/>
          </p:nvSpPr>
          <p:spPr>
            <a:xfrm>
              <a:off x="0" y="6096000"/>
              <a:ext cx="12192000" cy="19050"/>
            </a:xfrm>
            <a:prstGeom prst="rect">
              <a:avLst/>
            </a:prstGeom>
            <a:solidFill>
              <a:srgbClr val="E0E0E0"/>
            </a:solidFill>
            <a:ln>
              <a:noFill/>
            </a:ln>
          </p:spPr>
        </p:sp>
      </p:grpSp>
      <p:grpSp>
        <p:nvGrpSpPr>
          <p:cNvPr id="10" name="Group 10"/>
          <p:cNvGrpSpPr/>
          <p:nvPr/>
        </p:nvGrpSpPr>
        <p:grpSpPr>
          <a:xfrm>
            <a:off x="708660" y="2213610"/>
            <a:ext cx="5634571" cy="1929765"/>
            <a:chOff x="708660" y="2213610"/>
            <a:chExt cx="5634571" cy="1929765"/>
          </a:xfrm>
        </p:grpSpPr>
        <p:sp>
          <p:nvSpPr>
            <p:cNvPr id="6" name="TextBox 6"/>
            <p:cNvSpPr txBox="1"/>
            <p:nvPr/>
          </p:nvSpPr>
          <p:spPr>
            <a:xfrm>
              <a:off x="708660" y="2213610"/>
              <a:ext cx="5634571" cy="853440"/>
            </a:xfrm>
            <a:prstGeom prst="rect">
              <a:avLst/>
            </a:prstGeom>
            <a:noFill/>
            <a:ln>
              <a:noFill/>
            </a:ln>
          </p:spPr>
          <p:txBody>
            <a:bodyPr wrap="none" lIns="0" tIns="0" rIns="0" bIns="0" anchor="t" anchorCtr="0">
              <a:spAutoFit/>
            </a:bodyPr>
            <a:lstStyle/>
            <a:p>
              <a:pPr algn="l"/>
              <a:r>
                <a:rPr lang="zh-CN" sz="4200" b="1" dirty="0">
                  <a:solidFill>
                    <a:srgbClr val="1A1A2E"/>
                  </a:solidFill>
                  <a:latin typeface="Arial"/>
                  <a:ea typeface="Microsoft YaHei"/>
                  <a:cs typeface="Arial"/>
                </a:rPr>
                <a:t>Fancy's Foods, LLC</a:t>
              </a:r>
            </a:p>
          </p:txBody>
        </p:sp>
        <p:sp>
          <p:nvSpPr>
            <p:cNvPr id="7" name="TextBox 7"/>
            <p:cNvSpPr txBox="1"/>
            <p:nvPr/>
          </p:nvSpPr>
          <p:spPr>
            <a:xfrm>
              <a:off x="735330" y="3011805"/>
              <a:ext cx="4491895" cy="426720"/>
            </a:xfrm>
            <a:prstGeom prst="rect">
              <a:avLst/>
            </a:prstGeom>
            <a:noFill/>
            <a:ln>
              <a:noFill/>
            </a:ln>
          </p:spPr>
          <p:txBody>
            <a:bodyPr wrap="none" lIns="0" tIns="0" rIns="0" bIns="0" anchor="t" anchorCtr="0">
              <a:spAutoFit/>
            </a:bodyPr>
            <a:lstStyle/>
            <a:p>
              <a:pPr algn="l"/>
              <a:r>
                <a:rPr lang="zh-CN" sz="2100" dirty="0">
                  <a:solidFill>
                    <a:srgbClr val="666666"/>
                  </a:solidFill>
                  <a:latin typeface="Arial"/>
                  <a:ea typeface="Microsoft YaHei"/>
                  <a:cs typeface="Arial"/>
                </a:rPr>
                <a:t>Gourmet Flavored Whipped Cream</a:t>
              </a:r>
            </a:p>
          </p:txBody>
        </p:sp>
        <p:sp>
          <p:nvSpPr>
            <p:cNvPr id="8" name="Rectangle 8"/>
            <p:cNvSpPr/>
            <p:nvPr/>
          </p:nvSpPr>
          <p:spPr>
            <a:xfrm>
              <a:off x="762000" y="3524250"/>
              <a:ext cx="1143000" cy="28575"/>
            </a:xfrm>
            <a:prstGeom prst="rect">
              <a:avLst/>
            </a:prstGeom>
            <a:solidFill>
              <a:srgbClr val="D04A02"/>
            </a:solidFill>
            <a:ln>
              <a:noFill/>
            </a:ln>
          </p:spPr>
        </p:sp>
        <p:sp>
          <p:nvSpPr>
            <p:cNvPr id="9" name="TextBox 9"/>
            <p:cNvSpPr txBox="1"/>
            <p:nvPr/>
          </p:nvSpPr>
          <p:spPr>
            <a:xfrm>
              <a:off x="742950" y="3838575"/>
              <a:ext cx="2198370" cy="304800"/>
            </a:xfrm>
            <a:prstGeom prst="rect">
              <a:avLst/>
            </a:prstGeom>
            <a:noFill/>
            <a:ln>
              <a:noFill/>
            </a:ln>
          </p:spPr>
          <p:txBody>
            <a:bodyPr wrap="none" lIns="0" tIns="0" rIns="0" bIns="0" anchor="t" anchorCtr="0">
              <a:spAutoFit/>
            </a:bodyPr>
            <a:lstStyle/>
            <a:p>
              <a:pPr algn="l"/>
              <a:r>
                <a:rPr lang="zh-CN" sz="1500" dirty="0">
                  <a:solidFill>
                    <a:srgbClr val="999999"/>
                  </a:solidFill>
                  <a:latin typeface="Arial"/>
                  <a:ea typeface="Microsoft YaHei"/>
                  <a:cs typeface="Arial"/>
                </a:rPr>
                <a:t>Investor Presentation</a:t>
              </a:r>
            </a:p>
          </p:txBody>
        </p:sp>
      </p:grpSp>
      <p:grpSp>
        <p:nvGrpSpPr>
          <p:cNvPr id="13" name="Group 13"/>
          <p:cNvGrpSpPr/>
          <p:nvPr/>
        </p:nvGrpSpPr>
        <p:grpSpPr>
          <a:xfrm>
            <a:off x="748665" y="5696902"/>
            <a:ext cx="10694670" cy="213360"/>
            <a:chOff x="748665" y="5696902"/>
            <a:chExt cx="10694670" cy="213360"/>
          </a:xfrm>
        </p:grpSpPr>
        <p:sp>
          <p:nvSpPr>
            <p:cNvPr id="11" name="TextBox 11"/>
            <p:cNvSpPr txBox="1"/>
            <p:nvPr/>
          </p:nvSpPr>
          <p:spPr>
            <a:xfrm>
              <a:off x="748665" y="5696902"/>
              <a:ext cx="4073176"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Keith &amp; Marianne Bean · December 1998 · Antlers, Oklahoma</a:t>
              </a:r>
            </a:p>
          </p:txBody>
        </p:sp>
        <p:sp>
          <p:nvSpPr>
            <p:cNvPr id="12" name="TextBox 12"/>
            <p:cNvSpPr txBox="1"/>
            <p:nvPr/>
          </p:nvSpPr>
          <p:spPr>
            <a:xfrm>
              <a:off x="11262646" y="5696902"/>
              <a:ext cx="180689" cy="213360"/>
            </a:xfrm>
            <a:prstGeom prst="rect">
              <a:avLst/>
            </a:prstGeom>
            <a:noFill/>
            <a:ln>
              <a:noFill/>
            </a:ln>
          </p:spPr>
          <p:txBody>
            <a:bodyPr wrap="none" lIns="0" tIns="0" rIns="0" bIns="0" anchor="t" anchorCtr="0">
              <a:spAutoFit/>
            </a:bodyPr>
            <a:lstStyle/>
            <a:p>
              <a:pPr algn="r"/>
              <a:r>
                <a:rPr lang="zh-CN" sz="1050" dirty="0">
                  <a:solidFill>
                    <a:srgbClr val="999999"/>
                  </a:solidFill>
                  <a:latin typeface="Arial"/>
                  <a:ea typeface="Microsoft YaHei"/>
                  <a:cs typeface="Arial"/>
                </a:rPr>
                <a:t>01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62000" y="442912"/>
            <a:ext cx="5505140" cy="457200"/>
            <a:chOff x="762000" y="442912"/>
            <a:chExt cx="5505140" cy="457200"/>
          </a:xfrm>
        </p:grpSpPr>
        <p:sp>
          <p:nvSpPr>
            <p:cNvPr id="3" name="Rectangle 3"/>
            <p:cNvSpPr/>
            <p:nvPr/>
          </p:nvSpPr>
          <p:spPr>
            <a:xfrm>
              <a:off x="762000" y="476250"/>
              <a:ext cx="38100" cy="266700"/>
            </a:xfrm>
            <a:prstGeom prst="rect">
              <a:avLst/>
            </a:prstGeom>
            <a:solidFill>
              <a:srgbClr val="D04A02"/>
            </a:solidFill>
            <a:ln>
              <a:noFill/>
            </a:ln>
          </p:spPr>
        </p:sp>
        <p:sp>
          <p:nvSpPr>
            <p:cNvPr id="4" name="TextBox 4"/>
            <p:cNvSpPr txBox="1"/>
            <p:nvPr/>
          </p:nvSpPr>
          <p:spPr>
            <a:xfrm>
              <a:off x="885825" y="442912"/>
              <a:ext cx="5381315"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A $307 Billion Market — And Growing</a:t>
              </a:r>
            </a:p>
          </p:txBody>
        </p:sp>
      </p:grpSp>
      <p:grpSp>
        <p:nvGrpSpPr>
          <p:cNvPr id="12" name="Group 12"/>
          <p:cNvGrpSpPr/>
          <p:nvPr/>
        </p:nvGrpSpPr>
        <p:grpSpPr>
          <a:xfrm>
            <a:off x="746760" y="1108710"/>
            <a:ext cx="2755582" cy="3753802"/>
            <a:chOff x="746760" y="1108710"/>
            <a:chExt cx="2755582" cy="3753802"/>
          </a:xfrm>
        </p:grpSpPr>
        <p:sp>
          <p:nvSpPr>
            <p:cNvPr id="6" name="TextBox 6"/>
            <p:cNvSpPr txBox="1"/>
            <p:nvPr/>
          </p:nvSpPr>
          <p:spPr>
            <a:xfrm>
              <a:off x="746760" y="1108710"/>
              <a:ext cx="2097138" cy="243840"/>
            </a:xfrm>
            <a:prstGeom prst="rect">
              <a:avLst/>
            </a:prstGeom>
            <a:noFill/>
            <a:ln>
              <a:noFill/>
            </a:ln>
          </p:spPr>
          <p:txBody>
            <a:bodyPr wrap="none" lIns="0" tIns="0" rIns="0" bIns="0" anchor="t" anchorCtr="0">
              <a:spAutoFit/>
            </a:bodyPr>
            <a:lstStyle/>
            <a:p>
              <a:pPr algn="l"/>
              <a:r>
                <a:rPr lang="zh-CN" sz="1200" b="1" dirty="0">
                  <a:solidFill>
                    <a:srgbClr val="0076A8"/>
                  </a:solidFill>
                  <a:latin typeface="Arial"/>
                  <a:ea typeface="Microsoft YaHei"/>
                  <a:cs typeface="Arial"/>
                </a:rPr>
                <a:t>Two converging markets.</a:t>
              </a:r>
            </a:p>
          </p:txBody>
        </p:sp>
        <p:sp>
          <p:nvSpPr>
            <p:cNvPr id="7" name="TextBox 7"/>
            <p:cNvSpPr txBox="1"/>
            <p:nvPr/>
          </p:nvSpPr>
          <p:spPr>
            <a:xfrm>
              <a:off x="746760" y="1356360"/>
              <a:ext cx="2424779" cy="243840"/>
            </a:xfrm>
            <a:prstGeom prst="rect">
              <a:avLst/>
            </a:prstGeom>
            <a:noFill/>
            <a:ln>
              <a:noFill/>
            </a:ln>
          </p:spPr>
          <p:txBody>
            <a:bodyPr wrap="none" lIns="0" tIns="0" rIns="0" bIns="0" anchor="t" anchorCtr="0">
              <a:spAutoFit/>
            </a:bodyPr>
            <a:lstStyle/>
            <a:p>
              <a:pPr algn="l"/>
              <a:r>
                <a:rPr lang="zh-CN" sz="1200" b="1" dirty="0">
                  <a:solidFill>
                    <a:srgbClr val="0076A8"/>
                  </a:solidFill>
                  <a:latin typeface="Arial"/>
                  <a:ea typeface="Microsoft YaHei"/>
                  <a:cs typeface="Arial"/>
                </a:rPr>
                <a:t>One whitespace opportunity.</a:t>
              </a:r>
            </a:p>
          </p:txBody>
        </p:sp>
        <p:sp>
          <p:nvSpPr>
            <p:cNvPr id="8" name="Rectangle 8"/>
            <p:cNvSpPr/>
            <p:nvPr/>
          </p:nvSpPr>
          <p:spPr>
            <a:xfrm>
              <a:off x="762000" y="1666875"/>
              <a:ext cx="2667000" cy="9525"/>
            </a:xfrm>
            <a:prstGeom prst="rect">
              <a:avLst/>
            </a:prstGeom>
            <a:solidFill>
              <a:srgbClr val="E0E0E0"/>
            </a:solidFill>
            <a:ln>
              <a:noFill/>
            </a:ln>
          </p:spPr>
        </p:sp>
        <p:sp>
          <p:nvSpPr>
            <p:cNvPr id="9" name="TextBox 9"/>
            <p:cNvSpPr txBox="1"/>
            <p:nvPr/>
          </p:nvSpPr>
          <p:spPr>
            <a:xfrm>
              <a:off x="748665" y="1839278"/>
              <a:ext cx="2466975" cy="842010"/>
            </a:xfrm>
            <a:prstGeom prst="rect">
              <a:avLst/>
            </a:prstGeom>
            <a:noFill/>
            <a:ln>
              <a:noFill/>
            </a:ln>
          </p:spPr>
          <p:txBody>
            <a:bodyPr wrap="square" lIns="0" tIns="0" rIns="0" bIns="0" anchor="t" anchorCtr="0"/>
            <a:lstStyle/>
            <a:p>
              <a:pPr algn="l">
                <a:lnSpc>
                  <a:spcPts val="1650"/>
                </a:lnSpc>
              </a:pPr>
              <a:r>
                <a:rPr lang="zh-CN" sz="1050" dirty="0">
                  <a:solidFill>
                    <a:srgbClr val="333333"/>
                  </a:solidFill>
                  <a:latin typeface="Arial"/>
                  <a:ea typeface="Microsoft YaHei"/>
                  <a:cs typeface="Arial"/>
                </a:rPr>
                <a:t xml:space="preserve">The U.S. dairy market is projected to </a:t>
              </a:r>
              <a:r>
                <a:rPr lang="zh-CN" sz="1050" dirty="0">
                  <a:solidFill>
                    <a:srgbClr val="333333"/>
                  </a:solidFill>
                  <a:latin typeface="Arial"/>
                  <a:ea typeface="Microsoft YaHei"/>
                  <a:cs typeface="Arial"/>
                </a:rPr>
                <a:t xml:space="preserve">grow </a:t>
              </a:r>
              <a:r>
                <a:rPr lang="zh-CN" sz="1050" b="1" dirty="0">
                  <a:solidFill>
                    <a:srgbClr val="D04A02"/>
                  </a:solidFill>
                  <a:latin typeface="Arial"/>
                  <a:ea typeface="Microsoft YaHei"/>
                  <a:cs typeface="Arial"/>
                </a:rPr>
                <a:t>1.5–2% annually</a:t>
              </a:r>
              <a:r>
                <a:rPr lang="zh-CN" sz="1050" dirty="0">
                  <a:solidFill>
                    <a:srgbClr val="333333"/>
                  </a:solidFill>
                  <a:latin typeface="Arial"/>
                  <a:ea typeface="Microsoft YaHei"/>
                  <a:cs typeface="Arial"/>
                </a:rPr>
                <a:t xml:space="preserve">, driven </a:t>
              </a:r>
              <a:r>
                <a:rPr lang="zh-CN" sz="1050" dirty="0">
                  <a:solidFill>
                    <a:srgbClr val="333333"/>
                  </a:solidFill>
                  <a:latin typeface="Arial"/>
                  <a:ea typeface="Microsoft YaHei"/>
                  <a:cs typeface="Arial"/>
                </a:rPr>
                <a:t xml:space="preserve">by new processing techniques and </a:t>
              </a:r>
              <a:r>
                <a:rPr lang="zh-CN" sz="1050" dirty="0">
                  <a:solidFill>
                    <a:srgbClr val="333333"/>
                  </a:solidFill>
                  <a:latin typeface="Arial"/>
                  <a:ea typeface="Microsoft YaHei"/>
                  <a:cs typeface="Arial"/>
                </a:rPr>
                <a:t>calcium-rich diet awareness.</a:t>
              </a:r>
            </a:p>
          </p:txBody>
        </p:sp>
        <p:sp>
          <p:nvSpPr>
            <p:cNvPr id="10" name="TextBox 10"/>
            <p:cNvSpPr txBox="1"/>
            <p:nvPr/>
          </p:nvSpPr>
          <p:spPr>
            <a:xfrm>
              <a:off x="748665" y="3077528"/>
              <a:ext cx="2753677" cy="632460"/>
            </a:xfrm>
            <a:prstGeom prst="rect">
              <a:avLst/>
            </a:prstGeom>
            <a:noFill/>
            <a:ln>
              <a:noFill/>
            </a:ln>
          </p:spPr>
          <p:txBody>
            <a:bodyPr wrap="square" lIns="0" tIns="0" rIns="0" bIns="0" anchor="t" anchorCtr="0"/>
            <a:lstStyle/>
            <a:p>
              <a:pPr algn="l">
                <a:lnSpc>
                  <a:spcPts val="1650"/>
                </a:lnSpc>
              </a:pPr>
              <a:r>
                <a:rPr lang="zh-CN" sz="1050" dirty="0">
                  <a:solidFill>
                    <a:srgbClr val="333333"/>
                  </a:solidFill>
                  <a:latin typeface="Arial"/>
                  <a:ea typeface="Microsoft YaHei"/>
                  <a:cs typeface="Arial"/>
                </a:rPr>
                <a:t xml:space="preserve">The gourmet/specialty foods industry has </a:t>
              </a:r>
              <a:r>
                <a:rPr lang="zh-CN" sz="1050" b="1" dirty="0">
                  <a:solidFill>
                    <a:srgbClr val="D04A02"/>
                  </a:solidFill>
                  <a:latin typeface="Arial"/>
                  <a:ea typeface="Microsoft YaHei"/>
                  <a:cs typeface="Arial"/>
                </a:rPr>
                <a:t>doubled since 1992</a:t>
              </a:r>
              <a:r>
                <a:rPr lang="zh-CN" sz="1050" dirty="0">
                  <a:solidFill>
                    <a:srgbClr val="333333"/>
                  </a:solidFill>
                  <a:latin typeface="Arial"/>
                  <a:ea typeface="Microsoft YaHei"/>
                  <a:cs typeface="Arial"/>
                </a:rPr>
                <a:t xml:space="preserve"> and is expected </a:t>
              </a:r>
              <a:r>
                <a:rPr lang="zh-CN" sz="1050" dirty="0">
                  <a:solidFill>
                    <a:srgbClr val="333333"/>
                  </a:solidFill>
                  <a:latin typeface="Arial"/>
                  <a:ea typeface="Microsoft YaHei"/>
                  <a:cs typeface="Arial"/>
                </a:rPr>
                <a:t xml:space="preserve">to continue </a:t>
              </a:r>
              <a:r>
                <a:rPr lang="zh-CN" sz="1050" b="1" dirty="0">
                  <a:solidFill>
                    <a:srgbClr val="D04A02"/>
                  </a:solidFill>
                  <a:latin typeface="Arial"/>
                  <a:ea typeface="Microsoft YaHei"/>
                  <a:cs typeface="Arial"/>
                </a:rPr>
                <a:t>double-digit growth</a:t>
              </a:r>
              <a:r>
                <a:rPr lang="zh-CN" sz="1050" dirty="0">
                  <a:solidFill>
                    <a:srgbClr val="333333"/>
                  </a:solidFill>
                  <a:latin typeface="Arial"/>
                  <a:ea typeface="Microsoft YaHei"/>
                  <a:cs typeface="Arial"/>
                </a:rPr>
                <a:t>.</a:t>
              </a:r>
            </a:p>
          </p:txBody>
        </p:sp>
        <p:sp>
          <p:nvSpPr>
            <p:cNvPr id="11" name="TextBox 11"/>
            <p:cNvSpPr txBox="1"/>
            <p:nvPr/>
          </p:nvSpPr>
          <p:spPr>
            <a:xfrm>
              <a:off x="748665" y="4268152"/>
              <a:ext cx="2593657" cy="594360"/>
            </a:xfrm>
            <a:prstGeom prst="rect">
              <a:avLst/>
            </a:prstGeom>
            <a:noFill/>
            <a:ln>
              <a:noFill/>
            </a:ln>
          </p:spPr>
          <p:txBody>
            <a:bodyPr wrap="square" lIns="0" tIns="0" rIns="0" bIns="0" anchor="t" anchorCtr="0"/>
            <a:lstStyle/>
            <a:p>
              <a:pPr algn="l">
                <a:lnSpc>
                  <a:spcPts val="1500"/>
                </a:lnSpc>
              </a:pPr>
              <a:r>
                <a:rPr lang="zh-CN" sz="1050" dirty="0">
                  <a:solidFill>
                    <a:srgbClr val="666666"/>
                  </a:solidFill>
                  <a:latin typeface="Arial"/>
                  <a:ea typeface="Microsoft YaHei"/>
                  <a:cs typeface="Arial"/>
                </a:rPr>
                <a:t xml:space="preserve">Sources: Census of Agricultural </a:t>
              </a:r>
              <a:r>
                <a:rPr lang="zh-CN" sz="1050" dirty="0">
                  <a:solidFill>
                    <a:srgbClr val="666666"/>
                  </a:solidFill>
                  <a:latin typeface="Arial"/>
                  <a:ea typeface="Microsoft YaHei"/>
                  <a:cs typeface="Arial"/>
                </a:rPr>
                <a:t xml:space="preserve">Products (USDA); Kalorama Information </a:t>
              </a:r>
              <a:r>
                <a:rPr lang="zh-CN" sz="1050" dirty="0">
                  <a:solidFill>
                    <a:srgbClr val="666666"/>
                  </a:solidFill>
                  <a:latin typeface="Arial"/>
                  <a:ea typeface="Microsoft YaHei"/>
                  <a:cs typeface="Arial"/>
                </a:rPr>
                <a:t>LLC; Moore et al, 1998</a:t>
              </a:r>
            </a:p>
          </p:txBody>
        </p:sp>
      </p:grpSp>
      <p:grpSp>
        <p:nvGrpSpPr>
          <p:cNvPr id="32" name="Group 32"/>
          <p:cNvGrpSpPr/>
          <p:nvPr/>
        </p:nvGrpSpPr>
        <p:grpSpPr>
          <a:xfrm>
            <a:off x="4135279" y="1409700"/>
            <a:ext cx="5389721" cy="3771900"/>
            <a:chOff x="4135279" y="1409700"/>
            <a:chExt cx="5389721" cy="3771900"/>
          </a:xfrm>
        </p:grpSpPr>
        <p:sp>
          <p:nvSpPr>
            <p:cNvPr id="13" name="Line 13"/>
            <p:cNvSpPr/>
            <p:nvPr/>
          </p:nvSpPr>
          <p:spPr>
            <a:xfrm>
              <a:off x="4572000" y="1524000"/>
              <a:ext cx="9525" cy="3143250"/>
            </a:xfrm>
            <a:custGeom>
              <a:avLst/>
              <a:gdLst/>
              <a:ahLst/>
              <a:cxnLst/>
              <a:rect l="l" t="t" r="r" b="b"/>
              <a:pathLst>
                <a:path w="9525" h="3143250">
                  <a:moveTo>
                    <a:pt x="0" y="3143250"/>
                  </a:moveTo>
                  <a:lnTo>
                    <a:pt x="0" y="0"/>
                  </a:lnTo>
                </a:path>
              </a:pathLst>
            </a:custGeom>
            <a:noFill/>
            <a:ln w="9525">
              <a:solidFill>
                <a:srgbClr val="E0E0E0"/>
              </a:solidFill>
            </a:ln>
          </p:spPr>
        </p:sp>
        <p:sp>
          <p:nvSpPr>
            <p:cNvPr id="14" name="Line 14"/>
            <p:cNvSpPr/>
            <p:nvPr/>
          </p:nvSpPr>
          <p:spPr>
            <a:xfrm>
              <a:off x="4572000" y="4667250"/>
              <a:ext cx="4953000" cy="9525"/>
            </a:xfrm>
            <a:custGeom>
              <a:avLst/>
              <a:gdLst/>
              <a:ahLst/>
              <a:cxnLst/>
              <a:rect l="l" t="t" r="r" b="b"/>
              <a:pathLst>
                <a:path w="4953000" h="9525">
                  <a:moveTo>
                    <a:pt x="0" y="0"/>
                  </a:moveTo>
                  <a:lnTo>
                    <a:pt x="4953000" y="0"/>
                  </a:lnTo>
                </a:path>
              </a:pathLst>
            </a:custGeom>
            <a:noFill/>
            <a:ln w="9525">
              <a:solidFill>
                <a:srgbClr val="999999"/>
              </a:solidFill>
            </a:ln>
          </p:spPr>
        </p:sp>
        <p:sp>
          <p:nvSpPr>
            <p:cNvPr id="15" name="Line 15"/>
            <p:cNvSpPr/>
            <p:nvPr/>
          </p:nvSpPr>
          <p:spPr>
            <a:xfrm>
              <a:off x="4572000" y="3905250"/>
              <a:ext cx="4953000" cy="9525"/>
            </a:xfrm>
            <a:custGeom>
              <a:avLst/>
              <a:gdLst/>
              <a:ahLst/>
              <a:cxnLst/>
              <a:rect l="l" t="t" r="r" b="b"/>
              <a:pathLst>
                <a:path w="4953000" h="9525">
                  <a:moveTo>
                    <a:pt x="0" y="0"/>
                  </a:moveTo>
                  <a:lnTo>
                    <a:pt x="4953000" y="0"/>
                  </a:lnTo>
                </a:path>
              </a:pathLst>
            </a:custGeom>
            <a:noFill/>
            <a:ln w="9525">
              <a:solidFill>
                <a:srgbClr val="F0F0F0"/>
              </a:solidFill>
            </a:ln>
          </p:spPr>
        </p:sp>
        <p:sp>
          <p:nvSpPr>
            <p:cNvPr id="16" name="Line 16"/>
            <p:cNvSpPr/>
            <p:nvPr/>
          </p:nvSpPr>
          <p:spPr>
            <a:xfrm>
              <a:off x="4572000" y="3143250"/>
              <a:ext cx="4953000" cy="9525"/>
            </a:xfrm>
            <a:custGeom>
              <a:avLst/>
              <a:gdLst/>
              <a:ahLst/>
              <a:cxnLst/>
              <a:rect l="l" t="t" r="r" b="b"/>
              <a:pathLst>
                <a:path w="4953000" h="9525">
                  <a:moveTo>
                    <a:pt x="0" y="0"/>
                  </a:moveTo>
                  <a:lnTo>
                    <a:pt x="4953000" y="0"/>
                  </a:lnTo>
                </a:path>
              </a:pathLst>
            </a:custGeom>
            <a:noFill/>
            <a:ln w="9525">
              <a:solidFill>
                <a:srgbClr val="F0F0F0"/>
              </a:solidFill>
            </a:ln>
          </p:spPr>
        </p:sp>
        <p:sp>
          <p:nvSpPr>
            <p:cNvPr id="17" name="Line 17"/>
            <p:cNvSpPr/>
            <p:nvPr/>
          </p:nvSpPr>
          <p:spPr>
            <a:xfrm>
              <a:off x="4572000" y="2381250"/>
              <a:ext cx="4953000" cy="9525"/>
            </a:xfrm>
            <a:custGeom>
              <a:avLst/>
              <a:gdLst/>
              <a:ahLst/>
              <a:cxnLst/>
              <a:rect l="l" t="t" r="r" b="b"/>
              <a:pathLst>
                <a:path w="4953000" h="9525">
                  <a:moveTo>
                    <a:pt x="0" y="0"/>
                  </a:moveTo>
                  <a:lnTo>
                    <a:pt x="4953000" y="0"/>
                  </a:lnTo>
                </a:path>
              </a:pathLst>
            </a:custGeom>
            <a:noFill/>
            <a:ln w="9525">
              <a:solidFill>
                <a:srgbClr val="F0F0F0"/>
              </a:solidFill>
            </a:ln>
          </p:spPr>
        </p:sp>
        <p:sp>
          <p:nvSpPr>
            <p:cNvPr id="18" name="Line 18"/>
            <p:cNvSpPr/>
            <p:nvPr/>
          </p:nvSpPr>
          <p:spPr>
            <a:xfrm>
              <a:off x="4572000" y="1619250"/>
              <a:ext cx="4953000" cy="9525"/>
            </a:xfrm>
            <a:custGeom>
              <a:avLst/>
              <a:gdLst/>
              <a:ahLst/>
              <a:cxnLst/>
              <a:rect l="l" t="t" r="r" b="b"/>
              <a:pathLst>
                <a:path w="4953000" h="9525">
                  <a:moveTo>
                    <a:pt x="0" y="0"/>
                  </a:moveTo>
                  <a:lnTo>
                    <a:pt x="4953000" y="0"/>
                  </a:lnTo>
                </a:path>
              </a:pathLst>
            </a:custGeom>
            <a:noFill/>
            <a:ln w="9525">
              <a:solidFill>
                <a:srgbClr val="F0F0F0"/>
              </a:solidFill>
            </a:ln>
          </p:spPr>
        </p:sp>
        <p:sp>
          <p:nvSpPr>
            <p:cNvPr id="19" name="TextBox 19"/>
            <p:cNvSpPr txBox="1"/>
            <p:nvPr/>
          </p:nvSpPr>
          <p:spPr>
            <a:xfrm>
              <a:off x="4333304" y="4608195"/>
              <a:ext cx="154877"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$0</a:t>
              </a:r>
            </a:p>
          </p:txBody>
        </p:sp>
        <p:sp>
          <p:nvSpPr>
            <p:cNvPr id="20" name="TextBox 20"/>
            <p:cNvSpPr txBox="1"/>
            <p:nvPr/>
          </p:nvSpPr>
          <p:spPr>
            <a:xfrm>
              <a:off x="4201287" y="3846195"/>
              <a:ext cx="286893"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$75B</a:t>
              </a:r>
            </a:p>
          </p:txBody>
        </p:sp>
        <p:sp>
          <p:nvSpPr>
            <p:cNvPr id="21" name="TextBox 21"/>
            <p:cNvSpPr txBox="1"/>
            <p:nvPr/>
          </p:nvSpPr>
          <p:spPr>
            <a:xfrm>
              <a:off x="4135279" y="3084195"/>
              <a:ext cx="352901"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$150B</a:t>
              </a:r>
            </a:p>
          </p:txBody>
        </p:sp>
        <p:sp>
          <p:nvSpPr>
            <p:cNvPr id="22" name="TextBox 22"/>
            <p:cNvSpPr txBox="1"/>
            <p:nvPr/>
          </p:nvSpPr>
          <p:spPr>
            <a:xfrm>
              <a:off x="4135279" y="2322195"/>
              <a:ext cx="352901"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$225B</a:t>
              </a:r>
            </a:p>
          </p:txBody>
        </p:sp>
        <p:sp>
          <p:nvSpPr>
            <p:cNvPr id="23" name="TextBox 23"/>
            <p:cNvSpPr txBox="1"/>
            <p:nvPr/>
          </p:nvSpPr>
          <p:spPr>
            <a:xfrm>
              <a:off x="4135279" y="1560195"/>
              <a:ext cx="352901"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$300B</a:t>
              </a:r>
            </a:p>
          </p:txBody>
        </p:sp>
        <p:sp>
          <p:nvSpPr>
            <p:cNvPr id="24" name="Rectangle 24"/>
            <p:cNvSpPr/>
            <p:nvPr/>
          </p:nvSpPr>
          <p:spPr>
            <a:xfrm>
              <a:off x="5334000" y="1657350"/>
              <a:ext cx="1333500" cy="3009900"/>
            </a:xfrm>
            <a:prstGeom prst="rect">
              <a:avLst/>
            </a:prstGeom>
            <a:solidFill>
              <a:srgbClr val="0076A8"/>
            </a:solidFill>
            <a:ln>
              <a:noFill/>
            </a:ln>
          </p:spPr>
        </p:sp>
        <p:sp>
          <p:nvSpPr>
            <p:cNvPr id="25" name="TextBox 25"/>
            <p:cNvSpPr txBox="1"/>
            <p:nvPr/>
          </p:nvSpPr>
          <p:spPr>
            <a:xfrm>
              <a:off x="5692914" y="1409700"/>
              <a:ext cx="615672" cy="304800"/>
            </a:xfrm>
            <a:prstGeom prst="rect">
              <a:avLst/>
            </a:prstGeom>
            <a:noFill/>
            <a:ln>
              <a:noFill/>
            </a:ln>
          </p:spPr>
          <p:txBody>
            <a:bodyPr wrap="none" lIns="0" tIns="0" rIns="0" bIns="0" anchor="t" anchorCtr="0">
              <a:spAutoFit/>
            </a:bodyPr>
            <a:lstStyle/>
            <a:p>
              <a:pPr algn="ctr"/>
              <a:r>
                <a:rPr lang="zh-CN" sz="1500" b="1" dirty="0">
                  <a:solidFill>
                    <a:srgbClr val="0076A8"/>
                  </a:solidFill>
                  <a:latin typeface="Arial"/>
                  <a:ea typeface="Microsoft YaHei"/>
                  <a:cs typeface="Arial"/>
                </a:rPr>
                <a:t>$268B</a:t>
              </a:r>
            </a:p>
          </p:txBody>
        </p:sp>
        <p:sp>
          <p:nvSpPr>
            <p:cNvPr id="26" name="TextBox 26"/>
            <p:cNvSpPr txBox="1"/>
            <p:nvPr/>
          </p:nvSpPr>
          <p:spPr>
            <a:xfrm>
              <a:off x="5637371" y="4792028"/>
              <a:ext cx="726758"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U.S. Dairy</a:t>
              </a:r>
            </a:p>
          </p:txBody>
        </p:sp>
        <p:sp>
          <p:nvSpPr>
            <p:cNvPr id="27" name="TextBox 27"/>
            <p:cNvSpPr txBox="1"/>
            <p:nvPr/>
          </p:nvSpPr>
          <p:spPr>
            <a:xfrm>
              <a:off x="5779294" y="4998720"/>
              <a:ext cx="442913"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Market</a:t>
              </a:r>
            </a:p>
          </p:txBody>
        </p:sp>
        <p:sp>
          <p:nvSpPr>
            <p:cNvPr id="28" name="Rectangle 28"/>
            <p:cNvSpPr/>
            <p:nvPr/>
          </p:nvSpPr>
          <p:spPr>
            <a:xfrm>
              <a:off x="7620000" y="4038600"/>
              <a:ext cx="1333500" cy="628650"/>
            </a:xfrm>
            <a:prstGeom prst="rect">
              <a:avLst/>
            </a:prstGeom>
            <a:solidFill>
              <a:srgbClr val="D04A02"/>
            </a:solidFill>
            <a:ln>
              <a:noFill/>
            </a:ln>
          </p:spPr>
        </p:sp>
        <p:sp>
          <p:nvSpPr>
            <p:cNvPr id="29" name="TextBox 29"/>
            <p:cNvSpPr txBox="1"/>
            <p:nvPr/>
          </p:nvSpPr>
          <p:spPr>
            <a:xfrm>
              <a:off x="8036671" y="3790950"/>
              <a:ext cx="500158" cy="304800"/>
            </a:xfrm>
            <a:prstGeom prst="rect">
              <a:avLst/>
            </a:prstGeom>
            <a:noFill/>
            <a:ln>
              <a:noFill/>
            </a:ln>
          </p:spPr>
          <p:txBody>
            <a:bodyPr wrap="none" lIns="0" tIns="0" rIns="0" bIns="0" anchor="t" anchorCtr="0">
              <a:spAutoFit/>
            </a:bodyPr>
            <a:lstStyle/>
            <a:p>
              <a:pPr algn="ctr"/>
              <a:r>
                <a:rPr lang="zh-CN" sz="1500" b="1" dirty="0">
                  <a:solidFill>
                    <a:srgbClr val="D04A02"/>
                  </a:solidFill>
                  <a:latin typeface="Arial"/>
                  <a:ea typeface="Microsoft YaHei"/>
                  <a:cs typeface="Arial"/>
                </a:rPr>
                <a:t>$39B</a:t>
              </a:r>
            </a:p>
          </p:txBody>
        </p:sp>
        <p:sp>
          <p:nvSpPr>
            <p:cNvPr id="30" name="TextBox 30"/>
            <p:cNvSpPr txBox="1"/>
            <p:nvPr/>
          </p:nvSpPr>
          <p:spPr>
            <a:xfrm>
              <a:off x="7930372" y="4792028"/>
              <a:ext cx="712756"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Gourmet /</a:t>
              </a:r>
            </a:p>
          </p:txBody>
        </p:sp>
        <p:sp>
          <p:nvSpPr>
            <p:cNvPr id="31" name="TextBox 31"/>
            <p:cNvSpPr txBox="1"/>
            <p:nvPr/>
          </p:nvSpPr>
          <p:spPr>
            <a:xfrm>
              <a:off x="7825264" y="4998720"/>
              <a:ext cx="922972"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Specialty Foods</a:t>
              </a:r>
            </a:p>
          </p:txBody>
        </p:sp>
      </p:grpSp>
      <p:grpSp>
        <p:nvGrpSpPr>
          <p:cNvPr id="35" name="Group 35"/>
          <p:cNvGrpSpPr/>
          <p:nvPr/>
        </p:nvGrpSpPr>
        <p:grpSpPr>
          <a:xfrm>
            <a:off x="752475" y="6538912"/>
            <a:ext cx="10687050" cy="152400"/>
            <a:chOff x="752475" y="6538912"/>
            <a:chExt cx="10687050" cy="152400"/>
          </a:xfrm>
        </p:grpSpPr>
        <p:sp>
          <p:nvSpPr>
            <p:cNvPr id="33" name="TextBox 33"/>
            <p:cNvSpPr txBox="1"/>
            <p:nvPr/>
          </p:nvSpPr>
          <p:spPr>
            <a:xfrm>
              <a:off x="752475" y="6538912"/>
              <a:ext cx="1904286"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a:ea typeface="Microsoft YaHei"/>
                  <a:cs typeface="Arial"/>
                </a:rPr>
                <a:t>Fancy's Foods — Investor Presentation</a:t>
              </a:r>
            </a:p>
          </p:txBody>
        </p:sp>
        <p:sp>
          <p:nvSpPr>
            <p:cNvPr id="34" name="TextBox 34"/>
            <p:cNvSpPr txBox="1"/>
            <p:nvPr/>
          </p:nvSpPr>
          <p:spPr>
            <a:xfrm>
              <a:off x="11310461" y="6538912"/>
              <a:ext cx="129064" cy="152400"/>
            </a:xfrm>
            <a:prstGeom prst="rect">
              <a:avLst/>
            </a:prstGeom>
            <a:noFill/>
            <a:ln>
              <a:noFill/>
            </a:ln>
          </p:spPr>
          <p:txBody>
            <a:bodyPr wrap="none" lIns="0" tIns="0" rIns="0" bIns="0" anchor="t" anchorCtr="0">
              <a:spAutoFit/>
            </a:bodyPr>
            <a:lstStyle/>
            <a:p>
              <a:pPr algn="r"/>
              <a:r>
                <a:rPr lang="zh-CN" sz="750" dirty="0">
                  <a:solidFill>
                    <a:srgbClr val="999999"/>
                  </a:solidFill>
                  <a:latin typeface="Arial"/>
                  <a:ea typeface="Microsoft YaHei"/>
                  <a:cs typeface="Arial"/>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62000" y="442912"/>
            <a:ext cx="7253609" cy="457200"/>
            <a:chOff x="762000" y="442912"/>
            <a:chExt cx="7253609" cy="457200"/>
          </a:xfrm>
        </p:grpSpPr>
        <p:sp>
          <p:nvSpPr>
            <p:cNvPr id="3" name="Rectangle 3"/>
            <p:cNvSpPr/>
            <p:nvPr/>
          </p:nvSpPr>
          <p:spPr>
            <a:xfrm>
              <a:off x="762000" y="476250"/>
              <a:ext cx="38100" cy="266700"/>
            </a:xfrm>
            <a:prstGeom prst="rect">
              <a:avLst/>
            </a:prstGeom>
            <a:solidFill>
              <a:srgbClr val="D04A02"/>
            </a:solidFill>
            <a:ln>
              <a:noFill/>
            </a:ln>
          </p:spPr>
        </p:sp>
        <p:sp>
          <p:nvSpPr>
            <p:cNvPr id="4" name="TextBox 4"/>
            <p:cNvSpPr txBox="1"/>
            <p:nvPr/>
          </p:nvSpPr>
          <p:spPr>
            <a:xfrm>
              <a:off x="885825" y="442912"/>
              <a:ext cx="7129784"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No Competitor Offers Flavored Whipped Cream</a:t>
              </a:r>
            </a:p>
          </p:txBody>
        </p:sp>
      </p:grpSp>
      <p:sp>
        <p:nvSpPr>
          <p:cNvPr id="6" name="TextBox 6"/>
          <p:cNvSpPr txBox="1"/>
          <p:nvPr/>
        </p:nvSpPr>
        <p:spPr>
          <a:xfrm>
            <a:off x="746760" y="870585"/>
            <a:ext cx="5551170"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Whipped Dream fills a flavor gap that mainstream brands have ignored.</a:t>
            </a:r>
          </a:p>
        </p:txBody>
      </p:sp>
      <p:grpSp>
        <p:nvGrpSpPr>
          <p:cNvPr id="42" name="Group 42"/>
          <p:cNvGrpSpPr/>
          <p:nvPr/>
        </p:nvGrpSpPr>
        <p:grpSpPr>
          <a:xfrm>
            <a:off x="762000" y="1285875"/>
            <a:ext cx="10668000" cy="2628900"/>
            <a:chOff x="762000" y="1285875"/>
            <a:chExt cx="10668000" cy="2628900"/>
          </a:xfrm>
        </p:grpSpPr>
        <p:sp>
          <p:nvSpPr>
            <p:cNvPr id="7" name="Rectangle 7"/>
            <p:cNvSpPr/>
            <p:nvPr/>
          </p:nvSpPr>
          <p:spPr>
            <a:xfrm>
              <a:off x="762000" y="1285875"/>
              <a:ext cx="10668000" cy="419100"/>
            </a:xfrm>
            <a:prstGeom prst="rect">
              <a:avLst/>
            </a:prstGeom>
            <a:solidFill>
              <a:srgbClr val="1A1A2E"/>
            </a:solidFill>
            <a:ln>
              <a:noFill/>
            </a:ln>
          </p:spPr>
        </p:sp>
        <p:sp>
          <p:nvSpPr>
            <p:cNvPr id="8" name="TextBox 8"/>
            <p:cNvSpPr txBox="1"/>
            <p:nvPr/>
          </p:nvSpPr>
          <p:spPr>
            <a:xfrm>
              <a:off x="1128712" y="1431131"/>
              <a:ext cx="635026"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Arial"/>
                  <a:ea typeface="Microsoft YaHei"/>
                  <a:cs typeface="Arial"/>
                </a:rPr>
                <a:t>Feature</a:t>
              </a:r>
            </a:p>
          </p:txBody>
        </p:sp>
        <p:sp>
          <p:nvSpPr>
            <p:cNvPr id="9" name="TextBox 9"/>
            <p:cNvSpPr txBox="1"/>
            <p:nvPr/>
          </p:nvSpPr>
          <p:spPr>
            <a:xfrm>
              <a:off x="2967749" y="1431131"/>
              <a:ext cx="244650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Whipped Dream (Fancy's Foods)</a:t>
              </a:r>
            </a:p>
          </p:txBody>
        </p:sp>
        <p:sp>
          <p:nvSpPr>
            <p:cNvPr id="10" name="TextBox 10"/>
            <p:cNvSpPr txBox="1"/>
            <p:nvPr/>
          </p:nvSpPr>
          <p:spPr>
            <a:xfrm>
              <a:off x="6627123" y="1431131"/>
              <a:ext cx="461754"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Kraft</a:t>
              </a:r>
            </a:p>
          </p:txBody>
        </p:sp>
        <p:sp>
          <p:nvSpPr>
            <p:cNvPr id="11" name="TextBox 11"/>
            <p:cNvSpPr txBox="1"/>
            <p:nvPr/>
          </p:nvSpPr>
          <p:spPr>
            <a:xfrm>
              <a:off x="8802859" y="1431131"/>
              <a:ext cx="68228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Sara Lee</a:t>
              </a:r>
            </a:p>
          </p:txBody>
        </p:sp>
        <p:sp>
          <p:nvSpPr>
            <p:cNvPr id="12" name="Rectangle 12"/>
            <p:cNvSpPr/>
            <p:nvPr/>
          </p:nvSpPr>
          <p:spPr>
            <a:xfrm>
              <a:off x="762000" y="1704975"/>
              <a:ext cx="10668000" cy="533400"/>
            </a:xfrm>
            <a:prstGeom prst="rect">
              <a:avLst/>
            </a:prstGeom>
            <a:solidFill>
              <a:srgbClr val="F5F5F5"/>
            </a:solidFill>
            <a:ln>
              <a:noFill/>
            </a:ln>
          </p:spPr>
        </p:sp>
        <p:sp>
          <p:nvSpPr>
            <p:cNvPr id="13" name="TextBox 13"/>
            <p:cNvSpPr txBox="1"/>
            <p:nvPr/>
          </p:nvSpPr>
          <p:spPr>
            <a:xfrm>
              <a:off x="1129665" y="1905952"/>
              <a:ext cx="555936"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Flavors</a:t>
              </a:r>
            </a:p>
          </p:txBody>
        </p:sp>
        <p:sp>
          <p:nvSpPr>
            <p:cNvPr id="14" name="TextBox 14"/>
            <p:cNvSpPr txBox="1"/>
            <p:nvPr/>
          </p:nvSpPr>
          <p:spPr>
            <a:xfrm>
              <a:off x="3365388" y="1839278"/>
              <a:ext cx="1651223" cy="213360"/>
            </a:xfrm>
            <a:prstGeom prst="rect">
              <a:avLst/>
            </a:prstGeom>
            <a:noFill/>
            <a:ln>
              <a:noFill/>
            </a:ln>
          </p:spPr>
          <p:txBody>
            <a:bodyPr wrap="none" lIns="0" tIns="0" rIns="0" bIns="0" anchor="t" anchorCtr="0">
              <a:spAutoFit/>
            </a:bodyPr>
            <a:lstStyle/>
            <a:p>
              <a:pPr algn="ctr"/>
              <a:r>
                <a:rPr lang="zh-CN" sz="1050" b="1" dirty="0">
                  <a:solidFill>
                    <a:srgbClr val="D04A02"/>
                  </a:solidFill>
                  <a:latin typeface="Arial"/>
                  <a:ea typeface="Microsoft YaHei"/>
                  <a:cs typeface="Arial"/>
                </a:rPr>
                <a:t>Chocolate, Raspberry,</a:t>
              </a:r>
            </a:p>
          </p:txBody>
        </p:sp>
        <p:sp>
          <p:nvSpPr>
            <p:cNvPr id="15" name="TextBox 15"/>
            <p:cNvSpPr txBox="1"/>
            <p:nvPr/>
          </p:nvSpPr>
          <p:spPr>
            <a:xfrm>
              <a:off x="3115457" y="2029778"/>
              <a:ext cx="2151086" cy="213360"/>
            </a:xfrm>
            <a:prstGeom prst="rect">
              <a:avLst/>
            </a:prstGeom>
            <a:noFill/>
            <a:ln>
              <a:noFill/>
            </a:ln>
          </p:spPr>
          <p:txBody>
            <a:bodyPr wrap="none" lIns="0" tIns="0" rIns="0" bIns="0" anchor="t" anchorCtr="0">
              <a:spAutoFit/>
            </a:bodyPr>
            <a:lstStyle/>
            <a:p>
              <a:pPr algn="ctr"/>
              <a:r>
                <a:rPr lang="zh-CN" sz="1050" b="1" dirty="0">
                  <a:solidFill>
                    <a:srgbClr val="D04A02"/>
                  </a:solidFill>
                  <a:latin typeface="Arial"/>
                  <a:ea typeface="Microsoft YaHei"/>
                  <a:cs typeface="Arial"/>
                </a:rPr>
                <a:t>Cinnamon Almond, Strawberry</a:t>
              </a:r>
            </a:p>
          </p:txBody>
        </p:sp>
        <p:sp>
          <p:nvSpPr>
            <p:cNvPr id="16" name="TextBox 16"/>
            <p:cNvSpPr txBox="1"/>
            <p:nvPr/>
          </p:nvSpPr>
          <p:spPr>
            <a:xfrm>
              <a:off x="6690646" y="1905952"/>
              <a:ext cx="334708" cy="213360"/>
            </a:xfrm>
            <a:prstGeom prst="rect">
              <a:avLst/>
            </a:prstGeom>
            <a:noFill/>
            <a:ln>
              <a:noFill/>
            </a:ln>
          </p:spPr>
          <p:txBody>
            <a:bodyPr wrap="none" lIns="0" tIns="0" rIns="0" bIns="0" anchor="t" anchorCtr="0">
              <a:spAutoFit/>
            </a:bodyPr>
            <a:lstStyle/>
            <a:p>
              <a:pPr algn="ctr"/>
              <a:r>
                <a:rPr lang="zh-CN" sz="1050" dirty="0">
                  <a:solidFill>
                    <a:srgbClr val="999999"/>
                  </a:solidFill>
                  <a:latin typeface="Arial"/>
                  <a:ea typeface="Microsoft YaHei"/>
                  <a:cs typeface="Arial"/>
                </a:rPr>
                <a:t>None</a:t>
              </a:r>
            </a:p>
          </p:txBody>
        </p:sp>
        <p:sp>
          <p:nvSpPr>
            <p:cNvPr id="17" name="TextBox 17"/>
            <p:cNvSpPr txBox="1"/>
            <p:nvPr/>
          </p:nvSpPr>
          <p:spPr>
            <a:xfrm>
              <a:off x="8976646" y="1905952"/>
              <a:ext cx="334708" cy="213360"/>
            </a:xfrm>
            <a:prstGeom prst="rect">
              <a:avLst/>
            </a:prstGeom>
            <a:noFill/>
            <a:ln>
              <a:noFill/>
            </a:ln>
          </p:spPr>
          <p:txBody>
            <a:bodyPr wrap="none" lIns="0" tIns="0" rIns="0" bIns="0" anchor="t" anchorCtr="0">
              <a:spAutoFit/>
            </a:bodyPr>
            <a:lstStyle/>
            <a:p>
              <a:pPr algn="ctr"/>
              <a:r>
                <a:rPr lang="zh-CN" sz="1050" dirty="0">
                  <a:solidFill>
                    <a:srgbClr val="999999"/>
                  </a:solidFill>
                  <a:latin typeface="Arial"/>
                  <a:ea typeface="Microsoft YaHei"/>
                  <a:cs typeface="Arial"/>
                </a:rPr>
                <a:t>None</a:t>
              </a:r>
            </a:p>
          </p:txBody>
        </p:sp>
        <p:sp>
          <p:nvSpPr>
            <p:cNvPr id="18" name="Rectangle 18"/>
            <p:cNvSpPr/>
            <p:nvPr/>
          </p:nvSpPr>
          <p:spPr>
            <a:xfrm>
              <a:off x="762000" y="2238375"/>
              <a:ext cx="10668000" cy="419100"/>
            </a:xfrm>
            <a:prstGeom prst="rect">
              <a:avLst/>
            </a:prstGeom>
            <a:solidFill>
              <a:srgbClr val="FFFFFF"/>
            </a:solidFill>
            <a:ln>
              <a:noFill/>
            </a:ln>
          </p:spPr>
        </p:sp>
        <p:sp>
          <p:nvSpPr>
            <p:cNvPr id="19" name="TextBox 19"/>
            <p:cNvSpPr txBox="1"/>
            <p:nvPr/>
          </p:nvSpPr>
          <p:spPr>
            <a:xfrm>
              <a:off x="1129665" y="2382202"/>
              <a:ext cx="622094"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Formats</a:t>
              </a:r>
            </a:p>
          </p:txBody>
        </p:sp>
        <p:sp>
          <p:nvSpPr>
            <p:cNvPr id="20" name="TextBox 20"/>
            <p:cNvSpPr txBox="1"/>
            <p:nvPr/>
          </p:nvSpPr>
          <p:spPr>
            <a:xfrm>
              <a:off x="3302556" y="2382202"/>
              <a:ext cx="1776889"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8oz &amp; 12oz tubs, 6oz cans</a:t>
              </a:r>
            </a:p>
          </p:txBody>
        </p:sp>
        <p:sp>
          <p:nvSpPr>
            <p:cNvPr id="21" name="TextBox 21"/>
            <p:cNvSpPr txBox="1"/>
            <p:nvPr/>
          </p:nvSpPr>
          <p:spPr>
            <a:xfrm>
              <a:off x="6456116" y="2382202"/>
              <a:ext cx="803767"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Tubs &amp; cans</a:t>
              </a:r>
            </a:p>
          </p:txBody>
        </p:sp>
        <p:sp>
          <p:nvSpPr>
            <p:cNvPr id="22" name="TextBox 22"/>
            <p:cNvSpPr txBox="1"/>
            <p:nvPr/>
          </p:nvSpPr>
          <p:spPr>
            <a:xfrm>
              <a:off x="8742116" y="2382202"/>
              <a:ext cx="803767"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Tubs &amp; cans</a:t>
              </a:r>
            </a:p>
          </p:txBody>
        </p:sp>
        <p:sp>
          <p:nvSpPr>
            <p:cNvPr id="23" name="Rectangle 23"/>
            <p:cNvSpPr/>
            <p:nvPr/>
          </p:nvSpPr>
          <p:spPr>
            <a:xfrm>
              <a:off x="762000" y="2657475"/>
              <a:ext cx="10668000" cy="419100"/>
            </a:xfrm>
            <a:prstGeom prst="rect">
              <a:avLst/>
            </a:prstGeom>
            <a:solidFill>
              <a:srgbClr val="F5F5F5"/>
            </a:solidFill>
            <a:ln>
              <a:noFill/>
            </a:ln>
          </p:spPr>
        </p:sp>
        <p:sp>
          <p:nvSpPr>
            <p:cNvPr id="24" name="TextBox 24"/>
            <p:cNvSpPr txBox="1"/>
            <p:nvPr/>
          </p:nvSpPr>
          <p:spPr>
            <a:xfrm>
              <a:off x="1129665" y="2801302"/>
              <a:ext cx="879377"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Dairy-Based</a:t>
              </a:r>
            </a:p>
          </p:txBody>
        </p:sp>
        <p:sp>
          <p:nvSpPr>
            <p:cNvPr id="25" name="TextBox 25"/>
            <p:cNvSpPr txBox="1"/>
            <p:nvPr/>
          </p:nvSpPr>
          <p:spPr>
            <a:xfrm>
              <a:off x="3622671" y="2801302"/>
              <a:ext cx="1136659"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a:ea typeface="Microsoft YaHei"/>
                  <a:cs typeface="Arial"/>
                </a:rPr>
                <a:t>Yes — Real Dairy</a:t>
              </a:r>
            </a:p>
          </p:txBody>
        </p:sp>
        <p:sp>
          <p:nvSpPr>
            <p:cNvPr id="26" name="TextBox 26"/>
            <p:cNvSpPr txBox="1"/>
            <p:nvPr/>
          </p:nvSpPr>
          <p:spPr>
            <a:xfrm>
              <a:off x="6130576" y="2801302"/>
              <a:ext cx="1454849" cy="213360"/>
            </a:xfrm>
            <a:prstGeom prst="rect">
              <a:avLst/>
            </a:prstGeom>
            <a:noFill/>
            <a:ln>
              <a:noFill/>
            </a:ln>
          </p:spPr>
          <p:txBody>
            <a:bodyPr wrap="none" lIns="0" tIns="0" rIns="0" bIns="0" anchor="t" anchorCtr="0">
              <a:spAutoFit/>
            </a:bodyPr>
            <a:lstStyle/>
            <a:p>
              <a:pPr algn="ctr"/>
              <a:r>
                <a:rPr lang="zh-CN" sz="1050" dirty="0">
                  <a:solidFill>
                    <a:srgbClr val="C62828"/>
                  </a:solidFill>
                  <a:latin typeface="Arial"/>
                  <a:ea typeface="Microsoft YaHei"/>
                  <a:cs typeface="Arial"/>
                </a:rPr>
                <a:t>No (whipped topping)</a:t>
              </a:r>
            </a:p>
          </p:txBody>
        </p:sp>
        <p:sp>
          <p:nvSpPr>
            <p:cNvPr id="27" name="TextBox 27"/>
            <p:cNvSpPr txBox="1"/>
            <p:nvPr/>
          </p:nvSpPr>
          <p:spPr>
            <a:xfrm>
              <a:off x="8630102" y="2801302"/>
              <a:ext cx="1027795"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Some varieties</a:t>
              </a:r>
            </a:p>
          </p:txBody>
        </p:sp>
        <p:sp>
          <p:nvSpPr>
            <p:cNvPr id="28" name="Rectangle 28"/>
            <p:cNvSpPr/>
            <p:nvPr/>
          </p:nvSpPr>
          <p:spPr>
            <a:xfrm>
              <a:off x="762000" y="3076575"/>
              <a:ext cx="10668000" cy="419100"/>
            </a:xfrm>
            <a:prstGeom prst="rect">
              <a:avLst/>
            </a:prstGeom>
            <a:solidFill>
              <a:srgbClr val="FFFFFF"/>
            </a:solidFill>
            <a:ln>
              <a:noFill/>
            </a:ln>
          </p:spPr>
        </p:sp>
        <p:sp>
          <p:nvSpPr>
            <p:cNvPr id="29" name="TextBox 29"/>
            <p:cNvSpPr txBox="1"/>
            <p:nvPr/>
          </p:nvSpPr>
          <p:spPr>
            <a:xfrm>
              <a:off x="1129665" y="3220402"/>
              <a:ext cx="725007"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Shelf Life</a:t>
              </a:r>
            </a:p>
          </p:txBody>
        </p:sp>
        <p:sp>
          <p:nvSpPr>
            <p:cNvPr id="30" name="TextBox 30"/>
            <p:cNvSpPr txBox="1"/>
            <p:nvPr/>
          </p:nvSpPr>
          <p:spPr>
            <a:xfrm>
              <a:off x="2822996" y="3220402"/>
              <a:ext cx="2736009"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21 days refrigerated / 6 months frozen</a:t>
              </a:r>
            </a:p>
          </p:txBody>
        </p:sp>
        <p:sp>
          <p:nvSpPr>
            <p:cNvPr id="31" name="TextBox 31"/>
            <p:cNvSpPr txBox="1"/>
            <p:nvPr/>
          </p:nvSpPr>
          <p:spPr>
            <a:xfrm>
              <a:off x="6631138" y="3220402"/>
              <a:ext cx="453723"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Varies</a:t>
              </a:r>
            </a:p>
          </p:txBody>
        </p:sp>
        <p:sp>
          <p:nvSpPr>
            <p:cNvPr id="32" name="TextBox 32"/>
            <p:cNvSpPr txBox="1"/>
            <p:nvPr/>
          </p:nvSpPr>
          <p:spPr>
            <a:xfrm>
              <a:off x="8917138" y="3220402"/>
              <a:ext cx="453723"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Varies</a:t>
              </a:r>
            </a:p>
          </p:txBody>
        </p:sp>
        <p:sp>
          <p:nvSpPr>
            <p:cNvPr id="33" name="Rectangle 33"/>
            <p:cNvSpPr/>
            <p:nvPr/>
          </p:nvSpPr>
          <p:spPr>
            <a:xfrm>
              <a:off x="762000" y="3495675"/>
              <a:ext cx="10668000" cy="419100"/>
            </a:xfrm>
            <a:prstGeom prst="rect">
              <a:avLst/>
            </a:prstGeom>
            <a:solidFill>
              <a:srgbClr val="F5F5F5"/>
            </a:solidFill>
            <a:ln>
              <a:noFill/>
            </a:ln>
          </p:spPr>
        </p:sp>
        <p:sp>
          <p:nvSpPr>
            <p:cNvPr id="34" name="TextBox 34"/>
            <p:cNvSpPr txBox="1"/>
            <p:nvPr/>
          </p:nvSpPr>
          <p:spPr>
            <a:xfrm>
              <a:off x="1129665" y="3639502"/>
              <a:ext cx="849973"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Retail Price</a:t>
              </a:r>
            </a:p>
          </p:txBody>
        </p:sp>
        <p:sp>
          <p:nvSpPr>
            <p:cNvPr id="35" name="TextBox 35"/>
            <p:cNvSpPr txBox="1"/>
            <p:nvPr/>
          </p:nvSpPr>
          <p:spPr>
            <a:xfrm>
              <a:off x="3747636" y="3639502"/>
              <a:ext cx="886727"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$2.29 / unit</a:t>
              </a:r>
            </a:p>
          </p:txBody>
        </p:sp>
        <p:sp>
          <p:nvSpPr>
            <p:cNvPr id="36" name="TextBox 36"/>
            <p:cNvSpPr txBox="1"/>
            <p:nvPr/>
          </p:nvSpPr>
          <p:spPr>
            <a:xfrm>
              <a:off x="6459617" y="3639502"/>
              <a:ext cx="796766"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$1.29–1.89</a:t>
              </a:r>
            </a:p>
          </p:txBody>
        </p:sp>
        <p:sp>
          <p:nvSpPr>
            <p:cNvPr id="37" name="TextBox 37"/>
            <p:cNvSpPr txBox="1"/>
            <p:nvPr/>
          </p:nvSpPr>
          <p:spPr>
            <a:xfrm>
              <a:off x="8745617" y="3639502"/>
              <a:ext cx="796766"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$1.29–1.89</a:t>
              </a:r>
            </a:p>
          </p:txBody>
        </p:sp>
        <p:sp>
          <p:nvSpPr>
            <p:cNvPr id="38" name="Rectangle 38"/>
            <p:cNvSpPr/>
            <p:nvPr/>
          </p:nvSpPr>
          <p:spPr>
            <a:xfrm>
              <a:off x="762000" y="1285875"/>
              <a:ext cx="10668000" cy="2628900"/>
            </a:xfrm>
            <a:prstGeom prst="rect">
              <a:avLst/>
            </a:prstGeom>
            <a:noFill/>
            <a:ln w="9525">
              <a:solidFill>
                <a:srgbClr val="E0E0E0"/>
              </a:solidFill>
            </a:ln>
          </p:spPr>
        </p:sp>
        <p:sp>
          <p:nvSpPr>
            <p:cNvPr id="39" name="Line 39"/>
            <p:cNvSpPr/>
            <p:nvPr/>
          </p:nvSpPr>
          <p:spPr>
            <a:xfrm>
              <a:off x="5334000" y="1285875"/>
              <a:ext cx="9525" cy="2628900"/>
            </a:xfrm>
            <a:custGeom>
              <a:avLst/>
              <a:gdLst/>
              <a:ahLst/>
              <a:cxnLst/>
              <a:rect l="l" t="t" r="r" b="b"/>
              <a:pathLst>
                <a:path w="9525" h="2628900">
                  <a:moveTo>
                    <a:pt x="0" y="0"/>
                  </a:moveTo>
                  <a:lnTo>
                    <a:pt x="0" y="2628900"/>
                  </a:lnTo>
                </a:path>
              </a:pathLst>
            </a:custGeom>
            <a:noFill/>
            <a:ln w="9525">
              <a:solidFill>
                <a:srgbClr val="E0E0E0"/>
              </a:solidFill>
            </a:ln>
          </p:spPr>
        </p:sp>
        <p:sp>
          <p:nvSpPr>
            <p:cNvPr id="40" name="Line 40"/>
            <p:cNvSpPr/>
            <p:nvPr/>
          </p:nvSpPr>
          <p:spPr>
            <a:xfrm>
              <a:off x="8001000" y="1285875"/>
              <a:ext cx="9525" cy="2628900"/>
            </a:xfrm>
            <a:custGeom>
              <a:avLst/>
              <a:gdLst/>
              <a:ahLst/>
              <a:cxnLst/>
              <a:rect l="l" t="t" r="r" b="b"/>
              <a:pathLst>
                <a:path w="9525" h="2628900">
                  <a:moveTo>
                    <a:pt x="0" y="0"/>
                  </a:moveTo>
                  <a:lnTo>
                    <a:pt x="0" y="2628900"/>
                  </a:lnTo>
                </a:path>
              </a:pathLst>
            </a:custGeom>
            <a:noFill/>
            <a:ln w="9525">
              <a:solidFill>
                <a:srgbClr val="E0E0E0"/>
              </a:solidFill>
            </a:ln>
          </p:spPr>
        </p:sp>
        <p:sp>
          <p:nvSpPr>
            <p:cNvPr id="41" name="Line 41"/>
            <p:cNvSpPr/>
            <p:nvPr/>
          </p:nvSpPr>
          <p:spPr>
            <a:xfrm>
              <a:off x="10287000" y="1285875"/>
              <a:ext cx="9525" cy="2628900"/>
            </a:xfrm>
            <a:custGeom>
              <a:avLst/>
              <a:gdLst/>
              <a:ahLst/>
              <a:cxnLst/>
              <a:rect l="l" t="t" r="r" b="b"/>
              <a:pathLst>
                <a:path w="9525" h="2628900">
                  <a:moveTo>
                    <a:pt x="0" y="0"/>
                  </a:moveTo>
                  <a:lnTo>
                    <a:pt x="0" y="2628900"/>
                  </a:lnTo>
                </a:path>
              </a:pathLst>
            </a:custGeom>
            <a:noFill/>
            <a:ln w="9525">
              <a:solidFill>
                <a:srgbClr val="E0E0E0"/>
              </a:solidFill>
            </a:ln>
          </p:spPr>
        </p:sp>
      </p:grpSp>
      <p:grpSp>
        <p:nvGrpSpPr>
          <p:cNvPr id="46" name="Group 46"/>
          <p:cNvGrpSpPr/>
          <p:nvPr/>
        </p:nvGrpSpPr>
        <p:grpSpPr>
          <a:xfrm>
            <a:off x="762000" y="4191000"/>
            <a:ext cx="5439594" cy="576262"/>
            <a:chOff x="762000" y="4191000"/>
            <a:chExt cx="5439594" cy="576262"/>
          </a:xfrm>
        </p:grpSpPr>
        <p:sp>
          <p:nvSpPr>
            <p:cNvPr id="43" name="Rectangle 43"/>
            <p:cNvSpPr/>
            <p:nvPr/>
          </p:nvSpPr>
          <p:spPr>
            <a:xfrm>
              <a:off x="762000" y="4191000"/>
              <a:ext cx="57150" cy="571500"/>
            </a:xfrm>
            <a:prstGeom prst="rect">
              <a:avLst/>
            </a:prstGeom>
            <a:solidFill>
              <a:srgbClr val="D04A02"/>
            </a:solidFill>
            <a:ln>
              <a:noFill/>
            </a:ln>
          </p:spPr>
        </p:sp>
        <p:sp>
          <p:nvSpPr>
            <p:cNvPr id="44" name="TextBox 44"/>
            <p:cNvSpPr txBox="1"/>
            <p:nvPr/>
          </p:nvSpPr>
          <p:spPr>
            <a:xfrm>
              <a:off x="937260" y="4299585"/>
              <a:ext cx="5264334"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Only Fancy's Foods offers flavored, real-dairy whipped cream.</a:t>
              </a:r>
            </a:p>
          </p:txBody>
        </p:sp>
        <p:sp>
          <p:nvSpPr>
            <p:cNvPr id="45" name="TextBox 45"/>
            <p:cNvSpPr txBox="1"/>
            <p:nvPr/>
          </p:nvSpPr>
          <p:spPr>
            <a:xfrm>
              <a:off x="939165" y="4553902"/>
              <a:ext cx="5074301"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Competitors compete on price and distribution — not on flavor innovation.</a:t>
              </a:r>
            </a:p>
          </p:txBody>
        </p:sp>
      </p:grpSp>
      <p:grpSp>
        <p:nvGrpSpPr>
          <p:cNvPr id="49" name="Group 49"/>
          <p:cNvGrpSpPr/>
          <p:nvPr/>
        </p:nvGrpSpPr>
        <p:grpSpPr>
          <a:xfrm>
            <a:off x="752475" y="6538912"/>
            <a:ext cx="10687050" cy="152400"/>
            <a:chOff x="752475" y="6538912"/>
            <a:chExt cx="10687050" cy="152400"/>
          </a:xfrm>
        </p:grpSpPr>
        <p:sp>
          <p:nvSpPr>
            <p:cNvPr id="47" name="TextBox 47"/>
            <p:cNvSpPr txBox="1"/>
            <p:nvPr/>
          </p:nvSpPr>
          <p:spPr>
            <a:xfrm>
              <a:off x="752475" y="6538912"/>
              <a:ext cx="1904286"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a:ea typeface="Microsoft YaHei"/>
                  <a:cs typeface="Arial"/>
                </a:rPr>
                <a:t>Fancy's Foods — Investor Presentation</a:t>
              </a:r>
            </a:p>
          </p:txBody>
        </p:sp>
        <p:sp>
          <p:nvSpPr>
            <p:cNvPr id="48" name="TextBox 48"/>
            <p:cNvSpPr txBox="1"/>
            <p:nvPr/>
          </p:nvSpPr>
          <p:spPr>
            <a:xfrm>
              <a:off x="11310461" y="6538912"/>
              <a:ext cx="129064" cy="152400"/>
            </a:xfrm>
            <a:prstGeom prst="rect">
              <a:avLst/>
            </a:prstGeom>
            <a:noFill/>
            <a:ln>
              <a:noFill/>
            </a:ln>
          </p:spPr>
          <p:txBody>
            <a:bodyPr wrap="none" lIns="0" tIns="0" rIns="0" bIns="0" anchor="t" anchorCtr="0">
              <a:spAutoFit/>
            </a:bodyPr>
            <a:lstStyle/>
            <a:p>
              <a:pPr algn="r"/>
              <a:r>
                <a:rPr lang="zh-CN" sz="750" dirty="0">
                  <a:solidFill>
                    <a:srgbClr val="999999"/>
                  </a:solidFill>
                  <a:latin typeface="Arial"/>
                  <a:ea typeface="Microsoft YaHei"/>
                  <a:cs typeface="Arial"/>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400"/>
                                        <p:tgtEl>
                                          <p:spTgt spid="4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left)">
                                      <p:cBhvr>
                                        <p:cTn id="11"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62000" y="442912"/>
            <a:ext cx="4717542" cy="457200"/>
            <a:chOff x="762000" y="442912"/>
            <a:chExt cx="4717542" cy="457200"/>
          </a:xfrm>
        </p:grpSpPr>
        <p:sp>
          <p:nvSpPr>
            <p:cNvPr id="3" name="Rectangle 3"/>
            <p:cNvSpPr/>
            <p:nvPr/>
          </p:nvSpPr>
          <p:spPr>
            <a:xfrm>
              <a:off x="762000" y="476250"/>
              <a:ext cx="38100" cy="266700"/>
            </a:xfrm>
            <a:prstGeom prst="rect">
              <a:avLst/>
            </a:prstGeom>
            <a:solidFill>
              <a:srgbClr val="D04A02"/>
            </a:solidFill>
            <a:ln>
              <a:noFill/>
            </a:ln>
          </p:spPr>
        </p:sp>
        <p:sp>
          <p:nvSpPr>
            <p:cNvPr id="4" name="TextBox 4"/>
            <p:cNvSpPr txBox="1"/>
            <p:nvPr/>
          </p:nvSpPr>
          <p:spPr>
            <a:xfrm>
              <a:off x="885825" y="442912"/>
              <a:ext cx="4593717"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18 Years of Restaurant Proof</a:t>
              </a:r>
            </a:p>
          </p:txBody>
        </p:sp>
      </p:grpSp>
      <p:sp>
        <p:nvSpPr>
          <p:cNvPr id="6" name="TextBox 6"/>
          <p:cNvSpPr txBox="1"/>
          <p:nvPr/>
        </p:nvSpPr>
        <p:spPr>
          <a:xfrm>
            <a:off x="746760" y="870585"/>
            <a:ext cx="6095238"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Two successful restaurants validated product-market fit long before retail.</a:t>
            </a:r>
          </a:p>
        </p:txBody>
      </p:sp>
      <p:grpSp>
        <p:nvGrpSpPr>
          <p:cNvPr id="13" name="Group 13"/>
          <p:cNvGrpSpPr/>
          <p:nvPr/>
        </p:nvGrpSpPr>
        <p:grpSpPr>
          <a:xfrm>
            <a:off x="762000" y="1333500"/>
            <a:ext cx="3238500" cy="2095500"/>
            <a:chOff x="762000" y="1333500"/>
            <a:chExt cx="3238500" cy="2095500"/>
          </a:xfrm>
        </p:grpSpPr>
        <p:sp>
          <p:nvSpPr>
            <p:cNvPr id="7" name="Rectangle 7"/>
            <p:cNvSpPr/>
            <p:nvPr/>
          </p:nvSpPr>
          <p:spPr>
            <a:xfrm>
              <a:off x="762000" y="1333500"/>
              <a:ext cx="3238500" cy="2095500"/>
            </a:xfrm>
            <a:prstGeom prst="rect">
              <a:avLst/>
            </a:prstGeom>
            <a:solidFill>
              <a:srgbClr val="F5F5F5"/>
            </a:solidFill>
            <a:ln>
              <a:noFill/>
            </a:ln>
          </p:spPr>
        </p:sp>
        <p:sp>
          <p:nvSpPr>
            <p:cNvPr id="8" name="Rectangle 8"/>
            <p:cNvSpPr/>
            <p:nvPr/>
          </p:nvSpPr>
          <p:spPr>
            <a:xfrm>
              <a:off x="762000" y="1333500"/>
              <a:ext cx="3238500" cy="38100"/>
            </a:xfrm>
            <a:prstGeom prst="rect">
              <a:avLst/>
            </a:prstGeom>
            <a:solidFill>
              <a:srgbClr val="0076A8"/>
            </a:solidFill>
            <a:ln>
              <a:noFill/>
            </a:ln>
          </p:spPr>
        </p:sp>
        <p:sp>
          <p:nvSpPr>
            <p:cNvPr id="9" name="TextBox 9"/>
            <p:cNvSpPr txBox="1"/>
            <p:nvPr/>
          </p:nvSpPr>
          <p:spPr>
            <a:xfrm>
              <a:off x="939165" y="1553528"/>
              <a:ext cx="717656" cy="213360"/>
            </a:xfrm>
            <a:prstGeom prst="rect">
              <a:avLst/>
            </a:prstGeom>
            <a:noFill/>
            <a:ln>
              <a:noFill/>
            </a:ln>
          </p:spPr>
          <p:txBody>
            <a:bodyPr wrap="none" lIns="0" tIns="0" rIns="0" bIns="0" anchor="t" anchorCtr="0">
              <a:spAutoFit/>
            </a:bodyPr>
            <a:lstStyle/>
            <a:p>
              <a:pPr algn="l"/>
              <a:r>
                <a:rPr lang="zh-CN" sz="1050" b="1" dirty="0">
                  <a:solidFill>
                    <a:srgbClr val="0076A8"/>
                  </a:solidFill>
                  <a:latin typeface="Arial"/>
                  <a:ea typeface="Microsoft YaHei"/>
                  <a:cs typeface="Arial"/>
                </a:rPr>
                <a:t>EST. 1981</a:t>
              </a:r>
            </a:p>
          </p:txBody>
        </p:sp>
        <p:sp>
          <p:nvSpPr>
            <p:cNvPr id="10" name="TextBox 10"/>
            <p:cNvSpPr txBox="1"/>
            <p:nvPr/>
          </p:nvSpPr>
          <p:spPr>
            <a:xfrm>
              <a:off x="931545" y="1822132"/>
              <a:ext cx="1370326" cy="335280"/>
            </a:xfrm>
            <a:prstGeom prst="rect">
              <a:avLst/>
            </a:prstGeom>
            <a:noFill/>
            <a:ln>
              <a:noFill/>
            </a:ln>
          </p:spPr>
          <p:txBody>
            <a:bodyPr wrap="none" lIns="0" tIns="0" rIns="0" bIns="0" anchor="t" anchorCtr="0">
              <a:spAutoFit/>
            </a:bodyPr>
            <a:lstStyle/>
            <a:p>
              <a:pPr algn="l"/>
              <a:r>
                <a:rPr lang="zh-CN" sz="1650" b="1" dirty="0">
                  <a:solidFill>
                    <a:srgbClr val="1A1A2E"/>
                  </a:solidFill>
                  <a:latin typeface="Arial"/>
                  <a:ea typeface="Microsoft YaHei"/>
                  <a:cs typeface="Arial"/>
                </a:rPr>
                <a:t>Antlers, OK</a:t>
              </a:r>
            </a:p>
          </p:txBody>
        </p:sp>
        <p:sp>
          <p:nvSpPr>
            <p:cNvPr id="11" name="TextBox 11"/>
            <p:cNvSpPr txBox="1"/>
            <p:nvPr/>
          </p:nvSpPr>
          <p:spPr>
            <a:xfrm>
              <a:off x="939165" y="2267902"/>
              <a:ext cx="1886902" cy="632460"/>
            </a:xfrm>
            <a:prstGeom prst="rect">
              <a:avLst/>
            </a:prstGeom>
            <a:noFill/>
            <a:ln>
              <a:noFill/>
            </a:ln>
          </p:spPr>
          <p:txBody>
            <a:bodyPr wrap="square" lIns="0" tIns="0" rIns="0" bIns="0" anchor="t" anchorCtr="0"/>
            <a:lstStyle/>
            <a:p>
              <a:pPr algn="l">
                <a:lnSpc>
                  <a:spcPts val="1650"/>
                </a:lnSpc>
              </a:pPr>
              <a:r>
                <a:rPr lang="zh-CN" sz="1050" dirty="0">
                  <a:solidFill>
                    <a:srgbClr val="333333"/>
                  </a:solidFill>
                  <a:latin typeface="Arial"/>
                  <a:ea typeface="Microsoft YaHei"/>
                  <a:cs typeface="Arial"/>
                </a:rPr>
                <a:t xml:space="preserve">First restaurant. Built local </a:t>
              </a:r>
              <a:r>
                <a:rPr lang="zh-CN" sz="1050" dirty="0">
                  <a:solidFill>
                    <a:srgbClr val="333333"/>
                  </a:solidFill>
                  <a:latin typeface="Arial"/>
                  <a:ea typeface="Microsoft YaHei"/>
                  <a:cs typeface="Arial"/>
                </a:rPr>
                <a:t xml:space="preserve">reputation for quality menu </a:t>
              </a:r>
              <a:r>
                <a:rPr lang="zh-CN" sz="1050" dirty="0">
                  <a:solidFill>
                    <a:srgbClr val="333333"/>
                  </a:solidFill>
                  <a:latin typeface="Arial"/>
                  <a:ea typeface="Microsoft YaHei"/>
                  <a:cs typeface="Arial"/>
                </a:rPr>
                <a:t>items — especially desserts.</a:t>
              </a:r>
            </a:p>
          </p:txBody>
        </p:sp>
        <p:sp>
          <p:nvSpPr>
            <p:cNvPr id="12" name="TextBox 12"/>
            <p:cNvSpPr txBox="1"/>
            <p:nvPr/>
          </p:nvSpPr>
          <p:spPr>
            <a:xfrm>
              <a:off x="940118" y="3133249"/>
              <a:ext cx="1110401"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Founding location</a:t>
              </a:r>
            </a:p>
          </p:txBody>
        </p:sp>
      </p:grpSp>
      <p:grpSp>
        <p:nvGrpSpPr>
          <p:cNvPr id="20" name="Group 20"/>
          <p:cNvGrpSpPr/>
          <p:nvPr/>
        </p:nvGrpSpPr>
        <p:grpSpPr>
          <a:xfrm>
            <a:off x="4476750" y="1333500"/>
            <a:ext cx="3238500" cy="2095500"/>
            <a:chOff x="4476750" y="1333500"/>
            <a:chExt cx="3238500" cy="2095500"/>
          </a:xfrm>
        </p:grpSpPr>
        <p:sp>
          <p:nvSpPr>
            <p:cNvPr id="14" name="Rectangle 14"/>
            <p:cNvSpPr/>
            <p:nvPr/>
          </p:nvSpPr>
          <p:spPr>
            <a:xfrm>
              <a:off x="4476750" y="1333500"/>
              <a:ext cx="3238500" cy="2095500"/>
            </a:xfrm>
            <a:prstGeom prst="rect">
              <a:avLst/>
            </a:prstGeom>
            <a:solidFill>
              <a:srgbClr val="F5F5F5"/>
            </a:solidFill>
            <a:ln>
              <a:noFill/>
            </a:ln>
          </p:spPr>
        </p:sp>
        <p:sp>
          <p:nvSpPr>
            <p:cNvPr id="15" name="Rectangle 15"/>
            <p:cNvSpPr/>
            <p:nvPr/>
          </p:nvSpPr>
          <p:spPr>
            <a:xfrm>
              <a:off x="4476750" y="1333500"/>
              <a:ext cx="3238500" cy="38100"/>
            </a:xfrm>
            <a:prstGeom prst="rect">
              <a:avLst/>
            </a:prstGeom>
            <a:solidFill>
              <a:srgbClr val="0076A8"/>
            </a:solidFill>
            <a:ln>
              <a:noFill/>
            </a:ln>
          </p:spPr>
        </p:sp>
        <p:sp>
          <p:nvSpPr>
            <p:cNvPr id="16" name="TextBox 16"/>
            <p:cNvSpPr txBox="1"/>
            <p:nvPr/>
          </p:nvSpPr>
          <p:spPr>
            <a:xfrm>
              <a:off x="4653915" y="1553528"/>
              <a:ext cx="717656" cy="213360"/>
            </a:xfrm>
            <a:prstGeom prst="rect">
              <a:avLst/>
            </a:prstGeom>
            <a:noFill/>
            <a:ln>
              <a:noFill/>
            </a:ln>
          </p:spPr>
          <p:txBody>
            <a:bodyPr wrap="none" lIns="0" tIns="0" rIns="0" bIns="0" anchor="t" anchorCtr="0">
              <a:spAutoFit/>
            </a:bodyPr>
            <a:lstStyle/>
            <a:p>
              <a:pPr algn="l"/>
              <a:r>
                <a:rPr lang="zh-CN" sz="1050" b="1" dirty="0">
                  <a:solidFill>
                    <a:srgbClr val="0076A8"/>
                  </a:solidFill>
                  <a:latin typeface="Arial"/>
                  <a:ea typeface="Microsoft YaHei"/>
                  <a:cs typeface="Arial"/>
                </a:rPr>
                <a:t>EST. 1988</a:t>
              </a:r>
            </a:p>
          </p:txBody>
        </p:sp>
        <p:sp>
          <p:nvSpPr>
            <p:cNvPr id="17" name="TextBox 17"/>
            <p:cNvSpPr txBox="1"/>
            <p:nvPr/>
          </p:nvSpPr>
          <p:spPr>
            <a:xfrm>
              <a:off x="4646295" y="1822132"/>
              <a:ext cx="1046886" cy="335280"/>
            </a:xfrm>
            <a:prstGeom prst="rect">
              <a:avLst/>
            </a:prstGeom>
            <a:noFill/>
            <a:ln>
              <a:noFill/>
            </a:ln>
          </p:spPr>
          <p:txBody>
            <a:bodyPr wrap="none" lIns="0" tIns="0" rIns="0" bIns="0" anchor="t" anchorCtr="0">
              <a:spAutoFit/>
            </a:bodyPr>
            <a:lstStyle/>
            <a:p>
              <a:pPr algn="l"/>
              <a:r>
                <a:rPr lang="zh-CN" sz="1650" b="1" dirty="0">
                  <a:solidFill>
                    <a:srgbClr val="1A1A2E"/>
                  </a:solidFill>
                  <a:latin typeface="Arial"/>
                  <a:ea typeface="Microsoft YaHei"/>
                  <a:cs typeface="Arial"/>
                </a:rPr>
                <a:t>Hugo, OK</a:t>
              </a:r>
            </a:p>
          </p:txBody>
        </p:sp>
        <p:sp>
          <p:nvSpPr>
            <p:cNvPr id="18" name="TextBox 18"/>
            <p:cNvSpPr txBox="1"/>
            <p:nvPr/>
          </p:nvSpPr>
          <p:spPr>
            <a:xfrm>
              <a:off x="4653915" y="2267902"/>
              <a:ext cx="1860232" cy="632460"/>
            </a:xfrm>
            <a:prstGeom prst="rect">
              <a:avLst/>
            </a:prstGeom>
            <a:noFill/>
            <a:ln>
              <a:noFill/>
            </a:ln>
          </p:spPr>
          <p:txBody>
            <a:bodyPr wrap="square" lIns="0" tIns="0" rIns="0" bIns="0" anchor="t" anchorCtr="0"/>
            <a:lstStyle/>
            <a:p>
              <a:pPr algn="l">
                <a:lnSpc>
                  <a:spcPts val="1650"/>
                </a:lnSpc>
              </a:pPr>
              <a:r>
                <a:rPr lang="zh-CN" sz="1050" dirty="0">
                  <a:solidFill>
                    <a:srgbClr val="333333"/>
                  </a:solidFill>
                  <a:latin typeface="Arial"/>
                  <a:ea typeface="Microsoft YaHei"/>
                  <a:cs typeface="Arial"/>
                </a:rPr>
                <a:t xml:space="preserve">Second location expanded </a:t>
              </a:r>
              <a:r>
                <a:rPr lang="zh-CN" sz="1050" dirty="0">
                  <a:solidFill>
                    <a:srgbClr val="333333"/>
                  </a:solidFill>
                  <a:latin typeface="Arial"/>
                  <a:ea typeface="Microsoft YaHei"/>
                  <a:cs typeface="Arial"/>
                </a:rPr>
                <a:t xml:space="preserve">the customer base and </a:t>
              </a:r>
              <a:r>
                <a:rPr lang="zh-CN" sz="1050" dirty="0">
                  <a:solidFill>
                    <a:srgbClr val="333333"/>
                  </a:solidFill>
                  <a:latin typeface="Arial"/>
                  <a:ea typeface="Microsoft YaHei"/>
                  <a:cs typeface="Arial"/>
                </a:rPr>
                <a:t>reinforced dessert demand.</a:t>
              </a:r>
            </a:p>
          </p:txBody>
        </p:sp>
        <p:sp>
          <p:nvSpPr>
            <p:cNvPr id="19" name="TextBox 19"/>
            <p:cNvSpPr txBox="1"/>
            <p:nvPr/>
          </p:nvSpPr>
          <p:spPr>
            <a:xfrm>
              <a:off x="4654868" y="3133249"/>
              <a:ext cx="973884"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Growth market</a:t>
              </a:r>
            </a:p>
          </p:txBody>
        </p:sp>
      </p:grpSp>
      <p:grpSp>
        <p:nvGrpSpPr>
          <p:cNvPr id="26" name="Group 26"/>
          <p:cNvGrpSpPr/>
          <p:nvPr/>
        </p:nvGrpSpPr>
        <p:grpSpPr>
          <a:xfrm>
            <a:off x="8191500" y="1333500"/>
            <a:ext cx="3238500" cy="2095500"/>
            <a:chOff x="8191500" y="1333500"/>
            <a:chExt cx="3238500" cy="2095500"/>
          </a:xfrm>
        </p:grpSpPr>
        <p:sp>
          <p:nvSpPr>
            <p:cNvPr id="21" name="Rectangle 21"/>
            <p:cNvSpPr/>
            <p:nvPr/>
          </p:nvSpPr>
          <p:spPr>
            <a:xfrm>
              <a:off x="8191500" y="1333500"/>
              <a:ext cx="3238500" cy="2095500"/>
            </a:xfrm>
            <a:prstGeom prst="rect">
              <a:avLst/>
            </a:prstGeom>
            <a:solidFill>
              <a:srgbClr val="1A1A2E"/>
            </a:solidFill>
            <a:ln>
              <a:noFill/>
            </a:ln>
          </p:spPr>
        </p:sp>
        <p:sp>
          <p:nvSpPr>
            <p:cNvPr id="22" name="TextBox 22"/>
            <p:cNvSpPr txBox="1"/>
            <p:nvPr/>
          </p:nvSpPr>
          <p:spPr>
            <a:xfrm>
              <a:off x="8368665" y="1553528"/>
              <a:ext cx="636796" cy="213360"/>
            </a:xfrm>
            <a:prstGeom prst="rect">
              <a:avLst/>
            </a:prstGeom>
            <a:noFill/>
            <a:ln>
              <a:noFill/>
            </a:ln>
          </p:spPr>
          <p:txBody>
            <a:bodyPr wrap="none" lIns="0" tIns="0" rIns="0" bIns="0" anchor="t" anchorCtr="0">
              <a:spAutoFit/>
            </a:bodyPr>
            <a:lstStyle/>
            <a:p>
              <a:pPr algn="l"/>
              <a:r>
                <a:rPr lang="zh-CN" sz="1050" b="1" dirty="0">
                  <a:solidFill>
                    <a:srgbClr val="D04A02"/>
                  </a:solidFill>
                  <a:latin typeface="Arial"/>
                  <a:ea typeface="Microsoft YaHei"/>
                  <a:cs typeface="Arial"/>
                </a:rPr>
                <a:t>18 YEARS</a:t>
              </a:r>
            </a:p>
          </p:txBody>
        </p:sp>
        <p:sp>
          <p:nvSpPr>
            <p:cNvPr id="23" name="TextBox 23"/>
            <p:cNvSpPr txBox="1"/>
            <p:nvPr/>
          </p:nvSpPr>
          <p:spPr>
            <a:xfrm>
              <a:off x="8361045" y="1822132"/>
              <a:ext cx="1982553"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Customer Demand</a:t>
              </a:r>
            </a:p>
          </p:txBody>
        </p:sp>
        <p:sp>
          <p:nvSpPr>
            <p:cNvPr id="24" name="TextBox 24"/>
            <p:cNvSpPr txBox="1"/>
            <p:nvPr/>
          </p:nvSpPr>
          <p:spPr>
            <a:xfrm>
              <a:off x="8368665" y="2267902"/>
              <a:ext cx="2153602" cy="632460"/>
            </a:xfrm>
            <a:prstGeom prst="rect">
              <a:avLst/>
            </a:prstGeom>
            <a:noFill/>
            <a:ln>
              <a:noFill/>
            </a:ln>
          </p:spPr>
          <p:txBody>
            <a:bodyPr wrap="square" lIns="0" tIns="0" rIns="0" bIns="0" anchor="t" anchorCtr="0"/>
            <a:lstStyle/>
            <a:p>
              <a:pPr algn="l">
                <a:lnSpc>
                  <a:spcPts val="1650"/>
                </a:lnSpc>
              </a:pPr>
              <a:r>
                <a:rPr lang="zh-CN" sz="1050" dirty="0">
                  <a:solidFill>
                    <a:srgbClr val="CCCCCC"/>
                  </a:solidFill>
                  <a:latin typeface="Arial"/>
                  <a:ea typeface="Microsoft YaHei"/>
                  <a:cs typeface="Arial"/>
                </a:rPr>
                <a:t xml:space="preserve">Years of customer requests for </a:t>
              </a:r>
              <a:r>
                <a:rPr lang="zh-CN" sz="1050" dirty="0">
                  <a:solidFill>
                    <a:srgbClr val="CCCCCC"/>
                  </a:solidFill>
                  <a:latin typeface="Arial"/>
                  <a:ea typeface="Microsoft YaHei"/>
                  <a:cs typeface="Arial"/>
                </a:rPr>
                <a:t xml:space="preserve">flavored whipped cream toppings </a:t>
              </a:r>
              <a:r>
                <a:rPr lang="zh-CN" sz="1050" dirty="0">
                  <a:solidFill>
                    <a:srgbClr val="CCCCCC"/>
                  </a:solidFill>
                  <a:latin typeface="Arial"/>
                  <a:ea typeface="Microsoft YaHei"/>
                  <a:cs typeface="Arial"/>
                </a:rPr>
                <a:t>led directly to the retail pivot.</a:t>
              </a:r>
            </a:p>
          </p:txBody>
        </p:sp>
        <p:sp>
          <p:nvSpPr>
            <p:cNvPr id="25" name="TextBox 25"/>
            <p:cNvSpPr txBox="1"/>
            <p:nvPr/>
          </p:nvSpPr>
          <p:spPr>
            <a:xfrm>
              <a:off x="8369618" y="3133249"/>
              <a:ext cx="1669471"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Proven, sustained demand</a:t>
              </a:r>
            </a:p>
          </p:txBody>
        </p:sp>
      </p:grpSp>
      <p:grpSp>
        <p:nvGrpSpPr>
          <p:cNvPr id="30" name="Group 30"/>
          <p:cNvGrpSpPr/>
          <p:nvPr/>
        </p:nvGrpSpPr>
        <p:grpSpPr>
          <a:xfrm>
            <a:off x="746760" y="3810000"/>
            <a:ext cx="10683240" cy="1023938"/>
            <a:chOff x="746760" y="3810000"/>
            <a:chExt cx="10683240" cy="1023938"/>
          </a:xfrm>
        </p:grpSpPr>
        <p:sp>
          <p:nvSpPr>
            <p:cNvPr id="27" name="Rectangle 27"/>
            <p:cNvSpPr/>
            <p:nvPr/>
          </p:nvSpPr>
          <p:spPr>
            <a:xfrm>
              <a:off x="762000" y="3810000"/>
              <a:ext cx="10668000" cy="28575"/>
            </a:xfrm>
            <a:prstGeom prst="rect">
              <a:avLst/>
            </a:prstGeom>
            <a:solidFill>
              <a:srgbClr val="E0E0E0"/>
            </a:solidFill>
            <a:ln>
              <a:noFill/>
            </a:ln>
          </p:spPr>
        </p:sp>
        <p:sp>
          <p:nvSpPr>
            <p:cNvPr id="28" name="TextBox 28"/>
            <p:cNvSpPr txBox="1"/>
            <p:nvPr/>
          </p:nvSpPr>
          <p:spPr>
            <a:xfrm>
              <a:off x="746760" y="4109085"/>
              <a:ext cx="3231280"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Already producing at commercial scale.</a:t>
              </a:r>
            </a:p>
          </p:txBody>
        </p:sp>
        <p:sp>
          <p:nvSpPr>
            <p:cNvPr id="29" name="TextBox 29"/>
            <p:cNvSpPr txBox="1"/>
            <p:nvPr/>
          </p:nvSpPr>
          <p:spPr>
            <a:xfrm>
              <a:off x="748665" y="4411028"/>
              <a:ext cx="7200900" cy="422910"/>
            </a:xfrm>
            <a:prstGeom prst="rect">
              <a:avLst/>
            </a:prstGeom>
            <a:noFill/>
            <a:ln>
              <a:noFill/>
            </a:ln>
          </p:spPr>
          <p:txBody>
            <a:bodyPr wrap="square" lIns="0" tIns="0" rIns="0" bIns="0" anchor="t" anchorCtr="0"/>
            <a:lstStyle/>
            <a:p>
              <a:pPr algn="l">
                <a:lnSpc>
                  <a:spcPts val="1650"/>
                </a:lnSpc>
              </a:pPr>
              <a:r>
                <a:rPr lang="zh-CN" sz="1050" dirty="0">
                  <a:solidFill>
                    <a:srgbClr val="333333"/>
                  </a:solidFill>
                  <a:latin typeface="Arial"/>
                  <a:ea typeface="Microsoft YaHei"/>
                  <a:cs typeface="Arial"/>
                </a:rPr>
                <a:t xml:space="preserve">Fancy's Foods currently manufactures Whipped Dream for restaurant use with a 50-gallon high-speed mixer, </a:t>
              </a:r>
              <a:r>
                <a:rPr lang="zh-CN" sz="1050" dirty="0">
                  <a:solidFill>
                    <a:srgbClr val="333333"/>
                  </a:solidFill>
                  <a:latin typeface="Arial"/>
                  <a:ea typeface="Microsoft YaHei"/>
                  <a:cs typeface="Arial"/>
                </a:rPr>
                <a:t>pressurized nitrous oxide tank, and a 10×10 walk-in freezer. Production is established on a commercial scale.</a:t>
              </a:r>
            </a:p>
          </p:txBody>
        </p:sp>
      </p:grpSp>
      <p:grpSp>
        <p:nvGrpSpPr>
          <p:cNvPr id="33" name="Group 33"/>
          <p:cNvGrpSpPr/>
          <p:nvPr/>
        </p:nvGrpSpPr>
        <p:grpSpPr>
          <a:xfrm>
            <a:off x="752475" y="6538912"/>
            <a:ext cx="10687050" cy="152400"/>
            <a:chOff x="752475" y="6538912"/>
            <a:chExt cx="10687050" cy="152400"/>
          </a:xfrm>
        </p:grpSpPr>
        <p:sp>
          <p:nvSpPr>
            <p:cNvPr id="31" name="TextBox 31"/>
            <p:cNvSpPr txBox="1"/>
            <p:nvPr/>
          </p:nvSpPr>
          <p:spPr>
            <a:xfrm>
              <a:off x="752475" y="6538912"/>
              <a:ext cx="1904286"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a:ea typeface="Microsoft YaHei"/>
                  <a:cs typeface="Arial"/>
                </a:rPr>
                <a:t>Fancy's Foods — Investor Presentation</a:t>
              </a:r>
            </a:p>
          </p:txBody>
        </p:sp>
        <p:sp>
          <p:nvSpPr>
            <p:cNvPr id="32" name="TextBox 32"/>
            <p:cNvSpPr txBox="1"/>
            <p:nvPr/>
          </p:nvSpPr>
          <p:spPr>
            <a:xfrm>
              <a:off x="11310461" y="6538912"/>
              <a:ext cx="129064" cy="152400"/>
            </a:xfrm>
            <a:prstGeom prst="rect">
              <a:avLst/>
            </a:prstGeom>
            <a:noFill/>
            <a:ln>
              <a:noFill/>
            </a:ln>
          </p:spPr>
          <p:txBody>
            <a:bodyPr wrap="none" lIns="0" tIns="0" rIns="0" bIns="0" anchor="t" anchorCtr="0">
              <a:spAutoFit/>
            </a:bodyPr>
            <a:lstStyle/>
            <a:p>
              <a:pPr algn="r"/>
              <a:r>
                <a:rPr lang="zh-CN" sz="750" dirty="0">
                  <a:solidFill>
                    <a:srgbClr val="999999"/>
                  </a:solidFill>
                  <a:latin typeface="Arial"/>
                  <a:ea typeface="Microsoft YaHei"/>
                  <a:cs typeface="Arial"/>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400"/>
                                        <p:tgtEl>
                                          <p:spTgt spid="1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slide(fromBottom)">
                                      <p:cBhvr>
                                        <p:cTn id="11" dur="400"/>
                                        <p:tgtEl>
                                          <p:spTgt spid="2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slide(fromBottom)">
                                      <p:cBhvr>
                                        <p:cTn id="15" dur="400"/>
                                        <p:tgtEl>
                                          <p:spTgt spid="26"/>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left)">
                                      <p:cBhvr>
                                        <p:cTn id="1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P spid="26"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62000" y="442912"/>
            <a:ext cx="6292739" cy="457200"/>
            <a:chOff x="762000" y="442912"/>
            <a:chExt cx="6292739" cy="457200"/>
          </a:xfrm>
        </p:grpSpPr>
        <p:sp>
          <p:nvSpPr>
            <p:cNvPr id="3" name="Rectangle 3"/>
            <p:cNvSpPr/>
            <p:nvPr/>
          </p:nvSpPr>
          <p:spPr>
            <a:xfrm>
              <a:off x="762000" y="476250"/>
              <a:ext cx="38100" cy="266700"/>
            </a:xfrm>
            <a:prstGeom prst="rect">
              <a:avLst/>
            </a:prstGeom>
            <a:solidFill>
              <a:srgbClr val="D04A02"/>
            </a:solidFill>
            <a:ln>
              <a:noFill/>
            </a:ln>
          </p:spPr>
        </p:sp>
        <p:sp>
          <p:nvSpPr>
            <p:cNvPr id="4" name="TextBox 4"/>
            <p:cNvSpPr txBox="1"/>
            <p:nvPr/>
          </p:nvSpPr>
          <p:spPr>
            <a:xfrm>
              <a:off x="885825" y="442912"/>
              <a:ext cx="6168914"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Phased Market Entry — Local to Regional</a:t>
              </a:r>
            </a:p>
          </p:txBody>
        </p:sp>
      </p:grpSp>
      <p:sp>
        <p:nvSpPr>
          <p:cNvPr id="6" name="TextBox 6"/>
          <p:cNvSpPr txBox="1"/>
          <p:nvPr/>
        </p:nvSpPr>
        <p:spPr>
          <a:xfrm>
            <a:off x="746760" y="870585"/>
            <a:ext cx="5519166"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A disciplined three-phase rollout leveraging existing reputation first.</a:t>
            </a:r>
          </a:p>
        </p:txBody>
      </p:sp>
      <p:grpSp>
        <p:nvGrpSpPr>
          <p:cNvPr id="30" name="Group 30"/>
          <p:cNvGrpSpPr/>
          <p:nvPr/>
        </p:nvGrpSpPr>
        <p:grpSpPr>
          <a:xfrm>
            <a:off x="1333500" y="2505075"/>
            <a:ext cx="9525000" cy="1854994"/>
            <a:chOff x="1333500" y="2505075"/>
            <a:chExt cx="9525000" cy="1854994"/>
          </a:xfrm>
        </p:grpSpPr>
        <p:sp>
          <p:nvSpPr>
            <p:cNvPr id="7" name="Line 7"/>
            <p:cNvSpPr/>
            <p:nvPr/>
          </p:nvSpPr>
          <p:spPr>
            <a:xfrm>
              <a:off x="1333500" y="3238500"/>
              <a:ext cx="9525000" cy="9525"/>
            </a:xfrm>
            <a:custGeom>
              <a:avLst/>
              <a:gdLst/>
              <a:ahLst/>
              <a:cxnLst/>
              <a:rect l="l" t="t" r="r" b="b"/>
              <a:pathLst>
                <a:path w="9525000" h="9525">
                  <a:moveTo>
                    <a:pt x="0" y="0"/>
                  </a:moveTo>
                  <a:lnTo>
                    <a:pt x="9525000" y="0"/>
                  </a:lnTo>
                </a:path>
              </a:pathLst>
            </a:custGeom>
            <a:noFill/>
            <a:ln w="28575">
              <a:solidFill>
                <a:srgbClr val="E0E0E0"/>
              </a:solidFill>
            </a:ln>
          </p:spPr>
        </p:sp>
        <p:sp>
          <p:nvSpPr>
            <p:cNvPr id="8" name="Line 8"/>
            <p:cNvSpPr/>
            <p:nvPr/>
          </p:nvSpPr>
          <p:spPr>
            <a:xfrm>
              <a:off x="1333500" y="3238500"/>
              <a:ext cx="2857500" cy="9525"/>
            </a:xfrm>
            <a:custGeom>
              <a:avLst/>
              <a:gdLst/>
              <a:ahLst/>
              <a:cxnLst/>
              <a:rect l="l" t="t" r="r" b="b"/>
              <a:pathLst>
                <a:path w="2857500" h="9525">
                  <a:moveTo>
                    <a:pt x="0" y="0"/>
                  </a:moveTo>
                  <a:lnTo>
                    <a:pt x="2857500" y="0"/>
                  </a:lnTo>
                </a:path>
              </a:pathLst>
            </a:custGeom>
            <a:noFill/>
            <a:ln w="28575">
              <a:solidFill>
                <a:srgbClr val="0076A8"/>
              </a:solidFill>
            </a:ln>
          </p:spPr>
        </p:sp>
        <p:sp>
          <p:nvSpPr>
            <p:cNvPr id="9" name="Line 9"/>
            <p:cNvSpPr/>
            <p:nvPr/>
          </p:nvSpPr>
          <p:spPr>
            <a:xfrm>
              <a:off x="4191000" y="3238500"/>
              <a:ext cx="2857500" cy="9525"/>
            </a:xfrm>
            <a:custGeom>
              <a:avLst/>
              <a:gdLst/>
              <a:ahLst/>
              <a:cxnLst/>
              <a:rect l="l" t="t" r="r" b="b"/>
              <a:pathLst>
                <a:path w="2857500" h="9525">
                  <a:moveTo>
                    <a:pt x="0" y="0"/>
                  </a:moveTo>
                  <a:lnTo>
                    <a:pt x="2857500" y="0"/>
                  </a:lnTo>
                </a:path>
              </a:pathLst>
            </a:custGeom>
            <a:noFill/>
            <a:ln w="28575">
              <a:solidFill>
                <a:srgbClr val="0076A8"/>
              </a:solidFill>
            </a:ln>
          </p:spPr>
        </p:sp>
        <p:sp>
          <p:nvSpPr>
            <p:cNvPr id="10" name="Line 10"/>
            <p:cNvSpPr/>
            <p:nvPr/>
          </p:nvSpPr>
          <p:spPr>
            <a:xfrm>
              <a:off x="7048500" y="3238500"/>
              <a:ext cx="3810000" cy="9525"/>
            </a:xfrm>
            <a:custGeom>
              <a:avLst/>
              <a:gdLst/>
              <a:ahLst/>
              <a:cxnLst/>
              <a:rect l="l" t="t" r="r" b="b"/>
              <a:pathLst>
                <a:path w="3810000" h="9525">
                  <a:moveTo>
                    <a:pt x="0" y="0"/>
                  </a:moveTo>
                  <a:lnTo>
                    <a:pt x="3810000" y="0"/>
                  </a:lnTo>
                </a:path>
              </a:pathLst>
            </a:custGeom>
            <a:noFill/>
            <a:ln w="28575">
              <a:solidFill>
                <a:srgbClr val="D04A02"/>
              </a:solidFill>
            </a:ln>
          </p:spPr>
        </p:sp>
        <p:sp>
          <p:nvSpPr>
            <p:cNvPr id="11" name="Ellipse 11"/>
            <p:cNvSpPr/>
            <p:nvPr/>
          </p:nvSpPr>
          <p:spPr>
            <a:xfrm>
              <a:off x="2647950" y="3124200"/>
              <a:ext cx="228600" cy="228600"/>
            </a:xfrm>
            <a:prstGeom prst="ellipse">
              <a:avLst/>
            </a:prstGeom>
            <a:solidFill>
              <a:srgbClr val="FFFFFF"/>
            </a:solidFill>
            <a:ln w="28575">
              <a:solidFill>
                <a:srgbClr val="0076A8"/>
              </a:solidFill>
            </a:ln>
          </p:spPr>
        </p:sp>
        <p:sp>
          <p:nvSpPr>
            <p:cNvPr id="12" name="Ellipse 12"/>
            <p:cNvSpPr/>
            <p:nvPr/>
          </p:nvSpPr>
          <p:spPr>
            <a:xfrm>
              <a:off x="2714625" y="3190875"/>
              <a:ext cx="95250" cy="95250"/>
            </a:xfrm>
            <a:prstGeom prst="ellipse">
              <a:avLst/>
            </a:prstGeom>
            <a:solidFill>
              <a:srgbClr val="0076A8"/>
            </a:solidFill>
            <a:ln>
              <a:noFill/>
            </a:ln>
          </p:spPr>
        </p:sp>
        <p:sp>
          <p:nvSpPr>
            <p:cNvPr id="13" name="TextBox 13"/>
            <p:cNvSpPr txBox="1"/>
            <p:nvPr/>
          </p:nvSpPr>
          <p:spPr>
            <a:xfrm>
              <a:off x="2484282" y="2744152"/>
              <a:ext cx="555936" cy="213360"/>
            </a:xfrm>
            <a:prstGeom prst="rect">
              <a:avLst/>
            </a:prstGeom>
            <a:noFill/>
            <a:ln>
              <a:noFill/>
            </a:ln>
          </p:spPr>
          <p:txBody>
            <a:bodyPr wrap="none" lIns="0" tIns="0" rIns="0" bIns="0" anchor="t" anchorCtr="0">
              <a:spAutoFit/>
            </a:bodyPr>
            <a:lstStyle/>
            <a:p>
              <a:pPr algn="ctr"/>
              <a:r>
                <a:rPr lang="zh-CN" sz="1050" b="1" dirty="0">
                  <a:solidFill>
                    <a:srgbClr val="0076A8"/>
                  </a:solidFill>
                  <a:latin typeface="Arial"/>
                  <a:ea typeface="Microsoft YaHei"/>
                  <a:cs typeface="Arial"/>
                </a:rPr>
                <a:t>PHASE 1</a:t>
              </a:r>
            </a:p>
          </p:txBody>
        </p:sp>
        <p:sp>
          <p:nvSpPr>
            <p:cNvPr id="14" name="TextBox 14"/>
            <p:cNvSpPr txBox="1"/>
            <p:nvPr/>
          </p:nvSpPr>
          <p:spPr>
            <a:xfrm>
              <a:off x="2512171" y="2505075"/>
              <a:ext cx="500158" cy="304800"/>
            </a:xfrm>
            <a:prstGeom prst="rect">
              <a:avLst/>
            </a:prstGeom>
            <a:noFill/>
            <a:ln>
              <a:noFill/>
            </a:ln>
          </p:spPr>
          <p:txBody>
            <a:bodyPr wrap="none" lIns="0" tIns="0" rIns="0" bIns="0" anchor="t" anchorCtr="0">
              <a:spAutoFit/>
            </a:bodyPr>
            <a:lstStyle/>
            <a:p>
              <a:pPr algn="ctr"/>
              <a:r>
                <a:rPr lang="zh-CN" sz="1500" b="1" dirty="0">
                  <a:solidFill>
                    <a:srgbClr val="1A1A2E"/>
                  </a:solidFill>
                  <a:latin typeface="Arial"/>
                  <a:ea typeface="Microsoft YaHei"/>
                  <a:cs typeface="Arial"/>
                </a:rPr>
                <a:t>1999</a:t>
              </a:r>
            </a:p>
          </p:txBody>
        </p:sp>
        <p:sp>
          <p:nvSpPr>
            <p:cNvPr id="15" name="TextBox 15"/>
            <p:cNvSpPr txBox="1"/>
            <p:nvPr/>
          </p:nvSpPr>
          <p:spPr>
            <a:xfrm>
              <a:off x="2163137" y="3489960"/>
              <a:ext cx="1198226"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Antlers + Hugo</a:t>
              </a:r>
            </a:p>
          </p:txBody>
        </p:sp>
        <p:sp>
          <p:nvSpPr>
            <p:cNvPr id="16" name="TextBox 16"/>
            <p:cNvSpPr txBox="1"/>
            <p:nvPr/>
          </p:nvSpPr>
          <p:spPr>
            <a:xfrm>
              <a:off x="1986022" y="3752374"/>
              <a:ext cx="1552456"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5% market share target</a:t>
              </a:r>
            </a:p>
          </p:txBody>
        </p:sp>
        <p:sp>
          <p:nvSpPr>
            <p:cNvPr id="17" name="TextBox 17"/>
            <p:cNvSpPr txBox="1"/>
            <p:nvPr/>
          </p:nvSpPr>
          <p:spPr>
            <a:xfrm>
              <a:off x="1994535" y="3990499"/>
              <a:ext cx="1535430" cy="369570"/>
            </a:xfrm>
            <a:prstGeom prst="rect">
              <a:avLst/>
            </a:prstGeom>
            <a:noFill/>
            <a:ln>
              <a:noFill/>
            </a:ln>
          </p:spPr>
          <p:txBody>
            <a:bodyPr wrap="square" lIns="0" tIns="0" rIns="0" bIns="0" anchor="t" anchorCtr="0"/>
            <a:lstStyle/>
            <a:p>
              <a:pPr algn="ctr">
                <a:lnSpc>
                  <a:spcPts val="1350"/>
                </a:lnSpc>
              </a:pPr>
              <a:r>
                <a:rPr lang="zh-CN" sz="975" dirty="0">
                  <a:solidFill>
                    <a:srgbClr val="666666"/>
                  </a:solidFill>
                  <a:latin typeface="Arial"/>
                  <a:ea typeface="Microsoft YaHei"/>
                  <a:cs typeface="Arial"/>
                </a:rPr>
                <a:t xml:space="preserve">Letters of intent from </a:t>
              </a:r>
              <a:r>
                <a:rPr lang="zh-CN" sz="975" dirty="0">
                  <a:solidFill>
                    <a:srgbClr val="666666"/>
                  </a:solidFill>
                  <a:latin typeface="Arial"/>
                  <a:ea typeface="Microsoft YaHei"/>
                  <a:cs typeface="Arial"/>
                </a:rPr>
                <a:t>Pruett's IGA, Gardiner's</a:t>
              </a:r>
            </a:p>
          </p:txBody>
        </p:sp>
        <p:sp>
          <p:nvSpPr>
            <p:cNvPr id="18" name="Ellipse 18"/>
            <p:cNvSpPr/>
            <p:nvPr/>
          </p:nvSpPr>
          <p:spPr>
            <a:xfrm>
              <a:off x="5505450" y="3124200"/>
              <a:ext cx="228600" cy="228600"/>
            </a:xfrm>
            <a:prstGeom prst="ellipse">
              <a:avLst/>
            </a:prstGeom>
            <a:solidFill>
              <a:srgbClr val="FFFFFF"/>
            </a:solidFill>
            <a:ln w="28575">
              <a:solidFill>
                <a:srgbClr val="0076A8"/>
              </a:solidFill>
            </a:ln>
          </p:spPr>
        </p:sp>
        <p:sp>
          <p:nvSpPr>
            <p:cNvPr id="19" name="Ellipse 19"/>
            <p:cNvSpPr/>
            <p:nvPr/>
          </p:nvSpPr>
          <p:spPr>
            <a:xfrm>
              <a:off x="5572125" y="3190875"/>
              <a:ext cx="95250" cy="95250"/>
            </a:xfrm>
            <a:prstGeom prst="ellipse">
              <a:avLst/>
            </a:prstGeom>
            <a:solidFill>
              <a:srgbClr val="0076A8"/>
            </a:solidFill>
            <a:ln>
              <a:noFill/>
            </a:ln>
          </p:spPr>
        </p:sp>
        <p:sp>
          <p:nvSpPr>
            <p:cNvPr id="20" name="TextBox 20"/>
            <p:cNvSpPr txBox="1"/>
            <p:nvPr/>
          </p:nvSpPr>
          <p:spPr>
            <a:xfrm>
              <a:off x="5341782" y="2744152"/>
              <a:ext cx="555936" cy="213360"/>
            </a:xfrm>
            <a:prstGeom prst="rect">
              <a:avLst/>
            </a:prstGeom>
            <a:noFill/>
            <a:ln>
              <a:noFill/>
            </a:ln>
          </p:spPr>
          <p:txBody>
            <a:bodyPr wrap="none" lIns="0" tIns="0" rIns="0" bIns="0" anchor="t" anchorCtr="0">
              <a:spAutoFit/>
            </a:bodyPr>
            <a:lstStyle/>
            <a:p>
              <a:pPr algn="ctr"/>
              <a:r>
                <a:rPr lang="zh-CN" sz="1050" b="1" dirty="0">
                  <a:solidFill>
                    <a:srgbClr val="0076A8"/>
                  </a:solidFill>
                  <a:latin typeface="Arial"/>
                  <a:ea typeface="Microsoft YaHei"/>
                  <a:cs typeface="Arial"/>
                </a:rPr>
                <a:t>PHASE 2</a:t>
              </a:r>
            </a:p>
          </p:txBody>
        </p:sp>
        <p:sp>
          <p:nvSpPr>
            <p:cNvPr id="21" name="TextBox 21"/>
            <p:cNvSpPr txBox="1"/>
            <p:nvPr/>
          </p:nvSpPr>
          <p:spPr>
            <a:xfrm>
              <a:off x="5369671" y="2505075"/>
              <a:ext cx="500158" cy="304800"/>
            </a:xfrm>
            <a:prstGeom prst="rect">
              <a:avLst/>
            </a:prstGeom>
            <a:noFill/>
            <a:ln>
              <a:noFill/>
            </a:ln>
          </p:spPr>
          <p:txBody>
            <a:bodyPr wrap="none" lIns="0" tIns="0" rIns="0" bIns="0" anchor="t" anchorCtr="0">
              <a:spAutoFit/>
            </a:bodyPr>
            <a:lstStyle/>
            <a:p>
              <a:pPr algn="ctr"/>
              <a:r>
                <a:rPr lang="zh-CN" sz="1500" b="1" dirty="0">
                  <a:solidFill>
                    <a:srgbClr val="1A1A2E"/>
                  </a:solidFill>
                  <a:latin typeface="Arial"/>
                  <a:ea typeface="Microsoft YaHei"/>
                  <a:cs typeface="Arial"/>
                </a:rPr>
                <a:t>1999</a:t>
              </a:r>
            </a:p>
          </p:txBody>
        </p:sp>
        <p:sp>
          <p:nvSpPr>
            <p:cNvPr id="22" name="TextBox 22"/>
            <p:cNvSpPr txBox="1"/>
            <p:nvPr/>
          </p:nvSpPr>
          <p:spPr>
            <a:xfrm>
              <a:off x="5033239" y="3489960"/>
              <a:ext cx="1173023"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Oklahoma City</a:t>
              </a:r>
            </a:p>
          </p:txBody>
        </p:sp>
        <p:sp>
          <p:nvSpPr>
            <p:cNvPr id="23" name="TextBox 23"/>
            <p:cNvSpPr txBox="1"/>
            <p:nvPr/>
          </p:nvSpPr>
          <p:spPr>
            <a:xfrm>
              <a:off x="4793218" y="3752374"/>
              <a:ext cx="1653064" cy="541020"/>
            </a:xfrm>
            <a:prstGeom prst="rect">
              <a:avLst/>
            </a:prstGeom>
            <a:noFill/>
            <a:ln>
              <a:noFill/>
            </a:ln>
          </p:spPr>
          <p:txBody>
            <a:bodyPr wrap="square" lIns="0" tIns="0" rIns="0" bIns="0" anchor="t" anchorCtr="0"/>
            <a:lstStyle/>
            <a:p>
              <a:pPr algn="ctr">
                <a:lnSpc>
                  <a:spcPts val="1350"/>
                </a:lnSpc>
              </a:pPr>
              <a:r>
                <a:rPr lang="zh-CN" sz="975" dirty="0">
                  <a:solidFill>
                    <a:srgbClr val="666666"/>
                  </a:solidFill>
                  <a:latin typeface="Arial"/>
                  <a:ea typeface="Microsoft YaHei"/>
                  <a:cs typeface="Arial"/>
                </a:rPr>
                <a:t xml:space="preserve">"Made in Oklahoma" </a:t>
              </a:r>
              <a:r>
                <a:rPr lang="zh-CN" sz="975" dirty="0">
                  <a:solidFill>
                    <a:srgbClr val="666666"/>
                  </a:solidFill>
                  <a:latin typeface="Arial"/>
                  <a:ea typeface="Microsoft YaHei"/>
                  <a:cs typeface="Arial"/>
                </a:rPr>
                <a:t xml:space="preserve">Demonstration Program via </a:t>
              </a:r>
              <a:r>
                <a:rPr lang="zh-CN" sz="975" dirty="0">
                  <a:solidFill>
                    <a:srgbClr val="666666"/>
                  </a:solidFill>
                  <a:latin typeface="Arial"/>
                  <a:ea typeface="Microsoft YaHei"/>
                  <a:cs typeface="Arial"/>
                </a:rPr>
                <a:t>OK Dept. of Agriculture</a:t>
              </a:r>
            </a:p>
          </p:txBody>
        </p:sp>
        <p:sp>
          <p:nvSpPr>
            <p:cNvPr id="24" name="Ellipse 24"/>
            <p:cNvSpPr/>
            <p:nvPr/>
          </p:nvSpPr>
          <p:spPr>
            <a:xfrm>
              <a:off x="8839200" y="3124200"/>
              <a:ext cx="228600" cy="228600"/>
            </a:xfrm>
            <a:prstGeom prst="ellipse">
              <a:avLst/>
            </a:prstGeom>
            <a:solidFill>
              <a:srgbClr val="FFFFFF"/>
            </a:solidFill>
            <a:ln w="28575">
              <a:solidFill>
                <a:srgbClr val="D04A02"/>
              </a:solidFill>
            </a:ln>
          </p:spPr>
        </p:sp>
        <p:sp>
          <p:nvSpPr>
            <p:cNvPr id="25" name="Ellipse 25"/>
            <p:cNvSpPr/>
            <p:nvPr/>
          </p:nvSpPr>
          <p:spPr>
            <a:xfrm>
              <a:off x="8905875" y="3190875"/>
              <a:ext cx="95250" cy="95250"/>
            </a:xfrm>
            <a:prstGeom prst="ellipse">
              <a:avLst/>
            </a:prstGeom>
            <a:solidFill>
              <a:srgbClr val="D04A02"/>
            </a:solidFill>
            <a:ln>
              <a:noFill/>
            </a:ln>
          </p:spPr>
        </p:sp>
        <p:sp>
          <p:nvSpPr>
            <p:cNvPr id="26" name="TextBox 26"/>
            <p:cNvSpPr txBox="1"/>
            <p:nvPr/>
          </p:nvSpPr>
          <p:spPr>
            <a:xfrm>
              <a:off x="8675532" y="2744152"/>
              <a:ext cx="555936" cy="213360"/>
            </a:xfrm>
            <a:prstGeom prst="rect">
              <a:avLst/>
            </a:prstGeom>
            <a:noFill/>
            <a:ln>
              <a:noFill/>
            </a:ln>
          </p:spPr>
          <p:txBody>
            <a:bodyPr wrap="none" lIns="0" tIns="0" rIns="0" bIns="0" anchor="t" anchorCtr="0">
              <a:spAutoFit/>
            </a:bodyPr>
            <a:lstStyle/>
            <a:p>
              <a:pPr algn="ctr"/>
              <a:r>
                <a:rPr lang="zh-CN" sz="1050" b="1" dirty="0">
                  <a:solidFill>
                    <a:srgbClr val="D04A02"/>
                  </a:solidFill>
                  <a:latin typeface="Arial"/>
                  <a:ea typeface="Microsoft YaHei"/>
                  <a:cs typeface="Arial"/>
                </a:rPr>
                <a:t>PHASE 3</a:t>
              </a:r>
            </a:p>
          </p:txBody>
        </p:sp>
        <p:sp>
          <p:nvSpPr>
            <p:cNvPr id="27" name="TextBox 27"/>
            <p:cNvSpPr txBox="1"/>
            <p:nvPr/>
          </p:nvSpPr>
          <p:spPr>
            <a:xfrm>
              <a:off x="8414635" y="2505075"/>
              <a:ext cx="1077730" cy="304800"/>
            </a:xfrm>
            <a:prstGeom prst="rect">
              <a:avLst/>
            </a:prstGeom>
            <a:noFill/>
            <a:ln>
              <a:noFill/>
            </a:ln>
          </p:spPr>
          <p:txBody>
            <a:bodyPr wrap="none" lIns="0" tIns="0" rIns="0" bIns="0" anchor="t" anchorCtr="0">
              <a:spAutoFit/>
            </a:bodyPr>
            <a:lstStyle/>
            <a:p>
              <a:pPr algn="ctr"/>
              <a:r>
                <a:rPr lang="zh-CN" sz="1500" b="1" dirty="0">
                  <a:solidFill>
                    <a:srgbClr val="1A1A2E"/>
                  </a:solidFill>
                  <a:latin typeface="Arial"/>
                  <a:ea typeface="Microsoft YaHei"/>
                  <a:cs typeface="Arial"/>
                </a:rPr>
                <a:t>2000–2001</a:t>
              </a:r>
            </a:p>
          </p:txBody>
        </p:sp>
        <p:sp>
          <p:nvSpPr>
            <p:cNvPr id="28" name="TextBox 28"/>
            <p:cNvSpPr txBox="1"/>
            <p:nvPr/>
          </p:nvSpPr>
          <p:spPr>
            <a:xfrm>
              <a:off x="8408994" y="3489960"/>
              <a:ext cx="1089012"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Tulsa Market</a:t>
              </a:r>
            </a:p>
          </p:txBody>
        </p:sp>
        <p:sp>
          <p:nvSpPr>
            <p:cNvPr id="29" name="TextBox 29"/>
            <p:cNvSpPr txBox="1"/>
            <p:nvPr/>
          </p:nvSpPr>
          <p:spPr>
            <a:xfrm>
              <a:off x="8133159" y="3752374"/>
              <a:ext cx="1640681" cy="541020"/>
            </a:xfrm>
            <a:prstGeom prst="rect">
              <a:avLst/>
            </a:prstGeom>
            <a:noFill/>
            <a:ln>
              <a:noFill/>
            </a:ln>
          </p:spPr>
          <p:txBody>
            <a:bodyPr wrap="square" lIns="0" tIns="0" rIns="0" bIns="0" anchor="t" anchorCtr="0"/>
            <a:lstStyle/>
            <a:p>
              <a:pPr algn="ctr">
                <a:lnSpc>
                  <a:spcPts val="1350"/>
                </a:lnSpc>
              </a:pPr>
              <a:r>
                <a:rPr lang="zh-CN" sz="975" dirty="0">
                  <a:solidFill>
                    <a:srgbClr val="666666"/>
                  </a:solidFill>
                  <a:latin typeface="Arial"/>
                  <a:ea typeface="Microsoft YaHei"/>
                  <a:cs typeface="Arial"/>
                </a:rPr>
                <a:t xml:space="preserve">Grocery + specialty stores </a:t>
              </a:r>
              <a:r>
                <a:rPr lang="zh-CN" sz="975" dirty="0">
                  <a:solidFill>
                    <a:srgbClr val="666666"/>
                  </a:solidFill>
                  <a:latin typeface="Arial"/>
                  <a:ea typeface="Microsoft YaHei"/>
                  <a:cs typeface="Arial"/>
                </a:rPr>
                <a:t xml:space="preserve">In-store demos and </a:t>
              </a:r>
              <a:r>
                <a:rPr lang="zh-CN" sz="975" dirty="0">
                  <a:solidFill>
                    <a:srgbClr val="666666"/>
                  </a:solidFill>
                  <a:latin typeface="Arial"/>
                  <a:ea typeface="Microsoft YaHei"/>
                  <a:cs typeface="Arial"/>
                </a:rPr>
                <a:t>promotional events</a:t>
              </a:r>
            </a:p>
          </p:txBody>
        </p:sp>
      </p:grpSp>
      <p:grpSp>
        <p:nvGrpSpPr>
          <p:cNvPr id="37" name="Group 37"/>
          <p:cNvGrpSpPr/>
          <p:nvPr/>
        </p:nvGrpSpPr>
        <p:grpSpPr>
          <a:xfrm>
            <a:off x="748665" y="4953000"/>
            <a:ext cx="10681335" cy="1038225"/>
            <a:chOff x="748665" y="4953000"/>
            <a:chExt cx="10681335" cy="1038225"/>
          </a:xfrm>
        </p:grpSpPr>
        <p:sp>
          <p:nvSpPr>
            <p:cNvPr id="31" name="Rectangle 31"/>
            <p:cNvSpPr/>
            <p:nvPr/>
          </p:nvSpPr>
          <p:spPr>
            <a:xfrm>
              <a:off x="762000" y="4953000"/>
              <a:ext cx="10668000" cy="19050"/>
            </a:xfrm>
            <a:prstGeom prst="rect">
              <a:avLst/>
            </a:prstGeom>
            <a:solidFill>
              <a:srgbClr val="E0E0E0"/>
            </a:solidFill>
            <a:ln>
              <a:noFill/>
            </a:ln>
          </p:spPr>
        </p:sp>
        <p:sp>
          <p:nvSpPr>
            <p:cNvPr id="32" name="TextBox 32"/>
            <p:cNvSpPr txBox="1"/>
            <p:nvPr/>
          </p:nvSpPr>
          <p:spPr>
            <a:xfrm>
              <a:off x="748665" y="5173028"/>
              <a:ext cx="3782989"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a:ea typeface="Microsoft YaHei"/>
                  <a:cs typeface="Arial"/>
                </a:rPr>
                <a:t>Unit Sales Trajectory (5% → 10% market share ramp)</a:t>
              </a:r>
            </a:p>
          </p:txBody>
        </p:sp>
        <p:sp>
          <p:nvSpPr>
            <p:cNvPr id="33" name="TextBox 33"/>
            <p:cNvSpPr txBox="1"/>
            <p:nvPr/>
          </p:nvSpPr>
          <p:spPr>
            <a:xfrm>
              <a:off x="2190798" y="5514499"/>
              <a:ext cx="1142905" cy="198120"/>
            </a:xfrm>
            <a:prstGeom prst="rect">
              <a:avLst/>
            </a:prstGeom>
            <a:noFill/>
            <a:ln>
              <a:noFill/>
            </a:ln>
          </p:spPr>
          <p:txBody>
            <a:bodyPr wrap="none" lIns="0" tIns="0" rIns="0" bIns="0" anchor="t" anchorCtr="0">
              <a:spAutoFit/>
            </a:bodyPr>
            <a:lstStyle/>
            <a:p>
              <a:pPr algn="ctr"/>
              <a:r>
                <a:rPr lang="zh-CN" sz="975" dirty="0">
                  <a:solidFill>
                    <a:srgbClr val="0076A8"/>
                  </a:solidFill>
                  <a:latin typeface="Arial"/>
                  <a:ea typeface="Microsoft YaHei"/>
                  <a:cs typeface="Arial"/>
                </a:rPr>
                <a:t>Y1: 105,000 units</a:t>
              </a:r>
            </a:p>
          </p:txBody>
        </p:sp>
        <p:sp>
          <p:nvSpPr>
            <p:cNvPr id="34" name="TextBox 34"/>
            <p:cNvSpPr txBox="1"/>
            <p:nvPr/>
          </p:nvSpPr>
          <p:spPr>
            <a:xfrm>
              <a:off x="5048298" y="5514499"/>
              <a:ext cx="1142905" cy="198120"/>
            </a:xfrm>
            <a:prstGeom prst="rect">
              <a:avLst/>
            </a:prstGeom>
            <a:noFill/>
            <a:ln>
              <a:noFill/>
            </a:ln>
          </p:spPr>
          <p:txBody>
            <a:bodyPr wrap="none" lIns="0" tIns="0" rIns="0" bIns="0" anchor="t" anchorCtr="0">
              <a:spAutoFit/>
            </a:bodyPr>
            <a:lstStyle/>
            <a:p>
              <a:pPr algn="ctr"/>
              <a:r>
                <a:rPr lang="zh-CN" sz="975" dirty="0">
                  <a:solidFill>
                    <a:srgbClr val="0076A8"/>
                  </a:solidFill>
                  <a:latin typeface="Arial"/>
                  <a:ea typeface="Microsoft YaHei"/>
                  <a:cs typeface="Arial"/>
                </a:rPr>
                <a:t>Y2: 186,000 units</a:t>
              </a:r>
            </a:p>
          </p:txBody>
        </p:sp>
        <p:sp>
          <p:nvSpPr>
            <p:cNvPr id="35" name="TextBox 35"/>
            <p:cNvSpPr txBox="1"/>
            <p:nvPr/>
          </p:nvSpPr>
          <p:spPr>
            <a:xfrm>
              <a:off x="8382048" y="5514499"/>
              <a:ext cx="1142905" cy="198120"/>
            </a:xfrm>
            <a:prstGeom prst="rect">
              <a:avLst/>
            </a:prstGeom>
            <a:noFill/>
            <a:ln>
              <a:noFill/>
            </a:ln>
          </p:spPr>
          <p:txBody>
            <a:bodyPr wrap="none" lIns="0" tIns="0" rIns="0" bIns="0" anchor="t" anchorCtr="0">
              <a:spAutoFit/>
            </a:bodyPr>
            <a:lstStyle/>
            <a:p>
              <a:pPr algn="ctr"/>
              <a:r>
                <a:rPr lang="zh-CN" sz="975" dirty="0">
                  <a:solidFill>
                    <a:srgbClr val="D04A02"/>
                  </a:solidFill>
                  <a:latin typeface="Arial"/>
                  <a:ea typeface="Microsoft YaHei"/>
                  <a:cs typeface="Arial"/>
                </a:rPr>
                <a:t>Y3: 258,600 units</a:t>
              </a:r>
            </a:p>
          </p:txBody>
        </p:sp>
        <p:sp>
          <p:nvSpPr>
            <p:cNvPr id="36" name="TextBox 36"/>
            <p:cNvSpPr txBox="1"/>
            <p:nvPr/>
          </p:nvSpPr>
          <p:spPr>
            <a:xfrm>
              <a:off x="750570" y="5808345"/>
              <a:ext cx="4031361"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Based on 5% initial market share, 10% YoY sales increase per market</a:t>
              </a:r>
            </a:p>
          </p:txBody>
        </p:sp>
      </p:grpSp>
      <p:grpSp>
        <p:nvGrpSpPr>
          <p:cNvPr id="40" name="Group 40"/>
          <p:cNvGrpSpPr/>
          <p:nvPr/>
        </p:nvGrpSpPr>
        <p:grpSpPr>
          <a:xfrm>
            <a:off x="752475" y="6538912"/>
            <a:ext cx="10687050" cy="152400"/>
            <a:chOff x="752475" y="6538912"/>
            <a:chExt cx="10687050" cy="152400"/>
          </a:xfrm>
        </p:grpSpPr>
        <p:sp>
          <p:nvSpPr>
            <p:cNvPr id="38" name="TextBox 38"/>
            <p:cNvSpPr txBox="1"/>
            <p:nvPr/>
          </p:nvSpPr>
          <p:spPr>
            <a:xfrm>
              <a:off x="752475" y="6538912"/>
              <a:ext cx="1904286"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a:ea typeface="Microsoft YaHei"/>
                  <a:cs typeface="Arial"/>
                </a:rPr>
                <a:t>Fancy's Foods — Investor Presentation</a:t>
              </a:r>
            </a:p>
          </p:txBody>
        </p:sp>
        <p:sp>
          <p:nvSpPr>
            <p:cNvPr id="39" name="TextBox 39"/>
            <p:cNvSpPr txBox="1"/>
            <p:nvPr/>
          </p:nvSpPr>
          <p:spPr>
            <a:xfrm>
              <a:off x="11310461" y="6538912"/>
              <a:ext cx="129064" cy="152400"/>
            </a:xfrm>
            <a:prstGeom prst="rect">
              <a:avLst/>
            </a:prstGeom>
            <a:noFill/>
            <a:ln>
              <a:noFill/>
            </a:ln>
          </p:spPr>
          <p:txBody>
            <a:bodyPr wrap="none" lIns="0" tIns="0" rIns="0" bIns="0" anchor="t" anchorCtr="0">
              <a:spAutoFit/>
            </a:bodyPr>
            <a:lstStyle/>
            <a:p>
              <a:pPr algn="r"/>
              <a:r>
                <a:rPr lang="zh-CN" sz="750" dirty="0">
                  <a:solidFill>
                    <a:srgbClr val="999999"/>
                  </a:solidFill>
                  <a:latin typeface="Arial"/>
                  <a:ea typeface="Microsoft YaHei"/>
                  <a:cs typeface="Arial"/>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400"/>
                                        <p:tgtEl>
                                          <p:spTgt spid="30"/>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image">
                                      <p:cBhvr>
                                        <p:cTn id="1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62000" y="442912"/>
            <a:ext cx="4292239" cy="457200"/>
            <a:chOff x="762000" y="442912"/>
            <a:chExt cx="4292239" cy="457200"/>
          </a:xfrm>
        </p:grpSpPr>
        <p:sp>
          <p:nvSpPr>
            <p:cNvPr id="3" name="Rectangle 3"/>
            <p:cNvSpPr/>
            <p:nvPr/>
          </p:nvSpPr>
          <p:spPr>
            <a:xfrm>
              <a:off x="762000" y="476250"/>
              <a:ext cx="38100" cy="266700"/>
            </a:xfrm>
            <a:prstGeom prst="rect">
              <a:avLst/>
            </a:prstGeom>
            <a:solidFill>
              <a:srgbClr val="D04A02"/>
            </a:solidFill>
            <a:ln>
              <a:noFill/>
            </a:ln>
          </p:spPr>
        </p:sp>
        <p:sp>
          <p:nvSpPr>
            <p:cNvPr id="4" name="TextBox 4"/>
            <p:cNvSpPr txBox="1"/>
            <p:nvPr/>
          </p:nvSpPr>
          <p:spPr>
            <a:xfrm>
              <a:off x="885825" y="442912"/>
              <a:ext cx="4168414"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Two Formats, One Product</a:t>
              </a:r>
            </a:p>
          </p:txBody>
        </p:sp>
      </p:grpSp>
      <p:sp>
        <p:nvSpPr>
          <p:cNvPr id="6" name="TextBox 6"/>
          <p:cNvSpPr txBox="1"/>
          <p:nvPr/>
        </p:nvSpPr>
        <p:spPr>
          <a:xfrm>
            <a:off x="746760" y="870585"/>
            <a:ext cx="8175498"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Dual format strategy captures both market segments — frozen tubs (65%) and pressurized cans (35%).</a:t>
            </a:r>
          </a:p>
        </p:txBody>
      </p:sp>
      <p:grpSp>
        <p:nvGrpSpPr>
          <p:cNvPr id="37" name="Group 37"/>
          <p:cNvGrpSpPr/>
          <p:nvPr/>
        </p:nvGrpSpPr>
        <p:grpSpPr>
          <a:xfrm>
            <a:off x="762000" y="1333500"/>
            <a:ext cx="10668000" cy="2695575"/>
            <a:chOff x="762000" y="1333500"/>
            <a:chExt cx="10668000" cy="2695575"/>
          </a:xfrm>
        </p:grpSpPr>
        <p:sp>
          <p:nvSpPr>
            <p:cNvPr id="7" name="Rectangle 7"/>
            <p:cNvSpPr/>
            <p:nvPr/>
          </p:nvSpPr>
          <p:spPr>
            <a:xfrm>
              <a:off x="762000" y="1333500"/>
              <a:ext cx="10668000" cy="400050"/>
            </a:xfrm>
            <a:prstGeom prst="rect">
              <a:avLst/>
            </a:prstGeom>
            <a:solidFill>
              <a:srgbClr val="1A1A2E"/>
            </a:solidFill>
            <a:ln>
              <a:noFill/>
            </a:ln>
          </p:spPr>
        </p:sp>
        <p:sp>
          <p:nvSpPr>
            <p:cNvPr id="8" name="TextBox 8"/>
            <p:cNvSpPr txBox="1"/>
            <p:nvPr/>
          </p:nvSpPr>
          <p:spPr>
            <a:xfrm>
              <a:off x="1320165" y="1477328"/>
              <a:ext cx="717656"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Attribute</a:t>
              </a:r>
            </a:p>
          </p:txBody>
        </p:sp>
        <p:sp>
          <p:nvSpPr>
            <p:cNvPr id="9" name="TextBox 9"/>
            <p:cNvSpPr txBox="1"/>
            <p:nvPr/>
          </p:nvSpPr>
          <p:spPr>
            <a:xfrm>
              <a:off x="4894312" y="1477328"/>
              <a:ext cx="879377"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Frozen Tubs</a:t>
              </a:r>
            </a:p>
          </p:txBody>
        </p:sp>
        <p:sp>
          <p:nvSpPr>
            <p:cNvPr id="10" name="TextBox 10"/>
            <p:cNvSpPr txBox="1"/>
            <p:nvPr/>
          </p:nvSpPr>
          <p:spPr>
            <a:xfrm>
              <a:off x="8520539" y="1477328"/>
              <a:ext cx="1246923"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Pressurized Cans</a:t>
              </a:r>
            </a:p>
          </p:txBody>
        </p:sp>
        <p:sp>
          <p:nvSpPr>
            <p:cNvPr id="11" name="Rectangle 11"/>
            <p:cNvSpPr/>
            <p:nvPr/>
          </p:nvSpPr>
          <p:spPr>
            <a:xfrm>
              <a:off x="762000" y="1733550"/>
              <a:ext cx="10668000" cy="476250"/>
            </a:xfrm>
            <a:prstGeom prst="rect">
              <a:avLst/>
            </a:prstGeom>
            <a:solidFill>
              <a:srgbClr val="F5F5F5"/>
            </a:solidFill>
            <a:ln>
              <a:noFill/>
            </a:ln>
          </p:spPr>
        </p:sp>
        <p:sp>
          <p:nvSpPr>
            <p:cNvPr id="12" name="TextBox 12"/>
            <p:cNvSpPr txBox="1"/>
            <p:nvPr/>
          </p:nvSpPr>
          <p:spPr>
            <a:xfrm>
              <a:off x="1320165" y="1915478"/>
              <a:ext cx="989640"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Market Share</a:t>
              </a:r>
            </a:p>
          </p:txBody>
        </p:sp>
        <p:sp>
          <p:nvSpPr>
            <p:cNvPr id="13" name="TextBox 13"/>
            <p:cNvSpPr txBox="1"/>
            <p:nvPr/>
          </p:nvSpPr>
          <p:spPr>
            <a:xfrm>
              <a:off x="5078011" y="1834515"/>
              <a:ext cx="511978" cy="365760"/>
            </a:xfrm>
            <a:prstGeom prst="rect">
              <a:avLst/>
            </a:prstGeom>
            <a:noFill/>
            <a:ln>
              <a:noFill/>
            </a:ln>
          </p:spPr>
          <p:txBody>
            <a:bodyPr wrap="none" lIns="0" tIns="0" rIns="0" bIns="0" anchor="t" anchorCtr="0">
              <a:spAutoFit/>
            </a:bodyPr>
            <a:lstStyle/>
            <a:p>
              <a:pPr algn="ctr"/>
              <a:r>
                <a:rPr lang="zh-CN" sz="1800" b="1" dirty="0">
                  <a:solidFill>
                    <a:srgbClr val="D04A02"/>
                  </a:solidFill>
                  <a:latin typeface="Arial"/>
                  <a:ea typeface="Microsoft YaHei"/>
                  <a:cs typeface="Arial"/>
                </a:rPr>
                <a:t>65%</a:t>
              </a:r>
            </a:p>
          </p:txBody>
        </p:sp>
        <p:sp>
          <p:nvSpPr>
            <p:cNvPr id="14" name="TextBox 14"/>
            <p:cNvSpPr txBox="1"/>
            <p:nvPr/>
          </p:nvSpPr>
          <p:spPr>
            <a:xfrm>
              <a:off x="8888011" y="1834515"/>
              <a:ext cx="511978" cy="365760"/>
            </a:xfrm>
            <a:prstGeom prst="rect">
              <a:avLst/>
            </a:prstGeom>
            <a:noFill/>
            <a:ln>
              <a:noFill/>
            </a:ln>
          </p:spPr>
          <p:txBody>
            <a:bodyPr wrap="none" lIns="0" tIns="0" rIns="0" bIns="0" anchor="t" anchorCtr="0">
              <a:spAutoFit/>
            </a:bodyPr>
            <a:lstStyle/>
            <a:p>
              <a:pPr algn="ctr"/>
              <a:r>
                <a:rPr lang="zh-CN" sz="1800" b="1" dirty="0">
                  <a:solidFill>
                    <a:srgbClr val="0076A8"/>
                  </a:solidFill>
                  <a:latin typeface="Arial"/>
                  <a:ea typeface="Microsoft YaHei"/>
                  <a:cs typeface="Arial"/>
                </a:rPr>
                <a:t>35%</a:t>
              </a:r>
            </a:p>
          </p:txBody>
        </p:sp>
        <p:sp>
          <p:nvSpPr>
            <p:cNvPr id="15" name="Rectangle 15"/>
            <p:cNvSpPr/>
            <p:nvPr/>
          </p:nvSpPr>
          <p:spPr>
            <a:xfrm>
              <a:off x="762000" y="2209800"/>
              <a:ext cx="10668000" cy="419100"/>
            </a:xfrm>
            <a:prstGeom prst="rect">
              <a:avLst/>
            </a:prstGeom>
            <a:solidFill>
              <a:srgbClr val="FFFFFF"/>
            </a:solidFill>
            <a:ln>
              <a:noFill/>
            </a:ln>
          </p:spPr>
        </p:sp>
        <p:sp>
          <p:nvSpPr>
            <p:cNvPr id="16" name="TextBox 16"/>
            <p:cNvSpPr txBox="1"/>
            <p:nvPr/>
          </p:nvSpPr>
          <p:spPr>
            <a:xfrm>
              <a:off x="1320165" y="2363152"/>
              <a:ext cx="394216"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Sizes</a:t>
              </a:r>
            </a:p>
          </p:txBody>
        </p:sp>
        <p:sp>
          <p:nvSpPr>
            <p:cNvPr id="17" name="TextBox 17"/>
            <p:cNvSpPr txBox="1"/>
            <p:nvPr/>
          </p:nvSpPr>
          <p:spPr>
            <a:xfrm>
              <a:off x="4498062" y="2363152"/>
              <a:ext cx="1671876"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8 oz &amp; 12 oz plastic tubs</a:t>
              </a:r>
            </a:p>
          </p:txBody>
        </p:sp>
        <p:sp>
          <p:nvSpPr>
            <p:cNvPr id="18" name="TextBox 18"/>
            <p:cNvSpPr txBox="1"/>
            <p:nvPr/>
          </p:nvSpPr>
          <p:spPr>
            <a:xfrm>
              <a:off x="8392073" y="2363152"/>
              <a:ext cx="1503855"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6 oz pressurized cans</a:t>
              </a:r>
            </a:p>
          </p:txBody>
        </p:sp>
        <p:sp>
          <p:nvSpPr>
            <p:cNvPr id="19" name="Rectangle 19"/>
            <p:cNvSpPr/>
            <p:nvPr/>
          </p:nvSpPr>
          <p:spPr>
            <a:xfrm>
              <a:off x="762000" y="2628900"/>
              <a:ext cx="10668000" cy="476250"/>
            </a:xfrm>
            <a:prstGeom prst="rect">
              <a:avLst/>
            </a:prstGeom>
            <a:solidFill>
              <a:srgbClr val="F5F5F5"/>
            </a:solidFill>
            <a:ln>
              <a:noFill/>
            </a:ln>
          </p:spPr>
        </p:sp>
        <p:sp>
          <p:nvSpPr>
            <p:cNvPr id="20" name="TextBox 20"/>
            <p:cNvSpPr txBox="1"/>
            <p:nvPr/>
          </p:nvSpPr>
          <p:spPr>
            <a:xfrm>
              <a:off x="1320165" y="2810828"/>
              <a:ext cx="798516"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Production</a:t>
              </a:r>
            </a:p>
          </p:txBody>
        </p:sp>
        <p:sp>
          <p:nvSpPr>
            <p:cNvPr id="21" name="TextBox 21"/>
            <p:cNvSpPr txBox="1"/>
            <p:nvPr/>
          </p:nvSpPr>
          <p:spPr>
            <a:xfrm>
              <a:off x="4249531" y="2744152"/>
              <a:ext cx="2168938"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In-house at restaurant facility</a:t>
              </a:r>
            </a:p>
          </p:txBody>
        </p:sp>
        <p:sp>
          <p:nvSpPr>
            <p:cNvPr id="22" name="TextBox 22"/>
            <p:cNvSpPr txBox="1"/>
            <p:nvPr/>
          </p:nvSpPr>
          <p:spPr>
            <a:xfrm>
              <a:off x="4446461" y="2950845"/>
              <a:ext cx="1775079"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50-gal mixer, walk-in freezer</a:t>
              </a:r>
            </a:p>
          </p:txBody>
        </p:sp>
        <p:sp>
          <p:nvSpPr>
            <p:cNvPr id="23" name="TextBox 23"/>
            <p:cNvSpPr txBox="1"/>
            <p:nvPr/>
          </p:nvSpPr>
          <p:spPr>
            <a:xfrm>
              <a:off x="8245054" y="2744152"/>
              <a:ext cx="1797891"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Contracted to Farm Fresh</a:t>
              </a:r>
            </a:p>
          </p:txBody>
        </p:sp>
        <p:sp>
          <p:nvSpPr>
            <p:cNvPr id="24" name="TextBox 24"/>
            <p:cNvSpPr txBox="1"/>
            <p:nvPr/>
          </p:nvSpPr>
          <p:spPr>
            <a:xfrm>
              <a:off x="8151447" y="2950845"/>
              <a:ext cx="1985105"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OK dairy processor (NDA in place)</a:t>
              </a:r>
            </a:p>
          </p:txBody>
        </p:sp>
        <p:sp>
          <p:nvSpPr>
            <p:cNvPr id="25" name="Rectangle 25"/>
            <p:cNvSpPr/>
            <p:nvPr/>
          </p:nvSpPr>
          <p:spPr>
            <a:xfrm>
              <a:off x="762000" y="3105150"/>
              <a:ext cx="10668000" cy="419100"/>
            </a:xfrm>
            <a:prstGeom prst="rect">
              <a:avLst/>
            </a:prstGeom>
            <a:solidFill>
              <a:srgbClr val="FFFFFF"/>
            </a:solidFill>
            <a:ln>
              <a:noFill/>
            </a:ln>
          </p:spPr>
        </p:sp>
        <p:sp>
          <p:nvSpPr>
            <p:cNvPr id="26" name="TextBox 26"/>
            <p:cNvSpPr txBox="1"/>
            <p:nvPr/>
          </p:nvSpPr>
          <p:spPr>
            <a:xfrm>
              <a:off x="1320165" y="3258502"/>
              <a:ext cx="725007"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Shelf Life</a:t>
              </a:r>
            </a:p>
          </p:txBody>
        </p:sp>
        <p:sp>
          <p:nvSpPr>
            <p:cNvPr id="27" name="TextBox 27"/>
            <p:cNvSpPr txBox="1"/>
            <p:nvPr/>
          </p:nvSpPr>
          <p:spPr>
            <a:xfrm>
              <a:off x="4568071" y="3258502"/>
              <a:ext cx="1531858"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Up to 6 months frozen</a:t>
              </a:r>
            </a:p>
          </p:txBody>
        </p:sp>
        <p:sp>
          <p:nvSpPr>
            <p:cNvPr id="28" name="TextBox 28"/>
            <p:cNvSpPr txBox="1"/>
            <p:nvPr/>
          </p:nvSpPr>
          <p:spPr>
            <a:xfrm>
              <a:off x="8413075" y="3258502"/>
              <a:ext cx="1461849" cy="213360"/>
            </a:xfrm>
            <a:prstGeom prst="rect">
              <a:avLst/>
            </a:prstGeom>
            <a:noFill/>
            <a:ln>
              <a:noFill/>
            </a:ln>
          </p:spPr>
          <p:txBody>
            <a:bodyPr wrap="none" lIns="0" tIns="0" rIns="0" bIns="0" anchor="t" anchorCtr="0">
              <a:spAutoFit/>
            </a:bodyPr>
            <a:lstStyle/>
            <a:p>
              <a:pPr algn="ctr"/>
              <a:r>
                <a:rPr lang="zh-CN" sz="1050" dirty="0">
                  <a:solidFill>
                    <a:srgbClr val="333333"/>
                  </a:solidFill>
                  <a:latin typeface="Arial"/>
                  <a:ea typeface="Microsoft YaHei"/>
                  <a:cs typeface="Arial"/>
                </a:rPr>
                <a:t>21 days refrigerated</a:t>
              </a:r>
            </a:p>
          </p:txBody>
        </p:sp>
        <p:sp>
          <p:nvSpPr>
            <p:cNvPr id="29" name="Rectangle 29"/>
            <p:cNvSpPr/>
            <p:nvPr/>
          </p:nvSpPr>
          <p:spPr>
            <a:xfrm>
              <a:off x="762000" y="3524250"/>
              <a:ext cx="10668000" cy="476250"/>
            </a:xfrm>
            <a:prstGeom prst="rect">
              <a:avLst/>
            </a:prstGeom>
            <a:solidFill>
              <a:srgbClr val="F5F5F5"/>
            </a:solidFill>
            <a:ln>
              <a:noFill/>
            </a:ln>
          </p:spPr>
        </p:sp>
        <p:sp>
          <p:nvSpPr>
            <p:cNvPr id="30" name="TextBox 30"/>
            <p:cNvSpPr txBox="1"/>
            <p:nvPr/>
          </p:nvSpPr>
          <p:spPr>
            <a:xfrm>
              <a:off x="1320165" y="3706178"/>
              <a:ext cx="1452748"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Regulatory Approval</a:t>
              </a:r>
            </a:p>
          </p:txBody>
        </p:sp>
        <p:sp>
          <p:nvSpPr>
            <p:cNvPr id="31" name="TextBox 31"/>
            <p:cNvSpPr txBox="1"/>
            <p:nvPr/>
          </p:nvSpPr>
          <p:spPr>
            <a:xfrm>
              <a:off x="4452556" y="3639502"/>
              <a:ext cx="1762887" cy="213360"/>
            </a:xfrm>
            <a:prstGeom prst="rect">
              <a:avLst/>
            </a:prstGeom>
            <a:noFill/>
            <a:ln>
              <a:noFill/>
            </a:ln>
          </p:spPr>
          <p:txBody>
            <a:bodyPr wrap="none" lIns="0" tIns="0" rIns="0" bIns="0" anchor="t" anchorCtr="0">
              <a:spAutoFit/>
            </a:bodyPr>
            <a:lstStyle/>
            <a:p>
              <a:pPr algn="ctr"/>
              <a:r>
                <a:rPr lang="zh-CN" sz="1050" dirty="0">
                  <a:solidFill>
                    <a:srgbClr val="2E7D32"/>
                  </a:solidFill>
                  <a:latin typeface="Arial"/>
                  <a:ea typeface="Microsoft YaHei"/>
                  <a:cs typeface="Arial"/>
                </a:rPr>
                <a:t>OK Health Dept. approved</a:t>
              </a:r>
            </a:p>
          </p:txBody>
        </p:sp>
        <p:sp>
          <p:nvSpPr>
            <p:cNvPr id="32" name="TextBox 32"/>
            <p:cNvSpPr txBox="1"/>
            <p:nvPr/>
          </p:nvSpPr>
          <p:spPr>
            <a:xfrm>
              <a:off x="4305443" y="3846195"/>
              <a:ext cx="2057114"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Production during non-public hours</a:t>
              </a:r>
            </a:p>
          </p:txBody>
        </p:sp>
        <p:sp>
          <p:nvSpPr>
            <p:cNvPr id="33" name="TextBox 33"/>
            <p:cNvSpPr txBox="1"/>
            <p:nvPr/>
          </p:nvSpPr>
          <p:spPr>
            <a:xfrm>
              <a:off x="8276558" y="3639502"/>
              <a:ext cx="1734884" cy="213360"/>
            </a:xfrm>
            <a:prstGeom prst="rect">
              <a:avLst/>
            </a:prstGeom>
            <a:noFill/>
            <a:ln>
              <a:noFill/>
            </a:ln>
          </p:spPr>
          <p:txBody>
            <a:bodyPr wrap="none" lIns="0" tIns="0" rIns="0" bIns="0" anchor="t" anchorCtr="0">
              <a:spAutoFit/>
            </a:bodyPr>
            <a:lstStyle/>
            <a:p>
              <a:pPr algn="ctr"/>
              <a:r>
                <a:rPr lang="zh-CN" sz="1050" dirty="0">
                  <a:solidFill>
                    <a:srgbClr val="2E7D32"/>
                  </a:solidFill>
                  <a:latin typeface="Arial"/>
                  <a:ea typeface="Microsoft YaHei"/>
                  <a:cs typeface="Arial"/>
                </a:rPr>
                <a:t>Licensed dairy co-packer</a:t>
              </a:r>
            </a:p>
          </p:txBody>
        </p:sp>
        <p:sp>
          <p:nvSpPr>
            <p:cNvPr id="34" name="TextBox 34"/>
            <p:cNvSpPr txBox="1"/>
            <p:nvPr/>
          </p:nvSpPr>
          <p:spPr>
            <a:xfrm>
              <a:off x="8127444" y="3846195"/>
              <a:ext cx="2033111"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Non-competition agreement signed</a:t>
              </a:r>
            </a:p>
          </p:txBody>
        </p:sp>
        <p:sp>
          <p:nvSpPr>
            <p:cNvPr id="35" name="Rectangle 35"/>
            <p:cNvSpPr/>
            <p:nvPr/>
          </p:nvSpPr>
          <p:spPr>
            <a:xfrm>
              <a:off x="762000" y="1333500"/>
              <a:ext cx="10668000" cy="2667000"/>
            </a:xfrm>
            <a:prstGeom prst="rect">
              <a:avLst/>
            </a:prstGeom>
            <a:noFill/>
            <a:ln w="9525">
              <a:solidFill>
                <a:srgbClr val="E0E0E0"/>
              </a:solidFill>
            </a:ln>
          </p:spPr>
        </p:sp>
        <p:sp>
          <p:nvSpPr>
            <p:cNvPr id="36" name="Line 36"/>
            <p:cNvSpPr/>
            <p:nvPr/>
          </p:nvSpPr>
          <p:spPr>
            <a:xfrm>
              <a:off x="7239000" y="1333500"/>
              <a:ext cx="9525" cy="2667000"/>
            </a:xfrm>
            <a:custGeom>
              <a:avLst/>
              <a:gdLst/>
              <a:ahLst/>
              <a:cxnLst/>
              <a:rect l="l" t="t" r="r" b="b"/>
              <a:pathLst>
                <a:path w="9525" h="2667000">
                  <a:moveTo>
                    <a:pt x="0" y="0"/>
                  </a:moveTo>
                  <a:lnTo>
                    <a:pt x="0" y="2667000"/>
                  </a:lnTo>
                </a:path>
              </a:pathLst>
            </a:custGeom>
            <a:noFill/>
            <a:ln w="9525">
              <a:solidFill>
                <a:srgbClr val="E0E0E0"/>
              </a:solidFill>
            </a:ln>
          </p:spPr>
        </p:sp>
      </p:grpSp>
      <p:grpSp>
        <p:nvGrpSpPr>
          <p:cNvPr id="41" name="Group 41"/>
          <p:cNvGrpSpPr/>
          <p:nvPr/>
        </p:nvGrpSpPr>
        <p:grpSpPr>
          <a:xfrm>
            <a:off x="746760" y="4381500"/>
            <a:ext cx="11923062" cy="766762"/>
            <a:chOff x="746760" y="4381500"/>
            <a:chExt cx="11923062" cy="766762"/>
          </a:xfrm>
        </p:grpSpPr>
        <p:sp>
          <p:nvSpPr>
            <p:cNvPr id="38" name="Rectangle 38"/>
            <p:cNvSpPr/>
            <p:nvPr/>
          </p:nvSpPr>
          <p:spPr>
            <a:xfrm>
              <a:off x="762000" y="4381500"/>
              <a:ext cx="10668000" cy="19050"/>
            </a:xfrm>
            <a:prstGeom prst="rect">
              <a:avLst/>
            </a:prstGeom>
            <a:solidFill>
              <a:srgbClr val="E0E0E0"/>
            </a:solidFill>
            <a:ln>
              <a:noFill/>
            </a:ln>
          </p:spPr>
        </p:sp>
        <p:sp>
          <p:nvSpPr>
            <p:cNvPr id="39" name="TextBox 39"/>
            <p:cNvSpPr txBox="1"/>
            <p:nvPr/>
          </p:nvSpPr>
          <p:spPr>
            <a:xfrm>
              <a:off x="746760" y="4632960"/>
              <a:ext cx="6331268"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Both formats already validated — production is operational, not theoretical.</a:t>
              </a:r>
            </a:p>
          </p:txBody>
        </p:sp>
        <p:sp>
          <p:nvSpPr>
            <p:cNvPr id="40" name="TextBox 40"/>
            <p:cNvSpPr txBox="1"/>
            <p:nvPr/>
          </p:nvSpPr>
          <p:spPr>
            <a:xfrm>
              <a:off x="748665" y="4934902"/>
              <a:ext cx="11921157" cy="213360"/>
            </a:xfrm>
            <a:prstGeom prst="rect">
              <a:avLst/>
            </a:prstGeom>
            <a:noFill/>
            <a:ln>
              <a:noFill/>
            </a:ln>
          </p:spPr>
          <p:txBody>
            <a:bodyPr wrap="none" lIns="0" tIns="0" rIns="0" bIns="0" anchor="t" anchorCtr="0">
              <a:spAutoFit/>
            </a:bodyPr>
            <a:lstStyle/>
            <a:p>
              <a:pPr algn="l"/>
              <a:r>
                <a:rPr lang="zh-CN" sz="1050" dirty="0">
                  <a:solidFill>
                    <a:srgbClr val="333333"/>
                  </a:solidFill>
                  <a:latin typeface="Arial"/>
                  <a:ea typeface="Microsoft YaHei"/>
                  <a:cs typeface="Arial"/>
                </a:rPr>
                <a:t>Frozen tub production runs at the restaurant facility. Pressurized can production is contracted with Farm Fresh under a signed non-competition/non-disclosure agreement.</a:t>
              </a:r>
            </a:p>
          </p:txBody>
        </p:sp>
      </p:grpSp>
      <p:grpSp>
        <p:nvGrpSpPr>
          <p:cNvPr id="44" name="Group 44"/>
          <p:cNvGrpSpPr/>
          <p:nvPr/>
        </p:nvGrpSpPr>
        <p:grpSpPr>
          <a:xfrm>
            <a:off x="752475" y="6538912"/>
            <a:ext cx="10687050" cy="152400"/>
            <a:chOff x="752475" y="6538912"/>
            <a:chExt cx="10687050" cy="152400"/>
          </a:xfrm>
        </p:grpSpPr>
        <p:sp>
          <p:nvSpPr>
            <p:cNvPr id="42" name="TextBox 42"/>
            <p:cNvSpPr txBox="1"/>
            <p:nvPr/>
          </p:nvSpPr>
          <p:spPr>
            <a:xfrm>
              <a:off x="752475" y="6538912"/>
              <a:ext cx="1904286"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a:ea typeface="Microsoft YaHei"/>
                  <a:cs typeface="Arial"/>
                </a:rPr>
                <a:t>Fancy's Foods — Investor Presentation</a:t>
              </a:r>
            </a:p>
          </p:txBody>
        </p:sp>
        <p:sp>
          <p:nvSpPr>
            <p:cNvPr id="43" name="TextBox 43"/>
            <p:cNvSpPr txBox="1"/>
            <p:nvPr/>
          </p:nvSpPr>
          <p:spPr>
            <a:xfrm>
              <a:off x="11310461" y="6538912"/>
              <a:ext cx="129064" cy="152400"/>
            </a:xfrm>
            <a:prstGeom prst="rect">
              <a:avLst/>
            </a:prstGeom>
            <a:noFill/>
            <a:ln>
              <a:noFill/>
            </a:ln>
          </p:spPr>
          <p:txBody>
            <a:bodyPr wrap="none" lIns="0" tIns="0" rIns="0" bIns="0" anchor="t" anchorCtr="0">
              <a:spAutoFit/>
            </a:bodyPr>
            <a:lstStyle/>
            <a:p>
              <a:pPr algn="r"/>
              <a:r>
                <a:rPr lang="zh-CN" sz="750" dirty="0">
                  <a:solidFill>
                    <a:srgbClr val="999999"/>
                  </a:solidFill>
                  <a:latin typeface="Arial"/>
                  <a:ea typeface="Microsoft YaHei"/>
                  <a:cs typeface="Arial"/>
                </a:rPr>
                <a:t>06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400"/>
                                        <p:tgtEl>
                                          <p:spTgt spid="3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fade">
                                      <p:cBhvr>
                                        <p:cTn id="11"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62000" y="442912"/>
            <a:ext cx="5930444" cy="457200"/>
            <a:chOff x="762000" y="442912"/>
            <a:chExt cx="5930444" cy="457200"/>
          </a:xfrm>
        </p:grpSpPr>
        <p:sp>
          <p:nvSpPr>
            <p:cNvPr id="3" name="Rectangle 3"/>
            <p:cNvSpPr/>
            <p:nvPr/>
          </p:nvSpPr>
          <p:spPr>
            <a:xfrm>
              <a:off x="762000" y="476250"/>
              <a:ext cx="38100" cy="266700"/>
            </a:xfrm>
            <a:prstGeom prst="rect">
              <a:avLst/>
            </a:prstGeom>
            <a:solidFill>
              <a:srgbClr val="D04A02"/>
            </a:solidFill>
            <a:ln>
              <a:noFill/>
            </a:ln>
          </p:spPr>
        </p:sp>
        <p:sp>
          <p:nvSpPr>
            <p:cNvPr id="4" name="TextBox 4"/>
            <p:cNvSpPr txBox="1"/>
            <p:nvPr/>
          </p:nvSpPr>
          <p:spPr>
            <a:xfrm>
              <a:off x="885825" y="442912"/>
              <a:ext cx="5806619"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The Flavor Gap Is Real — And We Own It</a:t>
              </a:r>
            </a:p>
          </p:txBody>
        </p:sp>
      </p:grpSp>
      <p:sp>
        <p:nvSpPr>
          <p:cNvPr id="6" name="TextBox 6"/>
          <p:cNvSpPr txBox="1"/>
          <p:nvPr/>
        </p:nvSpPr>
        <p:spPr>
          <a:xfrm>
            <a:off x="746760" y="870585"/>
            <a:ext cx="8071485"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Mainstream competitors produce zero flavored toppings — Fancy's Foods enters an uncontested niche.</a:t>
            </a:r>
          </a:p>
        </p:txBody>
      </p:sp>
      <p:grpSp>
        <p:nvGrpSpPr>
          <p:cNvPr id="15" name="Group 15"/>
          <p:cNvGrpSpPr/>
          <p:nvPr/>
        </p:nvGrpSpPr>
        <p:grpSpPr>
          <a:xfrm>
            <a:off x="1656368" y="1410652"/>
            <a:ext cx="2783265" cy="3387338"/>
            <a:chOff x="1656368" y="1410652"/>
            <a:chExt cx="2783265" cy="3387338"/>
          </a:xfrm>
        </p:grpSpPr>
        <p:sp>
          <p:nvSpPr>
            <p:cNvPr id="7" name="TextBox 7"/>
            <p:cNvSpPr txBox="1"/>
            <p:nvPr/>
          </p:nvSpPr>
          <p:spPr>
            <a:xfrm>
              <a:off x="1656368" y="1410652"/>
              <a:ext cx="2783265"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Prepared Whipped Topping Market Split</a:t>
              </a:r>
            </a:p>
          </p:txBody>
        </p:sp>
        <p:sp>
          <p:nvSpPr>
            <p:cNvPr id="8" name="TextBox 8"/>
            <p:cNvSpPr txBox="1"/>
            <p:nvPr/>
          </p:nvSpPr>
          <p:spPr>
            <a:xfrm>
              <a:off x="1824419" y="1617345"/>
              <a:ext cx="2447163"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(from Antlers &amp; Hugo grocery sales data)</a:t>
              </a:r>
            </a:p>
          </p:txBody>
        </p:sp>
        <p:sp>
          <p:nvSpPr>
            <p:cNvPr id="9" name="Freeform 9"/>
            <p:cNvSpPr/>
            <p:nvPr/>
          </p:nvSpPr>
          <p:spPr>
            <a:xfrm>
              <a:off x="2045970" y="2190750"/>
              <a:ext cx="2334552" cy="2607240"/>
            </a:xfrm>
            <a:custGeom>
              <a:avLst/>
              <a:gdLst/>
              <a:ahLst/>
              <a:cxnLst/>
              <a:rect l="l" t="t" r="r" b="b"/>
              <a:pathLst>
                <a:path w="2334552" h="2607240">
                  <a:moveTo>
                    <a:pt x="1002030" y="0"/>
                  </a:moveTo>
                  <a:cubicBezTo>
                    <a:pt x="1586675" y="86"/>
                    <a:pt x="2091598" y="409082"/>
                    <a:pt x="2213075" y="980968"/>
                  </a:cubicBezTo>
                  <a:cubicBezTo>
                    <a:pt x="2334552" y="1552853"/>
                    <a:pt x="2039478" y="2131781"/>
                    <a:pt x="1505349" y="2369511"/>
                  </a:cubicBezTo>
                  <a:cubicBezTo>
                    <a:pt x="971219" y="2607240"/>
                    <a:pt x="343591" y="2438987"/>
                    <a:pt x="0" y="1965960"/>
                  </a:cubicBezTo>
                  <a:lnTo>
                    <a:pt x="1002030" y="1238250"/>
                  </a:lnTo>
                  <a:close/>
                </a:path>
              </a:pathLst>
            </a:custGeom>
            <a:solidFill>
              <a:srgbClr val="D04A02"/>
            </a:solidFill>
            <a:ln>
              <a:noFill/>
            </a:ln>
          </p:spPr>
        </p:sp>
        <p:sp>
          <p:nvSpPr>
            <p:cNvPr id="10" name="Freeform 10"/>
            <p:cNvSpPr/>
            <p:nvPr/>
          </p:nvSpPr>
          <p:spPr>
            <a:xfrm>
              <a:off x="1733154" y="2190682"/>
              <a:ext cx="1314846" cy="1966028"/>
            </a:xfrm>
            <a:custGeom>
              <a:avLst/>
              <a:gdLst/>
              <a:ahLst/>
              <a:cxnLst/>
              <a:rect l="l" t="t" r="r" b="b"/>
              <a:pathLst>
                <a:path w="1314846" h="1966028">
                  <a:moveTo>
                    <a:pt x="312816" y="1966028"/>
                  </a:moveTo>
                  <a:cubicBezTo>
                    <a:pt x="39164" y="1589288"/>
                    <a:pt x="0" y="1090878"/>
                    <a:pt x="211449" y="676020"/>
                  </a:cubicBezTo>
                  <a:cubicBezTo>
                    <a:pt x="422898" y="261162"/>
                    <a:pt x="849208" y="0"/>
                    <a:pt x="1314846" y="68"/>
                  </a:cubicBezTo>
                  <a:lnTo>
                    <a:pt x="1314846" y="1238318"/>
                  </a:lnTo>
                  <a:close/>
                </a:path>
              </a:pathLst>
            </a:custGeom>
            <a:solidFill>
              <a:srgbClr val="0076A8"/>
            </a:solidFill>
            <a:ln>
              <a:noFill/>
            </a:ln>
          </p:spPr>
        </p:sp>
        <p:sp>
          <p:nvSpPr>
            <p:cNvPr id="11" name="TextBox 11"/>
            <p:cNvSpPr txBox="1"/>
            <p:nvPr/>
          </p:nvSpPr>
          <p:spPr>
            <a:xfrm>
              <a:off x="3592830" y="2916555"/>
              <a:ext cx="597308"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65%</a:t>
              </a:r>
            </a:p>
          </p:txBody>
        </p:sp>
        <p:sp>
          <p:nvSpPr>
            <p:cNvPr id="12" name="TextBox 12"/>
            <p:cNvSpPr txBox="1"/>
            <p:nvPr/>
          </p:nvSpPr>
          <p:spPr>
            <a:xfrm>
              <a:off x="3608070" y="3284220"/>
              <a:ext cx="718947" cy="182880"/>
            </a:xfrm>
            <a:prstGeom prst="rect">
              <a:avLst/>
            </a:prstGeom>
            <a:noFill/>
            <a:ln>
              <a:noFill/>
            </a:ln>
          </p:spPr>
          <p:txBody>
            <a:bodyPr wrap="none" lIns="0" tIns="0" rIns="0" bIns="0" anchor="t" anchorCtr="0">
              <a:spAutoFit/>
            </a:bodyPr>
            <a:lstStyle/>
            <a:p>
              <a:pPr algn="l"/>
              <a:r>
                <a:rPr lang="zh-CN" sz="900" dirty="0">
                  <a:solidFill>
                    <a:srgbClr val="FFFFFF"/>
                  </a:solidFill>
                  <a:latin typeface="Arial"/>
                  <a:ea typeface="Microsoft YaHei"/>
                  <a:cs typeface="Arial"/>
                </a:rPr>
                <a:t>Frozen Tubs</a:t>
              </a:r>
            </a:p>
          </p:txBody>
        </p:sp>
        <p:sp>
          <p:nvSpPr>
            <p:cNvPr id="13" name="TextBox 13"/>
            <p:cNvSpPr txBox="1"/>
            <p:nvPr/>
          </p:nvSpPr>
          <p:spPr>
            <a:xfrm>
              <a:off x="2076450" y="3933825"/>
              <a:ext cx="42664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35%</a:t>
              </a:r>
            </a:p>
          </p:txBody>
        </p:sp>
        <p:sp>
          <p:nvSpPr>
            <p:cNvPr id="14" name="TextBox 14"/>
            <p:cNvSpPr txBox="1"/>
            <p:nvPr/>
          </p:nvSpPr>
          <p:spPr>
            <a:xfrm>
              <a:off x="1846898" y="4197191"/>
              <a:ext cx="262985" cy="167640"/>
            </a:xfrm>
            <a:prstGeom prst="rect">
              <a:avLst/>
            </a:prstGeom>
            <a:noFill/>
            <a:ln>
              <a:noFill/>
            </a:ln>
          </p:spPr>
          <p:txBody>
            <a:bodyPr wrap="none" lIns="0" tIns="0" rIns="0" bIns="0" anchor="t" anchorCtr="0">
              <a:spAutoFit/>
            </a:bodyPr>
            <a:lstStyle/>
            <a:p>
              <a:pPr algn="l"/>
              <a:r>
                <a:rPr lang="zh-CN" sz="825" dirty="0">
                  <a:solidFill>
                    <a:srgbClr val="FFFFFF"/>
                  </a:solidFill>
                  <a:latin typeface="Arial"/>
                  <a:ea typeface="Microsoft YaHei"/>
                  <a:cs typeface="Arial"/>
                </a:rPr>
                <a:t>Cans</a:t>
              </a:r>
            </a:p>
          </p:txBody>
        </p:sp>
      </p:grpSp>
      <p:grpSp>
        <p:nvGrpSpPr>
          <p:cNvPr id="29" name="Group 29"/>
          <p:cNvGrpSpPr/>
          <p:nvPr/>
        </p:nvGrpSpPr>
        <p:grpSpPr>
          <a:xfrm>
            <a:off x="5891212" y="1410652"/>
            <a:ext cx="5538788" cy="4023360"/>
            <a:chOff x="5891212" y="1410652"/>
            <a:chExt cx="5538788" cy="4023360"/>
          </a:xfrm>
        </p:grpSpPr>
        <p:sp>
          <p:nvSpPr>
            <p:cNvPr id="16" name="TextBox 16"/>
            <p:cNvSpPr txBox="1"/>
            <p:nvPr/>
          </p:nvSpPr>
          <p:spPr>
            <a:xfrm>
              <a:off x="5892165" y="1410652"/>
              <a:ext cx="1643872" cy="213360"/>
            </a:xfrm>
            <a:prstGeom prst="rect">
              <a:avLst/>
            </a:prstGeom>
            <a:noFill/>
            <a:ln>
              <a:noFill/>
            </a:ln>
          </p:spPr>
          <p:txBody>
            <a:bodyPr wrap="none" lIns="0" tIns="0" rIns="0" bIns="0" anchor="t" anchorCtr="0">
              <a:spAutoFit/>
            </a:bodyPr>
            <a:lstStyle/>
            <a:p>
              <a:pPr algn="l"/>
              <a:r>
                <a:rPr lang="zh-CN" sz="1050" b="1" dirty="0">
                  <a:solidFill>
                    <a:srgbClr val="333333"/>
                  </a:solidFill>
                  <a:latin typeface="Arial"/>
                  <a:ea typeface="Microsoft YaHei"/>
                  <a:cs typeface="Arial"/>
                </a:rPr>
                <a:t>Competitive Landscape</a:t>
              </a:r>
            </a:p>
          </p:txBody>
        </p:sp>
        <p:grpSp>
          <p:nvGrpSpPr>
            <p:cNvPr id="20" name="Group 20"/>
            <p:cNvGrpSpPr/>
            <p:nvPr/>
          </p:nvGrpSpPr>
          <p:grpSpPr>
            <a:xfrm>
              <a:off x="5891212" y="1714500"/>
              <a:ext cx="5538788" cy="1128712"/>
              <a:chOff x="5891212" y="1714500"/>
              <a:chExt cx="5538788" cy="1128712"/>
            </a:xfrm>
          </p:grpSpPr>
          <p:sp>
            <p:nvSpPr>
              <p:cNvPr id="17" name="Rectangle 17"/>
              <p:cNvSpPr/>
              <p:nvPr/>
            </p:nvSpPr>
            <p:spPr>
              <a:xfrm>
                <a:off x="5905500" y="1714500"/>
                <a:ext cx="5524500" cy="28575"/>
              </a:xfrm>
              <a:prstGeom prst="rect">
                <a:avLst/>
              </a:prstGeom>
              <a:solidFill>
                <a:srgbClr val="2E7D32"/>
              </a:solidFill>
              <a:ln>
                <a:noFill/>
              </a:ln>
            </p:spPr>
          </p:sp>
          <p:sp>
            <p:nvSpPr>
              <p:cNvPr id="18" name="TextBox 18"/>
              <p:cNvSpPr txBox="1"/>
              <p:nvPr/>
            </p:nvSpPr>
            <p:spPr>
              <a:xfrm>
                <a:off x="5891212" y="1878806"/>
                <a:ext cx="1714036" cy="228600"/>
              </a:xfrm>
              <a:prstGeom prst="rect">
                <a:avLst/>
              </a:prstGeom>
              <a:noFill/>
              <a:ln>
                <a:noFill/>
              </a:ln>
            </p:spPr>
            <p:txBody>
              <a:bodyPr wrap="none" lIns="0" tIns="0" rIns="0" bIns="0" anchor="t" anchorCtr="0">
                <a:spAutoFit/>
              </a:bodyPr>
              <a:lstStyle/>
              <a:p>
                <a:pPr algn="l"/>
                <a:r>
                  <a:rPr lang="zh-CN" sz="1125" b="1" dirty="0">
                    <a:solidFill>
                      <a:srgbClr val="2E7D32"/>
                    </a:solidFill>
                    <a:latin typeface="Arial"/>
                    <a:ea typeface="Microsoft YaHei"/>
                    <a:cs typeface="Arial"/>
                  </a:rPr>
                  <a:t>Competitor Strengths</a:t>
                </a:r>
              </a:p>
            </p:txBody>
          </p:sp>
          <p:sp>
            <p:nvSpPr>
              <p:cNvPr id="19" name="TextBox 19"/>
              <p:cNvSpPr txBox="1"/>
              <p:nvPr/>
            </p:nvSpPr>
            <p:spPr>
              <a:xfrm>
                <a:off x="6082665" y="2172652"/>
                <a:ext cx="3213735" cy="670560"/>
              </a:xfrm>
              <a:prstGeom prst="rect">
                <a:avLst/>
              </a:prstGeom>
              <a:noFill/>
              <a:ln>
                <a:noFill/>
              </a:ln>
            </p:spPr>
            <p:txBody>
              <a:bodyPr wrap="square" lIns="0" tIns="0" rIns="0" bIns="0" anchor="t" anchorCtr="0"/>
              <a:lstStyle/>
              <a:p>
                <a:pPr algn="l">
                  <a:lnSpc>
                    <a:spcPts val="1800"/>
                  </a:lnSpc>
                </a:pPr>
                <a:r>
                  <a:rPr lang="zh-CN" sz="1050" dirty="0">
                    <a:solidFill>
                      <a:srgbClr val="333333"/>
                    </a:solidFill>
                    <a:latin typeface="Arial"/>
                    <a:ea typeface="Microsoft YaHei"/>
                    <a:cs typeface="Arial"/>
                  </a:rPr>
                  <a:t xml:space="preserve">• National market share &amp; ubiquitous distribution </a:t>
                </a:r>
                <a:r>
                  <a:rPr lang="zh-CN" sz="1050" dirty="0">
                    <a:solidFill>
                      <a:srgbClr val="333333"/>
                    </a:solidFill>
                    <a:latin typeface="Arial"/>
                    <a:ea typeface="Microsoft YaHei"/>
                    <a:cs typeface="Arial"/>
                  </a:rPr>
                  <a:t xml:space="preserve">• Available in virtually every grocery outlet </a:t>
                </a:r>
                <a:r>
                  <a:rPr lang="zh-CN" sz="1050" dirty="0">
                    <a:solidFill>
                      <a:srgbClr val="333333"/>
                    </a:solidFill>
                    <a:latin typeface="Arial"/>
                    <a:ea typeface="Microsoft YaHei"/>
                    <a:cs typeface="Arial"/>
                  </a:rPr>
                  <a:t xml:space="preserve">• Lower price: </a:t>
                </a:r>
                <a:r>
                  <a:rPr lang="zh-CN" sz="1050" b="1" dirty="0">
                    <a:solidFill>
                      <a:srgbClr val="333333"/>
                    </a:solidFill>
                    <a:latin typeface="Arial"/>
                    <a:ea typeface="Microsoft YaHei"/>
                    <a:cs typeface="Arial"/>
                  </a:rPr>
                  <a:t>$1.29–1.89</a:t>
                </a:r>
                <a:r>
                  <a:rPr lang="zh-CN" sz="1050" dirty="0">
                    <a:solidFill>
                      <a:srgbClr val="333333"/>
                    </a:solidFill>
                    <a:latin typeface="Arial"/>
                    <a:ea typeface="Microsoft YaHei"/>
                    <a:cs typeface="Arial"/>
                  </a:rPr>
                  <a:t xml:space="preserve"> per unit</a:t>
                </a:r>
              </a:p>
            </p:txBody>
          </p:sp>
        </p:grpSp>
        <p:grpSp>
          <p:nvGrpSpPr>
            <p:cNvPr id="24" name="Group 24"/>
            <p:cNvGrpSpPr/>
            <p:nvPr/>
          </p:nvGrpSpPr>
          <p:grpSpPr>
            <a:xfrm>
              <a:off x="5891212" y="3143250"/>
              <a:ext cx="5538788" cy="1128712"/>
              <a:chOff x="5891212" y="3143250"/>
              <a:chExt cx="5538788" cy="1128712"/>
            </a:xfrm>
          </p:grpSpPr>
          <p:sp>
            <p:nvSpPr>
              <p:cNvPr id="21" name="Rectangle 21"/>
              <p:cNvSpPr/>
              <p:nvPr/>
            </p:nvSpPr>
            <p:spPr>
              <a:xfrm>
                <a:off x="5905500" y="3143250"/>
                <a:ext cx="5524500" cy="28575"/>
              </a:xfrm>
              <a:prstGeom prst="rect">
                <a:avLst/>
              </a:prstGeom>
              <a:solidFill>
                <a:srgbClr val="D04A02"/>
              </a:solidFill>
              <a:ln>
                <a:noFill/>
              </a:ln>
            </p:spPr>
          </p:sp>
          <p:sp>
            <p:nvSpPr>
              <p:cNvPr id="22" name="TextBox 22"/>
              <p:cNvSpPr txBox="1"/>
              <p:nvPr/>
            </p:nvSpPr>
            <p:spPr>
              <a:xfrm>
                <a:off x="5891212" y="3307556"/>
                <a:ext cx="1832175" cy="228600"/>
              </a:xfrm>
              <a:prstGeom prst="rect">
                <a:avLst/>
              </a:prstGeom>
              <a:noFill/>
              <a:ln>
                <a:noFill/>
              </a:ln>
            </p:spPr>
            <p:txBody>
              <a:bodyPr wrap="none" lIns="0" tIns="0" rIns="0" bIns="0" anchor="t" anchorCtr="0">
                <a:spAutoFit/>
              </a:bodyPr>
              <a:lstStyle/>
              <a:p>
                <a:pPr algn="l"/>
                <a:r>
                  <a:rPr lang="zh-CN" sz="1125" b="1" dirty="0">
                    <a:solidFill>
                      <a:srgbClr val="D04A02"/>
                    </a:solidFill>
                    <a:latin typeface="Arial"/>
                    <a:ea typeface="Microsoft YaHei"/>
                    <a:cs typeface="Arial"/>
                  </a:rPr>
                  <a:t>Competitor Weaknesses</a:t>
                </a:r>
              </a:p>
            </p:txBody>
          </p:sp>
          <p:sp>
            <p:nvSpPr>
              <p:cNvPr id="23" name="TextBox 23"/>
              <p:cNvSpPr txBox="1"/>
              <p:nvPr/>
            </p:nvSpPr>
            <p:spPr>
              <a:xfrm>
                <a:off x="6082665" y="3601402"/>
                <a:ext cx="3280410" cy="670560"/>
              </a:xfrm>
              <a:prstGeom prst="rect">
                <a:avLst/>
              </a:prstGeom>
              <a:noFill/>
              <a:ln>
                <a:noFill/>
              </a:ln>
            </p:spPr>
            <p:txBody>
              <a:bodyPr wrap="square" lIns="0" tIns="0" rIns="0" bIns="0" anchor="t" anchorCtr="0"/>
              <a:lstStyle/>
              <a:p>
                <a:pPr algn="l">
                  <a:lnSpc>
                    <a:spcPts val="1800"/>
                  </a:lnSpc>
                </a:pPr>
                <a:r>
                  <a:rPr lang="zh-CN" sz="1050" dirty="0">
                    <a:solidFill>
                      <a:srgbClr val="333333"/>
                    </a:solidFill>
                    <a:latin typeface="Arial"/>
                    <a:ea typeface="Microsoft YaHei"/>
                    <a:cs typeface="Arial"/>
                  </a:rPr>
                  <a:t xml:space="preserve">• </a:t>
                </a:r>
                <a:r>
                  <a:rPr lang="zh-CN" sz="1050" b="1" dirty="0">
                    <a:solidFill>
                      <a:srgbClr val="D04A02"/>
                    </a:solidFill>
                    <a:latin typeface="Arial"/>
                    <a:ea typeface="Microsoft YaHei"/>
                    <a:cs typeface="Arial"/>
                  </a:rPr>
                  <a:t>Zero flavored toppings</a:t>
                </a:r>
                <a:r>
                  <a:rPr lang="zh-CN" sz="1050" dirty="0">
                    <a:solidFill>
                      <a:srgbClr val="333333"/>
                    </a:solidFill>
                    <a:latin typeface="Arial"/>
                    <a:ea typeface="Microsoft YaHei"/>
                    <a:cs typeface="Arial"/>
                  </a:rPr>
                  <a:t xml:space="preserve"> — no variety whatsoever </a:t>
                </a:r>
                <a:r>
                  <a:rPr lang="zh-CN" sz="1050" dirty="0">
                    <a:solidFill>
                      <a:srgbClr val="333333"/>
                    </a:solidFill>
                    <a:latin typeface="Arial"/>
                    <a:ea typeface="Microsoft YaHei"/>
                    <a:cs typeface="Arial"/>
                  </a:rPr>
                  <a:t xml:space="preserve">• Many classified as "whipped topping" — </a:t>
                </a:r>
                <a:r>
                  <a:rPr lang="zh-CN" sz="1050" b="1" dirty="0">
                    <a:solidFill>
                      <a:srgbClr val="333333"/>
                    </a:solidFill>
                    <a:latin typeface="Arial"/>
                    <a:ea typeface="Microsoft YaHei"/>
                    <a:cs typeface="Arial"/>
                  </a:rPr>
                  <a:t xml:space="preserve">not dairy </a:t>
                </a:r>
                <a:r>
                  <a:rPr lang="zh-CN" sz="1050" dirty="0">
                    <a:solidFill>
                      <a:srgbClr val="333333"/>
                    </a:solidFill>
                    <a:latin typeface="Arial"/>
                    <a:ea typeface="Microsoft YaHei"/>
                    <a:cs typeface="Arial"/>
                  </a:rPr>
                  <a:t>• No gourmet/specialty positioning</a:t>
                </a:r>
              </a:p>
            </p:txBody>
          </p:sp>
        </p:grpSp>
        <p:grpSp>
          <p:nvGrpSpPr>
            <p:cNvPr id="28" name="Group 28"/>
            <p:cNvGrpSpPr/>
            <p:nvPr/>
          </p:nvGrpSpPr>
          <p:grpSpPr>
            <a:xfrm>
              <a:off x="5905500" y="4572000"/>
              <a:ext cx="5524500" cy="862012"/>
              <a:chOff x="5905500" y="4572000"/>
              <a:chExt cx="5524500" cy="862012"/>
            </a:xfrm>
          </p:grpSpPr>
          <p:sp>
            <p:nvSpPr>
              <p:cNvPr id="25" name="Rectangle 25"/>
              <p:cNvSpPr/>
              <p:nvPr/>
            </p:nvSpPr>
            <p:spPr>
              <a:xfrm>
                <a:off x="5905500" y="4572000"/>
                <a:ext cx="5524500" cy="762000"/>
              </a:xfrm>
              <a:prstGeom prst="rect">
                <a:avLst/>
              </a:prstGeom>
              <a:solidFill>
                <a:srgbClr val="1A1A2E"/>
              </a:solidFill>
              <a:ln>
                <a:noFill/>
              </a:ln>
            </p:spPr>
          </p:sp>
          <p:sp>
            <p:nvSpPr>
              <p:cNvPr id="26" name="TextBox 26"/>
              <p:cNvSpPr txBox="1"/>
              <p:nvPr/>
            </p:nvSpPr>
            <p:spPr>
              <a:xfrm>
                <a:off x="6081712" y="4736306"/>
                <a:ext cx="1942439" cy="228600"/>
              </a:xfrm>
              <a:prstGeom prst="rect">
                <a:avLst/>
              </a:prstGeom>
              <a:noFill/>
              <a:ln>
                <a:noFill/>
              </a:ln>
            </p:spPr>
            <p:txBody>
              <a:bodyPr wrap="none" lIns="0" tIns="0" rIns="0" bIns="0" anchor="t" anchorCtr="0">
                <a:spAutoFit/>
              </a:bodyPr>
              <a:lstStyle/>
              <a:p>
                <a:pPr algn="l"/>
                <a:r>
                  <a:rPr lang="zh-CN" sz="1125" b="1" dirty="0">
                    <a:solidFill>
                      <a:srgbClr val="D04A02"/>
                    </a:solidFill>
                    <a:latin typeface="Arial"/>
                    <a:ea typeface="Microsoft YaHei"/>
                    <a:cs typeface="Arial"/>
                  </a:rPr>
                  <a:t>Fancy's Foods Advantage</a:t>
                </a:r>
              </a:p>
            </p:txBody>
          </p:sp>
          <p:sp>
            <p:nvSpPr>
              <p:cNvPr id="27" name="TextBox 27"/>
              <p:cNvSpPr txBox="1"/>
              <p:nvPr/>
            </p:nvSpPr>
            <p:spPr>
              <a:xfrm>
                <a:off x="6082665" y="5011102"/>
                <a:ext cx="3700462" cy="422910"/>
              </a:xfrm>
              <a:prstGeom prst="rect">
                <a:avLst/>
              </a:prstGeom>
              <a:noFill/>
              <a:ln>
                <a:noFill/>
              </a:ln>
            </p:spPr>
            <p:txBody>
              <a:bodyPr wrap="square" lIns="0" tIns="0" rIns="0" bIns="0" anchor="t" anchorCtr="0"/>
              <a:lstStyle/>
              <a:p>
                <a:pPr algn="l">
                  <a:lnSpc>
                    <a:spcPts val="1650"/>
                  </a:lnSpc>
                </a:pPr>
                <a:r>
                  <a:rPr lang="zh-CN" sz="1050" dirty="0">
                    <a:solidFill>
                      <a:srgbClr val="FFFFFF"/>
                    </a:solidFill>
                    <a:latin typeface="Arial"/>
                    <a:ea typeface="Microsoft YaHei"/>
                    <a:cs typeface="Arial"/>
                  </a:rPr>
                  <a:t xml:space="preserve">Only flavored, real-dairy whipped cream in the market — </a:t>
                </a:r>
                <a:r>
                  <a:rPr lang="zh-CN" sz="1050" dirty="0">
                    <a:solidFill>
                      <a:srgbClr val="FFFFFF"/>
                    </a:solidFill>
                    <a:latin typeface="Arial"/>
                    <a:ea typeface="Microsoft YaHei"/>
                    <a:cs typeface="Arial"/>
                  </a:rPr>
                  <a:t>uncontested niche with 18 years of validated demand</a:t>
                </a:r>
              </a:p>
            </p:txBody>
          </p:sp>
        </p:grpSp>
      </p:grpSp>
      <p:grpSp>
        <p:nvGrpSpPr>
          <p:cNvPr id="32" name="Group 32"/>
          <p:cNvGrpSpPr/>
          <p:nvPr/>
        </p:nvGrpSpPr>
        <p:grpSpPr>
          <a:xfrm>
            <a:off x="752475" y="6538912"/>
            <a:ext cx="10687050" cy="152400"/>
            <a:chOff x="752475" y="6538912"/>
            <a:chExt cx="10687050" cy="152400"/>
          </a:xfrm>
        </p:grpSpPr>
        <p:sp>
          <p:nvSpPr>
            <p:cNvPr id="30" name="TextBox 30"/>
            <p:cNvSpPr txBox="1"/>
            <p:nvPr/>
          </p:nvSpPr>
          <p:spPr>
            <a:xfrm>
              <a:off x="752475" y="6538912"/>
              <a:ext cx="1904286"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a:ea typeface="Microsoft YaHei"/>
                  <a:cs typeface="Arial"/>
                </a:rPr>
                <a:t>Fancy's Foods — Investor Presentation</a:t>
              </a:r>
            </a:p>
          </p:txBody>
        </p:sp>
        <p:sp>
          <p:nvSpPr>
            <p:cNvPr id="31" name="TextBox 31"/>
            <p:cNvSpPr txBox="1"/>
            <p:nvPr/>
          </p:nvSpPr>
          <p:spPr>
            <a:xfrm>
              <a:off x="11310461" y="6538912"/>
              <a:ext cx="129064" cy="152400"/>
            </a:xfrm>
            <a:prstGeom prst="rect">
              <a:avLst/>
            </a:prstGeom>
            <a:noFill/>
            <a:ln>
              <a:noFill/>
            </a:ln>
          </p:spPr>
          <p:txBody>
            <a:bodyPr wrap="none" lIns="0" tIns="0" rIns="0" bIns="0" anchor="t" anchorCtr="0">
              <a:spAutoFit/>
            </a:bodyPr>
            <a:lstStyle/>
            <a:p>
              <a:pPr algn="r"/>
              <a:r>
                <a:rPr lang="zh-CN" sz="750" dirty="0">
                  <a:solidFill>
                    <a:srgbClr val="999999"/>
                  </a:solidFill>
                  <a:latin typeface="Arial"/>
                  <a:ea typeface="Microsoft YaHei"/>
                  <a:cs typeface="Arial"/>
                </a:rPr>
                <a:t>07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400"/>
                                        <p:tgtEl>
                                          <p:spTgt spid="15"/>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image">
                                      <p:cBhvr>
                                        <p:cTn id="11"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62000" y="442912"/>
            <a:ext cx="4071711" cy="457200"/>
            <a:chOff x="762000" y="442912"/>
            <a:chExt cx="4071711" cy="457200"/>
          </a:xfrm>
        </p:grpSpPr>
        <p:sp>
          <p:nvSpPr>
            <p:cNvPr id="3" name="Rectangle 3"/>
            <p:cNvSpPr/>
            <p:nvPr/>
          </p:nvSpPr>
          <p:spPr>
            <a:xfrm>
              <a:off x="762000" y="476250"/>
              <a:ext cx="38100" cy="266700"/>
            </a:xfrm>
            <a:prstGeom prst="rect">
              <a:avLst/>
            </a:prstGeom>
            <a:solidFill>
              <a:srgbClr val="D04A02"/>
            </a:solidFill>
            <a:ln>
              <a:noFill/>
            </a:ln>
          </p:spPr>
        </p:sp>
        <p:sp>
          <p:nvSpPr>
            <p:cNvPr id="4" name="TextBox 4"/>
            <p:cNvSpPr txBox="1"/>
            <p:nvPr/>
          </p:nvSpPr>
          <p:spPr>
            <a:xfrm>
              <a:off x="885825" y="442912"/>
              <a:ext cx="3947886"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Profitable From Year One</a:t>
              </a:r>
            </a:p>
          </p:txBody>
        </p:sp>
      </p:grpSp>
      <p:sp>
        <p:nvSpPr>
          <p:cNvPr id="6" name="TextBox 6"/>
          <p:cNvSpPr txBox="1"/>
          <p:nvPr/>
        </p:nvSpPr>
        <p:spPr>
          <a:xfrm>
            <a:off x="746760" y="870585"/>
            <a:ext cx="7423404"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Year-one positive cash flow and profit, with 10.88% ROE — scaling to $592K revenue by Year 3.</a:t>
            </a:r>
          </a:p>
        </p:txBody>
      </p:sp>
      <p:grpSp>
        <p:nvGrpSpPr>
          <p:cNvPr id="42" name="Group 42"/>
          <p:cNvGrpSpPr/>
          <p:nvPr/>
        </p:nvGrpSpPr>
        <p:grpSpPr>
          <a:xfrm>
            <a:off x="706279" y="1398270"/>
            <a:ext cx="8795338" cy="3669030"/>
            <a:chOff x="706279" y="1398270"/>
            <a:chExt cx="8795338" cy="3669030"/>
          </a:xfrm>
        </p:grpSpPr>
        <p:sp>
          <p:nvSpPr>
            <p:cNvPr id="7" name="Line 7"/>
            <p:cNvSpPr/>
            <p:nvPr/>
          </p:nvSpPr>
          <p:spPr>
            <a:xfrm>
              <a:off x="1143000" y="1524000"/>
              <a:ext cx="9525" cy="3048000"/>
            </a:xfrm>
            <a:custGeom>
              <a:avLst/>
              <a:gdLst/>
              <a:ahLst/>
              <a:cxnLst/>
              <a:rect l="l" t="t" r="r" b="b"/>
              <a:pathLst>
                <a:path w="9525" h="3048000">
                  <a:moveTo>
                    <a:pt x="0" y="3048000"/>
                  </a:moveTo>
                  <a:lnTo>
                    <a:pt x="0" y="0"/>
                  </a:lnTo>
                </a:path>
              </a:pathLst>
            </a:custGeom>
            <a:noFill/>
            <a:ln w="9525">
              <a:solidFill>
                <a:srgbClr val="E0E0E0"/>
              </a:solidFill>
            </a:ln>
          </p:spPr>
        </p:sp>
        <p:sp>
          <p:nvSpPr>
            <p:cNvPr id="8" name="Line 8"/>
            <p:cNvSpPr/>
            <p:nvPr/>
          </p:nvSpPr>
          <p:spPr>
            <a:xfrm>
              <a:off x="1143000" y="4572000"/>
              <a:ext cx="7429500" cy="9525"/>
            </a:xfrm>
            <a:custGeom>
              <a:avLst/>
              <a:gdLst/>
              <a:ahLst/>
              <a:cxnLst/>
              <a:rect l="l" t="t" r="r" b="b"/>
              <a:pathLst>
                <a:path w="7429500" h="9525">
                  <a:moveTo>
                    <a:pt x="0" y="0"/>
                  </a:moveTo>
                  <a:lnTo>
                    <a:pt x="7429500" y="0"/>
                  </a:lnTo>
                </a:path>
              </a:pathLst>
            </a:custGeom>
            <a:noFill/>
            <a:ln w="9525">
              <a:solidFill>
                <a:srgbClr val="999999"/>
              </a:solidFill>
            </a:ln>
          </p:spPr>
        </p:sp>
        <p:sp>
          <p:nvSpPr>
            <p:cNvPr id="9" name="Line 9"/>
            <p:cNvSpPr/>
            <p:nvPr/>
          </p:nvSpPr>
          <p:spPr>
            <a:xfrm>
              <a:off x="1143000" y="3962400"/>
              <a:ext cx="7429500" cy="9525"/>
            </a:xfrm>
            <a:custGeom>
              <a:avLst/>
              <a:gdLst/>
              <a:ahLst/>
              <a:cxnLst/>
              <a:rect l="l" t="t" r="r" b="b"/>
              <a:pathLst>
                <a:path w="7429500" h="9525">
                  <a:moveTo>
                    <a:pt x="0" y="0"/>
                  </a:moveTo>
                  <a:lnTo>
                    <a:pt x="7429500" y="0"/>
                  </a:lnTo>
                </a:path>
              </a:pathLst>
            </a:custGeom>
            <a:noFill/>
            <a:ln w="9525">
              <a:solidFill>
                <a:srgbClr val="F5F5F5"/>
              </a:solidFill>
            </a:ln>
          </p:spPr>
        </p:sp>
        <p:sp>
          <p:nvSpPr>
            <p:cNvPr id="10" name="Line 10"/>
            <p:cNvSpPr/>
            <p:nvPr/>
          </p:nvSpPr>
          <p:spPr>
            <a:xfrm>
              <a:off x="1143000" y="3352800"/>
              <a:ext cx="7429500" cy="9525"/>
            </a:xfrm>
            <a:custGeom>
              <a:avLst/>
              <a:gdLst/>
              <a:ahLst/>
              <a:cxnLst/>
              <a:rect l="l" t="t" r="r" b="b"/>
              <a:pathLst>
                <a:path w="7429500" h="9525">
                  <a:moveTo>
                    <a:pt x="0" y="0"/>
                  </a:moveTo>
                  <a:lnTo>
                    <a:pt x="7429500" y="0"/>
                  </a:lnTo>
                </a:path>
              </a:pathLst>
            </a:custGeom>
            <a:noFill/>
            <a:ln w="9525">
              <a:solidFill>
                <a:srgbClr val="F5F5F5"/>
              </a:solidFill>
            </a:ln>
          </p:spPr>
        </p:sp>
        <p:sp>
          <p:nvSpPr>
            <p:cNvPr id="11" name="Line 11"/>
            <p:cNvSpPr/>
            <p:nvPr/>
          </p:nvSpPr>
          <p:spPr>
            <a:xfrm>
              <a:off x="1143000" y="2743200"/>
              <a:ext cx="7429500" cy="9525"/>
            </a:xfrm>
            <a:custGeom>
              <a:avLst/>
              <a:gdLst/>
              <a:ahLst/>
              <a:cxnLst/>
              <a:rect l="l" t="t" r="r" b="b"/>
              <a:pathLst>
                <a:path w="7429500" h="9525">
                  <a:moveTo>
                    <a:pt x="0" y="0"/>
                  </a:moveTo>
                  <a:lnTo>
                    <a:pt x="7429500" y="0"/>
                  </a:lnTo>
                </a:path>
              </a:pathLst>
            </a:custGeom>
            <a:noFill/>
            <a:ln w="9525">
              <a:solidFill>
                <a:srgbClr val="F5F5F5"/>
              </a:solidFill>
            </a:ln>
          </p:spPr>
        </p:sp>
        <p:sp>
          <p:nvSpPr>
            <p:cNvPr id="12" name="Line 12"/>
            <p:cNvSpPr/>
            <p:nvPr/>
          </p:nvSpPr>
          <p:spPr>
            <a:xfrm>
              <a:off x="1143000" y="2133600"/>
              <a:ext cx="7429500" cy="9525"/>
            </a:xfrm>
            <a:custGeom>
              <a:avLst/>
              <a:gdLst/>
              <a:ahLst/>
              <a:cxnLst/>
              <a:rect l="l" t="t" r="r" b="b"/>
              <a:pathLst>
                <a:path w="7429500" h="9525">
                  <a:moveTo>
                    <a:pt x="0" y="0"/>
                  </a:moveTo>
                  <a:lnTo>
                    <a:pt x="7429500" y="0"/>
                  </a:lnTo>
                </a:path>
              </a:pathLst>
            </a:custGeom>
            <a:noFill/>
            <a:ln w="9525">
              <a:solidFill>
                <a:srgbClr val="F5F5F5"/>
              </a:solidFill>
            </a:ln>
          </p:spPr>
        </p:sp>
        <p:sp>
          <p:nvSpPr>
            <p:cNvPr id="13" name="Line 13"/>
            <p:cNvSpPr/>
            <p:nvPr/>
          </p:nvSpPr>
          <p:spPr>
            <a:xfrm>
              <a:off x="1143000" y="1524000"/>
              <a:ext cx="7429500" cy="9525"/>
            </a:xfrm>
            <a:custGeom>
              <a:avLst/>
              <a:gdLst/>
              <a:ahLst/>
              <a:cxnLst/>
              <a:rect l="l" t="t" r="r" b="b"/>
              <a:pathLst>
                <a:path w="7429500" h="9525">
                  <a:moveTo>
                    <a:pt x="0" y="0"/>
                  </a:moveTo>
                  <a:lnTo>
                    <a:pt x="7429500" y="0"/>
                  </a:lnTo>
                </a:path>
              </a:pathLst>
            </a:custGeom>
            <a:noFill/>
            <a:ln w="9525">
              <a:solidFill>
                <a:srgbClr val="F5F5F5"/>
              </a:solidFill>
            </a:ln>
          </p:spPr>
        </p:sp>
        <p:sp>
          <p:nvSpPr>
            <p:cNvPr id="14" name="TextBox 14"/>
            <p:cNvSpPr txBox="1"/>
            <p:nvPr/>
          </p:nvSpPr>
          <p:spPr>
            <a:xfrm>
              <a:off x="904304" y="4512945"/>
              <a:ext cx="154877"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$0</a:t>
              </a:r>
            </a:p>
          </p:txBody>
        </p:sp>
        <p:sp>
          <p:nvSpPr>
            <p:cNvPr id="15" name="TextBox 15"/>
            <p:cNvSpPr txBox="1"/>
            <p:nvPr/>
          </p:nvSpPr>
          <p:spPr>
            <a:xfrm>
              <a:off x="706279" y="3903345"/>
              <a:ext cx="352901"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$120K</a:t>
              </a:r>
            </a:p>
          </p:txBody>
        </p:sp>
        <p:sp>
          <p:nvSpPr>
            <p:cNvPr id="16" name="TextBox 16"/>
            <p:cNvSpPr txBox="1"/>
            <p:nvPr/>
          </p:nvSpPr>
          <p:spPr>
            <a:xfrm>
              <a:off x="706279" y="3293745"/>
              <a:ext cx="352901"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$240K</a:t>
              </a:r>
            </a:p>
          </p:txBody>
        </p:sp>
        <p:sp>
          <p:nvSpPr>
            <p:cNvPr id="17" name="TextBox 17"/>
            <p:cNvSpPr txBox="1"/>
            <p:nvPr/>
          </p:nvSpPr>
          <p:spPr>
            <a:xfrm>
              <a:off x="706279" y="2684145"/>
              <a:ext cx="352901"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$360K</a:t>
              </a:r>
            </a:p>
          </p:txBody>
        </p:sp>
        <p:sp>
          <p:nvSpPr>
            <p:cNvPr id="18" name="TextBox 18"/>
            <p:cNvSpPr txBox="1"/>
            <p:nvPr/>
          </p:nvSpPr>
          <p:spPr>
            <a:xfrm>
              <a:off x="706279" y="2074545"/>
              <a:ext cx="352901"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$480K</a:t>
              </a:r>
            </a:p>
          </p:txBody>
        </p:sp>
        <p:sp>
          <p:nvSpPr>
            <p:cNvPr id="19" name="TextBox 19"/>
            <p:cNvSpPr txBox="1"/>
            <p:nvPr/>
          </p:nvSpPr>
          <p:spPr>
            <a:xfrm>
              <a:off x="706279" y="1464945"/>
              <a:ext cx="352901" cy="182880"/>
            </a:xfrm>
            <a:prstGeom prst="rect">
              <a:avLst/>
            </a:prstGeom>
            <a:noFill/>
            <a:ln>
              <a:noFill/>
            </a:ln>
          </p:spPr>
          <p:txBody>
            <a:bodyPr wrap="none" lIns="0" tIns="0" rIns="0" bIns="0" anchor="t" anchorCtr="0">
              <a:spAutoFit/>
            </a:bodyPr>
            <a:lstStyle/>
            <a:p>
              <a:pPr algn="r"/>
              <a:r>
                <a:rPr lang="zh-CN" sz="900" dirty="0">
                  <a:solidFill>
                    <a:srgbClr val="999999"/>
                  </a:solidFill>
                  <a:latin typeface="Arial"/>
                  <a:ea typeface="Microsoft YaHei"/>
                  <a:cs typeface="Arial"/>
                </a:rPr>
                <a:t>$600K</a:t>
              </a:r>
            </a:p>
          </p:txBody>
        </p:sp>
        <p:sp>
          <p:nvSpPr>
            <p:cNvPr id="20" name="Rectangle 20"/>
            <p:cNvSpPr/>
            <p:nvPr/>
          </p:nvSpPr>
          <p:spPr>
            <a:xfrm>
              <a:off x="2000250" y="3352800"/>
              <a:ext cx="476250" cy="1219200"/>
            </a:xfrm>
            <a:prstGeom prst="rect">
              <a:avLst/>
            </a:prstGeom>
            <a:solidFill>
              <a:srgbClr val="0076A8"/>
            </a:solidFill>
            <a:ln>
              <a:noFill/>
            </a:ln>
          </p:spPr>
        </p:sp>
        <p:sp>
          <p:nvSpPr>
            <p:cNvPr id="21" name="Rectangle 21"/>
            <p:cNvSpPr/>
            <p:nvPr/>
          </p:nvSpPr>
          <p:spPr>
            <a:xfrm>
              <a:off x="2571750" y="4495800"/>
              <a:ext cx="476250" cy="76200"/>
            </a:xfrm>
            <a:prstGeom prst="rect">
              <a:avLst/>
            </a:prstGeom>
            <a:solidFill>
              <a:srgbClr val="D04A02"/>
            </a:solidFill>
            <a:ln>
              <a:noFill/>
            </a:ln>
          </p:spPr>
        </p:sp>
        <p:sp>
          <p:nvSpPr>
            <p:cNvPr id="22" name="TextBox 22"/>
            <p:cNvSpPr txBox="1"/>
            <p:nvPr/>
          </p:nvSpPr>
          <p:spPr>
            <a:xfrm>
              <a:off x="2053673" y="3188970"/>
              <a:ext cx="369403" cy="182880"/>
            </a:xfrm>
            <a:prstGeom prst="rect">
              <a:avLst/>
            </a:prstGeom>
            <a:noFill/>
            <a:ln>
              <a:noFill/>
            </a:ln>
          </p:spPr>
          <p:txBody>
            <a:bodyPr wrap="none" lIns="0" tIns="0" rIns="0" bIns="0" anchor="t" anchorCtr="0">
              <a:spAutoFit/>
            </a:bodyPr>
            <a:lstStyle/>
            <a:p>
              <a:pPr algn="ctr"/>
              <a:r>
                <a:rPr lang="zh-CN" sz="900" b="1" dirty="0">
                  <a:solidFill>
                    <a:srgbClr val="0076A8"/>
                  </a:solidFill>
                  <a:latin typeface="Arial"/>
                  <a:ea typeface="Microsoft YaHei"/>
                  <a:cs typeface="Arial"/>
                </a:rPr>
                <a:t>$240K</a:t>
              </a:r>
            </a:p>
          </p:txBody>
        </p:sp>
        <p:sp>
          <p:nvSpPr>
            <p:cNvPr id="23" name="TextBox 23"/>
            <p:cNvSpPr txBox="1"/>
            <p:nvPr/>
          </p:nvSpPr>
          <p:spPr>
            <a:xfrm>
              <a:off x="2678382" y="4349591"/>
              <a:ext cx="262985" cy="167640"/>
            </a:xfrm>
            <a:prstGeom prst="rect">
              <a:avLst/>
            </a:prstGeom>
            <a:noFill/>
            <a:ln>
              <a:noFill/>
            </a:ln>
          </p:spPr>
          <p:txBody>
            <a:bodyPr wrap="none" lIns="0" tIns="0" rIns="0" bIns="0" anchor="t" anchorCtr="0">
              <a:spAutoFit/>
            </a:bodyPr>
            <a:lstStyle/>
            <a:p>
              <a:pPr algn="ctr"/>
              <a:r>
                <a:rPr lang="zh-CN" sz="825" dirty="0">
                  <a:solidFill>
                    <a:srgbClr val="D04A02"/>
                  </a:solidFill>
                  <a:latin typeface="Arial"/>
                  <a:ea typeface="Microsoft YaHei"/>
                  <a:cs typeface="Arial"/>
                </a:rPr>
                <a:t>$15K</a:t>
              </a:r>
            </a:p>
          </p:txBody>
        </p:sp>
        <p:sp>
          <p:nvSpPr>
            <p:cNvPr id="24" name="TextBox 24"/>
            <p:cNvSpPr txBox="1"/>
            <p:nvPr/>
          </p:nvSpPr>
          <p:spPr>
            <a:xfrm>
              <a:off x="2349070" y="4696778"/>
              <a:ext cx="350110"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1999</a:t>
              </a:r>
            </a:p>
          </p:txBody>
        </p:sp>
        <p:sp>
          <p:nvSpPr>
            <p:cNvPr id="25" name="TextBox 25"/>
            <p:cNvSpPr txBox="1"/>
            <p:nvPr/>
          </p:nvSpPr>
          <p:spPr>
            <a:xfrm>
              <a:off x="2329672" y="4884420"/>
              <a:ext cx="388906"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Year 1</a:t>
              </a:r>
            </a:p>
          </p:txBody>
        </p:sp>
        <p:sp>
          <p:nvSpPr>
            <p:cNvPr id="26" name="Rectangle 26"/>
            <p:cNvSpPr/>
            <p:nvPr/>
          </p:nvSpPr>
          <p:spPr>
            <a:xfrm>
              <a:off x="4286250" y="2409825"/>
              <a:ext cx="476250" cy="2162175"/>
            </a:xfrm>
            <a:prstGeom prst="rect">
              <a:avLst/>
            </a:prstGeom>
            <a:solidFill>
              <a:srgbClr val="0076A8"/>
            </a:solidFill>
            <a:ln>
              <a:noFill/>
            </a:ln>
          </p:spPr>
        </p:sp>
        <p:sp>
          <p:nvSpPr>
            <p:cNvPr id="27" name="Rectangle 27"/>
            <p:cNvSpPr/>
            <p:nvPr/>
          </p:nvSpPr>
          <p:spPr>
            <a:xfrm>
              <a:off x="4857750" y="4391025"/>
              <a:ext cx="476250" cy="180975"/>
            </a:xfrm>
            <a:prstGeom prst="rect">
              <a:avLst/>
            </a:prstGeom>
            <a:solidFill>
              <a:srgbClr val="D04A02"/>
            </a:solidFill>
            <a:ln>
              <a:noFill/>
            </a:ln>
          </p:spPr>
        </p:sp>
        <p:sp>
          <p:nvSpPr>
            <p:cNvPr id="28" name="TextBox 28"/>
            <p:cNvSpPr txBox="1"/>
            <p:nvPr/>
          </p:nvSpPr>
          <p:spPr>
            <a:xfrm>
              <a:off x="4339673" y="2245995"/>
              <a:ext cx="369403" cy="182880"/>
            </a:xfrm>
            <a:prstGeom prst="rect">
              <a:avLst/>
            </a:prstGeom>
            <a:noFill/>
            <a:ln>
              <a:noFill/>
            </a:ln>
          </p:spPr>
          <p:txBody>
            <a:bodyPr wrap="none" lIns="0" tIns="0" rIns="0" bIns="0" anchor="t" anchorCtr="0">
              <a:spAutoFit/>
            </a:bodyPr>
            <a:lstStyle/>
            <a:p>
              <a:pPr algn="ctr"/>
              <a:r>
                <a:rPr lang="zh-CN" sz="900" b="1" dirty="0">
                  <a:solidFill>
                    <a:srgbClr val="0076A8"/>
                  </a:solidFill>
                  <a:latin typeface="Arial"/>
                  <a:ea typeface="Microsoft YaHei"/>
                  <a:cs typeface="Arial"/>
                </a:rPr>
                <a:t>$426K</a:t>
              </a:r>
            </a:p>
          </p:txBody>
        </p:sp>
        <p:sp>
          <p:nvSpPr>
            <p:cNvPr id="29" name="TextBox 29"/>
            <p:cNvSpPr txBox="1"/>
            <p:nvPr/>
          </p:nvSpPr>
          <p:spPr>
            <a:xfrm>
              <a:off x="4964382" y="4244816"/>
              <a:ext cx="262985" cy="167640"/>
            </a:xfrm>
            <a:prstGeom prst="rect">
              <a:avLst/>
            </a:prstGeom>
            <a:noFill/>
            <a:ln>
              <a:noFill/>
            </a:ln>
          </p:spPr>
          <p:txBody>
            <a:bodyPr wrap="none" lIns="0" tIns="0" rIns="0" bIns="0" anchor="t" anchorCtr="0">
              <a:spAutoFit/>
            </a:bodyPr>
            <a:lstStyle/>
            <a:p>
              <a:pPr algn="ctr"/>
              <a:r>
                <a:rPr lang="zh-CN" sz="825" dirty="0">
                  <a:solidFill>
                    <a:srgbClr val="D04A02"/>
                  </a:solidFill>
                  <a:latin typeface="Arial"/>
                  <a:ea typeface="Microsoft YaHei"/>
                  <a:cs typeface="Arial"/>
                </a:rPr>
                <a:t>$36K</a:t>
              </a:r>
            </a:p>
          </p:txBody>
        </p:sp>
        <p:sp>
          <p:nvSpPr>
            <p:cNvPr id="30" name="TextBox 30"/>
            <p:cNvSpPr txBox="1"/>
            <p:nvPr/>
          </p:nvSpPr>
          <p:spPr>
            <a:xfrm>
              <a:off x="4635070" y="4696778"/>
              <a:ext cx="350110"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2000</a:t>
              </a:r>
            </a:p>
          </p:txBody>
        </p:sp>
        <p:sp>
          <p:nvSpPr>
            <p:cNvPr id="31" name="TextBox 31"/>
            <p:cNvSpPr txBox="1"/>
            <p:nvPr/>
          </p:nvSpPr>
          <p:spPr>
            <a:xfrm>
              <a:off x="4615672" y="4884420"/>
              <a:ext cx="388906"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Year 2</a:t>
              </a:r>
            </a:p>
          </p:txBody>
        </p:sp>
        <p:sp>
          <p:nvSpPr>
            <p:cNvPr id="32" name="Rectangle 32"/>
            <p:cNvSpPr/>
            <p:nvPr/>
          </p:nvSpPr>
          <p:spPr>
            <a:xfrm>
              <a:off x="6572250" y="1562100"/>
              <a:ext cx="476250" cy="3009900"/>
            </a:xfrm>
            <a:prstGeom prst="rect">
              <a:avLst/>
            </a:prstGeom>
            <a:solidFill>
              <a:srgbClr val="0076A8"/>
            </a:solidFill>
            <a:ln>
              <a:noFill/>
            </a:ln>
          </p:spPr>
        </p:sp>
        <p:sp>
          <p:nvSpPr>
            <p:cNvPr id="33" name="Rectangle 33"/>
            <p:cNvSpPr/>
            <p:nvPr/>
          </p:nvSpPr>
          <p:spPr>
            <a:xfrm>
              <a:off x="7143750" y="4333875"/>
              <a:ext cx="476250" cy="238125"/>
            </a:xfrm>
            <a:prstGeom prst="rect">
              <a:avLst/>
            </a:prstGeom>
            <a:solidFill>
              <a:srgbClr val="D04A02"/>
            </a:solidFill>
            <a:ln>
              <a:noFill/>
            </a:ln>
          </p:spPr>
        </p:sp>
        <p:sp>
          <p:nvSpPr>
            <p:cNvPr id="34" name="TextBox 34"/>
            <p:cNvSpPr txBox="1"/>
            <p:nvPr/>
          </p:nvSpPr>
          <p:spPr>
            <a:xfrm>
              <a:off x="6625673" y="1398270"/>
              <a:ext cx="369403" cy="182880"/>
            </a:xfrm>
            <a:prstGeom prst="rect">
              <a:avLst/>
            </a:prstGeom>
            <a:noFill/>
            <a:ln>
              <a:noFill/>
            </a:ln>
          </p:spPr>
          <p:txBody>
            <a:bodyPr wrap="none" lIns="0" tIns="0" rIns="0" bIns="0" anchor="t" anchorCtr="0">
              <a:spAutoFit/>
            </a:bodyPr>
            <a:lstStyle/>
            <a:p>
              <a:pPr algn="ctr"/>
              <a:r>
                <a:rPr lang="zh-CN" sz="900" b="1" dirty="0">
                  <a:solidFill>
                    <a:srgbClr val="0076A8"/>
                  </a:solidFill>
                  <a:latin typeface="Arial"/>
                  <a:ea typeface="Microsoft YaHei"/>
                  <a:cs typeface="Arial"/>
                </a:rPr>
                <a:t>$592K</a:t>
              </a:r>
            </a:p>
          </p:txBody>
        </p:sp>
        <p:sp>
          <p:nvSpPr>
            <p:cNvPr id="35" name="TextBox 35"/>
            <p:cNvSpPr txBox="1"/>
            <p:nvPr/>
          </p:nvSpPr>
          <p:spPr>
            <a:xfrm>
              <a:off x="7250382" y="4187666"/>
              <a:ext cx="262985" cy="167640"/>
            </a:xfrm>
            <a:prstGeom prst="rect">
              <a:avLst/>
            </a:prstGeom>
            <a:noFill/>
            <a:ln>
              <a:noFill/>
            </a:ln>
          </p:spPr>
          <p:txBody>
            <a:bodyPr wrap="none" lIns="0" tIns="0" rIns="0" bIns="0" anchor="t" anchorCtr="0">
              <a:spAutoFit/>
            </a:bodyPr>
            <a:lstStyle/>
            <a:p>
              <a:pPr algn="ctr"/>
              <a:r>
                <a:rPr lang="zh-CN" sz="825" dirty="0">
                  <a:solidFill>
                    <a:srgbClr val="D04A02"/>
                  </a:solidFill>
                  <a:latin typeface="Arial"/>
                  <a:ea typeface="Microsoft YaHei"/>
                  <a:cs typeface="Arial"/>
                </a:rPr>
                <a:t>$47K</a:t>
              </a:r>
            </a:p>
          </p:txBody>
        </p:sp>
        <p:sp>
          <p:nvSpPr>
            <p:cNvPr id="36" name="TextBox 36"/>
            <p:cNvSpPr txBox="1"/>
            <p:nvPr/>
          </p:nvSpPr>
          <p:spPr>
            <a:xfrm>
              <a:off x="6921070" y="4696778"/>
              <a:ext cx="350110" cy="213360"/>
            </a:xfrm>
            <a:prstGeom prst="rect">
              <a:avLst/>
            </a:prstGeom>
            <a:noFill/>
            <a:ln>
              <a:noFill/>
            </a:ln>
          </p:spPr>
          <p:txBody>
            <a:bodyPr wrap="none" lIns="0" tIns="0" rIns="0" bIns="0" anchor="t" anchorCtr="0">
              <a:spAutoFit/>
            </a:bodyPr>
            <a:lstStyle/>
            <a:p>
              <a:pPr algn="ctr"/>
              <a:r>
                <a:rPr lang="zh-CN" sz="1050" b="1" dirty="0">
                  <a:solidFill>
                    <a:srgbClr val="333333"/>
                  </a:solidFill>
                  <a:latin typeface="Arial"/>
                  <a:ea typeface="Microsoft YaHei"/>
                  <a:cs typeface="Arial"/>
                </a:rPr>
                <a:t>2001</a:t>
              </a:r>
            </a:p>
          </p:txBody>
        </p:sp>
        <p:sp>
          <p:nvSpPr>
            <p:cNvPr id="37" name="TextBox 37"/>
            <p:cNvSpPr txBox="1"/>
            <p:nvPr/>
          </p:nvSpPr>
          <p:spPr>
            <a:xfrm>
              <a:off x="6901672" y="4884420"/>
              <a:ext cx="388906" cy="182880"/>
            </a:xfrm>
            <a:prstGeom prst="rect">
              <a:avLst/>
            </a:prstGeom>
            <a:noFill/>
            <a:ln>
              <a:noFill/>
            </a:ln>
          </p:spPr>
          <p:txBody>
            <a:bodyPr wrap="none" lIns="0" tIns="0" rIns="0" bIns="0" anchor="t" anchorCtr="0">
              <a:spAutoFit/>
            </a:bodyPr>
            <a:lstStyle/>
            <a:p>
              <a:pPr algn="ctr"/>
              <a:r>
                <a:rPr lang="zh-CN" sz="900" dirty="0">
                  <a:solidFill>
                    <a:srgbClr val="666666"/>
                  </a:solidFill>
                  <a:latin typeface="Arial"/>
                  <a:ea typeface="Microsoft YaHei"/>
                  <a:cs typeface="Arial"/>
                </a:rPr>
                <a:t>Year 3</a:t>
              </a:r>
            </a:p>
          </p:txBody>
        </p:sp>
        <p:sp>
          <p:nvSpPr>
            <p:cNvPr id="38" name="Rectangle 38"/>
            <p:cNvSpPr/>
            <p:nvPr/>
          </p:nvSpPr>
          <p:spPr>
            <a:xfrm>
              <a:off x="7810500" y="1524000"/>
              <a:ext cx="133350" cy="133350"/>
            </a:xfrm>
            <a:prstGeom prst="rect">
              <a:avLst/>
            </a:prstGeom>
            <a:solidFill>
              <a:srgbClr val="0076A8"/>
            </a:solidFill>
            <a:ln>
              <a:noFill/>
            </a:ln>
          </p:spPr>
        </p:sp>
        <p:sp>
          <p:nvSpPr>
            <p:cNvPr id="39" name="TextBox 39"/>
            <p:cNvSpPr txBox="1"/>
            <p:nvPr/>
          </p:nvSpPr>
          <p:spPr>
            <a:xfrm>
              <a:off x="8007668" y="1533049"/>
              <a:ext cx="603337"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Net Sales</a:t>
              </a:r>
            </a:p>
          </p:txBody>
        </p:sp>
        <p:sp>
          <p:nvSpPr>
            <p:cNvPr id="40" name="Rectangle 40"/>
            <p:cNvSpPr/>
            <p:nvPr/>
          </p:nvSpPr>
          <p:spPr>
            <a:xfrm>
              <a:off x="7810500" y="1762125"/>
              <a:ext cx="133350" cy="133350"/>
            </a:xfrm>
            <a:prstGeom prst="rect">
              <a:avLst/>
            </a:prstGeom>
            <a:solidFill>
              <a:srgbClr val="D04A02"/>
            </a:solidFill>
            <a:ln>
              <a:noFill/>
            </a:ln>
          </p:spPr>
        </p:sp>
        <p:sp>
          <p:nvSpPr>
            <p:cNvPr id="41" name="TextBox 41"/>
            <p:cNvSpPr txBox="1"/>
            <p:nvPr/>
          </p:nvSpPr>
          <p:spPr>
            <a:xfrm>
              <a:off x="8007668" y="1771174"/>
              <a:ext cx="1493949"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Net Income After Taxes</a:t>
              </a:r>
            </a:p>
          </p:txBody>
        </p:sp>
      </p:grpSp>
      <p:grpSp>
        <p:nvGrpSpPr>
          <p:cNvPr id="59" name="Group 59"/>
          <p:cNvGrpSpPr/>
          <p:nvPr/>
        </p:nvGrpSpPr>
        <p:grpSpPr>
          <a:xfrm>
            <a:off x="762000" y="5238750"/>
            <a:ext cx="10668000" cy="942975"/>
            <a:chOff x="762000" y="5238750"/>
            <a:chExt cx="10668000" cy="942975"/>
          </a:xfrm>
        </p:grpSpPr>
        <p:sp>
          <p:nvSpPr>
            <p:cNvPr id="43" name="Line 43"/>
            <p:cNvSpPr/>
            <p:nvPr/>
          </p:nvSpPr>
          <p:spPr>
            <a:xfrm>
              <a:off x="762000" y="5238750"/>
              <a:ext cx="10668000" cy="9525"/>
            </a:xfrm>
            <a:custGeom>
              <a:avLst/>
              <a:gdLst/>
              <a:ahLst/>
              <a:cxnLst/>
              <a:rect l="l" t="t" r="r" b="b"/>
              <a:pathLst>
                <a:path w="10668000" h="9525">
                  <a:moveTo>
                    <a:pt x="0" y="0"/>
                  </a:moveTo>
                  <a:lnTo>
                    <a:pt x="10668000" y="0"/>
                  </a:lnTo>
                </a:path>
              </a:pathLst>
            </a:custGeom>
            <a:noFill/>
            <a:ln w="9525">
              <a:solidFill>
                <a:srgbClr val="E0E0E0"/>
              </a:solidFill>
            </a:ln>
          </p:spPr>
        </p:sp>
        <p:grpSp>
          <p:nvGrpSpPr>
            <p:cNvPr id="46" name="Group 46"/>
            <p:cNvGrpSpPr/>
            <p:nvPr/>
          </p:nvGrpSpPr>
          <p:grpSpPr>
            <a:xfrm>
              <a:off x="1303020" y="5466874"/>
              <a:ext cx="1237107" cy="714851"/>
              <a:chOff x="1303020" y="5466874"/>
              <a:chExt cx="1237107" cy="714851"/>
            </a:xfrm>
          </p:grpSpPr>
          <p:sp>
            <p:nvSpPr>
              <p:cNvPr id="44" name="TextBox 44"/>
              <p:cNvSpPr txBox="1"/>
              <p:nvPr/>
            </p:nvSpPr>
            <p:spPr>
              <a:xfrm>
                <a:off x="1321118" y="5466874"/>
                <a:ext cx="843867"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ROE (Year 1)</a:t>
                </a:r>
              </a:p>
            </p:txBody>
          </p:sp>
          <p:sp>
            <p:nvSpPr>
              <p:cNvPr id="45" name="TextBox 45"/>
              <p:cNvSpPr txBox="1"/>
              <p:nvPr/>
            </p:nvSpPr>
            <p:spPr>
              <a:xfrm>
                <a:off x="1303020" y="5694045"/>
                <a:ext cx="1237107" cy="487680"/>
              </a:xfrm>
              <a:prstGeom prst="rect">
                <a:avLst/>
              </a:prstGeom>
              <a:noFill/>
              <a:ln>
                <a:noFill/>
              </a:ln>
            </p:spPr>
            <p:txBody>
              <a:bodyPr wrap="none" lIns="0" tIns="0" rIns="0" bIns="0" anchor="t" anchorCtr="0">
                <a:spAutoFit/>
              </a:bodyPr>
              <a:lstStyle/>
              <a:p>
                <a:pPr algn="l"/>
                <a:r>
                  <a:rPr lang="zh-CN" sz="2400" b="1" dirty="0">
                    <a:solidFill>
                      <a:srgbClr val="D04A02"/>
                    </a:solidFill>
                    <a:latin typeface="Arial"/>
                    <a:ea typeface="Microsoft YaHei"/>
                    <a:cs typeface="Arial"/>
                  </a:rPr>
                  <a:t>10.88%</a:t>
                </a:r>
              </a:p>
            </p:txBody>
          </p:sp>
        </p:grpSp>
        <p:sp>
          <p:nvSpPr>
            <p:cNvPr id="47" name="Line 47"/>
            <p:cNvSpPr/>
            <p:nvPr/>
          </p:nvSpPr>
          <p:spPr>
            <a:xfrm>
              <a:off x="3429000" y="5334000"/>
              <a:ext cx="9525" cy="809625"/>
            </a:xfrm>
            <a:custGeom>
              <a:avLst/>
              <a:gdLst/>
              <a:ahLst/>
              <a:cxnLst/>
              <a:rect l="l" t="t" r="r" b="b"/>
              <a:pathLst>
                <a:path w="9525" h="809625">
                  <a:moveTo>
                    <a:pt x="0" y="0"/>
                  </a:moveTo>
                  <a:lnTo>
                    <a:pt x="0" y="809625"/>
                  </a:lnTo>
                </a:path>
              </a:pathLst>
            </a:custGeom>
            <a:noFill/>
            <a:ln w="9525">
              <a:solidFill>
                <a:srgbClr val="E0E0E0"/>
              </a:solidFill>
            </a:ln>
          </p:spPr>
        </p:sp>
        <p:grpSp>
          <p:nvGrpSpPr>
            <p:cNvPr id="50" name="Group 50"/>
            <p:cNvGrpSpPr/>
            <p:nvPr/>
          </p:nvGrpSpPr>
          <p:grpSpPr>
            <a:xfrm>
              <a:off x="3779520" y="5466874"/>
              <a:ext cx="907471" cy="714851"/>
              <a:chOff x="3779520" y="5466874"/>
              <a:chExt cx="907471" cy="714851"/>
            </a:xfrm>
          </p:grpSpPr>
          <p:sp>
            <p:nvSpPr>
              <p:cNvPr id="48" name="TextBox 48"/>
              <p:cNvSpPr txBox="1"/>
              <p:nvPr/>
            </p:nvSpPr>
            <p:spPr>
              <a:xfrm>
                <a:off x="3797618" y="5466874"/>
                <a:ext cx="889373"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Current Ratio</a:t>
                </a:r>
              </a:p>
            </p:txBody>
          </p:sp>
          <p:sp>
            <p:nvSpPr>
              <p:cNvPr id="49" name="TextBox 49"/>
              <p:cNvSpPr txBox="1"/>
              <p:nvPr/>
            </p:nvSpPr>
            <p:spPr>
              <a:xfrm>
                <a:off x="3779520" y="5694045"/>
                <a:ext cx="800252" cy="487680"/>
              </a:xfrm>
              <a:prstGeom prst="rect">
                <a:avLst/>
              </a:prstGeom>
              <a:noFill/>
              <a:ln>
                <a:noFill/>
              </a:ln>
            </p:spPr>
            <p:txBody>
              <a:bodyPr wrap="none" lIns="0" tIns="0" rIns="0" bIns="0" anchor="t" anchorCtr="0">
                <a:spAutoFit/>
              </a:bodyPr>
              <a:lstStyle/>
              <a:p>
                <a:pPr algn="l"/>
                <a:r>
                  <a:rPr lang="zh-CN" sz="2400" b="1" dirty="0">
                    <a:solidFill>
                      <a:srgbClr val="0076A8"/>
                    </a:solidFill>
                    <a:latin typeface="Arial"/>
                    <a:ea typeface="Microsoft YaHei"/>
                    <a:cs typeface="Arial"/>
                  </a:rPr>
                  <a:t>2.73</a:t>
                </a:r>
              </a:p>
            </p:txBody>
          </p:sp>
        </p:grpSp>
        <p:sp>
          <p:nvSpPr>
            <p:cNvPr id="51" name="Line 51"/>
            <p:cNvSpPr/>
            <p:nvPr/>
          </p:nvSpPr>
          <p:spPr>
            <a:xfrm>
              <a:off x="5905500" y="5334000"/>
              <a:ext cx="9525" cy="809625"/>
            </a:xfrm>
            <a:custGeom>
              <a:avLst/>
              <a:gdLst/>
              <a:ahLst/>
              <a:cxnLst/>
              <a:rect l="l" t="t" r="r" b="b"/>
              <a:pathLst>
                <a:path w="9525" h="809625">
                  <a:moveTo>
                    <a:pt x="0" y="0"/>
                  </a:moveTo>
                  <a:lnTo>
                    <a:pt x="0" y="809625"/>
                  </a:lnTo>
                </a:path>
              </a:pathLst>
            </a:custGeom>
            <a:noFill/>
            <a:ln w="9525">
              <a:solidFill>
                <a:srgbClr val="E0E0E0"/>
              </a:solidFill>
            </a:ln>
          </p:spPr>
        </p:sp>
        <p:grpSp>
          <p:nvGrpSpPr>
            <p:cNvPr id="54" name="Group 54"/>
            <p:cNvGrpSpPr/>
            <p:nvPr/>
          </p:nvGrpSpPr>
          <p:grpSpPr>
            <a:xfrm>
              <a:off x="6256020" y="5466874"/>
              <a:ext cx="946476" cy="714851"/>
              <a:chOff x="6256020" y="5466874"/>
              <a:chExt cx="946476" cy="714851"/>
            </a:xfrm>
          </p:grpSpPr>
          <p:sp>
            <p:nvSpPr>
              <p:cNvPr id="52" name="TextBox 52"/>
              <p:cNvSpPr txBox="1"/>
              <p:nvPr/>
            </p:nvSpPr>
            <p:spPr>
              <a:xfrm>
                <a:off x="6274118" y="5466874"/>
                <a:ext cx="928378"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Debt to Equity</a:t>
                </a:r>
              </a:p>
            </p:txBody>
          </p:sp>
          <p:sp>
            <p:nvSpPr>
              <p:cNvPr id="53" name="TextBox 53"/>
              <p:cNvSpPr txBox="1"/>
              <p:nvPr/>
            </p:nvSpPr>
            <p:spPr>
              <a:xfrm>
                <a:off x="6256020" y="5694045"/>
                <a:ext cx="800252" cy="487680"/>
              </a:xfrm>
              <a:prstGeom prst="rect">
                <a:avLst/>
              </a:prstGeom>
              <a:noFill/>
              <a:ln>
                <a:noFill/>
              </a:ln>
            </p:spPr>
            <p:txBody>
              <a:bodyPr wrap="none" lIns="0" tIns="0" rIns="0" bIns="0" anchor="t" anchorCtr="0">
                <a:spAutoFit/>
              </a:bodyPr>
              <a:lstStyle/>
              <a:p>
                <a:pPr algn="l"/>
                <a:r>
                  <a:rPr lang="zh-CN" sz="2400" b="1" dirty="0">
                    <a:solidFill>
                      <a:srgbClr val="2E7D32"/>
                    </a:solidFill>
                    <a:latin typeface="Arial"/>
                    <a:ea typeface="Microsoft YaHei"/>
                    <a:cs typeface="Arial"/>
                  </a:rPr>
                  <a:t>0.38</a:t>
                </a:r>
              </a:p>
            </p:txBody>
          </p:sp>
        </p:grpSp>
        <p:sp>
          <p:nvSpPr>
            <p:cNvPr id="55" name="Line 55"/>
            <p:cNvSpPr/>
            <p:nvPr/>
          </p:nvSpPr>
          <p:spPr>
            <a:xfrm>
              <a:off x="8382000" y="5334000"/>
              <a:ext cx="9525" cy="809625"/>
            </a:xfrm>
            <a:custGeom>
              <a:avLst/>
              <a:gdLst/>
              <a:ahLst/>
              <a:cxnLst/>
              <a:rect l="l" t="t" r="r" b="b"/>
              <a:pathLst>
                <a:path w="9525" h="809625">
                  <a:moveTo>
                    <a:pt x="0" y="0"/>
                  </a:moveTo>
                  <a:lnTo>
                    <a:pt x="0" y="809625"/>
                  </a:lnTo>
                </a:path>
              </a:pathLst>
            </a:custGeom>
            <a:noFill/>
            <a:ln w="9525">
              <a:solidFill>
                <a:srgbClr val="E0E0E0"/>
              </a:solidFill>
            </a:ln>
          </p:spPr>
        </p:sp>
        <p:grpSp>
          <p:nvGrpSpPr>
            <p:cNvPr id="58" name="Group 58"/>
            <p:cNvGrpSpPr/>
            <p:nvPr/>
          </p:nvGrpSpPr>
          <p:grpSpPr>
            <a:xfrm>
              <a:off x="8732520" y="5466874"/>
              <a:ext cx="1539545" cy="714851"/>
              <a:chOff x="8732520" y="5466874"/>
              <a:chExt cx="1539545" cy="714851"/>
            </a:xfrm>
          </p:grpSpPr>
          <p:sp>
            <p:nvSpPr>
              <p:cNvPr id="56" name="TextBox 56"/>
              <p:cNvSpPr txBox="1"/>
              <p:nvPr/>
            </p:nvSpPr>
            <p:spPr>
              <a:xfrm>
                <a:off x="8750618" y="5466874"/>
                <a:ext cx="1064895"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Year 1 Cash Flow</a:t>
                </a:r>
              </a:p>
            </p:txBody>
          </p:sp>
          <p:sp>
            <p:nvSpPr>
              <p:cNvPr id="57" name="TextBox 57"/>
              <p:cNvSpPr txBox="1"/>
              <p:nvPr/>
            </p:nvSpPr>
            <p:spPr>
              <a:xfrm>
                <a:off x="8732520" y="5694045"/>
                <a:ext cx="1539545" cy="487680"/>
              </a:xfrm>
              <a:prstGeom prst="rect">
                <a:avLst/>
              </a:prstGeom>
              <a:noFill/>
              <a:ln>
                <a:noFill/>
              </a:ln>
            </p:spPr>
            <p:txBody>
              <a:bodyPr wrap="none" lIns="0" tIns="0" rIns="0" bIns="0" anchor="t" anchorCtr="0">
                <a:spAutoFit/>
              </a:bodyPr>
              <a:lstStyle/>
              <a:p>
                <a:pPr algn="l"/>
                <a:r>
                  <a:rPr lang="zh-CN" sz="2400" b="1" dirty="0">
                    <a:solidFill>
                      <a:srgbClr val="1A1A2E"/>
                    </a:solidFill>
                    <a:latin typeface="Arial"/>
                    <a:ea typeface="Microsoft YaHei"/>
                    <a:cs typeface="Arial"/>
                  </a:rPr>
                  <a:t>+$21,550</a:t>
                </a:r>
              </a:p>
            </p:txBody>
          </p:sp>
        </p:grpSp>
      </p:grpSp>
      <p:grpSp>
        <p:nvGrpSpPr>
          <p:cNvPr id="62" name="Group 62"/>
          <p:cNvGrpSpPr/>
          <p:nvPr/>
        </p:nvGrpSpPr>
        <p:grpSpPr>
          <a:xfrm>
            <a:off x="752475" y="6538912"/>
            <a:ext cx="10687050" cy="152400"/>
            <a:chOff x="752475" y="6538912"/>
            <a:chExt cx="10687050" cy="152400"/>
          </a:xfrm>
        </p:grpSpPr>
        <p:sp>
          <p:nvSpPr>
            <p:cNvPr id="60" name="TextBox 60"/>
            <p:cNvSpPr txBox="1"/>
            <p:nvPr/>
          </p:nvSpPr>
          <p:spPr>
            <a:xfrm>
              <a:off x="752475" y="6538912"/>
              <a:ext cx="2944416"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a:ea typeface="Microsoft YaHei"/>
                  <a:cs typeface="Arial"/>
                </a:rPr>
                <a:t>Source: Pro Forma Financial Statements, Fancy's Foods LLC</a:t>
              </a:r>
            </a:p>
          </p:txBody>
        </p:sp>
        <p:sp>
          <p:nvSpPr>
            <p:cNvPr id="61" name="TextBox 61"/>
            <p:cNvSpPr txBox="1"/>
            <p:nvPr/>
          </p:nvSpPr>
          <p:spPr>
            <a:xfrm>
              <a:off x="11310461" y="6538912"/>
              <a:ext cx="129064" cy="152400"/>
            </a:xfrm>
            <a:prstGeom prst="rect">
              <a:avLst/>
            </a:prstGeom>
            <a:noFill/>
            <a:ln>
              <a:noFill/>
            </a:ln>
          </p:spPr>
          <p:txBody>
            <a:bodyPr wrap="none" lIns="0" tIns="0" rIns="0" bIns="0" anchor="t" anchorCtr="0">
              <a:spAutoFit/>
            </a:bodyPr>
            <a:lstStyle/>
            <a:p>
              <a:pPr algn="r"/>
              <a:r>
                <a:rPr lang="zh-CN" sz="750" dirty="0">
                  <a:solidFill>
                    <a:srgbClr val="999999"/>
                  </a:solidFill>
                  <a:latin typeface="Arial"/>
                  <a:ea typeface="Microsoft YaHei"/>
                  <a:cs typeface="Arial"/>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400"/>
                                        <p:tgtEl>
                                          <p:spTgt spid="42"/>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wheel(4)">
                                      <p:cBhvr>
                                        <p:cTn id="11"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5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62000" y="442912"/>
            <a:ext cx="5473637" cy="457200"/>
            <a:chOff x="762000" y="442912"/>
            <a:chExt cx="5473637" cy="457200"/>
          </a:xfrm>
        </p:grpSpPr>
        <p:sp>
          <p:nvSpPr>
            <p:cNvPr id="3" name="Rectangle 3"/>
            <p:cNvSpPr/>
            <p:nvPr/>
          </p:nvSpPr>
          <p:spPr>
            <a:xfrm>
              <a:off x="762000" y="476250"/>
              <a:ext cx="38100" cy="266700"/>
            </a:xfrm>
            <a:prstGeom prst="rect">
              <a:avLst/>
            </a:prstGeom>
            <a:solidFill>
              <a:srgbClr val="D04A02"/>
            </a:solidFill>
            <a:ln>
              <a:noFill/>
            </a:ln>
          </p:spPr>
        </p:sp>
        <p:sp>
          <p:nvSpPr>
            <p:cNvPr id="4" name="TextBox 4"/>
            <p:cNvSpPr txBox="1"/>
            <p:nvPr/>
          </p:nvSpPr>
          <p:spPr>
            <a:xfrm>
              <a:off x="885825" y="442912"/>
              <a:ext cx="5349812"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Preparing for What Could Go Wrong</a:t>
              </a:r>
            </a:p>
          </p:txBody>
        </p:sp>
      </p:grpSp>
      <p:sp>
        <p:nvSpPr>
          <p:cNvPr id="6" name="TextBox 6"/>
          <p:cNvSpPr txBox="1"/>
          <p:nvPr/>
        </p:nvSpPr>
        <p:spPr>
          <a:xfrm>
            <a:off x="746760" y="870585"/>
            <a:ext cx="7223379"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A 10% deviation zone triggers specific, pre-planned responses across four risk categories.</a:t>
            </a:r>
          </a:p>
        </p:txBody>
      </p:sp>
      <p:sp>
        <p:nvSpPr>
          <p:cNvPr id="7" name="Line 7"/>
          <p:cNvSpPr/>
          <p:nvPr/>
        </p:nvSpPr>
        <p:spPr>
          <a:xfrm>
            <a:off x="6096000" y="1333500"/>
            <a:ext cx="9525" cy="4381500"/>
          </a:xfrm>
          <a:custGeom>
            <a:avLst/>
            <a:gdLst/>
            <a:ahLst/>
            <a:cxnLst/>
            <a:rect l="l" t="t" r="r" b="b"/>
            <a:pathLst>
              <a:path w="9525" h="4381500">
                <a:moveTo>
                  <a:pt x="0" y="0"/>
                </a:moveTo>
                <a:lnTo>
                  <a:pt x="0" y="4381500"/>
                </a:lnTo>
              </a:path>
            </a:pathLst>
          </a:custGeom>
          <a:noFill/>
          <a:ln w="9525">
            <a:solidFill>
              <a:srgbClr val="E0E0E0"/>
            </a:solidFill>
          </a:ln>
        </p:spPr>
      </p:sp>
      <p:sp>
        <p:nvSpPr>
          <p:cNvPr id="8" name="Line 8"/>
          <p:cNvSpPr/>
          <p:nvPr/>
        </p:nvSpPr>
        <p:spPr>
          <a:xfrm>
            <a:off x="762000" y="3524250"/>
            <a:ext cx="10668000" cy="9525"/>
          </a:xfrm>
          <a:custGeom>
            <a:avLst/>
            <a:gdLst/>
            <a:ahLst/>
            <a:cxnLst/>
            <a:rect l="l" t="t" r="r" b="b"/>
            <a:pathLst>
              <a:path w="10668000" h="9525">
                <a:moveTo>
                  <a:pt x="0" y="0"/>
                </a:moveTo>
                <a:lnTo>
                  <a:pt x="10668000" y="0"/>
                </a:lnTo>
              </a:path>
            </a:pathLst>
          </a:custGeom>
          <a:noFill/>
          <a:ln w="9525">
            <a:solidFill>
              <a:srgbClr val="E0E0E0"/>
            </a:solidFill>
          </a:ln>
        </p:spPr>
      </p:sp>
      <p:sp>
        <p:nvSpPr>
          <p:cNvPr id="9" name="TextBox 9"/>
          <p:cNvSpPr txBox="1"/>
          <p:nvPr/>
        </p:nvSpPr>
        <p:spPr>
          <a:xfrm>
            <a:off x="3244298" y="1160145"/>
            <a:ext cx="369403" cy="182880"/>
          </a:xfrm>
          <a:prstGeom prst="rect">
            <a:avLst/>
          </a:prstGeom>
          <a:noFill/>
          <a:ln>
            <a:noFill/>
          </a:ln>
        </p:spPr>
        <p:txBody>
          <a:bodyPr wrap="none" lIns="0" tIns="0" rIns="0" bIns="0" anchor="t" anchorCtr="0">
            <a:spAutoFit/>
          </a:bodyPr>
          <a:lstStyle/>
          <a:p>
            <a:pPr algn="ctr"/>
            <a:r>
              <a:rPr lang="zh-CN" sz="900" b="1" dirty="0">
                <a:solidFill>
                  <a:srgbClr val="999999"/>
                </a:solidFill>
                <a:latin typeface="Arial"/>
                <a:ea typeface="Microsoft YaHei"/>
                <a:cs typeface="Arial"/>
              </a:rPr>
              <a:t>SALES</a:t>
            </a:r>
          </a:p>
        </p:txBody>
      </p:sp>
      <p:sp>
        <p:nvSpPr>
          <p:cNvPr id="10" name="TextBox 10"/>
          <p:cNvSpPr txBox="1"/>
          <p:nvPr/>
        </p:nvSpPr>
        <p:spPr>
          <a:xfrm>
            <a:off x="8471185" y="1160145"/>
            <a:ext cx="583630" cy="182880"/>
          </a:xfrm>
          <a:prstGeom prst="rect">
            <a:avLst/>
          </a:prstGeom>
          <a:noFill/>
          <a:ln>
            <a:noFill/>
          </a:ln>
        </p:spPr>
        <p:txBody>
          <a:bodyPr wrap="none" lIns="0" tIns="0" rIns="0" bIns="0" anchor="t" anchorCtr="0">
            <a:spAutoFit/>
          </a:bodyPr>
          <a:lstStyle/>
          <a:p>
            <a:pPr algn="ctr"/>
            <a:r>
              <a:rPr lang="zh-CN" sz="900" b="1" dirty="0">
                <a:solidFill>
                  <a:srgbClr val="999999"/>
                </a:solidFill>
                <a:latin typeface="Arial"/>
                <a:ea typeface="Microsoft YaHei"/>
                <a:cs typeface="Arial"/>
              </a:rPr>
              <a:t>FINANCIAL</a:t>
            </a:r>
          </a:p>
        </p:txBody>
      </p:sp>
      <p:grpSp>
        <p:nvGrpSpPr>
          <p:cNvPr id="18" name="Group 18"/>
          <p:cNvGrpSpPr/>
          <p:nvPr/>
        </p:nvGrpSpPr>
        <p:grpSpPr>
          <a:xfrm>
            <a:off x="937260" y="1524000"/>
            <a:ext cx="4968240" cy="1702594"/>
            <a:chOff x="937260" y="1524000"/>
            <a:chExt cx="4968240" cy="1702594"/>
          </a:xfrm>
        </p:grpSpPr>
        <p:sp>
          <p:nvSpPr>
            <p:cNvPr id="11" name="Rectangle 11"/>
            <p:cNvSpPr/>
            <p:nvPr/>
          </p:nvSpPr>
          <p:spPr>
            <a:xfrm>
              <a:off x="952500" y="1524000"/>
              <a:ext cx="4953000" cy="38100"/>
            </a:xfrm>
            <a:prstGeom prst="rect">
              <a:avLst/>
            </a:prstGeom>
            <a:solidFill>
              <a:srgbClr val="C62828"/>
            </a:solidFill>
            <a:ln>
              <a:noFill/>
            </a:ln>
          </p:spPr>
        </p:sp>
        <p:sp>
          <p:nvSpPr>
            <p:cNvPr id="12" name="TextBox 12"/>
            <p:cNvSpPr txBox="1"/>
            <p:nvPr/>
          </p:nvSpPr>
          <p:spPr>
            <a:xfrm>
              <a:off x="937260" y="1727835"/>
              <a:ext cx="1719091"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Arial"/>
                  <a:ea typeface="Microsoft YaHei"/>
                  <a:cs typeface="Arial"/>
                </a:rPr>
                <a:t>Local Sales Shortfall</a:t>
              </a:r>
            </a:p>
          </p:txBody>
        </p:sp>
        <p:sp>
          <p:nvSpPr>
            <p:cNvPr id="13" name="TextBox 13"/>
            <p:cNvSpPr txBox="1"/>
            <p:nvPr/>
          </p:nvSpPr>
          <p:spPr>
            <a:xfrm>
              <a:off x="940118" y="2085499"/>
              <a:ext cx="2586085"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1. Double in-store promotions in Antlers</a:t>
              </a:r>
            </a:p>
          </p:txBody>
        </p:sp>
        <p:sp>
          <p:nvSpPr>
            <p:cNvPr id="14" name="TextBox 14"/>
            <p:cNvSpPr txBox="1"/>
            <p:nvPr/>
          </p:nvSpPr>
          <p:spPr>
            <a:xfrm>
              <a:off x="1130618" y="2295049"/>
              <a:ext cx="2040017"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and Hugo at peak shopping times</a:t>
              </a:r>
            </a:p>
          </p:txBody>
        </p:sp>
        <p:sp>
          <p:nvSpPr>
            <p:cNvPr id="15" name="TextBox 15"/>
            <p:cNvSpPr txBox="1"/>
            <p:nvPr/>
          </p:nvSpPr>
          <p:spPr>
            <a:xfrm>
              <a:off x="940118" y="2609374"/>
              <a:ext cx="2098524"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2. If no improvement in 1 month:</a:t>
              </a:r>
            </a:p>
          </p:txBody>
        </p:sp>
        <p:sp>
          <p:nvSpPr>
            <p:cNvPr id="16" name="TextBox 16"/>
            <p:cNvSpPr txBox="1"/>
            <p:nvPr/>
          </p:nvSpPr>
          <p:spPr>
            <a:xfrm>
              <a:off x="1130618" y="2818924"/>
              <a:ext cx="2443067"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advertise in weekly shopping circulars</a:t>
              </a:r>
            </a:p>
          </p:txBody>
        </p:sp>
        <p:sp>
          <p:nvSpPr>
            <p:cNvPr id="17" name="TextBox 17"/>
            <p:cNvSpPr txBox="1"/>
            <p:nvPr/>
          </p:nvSpPr>
          <p:spPr>
            <a:xfrm>
              <a:off x="1130618" y="3028474"/>
              <a:ext cx="91537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for one month</a:t>
              </a:r>
            </a:p>
          </p:txBody>
        </p:sp>
      </p:grpSp>
      <p:grpSp>
        <p:nvGrpSpPr>
          <p:cNvPr id="26" name="Group 26"/>
          <p:cNvGrpSpPr/>
          <p:nvPr/>
        </p:nvGrpSpPr>
        <p:grpSpPr>
          <a:xfrm>
            <a:off x="6271260" y="1524000"/>
            <a:ext cx="4968240" cy="1702594"/>
            <a:chOff x="6271260" y="1524000"/>
            <a:chExt cx="4968240" cy="1702594"/>
          </a:xfrm>
        </p:grpSpPr>
        <p:sp>
          <p:nvSpPr>
            <p:cNvPr id="19" name="Rectangle 19"/>
            <p:cNvSpPr/>
            <p:nvPr/>
          </p:nvSpPr>
          <p:spPr>
            <a:xfrm>
              <a:off x="6286500" y="1524000"/>
              <a:ext cx="4953000" cy="38100"/>
            </a:xfrm>
            <a:prstGeom prst="rect">
              <a:avLst/>
            </a:prstGeom>
            <a:solidFill>
              <a:srgbClr val="D04A02"/>
            </a:solidFill>
            <a:ln>
              <a:noFill/>
            </a:ln>
          </p:spPr>
        </p:sp>
        <p:sp>
          <p:nvSpPr>
            <p:cNvPr id="20" name="TextBox 20"/>
            <p:cNvSpPr txBox="1"/>
            <p:nvPr/>
          </p:nvSpPr>
          <p:spPr>
            <a:xfrm>
              <a:off x="6271260" y="1727835"/>
              <a:ext cx="1962722" cy="243840"/>
            </a:xfrm>
            <a:prstGeom prst="rect">
              <a:avLst/>
            </a:prstGeom>
            <a:noFill/>
            <a:ln>
              <a:noFill/>
            </a:ln>
          </p:spPr>
          <p:txBody>
            <a:bodyPr wrap="none" lIns="0" tIns="0" rIns="0" bIns="0" anchor="t" anchorCtr="0">
              <a:spAutoFit/>
            </a:bodyPr>
            <a:lstStyle/>
            <a:p>
              <a:pPr algn="l"/>
              <a:r>
                <a:rPr lang="zh-CN" sz="1200" b="1" dirty="0">
                  <a:solidFill>
                    <a:srgbClr val="D04A02"/>
                  </a:solidFill>
                  <a:latin typeface="Arial"/>
                  <a:ea typeface="Microsoft YaHei"/>
                  <a:cs typeface="Arial"/>
                </a:rPr>
                <a:t>Metro Market Shortfall</a:t>
              </a:r>
            </a:p>
          </p:txBody>
        </p:sp>
        <p:sp>
          <p:nvSpPr>
            <p:cNvPr id="21" name="TextBox 21"/>
            <p:cNvSpPr txBox="1"/>
            <p:nvPr/>
          </p:nvSpPr>
          <p:spPr>
            <a:xfrm>
              <a:off x="6274118" y="2085499"/>
              <a:ext cx="2261045"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1. Evaluate OKC &amp; Tulsa sales after</a:t>
              </a:r>
            </a:p>
          </p:txBody>
        </p:sp>
        <p:sp>
          <p:nvSpPr>
            <p:cNvPr id="22" name="TextBox 22"/>
            <p:cNvSpPr txBox="1"/>
            <p:nvPr/>
          </p:nvSpPr>
          <p:spPr>
            <a:xfrm>
              <a:off x="6464618" y="2295049"/>
              <a:ext cx="1448443"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6 months of marketing</a:t>
              </a:r>
            </a:p>
          </p:txBody>
        </p:sp>
        <p:sp>
          <p:nvSpPr>
            <p:cNvPr id="23" name="TextBox 23"/>
            <p:cNvSpPr txBox="1"/>
            <p:nvPr/>
          </p:nvSpPr>
          <p:spPr>
            <a:xfrm>
              <a:off x="6274118" y="2609374"/>
              <a:ext cx="251457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2. Contract local marketing specialists</a:t>
              </a:r>
            </a:p>
          </p:txBody>
        </p:sp>
        <p:sp>
          <p:nvSpPr>
            <p:cNvPr id="24" name="TextBox 24"/>
            <p:cNvSpPr txBox="1"/>
            <p:nvPr/>
          </p:nvSpPr>
          <p:spPr>
            <a:xfrm>
              <a:off x="6464618" y="2818924"/>
              <a:ext cx="2391061"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on commission basis to push products</a:t>
              </a:r>
            </a:p>
          </p:txBody>
        </p:sp>
        <p:sp>
          <p:nvSpPr>
            <p:cNvPr id="25" name="TextBox 25"/>
            <p:cNvSpPr txBox="1"/>
            <p:nvPr/>
          </p:nvSpPr>
          <p:spPr>
            <a:xfrm>
              <a:off x="6464618" y="3028474"/>
              <a:ext cx="211152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into stores and drive promotions</a:t>
              </a:r>
            </a:p>
          </p:txBody>
        </p:sp>
      </p:grpSp>
      <p:grpSp>
        <p:nvGrpSpPr>
          <p:cNvPr id="35" name="Group 35"/>
          <p:cNvGrpSpPr/>
          <p:nvPr/>
        </p:nvGrpSpPr>
        <p:grpSpPr>
          <a:xfrm>
            <a:off x="937260" y="3714750"/>
            <a:ext cx="4968240" cy="1845469"/>
            <a:chOff x="937260" y="3714750"/>
            <a:chExt cx="4968240" cy="1845469"/>
          </a:xfrm>
        </p:grpSpPr>
        <p:sp>
          <p:nvSpPr>
            <p:cNvPr id="27" name="Rectangle 27"/>
            <p:cNvSpPr/>
            <p:nvPr/>
          </p:nvSpPr>
          <p:spPr>
            <a:xfrm>
              <a:off x="952500" y="3714750"/>
              <a:ext cx="4953000" cy="38100"/>
            </a:xfrm>
            <a:prstGeom prst="rect">
              <a:avLst/>
            </a:prstGeom>
            <a:solidFill>
              <a:srgbClr val="D04A02"/>
            </a:solidFill>
            <a:ln>
              <a:noFill/>
            </a:ln>
          </p:spPr>
        </p:sp>
        <p:sp>
          <p:nvSpPr>
            <p:cNvPr id="28" name="TextBox 28"/>
            <p:cNvSpPr txBox="1"/>
            <p:nvPr/>
          </p:nvSpPr>
          <p:spPr>
            <a:xfrm>
              <a:off x="937260" y="3918585"/>
              <a:ext cx="2601201" cy="243840"/>
            </a:xfrm>
            <a:prstGeom prst="rect">
              <a:avLst/>
            </a:prstGeom>
            <a:noFill/>
            <a:ln>
              <a:noFill/>
            </a:ln>
          </p:spPr>
          <p:txBody>
            <a:bodyPr wrap="none" lIns="0" tIns="0" rIns="0" bIns="0" anchor="t" anchorCtr="0">
              <a:spAutoFit/>
            </a:bodyPr>
            <a:lstStyle/>
            <a:p>
              <a:pPr algn="l"/>
              <a:r>
                <a:rPr lang="zh-CN" sz="1200" b="1" dirty="0">
                  <a:solidFill>
                    <a:srgbClr val="D04A02"/>
                  </a:solidFill>
                  <a:latin typeface="Arial"/>
                  <a:ea typeface="Microsoft YaHei"/>
                  <a:cs typeface="Arial"/>
                </a:rPr>
                <a:t>Unacceptable Business Liquidity</a:t>
              </a:r>
            </a:p>
          </p:txBody>
        </p:sp>
        <p:sp>
          <p:nvSpPr>
            <p:cNvPr id="29" name="TextBox 29"/>
            <p:cNvSpPr txBox="1"/>
            <p:nvPr/>
          </p:nvSpPr>
          <p:spPr>
            <a:xfrm>
              <a:off x="940118" y="4276249"/>
              <a:ext cx="275510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1. Examine accounts receivable procedures</a:t>
              </a:r>
            </a:p>
          </p:txBody>
        </p:sp>
        <p:sp>
          <p:nvSpPr>
            <p:cNvPr id="30" name="TextBox 30"/>
            <p:cNvSpPr txBox="1"/>
            <p:nvPr/>
          </p:nvSpPr>
          <p:spPr>
            <a:xfrm>
              <a:off x="1130618" y="4485799"/>
              <a:ext cx="243656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 ensure payment periods are just and</a:t>
              </a:r>
            </a:p>
          </p:txBody>
        </p:sp>
        <p:sp>
          <p:nvSpPr>
            <p:cNvPr id="31" name="TextBox 31"/>
            <p:cNvSpPr txBox="1"/>
            <p:nvPr/>
          </p:nvSpPr>
          <p:spPr>
            <a:xfrm>
              <a:off x="1130618" y="4695349"/>
              <a:ext cx="2274046"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payments received in timely manner</a:t>
              </a:r>
            </a:p>
          </p:txBody>
        </p:sp>
        <p:sp>
          <p:nvSpPr>
            <p:cNvPr id="32" name="TextBox 32"/>
            <p:cNvSpPr txBox="1"/>
            <p:nvPr/>
          </p:nvSpPr>
          <p:spPr>
            <a:xfrm>
              <a:off x="940118" y="4942999"/>
              <a:ext cx="2761607"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2. Review cash flow projections to identify</a:t>
              </a:r>
            </a:p>
          </p:txBody>
        </p:sp>
        <p:sp>
          <p:nvSpPr>
            <p:cNvPr id="33" name="TextBox 33"/>
            <p:cNvSpPr txBox="1"/>
            <p:nvPr/>
          </p:nvSpPr>
          <p:spPr>
            <a:xfrm>
              <a:off x="1130618" y="5152549"/>
              <a:ext cx="2358557"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unforeseen cash layouts undermining</a:t>
              </a:r>
            </a:p>
          </p:txBody>
        </p:sp>
        <p:sp>
          <p:nvSpPr>
            <p:cNvPr id="34" name="TextBox 34"/>
            <p:cNvSpPr txBox="1"/>
            <p:nvPr/>
          </p:nvSpPr>
          <p:spPr>
            <a:xfrm>
              <a:off x="1130618" y="5362099"/>
              <a:ext cx="1006388"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financial health</a:t>
              </a:r>
            </a:p>
          </p:txBody>
        </p:sp>
      </p:grpSp>
      <p:grpSp>
        <p:nvGrpSpPr>
          <p:cNvPr id="45" name="Group 45"/>
          <p:cNvGrpSpPr/>
          <p:nvPr/>
        </p:nvGrpSpPr>
        <p:grpSpPr>
          <a:xfrm>
            <a:off x="6271260" y="3714750"/>
            <a:ext cx="4968240" cy="2064544"/>
            <a:chOff x="6271260" y="3714750"/>
            <a:chExt cx="4968240" cy="2064544"/>
          </a:xfrm>
        </p:grpSpPr>
        <p:sp>
          <p:nvSpPr>
            <p:cNvPr id="36" name="Rectangle 36"/>
            <p:cNvSpPr/>
            <p:nvPr/>
          </p:nvSpPr>
          <p:spPr>
            <a:xfrm>
              <a:off x="6286500" y="3714750"/>
              <a:ext cx="4953000" cy="38100"/>
            </a:xfrm>
            <a:prstGeom prst="rect">
              <a:avLst/>
            </a:prstGeom>
            <a:solidFill>
              <a:srgbClr val="C62828"/>
            </a:solidFill>
            <a:ln>
              <a:noFill/>
            </a:ln>
          </p:spPr>
        </p:sp>
        <p:sp>
          <p:nvSpPr>
            <p:cNvPr id="37" name="TextBox 37"/>
            <p:cNvSpPr txBox="1"/>
            <p:nvPr/>
          </p:nvSpPr>
          <p:spPr>
            <a:xfrm>
              <a:off x="6271260" y="3918585"/>
              <a:ext cx="2819629" cy="243840"/>
            </a:xfrm>
            <a:prstGeom prst="rect">
              <a:avLst/>
            </a:prstGeom>
            <a:noFill/>
            <a:ln>
              <a:noFill/>
            </a:ln>
          </p:spPr>
          <p:txBody>
            <a:bodyPr wrap="none" lIns="0" tIns="0" rIns="0" bIns="0" anchor="t" anchorCtr="0">
              <a:spAutoFit/>
            </a:bodyPr>
            <a:lstStyle/>
            <a:p>
              <a:pPr algn="l"/>
              <a:r>
                <a:rPr lang="zh-CN" sz="1200" b="1" dirty="0">
                  <a:solidFill>
                    <a:srgbClr val="C62828"/>
                  </a:solidFill>
                  <a:latin typeface="Arial"/>
                  <a:ea typeface="Microsoft YaHei"/>
                  <a:cs typeface="Arial"/>
                </a:rPr>
                <a:t>Returns on Equity Below Threshold</a:t>
              </a:r>
            </a:p>
          </p:txBody>
        </p:sp>
        <p:sp>
          <p:nvSpPr>
            <p:cNvPr id="38" name="TextBox 38"/>
            <p:cNvSpPr txBox="1"/>
            <p:nvPr/>
          </p:nvSpPr>
          <p:spPr>
            <a:xfrm>
              <a:off x="6274118" y="4276249"/>
              <a:ext cx="2612088"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1. Compare per-unit costs of production</a:t>
              </a:r>
            </a:p>
          </p:txBody>
        </p:sp>
        <p:sp>
          <p:nvSpPr>
            <p:cNvPr id="39" name="TextBox 39"/>
            <p:cNvSpPr txBox="1"/>
            <p:nvPr/>
          </p:nvSpPr>
          <p:spPr>
            <a:xfrm>
              <a:off x="6464618" y="4485799"/>
              <a:ext cx="2222040"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and marketing against sales prices</a:t>
              </a:r>
            </a:p>
          </p:txBody>
        </p:sp>
        <p:sp>
          <p:nvSpPr>
            <p:cNvPr id="40" name="TextBox 40"/>
            <p:cNvSpPr txBox="1"/>
            <p:nvPr/>
          </p:nvSpPr>
          <p:spPr>
            <a:xfrm>
              <a:off x="6274118" y="4752499"/>
              <a:ext cx="2852618"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2. Consider price increase in specialty shops</a:t>
              </a:r>
            </a:p>
          </p:txBody>
        </p:sp>
        <p:sp>
          <p:nvSpPr>
            <p:cNvPr id="41" name="TextBox 41"/>
            <p:cNvSpPr txBox="1"/>
            <p:nvPr/>
          </p:nvSpPr>
          <p:spPr>
            <a:xfrm>
              <a:off x="6464618" y="4962049"/>
              <a:ext cx="2664095"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(established substitutes limit price hikes</a:t>
              </a:r>
            </a:p>
          </p:txBody>
        </p:sp>
        <p:sp>
          <p:nvSpPr>
            <p:cNvPr id="42" name="TextBox 42"/>
            <p:cNvSpPr txBox="1"/>
            <p:nvPr/>
          </p:nvSpPr>
          <p:spPr>
            <a:xfrm>
              <a:off x="6464618" y="5171599"/>
              <a:ext cx="1506950"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in general food stores)</a:t>
              </a:r>
            </a:p>
          </p:txBody>
        </p:sp>
        <p:sp>
          <p:nvSpPr>
            <p:cNvPr id="43" name="TextBox 43"/>
            <p:cNvSpPr txBox="1"/>
            <p:nvPr/>
          </p:nvSpPr>
          <p:spPr>
            <a:xfrm>
              <a:off x="6274118" y="5371624"/>
              <a:ext cx="2794111"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3. Assess cost minimization and alternative</a:t>
              </a:r>
            </a:p>
          </p:txBody>
        </p:sp>
        <p:sp>
          <p:nvSpPr>
            <p:cNvPr id="44" name="TextBox 44"/>
            <p:cNvSpPr txBox="1"/>
            <p:nvPr/>
          </p:nvSpPr>
          <p:spPr>
            <a:xfrm>
              <a:off x="6464618" y="5581174"/>
              <a:ext cx="2248043" cy="198120"/>
            </a:xfrm>
            <a:prstGeom prst="rect">
              <a:avLst/>
            </a:prstGeom>
            <a:noFill/>
            <a:ln>
              <a:noFill/>
            </a:ln>
          </p:spPr>
          <p:txBody>
            <a:bodyPr wrap="none" lIns="0" tIns="0" rIns="0" bIns="0" anchor="t" anchorCtr="0">
              <a:spAutoFit/>
            </a:bodyPr>
            <a:lstStyle/>
            <a:p>
              <a:pPr algn="l"/>
              <a:r>
                <a:rPr lang="zh-CN" sz="975" dirty="0">
                  <a:solidFill>
                    <a:srgbClr val="333333"/>
                  </a:solidFill>
                  <a:latin typeface="Arial"/>
                  <a:ea typeface="Microsoft YaHei"/>
                  <a:cs typeface="Arial"/>
                </a:rPr>
                <a:t>marketing/distribution approaches</a:t>
              </a:r>
            </a:p>
          </p:txBody>
        </p:sp>
      </p:grpSp>
      <p:grpSp>
        <p:nvGrpSpPr>
          <p:cNvPr id="47" name="Group 47"/>
          <p:cNvGrpSpPr/>
          <p:nvPr/>
        </p:nvGrpSpPr>
        <p:grpSpPr>
          <a:xfrm>
            <a:off x="3756327" y="5943124"/>
            <a:ext cx="4679347" cy="198120"/>
            <a:chOff x="3756327" y="5943124"/>
            <a:chExt cx="4679347" cy="198120"/>
          </a:xfrm>
        </p:grpSpPr>
        <p:sp>
          <p:nvSpPr>
            <p:cNvPr id="46" name="TextBox 46"/>
            <p:cNvSpPr txBox="1"/>
            <p:nvPr/>
          </p:nvSpPr>
          <p:spPr>
            <a:xfrm>
              <a:off x="3756327" y="5943124"/>
              <a:ext cx="4679347"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 xml:space="preserve">Trigger threshold: </a:t>
              </a:r>
              <a:r>
                <a:rPr lang="zh-CN" sz="975" b="1" dirty="0">
                  <a:solidFill>
                    <a:srgbClr val="1A1A2E"/>
                  </a:solidFill>
                  <a:latin typeface="Arial"/>
                  <a:ea typeface="Microsoft YaHei"/>
                  <a:cs typeface="Arial"/>
                </a:rPr>
                <a:t>less than 90% of projected sales or returns on assets</a:t>
              </a:r>
            </a:p>
          </p:txBody>
        </p:sp>
      </p:grpSp>
      <p:grpSp>
        <p:nvGrpSpPr>
          <p:cNvPr id="50" name="Group 50"/>
          <p:cNvGrpSpPr/>
          <p:nvPr/>
        </p:nvGrpSpPr>
        <p:grpSpPr>
          <a:xfrm>
            <a:off x="752475" y="6538912"/>
            <a:ext cx="10687050" cy="152400"/>
            <a:chOff x="752475" y="6538912"/>
            <a:chExt cx="10687050" cy="152400"/>
          </a:xfrm>
        </p:grpSpPr>
        <p:sp>
          <p:nvSpPr>
            <p:cNvPr id="48" name="TextBox 48"/>
            <p:cNvSpPr txBox="1"/>
            <p:nvPr/>
          </p:nvSpPr>
          <p:spPr>
            <a:xfrm>
              <a:off x="752475" y="6538912"/>
              <a:ext cx="1904286"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a:ea typeface="Microsoft YaHei"/>
                  <a:cs typeface="Arial"/>
                </a:rPr>
                <a:t>Fancy's Foods — Investor Presentation</a:t>
              </a:r>
            </a:p>
          </p:txBody>
        </p:sp>
        <p:sp>
          <p:nvSpPr>
            <p:cNvPr id="49" name="TextBox 49"/>
            <p:cNvSpPr txBox="1"/>
            <p:nvPr/>
          </p:nvSpPr>
          <p:spPr>
            <a:xfrm>
              <a:off x="11310461" y="6538912"/>
              <a:ext cx="129064" cy="152400"/>
            </a:xfrm>
            <a:prstGeom prst="rect">
              <a:avLst/>
            </a:prstGeom>
            <a:noFill/>
            <a:ln>
              <a:noFill/>
            </a:ln>
          </p:spPr>
          <p:txBody>
            <a:bodyPr wrap="none" lIns="0" tIns="0" rIns="0" bIns="0" anchor="t" anchorCtr="0">
              <a:spAutoFit/>
            </a:bodyPr>
            <a:lstStyle/>
            <a:p>
              <a:pPr algn="r"/>
              <a:r>
                <a:rPr lang="zh-CN" sz="750" dirty="0">
                  <a:solidFill>
                    <a:srgbClr val="999999"/>
                  </a:solidFill>
                  <a:latin typeface="Arial"/>
                  <a:ea typeface="Microsoft YaHei"/>
                  <a:cs typeface="Arial"/>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slide(fromBottom)">
                                      <p:cBhvr>
                                        <p:cTn id="7" dur="400"/>
                                        <p:tgtEl>
                                          <p:spTgt spid="1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image">
                                      <p:cBhvr>
                                        <p:cTn id="11" dur="400"/>
                                        <p:tgtEl>
                                          <p:spTgt spid="2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400"/>
                                        <p:tgtEl>
                                          <p:spTgt spid="35"/>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wipe(left)">
                                      <p:cBhvr>
                                        <p:cTn id="19" dur="400"/>
                                        <p:tgtEl>
                                          <p:spTgt spid="4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6" grpId="0"/>
      <p:bldP spid="35" grpId="0"/>
      <p:bldP spid="45" grpId="0"/>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62000" y="442912"/>
            <a:ext cx="4434007" cy="457200"/>
            <a:chOff x="762000" y="442912"/>
            <a:chExt cx="4434007" cy="457200"/>
          </a:xfrm>
        </p:grpSpPr>
        <p:sp>
          <p:nvSpPr>
            <p:cNvPr id="3" name="Rectangle 3"/>
            <p:cNvSpPr/>
            <p:nvPr/>
          </p:nvSpPr>
          <p:spPr>
            <a:xfrm>
              <a:off x="762000" y="476250"/>
              <a:ext cx="38100" cy="266700"/>
            </a:xfrm>
            <a:prstGeom prst="rect">
              <a:avLst/>
            </a:prstGeom>
            <a:solidFill>
              <a:srgbClr val="D04A02"/>
            </a:solidFill>
            <a:ln>
              <a:noFill/>
            </a:ln>
          </p:spPr>
        </p:sp>
        <p:sp>
          <p:nvSpPr>
            <p:cNvPr id="4" name="TextBox 4"/>
            <p:cNvSpPr txBox="1"/>
            <p:nvPr/>
          </p:nvSpPr>
          <p:spPr>
            <a:xfrm>
              <a:off x="885825" y="442912"/>
              <a:ext cx="4310182" cy="457200"/>
            </a:xfrm>
            <a:prstGeom prst="rect">
              <a:avLst/>
            </a:prstGeom>
            <a:noFill/>
            <a:ln>
              <a:noFill/>
            </a:ln>
          </p:spPr>
          <p:txBody>
            <a:bodyPr wrap="none" lIns="0" tIns="0" rIns="0" bIns="0" anchor="t" anchorCtr="0">
              <a:spAutoFit/>
            </a:bodyPr>
            <a:lstStyle/>
            <a:p>
              <a:pPr algn="l"/>
              <a:r>
                <a:rPr lang="zh-CN" sz="2250" b="1" dirty="0">
                  <a:solidFill>
                    <a:srgbClr val="1A1A2E"/>
                  </a:solidFill>
                  <a:latin typeface="Arial"/>
                  <a:ea typeface="Microsoft YaHei"/>
                  <a:cs typeface="Arial"/>
                </a:rPr>
                <a:t>Partner With Fancy's Foods</a:t>
              </a:r>
            </a:p>
          </p:txBody>
        </p:sp>
      </p:grpSp>
      <p:sp>
        <p:nvSpPr>
          <p:cNvPr id="6" name="TextBox 6"/>
          <p:cNvSpPr txBox="1"/>
          <p:nvPr/>
        </p:nvSpPr>
        <p:spPr>
          <a:xfrm>
            <a:off x="746760" y="870585"/>
            <a:ext cx="8487537"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A profitable, differentiated food brand with proven demand — seeking investment and channel partnerships.</a:t>
            </a:r>
          </a:p>
        </p:txBody>
      </p:sp>
      <p:grpSp>
        <p:nvGrpSpPr>
          <p:cNvPr id="31" name="Group 31"/>
          <p:cNvGrpSpPr/>
          <p:nvPr/>
        </p:nvGrpSpPr>
        <p:grpSpPr>
          <a:xfrm>
            <a:off x="762000" y="1333500"/>
            <a:ext cx="10668000" cy="2533650"/>
            <a:chOff x="762000" y="1333500"/>
            <a:chExt cx="10668000" cy="2533650"/>
          </a:xfrm>
        </p:grpSpPr>
        <p:grpSp>
          <p:nvGrpSpPr>
            <p:cNvPr id="12" name="Group 12"/>
            <p:cNvGrpSpPr/>
            <p:nvPr/>
          </p:nvGrpSpPr>
          <p:grpSpPr>
            <a:xfrm>
              <a:off x="762000" y="1333500"/>
              <a:ext cx="5143500" cy="1152525"/>
              <a:chOff x="762000" y="1333500"/>
              <a:chExt cx="5143500" cy="1152525"/>
            </a:xfrm>
          </p:grpSpPr>
          <p:sp>
            <p:nvSpPr>
              <p:cNvPr id="7" name="Rectangle 7"/>
              <p:cNvSpPr/>
              <p:nvPr/>
            </p:nvSpPr>
            <p:spPr>
              <a:xfrm>
                <a:off x="762000" y="1333500"/>
                <a:ext cx="5143500" cy="1143000"/>
              </a:xfrm>
              <a:prstGeom prst="rect">
                <a:avLst/>
              </a:prstGeom>
              <a:solidFill>
                <a:srgbClr val="F5F5F5"/>
              </a:solidFill>
              <a:ln>
                <a:noFill/>
              </a:ln>
            </p:spPr>
          </p:sp>
          <p:sp>
            <p:nvSpPr>
              <p:cNvPr id="8" name="Rectangle 8"/>
              <p:cNvSpPr/>
              <p:nvPr/>
            </p:nvSpPr>
            <p:spPr>
              <a:xfrm>
                <a:off x="762000" y="1333500"/>
                <a:ext cx="38100" cy="1143000"/>
              </a:xfrm>
              <a:prstGeom prst="rect">
                <a:avLst/>
              </a:prstGeom>
              <a:solidFill>
                <a:srgbClr val="D04A02"/>
              </a:solidFill>
              <a:ln>
                <a:noFill/>
              </a:ln>
            </p:spPr>
          </p:sp>
          <p:sp>
            <p:nvSpPr>
              <p:cNvPr id="9" name="TextBox 9"/>
              <p:cNvSpPr txBox="1"/>
              <p:nvPr/>
            </p:nvSpPr>
            <p:spPr>
              <a:xfrm>
                <a:off x="1034415" y="1505902"/>
                <a:ext cx="1776889"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Return on Equity (Year 1)</a:t>
                </a:r>
              </a:p>
            </p:txBody>
          </p:sp>
          <p:sp>
            <p:nvSpPr>
              <p:cNvPr id="10" name="TextBox 10"/>
              <p:cNvSpPr txBox="1"/>
              <p:nvPr/>
            </p:nvSpPr>
            <p:spPr>
              <a:xfrm>
                <a:off x="1002030" y="1754505"/>
                <a:ext cx="1855661" cy="731520"/>
              </a:xfrm>
              <a:prstGeom prst="rect">
                <a:avLst/>
              </a:prstGeom>
              <a:noFill/>
              <a:ln>
                <a:noFill/>
              </a:ln>
            </p:spPr>
            <p:txBody>
              <a:bodyPr wrap="none" lIns="0" tIns="0" rIns="0" bIns="0" anchor="t" anchorCtr="0">
                <a:spAutoFit/>
              </a:bodyPr>
              <a:lstStyle/>
              <a:p>
                <a:pPr algn="l"/>
                <a:r>
                  <a:rPr lang="zh-CN" sz="3600" b="1" dirty="0">
                    <a:solidFill>
                      <a:srgbClr val="D04A02"/>
                    </a:solidFill>
                    <a:latin typeface="Arial"/>
                    <a:ea typeface="Microsoft YaHei"/>
                    <a:cs typeface="Arial"/>
                  </a:rPr>
                  <a:t>10.88%</a:t>
                </a:r>
              </a:p>
            </p:txBody>
          </p:sp>
          <p:sp>
            <p:nvSpPr>
              <p:cNvPr id="11" name="TextBox 11"/>
              <p:cNvSpPr txBox="1"/>
              <p:nvPr/>
            </p:nvSpPr>
            <p:spPr>
              <a:xfrm>
                <a:off x="2844165" y="2029778"/>
                <a:ext cx="1811893"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$21,550 / $198,060 equity</a:t>
                </a:r>
              </a:p>
            </p:txBody>
          </p:sp>
        </p:grpSp>
        <p:grpSp>
          <p:nvGrpSpPr>
            <p:cNvPr id="18" name="Group 18"/>
            <p:cNvGrpSpPr/>
            <p:nvPr/>
          </p:nvGrpSpPr>
          <p:grpSpPr>
            <a:xfrm>
              <a:off x="6286500" y="1333500"/>
              <a:ext cx="5143500" cy="1152525"/>
              <a:chOff x="6286500" y="1333500"/>
              <a:chExt cx="5143500" cy="1152525"/>
            </a:xfrm>
          </p:grpSpPr>
          <p:sp>
            <p:nvSpPr>
              <p:cNvPr id="13" name="Rectangle 13"/>
              <p:cNvSpPr/>
              <p:nvPr/>
            </p:nvSpPr>
            <p:spPr>
              <a:xfrm>
                <a:off x="6286500" y="1333500"/>
                <a:ext cx="5143500" cy="1143000"/>
              </a:xfrm>
              <a:prstGeom prst="rect">
                <a:avLst/>
              </a:prstGeom>
              <a:solidFill>
                <a:srgbClr val="F5F5F5"/>
              </a:solidFill>
              <a:ln>
                <a:noFill/>
              </a:ln>
            </p:spPr>
          </p:sp>
          <p:sp>
            <p:nvSpPr>
              <p:cNvPr id="14" name="Rectangle 14"/>
              <p:cNvSpPr/>
              <p:nvPr/>
            </p:nvSpPr>
            <p:spPr>
              <a:xfrm>
                <a:off x="6286500" y="1333500"/>
                <a:ext cx="38100" cy="1143000"/>
              </a:xfrm>
              <a:prstGeom prst="rect">
                <a:avLst/>
              </a:prstGeom>
              <a:solidFill>
                <a:srgbClr val="0076A8"/>
              </a:solidFill>
              <a:ln>
                <a:noFill/>
              </a:ln>
            </p:spPr>
          </p:sp>
          <p:sp>
            <p:nvSpPr>
              <p:cNvPr id="15" name="TextBox 15"/>
              <p:cNvSpPr txBox="1"/>
              <p:nvPr/>
            </p:nvSpPr>
            <p:spPr>
              <a:xfrm>
                <a:off x="6558915" y="1505902"/>
                <a:ext cx="1734884"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Year 3 Projected Revenue</a:t>
                </a:r>
              </a:p>
            </p:txBody>
          </p:sp>
          <p:sp>
            <p:nvSpPr>
              <p:cNvPr id="16" name="TextBox 16"/>
              <p:cNvSpPr txBox="1"/>
              <p:nvPr/>
            </p:nvSpPr>
            <p:spPr>
              <a:xfrm>
                <a:off x="6526530" y="1754505"/>
                <a:ext cx="2309317" cy="731520"/>
              </a:xfrm>
              <a:prstGeom prst="rect">
                <a:avLst/>
              </a:prstGeom>
              <a:noFill/>
              <a:ln>
                <a:noFill/>
              </a:ln>
            </p:spPr>
            <p:txBody>
              <a:bodyPr wrap="none" lIns="0" tIns="0" rIns="0" bIns="0" anchor="t" anchorCtr="0">
                <a:spAutoFit/>
              </a:bodyPr>
              <a:lstStyle/>
              <a:p>
                <a:pPr algn="l"/>
                <a:r>
                  <a:rPr lang="zh-CN" sz="3600" b="1" dirty="0">
                    <a:solidFill>
                      <a:srgbClr val="0076A8"/>
                    </a:solidFill>
                    <a:latin typeface="Arial"/>
                    <a:ea typeface="Microsoft YaHei"/>
                    <a:cs typeface="Arial"/>
                  </a:rPr>
                  <a:t>$592,194</a:t>
                </a:r>
              </a:p>
            </p:txBody>
          </p:sp>
          <p:sp>
            <p:nvSpPr>
              <p:cNvPr id="17" name="TextBox 17"/>
              <p:cNvSpPr txBox="1"/>
              <p:nvPr/>
            </p:nvSpPr>
            <p:spPr>
              <a:xfrm>
                <a:off x="8749665" y="2029778"/>
                <a:ext cx="1272826"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258,600 units sold</a:t>
                </a:r>
              </a:p>
            </p:txBody>
          </p:sp>
        </p:grpSp>
        <p:grpSp>
          <p:nvGrpSpPr>
            <p:cNvPr id="24" name="Group 24"/>
            <p:cNvGrpSpPr/>
            <p:nvPr/>
          </p:nvGrpSpPr>
          <p:grpSpPr>
            <a:xfrm>
              <a:off x="762000" y="2667000"/>
              <a:ext cx="5143500" cy="1152525"/>
              <a:chOff x="762000" y="2667000"/>
              <a:chExt cx="5143500" cy="1152525"/>
            </a:xfrm>
          </p:grpSpPr>
          <p:sp>
            <p:nvSpPr>
              <p:cNvPr id="19" name="Rectangle 19"/>
              <p:cNvSpPr/>
              <p:nvPr/>
            </p:nvSpPr>
            <p:spPr>
              <a:xfrm>
                <a:off x="762000" y="2667000"/>
                <a:ext cx="5143500" cy="1143000"/>
              </a:xfrm>
              <a:prstGeom prst="rect">
                <a:avLst/>
              </a:prstGeom>
              <a:solidFill>
                <a:srgbClr val="F5F5F5"/>
              </a:solidFill>
              <a:ln>
                <a:noFill/>
              </a:ln>
            </p:spPr>
          </p:sp>
          <p:sp>
            <p:nvSpPr>
              <p:cNvPr id="20" name="Rectangle 20"/>
              <p:cNvSpPr/>
              <p:nvPr/>
            </p:nvSpPr>
            <p:spPr>
              <a:xfrm>
                <a:off x="762000" y="2667000"/>
                <a:ext cx="38100" cy="1143000"/>
              </a:xfrm>
              <a:prstGeom prst="rect">
                <a:avLst/>
              </a:prstGeom>
              <a:solidFill>
                <a:srgbClr val="1A1A2E"/>
              </a:solidFill>
              <a:ln>
                <a:noFill/>
              </a:ln>
            </p:spPr>
          </p:sp>
          <p:sp>
            <p:nvSpPr>
              <p:cNvPr id="21" name="TextBox 21"/>
              <p:cNvSpPr txBox="1"/>
              <p:nvPr/>
            </p:nvSpPr>
            <p:spPr>
              <a:xfrm>
                <a:off x="1034415" y="2839402"/>
                <a:ext cx="1090803"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Owner's Equity</a:t>
                </a:r>
              </a:p>
            </p:txBody>
          </p:sp>
          <p:sp>
            <p:nvSpPr>
              <p:cNvPr id="22" name="TextBox 22"/>
              <p:cNvSpPr txBox="1"/>
              <p:nvPr/>
            </p:nvSpPr>
            <p:spPr>
              <a:xfrm>
                <a:off x="1002030" y="3088005"/>
                <a:ext cx="2309317" cy="731520"/>
              </a:xfrm>
              <a:prstGeom prst="rect">
                <a:avLst/>
              </a:prstGeom>
              <a:noFill/>
              <a:ln>
                <a:noFill/>
              </a:ln>
            </p:spPr>
            <p:txBody>
              <a:bodyPr wrap="none" lIns="0" tIns="0" rIns="0" bIns="0" anchor="t" anchorCtr="0">
                <a:spAutoFit/>
              </a:bodyPr>
              <a:lstStyle/>
              <a:p>
                <a:pPr algn="l"/>
                <a:r>
                  <a:rPr lang="zh-CN" sz="3600" b="1" dirty="0">
                    <a:solidFill>
                      <a:srgbClr val="1A1A2E"/>
                    </a:solidFill>
                    <a:latin typeface="Arial"/>
                    <a:ea typeface="Microsoft YaHei"/>
                    <a:cs typeface="Arial"/>
                  </a:rPr>
                  <a:t>$198,060</a:t>
                </a:r>
              </a:p>
            </p:txBody>
          </p:sp>
          <p:sp>
            <p:nvSpPr>
              <p:cNvPr id="23" name="TextBox 23"/>
              <p:cNvSpPr txBox="1"/>
              <p:nvPr/>
            </p:nvSpPr>
            <p:spPr>
              <a:xfrm>
                <a:off x="3510915" y="3363278"/>
                <a:ext cx="1615869"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Total assets: $273,176</a:t>
                </a:r>
              </a:p>
            </p:txBody>
          </p:sp>
        </p:grpSp>
        <p:grpSp>
          <p:nvGrpSpPr>
            <p:cNvPr id="30" name="Group 30"/>
            <p:cNvGrpSpPr/>
            <p:nvPr/>
          </p:nvGrpSpPr>
          <p:grpSpPr>
            <a:xfrm>
              <a:off x="6286500" y="2667000"/>
              <a:ext cx="5143500" cy="1200150"/>
              <a:chOff x="6286500" y="2667000"/>
              <a:chExt cx="5143500" cy="1200150"/>
            </a:xfrm>
          </p:grpSpPr>
          <p:sp>
            <p:nvSpPr>
              <p:cNvPr id="25" name="Rectangle 25"/>
              <p:cNvSpPr/>
              <p:nvPr/>
            </p:nvSpPr>
            <p:spPr>
              <a:xfrm>
                <a:off x="6286500" y="2667000"/>
                <a:ext cx="5143500" cy="1143000"/>
              </a:xfrm>
              <a:prstGeom prst="rect">
                <a:avLst/>
              </a:prstGeom>
              <a:solidFill>
                <a:srgbClr val="F5F5F5"/>
              </a:solidFill>
              <a:ln>
                <a:noFill/>
              </a:ln>
            </p:spPr>
          </p:sp>
          <p:sp>
            <p:nvSpPr>
              <p:cNvPr id="26" name="Rectangle 26"/>
              <p:cNvSpPr/>
              <p:nvPr/>
            </p:nvSpPr>
            <p:spPr>
              <a:xfrm>
                <a:off x="6286500" y="2667000"/>
                <a:ext cx="38100" cy="1143000"/>
              </a:xfrm>
              <a:prstGeom prst="rect">
                <a:avLst/>
              </a:prstGeom>
              <a:solidFill>
                <a:srgbClr val="2E7D32"/>
              </a:solidFill>
              <a:ln>
                <a:noFill/>
              </a:ln>
            </p:spPr>
          </p:sp>
          <p:sp>
            <p:nvSpPr>
              <p:cNvPr id="27" name="TextBox 27"/>
              <p:cNvSpPr txBox="1"/>
              <p:nvPr/>
            </p:nvSpPr>
            <p:spPr>
              <a:xfrm>
                <a:off x="6558915" y="2839402"/>
                <a:ext cx="1083802"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Financial Health</a:t>
                </a:r>
              </a:p>
            </p:txBody>
          </p:sp>
          <p:sp>
            <p:nvSpPr>
              <p:cNvPr id="28" name="TextBox 28"/>
              <p:cNvSpPr txBox="1"/>
              <p:nvPr/>
            </p:nvSpPr>
            <p:spPr>
              <a:xfrm>
                <a:off x="6545580" y="3154680"/>
                <a:ext cx="2905496" cy="426720"/>
              </a:xfrm>
              <a:prstGeom prst="rect">
                <a:avLst/>
              </a:prstGeom>
              <a:noFill/>
              <a:ln>
                <a:noFill/>
              </a:ln>
            </p:spPr>
            <p:txBody>
              <a:bodyPr wrap="none" lIns="0" tIns="0" rIns="0" bIns="0" anchor="t" anchorCtr="0">
                <a:spAutoFit/>
              </a:bodyPr>
              <a:lstStyle/>
              <a:p>
                <a:pPr algn="l"/>
                <a:r>
                  <a:rPr lang="zh-CN" sz="2100" b="1" dirty="0">
                    <a:solidFill>
                      <a:srgbClr val="2E7D32"/>
                    </a:solidFill>
                    <a:latin typeface="Arial"/>
                    <a:ea typeface="Microsoft YaHei"/>
                    <a:cs typeface="Arial"/>
                  </a:rPr>
                  <a:t>Current Ratio: 2.73</a:t>
                </a:r>
              </a:p>
            </p:txBody>
          </p:sp>
          <p:sp>
            <p:nvSpPr>
              <p:cNvPr id="29" name="TextBox 29"/>
              <p:cNvSpPr txBox="1"/>
              <p:nvPr/>
            </p:nvSpPr>
            <p:spPr>
              <a:xfrm>
                <a:off x="6545580" y="3440430"/>
                <a:ext cx="2655565" cy="426720"/>
              </a:xfrm>
              <a:prstGeom prst="rect">
                <a:avLst/>
              </a:prstGeom>
              <a:noFill/>
              <a:ln>
                <a:noFill/>
              </a:ln>
            </p:spPr>
            <p:txBody>
              <a:bodyPr wrap="none" lIns="0" tIns="0" rIns="0" bIns="0" anchor="t" anchorCtr="0">
                <a:spAutoFit/>
              </a:bodyPr>
              <a:lstStyle/>
              <a:p>
                <a:pPr algn="l"/>
                <a:r>
                  <a:rPr lang="zh-CN" sz="2100" b="1" dirty="0">
                    <a:solidFill>
                      <a:srgbClr val="2E7D32"/>
                    </a:solidFill>
                    <a:latin typeface="Arial"/>
                    <a:ea typeface="Microsoft YaHei"/>
                    <a:cs typeface="Arial"/>
                  </a:rPr>
                  <a:t>Debt/Equity: 0.38</a:t>
                </a:r>
              </a:p>
            </p:txBody>
          </p:sp>
        </p:grpSp>
      </p:grpSp>
      <p:grpSp>
        <p:nvGrpSpPr>
          <p:cNvPr id="37" name="Group 37"/>
          <p:cNvGrpSpPr/>
          <p:nvPr/>
        </p:nvGrpSpPr>
        <p:grpSpPr>
          <a:xfrm>
            <a:off x="762000" y="4191000"/>
            <a:ext cx="10668000" cy="1524000"/>
            <a:chOff x="762000" y="4191000"/>
            <a:chExt cx="10668000" cy="1524000"/>
          </a:xfrm>
        </p:grpSpPr>
        <p:sp>
          <p:nvSpPr>
            <p:cNvPr id="32" name="Rectangle 32"/>
            <p:cNvSpPr/>
            <p:nvPr/>
          </p:nvSpPr>
          <p:spPr>
            <a:xfrm>
              <a:off x="762000" y="4191000"/>
              <a:ext cx="10668000" cy="1524000"/>
            </a:xfrm>
            <a:prstGeom prst="rect">
              <a:avLst/>
            </a:prstGeom>
            <a:solidFill>
              <a:srgbClr val="1A1A2E"/>
            </a:solidFill>
            <a:ln>
              <a:noFill/>
            </a:ln>
          </p:spPr>
        </p:sp>
        <p:sp>
          <p:nvSpPr>
            <p:cNvPr id="33" name="TextBox 33"/>
            <p:cNvSpPr txBox="1"/>
            <p:nvPr/>
          </p:nvSpPr>
          <p:spPr>
            <a:xfrm>
              <a:off x="1123950" y="4410075"/>
              <a:ext cx="2043851" cy="304800"/>
            </a:xfrm>
            <a:prstGeom prst="rect">
              <a:avLst/>
            </a:prstGeom>
            <a:noFill/>
            <a:ln>
              <a:noFill/>
            </a:ln>
          </p:spPr>
          <p:txBody>
            <a:bodyPr wrap="none" lIns="0" tIns="0" rIns="0" bIns="0" anchor="t" anchorCtr="0">
              <a:spAutoFit/>
            </a:bodyPr>
            <a:lstStyle/>
            <a:p>
              <a:pPr algn="l"/>
              <a:r>
                <a:rPr lang="zh-CN" sz="1500" b="1" dirty="0">
                  <a:solidFill>
                    <a:srgbClr val="D04A02"/>
                  </a:solidFill>
                  <a:latin typeface="Arial"/>
                  <a:ea typeface="Microsoft YaHei"/>
                  <a:cs typeface="Arial"/>
                </a:rPr>
                <a:t>What We're Seeking</a:t>
              </a:r>
            </a:p>
          </p:txBody>
        </p:sp>
        <p:sp>
          <p:nvSpPr>
            <p:cNvPr id="34" name="TextBox 34"/>
            <p:cNvSpPr txBox="1"/>
            <p:nvPr/>
          </p:nvSpPr>
          <p:spPr>
            <a:xfrm>
              <a:off x="1128712" y="4783931"/>
              <a:ext cx="7206972"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 xml:space="preserve">• </a:t>
              </a:r>
              <a:r>
                <a:rPr lang="zh-CN" sz="1125" b="1" dirty="0">
                  <a:solidFill>
                    <a:srgbClr val="FFFFFF"/>
                  </a:solidFill>
                  <a:latin typeface="Arial"/>
                  <a:ea typeface="Microsoft YaHei"/>
                  <a:cs typeface="Arial"/>
                </a:rPr>
                <a:t>Investment capital</a:t>
              </a:r>
              <a:r>
                <a:rPr lang="zh-CN" sz="1125" dirty="0">
                  <a:solidFill>
                    <a:srgbClr val="FFFFFF"/>
                  </a:solidFill>
                  <a:latin typeface="Arial"/>
                  <a:ea typeface="Microsoft YaHei"/>
                  <a:cs typeface="Arial"/>
                </a:rPr>
                <a:t xml:space="preserve"> to scale production capacity and support Oklahoma City / Tulsa market entry</a:t>
              </a:r>
            </a:p>
          </p:txBody>
        </p:sp>
        <p:sp>
          <p:nvSpPr>
            <p:cNvPr id="35" name="TextBox 35"/>
            <p:cNvSpPr txBox="1"/>
            <p:nvPr/>
          </p:nvSpPr>
          <p:spPr>
            <a:xfrm>
              <a:off x="1128712" y="5069681"/>
              <a:ext cx="7552015"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 xml:space="preserve">• </a:t>
              </a:r>
              <a:r>
                <a:rPr lang="zh-CN" sz="1125" b="1" dirty="0">
                  <a:solidFill>
                    <a:srgbClr val="FFFFFF"/>
                  </a:solidFill>
                  <a:latin typeface="Arial"/>
                  <a:ea typeface="Microsoft YaHei"/>
                  <a:cs typeface="Arial"/>
                </a:rPr>
                <a:t>Channel partnerships</a:t>
              </a:r>
              <a:r>
                <a:rPr lang="zh-CN" sz="1125" dirty="0">
                  <a:solidFill>
                    <a:srgbClr val="FFFFFF"/>
                  </a:solidFill>
                  <a:latin typeface="Arial"/>
                  <a:ea typeface="Microsoft YaHei"/>
                  <a:cs typeface="Arial"/>
                </a:rPr>
                <a:t xml:space="preserve"> with grocery distributors and specialty food retailers in metropolitan markets</a:t>
              </a:r>
            </a:p>
          </p:txBody>
        </p:sp>
        <p:sp>
          <p:nvSpPr>
            <p:cNvPr id="36" name="TextBox 36"/>
            <p:cNvSpPr txBox="1"/>
            <p:nvPr/>
          </p:nvSpPr>
          <p:spPr>
            <a:xfrm>
              <a:off x="1128712" y="5355431"/>
              <a:ext cx="5751790"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a:ea typeface="Microsoft YaHei"/>
                  <a:cs typeface="Arial"/>
                </a:rPr>
                <a:t xml:space="preserve">• </a:t>
              </a:r>
              <a:r>
                <a:rPr lang="zh-CN" sz="1125" b="1" dirty="0">
                  <a:solidFill>
                    <a:srgbClr val="FFFFFF"/>
                  </a:solidFill>
                  <a:latin typeface="Arial"/>
                  <a:ea typeface="Microsoft YaHei"/>
                  <a:cs typeface="Arial"/>
                </a:rPr>
                <a:t>Strategic guidance</a:t>
              </a:r>
              <a:r>
                <a:rPr lang="zh-CN" sz="1125" dirty="0">
                  <a:solidFill>
                    <a:srgbClr val="FFFFFF"/>
                  </a:solidFill>
                  <a:latin typeface="Arial"/>
                  <a:ea typeface="Microsoft YaHei"/>
                  <a:cs typeface="Arial"/>
                </a:rPr>
                <a:t xml:space="preserve"> for scaling from local production to regional distribution</a:t>
              </a:r>
            </a:p>
          </p:txBody>
        </p:sp>
      </p:grpSp>
      <p:grpSp>
        <p:nvGrpSpPr>
          <p:cNvPr id="40" name="Group 40"/>
          <p:cNvGrpSpPr/>
          <p:nvPr/>
        </p:nvGrpSpPr>
        <p:grpSpPr>
          <a:xfrm>
            <a:off x="752475" y="6538912"/>
            <a:ext cx="10687050" cy="152400"/>
            <a:chOff x="752475" y="6538912"/>
            <a:chExt cx="10687050" cy="152400"/>
          </a:xfrm>
        </p:grpSpPr>
        <p:sp>
          <p:nvSpPr>
            <p:cNvPr id="38" name="TextBox 38"/>
            <p:cNvSpPr txBox="1"/>
            <p:nvPr/>
          </p:nvSpPr>
          <p:spPr>
            <a:xfrm>
              <a:off x="752475" y="6538912"/>
              <a:ext cx="2814399" cy="152400"/>
            </a:xfrm>
            <a:prstGeom prst="rect">
              <a:avLst/>
            </a:prstGeom>
            <a:noFill/>
            <a:ln>
              <a:noFill/>
            </a:ln>
          </p:spPr>
          <p:txBody>
            <a:bodyPr wrap="none" lIns="0" tIns="0" rIns="0" bIns="0" anchor="t" anchorCtr="0">
              <a:spAutoFit/>
            </a:bodyPr>
            <a:lstStyle/>
            <a:p>
              <a:pPr algn="l"/>
              <a:r>
                <a:rPr lang="zh-CN" sz="750" dirty="0">
                  <a:solidFill>
                    <a:srgbClr val="999999"/>
                  </a:solidFill>
                  <a:latin typeface="Arial"/>
                  <a:ea typeface="Microsoft YaHei"/>
                  <a:cs typeface="Arial"/>
                </a:rPr>
                <a:t>Keith &amp; Marianne Bean · Fancy's Foods, LLC · Antlers, OK</a:t>
              </a:r>
            </a:p>
          </p:txBody>
        </p:sp>
        <p:sp>
          <p:nvSpPr>
            <p:cNvPr id="39" name="TextBox 39"/>
            <p:cNvSpPr txBox="1"/>
            <p:nvPr/>
          </p:nvSpPr>
          <p:spPr>
            <a:xfrm>
              <a:off x="11310461" y="6538912"/>
              <a:ext cx="129064" cy="152400"/>
            </a:xfrm>
            <a:prstGeom prst="rect">
              <a:avLst/>
            </a:prstGeom>
            <a:noFill/>
            <a:ln>
              <a:noFill/>
            </a:ln>
          </p:spPr>
          <p:txBody>
            <a:bodyPr wrap="none" lIns="0" tIns="0" rIns="0" bIns="0" anchor="t" anchorCtr="0">
              <a:spAutoFit/>
            </a:bodyPr>
            <a:lstStyle/>
            <a:p>
              <a:pPr algn="r"/>
              <a:r>
                <a:rPr lang="zh-CN" sz="750" dirty="0">
                  <a:solidFill>
                    <a:srgbClr val="999999"/>
                  </a:solidFill>
                  <a:latin typeface="Arial"/>
                  <a:ea typeface="Microsoft YaHei"/>
                  <a:cs typeface="Arial"/>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heel(4)">
                                      <p:cBhvr>
                                        <p:cTn id="7" dur="400"/>
                                        <p:tgtEl>
                                          <p:spTgt spid="31"/>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2026-07-06T04:19:51Z</dcterms:created>
  <dcterms:modified xsi:type="dcterms:W3CDTF">2026-07-06T04:19:51Z</dcterms:modified>
  <cp:category/>
  <cp:contentStatus/>
</cp:coreProperties>
</file>
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2C3E50"/>
                </a:solidFill>
                <a:latin typeface="Calibri"/>
              </a:rPr>
              <a:t>Vapor-Compression Heat Pumps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1">
                <a:solidFill>
                  <a:srgbClr val="7F8C8D"/>
                </a:solidFill>
                <a:latin typeface="Calibri"/>
              </a:rPr>
              <a:t>A Systems Explainer for Facilities &amp; Junior Engineering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572000"/>
            <a:ext cx="2286000" cy="731520"/>
          </a:xfrm>
          <a:prstGeom prst="roundRect">
            <a:avLst/>
          </a:prstGeom>
          <a:solidFill>
            <a:srgbClr val="AED6F1"/>
          </a:solidFill>
          <a:ln w="1905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C3E50"/>
                </a:solidFill>
                <a:latin typeface="Calibri"/>
              </a:rPr>
              <a:t>Evaporator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4572000"/>
            <a:ext cx="2286000" cy="731520"/>
          </a:xfrm>
          <a:prstGeom prst="roundRect">
            <a:avLst/>
          </a:prstGeom>
          <a:solidFill>
            <a:srgbClr val="D7C8E6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C3E50"/>
                </a:solidFill>
                <a:latin typeface="Calibri"/>
              </a:rPr>
              <a:t>Compressor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572000"/>
            <a:ext cx="2286000" cy="731520"/>
          </a:xfrm>
          <a:prstGeom prst="roundRect">
            <a:avLst/>
          </a:prstGeom>
          <a:solidFill>
            <a:srgbClr val="F4D06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C3E50"/>
                </a:solidFill>
                <a:latin typeface="Calibri"/>
              </a:rPr>
              <a:t>Condenser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17720" y="4754880"/>
            <a:ext cx="274320" cy="365760"/>
          </a:xfrm>
          <a:prstGeom prst="rightArrow">
            <a:avLst/>
          </a:prstGeom>
          <a:solidFill>
            <a:srgbClr val="1E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269480" y="4754880"/>
            <a:ext cx="274320" cy="365760"/>
          </a:xfrm>
          <a:prstGeom prst="rightArrow">
            <a:avLst/>
          </a:prstGeom>
          <a:solidFill>
            <a:srgbClr val="1E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1">
                <a:solidFill>
                  <a:srgbClr val="005AB4"/>
                </a:solidFill>
                <a:latin typeface="Calibri"/>
              </a:rPr>
              <a:t>Heat is moved — not created.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What a Heat Pump Does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Moving heat from cold to warm using work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1463040"/>
          </a:xfrm>
          <a:prstGeom prst="roundRect">
            <a:avLst/>
          </a:prstGeom>
          <a:solidFill>
            <a:srgbClr val="AED6F1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C3E50"/>
                </a:solidFill>
                <a:latin typeface="Calibri"/>
              </a:rPr>
              <a:t>Cold Outdoor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Reservoir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46464"/>
                </a:solidFill>
                <a:latin typeface="Calibri"/>
              </a:rPr>
              <a:t>(low-grade heat source)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377440"/>
            <a:ext cx="2560320" cy="1463040"/>
          </a:xfrm>
          <a:prstGeom prst="roundRect">
            <a:avLst/>
          </a:prstGeom>
          <a:solidFill>
            <a:srgbClr val="E6DCFA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8E44AD"/>
                </a:solidFill>
                <a:latin typeface="Calibri"/>
              </a:rPr>
              <a:t>Heat Pump</a:t>
            </a: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333333"/>
                </a:solidFill>
                <a:latin typeface="Calibri"/>
              </a:rPr>
              <a:t>(refrigerant cycle)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377440"/>
            <a:ext cx="2560320" cy="146304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C3E50"/>
                </a:solidFill>
                <a:latin typeface="Calibri"/>
              </a:rPr>
              <a:t>Warm Indoor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Space</a:t>
            </a:r>
          </a:p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646464"/>
                </a:solidFill>
                <a:latin typeface="Calibri"/>
              </a:rPr>
              <a:t>(heat delivered here)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880360"/>
            <a:ext cx="1508760" cy="0"/>
          </a:xfrm>
          <a:prstGeom prst="line">
            <a:avLst/>
          </a:prstGeom>
          <a:ln w="3810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154680" y="2514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E67E22"/>
                </a:solidFill>
                <a:latin typeface="Calibri"/>
              </a:rPr>
              <a:t>Q_cold  (heat absorbed)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1417320"/>
            <a:ext cx="0" cy="914400"/>
          </a:xfrm>
          <a:prstGeom prst="line">
            <a:avLst/>
          </a:prstGeom>
          <a:ln w="38100">
            <a:solidFill>
              <a:srgbClr val="8E44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37760" y="1051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8E44AD"/>
                </a:solidFill>
                <a:latin typeface="Calibri"/>
              </a:rPr>
              <a:t>W_in  (work / electricity)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880360"/>
            <a:ext cx="1508760" cy="0"/>
          </a:xfrm>
          <a:prstGeom prst="line">
            <a:avLst/>
          </a:prstGeom>
          <a:ln w="3810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52360" y="2514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E67E22"/>
                </a:solidFill>
                <a:latin typeface="Calibri"/>
              </a:rPr>
              <a:t>Q_hot  (heat delivered)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7589520" cy="1463040"/>
          </a:xfrm>
          <a:prstGeom prst="roundRect">
            <a:avLst/>
          </a:prstGeom>
          <a:solidFill>
            <a:srgbClr val="FDF6E7"/>
          </a:solidFill>
          <a:ln w="254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7950B"/>
                </a:solidFill>
                <a:latin typeface="Calibri"/>
              </a:rPr>
              <a:t>Key principle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A heat pump does NOT create heat from nothing.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It uses electrical work (W_in) to move heat from a colder place to a warmer place.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5AB4"/>
                </a:solidFill>
                <a:latin typeface="Calibri"/>
              </a:rPr>
              <a:t>• Energy balance:  Q_hot = Q_cold + W_in   →   the heat delivered exceeds the work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Five Core Components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System architecture — evaporator, compressor, condenser, expansion valve, reversing valve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3108960" cy="1463040"/>
          </a:xfrm>
          <a:prstGeom prst="roundRect">
            <a:avLst/>
          </a:prstGeom>
          <a:solidFill>
            <a:srgbClr val="AED6F1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1. Evaporator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Low-pressure refrigerant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absorbs heat &amp; evaporates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108960" cy="1463040"/>
          </a:xfrm>
          <a:prstGeom prst="roundRect">
            <a:avLst/>
          </a:prstGeom>
          <a:solidFill>
            <a:srgbClr val="D7C8E6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2. Compressor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Vapor pressure &amp; temperature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rise — work is added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297680"/>
            <a:ext cx="3108960" cy="146304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3. Condenser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Hot high-pressure vapor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releases heat &amp; condenses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97680"/>
            <a:ext cx="3108960" cy="1463040"/>
          </a:xfrm>
          <a:prstGeom prst="roundRect">
            <a:avLst/>
          </a:prstGeom>
          <a:solidFill>
            <a:srgbClr val="DCE6F0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4. Expansion Valve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Liquid pressure drops &amp;</a:t>
            </a:r>
          </a:p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temperature falls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063240"/>
            <a:ext cx="2103120" cy="1280160"/>
          </a:xfrm>
          <a:prstGeom prst="roundRect">
            <a:avLst/>
          </a:prstGeom>
          <a:solidFill>
            <a:srgbClr val="F5DCC8"/>
          </a:solidFill>
          <a:ln w="25400">
            <a:solidFill>
              <a:srgbClr val="C87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A0501E"/>
                </a:solidFill>
                <a:latin typeface="Calibri"/>
              </a:rPr>
              <a:t>5. Reversing</a:t>
            </a:r>
          </a:p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A0501E"/>
                </a:solidFill>
                <a:latin typeface="Calibri"/>
              </a:rPr>
              <a:t>Valve</a:t>
            </a:r>
          </a:p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785032"/>
                </a:solidFill>
                <a:latin typeface="Calibri"/>
              </a:rPr>
              <a:t>switches heating ↔ cooling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51960" y="2286000"/>
            <a:ext cx="3657600" cy="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6320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E5AB4"/>
                </a:solidFill>
                <a:latin typeface="Calibri"/>
              </a:rPr>
              <a:t>low-P vapor 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3337560"/>
            <a:ext cx="0" cy="91440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E5AB4"/>
                </a:solidFill>
                <a:latin typeface="Calibri"/>
              </a:rPr>
              <a:t>hot high-P vapor ↓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251960" y="5120640"/>
            <a:ext cx="3657600" cy="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46320" y="5166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E5AB4"/>
                </a:solidFill>
                <a:latin typeface="Calibri"/>
              </a:rPr>
              <a:t>← high-P liquid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51760" y="3337560"/>
            <a:ext cx="0" cy="91440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1E5AB4"/>
                </a:solidFill>
                <a:latin typeface="Calibri"/>
              </a:rPr>
              <a:t>cold low-P mix 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09760" y="1280160"/>
            <a:ext cx="0" cy="502920"/>
          </a:xfrm>
          <a:prstGeom prst="line">
            <a:avLst/>
          </a:prstGeom>
          <a:ln w="31750">
            <a:solidFill>
              <a:srgbClr val="8E44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61120" y="914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8E44AD"/>
                </a:solidFill>
                <a:latin typeface="Calibri"/>
              </a:rPr>
              <a:t>W_in (electricity)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" y="2560320"/>
            <a:ext cx="777240" cy="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-18288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from outdoor air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09960" y="5029200"/>
            <a:ext cx="777240" cy="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6424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to room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F5F7FA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Legend:  → refrigerant flow (blue)      → heat flow (orange)      → work input (purple)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Heating-Mode Refrigerant State Sequence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Step-by-step state changes around the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846320" cy="2011680"/>
          </a:xfrm>
          <a:prstGeom prst="roundRect">
            <a:avLst/>
          </a:prstGeom>
          <a:solidFill>
            <a:srgbClr val="6495ED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Step 1 — Outdoor Evaporator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Cold low-pressure mixture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→ saturated vapor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E5AB4"/>
                </a:solidFill>
                <a:latin typeface="Calibri"/>
              </a:rPr>
              <a:t>⚡ Absorbs heat from outdoor 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846320" cy="2011680"/>
          </a:xfrm>
          <a:prstGeom prst="roundRect">
            <a:avLst/>
          </a:prstGeom>
          <a:solidFill>
            <a:srgbClr val="D7C8E6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Step 2 — Compressor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Low-pressure vapor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→ hot high-pressure vapor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8E44AD"/>
                </a:solidFill>
                <a:latin typeface="Calibri"/>
              </a:rPr>
              <a:t>⚡ Work input from electric motor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60520"/>
            <a:ext cx="4846320" cy="201168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Step 3 — Indoor Condenser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Hot high-pressure vapor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→ high-pressure liquid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E67E22"/>
                </a:solidFill>
                <a:latin typeface="Calibri"/>
              </a:rPr>
              <a:t>⚡ Releases heat indoors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4846320" cy="2011680"/>
          </a:xfrm>
          <a:prstGeom prst="roundRect">
            <a:avLst/>
          </a:prstGeom>
          <a:solidFill>
            <a:srgbClr val="DCE6F0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C3E50"/>
                </a:solidFill>
                <a:latin typeface="Calibri"/>
              </a:rPr>
              <a:t>Step 4 — Expansion Valve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High-pressure liquid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→ cold low-pressure mixture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100" b="1" i="1">
                <a:solidFill>
                  <a:srgbClr val="1E5AB4"/>
                </a:solidFill>
                <a:latin typeface="Calibri"/>
              </a:rPr>
              <a:t>⚡ Pressure drop (no useful work out)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468880"/>
            <a:ext cx="731520" cy="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23960" y="3886200"/>
            <a:ext cx="0" cy="22860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623560" y="5212080"/>
            <a:ext cx="731520" cy="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154680" y="3886200"/>
            <a:ext cx="0" cy="22860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05AB4"/>
                </a:solidFill>
                <a:latin typeface="Calibri"/>
              </a:rPr>
              <a:t>↻ Cycle</a:t>
            </a:r>
            <a:br/>
            <a:r>
              <a:rPr sz="1000" b="1" i="0">
                <a:solidFill>
                  <a:srgbClr val="005AB4"/>
                </a:solidFill>
                <a:latin typeface="Calibri"/>
              </a:rPr>
              <a:t>repeats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Heating vs Cooling Mode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The reversing valve swaps which coil is indoor vs outdoor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457200"/>
          </a:xfrm>
          <a:prstGeom prst="rect">
            <a:avLst/>
          </a:prstGeom>
          <a:solidFill>
            <a:srgbClr val="F4D06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C3E50"/>
                </a:solidFill>
                <a:latin typeface="Calibri"/>
              </a:rPr>
              <a:t>HEATING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3566160" cy="91440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Indoor Coil = Condenser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Releases heat into the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3566160" cy="914400"/>
          </a:xfrm>
          <a:prstGeom prst="roundRect">
            <a:avLst/>
          </a:prstGeom>
          <a:solidFill>
            <a:srgbClr val="AED6F1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Outdoor Coil = Evaporator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Absorbs heat from outside 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194560"/>
            <a:ext cx="731520" cy="914400"/>
          </a:xfrm>
          <a:prstGeom prst="roundRect">
            <a:avLst/>
          </a:prstGeom>
          <a:solidFill>
            <a:srgbClr val="D7C8E6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Comp.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206240"/>
            <a:ext cx="731520" cy="914400"/>
          </a:xfrm>
          <a:prstGeom prst="roundRect">
            <a:avLst/>
          </a:prstGeom>
          <a:solidFill>
            <a:srgbClr val="DCE6F0"/>
          </a:solidFill>
          <a:ln w="1905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Exp.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265176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3154680"/>
            <a:ext cx="0" cy="150876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937760" y="466344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97280" y="4663440"/>
            <a:ext cx="27432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1520" y="2743200"/>
            <a:ext cx="0" cy="141732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2651760"/>
            <a:ext cx="27432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08960" y="3154680"/>
            <a:ext cx="0" cy="100584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004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to room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" y="4663440"/>
            <a:ext cx="182880" cy="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2743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from 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54480"/>
            <a:ext cx="5577840" cy="457200"/>
          </a:xfrm>
          <a:prstGeom prst="rect">
            <a:avLst/>
          </a:prstGeom>
          <a:solidFill>
            <a:srgbClr val="AED6F1"/>
          </a:solidFill>
          <a:ln w="1905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C3E50"/>
                </a:solidFill>
                <a:latin typeface="Calibri"/>
              </a:rPr>
              <a:t>COOLING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194560"/>
            <a:ext cx="3566160" cy="914400"/>
          </a:xfrm>
          <a:prstGeom prst="roundRect">
            <a:avLst/>
          </a:prstGeom>
          <a:solidFill>
            <a:srgbClr val="AED6F1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Indoor Coil = Evaporator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Absorbs heat from the room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06240"/>
            <a:ext cx="3566160" cy="91440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Outdoor Coil = Condenser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333333"/>
                </a:solidFill>
                <a:latin typeface="Calibri"/>
              </a:rPr>
              <a:t>Releases heat to outside 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206240"/>
            <a:ext cx="731520" cy="914400"/>
          </a:xfrm>
          <a:prstGeom prst="roundRect">
            <a:avLst/>
          </a:prstGeom>
          <a:solidFill>
            <a:srgbClr val="D7C8E6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Comp.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64240" y="2194560"/>
            <a:ext cx="731520" cy="914400"/>
          </a:xfrm>
          <a:prstGeom prst="roundRect">
            <a:avLst/>
          </a:prstGeom>
          <a:solidFill>
            <a:srgbClr val="DCE6F0"/>
          </a:solidFill>
          <a:ln w="1905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Exp.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040880" y="265176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75120" y="2651760"/>
            <a:ext cx="0" cy="201168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40880" y="466344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881360" y="466344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430000" y="2743200"/>
            <a:ext cx="0" cy="141732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0881360" y="2651760"/>
            <a:ext cx="182880" cy="0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52560" y="3154680"/>
            <a:ext cx="0" cy="100584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from room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887200" y="4663440"/>
            <a:ext cx="182880" cy="0"/>
          </a:xfrm>
          <a:prstGeom prst="line">
            <a:avLst/>
          </a:prstGeom>
          <a:ln w="3175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79576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E67E22"/>
                </a:solidFill>
                <a:latin typeface="Calibri"/>
              </a:rPr>
              <a:t>heat to outside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486400"/>
            <a:ext cx="6675120" cy="640080"/>
          </a:xfrm>
          <a:prstGeom prst="roundRect">
            <a:avLst/>
          </a:prstGeom>
          <a:solidFill>
            <a:srgbClr val="F5DCC8"/>
          </a:solidFill>
          <a:ln w="19050">
            <a:solidFill>
              <a:srgbClr val="C878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1">
                <a:solidFill>
                  <a:srgbClr val="A0501E"/>
                </a:solidFill>
                <a:latin typeface="Calibri"/>
              </a:rPr>
              <a:t>The reversing valve flips refrigerant direction — same hardware, opposite role for each coil.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COP Formulas &amp; Why COP Can Exceed 1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Coefficient of Performance — the key efficiency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645920"/>
          </a:xfrm>
          <a:prstGeom prst="roundRect">
            <a:avLst/>
          </a:prstGeom>
          <a:solidFill>
            <a:srgbClr val="FFF8EB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67E22"/>
                </a:solidFill>
                <a:latin typeface="Calibri"/>
              </a:rPr>
              <a:t>Heating COP</a:t>
            </a:r>
          </a:p>
          <a:p>
            <a:pPr algn="ctr">
              <a:spcAft>
                <a:spcPts val="400"/>
              </a:spcAft>
            </a:pP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C3E50"/>
                </a:solidFill>
                <a:latin typeface="Calibri"/>
              </a:rPr>
              <a:t>COP_heating = Q_hot / W_in</a:t>
            </a:r>
          </a:p>
          <a:p>
            <a:pPr algn="ctr">
              <a:spcAft>
                <a:spcPts val="400"/>
              </a:spcAft>
            </a:pP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333333"/>
                </a:solidFill>
                <a:latin typeface="Calibri"/>
              </a:rPr>
              <a:t>Heat delivered ÷ work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1645920"/>
          </a:xfrm>
          <a:prstGeom prst="roundRect">
            <a:avLst/>
          </a:prstGeom>
          <a:solidFill>
            <a:srgbClr val="F5FAFF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1E5AB4"/>
                </a:solidFill>
                <a:latin typeface="Calibri"/>
              </a:rPr>
              <a:t>Cooling COP</a:t>
            </a:r>
          </a:p>
          <a:p>
            <a:pPr algn="ctr">
              <a:spcAft>
                <a:spcPts val="400"/>
              </a:spcAft>
            </a:pP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C3E50"/>
                </a:solidFill>
                <a:latin typeface="Calibri"/>
              </a:rPr>
              <a:t>COP_cooling = Q_cold / W_in</a:t>
            </a:r>
          </a:p>
          <a:p>
            <a:pPr algn="ctr">
              <a:spcAft>
                <a:spcPts val="400"/>
              </a:spcAft>
            </a:pPr>
          </a:p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333333"/>
                </a:solidFill>
                <a:latin typeface="Calibri"/>
              </a:rPr>
              <a:t>Heat removed ÷ work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657600"/>
            <a:ext cx="8503920" cy="2377440"/>
          </a:xfrm>
          <a:prstGeom prst="rect">
            <a:avLst/>
          </a:prstGeom>
          <a:solidFill>
            <a:srgbClr val="F5F7FA"/>
          </a:solidFill>
          <a:ln w="1905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5AB4"/>
                </a:solidFill>
                <a:latin typeface="Calibri"/>
              </a:rPr>
              <a:t>Energy Balance — Why COP &gt;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4297680"/>
            <a:ext cx="2011680" cy="914400"/>
          </a:xfrm>
          <a:prstGeom prst="roundRect">
            <a:avLst/>
          </a:prstGeom>
          <a:solidFill>
            <a:srgbClr val="AED6F1"/>
          </a:solidFill>
          <a:ln w="1905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C3E50"/>
                </a:solidFill>
                <a:latin typeface="Calibri"/>
              </a:rPr>
              <a:t>Q_cold</a:t>
            </a:r>
            <a:br/>
            <a:r>
              <a:rPr sz="1000" b="1" i="0">
                <a:solidFill>
                  <a:srgbClr val="2C3E50"/>
                </a:solidFill>
                <a:latin typeface="Calibri"/>
              </a:rPr>
              <a:t>(heat from outdoors)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5303520"/>
            <a:ext cx="2011680" cy="640080"/>
          </a:xfrm>
          <a:prstGeom prst="roundRect">
            <a:avLst/>
          </a:prstGeom>
          <a:solidFill>
            <a:srgbClr val="D7C8E6"/>
          </a:solidFill>
          <a:ln w="1905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C3E50"/>
                </a:solidFill>
                <a:latin typeface="Calibri"/>
              </a:rPr>
              <a:t>W_in (electricity)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2C3E50"/>
                </a:solidFill>
                <a:latin typeface="Calibri"/>
              </a:rPr>
              <a:t>+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72000" y="4617720"/>
            <a:ext cx="1645920" cy="457200"/>
          </a:xfrm>
          <a:prstGeom prst="rightArrow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1">
                <a:solidFill>
                  <a:srgbClr val="005AB4"/>
                </a:solidFill>
                <a:latin typeface="Calibri"/>
              </a:rPr>
              <a:t>= (combined)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297680"/>
            <a:ext cx="3474720" cy="1280160"/>
          </a:xfrm>
          <a:prstGeom prst="roundRect">
            <a:avLst/>
          </a:prstGeom>
          <a:solidFill>
            <a:srgbClr val="F4D06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E67E22"/>
                </a:solidFill>
                <a:latin typeface="Calibri"/>
              </a:rPr>
              <a:t>Q_hot = Q_cold + W_in</a:t>
            </a:r>
          </a:p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Heat delivered &gt; work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806440"/>
            <a:ext cx="8503920" cy="548640"/>
          </a:xfrm>
          <a:prstGeom prst="rect">
            <a:avLst/>
          </a:prstGeom>
          <a:solidFill>
            <a:srgbClr val="FDF6E7"/>
          </a:solidFill>
          <a:ln w="1905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A0780A"/>
                </a:solidFill>
                <a:latin typeface="Calibri"/>
              </a:rPr>
              <a:t>COP &gt; 1 is possible because the system MOVES heat — it does not convert electricity 1:1 into heat.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Pressure–Enthalpy Diagram (Qualitative)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The four processes: compression, condensation, expansion, evaporation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86000" y="1554480"/>
            <a:ext cx="0" cy="4206240"/>
          </a:xfrm>
          <a:prstGeom prst="line">
            <a:avLst/>
          </a:prstGeom>
          <a:ln w="25400">
            <a:solidFill>
              <a:srgbClr val="505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86000" y="5760720"/>
            <a:ext cx="8229600" cy="0"/>
          </a:xfrm>
          <a:prstGeom prst="line">
            <a:avLst/>
          </a:prstGeom>
          <a:ln w="25400">
            <a:solidFill>
              <a:srgbClr val="505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Pressure 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5852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Enthalpy  h  →</a:t>
            </a:r>
          </a:p>
        </p:txBody>
      </p:sp>
      <p:sp>
        <p:nvSpPr>
          <p:cNvPr id="10" name="Freeform 9"/>
          <p:cNvSpPr/>
          <p:nvPr/>
        </p:nvSpPr>
        <p:spPr>
          <a:xfrm>
            <a:off x="4389120" y="2011680"/>
            <a:ext cx="4023360" cy="3291840"/>
          </a:xfrm>
          <a:custGeom>
            <a:avLst/>
            <a:gdLst/>
            <a:ahLst/>
            <a:cxnLst/>
            <a:rect l="l" t="t" r="r" b="b"/>
            <a:pathLst>
              <a:path w="4023360" h="3291840">
                <a:moveTo>
                  <a:pt x="0" y="3291840"/>
                </a:moveTo>
                <a:lnTo>
                  <a:pt x="133" y="3160166"/>
                </a:lnTo>
                <a:lnTo>
                  <a:pt x="931" y="3028492"/>
                </a:lnTo>
                <a:lnTo>
                  <a:pt x="2897" y="2896819"/>
                </a:lnTo>
                <a:lnTo>
                  <a:pt x="6484" y="2765145"/>
                </a:lnTo>
                <a:lnTo>
                  <a:pt x="12111" y="2633472"/>
                </a:lnTo>
                <a:lnTo>
                  <a:pt x="20179" y="2501798"/>
                </a:lnTo>
                <a:lnTo>
                  <a:pt x="31071" y="2370124"/>
                </a:lnTo>
                <a:lnTo>
                  <a:pt x="45158" y="2238451"/>
                </a:lnTo>
                <a:lnTo>
                  <a:pt x="62800" y="2106777"/>
                </a:lnTo>
                <a:lnTo>
                  <a:pt x="84350" y="1975103"/>
                </a:lnTo>
                <a:lnTo>
                  <a:pt x="110150" y="1843430"/>
                </a:lnTo>
                <a:lnTo>
                  <a:pt x="140537" y="1711756"/>
                </a:lnTo>
                <a:lnTo>
                  <a:pt x="175843" y="1580083"/>
                </a:lnTo>
                <a:lnTo>
                  <a:pt x="216393" y="1448409"/>
                </a:lnTo>
                <a:lnTo>
                  <a:pt x="262507" y="1316736"/>
                </a:lnTo>
                <a:lnTo>
                  <a:pt x="314500" y="1185062"/>
                </a:lnTo>
                <a:lnTo>
                  <a:pt x="372685" y="1053388"/>
                </a:lnTo>
                <a:lnTo>
                  <a:pt x="437369" y="921715"/>
                </a:lnTo>
                <a:lnTo>
                  <a:pt x="508856" y="790041"/>
                </a:lnTo>
                <a:lnTo>
                  <a:pt x="587447" y="658368"/>
                </a:lnTo>
                <a:lnTo>
                  <a:pt x="673440" y="526694"/>
                </a:lnTo>
                <a:lnTo>
                  <a:pt x="767129" y="395020"/>
                </a:lnTo>
                <a:lnTo>
                  <a:pt x="868807" y="263347"/>
                </a:lnTo>
                <a:lnTo>
                  <a:pt x="978761" y="131673"/>
                </a:lnTo>
                <a:lnTo>
                  <a:pt x="1097280" y="0"/>
                </a:lnTo>
                <a:lnTo>
                  <a:pt x="1595497" y="131673"/>
                </a:lnTo>
                <a:lnTo>
                  <a:pt x="1826713" y="263347"/>
                </a:lnTo>
                <a:lnTo>
                  <a:pt x="2008946" y="395020"/>
                </a:lnTo>
                <a:lnTo>
                  <a:pt x="2165233" y="526694"/>
                </a:lnTo>
                <a:lnTo>
                  <a:pt x="2304684" y="658368"/>
                </a:lnTo>
                <a:lnTo>
                  <a:pt x="2432037" y="790041"/>
                </a:lnTo>
                <a:lnTo>
                  <a:pt x="2550137" y="921715"/>
                </a:lnTo>
                <a:lnTo>
                  <a:pt x="2660854" y="1053388"/>
                </a:lnTo>
                <a:lnTo>
                  <a:pt x="2765497" y="1185062"/>
                </a:lnTo>
                <a:lnTo>
                  <a:pt x="2865023" y="1316736"/>
                </a:lnTo>
                <a:lnTo>
                  <a:pt x="2960161" y="1448409"/>
                </a:lnTo>
                <a:lnTo>
                  <a:pt x="3051479" y="1580083"/>
                </a:lnTo>
                <a:lnTo>
                  <a:pt x="3139431" y="1711756"/>
                </a:lnTo>
                <a:lnTo>
                  <a:pt x="3224388" y="1843430"/>
                </a:lnTo>
                <a:lnTo>
                  <a:pt x="3306654" y="1975103"/>
                </a:lnTo>
                <a:lnTo>
                  <a:pt x="3386487" y="2106777"/>
                </a:lnTo>
                <a:lnTo>
                  <a:pt x="3464104" y="2238451"/>
                </a:lnTo>
                <a:lnTo>
                  <a:pt x="3539692" y="2370124"/>
                </a:lnTo>
                <a:lnTo>
                  <a:pt x="3613413" y="2501798"/>
                </a:lnTo>
                <a:lnTo>
                  <a:pt x="3685407" y="2633472"/>
                </a:lnTo>
                <a:lnTo>
                  <a:pt x="3755799" y="2765145"/>
                </a:lnTo>
                <a:lnTo>
                  <a:pt x="3824697" y="2896819"/>
                </a:lnTo>
                <a:lnTo>
                  <a:pt x="3892200" y="3028492"/>
                </a:lnTo>
                <a:lnTo>
                  <a:pt x="3958395" y="3160166"/>
                </a:lnTo>
                <a:lnTo>
                  <a:pt x="4023360" y="3291840"/>
                </a:lnTo>
                <a:close/>
              </a:path>
            </a:pathLst>
          </a:custGeom>
          <a:solidFill>
            <a:srgbClr val="E8F0FE"/>
          </a:solidFill>
          <a:ln w="1905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1">
                <a:solidFill>
                  <a:srgbClr val="5B9BD5"/>
                </a:solidFill>
                <a:latin typeface="Calibri"/>
              </a:rPr>
              <a:t>saturation</a:t>
            </a:r>
            <a:br/>
            <a:r>
              <a:rPr sz="800" b="0" i="1">
                <a:solidFill>
                  <a:srgbClr val="5B9BD5"/>
                </a:solidFill>
                <a:latin typeface="Calibri"/>
              </a:rPr>
              <a:t>dome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1E5AB4"/>
                </a:solidFill>
                <a:latin typeface="Calibri"/>
              </a:rPr>
              <a:t>liquid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1E5AB4"/>
                </a:solidFill>
                <a:latin typeface="Calibri"/>
              </a:rPr>
              <a:t>vapor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1">
                <a:solidFill>
                  <a:srgbClr val="646464"/>
                </a:solidFill>
                <a:latin typeface="Calibri"/>
              </a:rPr>
              <a:t>two-phase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7132320" y="2377440"/>
            <a:ext cx="1554480" cy="2468880"/>
          </a:xfrm>
          <a:prstGeom prst="line">
            <a:avLst/>
          </a:prstGeom>
          <a:ln w="3810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846320" y="2377440"/>
            <a:ext cx="3840480" cy="365760"/>
          </a:xfrm>
          <a:prstGeom prst="line">
            <a:avLst/>
          </a:prstGeom>
          <a:ln w="38100">
            <a:solidFill>
              <a:srgbClr val="E67E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46320" y="2743200"/>
            <a:ext cx="0" cy="2103120"/>
          </a:xfrm>
          <a:prstGeom prst="line">
            <a:avLst/>
          </a:prstGeom>
          <a:ln w="3810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46320" y="4846320"/>
            <a:ext cx="2286000" cy="0"/>
          </a:xfrm>
          <a:prstGeom prst="line">
            <a:avLst/>
          </a:prstGeom>
          <a:ln w="38100">
            <a:solidFill>
              <a:srgbClr val="27AE6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050024" y="4764024"/>
            <a:ext cx="164592" cy="164592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47091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8604504" y="2295144"/>
            <a:ext cx="164592" cy="164592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4764024" y="2660904"/>
            <a:ext cx="164592" cy="164592"/>
          </a:xfrm>
          <a:prstGeom prst="ellipse">
            <a:avLst/>
          </a:prstGeom>
          <a:solidFill>
            <a:srgbClr val="E67E2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E67E22"/>
                </a:solidFill>
                <a:latin typeface="Calibr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4764024" y="4764024"/>
            <a:ext cx="164592" cy="164592"/>
          </a:xfrm>
          <a:prstGeom prst="ellipse">
            <a:avLst/>
          </a:prstGeom>
          <a:solidFill>
            <a:srgbClr val="1E5AB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47091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1E5AB4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C0392B"/>
                </a:solidFill>
                <a:latin typeface="Calibri"/>
              </a:rPr>
              <a:t>1→2  Compression</a:t>
            </a:r>
            <a:br/>
            <a:r>
              <a:rPr sz="900" b="1" i="0">
                <a:solidFill>
                  <a:srgbClr val="C0392B"/>
                </a:solidFill>
                <a:latin typeface="Calibri"/>
              </a:rPr>
              <a:t>(work in, T rises)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E67E22"/>
                </a:solidFill>
                <a:latin typeface="Calibri"/>
              </a:rPr>
              <a:t>2→3  Condensation</a:t>
            </a:r>
            <a:br/>
            <a:r>
              <a:rPr sz="900" b="1" i="0">
                <a:solidFill>
                  <a:srgbClr val="E67E22"/>
                </a:solidFill>
                <a:latin typeface="Calibri"/>
              </a:rPr>
              <a:t>(heat released)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E5AB4"/>
                </a:solidFill>
                <a:latin typeface="Calibri"/>
              </a:rPr>
              <a:t>3→4  Expansion</a:t>
            </a:r>
            <a:br/>
            <a:r>
              <a:rPr sz="900" b="1" i="0">
                <a:solidFill>
                  <a:srgbClr val="1E5AB4"/>
                </a:solidFill>
                <a:latin typeface="Calibri"/>
              </a:rPr>
              <a:t>(P drops)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7AE60"/>
                </a:solidFill>
                <a:latin typeface="Calibri"/>
              </a:rPr>
              <a:t>4→1  Evaporation</a:t>
            </a:r>
            <a:br/>
            <a:r>
              <a:rPr sz="900" b="1" i="0">
                <a:solidFill>
                  <a:srgbClr val="27AE60"/>
                </a:solidFill>
                <a:latin typeface="Calibri"/>
              </a:rPr>
              <a:t>(heat absorbed)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86000" y="2560320"/>
            <a:ext cx="2560320" cy="0"/>
          </a:xfrm>
          <a:prstGeom prst="line">
            <a:avLst/>
          </a:prstGeom>
          <a:ln w="12700">
            <a:solidFill>
              <a:srgbClr val="B4B4B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86800" y="2560320"/>
            <a:ext cx="1828800" cy="0"/>
          </a:xfrm>
          <a:prstGeom prst="line">
            <a:avLst/>
          </a:prstGeom>
          <a:ln w="12700">
            <a:solidFill>
              <a:srgbClr val="B4B4B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840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1">
                <a:solidFill>
                  <a:srgbClr val="787878"/>
                </a:solidFill>
                <a:latin typeface="Calibri"/>
              </a:rPr>
              <a:t>high 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4846320"/>
            <a:ext cx="4846320" cy="0"/>
          </a:xfrm>
          <a:prstGeom prst="line">
            <a:avLst/>
          </a:prstGeom>
          <a:ln w="12700">
            <a:solidFill>
              <a:srgbClr val="B4B4B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32320" y="4846320"/>
            <a:ext cx="3383280" cy="0"/>
          </a:xfrm>
          <a:prstGeom prst="line">
            <a:avLst/>
          </a:prstGeom>
          <a:ln w="12700">
            <a:solidFill>
              <a:srgbClr val="B4B4B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8408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 i="1">
                <a:solidFill>
                  <a:srgbClr val="787878"/>
                </a:solidFill>
                <a:latin typeface="Calibri"/>
              </a:rPr>
              <a:t>low 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Cold-Weather Capacity Limitation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As outdoor temperature falls, available heat and capacity both 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029200" cy="4206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5AB4"/>
                </a:solidFill>
                <a:latin typeface="Calibri"/>
              </a:rPr>
              <a:t>Why capacity drops in cold weather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E67E22"/>
                </a:solidFill>
                <a:latin typeface="Calibri"/>
              </a:rPr>
              <a:t>1. Less heat available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    Outdoor air holds less thermal energy at low temperatures — less heat to absorb.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8E44AD"/>
                </a:solidFill>
                <a:latin typeface="Calibri"/>
              </a:rPr>
              <a:t>2. Compressor lift increases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    The pressure (and temperature) difference between cold evaporator and warm condenser grows.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3. Result: capacity &amp; COP fall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    The system delivers less heat per unit of electricity. Below the balance point, backup heat is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576072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B4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C3E50"/>
                </a:solidFill>
                <a:latin typeface="Calibri"/>
              </a:rPr>
              <a:t>Capacity vs Outdoor Temperature (qualitative)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583680" y="2194560"/>
            <a:ext cx="0" cy="3108960"/>
          </a:xfrm>
          <a:prstGeom prst="line">
            <a:avLst/>
          </a:prstGeom>
          <a:ln w="19050">
            <a:solidFill>
              <a:srgbClr val="505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5303520"/>
            <a:ext cx="4754880" cy="0"/>
          </a:xfrm>
          <a:prstGeom prst="line">
            <a:avLst/>
          </a:prstGeom>
          <a:ln w="19050">
            <a:solidFill>
              <a:srgbClr val="505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3504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5394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2C3E50"/>
                </a:solidFill>
                <a:latin typeface="Calibri"/>
              </a:rPr>
              <a:t>Outdoor temp →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766560" y="4897917"/>
            <a:ext cx="145042" cy="131283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11602" y="4768959"/>
            <a:ext cx="145043" cy="12895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056645" y="4642368"/>
            <a:ext cx="145043" cy="12659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01688" y="4518188"/>
            <a:ext cx="145043" cy="12418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46731" y="4396467"/>
            <a:ext cx="145042" cy="12172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91773" y="4277257"/>
            <a:ext cx="145043" cy="11921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636816" y="4160610"/>
            <a:ext cx="145043" cy="116647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781859" y="4046586"/>
            <a:ext cx="145043" cy="114024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926902" y="3935245"/>
            <a:ext cx="145042" cy="11134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071944" y="3826654"/>
            <a:ext cx="145043" cy="10859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216987" y="3720884"/>
            <a:ext cx="145043" cy="10577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362030" y="3618013"/>
            <a:ext cx="145043" cy="10287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07073" y="3518125"/>
            <a:ext cx="145042" cy="9988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652115" y="3421312"/>
            <a:ext cx="145043" cy="96813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797158" y="3327674"/>
            <a:ext cx="145043" cy="9363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942201" y="3237324"/>
            <a:ext cx="145043" cy="9035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87244" y="3150385"/>
            <a:ext cx="145042" cy="86939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232286" y="3066997"/>
            <a:ext cx="145043" cy="8338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377329" y="2987318"/>
            <a:ext cx="145043" cy="79679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522372" y="2911530"/>
            <a:ext cx="145043" cy="7578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667415" y="2839844"/>
            <a:ext cx="145042" cy="71686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812457" y="2772509"/>
            <a:ext cx="145043" cy="67335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957500" y="2709828"/>
            <a:ext cx="145043" cy="62681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102543" y="2652175"/>
            <a:ext cx="145043" cy="57653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247586" y="2600035"/>
            <a:ext cx="145042" cy="5214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392628" y="2554068"/>
            <a:ext cx="145043" cy="45967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537671" y="2515250"/>
            <a:ext cx="145043" cy="38818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682714" y="2485274"/>
            <a:ext cx="145043" cy="29976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827757" y="2468880"/>
            <a:ext cx="145043" cy="16394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1440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C0392B"/>
                </a:solidFill>
                <a:latin typeface="Calibri"/>
              </a:rPr>
              <a:t>Heat pump capacity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766560" y="4691738"/>
            <a:ext cx="145042" cy="154582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11602" y="4577177"/>
            <a:ext cx="145043" cy="114561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056645" y="4474052"/>
            <a:ext cx="145043" cy="103125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01688" y="4377716"/>
            <a:ext cx="145043" cy="9633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346731" y="4286131"/>
            <a:ext cx="145042" cy="91585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491773" y="4198165"/>
            <a:ext cx="145043" cy="8796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7636816" y="4113096"/>
            <a:ext cx="145043" cy="85069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781859" y="4030433"/>
            <a:ext cx="145043" cy="8266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926902" y="3949816"/>
            <a:ext cx="145042" cy="80617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071944" y="3870975"/>
            <a:ext cx="145043" cy="78841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216987" y="3793699"/>
            <a:ext cx="145043" cy="7727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362030" y="3717816"/>
            <a:ext cx="145043" cy="7588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507073" y="3643190"/>
            <a:ext cx="145042" cy="7462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52115" y="3569704"/>
            <a:ext cx="145043" cy="7348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97158" y="3497261"/>
            <a:ext cx="145043" cy="7244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942201" y="3425778"/>
            <a:ext cx="145043" cy="7148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087244" y="3355184"/>
            <a:ext cx="145042" cy="70594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232286" y="3285417"/>
            <a:ext cx="145043" cy="69767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377329" y="3216420"/>
            <a:ext cx="145043" cy="68997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522372" y="3148147"/>
            <a:ext cx="145043" cy="6827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667415" y="3080553"/>
            <a:ext cx="145042" cy="67594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812457" y="3013600"/>
            <a:ext cx="145043" cy="66953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957500" y="2947253"/>
            <a:ext cx="145043" cy="66347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102543" y="2881481"/>
            <a:ext cx="145043" cy="65772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247586" y="2816255"/>
            <a:ext cx="145042" cy="6522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392628" y="2751549"/>
            <a:ext cx="145043" cy="6470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537671" y="2687338"/>
            <a:ext cx="145043" cy="64211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682714" y="2623602"/>
            <a:ext cx="145043" cy="63736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827757" y="2560320"/>
            <a:ext cx="145043" cy="63282"/>
          </a:xfrm>
          <a:prstGeom prst="line">
            <a:avLst/>
          </a:prstGeom>
          <a:ln w="31750">
            <a:solidFill>
              <a:srgbClr val="1E5AB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8580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1E5AB4"/>
                </a:solidFill>
                <a:latin typeface="Calibri"/>
              </a:rPr>
              <a:t>Building heat loss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8412480" y="3931920"/>
            <a:ext cx="0" cy="1371600"/>
          </a:xfrm>
          <a:prstGeom prst="line">
            <a:avLst/>
          </a:prstGeom>
          <a:ln w="12700">
            <a:solidFill>
              <a:srgbClr val="646464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7240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1">
                <a:solidFill>
                  <a:srgbClr val="646464"/>
                </a:solidFill>
                <a:latin typeface="Calibri"/>
              </a:rPr>
              <a:t>balance point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75120" y="4023360"/>
            <a:ext cx="1645920" cy="118872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C0392B"/>
                </a:solidFill>
                <a:latin typeface="Calibri"/>
              </a:rPr>
              <a:t>backup</a:t>
            </a:r>
            <a:br/>
            <a:r>
              <a:rPr sz="800" b="1" i="0">
                <a:solidFill>
                  <a:srgbClr val="C0392B"/>
                </a:solidFill>
                <a:latin typeface="Calibri"/>
              </a:rPr>
              <a:t>heat</a:t>
            </a:r>
            <a:br/>
            <a:r>
              <a:rPr sz="800" b="1" i="0">
                <a:solidFill>
                  <a:srgbClr val="C0392B"/>
                </a:solidFill>
                <a:latin typeface="Calibri"/>
              </a:rPr>
              <a:t>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5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C3E50"/>
                </a:solidFill>
                <a:latin typeface="Calibri"/>
              </a:rPr>
              <a:t>Practical Troubleshooting &amp; Operating Implications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7F8C8D"/>
                </a:solidFill>
                <a:latin typeface="Calibri"/>
              </a:rPr>
              <a:t>What facilities teams should watch and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Vapor-Compression Heat Pump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A0A0A0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2103120"/>
          </a:xfrm>
          <a:prstGeom prst="roundRect">
            <a:avLst/>
          </a:prstGeom>
          <a:solidFill>
            <a:srgbClr val="F5F0FA"/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E44AD"/>
                </a:solidFill>
                <a:latin typeface="Calibri"/>
              </a:rPr>
              <a:t>Compressor = Largest Electrical Load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Monitor compressor power draw. A sudden spike can signal refrigerant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overcharge, restricted suction, or bearing wear. Track kW vs.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21031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E5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5AB4"/>
                </a:solidFill>
                <a:latin typeface="Calibri"/>
              </a:rPr>
              <a:t>Refrigerant Charge Affects Everything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Low charge → low capacity, low COP, risk of evaporator freezing.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Check superheat / subcooling; look for frost on suction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486400" cy="210312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67E22"/>
                </a:solidFill>
                <a:latin typeface="Calibri"/>
              </a:rPr>
              <a:t>Coil Cleanliness = Heat Transfer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Dirty coils add thermal resistance: evaporator can't absorb heat,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condenser can't reject it. Clean filters and fins seasonally.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486400" cy="21031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Defrost &amp; Cold-Weather Readiness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In heating mode, outdoor coil can frost up. Confirm defrost cycle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works. Below balance point, verify backup / auxiliary heat stages.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26480"/>
            <a:ext cx="11247120" cy="594360"/>
          </a:xfrm>
          <a:prstGeom prst="rect">
            <a:avLst/>
          </a:prstGeom>
          <a:solidFill>
            <a:srgbClr val="FDF6E7"/>
          </a:solidFill>
          <a:ln w="1905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A0780A"/>
                </a:solidFill>
                <a:latin typeface="Calibri"/>
              </a:rPr>
              <a:t>Takeaway: a heat pump moves heat efficiently — but only when charge, airflow, and defrost are maintained. Capacity falls in cold weather; plan for backup heat.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
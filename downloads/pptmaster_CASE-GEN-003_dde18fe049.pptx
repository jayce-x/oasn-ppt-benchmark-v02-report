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Today we are learning dictionaries, one of Python's most useful ways to organize labeled data. The key idea is simple: every item has a key, and that key points to a value. We will start with the basic model, then build toward access, updates, loops, nested dictionaries, and short practice problems.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dictionary is like a labeled lookup table. Instead of asking for the first or second item, we ask for the value attached to a key. In the example, the weekday name is the key and the number is the value, so the label carries meaning.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There are several correct ways to create dictionaries. An empty dictionary can be written with braces or with the `dict()` function. A filled dictionary uses key-value pairs, and `dict()` can also build a dictionary from pairs, keyword arguments, or another dictionary.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Once a dictionary exists, the common question is how to get a value back out. Bracket access asks directly for one key, while `get()` lets us provide a fallback when the key is missing. That fallback is useful because it helps the program keep running instead of stopping with an error.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Dictionaries are mutable, which means they can change after creation. We can add a new key by assigning to it, update an existing key by assigning a new value, and remove a key with `del` or `pop()`. This makes dictionaries practical for data that grows while a program runs.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three view methods help us inspect a dictionary from different angles. `keys()` shows the labels, `values()` shows the stored data, and `items()` shows each key-value pair together. When we loop or check membership, choosing the right view keeps the code readable.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Dictionaries fit naturally into conditional logic. We can ask whether a whole pair is present, whether a key exists, or whether a value appears anywhere in the dictionary. We can also look up a value and compare it, as long as the key we use is present.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Looping over a dictionary is about deciding what each loop step needs. If we need both the city and the zip code, `.items()` gives both. If we only need city names, `.keys()` is enough, and if we only need zip codes, `.values()` is the clearest choice.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nested dictionary is a dictionary whose values can themselves be dictionaries. The lookup path follows the structure one key at a time. In the organization chart example, we first choose the department, then choose the employee ID, and then we get the name.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 dictionary comprehension builds a new dictionary in one compact expression. The left side decides each key and value, and the loop on the right provides the input elements. In the example, we keep only even numbers and store each one with its square.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ideas move into practice. The first exercise uses a dictionary to count repeated characters, which is a classic use for keys and default values. The second exercise groups numbers into even and odd lists, showing that dictionary values can also be collections.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By the end of this lesson, students should be able to create, access, update, inspect, loop over, nest, and build dictionaries. The exit ticket checks two core skills: printing one value by key and testing whether a key exists. Those two lines show whether the main dictionary model has clicked.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9d8a0df0ad916b1.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77215" y="458152"/>
            <a:ext cx="11186422" cy="213360"/>
            <a:chOff x="577215" y="458152"/>
            <a:chExt cx="11186422" cy="213360"/>
          </a:xfrm>
        </p:grpSpPr>
        <p:sp>
          <p:nvSpPr>
            <p:cNvPr id="3" name="TextBox 3"/>
            <p:cNvSpPr txBox="1"/>
            <p:nvPr/>
          </p:nvSpPr>
          <p:spPr>
            <a:xfrm>
              <a:off x="577215" y="458152"/>
              <a:ext cx="2026120"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CHAPTER 10 CLASSROOM DECK</a:t>
              </a:r>
            </a:p>
          </p:txBody>
        </p:sp>
        <p:sp>
          <p:nvSpPr>
            <p:cNvPr id="4" name="TextBox 4"/>
            <p:cNvSpPr txBox="1"/>
            <p:nvPr/>
          </p:nvSpPr>
          <p:spPr>
            <a:xfrm>
              <a:off x="11303318" y="46624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01 / 12</a:t>
              </a:r>
            </a:p>
          </p:txBody>
        </p:sp>
      </p:grpSp>
      <p:grpSp>
        <p:nvGrpSpPr>
          <p:cNvPr id="8" name="Group 8"/>
          <p:cNvGrpSpPr/>
          <p:nvPr/>
        </p:nvGrpSpPr>
        <p:grpSpPr>
          <a:xfrm>
            <a:off x="541020" y="1122045"/>
            <a:ext cx="10900934" cy="1073467"/>
            <a:chOff x="541020" y="1122045"/>
            <a:chExt cx="10900934" cy="1073467"/>
          </a:xfrm>
        </p:grpSpPr>
        <p:sp>
          <p:nvSpPr>
            <p:cNvPr id="6" name="TextBox 6"/>
            <p:cNvSpPr txBox="1"/>
            <p:nvPr/>
          </p:nvSpPr>
          <p:spPr>
            <a:xfrm>
              <a:off x="541020" y="1122045"/>
              <a:ext cx="5259405" cy="792480"/>
            </a:xfrm>
            <a:prstGeom prst="rect">
              <a:avLst/>
            </a:prstGeom>
            <a:noFill/>
            <a:ln>
              <a:noFill/>
            </a:ln>
          </p:spPr>
          <p:txBody>
            <a:bodyPr wrap="none" lIns="0" tIns="0" rIns="0" bIns="0" anchor="t" anchorCtr="0">
              <a:spAutoFit/>
            </a:bodyPr>
            <a:lstStyle/>
            <a:p>
              <a:pPr algn="l"/>
              <a:r>
                <a:rPr lang="zh-CN" sz="3900" b="1" dirty="0">
                  <a:solidFill>
                    <a:srgbClr val="0F172A"/>
                  </a:solidFill>
                  <a:latin typeface="Arial"/>
                  <a:ea typeface="Microsoft YaHei"/>
                  <a:cs typeface="Arial"/>
                </a:rPr>
                <a:t>Python Dictionaries</a:t>
              </a:r>
            </a:p>
          </p:txBody>
        </p:sp>
        <p:sp>
          <p:nvSpPr>
            <p:cNvPr id="7" name="TextBox 7"/>
            <p:cNvSpPr txBox="1"/>
            <p:nvPr/>
          </p:nvSpPr>
          <p:spPr>
            <a:xfrm>
              <a:off x="607695" y="1860232"/>
              <a:ext cx="10834259" cy="335280"/>
            </a:xfrm>
            <a:prstGeom prst="rect">
              <a:avLst/>
            </a:prstGeom>
            <a:noFill/>
            <a:ln>
              <a:noFill/>
            </a:ln>
          </p:spPr>
          <p:txBody>
            <a:bodyPr wrap="none" lIns="0" tIns="0" rIns="0" bIns="0" anchor="t" anchorCtr="0">
              <a:spAutoFit/>
            </a:bodyPr>
            <a:lstStyle/>
            <a:p>
              <a:pPr algn="l"/>
              <a:r>
                <a:rPr lang="zh-CN" sz="1650" dirty="0">
                  <a:solidFill>
                    <a:srgbClr val="64748B"/>
                  </a:solidFill>
                  <a:latin typeface="Arial"/>
                  <a:ea typeface="Microsoft YaHei"/>
                  <a:cs typeface="Arial"/>
                </a:rPr>
                <a:t>A beginner-friendly lesson on key-value data, lookup, mutation, loops, nesting, and comprehension.</a:t>
              </a:r>
            </a:p>
          </p:txBody>
        </p:sp>
      </p:grpSp>
      <p:grpSp>
        <p:nvGrpSpPr>
          <p:cNvPr id="11" name="Group 11"/>
          <p:cNvGrpSpPr/>
          <p:nvPr/>
        </p:nvGrpSpPr>
        <p:grpSpPr>
          <a:xfrm>
            <a:off x="7239000" y="1009650"/>
            <a:ext cx="3886200" cy="1809750"/>
            <a:chOff x="7239000" y="1009650"/>
            <a:chExt cx="3886200" cy="1809750"/>
          </a:xfrm>
        </p:grpSpPr>
        <p:sp>
          <p:nvSpPr>
            <p:cNvPr id="9" name="Rectangle 9"/>
            <p:cNvSpPr/>
            <p:nvPr/>
          </p:nvSpPr>
          <p:spPr>
            <a:xfrm>
              <a:off x="7239000" y="1009650"/>
              <a:ext cx="3886200" cy="1809750"/>
            </a:xfrm>
            <a:prstGeom prst="roundRect">
              <a:avLst>
                <a:gd name="adj" fmla="val 13684"/>
              </a:avLst>
            </a:prstGeom>
            <a:solidFill>
              <a:srgbClr val="FFFFFF"/>
            </a:solidFill>
            <a:ln w="19050">
              <a:solidFill>
                <a:srgbClr val="CBD5E1"/>
              </a:solidFill>
            </a:ln>
          </p:spPr>
        </p:sp>
        <p:pic>
          <p:nvPicPr>
            <p:cNvPr id="10" name="Image 10"/>
            <p:cNvPicPr>
              <a:picLocks noChangeAspect="1"/>
            </p:cNvPicPr>
            <p:nvPr/>
          </p:nvPicPr>
          <p:blipFill>
            <a:blip r:embed="rId2"/>
            <a:stretch>
              <a:fillRect/>
            </a:stretch>
          </p:blipFill>
          <p:spPr>
            <a:xfrm>
              <a:off x="7524750" y="1276350"/>
              <a:ext cx="3314700" cy="1362075"/>
            </a:xfrm>
            <a:prstGeom prst="rect">
              <a:avLst/>
            </a:prstGeom>
          </p:spPr>
        </p:pic>
      </p:grpSp>
      <p:grpSp>
        <p:nvGrpSpPr>
          <p:cNvPr id="35" name="Group 35"/>
          <p:cNvGrpSpPr/>
          <p:nvPr/>
        </p:nvGrpSpPr>
        <p:grpSpPr>
          <a:xfrm>
            <a:off x="590550" y="2914650"/>
            <a:ext cx="11705082" cy="2590800"/>
            <a:chOff x="590550" y="2914650"/>
            <a:chExt cx="11705082" cy="2590800"/>
          </a:xfrm>
        </p:grpSpPr>
        <p:sp>
          <p:nvSpPr>
            <p:cNvPr id="12" name="Rectangle 12"/>
            <p:cNvSpPr/>
            <p:nvPr/>
          </p:nvSpPr>
          <p:spPr>
            <a:xfrm>
              <a:off x="590550" y="2914650"/>
              <a:ext cx="10534650" cy="2590800"/>
            </a:xfrm>
            <a:prstGeom prst="roundRect">
              <a:avLst>
                <a:gd name="adj" fmla="val 10294"/>
              </a:avLst>
            </a:prstGeom>
            <a:solidFill>
              <a:srgbClr val="FFFFFF"/>
            </a:solidFill>
            <a:ln w="19050">
              <a:solidFill>
                <a:srgbClr val="CBD5E1"/>
              </a:solidFill>
            </a:ln>
          </p:spPr>
        </p:sp>
        <p:sp>
          <p:nvSpPr>
            <p:cNvPr id="13" name="TextBox 13"/>
            <p:cNvSpPr txBox="1"/>
            <p:nvPr/>
          </p:nvSpPr>
          <p:spPr>
            <a:xfrm>
              <a:off x="910590" y="3196590"/>
              <a:ext cx="4418467" cy="365760"/>
            </a:xfrm>
            <a:prstGeom prst="rect">
              <a:avLst/>
            </a:prstGeom>
            <a:noFill/>
            <a:ln>
              <a:noFill/>
            </a:ln>
          </p:spPr>
          <p:txBody>
            <a:bodyPr wrap="none" lIns="0" tIns="0" rIns="0" bIns="0" anchor="t" anchorCtr="0">
              <a:spAutoFit/>
            </a:bodyPr>
            <a:lstStyle/>
            <a:p>
              <a:pPr algn="l"/>
              <a:r>
                <a:rPr lang="zh-CN" sz="1800" b="1" dirty="0">
                  <a:solidFill>
                    <a:srgbClr val="2563EB"/>
                  </a:solidFill>
                  <a:latin typeface="Arial"/>
                  <a:ea typeface="Microsoft YaHei"/>
                  <a:cs typeface="Arial"/>
                </a:rPr>
                <a:t>Today we will build one mental model</a:t>
              </a:r>
            </a:p>
          </p:txBody>
        </p:sp>
        <p:sp>
          <p:nvSpPr>
            <p:cNvPr id="14" name="Line 14"/>
            <p:cNvSpPr/>
            <p:nvPr/>
          </p:nvSpPr>
          <p:spPr>
            <a:xfrm>
              <a:off x="952500" y="3848100"/>
              <a:ext cx="9791700" cy="9525"/>
            </a:xfrm>
            <a:custGeom>
              <a:avLst/>
              <a:gdLst/>
              <a:ahLst/>
              <a:cxnLst/>
              <a:rect l="l" t="t" r="r" b="b"/>
              <a:pathLst>
                <a:path w="9791700" h="9525">
                  <a:moveTo>
                    <a:pt x="0" y="0"/>
                  </a:moveTo>
                  <a:lnTo>
                    <a:pt x="9791700" y="0"/>
                  </a:lnTo>
                </a:path>
              </a:pathLst>
            </a:custGeom>
            <a:noFill/>
            <a:ln w="28575">
              <a:solidFill>
                <a:srgbClr val="CBD5E1"/>
              </a:solidFill>
            </a:ln>
          </p:spPr>
        </p:sp>
        <p:sp>
          <p:nvSpPr>
            <p:cNvPr id="15" name="Ellipse 15"/>
            <p:cNvSpPr/>
            <p:nvPr/>
          </p:nvSpPr>
          <p:spPr>
            <a:xfrm>
              <a:off x="1219200" y="3676650"/>
              <a:ext cx="342900" cy="342900"/>
            </a:xfrm>
            <a:prstGeom prst="ellipse">
              <a:avLst/>
            </a:prstGeom>
            <a:solidFill>
              <a:srgbClr val="2563EB"/>
            </a:solidFill>
            <a:ln>
              <a:noFill/>
            </a:ln>
          </p:spPr>
        </p:sp>
        <p:sp>
          <p:nvSpPr>
            <p:cNvPr id="16" name="TextBox 16"/>
            <p:cNvSpPr txBox="1"/>
            <p:nvPr/>
          </p:nvSpPr>
          <p:spPr>
            <a:xfrm>
              <a:off x="1329204" y="37852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7" name="TextBox 17"/>
            <p:cNvSpPr txBox="1"/>
            <p:nvPr/>
          </p:nvSpPr>
          <p:spPr>
            <a:xfrm>
              <a:off x="970598" y="4173379"/>
              <a:ext cx="767746" cy="320040"/>
            </a:xfrm>
            <a:prstGeom prst="rect">
              <a:avLst/>
            </a:prstGeom>
            <a:noFill/>
            <a:ln>
              <a:noFill/>
            </a:ln>
          </p:spPr>
          <p:txBody>
            <a:bodyPr wrap="none" lIns="0" tIns="0" rIns="0" bIns="0" anchor="t" anchorCtr="0">
              <a:spAutoFit/>
            </a:bodyPr>
            <a:lstStyle/>
            <a:p>
              <a:pPr algn="l"/>
              <a:r>
                <a:rPr lang="zh-CN" sz="1575" b="1" dirty="0">
                  <a:solidFill>
                    <a:srgbClr val="0F172A"/>
                  </a:solidFill>
                  <a:latin typeface="Arial"/>
                  <a:ea typeface="Microsoft YaHei"/>
                  <a:cs typeface="Arial"/>
                </a:rPr>
                <a:t>Create</a:t>
              </a:r>
            </a:p>
          </p:txBody>
        </p:sp>
        <p:sp>
          <p:nvSpPr>
            <p:cNvPr id="18" name="TextBox 18"/>
            <p:cNvSpPr txBox="1"/>
            <p:nvPr/>
          </p:nvSpPr>
          <p:spPr>
            <a:xfrm>
              <a:off x="975360" y="4499610"/>
              <a:ext cx="155067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 dict(), literals</a:t>
              </a:r>
            </a:p>
          </p:txBody>
        </p:sp>
        <p:sp>
          <p:nvSpPr>
            <p:cNvPr id="19" name="Ellipse 19"/>
            <p:cNvSpPr/>
            <p:nvPr/>
          </p:nvSpPr>
          <p:spPr>
            <a:xfrm>
              <a:off x="3600450" y="3676650"/>
              <a:ext cx="342900" cy="342900"/>
            </a:xfrm>
            <a:prstGeom prst="ellipse">
              <a:avLst/>
            </a:prstGeom>
            <a:solidFill>
              <a:srgbClr val="16A34A"/>
            </a:solidFill>
            <a:ln>
              <a:noFill/>
            </a:ln>
          </p:spPr>
        </p:sp>
        <p:sp>
          <p:nvSpPr>
            <p:cNvPr id="20" name="TextBox 20"/>
            <p:cNvSpPr txBox="1"/>
            <p:nvPr/>
          </p:nvSpPr>
          <p:spPr>
            <a:xfrm>
              <a:off x="3710454" y="37852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21" name="TextBox 21"/>
            <p:cNvSpPr txBox="1"/>
            <p:nvPr/>
          </p:nvSpPr>
          <p:spPr>
            <a:xfrm>
              <a:off x="3351848" y="4173379"/>
              <a:ext cx="833904" cy="320040"/>
            </a:xfrm>
            <a:prstGeom prst="rect">
              <a:avLst/>
            </a:prstGeom>
            <a:noFill/>
            <a:ln>
              <a:noFill/>
            </a:ln>
          </p:spPr>
          <p:txBody>
            <a:bodyPr wrap="none" lIns="0" tIns="0" rIns="0" bIns="0" anchor="t" anchorCtr="0">
              <a:spAutoFit/>
            </a:bodyPr>
            <a:lstStyle/>
            <a:p>
              <a:pPr algn="l"/>
              <a:r>
                <a:rPr lang="zh-CN" sz="1575" b="1" dirty="0">
                  <a:solidFill>
                    <a:srgbClr val="0F172A"/>
                  </a:solidFill>
                  <a:latin typeface="Arial"/>
                  <a:ea typeface="Microsoft YaHei"/>
                  <a:cs typeface="Arial"/>
                </a:rPr>
                <a:t>Look up</a:t>
              </a:r>
            </a:p>
          </p:txBody>
        </p:sp>
        <p:sp>
          <p:nvSpPr>
            <p:cNvPr id="22" name="TextBox 22"/>
            <p:cNvSpPr txBox="1"/>
            <p:nvPr/>
          </p:nvSpPr>
          <p:spPr>
            <a:xfrm>
              <a:off x="3356610" y="4499610"/>
              <a:ext cx="127063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 get(), keys</a:t>
              </a:r>
            </a:p>
          </p:txBody>
        </p:sp>
        <p:sp>
          <p:nvSpPr>
            <p:cNvPr id="23" name="Ellipse 23"/>
            <p:cNvSpPr/>
            <p:nvPr/>
          </p:nvSpPr>
          <p:spPr>
            <a:xfrm>
              <a:off x="5981700" y="3676650"/>
              <a:ext cx="342900" cy="342900"/>
            </a:xfrm>
            <a:prstGeom prst="ellipse">
              <a:avLst/>
            </a:prstGeom>
            <a:solidFill>
              <a:srgbClr val="F97316"/>
            </a:solidFill>
            <a:ln>
              <a:noFill/>
            </a:ln>
          </p:spPr>
        </p:sp>
        <p:sp>
          <p:nvSpPr>
            <p:cNvPr id="24" name="TextBox 24"/>
            <p:cNvSpPr txBox="1"/>
            <p:nvPr/>
          </p:nvSpPr>
          <p:spPr>
            <a:xfrm>
              <a:off x="6091704" y="37852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5" name="TextBox 25"/>
            <p:cNvSpPr txBox="1"/>
            <p:nvPr/>
          </p:nvSpPr>
          <p:spPr>
            <a:xfrm>
              <a:off x="5733098" y="4173379"/>
              <a:ext cx="756720" cy="320040"/>
            </a:xfrm>
            <a:prstGeom prst="rect">
              <a:avLst/>
            </a:prstGeom>
            <a:noFill/>
            <a:ln>
              <a:noFill/>
            </a:ln>
          </p:spPr>
          <p:txBody>
            <a:bodyPr wrap="none" lIns="0" tIns="0" rIns="0" bIns="0" anchor="t" anchorCtr="0">
              <a:spAutoFit/>
            </a:bodyPr>
            <a:lstStyle/>
            <a:p>
              <a:pPr algn="l"/>
              <a:r>
                <a:rPr lang="zh-CN" sz="1575" b="1" dirty="0">
                  <a:solidFill>
                    <a:srgbClr val="0F172A"/>
                  </a:solidFill>
                  <a:latin typeface="Arial"/>
                  <a:ea typeface="Microsoft YaHei"/>
                  <a:cs typeface="Arial"/>
                </a:rPr>
                <a:t>Modify</a:t>
              </a:r>
            </a:p>
          </p:txBody>
        </p:sp>
        <p:sp>
          <p:nvSpPr>
            <p:cNvPr id="26" name="TextBox 26"/>
            <p:cNvSpPr txBox="1"/>
            <p:nvPr/>
          </p:nvSpPr>
          <p:spPr>
            <a:xfrm>
              <a:off x="5737860" y="4499610"/>
              <a:ext cx="158267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add, update, delete</a:t>
              </a:r>
            </a:p>
          </p:txBody>
        </p:sp>
        <p:sp>
          <p:nvSpPr>
            <p:cNvPr id="27" name="Ellipse 27"/>
            <p:cNvSpPr/>
            <p:nvPr/>
          </p:nvSpPr>
          <p:spPr>
            <a:xfrm>
              <a:off x="8362950" y="3676650"/>
              <a:ext cx="342900" cy="342900"/>
            </a:xfrm>
            <a:prstGeom prst="ellipse">
              <a:avLst/>
            </a:prstGeom>
            <a:solidFill>
              <a:srgbClr val="2563EB"/>
            </a:solidFill>
            <a:ln>
              <a:noFill/>
            </a:ln>
          </p:spPr>
        </p:sp>
        <p:sp>
          <p:nvSpPr>
            <p:cNvPr id="28" name="TextBox 28"/>
            <p:cNvSpPr txBox="1"/>
            <p:nvPr/>
          </p:nvSpPr>
          <p:spPr>
            <a:xfrm>
              <a:off x="8472954" y="37852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29" name="TextBox 29"/>
            <p:cNvSpPr txBox="1"/>
            <p:nvPr/>
          </p:nvSpPr>
          <p:spPr>
            <a:xfrm>
              <a:off x="8114348" y="4173379"/>
              <a:ext cx="403875" cy="320040"/>
            </a:xfrm>
            <a:prstGeom prst="rect">
              <a:avLst/>
            </a:prstGeom>
            <a:noFill/>
            <a:ln>
              <a:noFill/>
            </a:ln>
          </p:spPr>
          <p:txBody>
            <a:bodyPr wrap="none" lIns="0" tIns="0" rIns="0" bIns="0" anchor="t" anchorCtr="0">
              <a:spAutoFit/>
            </a:bodyPr>
            <a:lstStyle/>
            <a:p>
              <a:pPr algn="l"/>
              <a:r>
                <a:rPr lang="zh-CN" sz="1575" b="1" dirty="0">
                  <a:solidFill>
                    <a:srgbClr val="0F172A"/>
                  </a:solidFill>
                  <a:latin typeface="Arial"/>
                  <a:ea typeface="Microsoft YaHei"/>
                  <a:cs typeface="Arial"/>
                </a:rPr>
                <a:t>Use</a:t>
              </a:r>
            </a:p>
          </p:txBody>
        </p:sp>
        <p:sp>
          <p:nvSpPr>
            <p:cNvPr id="30" name="TextBox 30"/>
            <p:cNvSpPr txBox="1"/>
            <p:nvPr/>
          </p:nvSpPr>
          <p:spPr>
            <a:xfrm>
              <a:off x="8119110" y="4499610"/>
              <a:ext cx="150266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conditionals, loops</a:t>
              </a:r>
            </a:p>
          </p:txBody>
        </p:sp>
        <p:sp>
          <p:nvSpPr>
            <p:cNvPr id="31" name="Ellipse 31"/>
            <p:cNvSpPr/>
            <p:nvPr/>
          </p:nvSpPr>
          <p:spPr>
            <a:xfrm>
              <a:off x="10572750" y="3676650"/>
              <a:ext cx="342900" cy="342900"/>
            </a:xfrm>
            <a:prstGeom prst="ellipse">
              <a:avLst/>
            </a:prstGeom>
            <a:solidFill>
              <a:srgbClr val="16A34A"/>
            </a:solidFill>
            <a:ln>
              <a:noFill/>
            </a:ln>
          </p:spPr>
        </p:sp>
        <p:sp>
          <p:nvSpPr>
            <p:cNvPr id="32" name="TextBox 32"/>
            <p:cNvSpPr txBox="1"/>
            <p:nvPr/>
          </p:nvSpPr>
          <p:spPr>
            <a:xfrm>
              <a:off x="10682754" y="37852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33" name="TextBox 33"/>
            <p:cNvSpPr txBox="1"/>
            <p:nvPr/>
          </p:nvSpPr>
          <p:spPr>
            <a:xfrm>
              <a:off x="9924098" y="4173379"/>
              <a:ext cx="933142" cy="320040"/>
            </a:xfrm>
            <a:prstGeom prst="rect">
              <a:avLst/>
            </a:prstGeom>
            <a:noFill/>
            <a:ln>
              <a:noFill/>
            </a:ln>
          </p:spPr>
          <p:txBody>
            <a:bodyPr wrap="none" lIns="0" tIns="0" rIns="0" bIns="0" anchor="t" anchorCtr="0">
              <a:spAutoFit/>
            </a:bodyPr>
            <a:lstStyle/>
            <a:p>
              <a:pPr algn="l"/>
              <a:r>
                <a:rPr lang="zh-CN" sz="1575" b="1" dirty="0">
                  <a:solidFill>
                    <a:srgbClr val="0F172A"/>
                  </a:solidFill>
                  <a:latin typeface="Arial"/>
                  <a:ea typeface="Microsoft YaHei"/>
                  <a:cs typeface="Arial"/>
                </a:rPr>
                <a:t>Compose</a:t>
              </a:r>
            </a:p>
          </p:txBody>
        </p:sp>
        <p:sp>
          <p:nvSpPr>
            <p:cNvPr id="34" name="TextBox 34"/>
            <p:cNvSpPr txBox="1"/>
            <p:nvPr/>
          </p:nvSpPr>
          <p:spPr>
            <a:xfrm>
              <a:off x="9928860" y="4499610"/>
              <a:ext cx="236677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nested dicts, comprehensions</a:t>
              </a:r>
            </a:p>
          </p:txBody>
        </p:sp>
      </p:grpSp>
      <p:sp>
        <p:nvSpPr>
          <p:cNvPr id="36" name="TextBox 36"/>
          <p:cNvSpPr txBox="1"/>
          <p:nvPr/>
        </p:nvSpPr>
        <p:spPr>
          <a:xfrm>
            <a:off x="578168" y="6143149"/>
            <a:ext cx="4445317"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Source: Introduction to Python Programming, Chapter 10 Dictionaries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400"/>
                                        <p:tgtEl>
                                          <p:spTgt spid="1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slide(fromBottom)">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3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77215" y="439102"/>
            <a:ext cx="11186422" cy="213360"/>
            <a:chOff x="577215" y="439102"/>
            <a:chExt cx="11186422" cy="213360"/>
          </a:xfrm>
        </p:grpSpPr>
        <p:sp>
          <p:nvSpPr>
            <p:cNvPr id="3" name="TextBox 3"/>
            <p:cNvSpPr txBox="1"/>
            <p:nvPr/>
          </p:nvSpPr>
          <p:spPr>
            <a:xfrm>
              <a:off x="577215" y="439102"/>
              <a:ext cx="1048448"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MENTAL MODEL</a:t>
              </a:r>
            </a:p>
          </p:txBody>
        </p:sp>
        <p:sp>
          <p:nvSpPr>
            <p:cNvPr id="4" name="TextBox 4"/>
            <p:cNvSpPr txBox="1"/>
            <p:nvPr/>
          </p:nvSpPr>
          <p:spPr>
            <a:xfrm>
              <a:off x="11303318" y="4471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02 / 12</a:t>
              </a:r>
            </a:p>
          </p:txBody>
        </p:sp>
      </p:grpSp>
      <p:grpSp>
        <p:nvGrpSpPr>
          <p:cNvPr id="8" name="Group 8"/>
          <p:cNvGrpSpPr/>
          <p:nvPr/>
        </p:nvGrpSpPr>
        <p:grpSpPr>
          <a:xfrm>
            <a:off x="548640" y="901065"/>
            <a:ext cx="8308448" cy="913447"/>
            <a:chOff x="548640" y="901065"/>
            <a:chExt cx="8308448" cy="913447"/>
          </a:xfrm>
        </p:grpSpPr>
        <p:sp>
          <p:nvSpPr>
            <p:cNvPr id="6" name="TextBox 6"/>
            <p:cNvSpPr txBox="1"/>
            <p:nvPr/>
          </p:nvSpPr>
          <p:spPr>
            <a:xfrm>
              <a:off x="548640" y="901065"/>
              <a:ext cx="8308448" cy="670560"/>
            </a:xfrm>
            <a:prstGeom prst="rect">
              <a:avLst/>
            </a:prstGeom>
            <a:noFill/>
            <a:ln>
              <a:noFill/>
            </a:ln>
          </p:spPr>
          <p:txBody>
            <a:bodyPr wrap="none" lIns="0" tIns="0" rIns="0" bIns="0" anchor="t" anchorCtr="0">
              <a:spAutoFit/>
            </a:bodyPr>
            <a:lstStyle/>
            <a:p>
              <a:pPr algn="l"/>
              <a:r>
                <a:rPr lang="zh-CN" sz="3300" b="1" dirty="0">
                  <a:solidFill>
                    <a:srgbClr val="0F172A"/>
                  </a:solidFill>
                  <a:latin typeface="Arial"/>
                  <a:ea typeface="Microsoft YaHei"/>
                  <a:cs typeface="Arial"/>
                </a:rPr>
                <a:t>A dictionary stores key-value pairs.</a:t>
              </a:r>
            </a:p>
          </p:txBody>
        </p:sp>
        <p:sp>
          <p:nvSpPr>
            <p:cNvPr id="7" name="TextBox 7"/>
            <p:cNvSpPr txBox="1"/>
            <p:nvPr/>
          </p:nvSpPr>
          <p:spPr>
            <a:xfrm>
              <a:off x="607695" y="1479232"/>
              <a:ext cx="7236809" cy="335280"/>
            </a:xfrm>
            <a:prstGeom prst="rect">
              <a:avLst/>
            </a:prstGeom>
            <a:noFill/>
            <a:ln>
              <a:noFill/>
            </a:ln>
          </p:spPr>
          <p:txBody>
            <a:bodyPr wrap="none" lIns="0" tIns="0" rIns="0" bIns="0" anchor="t" anchorCtr="0">
              <a:spAutoFit/>
            </a:bodyPr>
            <a:lstStyle/>
            <a:p>
              <a:pPr algn="l"/>
              <a:r>
                <a:rPr lang="zh-CN" sz="1650" dirty="0">
                  <a:solidFill>
                    <a:srgbClr val="64748B"/>
                  </a:solidFill>
                  <a:latin typeface="Arial"/>
                  <a:ea typeface="Microsoft YaHei"/>
                  <a:cs typeface="Arial"/>
                </a:rPr>
                <a:t>Think: use a key to look up its value, like a word and its definition.</a:t>
              </a:r>
            </a:p>
          </p:txBody>
        </p:sp>
      </p:grpSp>
      <p:grpSp>
        <p:nvGrpSpPr>
          <p:cNvPr id="15" name="Group 15"/>
          <p:cNvGrpSpPr/>
          <p:nvPr/>
        </p:nvGrpSpPr>
        <p:grpSpPr>
          <a:xfrm>
            <a:off x="1047750" y="2286000"/>
            <a:ext cx="4324350" cy="2514600"/>
            <a:chOff x="1047750" y="2286000"/>
            <a:chExt cx="4324350" cy="2514600"/>
          </a:xfrm>
        </p:grpSpPr>
        <p:sp>
          <p:nvSpPr>
            <p:cNvPr id="9" name="Rectangle 9"/>
            <p:cNvSpPr/>
            <p:nvPr/>
          </p:nvSpPr>
          <p:spPr>
            <a:xfrm>
              <a:off x="1047750" y="2286000"/>
              <a:ext cx="4324350" cy="2514600"/>
            </a:xfrm>
            <a:prstGeom prst="roundRect">
              <a:avLst>
                <a:gd name="adj" fmla="val 10606"/>
              </a:avLst>
            </a:prstGeom>
            <a:solidFill>
              <a:srgbClr val="FFFFFF"/>
            </a:solidFill>
            <a:ln w="28575">
              <a:solidFill>
                <a:srgbClr val="CBD5E1"/>
              </a:solidFill>
            </a:ln>
          </p:spPr>
        </p:sp>
        <p:sp>
          <p:nvSpPr>
            <p:cNvPr id="10" name="TextBox 10"/>
            <p:cNvSpPr txBox="1"/>
            <p:nvPr/>
          </p:nvSpPr>
          <p:spPr>
            <a:xfrm>
              <a:off x="1369695" y="2584132"/>
              <a:ext cx="942923" cy="335280"/>
            </a:xfrm>
            <a:prstGeom prst="rect">
              <a:avLst/>
            </a:prstGeom>
            <a:noFill/>
            <a:ln>
              <a:noFill/>
            </a:ln>
          </p:spPr>
          <p:txBody>
            <a:bodyPr wrap="none" lIns="0" tIns="0" rIns="0" bIns="0" anchor="t" anchorCtr="0">
              <a:spAutoFit/>
            </a:bodyPr>
            <a:lstStyle/>
            <a:p>
              <a:pPr algn="l"/>
              <a:r>
                <a:rPr lang="zh-CN" sz="1650" b="1" dirty="0">
                  <a:solidFill>
                    <a:srgbClr val="2563EB"/>
                  </a:solidFill>
                  <a:latin typeface="Consolas"/>
                  <a:ea typeface="Microsoft YaHei"/>
                  <a:cs typeface="Consolas"/>
                </a:rPr>
                <a:t>days = {</a:t>
              </a:r>
            </a:p>
          </p:txBody>
        </p:sp>
        <p:sp>
          <p:nvSpPr>
            <p:cNvPr id="11" name="TextBox 11"/>
            <p:cNvSpPr txBox="1"/>
            <p:nvPr/>
          </p:nvSpPr>
          <p:spPr>
            <a:xfrm>
              <a:off x="1655445" y="2965132"/>
              <a:ext cx="1439085" cy="335280"/>
            </a:xfrm>
            <a:prstGeom prst="rect">
              <a:avLst/>
            </a:prstGeom>
            <a:noFill/>
            <a:ln>
              <a:noFill/>
            </a:ln>
          </p:spPr>
          <p:txBody>
            <a:bodyPr wrap="none" lIns="0" tIns="0" rIns="0" bIns="0" anchor="t" anchorCtr="0">
              <a:spAutoFit/>
            </a:bodyPr>
            <a:lstStyle/>
            <a:p>
              <a:pPr algn="l"/>
              <a:r>
                <a:rPr lang="zh-CN" sz="1650" dirty="0">
                  <a:solidFill>
                    <a:srgbClr val="0F172A"/>
                  </a:solidFill>
                  <a:latin typeface="Consolas"/>
                  <a:ea typeface="Microsoft YaHei"/>
                  <a:cs typeface="Consolas"/>
                </a:rPr>
                <a:t>"Sunday": 1,</a:t>
              </a:r>
            </a:p>
          </p:txBody>
        </p:sp>
        <p:sp>
          <p:nvSpPr>
            <p:cNvPr id="12" name="TextBox 12"/>
            <p:cNvSpPr txBox="1"/>
            <p:nvPr/>
          </p:nvSpPr>
          <p:spPr>
            <a:xfrm>
              <a:off x="1655445" y="3346132"/>
              <a:ext cx="1483090" cy="335280"/>
            </a:xfrm>
            <a:prstGeom prst="rect">
              <a:avLst/>
            </a:prstGeom>
            <a:noFill/>
            <a:ln>
              <a:noFill/>
            </a:ln>
          </p:spPr>
          <p:txBody>
            <a:bodyPr wrap="none" lIns="0" tIns="0" rIns="0" bIns="0" anchor="t" anchorCtr="0">
              <a:spAutoFit/>
            </a:bodyPr>
            <a:lstStyle/>
            <a:p>
              <a:pPr algn="l"/>
              <a:r>
                <a:rPr lang="zh-CN" sz="1650" dirty="0">
                  <a:solidFill>
                    <a:srgbClr val="0F172A"/>
                  </a:solidFill>
                  <a:latin typeface="Consolas"/>
                  <a:ea typeface="Microsoft YaHei"/>
                  <a:cs typeface="Consolas"/>
                </a:rPr>
                <a:t>"Monday": 2,</a:t>
              </a:r>
            </a:p>
          </p:txBody>
        </p:sp>
        <p:sp>
          <p:nvSpPr>
            <p:cNvPr id="13" name="TextBox 13"/>
            <p:cNvSpPr txBox="1"/>
            <p:nvPr/>
          </p:nvSpPr>
          <p:spPr>
            <a:xfrm>
              <a:off x="1655445" y="3727132"/>
              <a:ext cx="1439085" cy="335280"/>
            </a:xfrm>
            <a:prstGeom prst="rect">
              <a:avLst/>
            </a:prstGeom>
            <a:noFill/>
            <a:ln>
              <a:noFill/>
            </a:ln>
          </p:spPr>
          <p:txBody>
            <a:bodyPr wrap="none" lIns="0" tIns="0" rIns="0" bIns="0" anchor="t" anchorCtr="0">
              <a:spAutoFit/>
            </a:bodyPr>
            <a:lstStyle/>
            <a:p>
              <a:pPr algn="l"/>
              <a:r>
                <a:rPr lang="zh-CN" sz="1650" dirty="0">
                  <a:solidFill>
                    <a:srgbClr val="0F172A"/>
                  </a:solidFill>
                  <a:latin typeface="Consolas"/>
                  <a:ea typeface="Microsoft YaHei"/>
                  <a:cs typeface="Consolas"/>
                </a:rPr>
                <a:t>"Tuesday": 3</a:t>
              </a:r>
            </a:p>
          </p:txBody>
        </p:sp>
        <p:sp>
          <p:nvSpPr>
            <p:cNvPr id="14" name="TextBox 14"/>
            <p:cNvSpPr txBox="1"/>
            <p:nvPr/>
          </p:nvSpPr>
          <p:spPr>
            <a:xfrm>
              <a:off x="1369695" y="4108132"/>
              <a:ext cx="168976" cy="335280"/>
            </a:xfrm>
            <a:prstGeom prst="rect">
              <a:avLst/>
            </a:prstGeom>
            <a:noFill/>
            <a:ln>
              <a:noFill/>
            </a:ln>
          </p:spPr>
          <p:txBody>
            <a:bodyPr wrap="none" lIns="0" tIns="0" rIns="0" bIns="0" anchor="t" anchorCtr="0">
              <a:spAutoFit/>
            </a:bodyPr>
            <a:lstStyle/>
            <a:p>
              <a:pPr algn="l"/>
              <a:r>
                <a:rPr lang="zh-CN" sz="1650" b="1" dirty="0">
                  <a:solidFill>
                    <a:srgbClr val="2563EB"/>
                  </a:solidFill>
                  <a:latin typeface="Consolas"/>
                  <a:ea typeface="Microsoft YaHei"/>
                  <a:cs typeface="Consolas"/>
                </a:rPr>
                <a:t>}</a:t>
              </a:r>
            </a:p>
          </p:txBody>
        </p:sp>
      </p:grpSp>
      <p:grpSp>
        <p:nvGrpSpPr>
          <p:cNvPr id="36" name="Group 36"/>
          <p:cNvGrpSpPr/>
          <p:nvPr/>
        </p:nvGrpSpPr>
        <p:grpSpPr>
          <a:xfrm>
            <a:off x="6400800" y="2259806"/>
            <a:ext cx="4324350" cy="2712244"/>
            <a:chOff x="6400800" y="2259806"/>
            <a:chExt cx="4324350" cy="2712244"/>
          </a:xfrm>
        </p:grpSpPr>
        <p:sp>
          <p:nvSpPr>
            <p:cNvPr id="16" name="TextBox 16"/>
            <p:cNvSpPr txBox="1"/>
            <p:nvPr/>
          </p:nvSpPr>
          <p:spPr>
            <a:xfrm>
              <a:off x="6672262" y="2259806"/>
              <a:ext cx="375118"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rial"/>
                  <a:ea typeface="Microsoft YaHei"/>
                  <a:cs typeface="Arial"/>
                </a:rPr>
                <a:t>KEYS</a:t>
              </a:r>
            </a:p>
          </p:txBody>
        </p:sp>
        <p:sp>
          <p:nvSpPr>
            <p:cNvPr id="17" name="TextBox 17"/>
            <p:cNvSpPr txBox="1"/>
            <p:nvPr/>
          </p:nvSpPr>
          <p:spPr>
            <a:xfrm>
              <a:off x="9701212" y="2259806"/>
              <a:ext cx="548390"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rial"/>
                  <a:ea typeface="Microsoft YaHei"/>
                  <a:cs typeface="Arial"/>
                </a:rPr>
                <a:t>VALUES</a:t>
              </a:r>
            </a:p>
          </p:txBody>
        </p:sp>
        <p:sp>
          <p:nvSpPr>
            <p:cNvPr id="18" name="Rectangle 18"/>
            <p:cNvSpPr/>
            <p:nvPr/>
          </p:nvSpPr>
          <p:spPr>
            <a:xfrm>
              <a:off x="6400800" y="2686050"/>
              <a:ext cx="2076450" cy="571500"/>
            </a:xfrm>
            <a:prstGeom prst="roundRect">
              <a:avLst>
                <a:gd name="adj" fmla="val 26667"/>
              </a:avLst>
            </a:prstGeom>
            <a:solidFill>
              <a:srgbClr val="FFFFFF"/>
            </a:solidFill>
            <a:ln w="28575">
              <a:solidFill>
                <a:srgbClr val="2563EB"/>
              </a:solidFill>
            </a:ln>
          </p:spPr>
        </p:sp>
        <p:sp>
          <p:nvSpPr>
            <p:cNvPr id="19" name="TextBox 19"/>
            <p:cNvSpPr txBox="1"/>
            <p:nvPr/>
          </p:nvSpPr>
          <p:spPr>
            <a:xfrm>
              <a:off x="6956965" y="2877979"/>
              <a:ext cx="964120"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"Sunday"</a:t>
              </a:r>
            </a:p>
          </p:txBody>
        </p:sp>
        <p:sp>
          <p:nvSpPr>
            <p:cNvPr id="20" name="Line 20"/>
            <p:cNvSpPr/>
            <p:nvPr/>
          </p:nvSpPr>
          <p:spPr>
            <a:xfrm>
              <a:off x="8572500" y="2971800"/>
              <a:ext cx="1104900" cy="9525"/>
            </a:xfrm>
            <a:custGeom>
              <a:avLst/>
              <a:gdLst/>
              <a:ahLst/>
              <a:cxnLst/>
              <a:rect l="l" t="t" r="r" b="b"/>
              <a:pathLst>
                <a:path w="1104900" h="9525">
                  <a:moveTo>
                    <a:pt x="0" y="0"/>
                  </a:moveTo>
                  <a:lnTo>
                    <a:pt x="1104900" y="0"/>
                  </a:lnTo>
                </a:path>
              </a:pathLst>
            </a:custGeom>
            <a:noFill/>
            <a:ln w="38100">
              <a:solidFill>
                <a:srgbClr val="2563EB"/>
              </a:solidFill>
            </a:ln>
          </p:spPr>
        </p:sp>
        <p:sp>
          <p:nvSpPr>
            <p:cNvPr id="21" name="Polygon 21"/>
            <p:cNvSpPr/>
            <p:nvPr/>
          </p:nvSpPr>
          <p:spPr>
            <a:xfrm>
              <a:off x="9505950" y="2876550"/>
              <a:ext cx="171450" cy="190500"/>
            </a:xfrm>
            <a:custGeom>
              <a:avLst/>
              <a:gdLst/>
              <a:ahLst/>
              <a:cxnLst/>
              <a:rect l="l" t="t" r="r" b="b"/>
              <a:pathLst>
                <a:path w="171450" h="190500">
                  <a:moveTo>
                    <a:pt x="171450" y="95250"/>
                  </a:moveTo>
                  <a:lnTo>
                    <a:pt x="0" y="0"/>
                  </a:lnTo>
                  <a:lnTo>
                    <a:pt x="0" y="190500"/>
                  </a:lnTo>
                  <a:close/>
                </a:path>
              </a:pathLst>
            </a:custGeom>
            <a:solidFill>
              <a:srgbClr val="2563EB"/>
            </a:solidFill>
            <a:ln>
              <a:noFill/>
            </a:ln>
          </p:spPr>
        </p:sp>
        <p:sp>
          <p:nvSpPr>
            <p:cNvPr id="22" name="Rectangle 22"/>
            <p:cNvSpPr/>
            <p:nvPr/>
          </p:nvSpPr>
          <p:spPr>
            <a:xfrm>
              <a:off x="9829800" y="2686050"/>
              <a:ext cx="895350" cy="571500"/>
            </a:xfrm>
            <a:prstGeom prst="roundRect">
              <a:avLst>
                <a:gd name="adj" fmla="val 26667"/>
              </a:avLst>
            </a:prstGeom>
            <a:solidFill>
              <a:srgbClr val="FFFFFF"/>
            </a:solidFill>
            <a:ln w="28575">
              <a:solidFill>
                <a:srgbClr val="16A34A"/>
              </a:solidFill>
            </a:ln>
          </p:spPr>
        </p:sp>
        <p:sp>
          <p:nvSpPr>
            <p:cNvPr id="23" name="TextBox 23"/>
            <p:cNvSpPr txBox="1"/>
            <p:nvPr/>
          </p:nvSpPr>
          <p:spPr>
            <a:xfrm>
              <a:off x="10199715" y="2877979"/>
              <a:ext cx="155519"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1</a:t>
              </a:r>
            </a:p>
          </p:txBody>
        </p:sp>
        <p:sp>
          <p:nvSpPr>
            <p:cNvPr id="24" name="Rectangle 24"/>
            <p:cNvSpPr/>
            <p:nvPr/>
          </p:nvSpPr>
          <p:spPr>
            <a:xfrm>
              <a:off x="6400800" y="3543300"/>
              <a:ext cx="2076450" cy="571500"/>
            </a:xfrm>
            <a:prstGeom prst="roundRect">
              <a:avLst>
                <a:gd name="adj" fmla="val 26667"/>
              </a:avLst>
            </a:prstGeom>
            <a:solidFill>
              <a:srgbClr val="FFFFFF"/>
            </a:solidFill>
            <a:ln w="28575">
              <a:solidFill>
                <a:srgbClr val="2563EB"/>
              </a:solidFill>
            </a:ln>
          </p:spPr>
        </p:sp>
        <p:sp>
          <p:nvSpPr>
            <p:cNvPr id="25" name="TextBox 25"/>
            <p:cNvSpPr txBox="1"/>
            <p:nvPr/>
          </p:nvSpPr>
          <p:spPr>
            <a:xfrm>
              <a:off x="6935962" y="3735229"/>
              <a:ext cx="1006126"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"Monday"</a:t>
              </a:r>
            </a:p>
          </p:txBody>
        </p:sp>
        <p:sp>
          <p:nvSpPr>
            <p:cNvPr id="26" name="Line 26"/>
            <p:cNvSpPr/>
            <p:nvPr/>
          </p:nvSpPr>
          <p:spPr>
            <a:xfrm>
              <a:off x="8572500" y="3829050"/>
              <a:ext cx="1104900" cy="9525"/>
            </a:xfrm>
            <a:custGeom>
              <a:avLst/>
              <a:gdLst/>
              <a:ahLst/>
              <a:cxnLst/>
              <a:rect l="l" t="t" r="r" b="b"/>
              <a:pathLst>
                <a:path w="1104900" h="9525">
                  <a:moveTo>
                    <a:pt x="0" y="0"/>
                  </a:moveTo>
                  <a:lnTo>
                    <a:pt x="1104900" y="0"/>
                  </a:lnTo>
                </a:path>
              </a:pathLst>
            </a:custGeom>
            <a:noFill/>
            <a:ln w="38100">
              <a:solidFill>
                <a:srgbClr val="2563EB"/>
              </a:solidFill>
            </a:ln>
          </p:spPr>
        </p:sp>
        <p:sp>
          <p:nvSpPr>
            <p:cNvPr id="27" name="Polygon 27"/>
            <p:cNvSpPr/>
            <p:nvPr/>
          </p:nvSpPr>
          <p:spPr>
            <a:xfrm>
              <a:off x="9505950" y="3733800"/>
              <a:ext cx="171450" cy="190500"/>
            </a:xfrm>
            <a:custGeom>
              <a:avLst/>
              <a:gdLst/>
              <a:ahLst/>
              <a:cxnLst/>
              <a:rect l="l" t="t" r="r" b="b"/>
              <a:pathLst>
                <a:path w="171450" h="190500">
                  <a:moveTo>
                    <a:pt x="171450" y="95250"/>
                  </a:moveTo>
                  <a:lnTo>
                    <a:pt x="0" y="0"/>
                  </a:lnTo>
                  <a:lnTo>
                    <a:pt x="0" y="190500"/>
                  </a:lnTo>
                  <a:close/>
                </a:path>
              </a:pathLst>
            </a:custGeom>
            <a:solidFill>
              <a:srgbClr val="2563EB"/>
            </a:solidFill>
            <a:ln>
              <a:noFill/>
            </a:ln>
          </p:spPr>
        </p:sp>
        <p:sp>
          <p:nvSpPr>
            <p:cNvPr id="28" name="Rectangle 28"/>
            <p:cNvSpPr/>
            <p:nvPr/>
          </p:nvSpPr>
          <p:spPr>
            <a:xfrm>
              <a:off x="9829800" y="3543300"/>
              <a:ext cx="895350" cy="571500"/>
            </a:xfrm>
            <a:prstGeom prst="roundRect">
              <a:avLst>
                <a:gd name="adj" fmla="val 26667"/>
              </a:avLst>
            </a:prstGeom>
            <a:solidFill>
              <a:srgbClr val="FFFFFF"/>
            </a:solidFill>
            <a:ln w="28575">
              <a:solidFill>
                <a:srgbClr val="16A34A"/>
              </a:solidFill>
            </a:ln>
          </p:spPr>
        </p:sp>
        <p:sp>
          <p:nvSpPr>
            <p:cNvPr id="29" name="TextBox 29"/>
            <p:cNvSpPr txBox="1"/>
            <p:nvPr/>
          </p:nvSpPr>
          <p:spPr>
            <a:xfrm>
              <a:off x="10199715" y="3735229"/>
              <a:ext cx="155519"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2</a:t>
              </a:r>
            </a:p>
          </p:txBody>
        </p:sp>
        <p:sp>
          <p:nvSpPr>
            <p:cNvPr id="30" name="Rectangle 30"/>
            <p:cNvSpPr/>
            <p:nvPr/>
          </p:nvSpPr>
          <p:spPr>
            <a:xfrm>
              <a:off x="6400800" y="4400550"/>
              <a:ext cx="2076450" cy="571500"/>
            </a:xfrm>
            <a:prstGeom prst="roundRect">
              <a:avLst>
                <a:gd name="adj" fmla="val 26667"/>
              </a:avLst>
            </a:prstGeom>
            <a:solidFill>
              <a:srgbClr val="FFFFFF"/>
            </a:solidFill>
            <a:ln w="28575">
              <a:solidFill>
                <a:srgbClr val="2563EB"/>
              </a:solidFill>
            </a:ln>
          </p:spPr>
        </p:sp>
        <p:sp>
          <p:nvSpPr>
            <p:cNvPr id="31" name="TextBox 31"/>
            <p:cNvSpPr txBox="1"/>
            <p:nvPr/>
          </p:nvSpPr>
          <p:spPr>
            <a:xfrm>
              <a:off x="6899208" y="4592479"/>
              <a:ext cx="1079635"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"Tuesday"</a:t>
              </a:r>
            </a:p>
          </p:txBody>
        </p:sp>
        <p:sp>
          <p:nvSpPr>
            <p:cNvPr id="32" name="Line 32"/>
            <p:cNvSpPr/>
            <p:nvPr/>
          </p:nvSpPr>
          <p:spPr>
            <a:xfrm>
              <a:off x="8572500" y="4686300"/>
              <a:ext cx="1104900" cy="9525"/>
            </a:xfrm>
            <a:custGeom>
              <a:avLst/>
              <a:gdLst/>
              <a:ahLst/>
              <a:cxnLst/>
              <a:rect l="l" t="t" r="r" b="b"/>
              <a:pathLst>
                <a:path w="1104900" h="9525">
                  <a:moveTo>
                    <a:pt x="0" y="0"/>
                  </a:moveTo>
                  <a:lnTo>
                    <a:pt x="1104900" y="0"/>
                  </a:lnTo>
                </a:path>
              </a:pathLst>
            </a:custGeom>
            <a:noFill/>
            <a:ln w="38100">
              <a:solidFill>
                <a:srgbClr val="2563EB"/>
              </a:solidFill>
            </a:ln>
          </p:spPr>
        </p:sp>
        <p:sp>
          <p:nvSpPr>
            <p:cNvPr id="33" name="Polygon 33"/>
            <p:cNvSpPr/>
            <p:nvPr/>
          </p:nvSpPr>
          <p:spPr>
            <a:xfrm>
              <a:off x="9505950" y="4591050"/>
              <a:ext cx="171450" cy="190500"/>
            </a:xfrm>
            <a:custGeom>
              <a:avLst/>
              <a:gdLst/>
              <a:ahLst/>
              <a:cxnLst/>
              <a:rect l="l" t="t" r="r" b="b"/>
              <a:pathLst>
                <a:path w="171450" h="190500">
                  <a:moveTo>
                    <a:pt x="171450" y="95250"/>
                  </a:moveTo>
                  <a:lnTo>
                    <a:pt x="0" y="0"/>
                  </a:lnTo>
                  <a:lnTo>
                    <a:pt x="0" y="190500"/>
                  </a:lnTo>
                  <a:close/>
                </a:path>
              </a:pathLst>
            </a:custGeom>
            <a:solidFill>
              <a:srgbClr val="2563EB"/>
            </a:solidFill>
            <a:ln>
              <a:noFill/>
            </a:ln>
          </p:spPr>
        </p:sp>
        <p:sp>
          <p:nvSpPr>
            <p:cNvPr id="34" name="Rectangle 34"/>
            <p:cNvSpPr/>
            <p:nvPr/>
          </p:nvSpPr>
          <p:spPr>
            <a:xfrm>
              <a:off x="9829800" y="4400550"/>
              <a:ext cx="895350" cy="571500"/>
            </a:xfrm>
            <a:prstGeom prst="roundRect">
              <a:avLst>
                <a:gd name="adj" fmla="val 26667"/>
              </a:avLst>
            </a:prstGeom>
            <a:solidFill>
              <a:srgbClr val="FFFFFF"/>
            </a:solidFill>
            <a:ln w="28575">
              <a:solidFill>
                <a:srgbClr val="16A34A"/>
              </a:solidFill>
            </a:ln>
          </p:spPr>
        </p:sp>
        <p:sp>
          <p:nvSpPr>
            <p:cNvPr id="35" name="TextBox 35"/>
            <p:cNvSpPr txBox="1"/>
            <p:nvPr/>
          </p:nvSpPr>
          <p:spPr>
            <a:xfrm>
              <a:off x="10199715" y="4592479"/>
              <a:ext cx="155519" cy="320040"/>
            </a:xfrm>
            <a:prstGeom prst="rect">
              <a:avLst/>
            </a:prstGeom>
            <a:noFill/>
            <a:ln>
              <a:noFill/>
            </a:ln>
          </p:spPr>
          <p:txBody>
            <a:bodyPr wrap="none" lIns="0" tIns="0" rIns="0" bIns="0" anchor="t" anchorCtr="0">
              <a:spAutoFit/>
            </a:bodyPr>
            <a:lstStyle/>
            <a:p>
              <a:pPr algn="ctr"/>
              <a:r>
                <a:rPr lang="zh-CN" sz="1575" dirty="0">
                  <a:solidFill>
                    <a:srgbClr val="0F172A"/>
                  </a:solidFill>
                  <a:latin typeface="Consolas"/>
                  <a:ea typeface="Microsoft YaHei"/>
                  <a:cs typeface="Consolas"/>
                </a:rPr>
                <a:t>3</a:t>
              </a:r>
            </a:p>
          </p:txBody>
        </p:sp>
      </p:grpSp>
      <p:grpSp>
        <p:nvGrpSpPr>
          <p:cNvPr id="41" name="Group 41"/>
          <p:cNvGrpSpPr/>
          <p:nvPr/>
        </p:nvGrpSpPr>
        <p:grpSpPr>
          <a:xfrm>
            <a:off x="1066800" y="5372100"/>
            <a:ext cx="9658350" cy="704850"/>
            <a:chOff x="1066800" y="5372100"/>
            <a:chExt cx="9658350" cy="704850"/>
          </a:xfrm>
        </p:grpSpPr>
        <p:sp>
          <p:nvSpPr>
            <p:cNvPr id="37" name="Rectangle 37"/>
            <p:cNvSpPr/>
            <p:nvPr/>
          </p:nvSpPr>
          <p:spPr>
            <a:xfrm>
              <a:off x="1066800" y="5372100"/>
              <a:ext cx="9658350" cy="704850"/>
            </a:xfrm>
            <a:prstGeom prst="roundRect">
              <a:avLst>
                <a:gd name="adj" fmla="val 29730"/>
              </a:avLst>
            </a:prstGeom>
            <a:solidFill>
              <a:srgbClr val="E2E8F0"/>
            </a:solidFill>
            <a:ln w="19050">
              <a:solidFill>
                <a:srgbClr val="CBD5E1"/>
              </a:solidFill>
            </a:ln>
          </p:spPr>
        </p:sp>
        <p:sp>
          <p:nvSpPr>
            <p:cNvPr id="38" name="TextBox 38"/>
            <p:cNvSpPr txBox="1"/>
            <p:nvPr/>
          </p:nvSpPr>
          <p:spPr>
            <a:xfrm>
              <a:off x="1393508" y="5558314"/>
              <a:ext cx="1317746" cy="259080"/>
            </a:xfrm>
            <a:prstGeom prst="rect">
              <a:avLst/>
            </a:prstGeom>
            <a:noFill/>
            <a:ln>
              <a:noFill/>
            </a:ln>
          </p:spPr>
          <p:txBody>
            <a:bodyPr wrap="none" lIns="0" tIns="0" rIns="0" bIns="0" anchor="t" anchorCtr="0">
              <a:spAutoFit/>
            </a:bodyPr>
            <a:lstStyle/>
            <a:p>
              <a:pPr algn="l"/>
              <a:r>
                <a:rPr lang="zh-CN" sz="1275" b="1" dirty="0">
                  <a:solidFill>
                    <a:srgbClr val="F97316"/>
                  </a:solidFill>
                  <a:latin typeface="Arial"/>
                  <a:ea typeface="Microsoft YaHei"/>
                  <a:cs typeface="Arial"/>
                </a:rPr>
                <a:t>Teaching note:</a:t>
              </a:r>
            </a:p>
          </p:txBody>
        </p:sp>
        <p:sp>
          <p:nvSpPr>
            <p:cNvPr id="39" name="TextBox 39"/>
            <p:cNvSpPr txBox="1"/>
            <p:nvPr/>
          </p:nvSpPr>
          <p:spPr>
            <a:xfrm>
              <a:off x="2554605" y="5550218"/>
              <a:ext cx="564199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A dictionary cannot have duplicate keys, but values can repeat.</a:t>
              </a:r>
            </a:p>
          </p:txBody>
        </p:sp>
        <p:sp>
          <p:nvSpPr>
            <p:cNvPr id="40" name="TextBox 40"/>
            <p:cNvSpPr txBox="1"/>
            <p:nvPr/>
          </p:nvSpPr>
          <p:spPr>
            <a:xfrm>
              <a:off x="2556510" y="5833110"/>
              <a:ext cx="5447157"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Source section 10.1 introduces `dict` type and key-value structure.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400"/>
                                        <p:tgtEl>
                                          <p:spTgt spid="3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36"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445397"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CREATE A DICTIONARY</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03 / 12</a:t>
              </a:r>
            </a:p>
          </p:txBody>
        </p:sp>
      </p:grpSp>
      <p:grpSp>
        <p:nvGrpSpPr>
          <p:cNvPr id="8" name="Group 8"/>
          <p:cNvGrpSpPr/>
          <p:nvPr/>
        </p:nvGrpSpPr>
        <p:grpSpPr>
          <a:xfrm>
            <a:off x="478155" y="759142"/>
            <a:ext cx="8811582" cy="760096"/>
            <a:chOff x="478155" y="759142"/>
            <a:chExt cx="8811582" cy="760096"/>
          </a:xfrm>
        </p:grpSpPr>
        <p:sp>
          <p:nvSpPr>
            <p:cNvPr id="6" name="TextBox 6"/>
            <p:cNvSpPr txBox="1"/>
            <p:nvPr/>
          </p:nvSpPr>
          <p:spPr>
            <a:xfrm>
              <a:off x="478155" y="759142"/>
              <a:ext cx="8811582"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Create dictionaries with braces or `dict()`.</a:t>
              </a:r>
            </a:p>
          </p:txBody>
        </p:sp>
        <p:sp>
          <p:nvSpPr>
            <p:cNvPr id="7" name="TextBox 7"/>
            <p:cNvSpPr txBox="1"/>
            <p:nvPr/>
          </p:nvSpPr>
          <p:spPr>
            <a:xfrm>
              <a:off x="497205" y="1244918"/>
              <a:ext cx="8063293"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Start empty, write key-value pairs directly, or build a dictionary from structured inputs.</a:t>
              </a:r>
            </a:p>
          </p:txBody>
        </p:sp>
      </p:grpSp>
      <p:grpSp>
        <p:nvGrpSpPr>
          <p:cNvPr id="16" name="Group 16"/>
          <p:cNvGrpSpPr/>
          <p:nvPr/>
        </p:nvGrpSpPr>
        <p:grpSpPr>
          <a:xfrm>
            <a:off x="514350" y="1809750"/>
            <a:ext cx="3974402" cy="3143250"/>
            <a:chOff x="514350" y="1809750"/>
            <a:chExt cx="3974402" cy="3143250"/>
          </a:xfrm>
        </p:grpSpPr>
        <p:sp>
          <p:nvSpPr>
            <p:cNvPr id="9" name="Rectangle 9"/>
            <p:cNvSpPr/>
            <p:nvPr/>
          </p:nvSpPr>
          <p:spPr>
            <a:xfrm>
              <a:off x="514350" y="1809750"/>
              <a:ext cx="3448050" cy="3143250"/>
            </a:xfrm>
            <a:prstGeom prst="roundRect">
              <a:avLst>
                <a:gd name="adj" fmla="val 7273"/>
              </a:avLst>
            </a:prstGeom>
            <a:solidFill>
              <a:srgbClr val="FFFFFF"/>
            </a:solidFill>
            <a:ln w="19050">
              <a:solidFill>
                <a:srgbClr val="CBD5E1"/>
              </a:solidFill>
            </a:ln>
          </p:spPr>
        </p:sp>
        <p:sp>
          <p:nvSpPr>
            <p:cNvPr id="10" name="Ellipse 10"/>
            <p:cNvSpPr/>
            <p:nvPr/>
          </p:nvSpPr>
          <p:spPr>
            <a:xfrm>
              <a:off x="752475" y="2066925"/>
              <a:ext cx="285750" cy="285750"/>
            </a:xfrm>
            <a:prstGeom prst="ellipse">
              <a:avLst/>
            </a:prstGeom>
            <a:solidFill>
              <a:srgbClr val="2563EB"/>
            </a:solidFill>
            <a:ln>
              <a:noFill/>
            </a:ln>
          </p:spPr>
        </p:sp>
        <p:sp>
          <p:nvSpPr>
            <p:cNvPr id="11" name="TextBox 11"/>
            <p:cNvSpPr txBox="1"/>
            <p:nvPr/>
          </p:nvSpPr>
          <p:spPr>
            <a:xfrm>
              <a:off x="1139190" y="2091690"/>
              <a:ext cx="2124980"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Empty dictionary</a:t>
              </a:r>
            </a:p>
          </p:txBody>
        </p:sp>
        <p:sp>
          <p:nvSpPr>
            <p:cNvPr id="12" name="Rectangle 12"/>
            <p:cNvSpPr/>
            <p:nvPr/>
          </p:nvSpPr>
          <p:spPr>
            <a:xfrm>
              <a:off x="800100" y="2628900"/>
              <a:ext cx="2724150" cy="1143000"/>
            </a:xfrm>
            <a:prstGeom prst="roundRect">
              <a:avLst>
                <a:gd name="adj" fmla="val 15000"/>
              </a:avLst>
            </a:prstGeom>
            <a:solidFill>
              <a:srgbClr val="111827"/>
            </a:solidFill>
            <a:ln>
              <a:noFill/>
            </a:ln>
          </p:spPr>
        </p:sp>
        <p:sp>
          <p:nvSpPr>
            <p:cNvPr id="13" name="TextBox 13"/>
            <p:cNvSpPr txBox="1"/>
            <p:nvPr/>
          </p:nvSpPr>
          <p:spPr>
            <a:xfrm>
              <a:off x="1010602" y="2837021"/>
              <a:ext cx="1043321" cy="289560"/>
            </a:xfrm>
            <a:prstGeom prst="rect">
              <a:avLst/>
            </a:prstGeom>
            <a:noFill/>
            <a:ln>
              <a:noFill/>
            </a:ln>
          </p:spPr>
          <p:txBody>
            <a:bodyPr wrap="none" lIns="0" tIns="0" rIns="0" bIns="0" anchor="t" anchorCtr="0">
              <a:spAutoFit/>
            </a:bodyPr>
            <a:lstStyle/>
            <a:p>
              <a:pPr algn="l"/>
              <a:r>
                <a:rPr lang="zh-CN" sz="1425" dirty="0">
                  <a:solidFill>
                    <a:srgbClr val="F9FAFB"/>
                  </a:solidFill>
                  <a:latin typeface="Consolas"/>
                  <a:ea typeface="Microsoft YaHei"/>
                  <a:cs typeface="Consolas"/>
                </a:rPr>
                <a:t>dict_1 = {}</a:t>
              </a:r>
            </a:p>
          </p:txBody>
        </p:sp>
        <p:sp>
          <p:nvSpPr>
            <p:cNvPr id="14" name="TextBox 14"/>
            <p:cNvSpPr txBox="1"/>
            <p:nvPr/>
          </p:nvSpPr>
          <p:spPr>
            <a:xfrm>
              <a:off x="1010602" y="3218021"/>
              <a:ext cx="1413867" cy="289560"/>
            </a:xfrm>
            <a:prstGeom prst="rect">
              <a:avLst/>
            </a:prstGeom>
            <a:noFill/>
            <a:ln>
              <a:noFill/>
            </a:ln>
          </p:spPr>
          <p:txBody>
            <a:bodyPr wrap="none" lIns="0" tIns="0" rIns="0" bIns="0" anchor="t" anchorCtr="0">
              <a:spAutoFit/>
            </a:bodyPr>
            <a:lstStyle/>
            <a:p>
              <a:pPr algn="l"/>
              <a:r>
                <a:rPr lang="zh-CN" sz="1425" dirty="0">
                  <a:solidFill>
                    <a:srgbClr val="F9FAFB"/>
                  </a:solidFill>
                  <a:latin typeface="Consolas"/>
                  <a:ea typeface="Microsoft YaHei"/>
                  <a:cs typeface="Consolas"/>
                </a:rPr>
                <a:t>dict_2 = dict()</a:t>
              </a:r>
            </a:p>
          </p:txBody>
        </p:sp>
        <p:sp>
          <p:nvSpPr>
            <p:cNvPr id="15" name="TextBox 15"/>
            <p:cNvSpPr txBox="1"/>
            <p:nvPr/>
          </p:nvSpPr>
          <p:spPr>
            <a:xfrm>
              <a:off x="783908" y="4091464"/>
              <a:ext cx="3704844"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Both create an empty object of type `dict`.</a:t>
              </a:r>
            </a:p>
          </p:txBody>
        </p:sp>
      </p:grpSp>
      <p:grpSp>
        <p:nvGrpSpPr>
          <p:cNvPr id="26" name="Group 26"/>
          <p:cNvGrpSpPr/>
          <p:nvPr/>
        </p:nvGrpSpPr>
        <p:grpSpPr>
          <a:xfrm>
            <a:off x="4381500" y="1809750"/>
            <a:ext cx="3838385" cy="3143250"/>
            <a:chOff x="4381500" y="1809750"/>
            <a:chExt cx="3838385" cy="3143250"/>
          </a:xfrm>
        </p:grpSpPr>
        <p:sp>
          <p:nvSpPr>
            <p:cNvPr id="17" name="Rectangle 17"/>
            <p:cNvSpPr/>
            <p:nvPr/>
          </p:nvSpPr>
          <p:spPr>
            <a:xfrm>
              <a:off x="4381500" y="1809750"/>
              <a:ext cx="3448050" cy="3143250"/>
            </a:xfrm>
            <a:prstGeom prst="roundRect">
              <a:avLst>
                <a:gd name="adj" fmla="val 7273"/>
              </a:avLst>
            </a:prstGeom>
            <a:solidFill>
              <a:srgbClr val="FFFFFF"/>
            </a:solidFill>
            <a:ln w="19050">
              <a:solidFill>
                <a:srgbClr val="CBD5E1"/>
              </a:solidFill>
            </a:ln>
          </p:spPr>
        </p:sp>
        <p:sp>
          <p:nvSpPr>
            <p:cNvPr id="18" name="Ellipse 18"/>
            <p:cNvSpPr/>
            <p:nvPr/>
          </p:nvSpPr>
          <p:spPr>
            <a:xfrm>
              <a:off x="4619625" y="2066925"/>
              <a:ext cx="285750" cy="285750"/>
            </a:xfrm>
            <a:prstGeom prst="ellipse">
              <a:avLst/>
            </a:prstGeom>
            <a:solidFill>
              <a:srgbClr val="16A34A"/>
            </a:solidFill>
            <a:ln>
              <a:noFill/>
            </a:ln>
          </p:spPr>
        </p:sp>
        <p:sp>
          <p:nvSpPr>
            <p:cNvPr id="19" name="TextBox 19"/>
            <p:cNvSpPr txBox="1"/>
            <p:nvPr/>
          </p:nvSpPr>
          <p:spPr>
            <a:xfrm>
              <a:off x="5006340" y="2091690"/>
              <a:ext cx="2213191"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Literal with pairs</a:t>
              </a:r>
            </a:p>
          </p:txBody>
        </p:sp>
        <p:sp>
          <p:nvSpPr>
            <p:cNvPr id="20" name="Rectangle 20"/>
            <p:cNvSpPr/>
            <p:nvPr/>
          </p:nvSpPr>
          <p:spPr>
            <a:xfrm>
              <a:off x="4667250" y="2628900"/>
              <a:ext cx="2724150" cy="1143000"/>
            </a:xfrm>
            <a:prstGeom prst="roundRect">
              <a:avLst>
                <a:gd name="adj" fmla="val 15000"/>
              </a:avLst>
            </a:prstGeom>
            <a:solidFill>
              <a:srgbClr val="111827"/>
            </a:solidFill>
            <a:ln>
              <a:noFill/>
            </a:ln>
          </p:spPr>
        </p:sp>
        <p:sp>
          <p:nvSpPr>
            <p:cNvPr id="21" name="TextBox 21"/>
            <p:cNvSpPr txBox="1"/>
            <p:nvPr/>
          </p:nvSpPr>
          <p:spPr>
            <a:xfrm>
              <a:off x="4879658" y="2834164"/>
              <a:ext cx="729472"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menu = {</a:t>
              </a:r>
            </a:p>
          </p:txBody>
        </p:sp>
        <p:sp>
          <p:nvSpPr>
            <p:cNvPr id="22" name="TextBox 22"/>
            <p:cNvSpPr txBox="1"/>
            <p:nvPr/>
          </p:nvSpPr>
          <p:spPr>
            <a:xfrm>
              <a:off x="5108258" y="3138964"/>
              <a:ext cx="976003"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"pizza": 2,</a:t>
              </a:r>
            </a:p>
          </p:txBody>
        </p:sp>
        <p:sp>
          <p:nvSpPr>
            <p:cNvPr id="23" name="TextBox 23"/>
            <p:cNvSpPr txBox="1"/>
            <p:nvPr/>
          </p:nvSpPr>
          <p:spPr>
            <a:xfrm>
              <a:off x="5108258" y="3443764"/>
              <a:ext cx="924997"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"pasta": 3</a:t>
              </a:r>
            </a:p>
          </p:txBody>
        </p:sp>
        <p:sp>
          <p:nvSpPr>
            <p:cNvPr id="24" name="TextBox 24"/>
            <p:cNvSpPr txBox="1"/>
            <p:nvPr/>
          </p:nvSpPr>
          <p:spPr>
            <a:xfrm>
              <a:off x="4879658" y="3748564"/>
              <a:ext cx="125897"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a:t>
              </a:r>
            </a:p>
          </p:txBody>
        </p:sp>
        <p:sp>
          <p:nvSpPr>
            <p:cNvPr id="25" name="TextBox 25"/>
            <p:cNvSpPr txBox="1"/>
            <p:nvPr/>
          </p:nvSpPr>
          <p:spPr>
            <a:xfrm>
              <a:off x="4651058" y="4091464"/>
              <a:ext cx="3568827"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A colon separates each key from its value.</a:t>
              </a:r>
            </a:p>
          </p:txBody>
        </p:sp>
      </p:grpSp>
      <p:grpSp>
        <p:nvGrpSpPr>
          <p:cNvPr id="35" name="Group 35"/>
          <p:cNvGrpSpPr/>
          <p:nvPr/>
        </p:nvGrpSpPr>
        <p:grpSpPr>
          <a:xfrm>
            <a:off x="8248650" y="1809750"/>
            <a:ext cx="4688491" cy="3143250"/>
            <a:chOff x="8248650" y="1809750"/>
            <a:chExt cx="4688491" cy="3143250"/>
          </a:xfrm>
        </p:grpSpPr>
        <p:sp>
          <p:nvSpPr>
            <p:cNvPr id="27" name="Rectangle 27"/>
            <p:cNvSpPr/>
            <p:nvPr/>
          </p:nvSpPr>
          <p:spPr>
            <a:xfrm>
              <a:off x="8248650" y="1809750"/>
              <a:ext cx="3448050" cy="3143250"/>
            </a:xfrm>
            <a:prstGeom prst="roundRect">
              <a:avLst>
                <a:gd name="adj" fmla="val 7273"/>
              </a:avLst>
            </a:prstGeom>
            <a:solidFill>
              <a:srgbClr val="FFFFFF"/>
            </a:solidFill>
            <a:ln w="19050">
              <a:solidFill>
                <a:srgbClr val="CBD5E1"/>
              </a:solidFill>
            </a:ln>
          </p:spPr>
        </p:sp>
        <p:sp>
          <p:nvSpPr>
            <p:cNvPr id="28" name="Ellipse 28"/>
            <p:cNvSpPr/>
            <p:nvPr/>
          </p:nvSpPr>
          <p:spPr>
            <a:xfrm>
              <a:off x="8486775" y="2066925"/>
              <a:ext cx="285750" cy="285750"/>
            </a:xfrm>
            <a:prstGeom prst="ellipse">
              <a:avLst/>
            </a:prstGeom>
            <a:solidFill>
              <a:srgbClr val="F97316"/>
            </a:solidFill>
            <a:ln>
              <a:noFill/>
            </a:ln>
          </p:spPr>
        </p:sp>
        <p:sp>
          <p:nvSpPr>
            <p:cNvPr id="29" name="TextBox 29"/>
            <p:cNvSpPr txBox="1"/>
            <p:nvPr/>
          </p:nvSpPr>
          <p:spPr>
            <a:xfrm>
              <a:off x="8873490" y="2091690"/>
              <a:ext cx="2351808"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Build with `dict()`</a:t>
              </a:r>
            </a:p>
          </p:txBody>
        </p:sp>
        <p:sp>
          <p:nvSpPr>
            <p:cNvPr id="30" name="Rectangle 30"/>
            <p:cNvSpPr/>
            <p:nvPr/>
          </p:nvSpPr>
          <p:spPr>
            <a:xfrm>
              <a:off x="8534400" y="2628900"/>
              <a:ext cx="2724150" cy="1333500"/>
            </a:xfrm>
            <a:prstGeom prst="roundRect">
              <a:avLst>
                <a:gd name="adj" fmla="val 12857"/>
              </a:avLst>
            </a:prstGeom>
            <a:solidFill>
              <a:srgbClr val="111827"/>
            </a:solidFill>
            <a:ln>
              <a:noFill/>
            </a:ln>
          </p:spPr>
        </p:sp>
        <p:sp>
          <p:nvSpPr>
            <p:cNvPr id="31" name="TextBox 31"/>
            <p:cNvSpPr txBox="1"/>
            <p:nvPr/>
          </p:nvSpPr>
          <p:spPr>
            <a:xfrm>
              <a:off x="8747760" y="2842260"/>
              <a:ext cx="1766697"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pairs = [("apple", 2),</a:t>
              </a:r>
            </a:p>
          </p:txBody>
        </p:sp>
        <p:sp>
          <p:nvSpPr>
            <p:cNvPr id="32" name="TextBox 32"/>
            <p:cNvSpPr txBox="1"/>
            <p:nvPr/>
          </p:nvSpPr>
          <p:spPr>
            <a:xfrm>
              <a:off x="9509760" y="3108960"/>
              <a:ext cx="1222629"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("banana", 3)]</a:t>
              </a:r>
            </a:p>
          </p:txBody>
        </p:sp>
        <p:sp>
          <p:nvSpPr>
            <p:cNvPr id="33" name="TextBox 33"/>
            <p:cNvSpPr txBox="1"/>
            <p:nvPr/>
          </p:nvSpPr>
          <p:spPr>
            <a:xfrm>
              <a:off x="8747760" y="3470910"/>
              <a:ext cx="1630680"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counts = dict(pairs)</a:t>
              </a:r>
            </a:p>
          </p:txBody>
        </p:sp>
        <p:sp>
          <p:nvSpPr>
            <p:cNvPr id="34" name="TextBox 34"/>
            <p:cNvSpPr txBox="1"/>
            <p:nvPr/>
          </p:nvSpPr>
          <p:spPr>
            <a:xfrm>
              <a:off x="8518208" y="4205764"/>
              <a:ext cx="4418933"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Also works with keyword arguments or another dict.</a:t>
              </a:r>
            </a:p>
          </p:txBody>
        </p:sp>
      </p:grpSp>
      <p:grpSp>
        <p:nvGrpSpPr>
          <p:cNvPr id="39" name="Group 39"/>
          <p:cNvGrpSpPr/>
          <p:nvPr/>
        </p:nvGrpSpPr>
        <p:grpSpPr>
          <a:xfrm>
            <a:off x="514350" y="5353050"/>
            <a:ext cx="11182350" cy="647700"/>
            <a:chOff x="514350" y="5353050"/>
            <a:chExt cx="11182350" cy="647700"/>
          </a:xfrm>
        </p:grpSpPr>
        <p:sp>
          <p:nvSpPr>
            <p:cNvPr id="36" name="Rectangle 36"/>
            <p:cNvSpPr/>
            <p:nvPr/>
          </p:nvSpPr>
          <p:spPr>
            <a:xfrm>
              <a:off x="514350" y="5353050"/>
              <a:ext cx="11182350" cy="647700"/>
            </a:xfrm>
            <a:prstGeom prst="roundRect">
              <a:avLst>
                <a:gd name="adj" fmla="val 29412"/>
              </a:avLst>
            </a:prstGeom>
            <a:solidFill>
              <a:srgbClr val="E2E8F0"/>
            </a:solidFill>
            <a:ln w="19050">
              <a:solidFill>
                <a:srgbClr val="CBD5E1"/>
              </a:solidFill>
            </a:ln>
          </p:spPr>
        </p:sp>
        <p:sp>
          <p:nvSpPr>
            <p:cNvPr id="37" name="TextBox 37"/>
            <p:cNvSpPr txBox="1"/>
            <p:nvPr/>
          </p:nvSpPr>
          <p:spPr>
            <a:xfrm>
              <a:off x="821055" y="5607368"/>
              <a:ext cx="1130627"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Checkpoint:</a:t>
              </a:r>
            </a:p>
          </p:txBody>
        </p:sp>
        <p:sp>
          <p:nvSpPr>
            <p:cNvPr id="38" name="TextBox 38"/>
            <p:cNvSpPr txBox="1"/>
            <p:nvPr/>
          </p:nvSpPr>
          <p:spPr>
            <a:xfrm>
              <a:off x="1868805" y="5607368"/>
              <a:ext cx="7316200"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Which expression creates `{"one": 1}`? A. ("one": 1) B. ("one", 1) C. {"one": 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400"/>
                                        <p:tgtEl>
                                          <p:spTgt spid="2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slide(fromBottom)">
                                      <p:cBhvr>
                                        <p:cTn id="19" dur="400"/>
                                        <p:tgtEl>
                                          <p:spTgt spid="35"/>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image">
                                      <p:cBhvr>
                                        <p:cTn id="23"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6" grpId="0"/>
      <p:bldP spid="35" grpId="0"/>
      <p:bldP spid="3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144010"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LOOK UP VALUES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04 / 12</a:t>
              </a:r>
            </a:p>
          </p:txBody>
        </p:sp>
      </p:grpSp>
      <p:grpSp>
        <p:nvGrpSpPr>
          <p:cNvPr id="8" name="Group 8"/>
          <p:cNvGrpSpPr/>
          <p:nvPr/>
        </p:nvGrpSpPr>
        <p:grpSpPr>
          <a:xfrm>
            <a:off x="478155" y="759142"/>
            <a:ext cx="7191232" cy="760096"/>
            <a:chOff x="478155" y="759142"/>
            <a:chExt cx="7191232" cy="760096"/>
          </a:xfrm>
        </p:grpSpPr>
        <p:sp>
          <p:nvSpPr>
            <p:cNvPr id="6" name="TextBox 6"/>
            <p:cNvSpPr txBox="1"/>
            <p:nvPr/>
          </p:nvSpPr>
          <p:spPr>
            <a:xfrm>
              <a:off x="478155" y="759142"/>
              <a:ext cx="6397331"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Use the key to access the value.</a:t>
              </a:r>
            </a:p>
          </p:txBody>
        </p:sp>
        <p:sp>
          <p:nvSpPr>
            <p:cNvPr id="7" name="TextBox 7"/>
            <p:cNvSpPr txBox="1"/>
            <p:nvPr/>
          </p:nvSpPr>
          <p:spPr>
            <a:xfrm>
              <a:off x="497205" y="1244918"/>
              <a:ext cx="7172182"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Square brackets are direct; `get()` gives a safer default when a key is missing.</a:t>
              </a:r>
            </a:p>
          </p:txBody>
        </p:sp>
      </p:grpSp>
      <p:grpSp>
        <p:nvGrpSpPr>
          <p:cNvPr id="20" name="Group 20"/>
          <p:cNvGrpSpPr/>
          <p:nvPr/>
        </p:nvGrpSpPr>
        <p:grpSpPr>
          <a:xfrm>
            <a:off x="514350" y="1809750"/>
            <a:ext cx="5467350" cy="3943350"/>
            <a:chOff x="514350" y="1809750"/>
            <a:chExt cx="5467350" cy="3943350"/>
          </a:xfrm>
        </p:grpSpPr>
        <p:sp>
          <p:nvSpPr>
            <p:cNvPr id="9" name="Rectangle 9"/>
            <p:cNvSpPr/>
            <p:nvPr/>
          </p:nvSpPr>
          <p:spPr>
            <a:xfrm>
              <a:off x="514350" y="1809750"/>
              <a:ext cx="5467350" cy="3943350"/>
            </a:xfrm>
            <a:prstGeom prst="roundRect">
              <a:avLst>
                <a:gd name="adj" fmla="val 6280"/>
              </a:avLst>
            </a:prstGeom>
            <a:solidFill>
              <a:srgbClr val="111827"/>
            </a:solidFill>
            <a:ln>
              <a:noFill/>
            </a:ln>
          </p:spPr>
        </p:sp>
        <p:sp>
          <p:nvSpPr>
            <p:cNvPr id="10" name="TextBox 10"/>
            <p:cNvSpPr txBox="1"/>
            <p:nvPr/>
          </p:nvSpPr>
          <p:spPr>
            <a:xfrm>
              <a:off x="805815" y="2134552"/>
              <a:ext cx="1313081" cy="213360"/>
            </a:xfrm>
            <a:prstGeom prst="rect">
              <a:avLst/>
            </a:prstGeom>
            <a:noFill/>
            <a:ln>
              <a:noFill/>
            </a:ln>
          </p:spPr>
          <p:txBody>
            <a:bodyPr wrap="none" lIns="0" tIns="0" rIns="0" bIns="0" anchor="t" anchorCtr="0">
              <a:spAutoFit/>
            </a:bodyPr>
            <a:lstStyle/>
            <a:p>
              <a:pPr algn="l"/>
              <a:r>
                <a:rPr lang="zh-CN" sz="1050" b="1" dirty="0">
                  <a:solidFill>
                    <a:srgbClr val="CBD5E1"/>
                  </a:solidFill>
                  <a:latin typeface="Arial"/>
                  <a:ea typeface="Microsoft YaHei"/>
                  <a:cs typeface="Arial"/>
                </a:rPr>
                <a:t>RUNNABLE EXAMPLE</a:t>
              </a:r>
            </a:p>
          </p:txBody>
        </p:sp>
        <p:sp>
          <p:nvSpPr>
            <p:cNvPr id="11" name="TextBox 11"/>
            <p:cNvSpPr txBox="1"/>
            <p:nvPr/>
          </p:nvSpPr>
          <p:spPr>
            <a:xfrm>
              <a:off x="802005" y="2540318"/>
              <a:ext cx="4417838"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my_dict = {"apple": 2, "banana": 3, "orange": 4}</a:t>
              </a:r>
            </a:p>
          </p:txBody>
        </p:sp>
        <p:sp>
          <p:nvSpPr>
            <p:cNvPr id="12" name="TextBox 12"/>
            <p:cNvSpPr txBox="1"/>
            <p:nvPr/>
          </p:nvSpPr>
          <p:spPr>
            <a:xfrm>
              <a:off x="802005" y="2959418"/>
              <a:ext cx="2356580"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print(my_dict["banana"])</a:t>
              </a:r>
            </a:p>
          </p:txBody>
        </p:sp>
        <p:sp>
          <p:nvSpPr>
            <p:cNvPr id="13" name="TextBox 13"/>
            <p:cNvSpPr txBox="1"/>
            <p:nvPr/>
          </p:nvSpPr>
          <p:spPr>
            <a:xfrm>
              <a:off x="802005" y="3378518"/>
              <a:ext cx="2608612"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print(my_dict.get("apple"))</a:t>
              </a:r>
            </a:p>
          </p:txBody>
        </p:sp>
        <p:sp>
          <p:nvSpPr>
            <p:cNvPr id="14" name="TextBox 14"/>
            <p:cNvSpPr txBox="1"/>
            <p:nvPr/>
          </p:nvSpPr>
          <p:spPr>
            <a:xfrm>
              <a:off x="802005" y="3797618"/>
              <a:ext cx="3310700"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print(my_dict.get("pineapple", -1))</a:t>
              </a:r>
            </a:p>
          </p:txBody>
        </p:sp>
        <p:sp>
          <p:nvSpPr>
            <p:cNvPr id="15" name="Rectangle 15"/>
            <p:cNvSpPr/>
            <p:nvPr/>
          </p:nvSpPr>
          <p:spPr>
            <a:xfrm>
              <a:off x="819150" y="4457700"/>
              <a:ext cx="4762500" cy="914400"/>
            </a:xfrm>
            <a:prstGeom prst="roundRect">
              <a:avLst>
                <a:gd name="adj" fmla="val 18750"/>
              </a:avLst>
            </a:prstGeom>
            <a:solidFill>
              <a:srgbClr val="FFFFFF"/>
            </a:solidFill>
            <a:ln>
              <a:noFill/>
            </a:ln>
          </p:spPr>
        </p:sp>
        <p:sp>
          <p:nvSpPr>
            <p:cNvPr id="16" name="TextBox 16"/>
            <p:cNvSpPr txBox="1"/>
            <p:nvPr/>
          </p:nvSpPr>
          <p:spPr>
            <a:xfrm>
              <a:off x="1053465" y="4649152"/>
              <a:ext cx="54123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OUTPUT</a:t>
              </a:r>
            </a:p>
          </p:txBody>
        </p:sp>
        <p:sp>
          <p:nvSpPr>
            <p:cNvPr id="17" name="TextBox 17"/>
            <p:cNvSpPr txBox="1"/>
            <p:nvPr/>
          </p:nvSpPr>
          <p:spPr>
            <a:xfrm>
              <a:off x="1049655" y="4921568"/>
              <a:ext cx="133302"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Consolas"/>
                  <a:ea typeface="Microsoft YaHei"/>
                  <a:cs typeface="Consolas"/>
                </a:rPr>
                <a:t>3</a:t>
              </a:r>
            </a:p>
          </p:txBody>
        </p:sp>
        <p:sp>
          <p:nvSpPr>
            <p:cNvPr id="18" name="TextBox 18"/>
            <p:cNvSpPr txBox="1"/>
            <p:nvPr/>
          </p:nvSpPr>
          <p:spPr>
            <a:xfrm>
              <a:off x="1602105" y="4921568"/>
              <a:ext cx="133302"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Consolas"/>
                  <a:ea typeface="Microsoft YaHei"/>
                  <a:cs typeface="Consolas"/>
                </a:rPr>
                <a:t>2</a:t>
              </a:r>
            </a:p>
          </p:txBody>
        </p:sp>
        <p:sp>
          <p:nvSpPr>
            <p:cNvPr id="19" name="TextBox 19"/>
            <p:cNvSpPr txBox="1"/>
            <p:nvPr/>
          </p:nvSpPr>
          <p:spPr>
            <a:xfrm>
              <a:off x="2154555" y="4921568"/>
              <a:ext cx="232315"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Consolas"/>
                  <a:ea typeface="Microsoft YaHei"/>
                  <a:cs typeface="Consolas"/>
                </a:rPr>
                <a:t>-1</a:t>
              </a:r>
            </a:p>
          </p:txBody>
        </p:sp>
      </p:grpSp>
      <p:grpSp>
        <p:nvGrpSpPr>
          <p:cNvPr id="29" name="Group 29"/>
          <p:cNvGrpSpPr/>
          <p:nvPr/>
        </p:nvGrpSpPr>
        <p:grpSpPr>
          <a:xfrm>
            <a:off x="6457950" y="1943100"/>
            <a:ext cx="5249993" cy="1600200"/>
            <a:chOff x="6457950" y="1943100"/>
            <a:chExt cx="5249993" cy="1600200"/>
          </a:xfrm>
        </p:grpSpPr>
        <p:sp>
          <p:nvSpPr>
            <p:cNvPr id="21" name="Rectangle 21"/>
            <p:cNvSpPr/>
            <p:nvPr/>
          </p:nvSpPr>
          <p:spPr>
            <a:xfrm>
              <a:off x="6457950" y="1943100"/>
              <a:ext cx="2266950" cy="1600200"/>
            </a:xfrm>
            <a:prstGeom prst="roundRect">
              <a:avLst>
                <a:gd name="adj" fmla="val 14286"/>
              </a:avLst>
            </a:prstGeom>
            <a:solidFill>
              <a:srgbClr val="FFFFFF"/>
            </a:solidFill>
            <a:ln w="28575">
              <a:solidFill>
                <a:srgbClr val="2563EB"/>
              </a:solidFill>
            </a:ln>
          </p:spPr>
        </p:sp>
        <p:sp>
          <p:nvSpPr>
            <p:cNvPr id="22" name="TextBox 22"/>
            <p:cNvSpPr txBox="1"/>
            <p:nvPr/>
          </p:nvSpPr>
          <p:spPr>
            <a:xfrm>
              <a:off x="6720840" y="2186940"/>
              <a:ext cx="1230268" cy="365760"/>
            </a:xfrm>
            <a:prstGeom prst="rect">
              <a:avLst/>
            </a:prstGeom>
            <a:noFill/>
            <a:ln>
              <a:noFill/>
            </a:ln>
          </p:spPr>
          <p:txBody>
            <a:bodyPr wrap="none" lIns="0" tIns="0" rIns="0" bIns="0" anchor="t" anchorCtr="0">
              <a:spAutoFit/>
            </a:bodyPr>
            <a:lstStyle/>
            <a:p>
              <a:pPr algn="l"/>
              <a:r>
                <a:rPr lang="zh-CN" sz="1800" b="1" dirty="0">
                  <a:solidFill>
                    <a:srgbClr val="2563EB"/>
                  </a:solidFill>
                  <a:latin typeface="Consolas"/>
                  <a:ea typeface="Microsoft YaHei"/>
                  <a:cs typeface="Consolas"/>
                </a:rPr>
                <a:t>dict[key]</a:t>
              </a:r>
            </a:p>
          </p:txBody>
        </p:sp>
        <p:sp>
          <p:nvSpPr>
            <p:cNvPr id="23" name="TextBox 23"/>
            <p:cNvSpPr txBox="1"/>
            <p:nvPr/>
          </p:nvSpPr>
          <p:spPr>
            <a:xfrm>
              <a:off x="6725602" y="2627471"/>
              <a:ext cx="2460423"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Best when the key exists</a:t>
              </a:r>
            </a:p>
          </p:txBody>
        </p:sp>
        <p:sp>
          <p:nvSpPr>
            <p:cNvPr id="24" name="TextBox 24"/>
            <p:cNvSpPr txBox="1"/>
            <p:nvPr/>
          </p:nvSpPr>
          <p:spPr>
            <a:xfrm>
              <a:off x="6728460" y="2975610"/>
              <a:ext cx="2558796"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Missing key raises an exception.</a:t>
              </a:r>
            </a:p>
          </p:txBody>
        </p:sp>
        <p:sp>
          <p:nvSpPr>
            <p:cNvPr id="25" name="Rectangle 25"/>
            <p:cNvSpPr/>
            <p:nvPr/>
          </p:nvSpPr>
          <p:spPr>
            <a:xfrm>
              <a:off x="9239250" y="1943100"/>
              <a:ext cx="2266950" cy="1600200"/>
            </a:xfrm>
            <a:prstGeom prst="roundRect">
              <a:avLst>
                <a:gd name="adj" fmla="val 14286"/>
              </a:avLst>
            </a:prstGeom>
            <a:solidFill>
              <a:srgbClr val="FFFFFF"/>
            </a:solidFill>
            <a:ln w="28575">
              <a:solidFill>
                <a:srgbClr val="16A34A"/>
              </a:solidFill>
            </a:ln>
          </p:spPr>
        </p:sp>
        <p:sp>
          <p:nvSpPr>
            <p:cNvPr id="26" name="TextBox 26"/>
            <p:cNvSpPr txBox="1"/>
            <p:nvPr/>
          </p:nvSpPr>
          <p:spPr>
            <a:xfrm>
              <a:off x="9502140" y="2186940"/>
              <a:ext cx="1368885" cy="365760"/>
            </a:xfrm>
            <a:prstGeom prst="rect">
              <a:avLst/>
            </a:prstGeom>
            <a:noFill/>
            <a:ln>
              <a:noFill/>
            </a:ln>
          </p:spPr>
          <p:txBody>
            <a:bodyPr wrap="none" lIns="0" tIns="0" rIns="0" bIns="0" anchor="t" anchorCtr="0">
              <a:spAutoFit/>
            </a:bodyPr>
            <a:lstStyle/>
            <a:p>
              <a:pPr algn="l"/>
              <a:r>
                <a:rPr lang="zh-CN" sz="1800" b="1" dirty="0">
                  <a:solidFill>
                    <a:srgbClr val="16A34A"/>
                  </a:solidFill>
                  <a:latin typeface="Consolas"/>
                  <a:ea typeface="Microsoft YaHei"/>
                  <a:cs typeface="Consolas"/>
                </a:rPr>
                <a:t>dict.get()</a:t>
              </a:r>
            </a:p>
          </p:txBody>
        </p:sp>
        <p:sp>
          <p:nvSpPr>
            <p:cNvPr id="27" name="TextBox 27"/>
            <p:cNvSpPr txBox="1"/>
            <p:nvPr/>
          </p:nvSpPr>
          <p:spPr>
            <a:xfrm>
              <a:off x="9506902" y="2627471"/>
              <a:ext cx="2201041"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Best for optional keys</a:t>
              </a:r>
            </a:p>
          </p:txBody>
        </p:sp>
        <p:sp>
          <p:nvSpPr>
            <p:cNvPr id="28" name="TextBox 28"/>
            <p:cNvSpPr txBox="1"/>
            <p:nvPr/>
          </p:nvSpPr>
          <p:spPr>
            <a:xfrm>
              <a:off x="9509760" y="2975610"/>
              <a:ext cx="2166747"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Can return a default value.</a:t>
              </a:r>
            </a:p>
          </p:txBody>
        </p:sp>
      </p:grpSp>
      <p:grpSp>
        <p:nvGrpSpPr>
          <p:cNvPr id="36" name="Group 36"/>
          <p:cNvGrpSpPr/>
          <p:nvPr/>
        </p:nvGrpSpPr>
        <p:grpSpPr>
          <a:xfrm>
            <a:off x="6880860" y="4171950"/>
            <a:ext cx="4343019" cy="1219200"/>
            <a:chOff x="6880860" y="4171950"/>
            <a:chExt cx="4343019" cy="1219200"/>
          </a:xfrm>
        </p:grpSpPr>
        <p:sp>
          <p:nvSpPr>
            <p:cNvPr id="30" name="Rectangle 30"/>
            <p:cNvSpPr/>
            <p:nvPr/>
          </p:nvSpPr>
          <p:spPr>
            <a:xfrm>
              <a:off x="6896100" y="4171950"/>
              <a:ext cx="3771900" cy="704850"/>
            </a:xfrm>
            <a:prstGeom prst="roundRect">
              <a:avLst>
                <a:gd name="adj" fmla="val 27027"/>
              </a:avLst>
            </a:prstGeom>
            <a:solidFill>
              <a:srgbClr val="FFFFFF"/>
            </a:solidFill>
            <a:ln w="19050">
              <a:solidFill>
                <a:srgbClr val="CBD5E1"/>
              </a:solidFill>
            </a:ln>
          </p:spPr>
        </p:sp>
        <p:sp>
          <p:nvSpPr>
            <p:cNvPr id="31" name="TextBox 31"/>
            <p:cNvSpPr txBox="1"/>
            <p:nvPr/>
          </p:nvSpPr>
          <p:spPr>
            <a:xfrm>
              <a:off x="7162800" y="4448175"/>
              <a:ext cx="91821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Consolas"/>
                  <a:ea typeface="Microsoft YaHei"/>
                  <a:cs typeface="Consolas"/>
                </a:rPr>
                <a:t>"banana"</a:t>
              </a:r>
            </a:p>
          </p:txBody>
        </p:sp>
        <p:sp>
          <p:nvSpPr>
            <p:cNvPr id="32" name="Line 32"/>
            <p:cNvSpPr/>
            <p:nvPr/>
          </p:nvSpPr>
          <p:spPr>
            <a:xfrm>
              <a:off x="8286750" y="4514850"/>
              <a:ext cx="1047750" cy="9525"/>
            </a:xfrm>
            <a:custGeom>
              <a:avLst/>
              <a:gdLst/>
              <a:ahLst/>
              <a:cxnLst/>
              <a:rect l="l" t="t" r="r" b="b"/>
              <a:pathLst>
                <a:path w="1047750" h="9525">
                  <a:moveTo>
                    <a:pt x="0" y="0"/>
                  </a:moveTo>
                  <a:lnTo>
                    <a:pt x="1047750" y="0"/>
                  </a:lnTo>
                </a:path>
              </a:pathLst>
            </a:custGeom>
            <a:noFill/>
            <a:ln w="38100">
              <a:solidFill>
                <a:srgbClr val="2563EB"/>
              </a:solidFill>
            </a:ln>
          </p:spPr>
        </p:sp>
        <p:sp>
          <p:nvSpPr>
            <p:cNvPr id="33" name="Polygon 33"/>
            <p:cNvSpPr/>
            <p:nvPr/>
          </p:nvSpPr>
          <p:spPr>
            <a:xfrm>
              <a:off x="9163050" y="4419600"/>
              <a:ext cx="171450" cy="190500"/>
            </a:xfrm>
            <a:custGeom>
              <a:avLst/>
              <a:gdLst/>
              <a:ahLst/>
              <a:cxnLst/>
              <a:rect l="l" t="t" r="r" b="b"/>
              <a:pathLst>
                <a:path w="171450" h="190500">
                  <a:moveTo>
                    <a:pt x="171450" y="95250"/>
                  </a:moveTo>
                  <a:lnTo>
                    <a:pt x="0" y="0"/>
                  </a:lnTo>
                  <a:lnTo>
                    <a:pt x="0" y="190500"/>
                  </a:lnTo>
                  <a:close/>
                </a:path>
              </a:pathLst>
            </a:custGeom>
            <a:solidFill>
              <a:srgbClr val="2563EB"/>
            </a:solidFill>
            <a:ln>
              <a:noFill/>
            </a:ln>
          </p:spPr>
        </p:sp>
        <p:sp>
          <p:nvSpPr>
            <p:cNvPr id="34" name="TextBox 34"/>
            <p:cNvSpPr txBox="1"/>
            <p:nvPr/>
          </p:nvSpPr>
          <p:spPr>
            <a:xfrm>
              <a:off x="9677400" y="4448175"/>
              <a:ext cx="148114"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Consolas"/>
                  <a:ea typeface="Microsoft YaHei"/>
                  <a:cs typeface="Consolas"/>
                </a:rPr>
                <a:t>3</a:t>
              </a:r>
            </a:p>
          </p:txBody>
        </p:sp>
        <p:sp>
          <p:nvSpPr>
            <p:cNvPr id="35" name="TextBox 35"/>
            <p:cNvSpPr txBox="1"/>
            <p:nvPr/>
          </p:nvSpPr>
          <p:spPr>
            <a:xfrm>
              <a:off x="6880860" y="5147310"/>
              <a:ext cx="434301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The key is the address. The value is what you retrieve.</a:t>
              </a:r>
            </a:p>
          </p:txBody>
        </p:sp>
      </p:grpSp>
      <p:sp>
        <p:nvSpPr>
          <p:cNvPr id="37" name="TextBox 37"/>
          <p:cNvSpPr txBox="1"/>
          <p:nvPr/>
        </p:nvSpPr>
        <p:spPr>
          <a:xfrm>
            <a:off x="501968" y="6181249"/>
            <a:ext cx="3190661"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Source: Chapter 10.3, Accessing dictionary items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400"/>
                                        <p:tgtEl>
                                          <p:spTgt spid="2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slide(fromBottom)">
                                      <p:cBhvr>
                                        <p:cTn id="15" dur="400"/>
                                        <p:tgtEl>
                                          <p:spTgt spid="29"/>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image">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P spid="29"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555661"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MUTABLE DICTIONARIES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05 / 12</a:t>
              </a:r>
            </a:p>
          </p:txBody>
        </p:sp>
      </p:grpSp>
      <p:grpSp>
        <p:nvGrpSpPr>
          <p:cNvPr id="8" name="Group 8"/>
          <p:cNvGrpSpPr/>
          <p:nvPr/>
        </p:nvGrpSpPr>
        <p:grpSpPr>
          <a:xfrm>
            <a:off x="478155" y="759142"/>
            <a:ext cx="7833910" cy="760096"/>
            <a:chOff x="478155" y="759142"/>
            <a:chExt cx="7833910" cy="760096"/>
          </a:xfrm>
        </p:grpSpPr>
        <p:sp>
          <p:nvSpPr>
            <p:cNvPr id="6" name="TextBox 6"/>
            <p:cNvSpPr txBox="1"/>
            <p:nvPr/>
          </p:nvSpPr>
          <p:spPr>
            <a:xfrm>
              <a:off x="478155" y="759142"/>
              <a:ext cx="7833910"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Dictionaries can change after creation.</a:t>
              </a:r>
            </a:p>
          </p:txBody>
        </p:sp>
        <p:sp>
          <p:nvSpPr>
            <p:cNvPr id="7" name="TextBox 7"/>
            <p:cNvSpPr txBox="1"/>
            <p:nvPr/>
          </p:nvSpPr>
          <p:spPr>
            <a:xfrm>
              <a:off x="497205" y="1244918"/>
              <a:ext cx="7397210"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Use square brackets or `update()` to add/modify; use `del` or `pop()` to remove.</a:t>
              </a:r>
            </a:p>
          </p:txBody>
        </p:sp>
      </p:grpSp>
      <p:grpSp>
        <p:nvGrpSpPr>
          <p:cNvPr id="18" name="Group 18"/>
          <p:cNvGrpSpPr/>
          <p:nvPr/>
        </p:nvGrpSpPr>
        <p:grpSpPr>
          <a:xfrm>
            <a:off x="952500" y="2152650"/>
            <a:ext cx="10001250" cy="457200"/>
            <a:chOff x="952500" y="2152650"/>
            <a:chExt cx="10001250" cy="457200"/>
          </a:xfrm>
        </p:grpSpPr>
        <p:sp>
          <p:nvSpPr>
            <p:cNvPr id="9" name="Line 9"/>
            <p:cNvSpPr/>
            <p:nvPr/>
          </p:nvSpPr>
          <p:spPr>
            <a:xfrm>
              <a:off x="952500" y="2381250"/>
              <a:ext cx="9772650" cy="9525"/>
            </a:xfrm>
            <a:custGeom>
              <a:avLst/>
              <a:gdLst/>
              <a:ahLst/>
              <a:cxnLst/>
              <a:rect l="l" t="t" r="r" b="b"/>
              <a:pathLst>
                <a:path w="9772650" h="9525">
                  <a:moveTo>
                    <a:pt x="0" y="0"/>
                  </a:moveTo>
                  <a:lnTo>
                    <a:pt x="9772650" y="0"/>
                  </a:lnTo>
                </a:path>
              </a:pathLst>
            </a:custGeom>
            <a:noFill/>
            <a:ln w="38100">
              <a:solidFill>
                <a:srgbClr val="CBD5E1"/>
              </a:solidFill>
            </a:ln>
          </p:spPr>
        </p:sp>
        <p:sp>
          <p:nvSpPr>
            <p:cNvPr id="10" name="Ellipse 10"/>
            <p:cNvSpPr/>
            <p:nvPr/>
          </p:nvSpPr>
          <p:spPr>
            <a:xfrm>
              <a:off x="1295400" y="2152650"/>
              <a:ext cx="457200" cy="457200"/>
            </a:xfrm>
            <a:prstGeom prst="ellipse">
              <a:avLst/>
            </a:prstGeom>
            <a:solidFill>
              <a:srgbClr val="2563EB"/>
            </a:solidFill>
            <a:ln>
              <a:noFill/>
            </a:ln>
          </p:spPr>
        </p:sp>
        <p:sp>
          <p:nvSpPr>
            <p:cNvPr id="11" name="TextBox 11"/>
            <p:cNvSpPr txBox="1"/>
            <p:nvPr/>
          </p:nvSpPr>
          <p:spPr>
            <a:xfrm>
              <a:off x="1454874" y="23117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2" name="Ellipse 12"/>
            <p:cNvSpPr/>
            <p:nvPr/>
          </p:nvSpPr>
          <p:spPr>
            <a:xfrm>
              <a:off x="4381500" y="2152650"/>
              <a:ext cx="457200" cy="457200"/>
            </a:xfrm>
            <a:prstGeom prst="ellipse">
              <a:avLst/>
            </a:prstGeom>
            <a:solidFill>
              <a:srgbClr val="16A34A"/>
            </a:solidFill>
            <a:ln>
              <a:noFill/>
            </a:ln>
          </p:spPr>
        </p:sp>
        <p:sp>
          <p:nvSpPr>
            <p:cNvPr id="13" name="TextBox 13"/>
            <p:cNvSpPr txBox="1"/>
            <p:nvPr/>
          </p:nvSpPr>
          <p:spPr>
            <a:xfrm>
              <a:off x="4540974" y="23117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4" name="Ellipse 14"/>
            <p:cNvSpPr/>
            <p:nvPr/>
          </p:nvSpPr>
          <p:spPr>
            <a:xfrm>
              <a:off x="7467600" y="2152650"/>
              <a:ext cx="457200" cy="457200"/>
            </a:xfrm>
            <a:prstGeom prst="ellipse">
              <a:avLst/>
            </a:prstGeom>
            <a:solidFill>
              <a:srgbClr val="F97316"/>
            </a:solidFill>
            <a:ln>
              <a:noFill/>
            </a:ln>
          </p:spPr>
        </p:sp>
        <p:sp>
          <p:nvSpPr>
            <p:cNvPr id="15" name="TextBox 15"/>
            <p:cNvSpPr txBox="1"/>
            <p:nvPr/>
          </p:nvSpPr>
          <p:spPr>
            <a:xfrm>
              <a:off x="7627074" y="23117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6" name="Ellipse 16"/>
            <p:cNvSpPr/>
            <p:nvPr/>
          </p:nvSpPr>
          <p:spPr>
            <a:xfrm>
              <a:off x="10496550" y="2152650"/>
              <a:ext cx="457200" cy="457200"/>
            </a:xfrm>
            <a:prstGeom prst="ellipse">
              <a:avLst/>
            </a:prstGeom>
            <a:solidFill>
              <a:srgbClr val="2563EB"/>
            </a:solidFill>
            <a:ln>
              <a:noFill/>
            </a:ln>
          </p:spPr>
        </p:sp>
        <p:sp>
          <p:nvSpPr>
            <p:cNvPr id="17" name="TextBox 17"/>
            <p:cNvSpPr txBox="1"/>
            <p:nvPr/>
          </p:nvSpPr>
          <p:spPr>
            <a:xfrm>
              <a:off x="10656024" y="23117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grpSp>
      <p:grpSp>
        <p:nvGrpSpPr>
          <p:cNvPr id="25" name="Group 25"/>
          <p:cNvGrpSpPr/>
          <p:nvPr/>
        </p:nvGrpSpPr>
        <p:grpSpPr>
          <a:xfrm>
            <a:off x="552450" y="2857500"/>
            <a:ext cx="2343150" cy="2095500"/>
            <a:chOff x="552450" y="2857500"/>
            <a:chExt cx="2343150" cy="2095500"/>
          </a:xfrm>
        </p:grpSpPr>
        <p:sp>
          <p:nvSpPr>
            <p:cNvPr id="19" name="Rectangle 19"/>
            <p:cNvSpPr/>
            <p:nvPr/>
          </p:nvSpPr>
          <p:spPr>
            <a:xfrm>
              <a:off x="552450" y="2857500"/>
              <a:ext cx="2343150" cy="2095500"/>
            </a:xfrm>
            <a:prstGeom prst="roundRect">
              <a:avLst>
                <a:gd name="adj" fmla="val 10000"/>
              </a:avLst>
            </a:prstGeom>
            <a:solidFill>
              <a:srgbClr val="FFFFFF"/>
            </a:solidFill>
            <a:ln w="19050">
              <a:solidFill>
                <a:srgbClr val="CBD5E1"/>
              </a:solidFill>
            </a:ln>
          </p:spPr>
        </p:sp>
        <p:sp>
          <p:nvSpPr>
            <p:cNvPr id="20" name="TextBox 20"/>
            <p:cNvSpPr txBox="1"/>
            <p:nvPr/>
          </p:nvSpPr>
          <p:spPr>
            <a:xfrm>
              <a:off x="817245" y="3079432"/>
              <a:ext cx="677239"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Start</a:t>
              </a:r>
            </a:p>
          </p:txBody>
        </p:sp>
        <p:sp>
          <p:nvSpPr>
            <p:cNvPr id="21" name="Rectangle 21"/>
            <p:cNvSpPr/>
            <p:nvPr/>
          </p:nvSpPr>
          <p:spPr>
            <a:xfrm>
              <a:off x="838200" y="3524250"/>
              <a:ext cx="1752600" cy="819150"/>
            </a:xfrm>
            <a:prstGeom prst="roundRect">
              <a:avLst>
                <a:gd name="adj" fmla="val 18605"/>
              </a:avLst>
            </a:prstGeom>
            <a:solidFill>
              <a:srgbClr val="111827"/>
            </a:solidFill>
            <a:ln>
              <a:noFill/>
            </a:ln>
          </p:spPr>
        </p:sp>
        <p:sp>
          <p:nvSpPr>
            <p:cNvPr id="22" name="TextBox 22"/>
            <p:cNvSpPr txBox="1"/>
            <p:nvPr/>
          </p:nvSpPr>
          <p:spPr>
            <a:xfrm>
              <a:off x="995362" y="3726656"/>
              <a:ext cx="658654"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fruit = {</a:t>
              </a:r>
            </a:p>
          </p:txBody>
        </p:sp>
        <p:sp>
          <p:nvSpPr>
            <p:cNvPr id="23" name="TextBox 23"/>
            <p:cNvSpPr txBox="1"/>
            <p:nvPr/>
          </p:nvSpPr>
          <p:spPr>
            <a:xfrm>
              <a:off x="1185862" y="3974306"/>
              <a:ext cx="778669"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"apple": 2</a:t>
              </a:r>
            </a:p>
          </p:txBody>
        </p:sp>
        <p:sp>
          <p:nvSpPr>
            <p:cNvPr id="24" name="TextBox 24"/>
            <p:cNvSpPr txBox="1"/>
            <p:nvPr/>
          </p:nvSpPr>
          <p:spPr>
            <a:xfrm>
              <a:off x="995362" y="4221956"/>
              <a:ext cx="111085"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a:t>
              </a:r>
            </a:p>
          </p:txBody>
        </p:sp>
      </p:grpSp>
      <p:grpSp>
        <p:nvGrpSpPr>
          <p:cNvPr id="31" name="Group 31"/>
          <p:cNvGrpSpPr/>
          <p:nvPr/>
        </p:nvGrpSpPr>
        <p:grpSpPr>
          <a:xfrm>
            <a:off x="3638550" y="2857500"/>
            <a:ext cx="2501265" cy="2095500"/>
            <a:chOff x="3638550" y="2857500"/>
            <a:chExt cx="2501265" cy="2095500"/>
          </a:xfrm>
        </p:grpSpPr>
        <p:sp>
          <p:nvSpPr>
            <p:cNvPr id="26" name="Rectangle 26"/>
            <p:cNvSpPr/>
            <p:nvPr/>
          </p:nvSpPr>
          <p:spPr>
            <a:xfrm>
              <a:off x="3638550" y="2857500"/>
              <a:ext cx="2343150" cy="2095500"/>
            </a:xfrm>
            <a:prstGeom prst="roundRect">
              <a:avLst>
                <a:gd name="adj" fmla="val 10000"/>
              </a:avLst>
            </a:prstGeom>
            <a:solidFill>
              <a:srgbClr val="FFFFFF"/>
            </a:solidFill>
            <a:ln w="19050">
              <a:solidFill>
                <a:srgbClr val="CBD5E1"/>
              </a:solidFill>
            </a:ln>
          </p:spPr>
        </p:sp>
        <p:sp>
          <p:nvSpPr>
            <p:cNvPr id="27" name="TextBox 27"/>
            <p:cNvSpPr txBox="1"/>
            <p:nvPr/>
          </p:nvSpPr>
          <p:spPr>
            <a:xfrm>
              <a:off x="3903345" y="3079432"/>
              <a:ext cx="1069988"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Add a key</a:t>
              </a:r>
            </a:p>
          </p:txBody>
        </p:sp>
        <p:sp>
          <p:nvSpPr>
            <p:cNvPr id="28" name="Rectangle 28"/>
            <p:cNvSpPr/>
            <p:nvPr/>
          </p:nvSpPr>
          <p:spPr>
            <a:xfrm>
              <a:off x="3924300" y="3524250"/>
              <a:ext cx="1752600" cy="819150"/>
            </a:xfrm>
            <a:prstGeom prst="roundRect">
              <a:avLst>
                <a:gd name="adj" fmla="val 18605"/>
              </a:avLst>
            </a:prstGeom>
            <a:solidFill>
              <a:srgbClr val="111827"/>
            </a:solidFill>
            <a:ln>
              <a:noFill/>
            </a:ln>
          </p:spPr>
        </p:sp>
        <p:sp>
          <p:nvSpPr>
            <p:cNvPr id="29" name="TextBox 29"/>
            <p:cNvSpPr txBox="1"/>
            <p:nvPr/>
          </p:nvSpPr>
          <p:spPr>
            <a:xfrm>
              <a:off x="4081462" y="3745706"/>
              <a:ext cx="1483757"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fruit["banana"] = 3</a:t>
              </a:r>
            </a:p>
          </p:txBody>
        </p:sp>
        <p:sp>
          <p:nvSpPr>
            <p:cNvPr id="30" name="TextBox 30"/>
            <p:cNvSpPr txBox="1"/>
            <p:nvPr/>
          </p:nvSpPr>
          <p:spPr>
            <a:xfrm>
              <a:off x="3909060" y="4461510"/>
              <a:ext cx="223075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New key creates a new pair.</a:t>
              </a:r>
            </a:p>
          </p:txBody>
        </p:sp>
      </p:grpSp>
      <p:grpSp>
        <p:nvGrpSpPr>
          <p:cNvPr id="38" name="Group 38"/>
          <p:cNvGrpSpPr/>
          <p:nvPr/>
        </p:nvGrpSpPr>
        <p:grpSpPr>
          <a:xfrm>
            <a:off x="6724650" y="2857500"/>
            <a:ext cx="2437257" cy="2095500"/>
            <a:chOff x="6724650" y="2857500"/>
            <a:chExt cx="2437257" cy="2095500"/>
          </a:xfrm>
        </p:grpSpPr>
        <p:sp>
          <p:nvSpPr>
            <p:cNvPr id="32" name="Rectangle 32"/>
            <p:cNvSpPr/>
            <p:nvPr/>
          </p:nvSpPr>
          <p:spPr>
            <a:xfrm>
              <a:off x="6724650" y="2857500"/>
              <a:ext cx="2343150" cy="2095500"/>
            </a:xfrm>
            <a:prstGeom prst="roundRect">
              <a:avLst>
                <a:gd name="adj" fmla="val 10000"/>
              </a:avLst>
            </a:prstGeom>
            <a:solidFill>
              <a:srgbClr val="FFFFFF"/>
            </a:solidFill>
            <a:ln w="19050">
              <a:solidFill>
                <a:srgbClr val="CBD5E1"/>
              </a:solidFill>
            </a:ln>
          </p:spPr>
        </p:sp>
        <p:sp>
          <p:nvSpPr>
            <p:cNvPr id="33" name="TextBox 33"/>
            <p:cNvSpPr txBox="1"/>
            <p:nvPr/>
          </p:nvSpPr>
          <p:spPr>
            <a:xfrm>
              <a:off x="6989445" y="3079432"/>
              <a:ext cx="804305"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Update</a:t>
              </a:r>
            </a:p>
          </p:txBody>
        </p:sp>
        <p:sp>
          <p:nvSpPr>
            <p:cNvPr id="34" name="Rectangle 34"/>
            <p:cNvSpPr/>
            <p:nvPr/>
          </p:nvSpPr>
          <p:spPr>
            <a:xfrm>
              <a:off x="7010400" y="3524250"/>
              <a:ext cx="1752600" cy="819150"/>
            </a:xfrm>
            <a:prstGeom prst="roundRect">
              <a:avLst>
                <a:gd name="adj" fmla="val 18605"/>
              </a:avLst>
            </a:prstGeom>
            <a:solidFill>
              <a:srgbClr val="111827"/>
            </a:solidFill>
            <a:ln>
              <a:noFill/>
            </a:ln>
          </p:spPr>
        </p:sp>
        <p:sp>
          <p:nvSpPr>
            <p:cNvPr id="35" name="TextBox 35"/>
            <p:cNvSpPr txBox="1"/>
            <p:nvPr/>
          </p:nvSpPr>
          <p:spPr>
            <a:xfrm>
              <a:off x="7167562" y="3745706"/>
              <a:ext cx="1146215"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fruit.update({</a:t>
              </a:r>
            </a:p>
          </p:txBody>
        </p:sp>
        <p:sp>
          <p:nvSpPr>
            <p:cNvPr id="36" name="TextBox 36"/>
            <p:cNvSpPr txBox="1"/>
            <p:nvPr/>
          </p:nvSpPr>
          <p:spPr>
            <a:xfrm>
              <a:off x="7358062" y="3993356"/>
              <a:ext cx="943689"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"apple": 1})</a:t>
              </a:r>
            </a:p>
          </p:txBody>
        </p:sp>
        <p:sp>
          <p:nvSpPr>
            <p:cNvPr id="37" name="TextBox 37"/>
            <p:cNvSpPr txBox="1"/>
            <p:nvPr/>
          </p:nvSpPr>
          <p:spPr>
            <a:xfrm>
              <a:off x="6995160" y="4461510"/>
              <a:ext cx="2166747"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Existing key changes value.</a:t>
              </a:r>
            </a:p>
          </p:txBody>
        </p:sp>
      </p:grpSp>
      <p:grpSp>
        <p:nvGrpSpPr>
          <p:cNvPr id="45" name="Group 45"/>
          <p:cNvGrpSpPr/>
          <p:nvPr/>
        </p:nvGrpSpPr>
        <p:grpSpPr>
          <a:xfrm>
            <a:off x="9772650" y="2857500"/>
            <a:ext cx="1924050" cy="2095500"/>
            <a:chOff x="9772650" y="2857500"/>
            <a:chExt cx="1924050" cy="2095500"/>
          </a:xfrm>
        </p:grpSpPr>
        <p:sp>
          <p:nvSpPr>
            <p:cNvPr id="39" name="Rectangle 39"/>
            <p:cNvSpPr/>
            <p:nvPr/>
          </p:nvSpPr>
          <p:spPr>
            <a:xfrm>
              <a:off x="9772650" y="2857500"/>
              <a:ext cx="1924050" cy="2095500"/>
            </a:xfrm>
            <a:prstGeom prst="roundRect">
              <a:avLst>
                <a:gd name="adj" fmla="val 10891"/>
              </a:avLst>
            </a:prstGeom>
            <a:solidFill>
              <a:srgbClr val="FFFFFF"/>
            </a:solidFill>
            <a:ln w="19050">
              <a:solidFill>
                <a:srgbClr val="CBD5E1"/>
              </a:solidFill>
            </a:ln>
          </p:spPr>
        </p:sp>
        <p:sp>
          <p:nvSpPr>
            <p:cNvPr id="40" name="TextBox 40"/>
            <p:cNvSpPr txBox="1"/>
            <p:nvPr/>
          </p:nvSpPr>
          <p:spPr>
            <a:xfrm>
              <a:off x="10018395" y="3079432"/>
              <a:ext cx="746548"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Delete</a:t>
              </a:r>
            </a:p>
          </p:txBody>
        </p:sp>
        <p:sp>
          <p:nvSpPr>
            <p:cNvPr id="41" name="Rectangle 41"/>
            <p:cNvSpPr/>
            <p:nvPr/>
          </p:nvSpPr>
          <p:spPr>
            <a:xfrm>
              <a:off x="10039350" y="3524250"/>
              <a:ext cx="1390650" cy="819150"/>
            </a:xfrm>
            <a:prstGeom prst="roundRect">
              <a:avLst>
                <a:gd name="adj" fmla="val 18605"/>
              </a:avLst>
            </a:prstGeom>
            <a:solidFill>
              <a:srgbClr val="111827"/>
            </a:solidFill>
            <a:ln>
              <a:noFill/>
            </a:ln>
          </p:spPr>
        </p:sp>
        <p:sp>
          <p:nvSpPr>
            <p:cNvPr id="42" name="TextBox 42"/>
            <p:cNvSpPr txBox="1"/>
            <p:nvPr/>
          </p:nvSpPr>
          <p:spPr>
            <a:xfrm>
              <a:off x="10196512" y="3726656"/>
              <a:ext cx="658654"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del fruit</a:t>
              </a:r>
            </a:p>
          </p:txBody>
        </p:sp>
        <p:sp>
          <p:nvSpPr>
            <p:cNvPr id="43" name="TextBox 43"/>
            <p:cNvSpPr txBox="1"/>
            <p:nvPr/>
          </p:nvSpPr>
          <p:spPr>
            <a:xfrm>
              <a:off x="10196512" y="3974306"/>
              <a:ext cx="853678"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["banana"]</a:t>
              </a:r>
            </a:p>
          </p:txBody>
        </p:sp>
        <p:sp>
          <p:nvSpPr>
            <p:cNvPr id="44" name="TextBox 44"/>
            <p:cNvSpPr txBox="1"/>
            <p:nvPr/>
          </p:nvSpPr>
          <p:spPr>
            <a:xfrm>
              <a:off x="10024110" y="4461510"/>
              <a:ext cx="156667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Or use `pop(key)`.</a:t>
              </a:r>
            </a:p>
          </p:txBody>
        </p:sp>
      </p:grpSp>
      <p:grpSp>
        <p:nvGrpSpPr>
          <p:cNvPr id="49" name="Group 49"/>
          <p:cNvGrpSpPr/>
          <p:nvPr/>
        </p:nvGrpSpPr>
        <p:grpSpPr>
          <a:xfrm>
            <a:off x="514350" y="5391150"/>
            <a:ext cx="11182350" cy="685800"/>
            <a:chOff x="514350" y="5391150"/>
            <a:chExt cx="11182350" cy="685800"/>
          </a:xfrm>
        </p:grpSpPr>
        <p:sp>
          <p:nvSpPr>
            <p:cNvPr id="46" name="Rectangle 46"/>
            <p:cNvSpPr/>
            <p:nvPr/>
          </p:nvSpPr>
          <p:spPr>
            <a:xfrm>
              <a:off x="514350" y="5391150"/>
              <a:ext cx="11182350" cy="685800"/>
            </a:xfrm>
            <a:prstGeom prst="roundRect">
              <a:avLst>
                <a:gd name="adj" fmla="val 27778"/>
              </a:avLst>
            </a:prstGeom>
            <a:solidFill>
              <a:srgbClr val="E2E8F0"/>
            </a:solidFill>
            <a:ln w="19050">
              <a:solidFill>
                <a:srgbClr val="CBD5E1"/>
              </a:solidFill>
            </a:ln>
          </p:spPr>
        </p:sp>
        <p:sp>
          <p:nvSpPr>
            <p:cNvPr id="47" name="TextBox 47"/>
            <p:cNvSpPr txBox="1"/>
            <p:nvPr/>
          </p:nvSpPr>
          <p:spPr>
            <a:xfrm>
              <a:off x="821055" y="5645468"/>
              <a:ext cx="1329102"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Class prompt:</a:t>
              </a:r>
            </a:p>
          </p:txBody>
        </p:sp>
        <p:sp>
          <p:nvSpPr>
            <p:cNvPr id="48" name="TextBox 48"/>
            <p:cNvSpPr txBox="1"/>
            <p:nvPr/>
          </p:nvSpPr>
          <p:spPr>
            <a:xfrm>
              <a:off x="2021205" y="5645468"/>
              <a:ext cx="5795010"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Predict the final dictionary after add, update, and delete steps.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400"/>
                                        <p:tgtEl>
                                          <p:spTgt spid="1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slide(fromBottom)">
                                      <p:cBhvr>
                                        <p:cTn id="15" dur="400"/>
                                        <p:tgtEl>
                                          <p:spTgt spid="2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lide(fromBottom)">
                                      <p:cBhvr>
                                        <p:cTn id="19" dur="400"/>
                                        <p:tgtEl>
                                          <p:spTgt spid="31"/>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slide(fromBottom)">
                                      <p:cBhvr>
                                        <p:cTn id="23" dur="400"/>
                                        <p:tgtEl>
                                          <p:spTgt spid="38"/>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slide(fromBottom)">
                                      <p:cBhvr>
                                        <p:cTn id="27" dur="400"/>
                                        <p:tgtEl>
                                          <p:spTgt spid="45"/>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slide(fromBottom)">
                                      <p:cBhvr>
                                        <p:cTn id="3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25" grpId="0"/>
      <p:bldP spid="31" grpId="0"/>
      <p:bldP spid="38" grpId="0"/>
      <p:bldP spid="45" grpId="0"/>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011693"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VIEW METHODS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06 / 12</a:t>
              </a:r>
            </a:p>
          </p:txBody>
        </p:sp>
      </p:grpSp>
      <p:grpSp>
        <p:nvGrpSpPr>
          <p:cNvPr id="8" name="Group 8"/>
          <p:cNvGrpSpPr/>
          <p:nvPr/>
        </p:nvGrpSpPr>
        <p:grpSpPr>
          <a:xfrm>
            <a:off x="478155" y="759142"/>
            <a:ext cx="10268114" cy="760096"/>
            <a:chOff x="478155" y="759142"/>
            <a:chExt cx="10268114" cy="760096"/>
          </a:xfrm>
        </p:grpSpPr>
        <p:sp>
          <p:nvSpPr>
            <p:cNvPr id="6" name="TextBox 6"/>
            <p:cNvSpPr txBox="1"/>
            <p:nvPr/>
          </p:nvSpPr>
          <p:spPr>
            <a:xfrm>
              <a:off x="478155" y="759142"/>
              <a:ext cx="10268114"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Use keys, values, and items to inspect a dictionary.</a:t>
              </a:r>
            </a:p>
          </p:txBody>
        </p:sp>
        <p:sp>
          <p:nvSpPr>
            <p:cNvPr id="7" name="TextBox 7"/>
            <p:cNvSpPr txBox="1"/>
            <p:nvPr/>
          </p:nvSpPr>
          <p:spPr>
            <a:xfrm>
              <a:off x="497205" y="1244918"/>
              <a:ext cx="7397210"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These methods expose three useful views: labels, stored data, and complete pairs.</a:t>
              </a:r>
            </a:p>
          </p:txBody>
        </p:sp>
      </p:grpSp>
      <p:grpSp>
        <p:nvGrpSpPr>
          <p:cNvPr id="22" name="Group 22"/>
          <p:cNvGrpSpPr/>
          <p:nvPr/>
        </p:nvGrpSpPr>
        <p:grpSpPr>
          <a:xfrm>
            <a:off x="514350" y="1809750"/>
            <a:ext cx="3733800" cy="3905250"/>
            <a:chOff x="514350" y="1809750"/>
            <a:chExt cx="3733800" cy="3905250"/>
          </a:xfrm>
        </p:grpSpPr>
        <p:sp>
          <p:nvSpPr>
            <p:cNvPr id="9" name="Rectangle 9"/>
            <p:cNvSpPr/>
            <p:nvPr/>
          </p:nvSpPr>
          <p:spPr>
            <a:xfrm>
              <a:off x="514350" y="1809750"/>
              <a:ext cx="3733800" cy="3905250"/>
            </a:xfrm>
            <a:prstGeom prst="roundRect">
              <a:avLst>
                <a:gd name="adj" fmla="val 6122"/>
              </a:avLst>
            </a:prstGeom>
            <a:solidFill>
              <a:srgbClr val="FFFFFF"/>
            </a:solidFill>
            <a:ln w="19050">
              <a:solidFill>
                <a:srgbClr val="CBD5E1"/>
              </a:solidFill>
            </a:ln>
          </p:spPr>
        </p:sp>
        <p:sp>
          <p:nvSpPr>
            <p:cNvPr id="10" name="TextBox 10"/>
            <p:cNvSpPr txBox="1"/>
            <p:nvPr/>
          </p:nvSpPr>
          <p:spPr>
            <a:xfrm>
              <a:off x="815340" y="2015490"/>
              <a:ext cx="2427418"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Starting dictionary</a:t>
              </a:r>
            </a:p>
          </p:txBody>
        </p:sp>
        <p:sp>
          <p:nvSpPr>
            <p:cNvPr id="11" name="Rectangle 11"/>
            <p:cNvSpPr/>
            <p:nvPr/>
          </p:nvSpPr>
          <p:spPr>
            <a:xfrm>
              <a:off x="838200" y="2533650"/>
              <a:ext cx="3067050" cy="1219200"/>
            </a:xfrm>
            <a:prstGeom prst="roundRect">
              <a:avLst>
                <a:gd name="adj" fmla="val 14062"/>
              </a:avLst>
            </a:prstGeom>
            <a:solidFill>
              <a:srgbClr val="111827"/>
            </a:solidFill>
            <a:ln>
              <a:noFill/>
            </a:ln>
          </p:spPr>
        </p:sp>
        <p:sp>
          <p:nvSpPr>
            <p:cNvPr id="12" name="TextBox 12"/>
            <p:cNvSpPr txBox="1"/>
            <p:nvPr/>
          </p:nvSpPr>
          <p:spPr>
            <a:xfrm>
              <a:off x="1050608" y="2796064"/>
              <a:ext cx="1783604"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dictionary_object = {</a:t>
              </a:r>
            </a:p>
          </p:txBody>
        </p:sp>
        <p:sp>
          <p:nvSpPr>
            <p:cNvPr id="13" name="TextBox 13"/>
            <p:cNvSpPr txBox="1"/>
            <p:nvPr/>
          </p:nvSpPr>
          <p:spPr>
            <a:xfrm>
              <a:off x="1241108" y="3100864"/>
              <a:ext cx="737973"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"a": 97,</a:t>
              </a:r>
            </a:p>
          </p:txBody>
        </p:sp>
        <p:sp>
          <p:nvSpPr>
            <p:cNvPr id="14" name="TextBox 14"/>
            <p:cNvSpPr txBox="1"/>
            <p:nvPr/>
          </p:nvSpPr>
          <p:spPr>
            <a:xfrm>
              <a:off x="1241108" y="3405664"/>
              <a:ext cx="1494568"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"b": 98, "c": 99}</a:t>
              </a:r>
            </a:p>
          </p:txBody>
        </p:sp>
        <p:sp>
          <p:nvSpPr>
            <p:cNvPr id="15" name="TextBox 15"/>
            <p:cNvSpPr txBox="1"/>
            <p:nvPr/>
          </p:nvSpPr>
          <p:spPr>
            <a:xfrm>
              <a:off x="822008" y="4091464"/>
              <a:ext cx="3347799"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Think of the dictionary as a small table:</a:t>
              </a:r>
            </a:p>
          </p:txBody>
        </p:sp>
        <p:sp>
          <p:nvSpPr>
            <p:cNvPr id="16" name="Rectangle 16"/>
            <p:cNvSpPr/>
            <p:nvPr/>
          </p:nvSpPr>
          <p:spPr>
            <a:xfrm>
              <a:off x="1009650" y="4514850"/>
              <a:ext cx="914400" cy="400050"/>
            </a:xfrm>
            <a:prstGeom prst="roundRect">
              <a:avLst>
                <a:gd name="adj" fmla="val 28571"/>
              </a:avLst>
            </a:prstGeom>
            <a:solidFill>
              <a:srgbClr val="E2E8F0"/>
            </a:solidFill>
            <a:ln>
              <a:noFill/>
            </a:ln>
          </p:spPr>
        </p:sp>
        <p:sp>
          <p:nvSpPr>
            <p:cNvPr id="17" name="Rectangle 17"/>
            <p:cNvSpPr/>
            <p:nvPr/>
          </p:nvSpPr>
          <p:spPr>
            <a:xfrm>
              <a:off x="2095500" y="4514850"/>
              <a:ext cx="914400" cy="400050"/>
            </a:xfrm>
            <a:prstGeom prst="roundRect">
              <a:avLst>
                <a:gd name="adj" fmla="val 28571"/>
              </a:avLst>
            </a:prstGeom>
            <a:solidFill>
              <a:srgbClr val="E2E8F0"/>
            </a:solidFill>
            <a:ln>
              <a:noFill/>
            </a:ln>
          </p:spPr>
        </p:sp>
        <p:sp>
          <p:nvSpPr>
            <p:cNvPr id="18" name="Rectangle 18"/>
            <p:cNvSpPr/>
            <p:nvPr/>
          </p:nvSpPr>
          <p:spPr>
            <a:xfrm>
              <a:off x="3181350" y="4514850"/>
              <a:ext cx="552450" cy="400050"/>
            </a:xfrm>
            <a:prstGeom prst="roundRect">
              <a:avLst>
                <a:gd name="adj" fmla="val 28571"/>
              </a:avLst>
            </a:prstGeom>
            <a:solidFill>
              <a:srgbClr val="E2E8F0"/>
            </a:solidFill>
            <a:ln>
              <a:noFill/>
            </a:ln>
          </p:spPr>
        </p:sp>
        <p:sp>
          <p:nvSpPr>
            <p:cNvPr id="19" name="TextBox 19"/>
            <p:cNvSpPr txBox="1"/>
            <p:nvPr/>
          </p:nvSpPr>
          <p:spPr>
            <a:xfrm>
              <a:off x="1397724" y="4626292"/>
              <a:ext cx="138253" cy="274320"/>
            </a:xfrm>
            <a:prstGeom prst="rect">
              <a:avLst/>
            </a:prstGeom>
            <a:noFill/>
            <a:ln>
              <a:noFill/>
            </a:ln>
          </p:spPr>
          <p:txBody>
            <a:bodyPr wrap="none" lIns="0" tIns="0" rIns="0" bIns="0" anchor="t" anchorCtr="0">
              <a:spAutoFit/>
            </a:bodyPr>
            <a:lstStyle/>
            <a:p>
              <a:pPr algn="ctr"/>
              <a:r>
                <a:rPr lang="zh-CN" sz="1350" b="1" dirty="0">
                  <a:solidFill>
                    <a:srgbClr val="2563EB"/>
                  </a:solidFill>
                  <a:latin typeface="Consolas"/>
                  <a:ea typeface="Microsoft YaHei"/>
                  <a:cs typeface="Consolas"/>
                </a:rPr>
                <a:t>a</a:t>
              </a:r>
            </a:p>
          </p:txBody>
        </p:sp>
        <p:sp>
          <p:nvSpPr>
            <p:cNvPr id="20" name="TextBox 20"/>
            <p:cNvSpPr txBox="1"/>
            <p:nvPr/>
          </p:nvSpPr>
          <p:spPr>
            <a:xfrm>
              <a:off x="2431592" y="4626292"/>
              <a:ext cx="242216" cy="274320"/>
            </a:xfrm>
            <a:prstGeom prst="rect">
              <a:avLst/>
            </a:prstGeom>
            <a:noFill/>
            <a:ln>
              <a:noFill/>
            </a:ln>
          </p:spPr>
          <p:txBody>
            <a:bodyPr wrap="none" lIns="0" tIns="0" rIns="0" bIns="0" anchor="t" anchorCtr="0">
              <a:spAutoFit/>
            </a:bodyPr>
            <a:lstStyle/>
            <a:p>
              <a:pPr algn="ctr"/>
              <a:r>
                <a:rPr lang="zh-CN" sz="1350" b="1" dirty="0">
                  <a:solidFill>
                    <a:srgbClr val="16A34A"/>
                  </a:solidFill>
                  <a:latin typeface="Consolas"/>
                  <a:ea typeface="Microsoft YaHei"/>
                  <a:cs typeface="Consolas"/>
                </a:rPr>
                <a:t>97</a:t>
              </a:r>
            </a:p>
          </p:txBody>
        </p:sp>
        <p:sp>
          <p:nvSpPr>
            <p:cNvPr id="21" name="TextBox 21"/>
            <p:cNvSpPr txBox="1"/>
            <p:nvPr/>
          </p:nvSpPr>
          <p:spPr>
            <a:xfrm>
              <a:off x="3267323" y="4634389"/>
              <a:ext cx="380504" cy="259080"/>
            </a:xfrm>
            <a:prstGeom prst="rect">
              <a:avLst/>
            </a:prstGeom>
            <a:noFill/>
            <a:ln>
              <a:noFill/>
            </a:ln>
          </p:spPr>
          <p:txBody>
            <a:bodyPr wrap="none" lIns="0" tIns="0" rIns="0" bIns="0" anchor="t" anchorCtr="0">
              <a:spAutoFit/>
            </a:bodyPr>
            <a:lstStyle/>
            <a:p>
              <a:pPr algn="ctr"/>
              <a:r>
                <a:rPr lang="zh-CN" sz="1275" b="1" dirty="0">
                  <a:solidFill>
                    <a:srgbClr val="F97316"/>
                  </a:solidFill>
                  <a:latin typeface="Arial"/>
                  <a:ea typeface="Microsoft YaHei"/>
                  <a:cs typeface="Arial"/>
                </a:rPr>
                <a:t>pair</a:t>
              </a:r>
            </a:p>
          </p:txBody>
        </p:sp>
      </p:grpSp>
      <p:grpSp>
        <p:nvGrpSpPr>
          <p:cNvPr id="29" name="Group 29"/>
          <p:cNvGrpSpPr/>
          <p:nvPr/>
        </p:nvGrpSpPr>
        <p:grpSpPr>
          <a:xfrm>
            <a:off x="4629150" y="1809750"/>
            <a:ext cx="3219450" cy="1123950"/>
            <a:chOff x="4629150" y="1809750"/>
            <a:chExt cx="3219450" cy="1123950"/>
          </a:xfrm>
        </p:grpSpPr>
        <p:sp>
          <p:nvSpPr>
            <p:cNvPr id="23" name="Rectangle 23"/>
            <p:cNvSpPr/>
            <p:nvPr/>
          </p:nvSpPr>
          <p:spPr>
            <a:xfrm>
              <a:off x="4629150" y="1809750"/>
              <a:ext cx="3219450" cy="1123950"/>
            </a:xfrm>
            <a:prstGeom prst="roundRect">
              <a:avLst>
                <a:gd name="adj" fmla="val 18644"/>
              </a:avLst>
            </a:prstGeom>
            <a:solidFill>
              <a:srgbClr val="FFFFFF"/>
            </a:solidFill>
            <a:ln w="19050">
              <a:solidFill>
                <a:srgbClr val="CBD5E1"/>
              </a:solidFill>
            </a:ln>
          </p:spPr>
        </p:sp>
        <p:sp>
          <p:nvSpPr>
            <p:cNvPr id="24" name="Ellipse 24"/>
            <p:cNvSpPr/>
            <p:nvPr/>
          </p:nvSpPr>
          <p:spPr>
            <a:xfrm>
              <a:off x="4838700" y="2038350"/>
              <a:ext cx="342900" cy="342900"/>
            </a:xfrm>
            <a:prstGeom prst="ellipse">
              <a:avLst/>
            </a:prstGeom>
            <a:solidFill>
              <a:srgbClr val="2563EB"/>
            </a:solidFill>
            <a:ln>
              <a:noFill/>
            </a:ln>
          </p:spPr>
        </p:sp>
        <p:sp>
          <p:nvSpPr>
            <p:cNvPr id="25" name="TextBox 25"/>
            <p:cNvSpPr txBox="1"/>
            <p:nvPr/>
          </p:nvSpPr>
          <p:spPr>
            <a:xfrm>
              <a:off x="4948704" y="21469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K</a:t>
              </a:r>
            </a:p>
          </p:txBody>
        </p:sp>
        <p:sp>
          <p:nvSpPr>
            <p:cNvPr id="26" name="TextBox 26"/>
            <p:cNvSpPr txBox="1"/>
            <p:nvPr/>
          </p:nvSpPr>
          <p:spPr>
            <a:xfrm>
              <a:off x="5331142" y="1966436"/>
              <a:ext cx="973706"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.keys()</a:t>
              </a:r>
            </a:p>
          </p:txBody>
        </p:sp>
        <p:sp>
          <p:nvSpPr>
            <p:cNvPr id="27" name="TextBox 27"/>
            <p:cNvSpPr txBox="1"/>
            <p:nvPr/>
          </p:nvSpPr>
          <p:spPr>
            <a:xfrm>
              <a:off x="5337810" y="2327910"/>
              <a:ext cx="172669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labels used for lookup</a:t>
              </a:r>
            </a:p>
          </p:txBody>
        </p:sp>
        <p:sp>
          <p:nvSpPr>
            <p:cNvPr id="28" name="TextBox 28"/>
            <p:cNvSpPr txBox="1"/>
            <p:nvPr/>
          </p:nvSpPr>
          <p:spPr>
            <a:xfrm>
              <a:off x="5338762" y="2640806"/>
              <a:ext cx="2061329" cy="228600"/>
            </a:xfrm>
            <a:prstGeom prst="rect">
              <a:avLst/>
            </a:prstGeom>
            <a:noFill/>
            <a:ln>
              <a:noFill/>
            </a:ln>
          </p:spPr>
          <p:txBody>
            <a:bodyPr wrap="none" lIns="0" tIns="0" rIns="0" bIns="0" anchor="t" anchorCtr="0">
              <a:spAutoFit/>
            </a:bodyPr>
            <a:lstStyle/>
            <a:p>
              <a:pPr algn="l"/>
              <a:r>
                <a:rPr lang="zh-CN" sz="1125" dirty="0">
                  <a:solidFill>
                    <a:srgbClr val="2563EB"/>
                  </a:solidFill>
                  <a:latin typeface="Consolas"/>
                  <a:ea typeface="Microsoft YaHei"/>
                  <a:cs typeface="Consolas"/>
                </a:rPr>
                <a:t>dict_keys(["a", "b", "c"])</a:t>
              </a:r>
            </a:p>
          </p:txBody>
        </p:sp>
      </p:grpSp>
      <p:grpSp>
        <p:nvGrpSpPr>
          <p:cNvPr id="36" name="Group 36"/>
          <p:cNvGrpSpPr/>
          <p:nvPr/>
        </p:nvGrpSpPr>
        <p:grpSpPr>
          <a:xfrm>
            <a:off x="4629150" y="3181350"/>
            <a:ext cx="3219450" cy="1123950"/>
            <a:chOff x="4629150" y="3181350"/>
            <a:chExt cx="3219450" cy="1123950"/>
          </a:xfrm>
        </p:grpSpPr>
        <p:sp>
          <p:nvSpPr>
            <p:cNvPr id="30" name="Rectangle 30"/>
            <p:cNvSpPr/>
            <p:nvPr/>
          </p:nvSpPr>
          <p:spPr>
            <a:xfrm>
              <a:off x="4629150" y="3181350"/>
              <a:ext cx="3219450" cy="1123950"/>
            </a:xfrm>
            <a:prstGeom prst="roundRect">
              <a:avLst>
                <a:gd name="adj" fmla="val 18644"/>
              </a:avLst>
            </a:prstGeom>
            <a:solidFill>
              <a:srgbClr val="FFFFFF"/>
            </a:solidFill>
            <a:ln w="19050">
              <a:solidFill>
                <a:srgbClr val="CBD5E1"/>
              </a:solidFill>
            </a:ln>
          </p:spPr>
        </p:sp>
        <p:sp>
          <p:nvSpPr>
            <p:cNvPr id="31" name="Ellipse 31"/>
            <p:cNvSpPr/>
            <p:nvPr/>
          </p:nvSpPr>
          <p:spPr>
            <a:xfrm>
              <a:off x="4838700" y="3409950"/>
              <a:ext cx="342900" cy="342900"/>
            </a:xfrm>
            <a:prstGeom prst="ellipse">
              <a:avLst/>
            </a:prstGeom>
            <a:solidFill>
              <a:srgbClr val="16A34A"/>
            </a:solidFill>
            <a:ln>
              <a:noFill/>
            </a:ln>
          </p:spPr>
        </p:sp>
        <p:sp>
          <p:nvSpPr>
            <p:cNvPr id="32" name="TextBox 32"/>
            <p:cNvSpPr txBox="1"/>
            <p:nvPr/>
          </p:nvSpPr>
          <p:spPr>
            <a:xfrm>
              <a:off x="4948704" y="3518535"/>
              <a:ext cx="1228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V</a:t>
              </a:r>
            </a:p>
          </p:txBody>
        </p:sp>
        <p:sp>
          <p:nvSpPr>
            <p:cNvPr id="33" name="TextBox 33"/>
            <p:cNvSpPr txBox="1"/>
            <p:nvPr/>
          </p:nvSpPr>
          <p:spPr>
            <a:xfrm>
              <a:off x="5331142" y="3338036"/>
              <a:ext cx="1179007"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.values()</a:t>
              </a:r>
            </a:p>
          </p:txBody>
        </p:sp>
        <p:sp>
          <p:nvSpPr>
            <p:cNvPr id="34" name="TextBox 34"/>
            <p:cNvSpPr txBox="1"/>
            <p:nvPr/>
          </p:nvSpPr>
          <p:spPr>
            <a:xfrm>
              <a:off x="5337810" y="3699510"/>
              <a:ext cx="2198751"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stored data, without labels</a:t>
              </a:r>
            </a:p>
          </p:txBody>
        </p:sp>
        <p:sp>
          <p:nvSpPr>
            <p:cNvPr id="35" name="TextBox 35"/>
            <p:cNvSpPr txBox="1"/>
            <p:nvPr/>
          </p:nvSpPr>
          <p:spPr>
            <a:xfrm>
              <a:off x="5338762" y="4012406"/>
              <a:ext cx="1941314" cy="228600"/>
            </a:xfrm>
            <a:prstGeom prst="rect">
              <a:avLst/>
            </a:prstGeom>
            <a:noFill/>
            <a:ln>
              <a:noFill/>
            </a:ln>
          </p:spPr>
          <p:txBody>
            <a:bodyPr wrap="none" lIns="0" tIns="0" rIns="0" bIns="0" anchor="t" anchorCtr="0">
              <a:spAutoFit/>
            </a:bodyPr>
            <a:lstStyle/>
            <a:p>
              <a:pPr algn="l"/>
              <a:r>
                <a:rPr lang="zh-CN" sz="1125" dirty="0">
                  <a:solidFill>
                    <a:srgbClr val="16A34A"/>
                  </a:solidFill>
                  <a:latin typeface="Consolas"/>
                  <a:ea typeface="Microsoft YaHei"/>
                  <a:cs typeface="Consolas"/>
                </a:rPr>
                <a:t>dict_values([97, 98, 99])</a:t>
              </a:r>
            </a:p>
          </p:txBody>
        </p:sp>
      </p:grpSp>
      <p:grpSp>
        <p:nvGrpSpPr>
          <p:cNvPr id="43" name="Group 43"/>
          <p:cNvGrpSpPr/>
          <p:nvPr/>
        </p:nvGrpSpPr>
        <p:grpSpPr>
          <a:xfrm>
            <a:off x="4629150" y="4552950"/>
            <a:ext cx="3985641" cy="1162050"/>
            <a:chOff x="4629150" y="4552950"/>
            <a:chExt cx="3985641" cy="1162050"/>
          </a:xfrm>
        </p:grpSpPr>
        <p:sp>
          <p:nvSpPr>
            <p:cNvPr id="37" name="Rectangle 37"/>
            <p:cNvSpPr/>
            <p:nvPr/>
          </p:nvSpPr>
          <p:spPr>
            <a:xfrm>
              <a:off x="4629150" y="4552950"/>
              <a:ext cx="3219450" cy="1162050"/>
            </a:xfrm>
            <a:prstGeom prst="roundRect">
              <a:avLst>
                <a:gd name="adj" fmla="val 18033"/>
              </a:avLst>
            </a:prstGeom>
            <a:solidFill>
              <a:srgbClr val="FFFFFF"/>
            </a:solidFill>
            <a:ln w="19050">
              <a:solidFill>
                <a:srgbClr val="CBD5E1"/>
              </a:solidFill>
            </a:ln>
          </p:spPr>
        </p:sp>
        <p:sp>
          <p:nvSpPr>
            <p:cNvPr id="38" name="Ellipse 38"/>
            <p:cNvSpPr/>
            <p:nvPr/>
          </p:nvSpPr>
          <p:spPr>
            <a:xfrm>
              <a:off x="4838700" y="4781550"/>
              <a:ext cx="342900" cy="342900"/>
            </a:xfrm>
            <a:prstGeom prst="ellipse">
              <a:avLst/>
            </a:prstGeom>
            <a:solidFill>
              <a:srgbClr val="F97316"/>
            </a:solidFill>
            <a:ln>
              <a:noFill/>
            </a:ln>
          </p:spPr>
        </p:sp>
        <p:sp>
          <p:nvSpPr>
            <p:cNvPr id="39" name="TextBox 39"/>
            <p:cNvSpPr txBox="1"/>
            <p:nvPr/>
          </p:nvSpPr>
          <p:spPr>
            <a:xfrm>
              <a:off x="4969707" y="4890135"/>
              <a:ext cx="8088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I</a:t>
              </a:r>
            </a:p>
          </p:txBody>
        </p:sp>
        <p:sp>
          <p:nvSpPr>
            <p:cNvPr id="40" name="TextBox 40"/>
            <p:cNvSpPr txBox="1"/>
            <p:nvPr/>
          </p:nvSpPr>
          <p:spPr>
            <a:xfrm>
              <a:off x="5331142" y="4709636"/>
              <a:ext cx="1094471" cy="350520"/>
            </a:xfrm>
            <a:prstGeom prst="rect">
              <a:avLst/>
            </a:prstGeom>
            <a:noFill/>
            <a:ln>
              <a:noFill/>
            </a:ln>
          </p:spPr>
          <p:txBody>
            <a:bodyPr wrap="none" lIns="0" tIns="0" rIns="0" bIns="0" anchor="t" anchorCtr="0">
              <a:spAutoFit/>
            </a:bodyPr>
            <a:lstStyle/>
            <a:p>
              <a:pPr algn="l"/>
              <a:r>
                <a:rPr lang="zh-CN" sz="1725" b="1" dirty="0">
                  <a:solidFill>
                    <a:srgbClr val="0F172A"/>
                  </a:solidFill>
                  <a:latin typeface="Arial"/>
                  <a:ea typeface="Microsoft YaHei"/>
                  <a:cs typeface="Arial"/>
                </a:rPr>
                <a:t>.items()</a:t>
              </a:r>
            </a:p>
          </p:txBody>
        </p:sp>
        <p:sp>
          <p:nvSpPr>
            <p:cNvPr id="41" name="TextBox 41"/>
            <p:cNvSpPr txBox="1"/>
            <p:nvPr/>
          </p:nvSpPr>
          <p:spPr>
            <a:xfrm>
              <a:off x="5337810" y="5071110"/>
              <a:ext cx="180670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key and value together</a:t>
              </a:r>
            </a:p>
          </p:txBody>
        </p:sp>
        <p:sp>
          <p:nvSpPr>
            <p:cNvPr id="42" name="TextBox 42"/>
            <p:cNvSpPr txBox="1"/>
            <p:nvPr/>
          </p:nvSpPr>
          <p:spPr>
            <a:xfrm>
              <a:off x="5339715" y="5392102"/>
              <a:ext cx="3275076" cy="213360"/>
            </a:xfrm>
            <a:prstGeom prst="rect">
              <a:avLst/>
            </a:prstGeom>
            <a:noFill/>
            <a:ln>
              <a:noFill/>
            </a:ln>
          </p:spPr>
          <p:txBody>
            <a:bodyPr wrap="none" lIns="0" tIns="0" rIns="0" bIns="0" anchor="t" anchorCtr="0">
              <a:spAutoFit/>
            </a:bodyPr>
            <a:lstStyle/>
            <a:p>
              <a:pPr algn="l"/>
              <a:r>
                <a:rPr lang="zh-CN" sz="1050" dirty="0">
                  <a:solidFill>
                    <a:srgbClr val="F97316"/>
                  </a:solidFill>
                  <a:latin typeface="Consolas"/>
                  <a:ea typeface="Microsoft YaHei"/>
                  <a:cs typeface="Consolas"/>
                </a:rPr>
                <a:t>dict_items([("a", 97), ("b", 98), ("c", 99)])</a:t>
              </a:r>
            </a:p>
          </p:txBody>
        </p:sp>
      </p:grpSp>
      <p:grpSp>
        <p:nvGrpSpPr>
          <p:cNvPr id="54" name="Group 54"/>
          <p:cNvGrpSpPr/>
          <p:nvPr/>
        </p:nvGrpSpPr>
        <p:grpSpPr>
          <a:xfrm>
            <a:off x="8267700" y="1809750"/>
            <a:ext cx="3409950" cy="3931444"/>
            <a:chOff x="8267700" y="1809750"/>
            <a:chExt cx="3409950" cy="3931444"/>
          </a:xfrm>
        </p:grpSpPr>
        <p:sp>
          <p:nvSpPr>
            <p:cNvPr id="44" name="Rectangle 44"/>
            <p:cNvSpPr/>
            <p:nvPr/>
          </p:nvSpPr>
          <p:spPr>
            <a:xfrm>
              <a:off x="8267700" y="1809750"/>
              <a:ext cx="3409950" cy="3905250"/>
            </a:xfrm>
            <a:prstGeom prst="roundRect">
              <a:avLst>
                <a:gd name="adj" fmla="val 6704"/>
              </a:avLst>
            </a:prstGeom>
            <a:solidFill>
              <a:srgbClr val="E2E8F0"/>
            </a:solidFill>
            <a:ln w="19050">
              <a:solidFill>
                <a:srgbClr val="CBD5E1"/>
              </a:solidFill>
            </a:ln>
          </p:spPr>
        </p:sp>
        <p:sp>
          <p:nvSpPr>
            <p:cNvPr id="45" name="TextBox 45"/>
            <p:cNvSpPr txBox="1"/>
            <p:nvPr/>
          </p:nvSpPr>
          <p:spPr>
            <a:xfrm>
              <a:off x="8568690" y="2034540"/>
              <a:ext cx="2666848"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When do we use each?</a:t>
              </a:r>
            </a:p>
          </p:txBody>
        </p:sp>
        <p:sp>
          <p:nvSpPr>
            <p:cNvPr id="46" name="TextBox 46"/>
            <p:cNvSpPr txBox="1"/>
            <p:nvPr/>
          </p:nvSpPr>
          <p:spPr>
            <a:xfrm>
              <a:off x="8573452" y="2608421"/>
              <a:ext cx="2480375"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Ask: “Do I need the key?”</a:t>
              </a:r>
            </a:p>
          </p:txBody>
        </p:sp>
        <p:sp>
          <p:nvSpPr>
            <p:cNvPr id="47" name="TextBox 47"/>
            <p:cNvSpPr txBox="1"/>
            <p:nvPr/>
          </p:nvSpPr>
          <p:spPr>
            <a:xfrm>
              <a:off x="8575358" y="3005614"/>
              <a:ext cx="220015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If yes, use keys or items.</a:t>
              </a:r>
            </a:p>
          </p:txBody>
        </p:sp>
        <p:sp>
          <p:nvSpPr>
            <p:cNvPr id="48" name="TextBox 48"/>
            <p:cNvSpPr txBox="1"/>
            <p:nvPr/>
          </p:nvSpPr>
          <p:spPr>
            <a:xfrm>
              <a:off x="8573452" y="3389471"/>
              <a:ext cx="2649972" cy="289560"/>
            </a:xfrm>
            <a:prstGeom prst="rect">
              <a:avLst/>
            </a:prstGeom>
            <a:noFill/>
            <a:ln>
              <a:noFill/>
            </a:ln>
          </p:spPr>
          <p:txBody>
            <a:bodyPr wrap="none" lIns="0" tIns="0" rIns="0" bIns="0" anchor="t" anchorCtr="0">
              <a:spAutoFit/>
            </a:bodyPr>
            <a:lstStyle/>
            <a:p>
              <a:pPr algn="l"/>
              <a:r>
                <a:rPr lang="zh-CN" sz="1425" b="1" dirty="0">
                  <a:solidFill>
                    <a:srgbClr val="0F172A"/>
                  </a:solidFill>
                  <a:latin typeface="Arial"/>
                  <a:ea typeface="Microsoft YaHei"/>
                  <a:cs typeface="Arial"/>
                </a:rPr>
                <a:t>Ask: “Do I need the value?”</a:t>
              </a:r>
            </a:p>
          </p:txBody>
        </p:sp>
        <p:sp>
          <p:nvSpPr>
            <p:cNvPr id="49" name="TextBox 49"/>
            <p:cNvSpPr txBox="1"/>
            <p:nvPr/>
          </p:nvSpPr>
          <p:spPr>
            <a:xfrm>
              <a:off x="8575358" y="3786664"/>
              <a:ext cx="2344674"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If yes, use values or items.</a:t>
              </a:r>
            </a:p>
          </p:txBody>
        </p:sp>
        <p:sp>
          <p:nvSpPr>
            <p:cNvPr id="50" name="Freeform 50"/>
            <p:cNvSpPr/>
            <p:nvPr/>
          </p:nvSpPr>
          <p:spPr>
            <a:xfrm>
              <a:off x="8610600" y="4286250"/>
              <a:ext cx="2495550" cy="476250"/>
            </a:xfrm>
            <a:custGeom>
              <a:avLst/>
              <a:gdLst/>
              <a:ahLst/>
              <a:cxnLst/>
              <a:rect l="l" t="t" r="r" b="b"/>
              <a:pathLst>
                <a:path w="2495550" h="476250">
                  <a:moveTo>
                    <a:pt x="0" y="209550"/>
                  </a:moveTo>
                  <a:cubicBezTo>
                    <a:pt x="342900" y="19050"/>
                    <a:pt x="819150" y="0"/>
                    <a:pt x="1143000" y="228600"/>
                  </a:cubicBezTo>
                  <a:cubicBezTo>
                    <a:pt x="1485900" y="476250"/>
                    <a:pt x="2019300" y="476250"/>
                    <a:pt x="2495550" y="247650"/>
                  </a:cubicBezTo>
                </a:path>
              </a:pathLst>
            </a:custGeom>
            <a:noFill/>
            <a:ln w="38100" cap="rnd">
              <a:solidFill>
                <a:srgbClr val="2563EB"/>
              </a:solidFill>
            </a:ln>
          </p:spPr>
        </p:sp>
        <p:sp>
          <p:nvSpPr>
            <p:cNvPr id="51" name="TextBox 51"/>
            <p:cNvSpPr txBox="1"/>
            <p:nvPr/>
          </p:nvSpPr>
          <p:spPr>
            <a:xfrm>
              <a:off x="8574405" y="4921568"/>
              <a:ext cx="1385809"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Rule of thumb:</a:t>
              </a:r>
            </a:p>
          </p:txBody>
        </p:sp>
        <p:sp>
          <p:nvSpPr>
            <p:cNvPr id="52" name="TextBox 52"/>
            <p:cNvSpPr txBox="1"/>
            <p:nvPr/>
          </p:nvSpPr>
          <p:spPr>
            <a:xfrm>
              <a:off x="8575358" y="5215414"/>
              <a:ext cx="2922746"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a:ea typeface="Microsoft YaHei"/>
                  <a:cs typeface="Arial"/>
                </a:rPr>
                <a:t>Looping over `.items()` is common</a:t>
              </a:r>
            </a:p>
          </p:txBody>
        </p:sp>
        <p:sp>
          <p:nvSpPr>
            <p:cNvPr id="53" name="TextBox 53"/>
            <p:cNvSpPr txBox="1"/>
            <p:nvPr/>
          </p:nvSpPr>
          <p:spPr>
            <a:xfrm>
              <a:off x="8575358" y="5482114"/>
              <a:ext cx="2395680"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a:ea typeface="Microsoft YaHei"/>
                  <a:cs typeface="Arial"/>
                </a:rPr>
                <a:t>because it gives both parts.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400"/>
                                        <p:tgtEl>
                                          <p:spTgt spid="29"/>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slide(fromBottom)">
                                      <p:cBhvr>
                                        <p:cTn id="19" dur="400"/>
                                        <p:tgtEl>
                                          <p:spTgt spid="36"/>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image">
                                      <p:cBhvr>
                                        <p:cTn id="23" dur="400"/>
                                        <p:tgtEl>
                                          <p:spTgt spid="43"/>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29" grpId="0"/>
      <p:bldP spid="36" grpId="0"/>
      <p:bldP spid="43"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982289"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CONDITIONALS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07 / 12</a:t>
              </a:r>
            </a:p>
          </p:txBody>
        </p:sp>
      </p:grpSp>
      <p:grpSp>
        <p:nvGrpSpPr>
          <p:cNvPr id="8" name="Group 8"/>
          <p:cNvGrpSpPr/>
          <p:nvPr/>
        </p:nvGrpSpPr>
        <p:grpSpPr>
          <a:xfrm>
            <a:off x="478155" y="759142"/>
            <a:ext cx="10128447" cy="760096"/>
            <a:chOff x="478155" y="759142"/>
            <a:chExt cx="10128447" cy="760096"/>
          </a:xfrm>
        </p:grpSpPr>
        <p:sp>
          <p:nvSpPr>
            <p:cNvPr id="6" name="TextBox 6"/>
            <p:cNvSpPr txBox="1"/>
            <p:nvPr/>
          </p:nvSpPr>
          <p:spPr>
            <a:xfrm>
              <a:off x="478155" y="759142"/>
              <a:ext cx="10128447"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Dictionaries work naturally inside `if` statements.</a:t>
              </a:r>
            </a:p>
          </p:txBody>
        </p:sp>
        <p:sp>
          <p:nvSpPr>
            <p:cNvPr id="7" name="TextBox 7"/>
            <p:cNvSpPr txBox="1"/>
            <p:nvPr/>
          </p:nvSpPr>
          <p:spPr>
            <a:xfrm>
              <a:off x="497205" y="1244918"/>
              <a:ext cx="5939028"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Check whether a key, value, or full pair is present before you act.</a:t>
              </a:r>
            </a:p>
          </p:txBody>
        </p:sp>
      </p:grpSp>
      <p:grpSp>
        <p:nvGrpSpPr>
          <p:cNvPr id="19" name="Group 19"/>
          <p:cNvGrpSpPr/>
          <p:nvPr/>
        </p:nvGrpSpPr>
        <p:grpSpPr>
          <a:xfrm>
            <a:off x="514350" y="1809750"/>
            <a:ext cx="4210050" cy="3867150"/>
            <a:chOff x="514350" y="1809750"/>
            <a:chExt cx="4210050" cy="3867150"/>
          </a:xfrm>
        </p:grpSpPr>
        <p:sp>
          <p:nvSpPr>
            <p:cNvPr id="9" name="Rectangle 9"/>
            <p:cNvSpPr/>
            <p:nvPr/>
          </p:nvSpPr>
          <p:spPr>
            <a:xfrm>
              <a:off x="514350" y="1809750"/>
              <a:ext cx="4210050" cy="3867150"/>
            </a:xfrm>
            <a:prstGeom prst="roundRect">
              <a:avLst>
                <a:gd name="adj" fmla="val 5911"/>
              </a:avLst>
            </a:prstGeom>
            <a:solidFill>
              <a:srgbClr val="111827"/>
            </a:solidFill>
            <a:ln>
              <a:noFill/>
            </a:ln>
          </p:spPr>
        </p:sp>
        <p:sp>
          <p:nvSpPr>
            <p:cNvPr id="10" name="TextBox 10"/>
            <p:cNvSpPr txBox="1"/>
            <p:nvPr/>
          </p:nvSpPr>
          <p:spPr>
            <a:xfrm>
              <a:off x="803910" y="2108835"/>
              <a:ext cx="1559471"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Example dictionary</a:t>
              </a:r>
            </a:p>
          </p:txBody>
        </p:sp>
        <p:sp>
          <p:nvSpPr>
            <p:cNvPr id="11" name="TextBox 11"/>
            <p:cNvSpPr txBox="1"/>
            <p:nvPr/>
          </p:nvSpPr>
          <p:spPr>
            <a:xfrm>
              <a:off x="802005" y="2559368"/>
              <a:ext cx="925401"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movies = {</a:t>
              </a:r>
            </a:p>
          </p:txBody>
        </p:sp>
        <p:sp>
          <p:nvSpPr>
            <p:cNvPr id="12" name="TextBox 12"/>
            <p:cNvSpPr txBox="1"/>
            <p:nvPr/>
          </p:nvSpPr>
          <p:spPr>
            <a:xfrm>
              <a:off x="1030605" y="2921318"/>
              <a:ext cx="1933527"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"Interstellar": 2014,</a:t>
              </a:r>
            </a:p>
          </p:txBody>
        </p:sp>
        <p:sp>
          <p:nvSpPr>
            <p:cNvPr id="13" name="TextBox 13"/>
            <p:cNvSpPr txBox="1"/>
            <p:nvPr/>
          </p:nvSpPr>
          <p:spPr>
            <a:xfrm>
              <a:off x="1030605" y="3283268"/>
              <a:ext cx="2122551"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"The godfather": 1972,</a:t>
              </a:r>
            </a:p>
          </p:txBody>
        </p:sp>
        <p:sp>
          <p:nvSpPr>
            <p:cNvPr id="14" name="TextBox 14"/>
            <p:cNvSpPr txBox="1"/>
            <p:nvPr/>
          </p:nvSpPr>
          <p:spPr>
            <a:xfrm>
              <a:off x="1030605" y="3645218"/>
              <a:ext cx="979408"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"Up": 2009</a:t>
              </a:r>
            </a:p>
          </p:txBody>
        </p:sp>
        <p:sp>
          <p:nvSpPr>
            <p:cNvPr id="15" name="TextBox 15"/>
            <p:cNvSpPr txBox="1"/>
            <p:nvPr/>
          </p:nvSpPr>
          <p:spPr>
            <a:xfrm>
              <a:off x="802005" y="4007168"/>
              <a:ext cx="133302"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a:t>
              </a:r>
            </a:p>
          </p:txBody>
        </p:sp>
        <p:sp>
          <p:nvSpPr>
            <p:cNvPr id="16" name="Freeform 16"/>
            <p:cNvSpPr/>
            <p:nvPr/>
          </p:nvSpPr>
          <p:spPr>
            <a:xfrm>
              <a:off x="838200" y="4476750"/>
              <a:ext cx="3162300" cy="361950"/>
            </a:xfrm>
            <a:custGeom>
              <a:avLst/>
              <a:gdLst/>
              <a:ahLst/>
              <a:cxnLst/>
              <a:rect l="l" t="t" r="r" b="b"/>
              <a:pathLst>
                <a:path w="3162300" h="361950">
                  <a:moveTo>
                    <a:pt x="0" y="171450"/>
                  </a:moveTo>
                  <a:cubicBezTo>
                    <a:pt x="400050" y="0"/>
                    <a:pt x="1047750" y="0"/>
                    <a:pt x="1504950" y="171450"/>
                  </a:cubicBezTo>
                  <a:cubicBezTo>
                    <a:pt x="1943100" y="342900"/>
                    <a:pt x="2495550" y="361950"/>
                    <a:pt x="3162300" y="152400"/>
                  </a:cubicBezTo>
                </a:path>
              </a:pathLst>
            </a:custGeom>
            <a:noFill/>
            <a:ln w="38100" cap="rnd">
              <a:solidFill>
                <a:srgbClr val="F97316"/>
              </a:solidFill>
            </a:ln>
          </p:spPr>
        </p:sp>
        <p:sp>
          <p:nvSpPr>
            <p:cNvPr id="17" name="TextBox 17"/>
            <p:cNvSpPr txBox="1"/>
            <p:nvPr/>
          </p:nvSpPr>
          <p:spPr>
            <a:xfrm>
              <a:off x="802958" y="5005864"/>
              <a:ext cx="3645337"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Use `.items()`, `.keys()`, or `.values()`</a:t>
              </a:r>
            </a:p>
          </p:txBody>
        </p:sp>
        <p:sp>
          <p:nvSpPr>
            <p:cNvPr id="18" name="TextBox 18"/>
            <p:cNvSpPr txBox="1"/>
            <p:nvPr/>
          </p:nvSpPr>
          <p:spPr>
            <a:xfrm>
              <a:off x="802958" y="5291614"/>
              <a:ext cx="2531697"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to choose the exact question.</a:t>
              </a:r>
            </a:p>
          </p:txBody>
        </p:sp>
      </p:grpSp>
      <p:grpSp>
        <p:nvGrpSpPr>
          <p:cNvPr id="26" name="Group 26"/>
          <p:cNvGrpSpPr/>
          <p:nvPr/>
        </p:nvGrpSpPr>
        <p:grpSpPr>
          <a:xfrm>
            <a:off x="5143500" y="1847850"/>
            <a:ext cx="3028950" cy="1428750"/>
            <a:chOff x="5143500" y="1847850"/>
            <a:chExt cx="3028950" cy="1428750"/>
          </a:xfrm>
        </p:grpSpPr>
        <p:sp>
          <p:nvSpPr>
            <p:cNvPr id="20" name="Rectangle 20"/>
            <p:cNvSpPr/>
            <p:nvPr/>
          </p:nvSpPr>
          <p:spPr>
            <a:xfrm>
              <a:off x="5143500" y="1847850"/>
              <a:ext cx="3028950" cy="1428750"/>
            </a:xfrm>
            <a:prstGeom prst="roundRect">
              <a:avLst>
                <a:gd name="adj" fmla="val 14667"/>
              </a:avLst>
            </a:prstGeom>
            <a:solidFill>
              <a:srgbClr val="FFFFFF"/>
            </a:solidFill>
            <a:ln w="19050">
              <a:solidFill>
                <a:srgbClr val="CBD5E1"/>
              </a:solidFill>
            </a:ln>
          </p:spPr>
        </p:sp>
        <p:sp>
          <p:nvSpPr>
            <p:cNvPr id="21" name="TextBox 21"/>
            <p:cNvSpPr txBox="1"/>
            <p:nvPr/>
          </p:nvSpPr>
          <p:spPr>
            <a:xfrm>
              <a:off x="5446395" y="2050732"/>
              <a:ext cx="1855487"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Check a full pair</a:t>
              </a:r>
            </a:p>
          </p:txBody>
        </p:sp>
        <p:sp>
          <p:nvSpPr>
            <p:cNvPr id="22" name="TextBox 22"/>
            <p:cNvSpPr txBox="1"/>
            <p:nvPr/>
          </p:nvSpPr>
          <p:spPr>
            <a:xfrm>
              <a:off x="5453062" y="2507456"/>
              <a:ext cx="1693783"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("Interstellar", 2014)</a:t>
              </a:r>
            </a:p>
          </p:txBody>
        </p:sp>
        <p:sp>
          <p:nvSpPr>
            <p:cNvPr id="23" name="TextBox 23"/>
            <p:cNvSpPr txBox="1"/>
            <p:nvPr/>
          </p:nvSpPr>
          <p:spPr>
            <a:xfrm>
              <a:off x="5453062" y="2774156"/>
              <a:ext cx="1341239"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in movies.items()</a:t>
              </a:r>
            </a:p>
          </p:txBody>
        </p:sp>
        <p:sp>
          <p:nvSpPr>
            <p:cNvPr id="24" name="Ellipse 24"/>
            <p:cNvSpPr/>
            <p:nvPr/>
          </p:nvSpPr>
          <p:spPr>
            <a:xfrm>
              <a:off x="7515225" y="2543175"/>
              <a:ext cx="457200" cy="457200"/>
            </a:xfrm>
            <a:prstGeom prst="ellipse">
              <a:avLst/>
            </a:prstGeom>
            <a:solidFill>
              <a:srgbClr val="16A34A"/>
            </a:solidFill>
            <a:ln>
              <a:noFill/>
            </a:ln>
          </p:spPr>
        </p:sp>
        <p:sp>
          <p:nvSpPr>
            <p:cNvPr id="25" name="TextBox 25"/>
            <p:cNvSpPr txBox="1"/>
            <p:nvPr/>
          </p:nvSpPr>
          <p:spPr>
            <a:xfrm>
              <a:off x="7556266" y="2726531"/>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True</a:t>
              </a:r>
            </a:p>
          </p:txBody>
        </p:sp>
      </p:grpSp>
      <p:grpSp>
        <p:nvGrpSpPr>
          <p:cNvPr id="33" name="Group 33"/>
          <p:cNvGrpSpPr/>
          <p:nvPr/>
        </p:nvGrpSpPr>
        <p:grpSpPr>
          <a:xfrm>
            <a:off x="8572500" y="1847850"/>
            <a:ext cx="3028950" cy="1428750"/>
            <a:chOff x="8572500" y="1847850"/>
            <a:chExt cx="3028950" cy="1428750"/>
          </a:xfrm>
        </p:grpSpPr>
        <p:sp>
          <p:nvSpPr>
            <p:cNvPr id="27" name="Rectangle 27"/>
            <p:cNvSpPr/>
            <p:nvPr/>
          </p:nvSpPr>
          <p:spPr>
            <a:xfrm>
              <a:off x="8572500" y="1847850"/>
              <a:ext cx="3028950" cy="1428750"/>
            </a:xfrm>
            <a:prstGeom prst="roundRect">
              <a:avLst>
                <a:gd name="adj" fmla="val 14667"/>
              </a:avLst>
            </a:prstGeom>
            <a:solidFill>
              <a:srgbClr val="FFFFFF"/>
            </a:solidFill>
            <a:ln w="19050">
              <a:solidFill>
                <a:srgbClr val="CBD5E1"/>
              </a:solidFill>
            </a:ln>
          </p:spPr>
        </p:sp>
        <p:sp>
          <p:nvSpPr>
            <p:cNvPr id="28" name="TextBox 28"/>
            <p:cNvSpPr txBox="1"/>
            <p:nvPr/>
          </p:nvSpPr>
          <p:spPr>
            <a:xfrm>
              <a:off x="8875395" y="2050732"/>
              <a:ext cx="1324120"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Check a key</a:t>
              </a:r>
            </a:p>
          </p:txBody>
        </p:sp>
        <p:sp>
          <p:nvSpPr>
            <p:cNvPr id="29" name="TextBox 29"/>
            <p:cNvSpPr txBox="1"/>
            <p:nvPr/>
          </p:nvSpPr>
          <p:spPr>
            <a:xfrm>
              <a:off x="8882062" y="2545556"/>
              <a:ext cx="1071205"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"Interstellar"</a:t>
              </a:r>
            </a:p>
          </p:txBody>
        </p:sp>
        <p:sp>
          <p:nvSpPr>
            <p:cNvPr id="30" name="TextBox 30"/>
            <p:cNvSpPr txBox="1"/>
            <p:nvPr/>
          </p:nvSpPr>
          <p:spPr>
            <a:xfrm>
              <a:off x="8882062" y="2812256"/>
              <a:ext cx="1266230"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in movies.keys()</a:t>
              </a:r>
            </a:p>
          </p:txBody>
        </p:sp>
        <p:sp>
          <p:nvSpPr>
            <p:cNvPr id="31" name="Ellipse 31"/>
            <p:cNvSpPr/>
            <p:nvPr/>
          </p:nvSpPr>
          <p:spPr>
            <a:xfrm>
              <a:off x="10944225" y="2543175"/>
              <a:ext cx="457200" cy="457200"/>
            </a:xfrm>
            <a:prstGeom prst="ellipse">
              <a:avLst/>
            </a:prstGeom>
            <a:solidFill>
              <a:srgbClr val="16A34A"/>
            </a:solidFill>
            <a:ln>
              <a:noFill/>
            </a:ln>
          </p:spPr>
        </p:sp>
        <p:sp>
          <p:nvSpPr>
            <p:cNvPr id="32" name="TextBox 32"/>
            <p:cNvSpPr txBox="1"/>
            <p:nvPr/>
          </p:nvSpPr>
          <p:spPr>
            <a:xfrm>
              <a:off x="10985266" y="2726531"/>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True</a:t>
              </a:r>
            </a:p>
          </p:txBody>
        </p:sp>
      </p:grpSp>
      <p:grpSp>
        <p:nvGrpSpPr>
          <p:cNvPr id="39" name="Group 39"/>
          <p:cNvGrpSpPr/>
          <p:nvPr/>
        </p:nvGrpSpPr>
        <p:grpSpPr>
          <a:xfrm>
            <a:off x="5143500" y="3657600"/>
            <a:ext cx="3028950" cy="1428750"/>
            <a:chOff x="5143500" y="3657600"/>
            <a:chExt cx="3028950" cy="1428750"/>
          </a:xfrm>
        </p:grpSpPr>
        <p:sp>
          <p:nvSpPr>
            <p:cNvPr id="34" name="Rectangle 34"/>
            <p:cNvSpPr/>
            <p:nvPr/>
          </p:nvSpPr>
          <p:spPr>
            <a:xfrm>
              <a:off x="5143500" y="3657600"/>
              <a:ext cx="3028950" cy="1428750"/>
            </a:xfrm>
            <a:prstGeom prst="roundRect">
              <a:avLst>
                <a:gd name="adj" fmla="val 14667"/>
              </a:avLst>
            </a:prstGeom>
            <a:solidFill>
              <a:srgbClr val="FFFFFF"/>
            </a:solidFill>
            <a:ln w="19050">
              <a:solidFill>
                <a:srgbClr val="CBD5E1"/>
              </a:solidFill>
            </a:ln>
          </p:spPr>
        </p:sp>
        <p:sp>
          <p:nvSpPr>
            <p:cNvPr id="35" name="TextBox 35"/>
            <p:cNvSpPr txBox="1"/>
            <p:nvPr/>
          </p:nvSpPr>
          <p:spPr>
            <a:xfrm>
              <a:off x="5446395" y="3860482"/>
              <a:ext cx="1520495"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Check a value</a:t>
              </a:r>
            </a:p>
          </p:txBody>
        </p:sp>
        <p:sp>
          <p:nvSpPr>
            <p:cNvPr id="36" name="TextBox 36"/>
            <p:cNvSpPr txBox="1"/>
            <p:nvPr/>
          </p:nvSpPr>
          <p:spPr>
            <a:xfrm>
              <a:off x="5453062" y="4393406"/>
              <a:ext cx="1768793"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2014 in movies.values()</a:t>
              </a:r>
            </a:p>
          </p:txBody>
        </p:sp>
        <p:sp>
          <p:nvSpPr>
            <p:cNvPr id="37" name="Ellipse 37"/>
            <p:cNvSpPr/>
            <p:nvPr/>
          </p:nvSpPr>
          <p:spPr>
            <a:xfrm>
              <a:off x="7515225" y="4362450"/>
              <a:ext cx="457200" cy="457200"/>
            </a:xfrm>
            <a:prstGeom prst="ellipse">
              <a:avLst/>
            </a:prstGeom>
            <a:solidFill>
              <a:srgbClr val="16A34A"/>
            </a:solidFill>
            <a:ln>
              <a:noFill/>
            </a:ln>
          </p:spPr>
        </p:sp>
        <p:sp>
          <p:nvSpPr>
            <p:cNvPr id="38" name="TextBox 38"/>
            <p:cNvSpPr txBox="1"/>
            <p:nvPr/>
          </p:nvSpPr>
          <p:spPr>
            <a:xfrm>
              <a:off x="7556266" y="4545806"/>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True</a:t>
              </a:r>
            </a:p>
          </p:txBody>
        </p:sp>
      </p:grpSp>
      <p:grpSp>
        <p:nvGrpSpPr>
          <p:cNvPr id="46" name="Group 46"/>
          <p:cNvGrpSpPr/>
          <p:nvPr/>
        </p:nvGrpSpPr>
        <p:grpSpPr>
          <a:xfrm>
            <a:off x="8572500" y="3657600"/>
            <a:ext cx="3028950" cy="1428750"/>
            <a:chOff x="8572500" y="3657600"/>
            <a:chExt cx="3028950" cy="1428750"/>
          </a:xfrm>
        </p:grpSpPr>
        <p:sp>
          <p:nvSpPr>
            <p:cNvPr id="40" name="Rectangle 40"/>
            <p:cNvSpPr/>
            <p:nvPr/>
          </p:nvSpPr>
          <p:spPr>
            <a:xfrm>
              <a:off x="8572500" y="3657600"/>
              <a:ext cx="3028950" cy="1428750"/>
            </a:xfrm>
            <a:prstGeom prst="roundRect">
              <a:avLst>
                <a:gd name="adj" fmla="val 14667"/>
              </a:avLst>
            </a:prstGeom>
            <a:solidFill>
              <a:srgbClr val="FFFFFF"/>
            </a:solidFill>
            <a:ln w="19050">
              <a:solidFill>
                <a:srgbClr val="CBD5E1"/>
              </a:solidFill>
            </a:ln>
          </p:spPr>
        </p:sp>
        <p:sp>
          <p:nvSpPr>
            <p:cNvPr id="41" name="TextBox 41"/>
            <p:cNvSpPr txBox="1"/>
            <p:nvPr/>
          </p:nvSpPr>
          <p:spPr>
            <a:xfrm>
              <a:off x="8875395" y="3860482"/>
              <a:ext cx="2456162"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Compare after lookup</a:t>
              </a:r>
            </a:p>
          </p:txBody>
        </p:sp>
        <p:sp>
          <p:nvSpPr>
            <p:cNvPr id="42" name="TextBox 42"/>
            <p:cNvSpPr txBox="1"/>
            <p:nvPr/>
          </p:nvSpPr>
          <p:spPr>
            <a:xfrm>
              <a:off x="8882062" y="4393406"/>
              <a:ext cx="1881307"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movies["The godfather"]</a:t>
              </a:r>
            </a:p>
          </p:txBody>
        </p:sp>
        <p:sp>
          <p:nvSpPr>
            <p:cNvPr id="43" name="TextBox 43"/>
            <p:cNvSpPr txBox="1"/>
            <p:nvPr/>
          </p:nvSpPr>
          <p:spPr>
            <a:xfrm>
              <a:off x="8882062" y="4660106"/>
              <a:ext cx="486132"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&lt; 2000</a:t>
              </a:r>
            </a:p>
          </p:txBody>
        </p:sp>
        <p:sp>
          <p:nvSpPr>
            <p:cNvPr id="44" name="Ellipse 44"/>
            <p:cNvSpPr/>
            <p:nvPr/>
          </p:nvSpPr>
          <p:spPr>
            <a:xfrm>
              <a:off x="10944225" y="4362450"/>
              <a:ext cx="457200" cy="457200"/>
            </a:xfrm>
            <a:prstGeom prst="ellipse">
              <a:avLst/>
            </a:prstGeom>
            <a:solidFill>
              <a:srgbClr val="16A34A"/>
            </a:solidFill>
            <a:ln>
              <a:noFill/>
            </a:ln>
          </p:spPr>
        </p:sp>
        <p:sp>
          <p:nvSpPr>
            <p:cNvPr id="45" name="TextBox 45"/>
            <p:cNvSpPr txBox="1"/>
            <p:nvPr/>
          </p:nvSpPr>
          <p:spPr>
            <a:xfrm>
              <a:off x="10985266" y="4545806"/>
              <a:ext cx="3751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True</a:t>
              </a:r>
            </a:p>
          </p:txBody>
        </p:sp>
      </p:grpSp>
      <p:grpSp>
        <p:nvGrpSpPr>
          <p:cNvPr id="50" name="Group 50"/>
          <p:cNvGrpSpPr/>
          <p:nvPr/>
        </p:nvGrpSpPr>
        <p:grpSpPr>
          <a:xfrm>
            <a:off x="5143500" y="5429250"/>
            <a:ext cx="6816471" cy="609600"/>
            <a:chOff x="5143500" y="5429250"/>
            <a:chExt cx="6816471" cy="609600"/>
          </a:xfrm>
        </p:grpSpPr>
        <p:sp>
          <p:nvSpPr>
            <p:cNvPr id="47" name="Rectangle 47"/>
            <p:cNvSpPr/>
            <p:nvPr/>
          </p:nvSpPr>
          <p:spPr>
            <a:xfrm>
              <a:off x="5143500" y="5429250"/>
              <a:ext cx="6457950" cy="609600"/>
            </a:xfrm>
            <a:prstGeom prst="roundRect">
              <a:avLst>
                <a:gd name="adj" fmla="val 28125"/>
              </a:avLst>
            </a:prstGeom>
            <a:solidFill>
              <a:srgbClr val="E2E8F0"/>
            </a:solidFill>
            <a:ln w="19050">
              <a:solidFill>
                <a:srgbClr val="CBD5E1"/>
              </a:solidFill>
            </a:ln>
          </p:spPr>
        </p:sp>
        <p:sp>
          <p:nvSpPr>
            <p:cNvPr id="48" name="TextBox 48"/>
            <p:cNvSpPr txBox="1"/>
            <p:nvPr/>
          </p:nvSpPr>
          <p:spPr>
            <a:xfrm>
              <a:off x="5450205" y="5664518"/>
              <a:ext cx="2113550"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Classroom checkpoint:</a:t>
              </a:r>
            </a:p>
          </p:txBody>
        </p:sp>
        <p:sp>
          <p:nvSpPr>
            <p:cNvPr id="49" name="TextBox 49"/>
            <p:cNvSpPr txBox="1"/>
            <p:nvPr/>
          </p:nvSpPr>
          <p:spPr>
            <a:xfrm>
              <a:off x="7317105" y="5664518"/>
              <a:ext cx="4642866"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Which method answers “is this movie title present?”</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image">
                                      <p:cBhvr>
                                        <p:cTn id="15" dur="400"/>
                                        <p:tgtEl>
                                          <p:spTgt spid="2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400"/>
                                        <p:tgtEl>
                                          <p:spTgt spid="3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slide(fromBottom)">
                                      <p:cBhvr>
                                        <p:cTn id="27"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9" grpId="0"/>
      <p:bldP spid="26" grpId="0"/>
      <p:bldP spid="33" grpId="0"/>
      <p:bldP spid="39"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61474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LOOPING</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08 / 12</a:t>
              </a:r>
            </a:p>
          </p:txBody>
        </p:sp>
      </p:grpSp>
      <p:grpSp>
        <p:nvGrpSpPr>
          <p:cNvPr id="8" name="Group 8"/>
          <p:cNvGrpSpPr/>
          <p:nvPr/>
        </p:nvGrpSpPr>
        <p:grpSpPr>
          <a:xfrm>
            <a:off x="478155" y="759142"/>
            <a:ext cx="10746974" cy="760096"/>
            <a:chOff x="478155" y="759142"/>
            <a:chExt cx="10746974" cy="760096"/>
          </a:xfrm>
        </p:grpSpPr>
        <p:sp>
          <p:nvSpPr>
            <p:cNvPr id="6" name="TextBox 6"/>
            <p:cNvSpPr txBox="1"/>
            <p:nvPr/>
          </p:nvSpPr>
          <p:spPr>
            <a:xfrm>
              <a:off x="478155" y="759142"/>
              <a:ext cx="10746974"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Loops let you visit dictionary data one piece at a time.</a:t>
              </a:r>
            </a:p>
          </p:txBody>
        </p:sp>
        <p:sp>
          <p:nvSpPr>
            <p:cNvPr id="7" name="TextBox 7"/>
            <p:cNvSpPr txBox="1"/>
            <p:nvPr/>
          </p:nvSpPr>
          <p:spPr>
            <a:xfrm>
              <a:off x="497205" y="1244918"/>
              <a:ext cx="6083046"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Choose the view method based on what each loop step needs to know.</a:t>
              </a:r>
            </a:p>
          </p:txBody>
        </p:sp>
      </p:grpSp>
      <p:grpSp>
        <p:nvGrpSpPr>
          <p:cNvPr id="18" name="Group 18"/>
          <p:cNvGrpSpPr/>
          <p:nvPr/>
        </p:nvGrpSpPr>
        <p:grpSpPr>
          <a:xfrm>
            <a:off x="514350" y="1809750"/>
            <a:ext cx="3352800" cy="3638550"/>
            <a:chOff x="514350" y="1809750"/>
            <a:chExt cx="3352800" cy="3638550"/>
          </a:xfrm>
        </p:grpSpPr>
        <p:sp>
          <p:nvSpPr>
            <p:cNvPr id="9" name="Rectangle 9"/>
            <p:cNvSpPr/>
            <p:nvPr/>
          </p:nvSpPr>
          <p:spPr>
            <a:xfrm>
              <a:off x="514350" y="1809750"/>
              <a:ext cx="3352800" cy="3638550"/>
            </a:xfrm>
            <a:prstGeom prst="roundRect">
              <a:avLst>
                <a:gd name="adj" fmla="val 6818"/>
              </a:avLst>
            </a:prstGeom>
            <a:solidFill>
              <a:srgbClr val="111827"/>
            </a:solidFill>
            <a:ln>
              <a:noFill/>
            </a:ln>
          </p:spPr>
        </p:sp>
        <p:sp>
          <p:nvSpPr>
            <p:cNvPr id="10" name="TextBox 10"/>
            <p:cNvSpPr txBox="1"/>
            <p:nvPr/>
          </p:nvSpPr>
          <p:spPr>
            <a:xfrm>
              <a:off x="803910" y="2118360"/>
              <a:ext cx="1794701"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Data we will loop over</a:t>
              </a:r>
            </a:p>
          </p:txBody>
        </p:sp>
        <p:sp>
          <p:nvSpPr>
            <p:cNvPr id="11" name="TextBox 11"/>
            <p:cNvSpPr txBox="1"/>
            <p:nvPr/>
          </p:nvSpPr>
          <p:spPr>
            <a:xfrm>
              <a:off x="802958" y="2586514"/>
              <a:ext cx="1120521"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zip_codes = {</a:t>
              </a:r>
            </a:p>
          </p:txBody>
        </p:sp>
        <p:sp>
          <p:nvSpPr>
            <p:cNvPr id="12" name="TextBox 12"/>
            <p:cNvSpPr txBox="1"/>
            <p:nvPr/>
          </p:nvSpPr>
          <p:spPr>
            <a:xfrm>
              <a:off x="1031558" y="2929414"/>
              <a:ext cx="1673090"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"Boston": "02108",</a:t>
              </a:r>
            </a:p>
          </p:txBody>
        </p:sp>
        <p:sp>
          <p:nvSpPr>
            <p:cNvPr id="13" name="TextBox 13"/>
            <p:cNvSpPr txBox="1"/>
            <p:nvPr/>
          </p:nvSpPr>
          <p:spPr>
            <a:xfrm>
              <a:off x="1031558" y="3272314"/>
              <a:ext cx="1724096"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"Chicago": "60601",</a:t>
              </a:r>
            </a:p>
          </p:txBody>
        </p:sp>
        <p:sp>
          <p:nvSpPr>
            <p:cNvPr id="14" name="TextBox 14"/>
            <p:cNvSpPr txBox="1"/>
            <p:nvPr/>
          </p:nvSpPr>
          <p:spPr>
            <a:xfrm>
              <a:off x="1031558" y="3615214"/>
              <a:ext cx="1537073"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"Austin": "73301"</a:t>
              </a:r>
            </a:p>
          </p:txBody>
        </p:sp>
        <p:sp>
          <p:nvSpPr>
            <p:cNvPr id="15" name="TextBox 15"/>
            <p:cNvSpPr txBox="1"/>
            <p:nvPr/>
          </p:nvSpPr>
          <p:spPr>
            <a:xfrm>
              <a:off x="802958" y="3958114"/>
              <a:ext cx="125897"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a:t>
              </a:r>
            </a:p>
          </p:txBody>
        </p:sp>
        <p:sp>
          <p:nvSpPr>
            <p:cNvPr id="16" name="TextBox 16"/>
            <p:cNvSpPr txBox="1"/>
            <p:nvPr/>
          </p:nvSpPr>
          <p:spPr>
            <a:xfrm>
              <a:off x="802958" y="4624864"/>
              <a:ext cx="2489192"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Each loop chooses a different</a:t>
              </a:r>
            </a:p>
          </p:txBody>
        </p:sp>
        <p:sp>
          <p:nvSpPr>
            <p:cNvPr id="17" name="TextBox 17"/>
            <p:cNvSpPr txBox="1"/>
            <p:nvPr/>
          </p:nvSpPr>
          <p:spPr>
            <a:xfrm>
              <a:off x="802958" y="4910614"/>
              <a:ext cx="2395680" cy="259080"/>
            </a:xfrm>
            <a:prstGeom prst="rect">
              <a:avLst/>
            </a:prstGeom>
            <a:noFill/>
            <a:ln>
              <a:noFill/>
            </a:ln>
          </p:spPr>
          <p:txBody>
            <a:bodyPr wrap="none" lIns="0" tIns="0" rIns="0" bIns="0" anchor="t" anchorCtr="0">
              <a:spAutoFit/>
            </a:bodyPr>
            <a:lstStyle/>
            <a:p>
              <a:pPr algn="l"/>
              <a:r>
                <a:rPr lang="zh-CN" sz="1275" dirty="0">
                  <a:solidFill>
                    <a:srgbClr val="CBD5E1"/>
                  </a:solidFill>
                  <a:latin typeface="Arial"/>
                  <a:ea typeface="Microsoft YaHei"/>
                  <a:cs typeface="Arial"/>
                </a:rPr>
                <a:t>part of each key-value pair.</a:t>
              </a:r>
            </a:p>
          </p:txBody>
        </p:sp>
      </p:grpSp>
      <p:grpSp>
        <p:nvGrpSpPr>
          <p:cNvPr id="25" name="Group 25"/>
          <p:cNvGrpSpPr/>
          <p:nvPr/>
        </p:nvGrpSpPr>
        <p:grpSpPr>
          <a:xfrm>
            <a:off x="4267200" y="1809750"/>
            <a:ext cx="3371850" cy="1600200"/>
            <a:chOff x="4267200" y="1809750"/>
            <a:chExt cx="3371850" cy="1600200"/>
          </a:xfrm>
        </p:grpSpPr>
        <p:sp>
          <p:nvSpPr>
            <p:cNvPr id="19" name="Rectangle 19"/>
            <p:cNvSpPr/>
            <p:nvPr/>
          </p:nvSpPr>
          <p:spPr>
            <a:xfrm>
              <a:off x="4267200" y="1809750"/>
              <a:ext cx="3371850" cy="1600200"/>
            </a:xfrm>
            <a:prstGeom prst="roundRect">
              <a:avLst>
                <a:gd name="adj" fmla="val 13095"/>
              </a:avLst>
            </a:prstGeom>
            <a:solidFill>
              <a:srgbClr val="FFFFFF"/>
            </a:solidFill>
            <a:ln w="19050">
              <a:solidFill>
                <a:srgbClr val="CBD5E1"/>
              </a:solidFill>
            </a:ln>
          </p:spPr>
        </p:sp>
        <p:sp>
          <p:nvSpPr>
            <p:cNvPr id="20" name="TextBox 20"/>
            <p:cNvSpPr txBox="1"/>
            <p:nvPr/>
          </p:nvSpPr>
          <p:spPr>
            <a:xfrm>
              <a:off x="4551045" y="2012632"/>
              <a:ext cx="2456162"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Loop over `.items()`</a:t>
              </a:r>
            </a:p>
          </p:txBody>
        </p:sp>
        <p:sp>
          <p:nvSpPr>
            <p:cNvPr id="21" name="Rectangle 21"/>
            <p:cNvSpPr/>
            <p:nvPr/>
          </p:nvSpPr>
          <p:spPr>
            <a:xfrm>
              <a:off x="4572000" y="2400300"/>
              <a:ext cx="2724150" cy="666750"/>
            </a:xfrm>
            <a:prstGeom prst="roundRect">
              <a:avLst>
                <a:gd name="adj" fmla="val 20000"/>
              </a:avLst>
            </a:prstGeom>
            <a:solidFill>
              <a:srgbClr val="111827"/>
            </a:solidFill>
            <a:ln>
              <a:noFill/>
            </a:ln>
          </p:spPr>
        </p:sp>
        <p:sp>
          <p:nvSpPr>
            <p:cNvPr id="22" name="TextBox 22"/>
            <p:cNvSpPr txBox="1"/>
            <p:nvPr/>
          </p:nvSpPr>
          <p:spPr>
            <a:xfrm>
              <a:off x="4749165" y="2572702"/>
              <a:ext cx="2546985"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for city, code in zip_codes.items():</a:t>
              </a:r>
            </a:p>
          </p:txBody>
        </p:sp>
        <p:sp>
          <p:nvSpPr>
            <p:cNvPr id="23" name="TextBox 23"/>
            <p:cNvSpPr txBox="1"/>
            <p:nvPr/>
          </p:nvSpPr>
          <p:spPr>
            <a:xfrm>
              <a:off x="4939665" y="2801302"/>
              <a:ext cx="1230821"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print(city, code)</a:t>
              </a:r>
            </a:p>
          </p:txBody>
        </p:sp>
        <p:sp>
          <p:nvSpPr>
            <p:cNvPr id="24" name="TextBox 24"/>
            <p:cNvSpPr txBox="1"/>
            <p:nvPr/>
          </p:nvSpPr>
          <p:spPr>
            <a:xfrm>
              <a:off x="4557712" y="3136106"/>
              <a:ext cx="3037201" cy="228600"/>
            </a:xfrm>
            <a:prstGeom prst="rect">
              <a:avLst/>
            </a:prstGeom>
            <a:noFill/>
            <a:ln>
              <a:noFill/>
            </a:ln>
          </p:spPr>
          <p:txBody>
            <a:bodyPr wrap="none" lIns="0" tIns="0" rIns="0" bIns="0" anchor="t" anchorCtr="0">
              <a:spAutoFit/>
            </a:bodyPr>
            <a:lstStyle/>
            <a:p>
              <a:pPr algn="l"/>
              <a:r>
                <a:rPr lang="zh-CN" sz="1125" b="1" dirty="0">
                  <a:solidFill>
                    <a:srgbClr val="F97316"/>
                  </a:solidFill>
                  <a:latin typeface="Arial"/>
                  <a:ea typeface="Microsoft YaHei"/>
                  <a:cs typeface="Arial"/>
                </a:rPr>
                <a:t>Best when you need both key and value.</a:t>
              </a:r>
            </a:p>
          </p:txBody>
        </p:sp>
      </p:grpSp>
      <p:grpSp>
        <p:nvGrpSpPr>
          <p:cNvPr id="32" name="Group 32"/>
          <p:cNvGrpSpPr/>
          <p:nvPr/>
        </p:nvGrpSpPr>
        <p:grpSpPr>
          <a:xfrm>
            <a:off x="4267200" y="3714750"/>
            <a:ext cx="3371850" cy="1600200"/>
            <a:chOff x="4267200" y="3714750"/>
            <a:chExt cx="3371850" cy="1600200"/>
          </a:xfrm>
        </p:grpSpPr>
        <p:sp>
          <p:nvSpPr>
            <p:cNvPr id="26" name="Rectangle 26"/>
            <p:cNvSpPr/>
            <p:nvPr/>
          </p:nvSpPr>
          <p:spPr>
            <a:xfrm>
              <a:off x="4267200" y="3714750"/>
              <a:ext cx="3371850" cy="1600200"/>
            </a:xfrm>
            <a:prstGeom prst="roundRect">
              <a:avLst>
                <a:gd name="adj" fmla="val 13095"/>
              </a:avLst>
            </a:prstGeom>
            <a:solidFill>
              <a:srgbClr val="FFFFFF"/>
            </a:solidFill>
            <a:ln w="19050">
              <a:solidFill>
                <a:srgbClr val="CBD5E1"/>
              </a:solidFill>
            </a:ln>
          </p:spPr>
        </p:sp>
        <p:sp>
          <p:nvSpPr>
            <p:cNvPr id="27" name="TextBox 27"/>
            <p:cNvSpPr txBox="1"/>
            <p:nvPr/>
          </p:nvSpPr>
          <p:spPr>
            <a:xfrm>
              <a:off x="4551045" y="3917632"/>
              <a:ext cx="2340647"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Loop over `.keys()`</a:t>
              </a:r>
            </a:p>
          </p:txBody>
        </p:sp>
        <p:sp>
          <p:nvSpPr>
            <p:cNvPr id="28" name="Rectangle 28"/>
            <p:cNvSpPr/>
            <p:nvPr/>
          </p:nvSpPr>
          <p:spPr>
            <a:xfrm>
              <a:off x="4572000" y="4305300"/>
              <a:ext cx="2724150" cy="666750"/>
            </a:xfrm>
            <a:prstGeom prst="roundRect">
              <a:avLst>
                <a:gd name="adj" fmla="val 20000"/>
              </a:avLst>
            </a:prstGeom>
            <a:solidFill>
              <a:srgbClr val="111827"/>
            </a:solidFill>
            <a:ln>
              <a:noFill/>
            </a:ln>
          </p:spPr>
        </p:sp>
        <p:sp>
          <p:nvSpPr>
            <p:cNvPr id="29" name="TextBox 29"/>
            <p:cNvSpPr txBox="1"/>
            <p:nvPr/>
          </p:nvSpPr>
          <p:spPr>
            <a:xfrm>
              <a:off x="4749165" y="4477702"/>
              <a:ext cx="2049923"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for city in zip_codes.keys():</a:t>
              </a:r>
            </a:p>
          </p:txBody>
        </p:sp>
        <p:sp>
          <p:nvSpPr>
            <p:cNvPr id="30" name="TextBox 30"/>
            <p:cNvSpPr txBox="1"/>
            <p:nvPr/>
          </p:nvSpPr>
          <p:spPr>
            <a:xfrm>
              <a:off x="4939665" y="4706302"/>
              <a:ext cx="803767"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print(city)</a:t>
              </a:r>
            </a:p>
          </p:txBody>
        </p:sp>
        <p:sp>
          <p:nvSpPr>
            <p:cNvPr id="31" name="TextBox 31"/>
            <p:cNvSpPr txBox="1"/>
            <p:nvPr/>
          </p:nvSpPr>
          <p:spPr>
            <a:xfrm>
              <a:off x="4557712" y="5041106"/>
              <a:ext cx="2556766" cy="228600"/>
            </a:xfrm>
            <a:prstGeom prst="rect">
              <a:avLst/>
            </a:prstGeom>
            <a:noFill/>
            <a:ln>
              <a:noFill/>
            </a:ln>
          </p:spPr>
          <p:txBody>
            <a:bodyPr wrap="none" lIns="0" tIns="0" rIns="0" bIns="0" anchor="t" anchorCtr="0">
              <a:spAutoFit/>
            </a:bodyPr>
            <a:lstStyle/>
            <a:p>
              <a:pPr algn="l"/>
              <a:r>
                <a:rPr lang="zh-CN" sz="1125" b="1" dirty="0">
                  <a:solidFill>
                    <a:srgbClr val="2563EB"/>
                  </a:solidFill>
                  <a:latin typeface="Arial"/>
                  <a:ea typeface="Microsoft YaHei"/>
                  <a:cs typeface="Arial"/>
                </a:rPr>
                <a:t>Best when the labels are enough.</a:t>
              </a:r>
            </a:p>
          </p:txBody>
        </p:sp>
      </p:grpSp>
      <p:grpSp>
        <p:nvGrpSpPr>
          <p:cNvPr id="39" name="Group 39"/>
          <p:cNvGrpSpPr/>
          <p:nvPr/>
        </p:nvGrpSpPr>
        <p:grpSpPr>
          <a:xfrm>
            <a:off x="8039100" y="1809750"/>
            <a:ext cx="3371850" cy="1600200"/>
            <a:chOff x="8039100" y="1809750"/>
            <a:chExt cx="3371850" cy="1600200"/>
          </a:xfrm>
        </p:grpSpPr>
        <p:sp>
          <p:nvSpPr>
            <p:cNvPr id="33" name="Rectangle 33"/>
            <p:cNvSpPr/>
            <p:nvPr/>
          </p:nvSpPr>
          <p:spPr>
            <a:xfrm>
              <a:off x="8039100" y="1809750"/>
              <a:ext cx="3371850" cy="1600200"/>
            </a:xfrm>
            <a:prstGeom prst="roundRect">
              <a:avLst>
                <a:gd name="adj" fmla="val 13095"/>
              </a:avLst>
            </a:prstGeom>
            <a:solidFill>
              <a:srgbClr val="FFFFFF"/>
            </a:solidFill>
            <a:ln w="19050">
              <a:solidFill>
                <a:srgbClr val="CBD5E1"/>
              </a:solidFill>
            </a:ln>
          </p:spPr>
        </p:sp>
        <p:sp>
          <p:nvSpPr>
            <p:cNvPr id="34" name="TextBox 34"/>
            <p:cNvSpPr txBox="1"/>
            <p:nvPr/>
          </p:nvSpPr>
          <p:spPr>
            <a:xfrm>
              <a:off x="8322945" y="2012632"/>
              <a:ext cx="2537022"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Loop over `.values()`</a:t>
              </a:r>
            </a:p>
          </p:txBody>
        </p:sp>
        <p:sp>
          <p:nvSpPr>
            <p:cNvPr id="35" name="Rectangle 35"/>
            <p:cNvSpPr/>
            <p:nvPr/>
          </p:nvSpPr>
          <p:spPr>
            <a:xfrm>
              <a:off x="8343900" y="2400300"/>
              <a:ext cx="2724150" cy="666750"/>
            </a:xfrm>
            <a:prstGeom prst="roundRect">
              <a:avLst>
                <a:gd name="adj" fmla="val 20000"/>
              </a:avLst>
            </a:prstGeom>
            <a:solidFill>
              <a:srgbClr val="111827"/>
            </a:solidFill>
            <a:ln>
              <a:noFill/>
            </a:ln>
          </p:spPr>
        </p:sp>
        <p:sp>
          <p:nvSpPr>
            <p:cNvPr id="36" name="TextBox 36"/>
            <p:cNvSpPr txBox="1"/>
            <p:nvPr/>
          </p:nvSpPr>
          <p:spPr>
            <a:xfrm>
              <a:off x="8521065" y="2572702"/>
              <a:ext cx="2203942"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for code in zip_codes.values():</a:t>
              </a:r>
            </a:p>
          </p:txBody>
        </p:sp>
        <p:sp>
          <p:nvSpPr>
            <p:cNvPr id="37" name="TextBox 37"/>
            <p:cNvSpPr txBox="1"/>
            <p:nvPr/>
          </p:nvSpPr>
          <p:spPr>
            <a:xfrm>
              <a:off x="8711565" y="2801302"/>
              <a:ext cx="838772" cy="213360"/>
            </a:xfrm>
            <a:prstGeom prst="rect">
              <a:avLst/>
            </a:prstGeom>
            <a:noFill/>
            <a:ln>
              <a:noFill/>
            </a:ln>
          </p:spPr>
          <p:txBody>
            <a:bodyPr wrap="none" lIns="0" tIns="0" rIns="0" bIns="0" anchor="t" anchorCtr="0">
              <a:spAutoFit/>
            </a:bodyPr>
            <a:lstStyle/>
            <a:p>
              <a:pPr algn="l"/>
              <a:r>
                <a:rPr lang="zh-CN" sz="1050" dirty="0">
                  <a:solidFill>
                    <a:srgbClr val="F9FAFB"/>
                  </a:solidFill>
                  <a:latin typeface="Consolas"/>
                  <a:ea typeface="Microsoft YaHei"/>
                  <a:cs typeface="Consolas"/>
                </a:rPr>
                <a:t>print(code)</a:t>
              </a:r>
            </a:p>
          </p:txBody>
        </p:sp>
        <p:sp>
          <p:nvSpPr>
            <p:cNvPr id="38" name="TextBox 38"/>
            <p:cNvSpPr txBox="1"/>
            <p:nvPr/>
          </p:nvSpPr>
          <p:spPr>
            <a:xfrm>
              <a:off x="8329612" y="3136106"/>
              <a:ext cx="2887557" cy="228600"/>
            </a:xfrm>
            <a:prstGeom prst="rect">
              <a:avLst/>
            </a:prstGeom>
            <a:noFill/>
            <a:ln>
              <a:noFill/>
            </a:ln>
          </p:spPr>
          <p:txBody>
            <a:bodyPr wrap="none" lIns="0" tIns="0" rIns="0" bIns="0" anchor="t" anchorCtr="0">
              <a:spAutoFit/>
            </a:bodyPr>
            <a:lstStyle/>
            <a:p>
              <a:pPr algn="l"/>
              <a:r>
                <a:rPr lang="zh-CN" sz="1125" b="1" dirty="0">
                  <a:solidFill>
                    <a:srgbClr val="16A34A"/>
                  </a:solidFill>
                  <a:latin typeface="Arial"/>
                  <a:ea typeface="Microsoft YaHei"/>
                  <a:cs typeface="Arial"/>
                </a:rPr>
                <a:t>Best when only stored data matters.</a:t>
              </a:r>
            </a:p>
          </p:txBody>
        </p:sp>
      </p:grpSp>
      <p:grpSp>
        <p:nvGrpSpPr>
          <p:cNvPr id="45" name="Group 45"/>
          <p:cNvGrpSpPr/>
          <p:nvPr/>
        </p:nvGrpSpPr>
        <p:grpSpPr>
          <a:xfrm>
            <a:off x="8039100" y="3714750"/>
            <a:ext cx="3371850" cy="1600200"/>
            <a:chOff x="8039100" y="3714750"/>
            <a:chExt cx="3371850" cy="1600200"/>
          </a:xfrm>
        </p:grpSpPr>
        <p:sp>
          <p:nvSpPr>
            <p:cNvPr id="40" name="Rectangle 40"/>
            <p:cNvSpPr/>
            <p:nvPr/>
          </p:nvSpPr>
          <p:spPr>
            <a:xfrm>
              <a:off x="8039100" y="3714750"/>
              <a:ext cx="3371850" cy="1600200"/>
            </a:xfrm>
            <a:prstGeom prst="roundRect">
              <a:avLst>
                <a:gd name="adj" fmla="val 13095"/>
              </a:avLst>
            </a:prstGeom>
            <a:solidFill>
              <a:srgbClr val="E2E8F0"/>
            </a:solidFill>
            <a:ln w="19050">
              <a:solidFill>
                <a:srgbClr val="CBD5E1"/>
              </a:solidFill>
            </a:ln>
          </p:spPr>
        </p:sp>
        <p:sp>
          <p:nvSpPr>
            <p:cNvPr id="41" name="TextBox 41"/>
            <p:cNvSpPr txBox="1"/>
            <p:nvPr/>
          </p:nvSpPr>
          <p:spPr>
            <a:xfrm>
              <a:off x="8322945" y="3917632"/>
              <a:ext cx="2594779"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Expected output shape</a:t>
              </a:r>
            </a:p>
          </p:txBody>
        </p:sp>
        <p:sp>
          <p:nvSpPr>
            <p:cNvPr id="42" name="TextBox 42"/>
            <p:cNvSpPr txBox="1"/>
            <p:nvPr/>
          </p:nvSpPr>
          <p:spPr>
            <a:xfrm>
              <a:off x="8327708" y="4377214"/>
              <a:ext cx="276122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`.items()` prints city and code.</a:t>
              </a:r>
            </a:p>
          </p:txBody>
        </p:sp>
        <p:sp>
          <p:nvSpPr>
            <p:cNvPr id="43" name="TextBox 43"/>
            <p:cNvSpPr txBox="1"/>
            <p:nvPr/>
          </p:nvSpPr>
          <p:spPr>
            <a:xfrm>
              <a:off x="8327708" y="4682014"/>
              <a:ext cx="2472190"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`.keys()` prints city names.</a:t>
              </a:r>
            </a:p>
          </p:txBody>
        </p:sp>
        <p:sp>
          <p:nvSpPr>
            <p:cNvPr id="44" name="TextBox 44"/>
            <p:cNvSpPr txBox="1"/>
            <p:nvPr/>
          </p:nvSpPr>
          <p:spPr>
            <a:xfrm>
              <a:off x="8327708" y="4986814"/>
              <a:ext cx="2489192"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`.values()` prints zip codes.</a:t>
              </a:r>
            </a:p>
          </p:txBody>
        </p:sp>
      </p:grpSp>
      <p:grpSp>
        <p:nvGrpSpPr>
          <p:cNvPr id="49" name="Group 49"/>
          <p:cNvGrpSpPr/>
          <p:nvPr/>
        </p:nvGrpSpPr>
        <p:grpSpPr>
          <a:xfrm>
            <a:off x="514350" y="5829300"/>
            <a:ext cx="10896600" cy="495300"/>
            <a:chOff x="514350" y="5829300"/>
            <a:chExt cx="10896600" cy="495300"/>
          </a:xfrm>
        </p:grpSpPr>
        <p:sp>
          <p:nvSpPr>
            <p:cNvPr id="46" name="Rectangle 46"/>
            <p:cNvSpPr/>
            <p:nvPr/>
          </p:nvSpPr>
          <p:spPr>
            <a:xfrm>
              <a:off x="514350" y="5829300"/>
              <a:ext cx="10896600" cy="495300"/>
            </a:xfrm>
            <a:prstGeom prst="roundRect">
              <a:avLst>
                <a:gd name="adj" fmla="val 30769"/>
              </a:avLst>
            </a:prstGeom>
            <a:solidFill>
              <a:srgbClr val="FFFFFF"/>
            </a:solidFill>
            <a:ln w="19050">
              <a:solidFill>
                <a:srgbClr val="CBD5E1"/>
              </a:solidFill>
            </a:ln>
          </p:spPr>
        </p:sp>
        <p:sp>
          <p:nvSpPr>
            <p:cNvPr id="47" name="TextBox 47"/>
            <p:cNvSpPr txBox="1"/>
            <p:nvPr/>
          </p:nvSpPr>
          <p:spPr>
            <a:xfrm>
              <a:off x="802005" y="6007418"/>
              <a:ext cx="969957"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Mini task:</a:t>
              </a:r>
            </a:p>
          </p:txBody>
        </p:sp>
        <p:sp>
          <p:nvSpPr>
            <p:cNvPr id="48" name="TextBox 48"/>
            <p:cNvSpPr txBox="1"/>
            <p:nvPr/>
          </p:nvSpPr>
          <p:spPr>
            <a:xfrm>
              <a:off x="1716405" y="6007418"/>
              <a:ext cx="7217188"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Write a loop that prints “Boston has zip code 02108”. Which method should it use?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00"/>
                                        <p:tgtEl>
                                          <p:spTgt spid="2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slide(fromBottom)">
                                      <p:cBhvr>
                                        <p:cTn id="19" dur="400"/>
                                        <p:tgtEl>
                                          <p:spTgt spid="32"/>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image">
                                      <p:cBhvr>
                                        <p:cTn id="23" dur="400"/>
                                        <p:tgtEl>
                                          <p:spTgt spid="39"/>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400"/>
                                        <p:tgtEl>
                                          <p:spTgt spid="45"/>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left)">
                                      <p:cBhvr>
                                        <p:cTn id="3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25" grpId="0"/>
      <p:bldP spid="32" grpId="0"/>
      <p:bldP spid="39" grpId="0"/>
      <p:bldP spid="45" grpId="0"/>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445397"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NESTED DICTIONARIES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09 / 12</a:t>
              </a:r>
            </a:p>
          </p:txBody>
        </p:sp>
      </p:grpSp>
      <p:grpSp>
        <p:nvGrpSpPr>
          <p:cNvPr id="8" name="Group 8"/>
          <p:cNvGrpSpPr/>
          <p:nvPr/>
        </p:nvGrpSpPr>
        <p:grpSpPr>
          <a:xfrm>
            <a:off x="478155" y="759142"/>
            <a:ext cx="11644836" cy="760096"/>
            <a:chOff x="478155" y="759142"/>
            <a:chExt cx="11644836" cy="760096"/>
          </a:xfrm>
        </p:grpSpPr>
        <p:sp>
          <p:nvSpPr>
            <p:cNvPr id="6" name="TextBox 6"/>
            <p:cNvSpPr txBox="1"/>
            <p:nvPr/>
          </p:nvSpPr>
          <p:spPr>
            <a:xfrm>
              <a:off x="478155" y="759142"/>
              <a:ext cx="11644836"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A nested dictionary stores dictionaries inside a dictionary.</a:t>
              </a:r>
            </a:p>
          </p:txBody>
        </p:sp>
        <p:sp>
          <p:nvSpPr>
            <p:cNvPr id="7" name="TextBox 7"/>
            <p:cNvSpPr txBox="1"/>
            <p:nvPr/>
          </p:nvSpPr>
          <p:spPr>
            <a:xfrm>
              <a:off x="497205" y="1244918"/>
              <a:ext cx="6128052"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The lookup path follows one key at a time: outer key, then inner key.</a:t>
              </a:r>
            </a:p>
          </p:txBody>
        </p:sp>
      </p:grpSp>
      <p:grpSp>
        <p:nvGrpSpPr>
          <p:cNvPr id="22" name="Group 22"/>
          <p:cNvGrpSpPr/>
          <p:nvPr/>
        </p:nvGrpSpPr>
        <p:grpSpPr>
          <a:xfrm>
            <a:off x="514350" y="1790700"/>
            <a:ext cx="4686300" cy="4324350"/>
            <a:chOff x="514350" y="1790700"/>
            <a:chExt cx="4686300" cy="4324350"/>
          </a:xfrm>
        </p:grpSpPr>
        <p:sp>
          <p:nvSpPr>
            <p:cNvPr id="9" name="Rectangle 9"/>
            <p:cNvSpPr/>
            <p:nvPr/>
          </p:nvSpPr>
          <p:spPr>
            <a:xfrm>
              <a:off x="514350" y="1790700"/>
              <a:ext cx="4686300" cy="4324350"/>
            </a:xfrm>
            <a:prstGeom prst="roundRect">
              <a:avLst>
                <a:gd name="adj" fmla="val 5286"/>
              </a:avLst>
            </a:prstGeom>
            <a:solidFill>
              <a:srgbClr val="111827"/>
            </a:solidFill>
            <a:ln>
              <a:noFill/>
            </a:ln>
          </p:spPr>
        </p:sp>
        <p:sp>
          <p:nvSpPr>
            <p:cNvPr id="10" name="TextBox 10"/>
            <p:cNvSpPr txBox="1"/>
            <p:nvPr/>
          </p:nvSpPr>
          <p:spPr>
            <a:xfrm>
              <a:off x="822960" y="2080260"/>
              <a:ext cx="1551070"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Example structure</a:t>
              </a:r>
            </a:p>
          </p:txBody>
        </p:sp>
        <p:sp>
          <p:nvSpPr>
            <p:cNvPr id="11" name="TextBox 11"/>
            <p:cNvSpPr txBox="1"/>
            <p:nvPr/>
          </p:nvSpPr>
          <p:spPr>
            <a:xfrm>
              <a:off x="822960" y="2518410"/>
              <a:ext cx="1830705"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company_org_chart = {</a:t>
              </a:r>
            </a:p>
          </p:txBody>
        </p:sp>
        <p:sp>
          <p:nvSpPr>
            <p:cNvPr id="12" name="TextBox 12"/>
            <p:cNvSpPr txBox="1"/>
            <p:nvPr/>
          </p:nvSpPr>
          <p:spPr>
            <a:xfrm>
              <a:off x="1051560" y="2842260"/>
              <a:ext cx="830580"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"Sales": {</a:t>
              </a:r>
            </a:p>
          </p:txBody>
        </p:sp>
        <p:sp>
          <p:nvSpPr>
            <p:cNvPr id="13" name="TextBox 13"/>
            <p:cNvSpPr txBox="1"/>
            <p:nvPr/>
          </p:nvSpPr>
          <p:spPr>
            <a:xfrm>
              <a:off x="1280160" y="3166110"/>
              <a:ext cx="1318641"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"ID122": "Lina",</a:t>
              </a:r>
            </a:p>
          </p:txBody>
        </p:sp>
        <p:sp>
          <p:nvSpPr>
            <p:cNvPr id="14" name="TextBox 14"/>
            <p:cNvSpPr txBox="1"/>
            <p:nvPr/>
          </p:nvSpPr>
          <p:spPr>
            <a:xfrm>
              <a:off x="1280160" y="3489960"/>
              <a:ext cx="1334643"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"ID143": "Omar"</a:t>
              </a:r>
            </a:p>
          </p:txBody>
        </p:sp>
        <p:sp>
          <p:nvSpPr>
            <p:cNvPr id="15" name="TextBox 15"/>
            <p:cNvSpPr txBox="1"/>
            <p:nvPr/>
          </p:nvSpPr>
          <p:spPr>
            <a:xfrm>
              <a:off x="1051560" y="3813810"/>
              <a:ext cx="206502"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a:t>
              </a:r>
            </a:p>
          </p:txBody>
        </p:sp>
        <p:sp>
          <p:nvSpPr>
            <p:cNvPr id="16" name="TextBox 16"/>
            <p:cNvSpPr txBox="1"/>
            <p:nvPr/>
          </p:nvSpPr>
          <p:spPr>
            <a:xfrm>
              <a:off x="1051560" y="4137660"/>
              <a:ext cx="1318641"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"Engineering": {</a:t>
              </a:r>
            </a:p>
          </p:txBody>
        </p:sp>
        <p:sp>
          <p:nvSpPr>
            <p:cNvPr id="17" name="TextBox 17"/>
            <p:cNvSpPr txBox="1"/>
            <p:nvPr/>
          </p:nvSpPr>
          <p:spPr>
            <a:xfrm>
              <a:off x="1280160" y="4461510"/>
              <a:ext cx="1302639"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"ID201": "Maya"</a:t>
              </a:r>
            </a:p>
          </p:txBody>
        </p:sp>
        <p:sp>
          <p:nvSpPr>
            <p:cNvPr id="18" name="TextBox 18"/>
            <p:cNvSpPr txBox="1"/>
            <p:nvPr/>
          </p:nvSpPr>
          <p:spPr>
            <a:xfrm>
              <a:off x="1051560" y="4785360"/>
              <a:ext cx="118491"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a:t>
              </a:r>
            </a:p>
          </p:txBody>
        </p:sp>
        <p:sp>
          <p:nvSpPr>
            <p:cNvPr id="19" name="TextBox 19"/>
            <p:cNvSpPr txBox="1"/>
            <p:nvPr/>
          </p:nvSpPr>
          <p:spPr>
            <a:xfrm>
              <a:off x="822960" y="5109210"/>
              <a:ext cx="118491"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a:t>
              </a:r>
            </a:p>
          </p:txBody>
        </p:sp>
        <p:sp>
          <p:nvSpPr>
            <p:cNvPr id="20" name="Rectangle 20"/>
            <p:cNvSpPr/>
            <p:nvPr/>
          </p:nvSpPr>
          <p:spPr>
            <a:xfrm>
              <a:off x="838200" y="5562600"/>
              <a:ext cx="3733800" cy="361950"/>
            </a:xfrm>
            <a:prstGeom prst="roundRect">
              <a:avLst>
                <a:gd name="adj" fmla="val 31579"/>
              </a:avLst>
            </a:prstGeom>
            <a:solidFill>
              <a:srgbClr val="E2E8F0"/>
            </a:solidFill>
            <a:ln>
              <a:noFill/>
            </a:ln>
          </p:spPr>
        </p:sp>
        <p:sp>
          <p:nvSpPr>
            <p:cNvPr id="21" name="TextBox 21"/>
            <p:cNvSpPr txBox="1"/>
            <p:nvPr/>
          </p:nvSpPr>
          <p:spPr>
            <a:xfrm>
              <a:off x="1014412" y="5679281"/>
              <a:ext cx="2871430" cy="228600"/>
            </a:xfrm>
            <a:prstGeom prst="rect">
              <a:avLst/>
            </a:prstGeom>
            <a:noFill/>
            <a:ln>
              <a:noFill/>
            </a:ln>
          </p:spPr>
          <p:txBody>
            <a:bodyPr wrap="none" lIns="0" tIns="0" rIns="0" bIns="0" anchor="t" anchorCtr="0">
              <a:spAutoFit/>
            </a:bodyPr>
            <a:lstStyle/>
            <a:p>
              <a:pPr algn="l"/>
              <a:r>
                <a:rPr lang="zh-CN" sz="1125" dirty="0">
                  <a:solidFill>
                    <a:srgbClr val="0F172A"/>
                  </a:solidFill>
                  <a:latin typeface="Consolas"/>
                  <a:ea typeface="Microsoft YaHei"/>
                  <a:cs typeface="Consolas"/>
                </a:rPr>
                <a:t>company_org_chart["Sales"]["ID122"]</a:t>
              </a:r>
            </a:p>
          </p:txBody>
        </p:sp>
      </p:grpSp>
      <p:grpSp>
        <p:nvGrpSpPr>
          <p:cNvPr id="36" name="Group 36"/>
          <p:cNvGrpSpPr/>
          <p:nvPr/>
        </p:nvGrpSpPr>
        <p:grpSpPr>
          <a:xfrm>
            <a:off x="5657850" y="1809750"/>
            <a:ext cx="5962650" cy="1790700"/>
            <a:chOff x="5657850" y="1809750"/>
            <a:chExt cx="5962650" cy="1790700"/>
          </a:xfrm>
        </p:grpSpPr>
        <p:sp>
          <p:nvSpPr>
            <p:cNvPr id="23" name="Rectangle 23"/>
            <p:cNvSpPr/>
            <p:nvPr/>
          </p:nvSpPr>
          <p:spPr>
            <a:xfrm>
              <a:off x="5657850" y="1809750"/>
              <a:ext cx="5676900" cy="1790700"/>
            </a:xfrm>
            <a:prstGeom prst="roundRect">
              <a:avLst>
                <a:gd name="adj" fmla="val 12766"/>
              </a:avLst>
            </a:prstGeom>
            <a:solidFill>
              <a:srgbClr val="FFFFFF"/>
            </a:solidFill>
            <a:ln w="19050">
              <a:solidFill>
                <a:srgbClr val="CBD5E1"/>
              </a:solidFill>
            </a:ln>
          </p:spPr>
        </p:sp>
        <p:sp>
          <p:nvSpPr>
            <p:cNvPr id="24" name="TextBox 24"/>
            <p:cNvSpPr txBox="1"/>
            <p:nvPr/>
          </p:nvSpPr>
          <p:spPr>
            <a:xfrm>
              <a:off x="5958840" y="2034540"/>
              <a:ext cx="1507503"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Lookup path</a:t>
              </a:r>
            </a:p>
          </p:txBody>
        </p:sp>
        <p:sp>
          <p:nvSpPr>
            <p:cNvPr id="25" name="Rectangle 25"/>
            <p:cNvSpPr/>
            <p:nvPr/>
          </p:nvSpPr>
          <p:spPr>
            <a:xfrm>
              <a:off x="6019800" y="2590800"/>
              <a:ext cx="1295400" cy="514350"/>
            </a:xfrm>
            <a:prstGeom prst="roundRect">
              <a:avLst>
                <a:gd name="adj" fmla="val 29630"/>
              </a:avLst>
            </a:prstGeom>
            <a:solidFill>
              <a:srgbClr val="E2E8F0"/>
            </a:solidFill>
            <a:ln w="19050">
              <a:solidFill>
                <a:srgbClr val="CBD5E1"/>
              </a:solidFill>
            </a:ln>
          </p:spPr>
        </p:sp>
        <p:sp>
          <p:nvSpPr>
            <p:cNvPr id="26" name="TextBox 26"/>
            <p:cNvSpPr txBox="1"/>
            <p:nvPr/>
          </p:nvSpPr>
          <p:spPr>
            <a:xfrm>
              <a:off x="6414075" y="2768918"/>
              <a:ext cx="506849" cy="274320"/>
            </a:xfrm>
            <a:prstGeom prst="rect">
              <a:avLst/>
            </a:prstGeom>
            <a:noFill/>
            <a:ln>
              <a:noFill/>
            </a:ln>
          </p:spPr>
          <p:txBody>
            <a:bodyPr wrap="none" lIns="0" tIns="0" rIns="0" bIns="0" anchor="t" anchorCtr="0">
              <a:spAutoFit/>
            </a:bodyPr>
            <a:lstStyle/>
            <a:p>
              <a:pPr algn="ctr"/>
              <a:r>
                <a:rPr lang="zh-CN" sz="1350" b="1" dirty="0">
                  <a:solidFill>
                    <a:srgbClr val="2563EB"/>
                  </a:solidFill>
                  <a:latin typeface="Consolas"/>
                  <a:ea typeface="Microsoft YaHei"/>
                  <a:cs typeface="Consolas"/>
                </a:rPr>
                <a:t>Sales</a:t>
              </a:r>
            </a:p>
          </p:txBody>
        </p:sp>
        <p:sp>
          <p:nvSpPr>
            <p:cNvPr id="27" name="Freeform 27"/>
            <p:cNvSpPr/>
            <p:nvPr/>
          </p:nvSpPr>
          <p:spPr>
            <a:xfrm>
              <a:off x="7467600" y="2705100"/>
              <a:ext cx="990600" cy="142875"/>
            </a:xfrm>
            <a:custGeom>
              <a:avLst/>
              <a:gdLst/>
              <a:ahLst/>
              <a:cxnLst/>
              <a:rect l="l" t="t" r="r" b="b"/>
              <a:pathLst>
                <a:path w="990600" h="142875">
                  <a:moveTo>
                    <a:pt x="0" y="142875"/>
                  </a:moveTo>
                  <a:cubicBezTo>
                    <a:pt x="342900" y="0"/>
                    <a:pt x="647700" y="0"/>
                    <a:pt x="990600" y="142875"/>
                  </a:cubicBezTo>
                </a:path>
              </a:pathLst>
            </a:custGeom>
            <a:noFill/>
            <a:ln w="28575" cap="rnd">
              <a:solidFill>
                <a:srgbClr val="64748B"/>
              </a:solidFill>
            </a:ln>
          </p:spPr>
        </p:sp>
        <p:sp>
          <p:nvSpPr>
            <p:cNvPr id="28" name="Polygon 28"/>
            <p:cNvSpPr/>
            <p:nvPr/>
          </p:nvSpPr>
          <p:spPr>
            <a:xfrm>
              <a:off x="8324850" y="2781300"/>
              <a:ext cx="133350" cy="142875"/>
            </a:xfrm>
            <a:custGeom>
              <a:avLst/>
              <a:gdLst/>
              <a:ahLst/>
              <a:cxnLst/>
              <a:rect l="l" t="t" r="r" b="b"/>
              <a:pathLst>
                <a:path w="133350" h="142875">
                  <a:moveTo>
                    <a:pt x="133350" y="66675"/>
                  </a:moveTo>
                  <a:lnTo>
                    <a:pt x="0" y="0"/>
                  </a:lnTo>
                  <a:lnTo>
                    <a:pt x="19050" y="142875"/>
                  </a:lnTo>
                  <a:close/>
                </a:path>
              </a:pathLst>
            </a:custGeom>
            <a:solidFill>
              <a:srgbClr val="64748B"/>
            </a:solidFill>
            <a:ln>
              <a:noFill/>
            </a:ln>
          </p:spPr>
        </p:sp>
        <p:sp>
          <p:nvSpPr>
            <p:cNvPr id="29" name="Rectangle 29"/>
            <p:cNvSpPr/>
            <p:nvPr/>
          </p:nvSpPr>
          <p:spPr>
            <a:xfrm>
              <a:off x="8610600" y="2590800"/>
              <a:ext cx="1295400" cy="514350"/>
            </a:xfrm>
            <a:prstGeom prst="roundRect">
              <a:avLst>
                <a:gd name="adj" fmla="val 29630"/>
              </a:avLst>
            </a:prstGeom>
            <a:solidFill>
              <a:srgbClr val="E2E8F0"/>
            </a:solidFill>
            <a:ln w="19050">
              <a:solidFill>
                <a:srgbClr val="CBD5E1"/>
              </a:solidFill>
            </a:ln>
          </p:spPr>
        </p:sp>
        <p:sp>
          <p:nvSpPr>
            <p:cNvPr id="30" name="TextBox 30"/>
            <p:cNvSpPr txBox="1"/>
            <p:nvPr/>
          </p:nvSpPr>
          <p:spPr>
            <a:xfrm>
              <a:off x="9004875" y="2768918"/>
              <a:ext cx="506849" cy="274320"/>
            </a:xfrm>
            <a:prstGeom prst="rect">
              <a:avLst/>
            </a:prstGeom>
            <a:noFill/>
            <a:ln>
              <a:noFill/>
            </a:ln>
          </p:spPr>
          <p:txBody>
            <a:bodyPr wrap="none" lIns="0" tIns="0" rIns="0" bIns="0" anchor="t" anchorCtr="0">
              <a:spAutoFit/>
            </a:bodyPr>
            <a:lstStyle/>
            <a:p>
              <a:pPr algn="ctr"/>
              <a:r>
                <a:rPr lang="zh-CN" sz="1350" b="1" dirty="0">
                  <a:solidFill>
                    <a:srgbClr val="16A34A"/>
                  </a:solidFill>
                  <a:latin typeface="Consolas"/>
                  <a:ea typeface="Microsoft YaHei"/>
                  <a:cs typeface="Consolas"/>
                </a:rPr>
                <a:t>ID122</a:t>
              </a:r>
            </a:p>
          </p:txBody>
        </p:sp>
        <p:sp>
          <p:nvSpPr>
            <p:cNvPr id="31" name="Freeform 31"/>
            <p:cNvSpPr/>
            <p:nvPr/>
          </p:nvSpPr>
          <p:spPr>
            <a:xfrm>
              <a:off x="10058400" y="2705100"/>
              <a:ext cx="762000" cy="142875"/>
            </a:xfrm>
            <a:custGeom>
              <a:avLst/>
              <a:gdLst/>
              <a:ahLst/>
              <a:cxnLst/>
              <a:rect l="l" t="t" r="r" b="b"/>
              <a:pathLst>
                <a:path w="762000" h="142875">
                  <a:moveTo>
                    <a:pt x="0" y="142875"/>
                  </a:moveTo>
                  <a:cubicBezTo>
                    <a:pt x="266700" y="0"/>
                    <a:pt x="495300" y="0"/>
                    <a:pt x="762000" y="142875"/>
                  </a:cubicBezTo>
                </a:path>
              </a:pathLst>
            </a:custGeom>
            <a:noFill/>
            <a:ln w="28575" cap="rnd">
              <a:solidFill>
                <a:srgbClr val="64748B"/>
              </a:solidFill>
            </a:ln>
          </p:spPr>
        </p:sp>
        <p:sp>
          <p:nvSpPr>
            <p:cNvPr id="32" name="Polygon 32"/>
            <p:cNvSpPr/>
            <p:nvPr/>
          </p:nvSpPr>
          <p:spPr>
            <a:xfrm>
              <a:off x="10687050" y="2781300"/>
              <a:ext cx="133350" cy="142875"/>
            </a:xfrm>
            <a:custGeom>
              <a:avLst/>
              <a:gdLst/>
              <a:ahLst/>
              <a:cxnLst/>
              <a:rect l="l" t="t" r="r" b="b"/>
              <a:pathLst>
                <a:path w="133350" h="142875">
                  <a:moveTo>
                    <a:pt x="133350" y="66675"/>
                  </a:moveTo>
                  <a:lnTo>
                    <a:pt x="0" y="0"/>
                  </a:lnTo>
                  <a:lnTo>
                    <a:pt x="19050" y="142875"/>
                  </a:lnTo>
                  <a:close/>
                </a:path>
              </a:pathLst>
            </a:custGeom>
            <a:solidFill>
              <a:srgbClr val="64748B"/>
            </a:solidFill>
            <a:ln>
              <a:noFill/>
            </a:ln>
          </p:spPr>
        </p:sp>
        <p:sp>
          <p:nvSpPr>
            <p:cNvPr id="33" name="Rectangle 33"/>
            <p:cNvSpPr/>
            <p:nvPr/>
          </p:nvSpPr>
          <p:spPr>
            <a:xfrm>
              <a:off x="10934700" y="2590800"/>
              <a:ext cx="685800" cy="514350"/>
            </a:xfrm>
            <a:prstGeom prst="roundRect">
              <a:avLst>
                <a:gd name="adj" fmla="val 29630"/>
              </a:avLst>
            </a:prstGeom>
            <a:solidFill>
              <a:srgbClr val="F97316"/>
            </a:solidFill>
            <a:ln>
              <a:noFill/>
            </a:ln>
          </p:spPr>
        </p:sp>
        <p:sp>
          <p:nvSpPr>
            <p:cNvPr id="34" name="TextBox 34"/>
            <p:cNvSpPr txBox="1"/>
            <p:nvPr/>
          </p:nvSpPr>
          <p:spPr>
            <a:xfrm>
              <a:off x="11076157" y="2768918"/>
              <a:ext cx="40288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Lina</a:t>
              </a:r>
            </a:p>
          </p:txBody>
        </p:sp>
        <p:sp>
          <p:nvSpPr>
            <p:cNvPr id="35" name="TextBox 35"/>
            <p:cNvSpPr txBox="1"/>
            <p:nvPr/>
          </p:nvSpPr>
          <p:spPr>
            <a:xfrm>
              <a:off x="5966460" y="3242310"/>
              <a:ext cx="406298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Each bracket narrows the search to the next level.</a:t>
              </a:r>
            </a:p>
          </p:txBody>
        </p:sp>
      </p:grpSp>
      <p:grpSp>
        <p:nvGrpSpPr>
          <p:cNvPr id="53" name="Group 53"/>
          <p:cNvGrpSpPr/>
          <p:nvPr/>
        </p:nvGrpSpPr>
        <p:grpSpPr>
          <a:xfrm>
            <a:off x="5657850" y="3905250"/>
            <a:ext cx="7013377" cy="2209800"/>
            <a:chOff x="5657850" y="3905250"/>
            <a:chExt cx="7013377" cy="2209800"/>
          </a:xfrm>
        </p:grpSpPr>
        <p:sp>
          <p:nvSpPr>
            <p:cNvPr id="37" name="Rectangle 37"/>
            <p:cNvSpPr/>
            <p:nvPr/>
          </p:nvSpPr>
          <p:spPr>
            <a:xfrm>
              <a:off x="5657850" y="3905250"/>
              <a:ext cx="5676900" cy="2209800"/>
            </a:xfrm>
            <a:prstGeom prst="roundRect">
              <a:avLst>
                <a:gd name="adj" fmla="val 10345"/>
              </a:avLst>
            </a:prstGeom>
            <a:solidFill>
              <a:srgbClr val="E2E8F0"/>
            </a:solidFill>
            <a:ln w="19050">
              <a:solidFill>
                <a:srgbClr val="CBD5E1"/>
              </a:solidFill>
            </a:ln>
          </p:spPr>
        </p:sp>
        <p:sp>
          <p:nvSpPr>
            <p:cNvPr id="38" name="TextBox 38"/>
            <p:cNvSpPr txBox="1"/>
            <p:nvPr/>
          </p:nvSpPr>
          <p:spPr>
            <a:xfrm>
              <a:off x="5958840" y="4130040"/>
              <a:ext cx="1620917"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Mental model</a:t>
              </a:r>
            </a:p>
          </p:txBody>
        </p:sp>
        <p:sp>
          <p:nvSpPr>
            <p:cNvPr id="39" name="Rectangle 39"/>
            <p:cNvSpPr/>
            <p:nvPr/>
          </p:nvSpPr>
          <p:spPr>
            <a:xfrm>
              <a:off x="6115050" y="4686300"/>
              <a:ext cx="1504950" cy="819150"/>
            </a:xfrm>
            <a:prstGeom prst="roundRect">
              <a:avLst>
                <a:gd name="adj" fmla="val 20930"/>
              </a:avLst>
            </a:prstGeom>
            <a:solidFill>
              <a:srgbClr val="FFFFFF"/>
            </a:solidFill>
            <a:ln w="19050">
              <a:solidFill>
                <a:srgbClr val="CBD5E1"/>
              </a:solidFill>
            </a:ln>
          </p:spPr>
        </p:sp>
        <p:sp>
          <p:nvSpPr>
            <p:cNvPr id="40" name="TextBox 40"/>
            <p:cNvSpPr txBox="1"/>
            <p:nvPr/>
          </p:nvSpPr>
          <p:spPr>
            <a:xfrm>
              <a:off x="6311663" y="4864418"/>
              <a:ext cx="1111725" cy="274320"/>
            </a:xfrm>
            <a:prstGeom prst="rect">
              <a:avLst/>
            </a:prstGeom>
            <a:noFill/>
            <a:ln>
              <a:noFill/>
            </a:ln>
          </p:spPr>
          <p:txBody>
            <a:bodyPr wrap="none" lIns="0" tIns="0" rIns="0" bIns="0" anchor="t" anchorCtr="0">
              <a:spAutoFit/>
            </a:bodyPr>
            <a:lstStyle/>
            <a:p>
              <a:pPr algn="ctr"/>
              <a:r>
                <a:rPr lang="zh-CN" sz="1350" b="1" dirty="0">
                  <a:solidFill>
                    <a:srgbClr val="2563EB"/>
                  </a:solidFill>
                  <a:latin typeface="Arial"/>
                  <a:ea typeface="Microsoft YaHei"/>
                  <a:cs typeface="Arial"/>
                </a:rPr>
                <a:t>Department</a:t>
              </a:r>
            </a:p>
          </p:txBody>
        </p:sp>
        <p:sp>
          <p:nvSpPr>
            <p:cNvPr id="41" name="TextBox 41"/>
            <p:cNvSpPr txBox="1"/>
            <p:nvPr/>
          </p:nvSpPr>
          <p:spPr>
            <a:xfrm>
              <a:off x="6500693" y="5155406"/>
              <a:ext cx="733663"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outer key</a:t>
              </a:r>
            </a:p>
          </p:txBody>
        </p:sp>
        <p:sp>
          <p:nvSpPr>
            <p:cNvPr id="42" name="Rectangle 42"/>
            <p:cNvSpPr/>
            <p:nvPr/>
          </p:nvSpPr>
          <p:spPr>
            <a:xfrm>
              <a:off x="8077200" y="4686300"/>
              <a:ext cx="1504950" cy="819150"/>
            </a:xfrm>
            <a:prstGeom prst="roundRect">
              <a:avLst>
                <a:gd name="adj" fmla="val 20930"/>
              </a:avLst>
            </a:prstGeom>
            <a:solidFill>
              <a:srgbClr val="FFFFFF"/>
            </a:solidFill>
            <a:ln w="19050">
              <a:solidFill>
                <a:srgbClr val="CBD5E1"/>
              </a:solidFill>
            </a:ln>
          </p:spPr>
        </p:sp>
        <p:sp>
          <p:nvSpPr>
            <p:cNvPr id="43" name="TextBox 43"/>
            <p:cNvSpPr txBox="1"/>
            <p:nvPr/>
          </p:nvSpPr>
          <p:spPr>
            <a:xfrm>
              <a:off x="8292715" y="4864418"/>
              <a:ext cx="1073920" cy="274320"/>
            </a:xfrm>
            <a:prstGeom prst="rect">
              <a:avLst/>
            </a:prstGeom>
            <a:noFill/>
            <a:ln>
              <a:noFill/>
            </a:ln>
          </p:spPr>
          <p:txBody>
            <a:bodyPr wrap="none" lIns="0" tIns="0" rIns="0" bIns="0" anchor="t" anchorCtr="0">
              <a:spAutoFit/>
            </a:bodyPr>
            <a:lstStyle/>
            <a:p>
              <a:pPr algn="ctr"/>
              <a:r>
                <a:rPr lang="zh-CN" sz="1350" b="1" dirty="0">
                  <a:solidFill>
                    <a:srgbClr val="16A34A"/>
                  </a:solidFill>
                  <a:latin typeface="Arial"/>
                  <a:ea typeface="Microsoft YaHei"/>
                  <a:cs typeface="Arial"/>
                </a:rPr>
                <a:t>Employee ID</a:t>
              </a:r>
            </a:p>
          </p:txBody>
        </p:sp>
        <p:sp>
          <p:nvSpPr>
            <p:cNvPr id="44" name="TextBox 44"/>
            <p:cNvSpPr txBox="1"/>
            <p:nvPr/>
          </p:nvSpPr>
          <p:spPr>
            <a:xfrm>
              <a:off x="8481596" y="5155406"/>
              <a:ext cx="696158"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inner key</a:t>
              </a:r>
            </a:p>
          </p:txBody>
        </p:sp>
        <p:sp>
          <p:nvSpPr>
            <p:cNvPr id="45" name="Rectangle 45"/>
            <p:cNvSpPr/>
            <p:nvPr/>
          </p:nvSpPr>
          <p:spPr>
            <a:xfrm>
              <a:off x="10039350" y="4686300"/>
              <a:ext cx="933450" cy="819150"/>
            </a:xfrm>
            <a:prstGeom prst="roundRect">
              <a:avLst>
                <a:gd name="adj" fmla="val 20930"/>
              </a:avLst>
            </a:prstGeom>
            <a:solidFill>
              <a:srgbClr val="FFFFFF"/>
            </a:solidFill>
            <a:ln w="19050">
              <a:solidFill>
                <a:srgbClr val="CBD5E1"/>
              </a:solidFill>
            </a:ln>
          </p:spPr>
        </p:sp>
        <p:sp>
          <p:nvSpPr>
            <p:cNvPr id="46" name="TextBox 46"/>
            <p:cNvSpPr txBox="1"/>
            <p:nvPr/>
          </p:nvSpPr>
          <p:spPr>
            <a:xfrm>
              <a:off x="10262102" y="4864418"/>
              <a:ext cx="487947" cy="274320"/>
            </a:xfrm>
            <a:prstGeom prst="rect">
              <a:avLst/>
            </a:prstGeom>
            <a:noFill/>
            <a:ln>
              <a:noFill/>
            </a:ln>
          </p:spPr>
          <p:txBody>
            <a:bodyPr wrap="none" lIns="0" tIns="0" rIns="0" bIns="0" anchor="t" anchorCtr="0">
              <a:spAutoFit/>
            </a:bodyPr>
            <a:lstStyle/>
            <a:p>
              <a:pPr algn="ctr"/>
              <a:r>
                <a:rPr lang="zh-CN" sz="1350" b="1" dirty="0">
                  <a:solidFill>
                    <a:srgbClr val="F97316"/>
                  </a:solidFill>
                  <a:latin typeface="Arial"/>
                  <a:ea typeface="Microsoft YaHei"/>
                  <a:cs typeface="Arial"/>
                </a:rPr>
                <a:t>Name</a:t>
              </a:r>
            </a:p>
          </p:txBody>
        </p:sp>
        <p:sp>
          <p:nvSpPr>
            <p:cNvPr id="47" name="TextBox 47"/>
            <p:cNvSpPr txBox="1"/>
            <p:nvPr/>
          </p:nvSpPr>
          <p:spPr>
            <a:xfrm>
              <a:off x="10304264" y="5155406"/>
              <a:ext cx="403622"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value</a:t>
              </a:r>
            </a:p>
          </p:txBody>
        </p:sp>
        <p:sp>
          <p:nvSpPr>
            <p:cNvPr id="48" name="Freeform 48"/>
            <p:cNvSpPr/>
            <p:nvPr/>
          </p:nvSpPr>
          <p:spPr>
            <a:xfrm>
              <a:off x="7658100" y="5095875"/>
              <a:ext cx="381000" cy="9525"/>
            </a:xfrm>
            <a:custGeom>
              <a:avLst/>
              <a:gdLst/>
              <a:ahLst/>
              <a:cxnLst/>
              <a:rect l="l" t="t" r="r" b="b"/>
              <a:pathLst>
                <a:path w="381000" h="9525">
                  <a:moveTo>
                    <a:pt x="0" y="0"/>
                  </a:moveTo>
                  <a:lnTo>
                    <a:pt x="381000" y="0"/>
                  </a:lnTo>
                </a:path>
              </a:pathLst>
            </a:custGeom>
            <a:solidFill>
              <a:srgbClr val="000000"/>
            </a:solidFill>
            <a:ln w="28575" cap="rnd">
              <a:solidFill>
                <a:srgbClr val="64748B"/>
              </a:solidFill>
            </a:ln>
          </p:spPr>
        </p:sp>
        <p:sp>
          <p:nvSpPr>
            <p:cNvPr id="49" name="Polygon 49"/>
            <p:cNvSpPr/>
            <p:nvPr/>
          </p:nvSpPr>
          <p:spPr>
            <a:xfrm>
              <a:off x="7905750" y="5029200"/>
              <a:ext cx="133350" cy="133350"/>
            </a:xfrm>
            <a:custGeom>
              <a:avLst/>
              <a:gdLst/>
              <a:ahLst/>
              <a:cxnLst/>
              <a:rect l="l" t="t" r="r" b="b"/>
              <a:pathLst>
                <a:path w="133350" h="133350">
                  <a:moveTo>
                    <a:pt x="133350" y="66675"/>
                  </a:moveTo>
                  <a:lnTo>
                    <a:pt x="0" y="0"/>
                  </a:lnTo>
                  <a:lnTo>
                    <a:pt x="0" y="133350"/>
                  </a:lnTo>
                  <a:close/>
                </a:path>
              </a:pathLst>
            </a:custGeom>
            <a:solidFill>
              <a:srgbClr val="64748B"/>
            </a:solidFill>
            <a:ln>
              <a:noFill/>
            </a:ln>
          </p:spPr>
        </p:sp>
        <p:sp>
          <p:nvSpPr>
            <p:cNvPr id="50" name="Freeform 50"/>
            <p:cNvSpPr/>
            <p:nvPr/>
          </p:nvSpPr>
          <p:spPr>
            <a:xfrm>
              <a:off x="9620250" y="5095875"/>
              <a:ext cx="381000" cy="9525"/>
            </a:xfrm>
            <a:custGeom>
              <a:avLst/>
              <a:gdLst/>
              <a:ahLst/>
              <a:cxnLst/>
              <a:rect l="l" t="t" r="r" b="b"/>
              <a:pathLst>
                <a:path w="381000" h="9525">
                  <a:moveTo>
                    <a:pt x="0" y="0"/>
                  </a:moveTo>
                  <a:lnTo>
                    <a:pt x="381000" y="0"/>
                  </a:lnTo>
                </a:path>
              </a:pathLst>
            </a:custGeom>
            <a:solidFill>
              <a:srgbClr val="000000"/>
            </a:solidFill>
            <a:ln w="28575" cap="rnd">
              <a:solidFill>
                <a:srgbClr val="64748B"/>
              </a:solidFill>
            </a:ln>
          </p:spPr>
        </p:sp>
        <p:sp>
          <p:nvSpPr>
            <p:cNvPr id="51" name="Polygon 51"/>
            <p:cNvSpPr/>
            <p:nvPr/>
          </p:nvSpPr>
          <p:spPr>
            <a:xfrm>
              <a:off x="9867900" y="5029200"/>
              <a:ext cx="133350" cy="133350"/>
            </a:xfrm>
            <a:custGeom>
              <a:avLst/>
              <a:gdLst/>
              <a:ahLst/>
              <a:cxnLst/>
              <a:rect l="l" t="t" r="r" b="b"/>
              <a:pathLst>
                <a:path w="133350" h="133350">
                  <a:moveTo>
                    <a:pt x="133350" y="66675"/>
                  </a:moveTo>
                  <a:lnTo>
                    <a:pt x="0" y="0"/>
                  </a:lnTo>
                  <a:lnTo>
                    <a:pt x="0" y="133350"/>
                  </a:lnTo>
                  <a:close/>
                </a:path>
              </a:pathLst>
            </a:custGeom>
            <a:solidFill>
              <a:srgbClr val="64748B"/>
            </a:solidFill>
            <a:ln>
              <a:noFill/>
            </a:ln>
          </p:spPr>
        </p:sp>
        <p:sp>
          <p:nvSpPr>
            <p:cNvPr id="52" name="TextBox 52"/>
            <p:cNvSpPr txBox="1"/>
            <p:nvPr/>
          </p:nvSpPr>
          <p:spPr>
            <a:xfrm>
              <a:off x="5965508" y="5767864"/>
              <a:ext cx="6705719"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a:ea typeface="Microsoft YaHei"/>
                  <a:cs typeface="Arial"/>
                </a:rPr>
                <a:t>Nested dictionaries are useful when each main item has its own small dictionary.</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image">
                                      <p:cBhvr>
                                        <p:cTn id="11" dur="400"/>
                                        <p:tgtEl>
                                          <p:spTgt spid="2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6"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937909"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DICTIONARY COMPREHENSION</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10 / 12</a:t>
              </a:r>
            </a:p>
          </p:txBody>
        </p:sp>
      </p:grpSp>
      <p:grpSp>
        <p:nvGrpSpPr>
          <p:cNvPr id="8" name="Group 8"/>
          <p:cNvGrpSpPr/>
          <p:nvPr/>
        </p:nvGrpSpPr>
        <p:grpSpPr>
          <a:xfrm>
            <a:off x="478155" y="759142"/>
            <a:ext cx="11325596" cy="760096"/>
            <a:chOff x="478155" y="759142"/>
            <a:chExt cx="11325596" cy="760096"/>
          </a:xfrm>
        </p:grpSpPr>
        <p:sp>
          <p:nvSpPr>
            <p:cNvPr id="6" name="TextBox 6"/>
            <p:cNvSpPr txBox="1"/>
            <p:nvPr/>
          </p:nvSpPr>
          <p:spPr>
            <a:xfrm>
              <a:off x="478155" y="759142"/>
              <a:ext cx="11325596"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A comprehension builds a new dictionary from an iterable.</a:t>
              </a:r>
            </a:p>
          </p:txBody>
        </p:sp>
        <p:sp>
          <p:nvSpPr>
            <p:cNvPr id="7" name="TextBox 7"/>
            <p:cNvSpPr txBox="1"/>
            <p:nvPr/>
          </p:nvSpPr>
          <p:spPr>
            <a:xfrm>
              <a:off x="497205" y="1244918"/>
              <a:ext cx="7478220"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It combines a key expression, a value expression, and a loop in one compact pattern.</a:t>
              </a:r>
            </a:p>
          </p:txBody>
        </p:sp>
      </p:grpSp>
      <p:grpSp>
        <p:nvGrpSpPr>
          <p:cNvPr id="15" name="Group 15"/>
          <p:cNvGrpSpPr/>
          <p:nvPr/>
        </p:nvGrpSpPr>
        <p:grpSpPr>
          <a:xfrm>
            <a:off x="514350" y="1809750"/>
            <a:ext cx="11106150" cy="1123950"/>
            <a:chOff x="514350" y="1809750"/>
            <a:chExt cx="11106150" cy="1123950"/>
          </a:xfrm>
        </p:grpSpPr>
        <p:sp>
          <p:nvSpPr>
            <p:cNvPr id="9" name="Rectangle 9"/>
            <p:cNvSpPr/>
            <p:nvPr/>
          </p:nvSpPr>
          <p:spPr>
            <a:xfrm>
              <a:off x="514350" y="1809750"/>
              <a:ext cx="11106150" cy="1123950"/>
            </a:xfrm>
            <a:prstGeom prst="roundRect">
              <a:avLst>
                <a:gd name="adj" fmla="val 20339"/>
              </a:avLst>
            </a:prstGeom>
            <a:solidFill>
              <a:srgbClr val="FFFFFF"/>
            </a:solidFill>
            <a:ln w="19050">
              <a:solidFill>
                <a:srgbClr val="CBD5E1"/>
              </a:solidFill>
            </a:ln>
          </p:spPr>
        </p:sp>
        <p:sp>
          <p:nvSpPr>
            <p:cNvPr id="10" name="TextBox 10"/>
            <p:cNvSpPr txBox="1"/>
            <p:nvPr/>
          </p:nvSpPr>
          <p:spPr>
            <a:xfrm>
              <a:off x="817245" y="2050732"/>
              <a:ext cx="1763075" cy="335280"/>
            </a:xfrm>
            <a:prstGeom prst="rect">
              <a:avLst/>
            </a:prstGeom>
            <a:noFill/>
            <a:ln>
              <a:noFill/>
            </a:ln>
          </p:spPr>
          <p:txBody>
            <a:bodyPr wrap="none" lIns="0" tIns="0" rIns="0" bIns="0" anchor="t" anchorCtr="0">
              <a:spAutoFit/>
            </a:bodyPr>
            <a:lstStyle/>
            <a:p>
              <a:pPr algn="l"/>
              <a:r>
                <a:rPr lang="zh-CN" sz="1650" b="1" dirty="0">
                  <a:solidFill>
                    <a:srgbClr val="0F172A"/>
                  </a:solidFill>
                  <a:latin typeface="Arial"/>
                  <a:ea typeface="Microsoft YaHei"/>
                  <a:cs typeface="Arial"/>
                </a:rPr>
                <a:t>Syntax pattern</a:t>
              </a:r>
            </a:p>
          </p:txBody>
        </p:sp>
        <p:sp>
          <p:nvSpPr>
            <p:cNvPr id="11" name="TextBox 11"/>
            <p:cNvSpPr txBox="1"/>
            <p:nvPr/>
          </p:nvSpPr>
          <p:spPr>
            <a:xfrm>
              <a:off x="817245" y="2507932"/>
              <a:ext cx="6444710" cy="335280"/>
            </a:xfrm>
            <a:prstGeom prst="rect">
              <a:avLst/>
            </a:prstGeom>
            <a:noFill/>
            <a:ln>
              <a:noFill/>
            </a:ln>
          </p:spPr>
          <p:txBody>
            <a:bodyPr wrap="none" lIns="0" tIns="0" rIns="0" bIns="0" anchor="t" anchorCtr="0">
              <a:spAutoFit/>
            </a:bodyPr>
            <a:lstStyle/>
            <a:p>
              <a:pPr algn="l"/>
              <a:r>
                <a:rPr lang="zh-CN" sz="1650" dirty="0">
                  <a:solidFill>
                    <a:srgbClr val="111827"/>
                  </a:solidFill>
                  <a:latin typeface="Consolas"/>
                  <a:ea typeface="Microsoft YaHei"/>
                  <a:cs typeface="Consolas"/>
                </a:rPr>
                <a:t>{key_expression: value_expression for element in iterable}</a:t>
              </a:r>
            </a:p>
          </p:txBody>
        </p:sp>
        <p:sp>
          <p:nvSpPr>
            <p:cNvPr id="12" name="Freeform 12"/>
            <p:cNvSpPr/>
            <p:nvPr/>
          </p:nvSpPr>
          <p:spPr>
            <a:xfrm>
              <a:off x="857250" y="2628900"/>
              <a:ext cx="3257550" cy="171450"/>
            </a:xfrm>
            <a:custGeom>
              <a:avLst/>
              <a:gdLst/>
              <a:ahLst/>
              <a:cxnLst/>
              <a:rect l="l" t="t" r="r" b="b"/>
              <a:pathLst>
                <a:path w="3257550" h="171450">
                  <a:moveTo>
                    <a:pt x="0" y="171450"/>
                  </a:moveTo>
                  <a:cubicBezTo>
                    <a:pt x="952500" y="0"/>
                    <a:pt x="2247900" y="0"/>
                    <a:pt x="3257550" y="171450"/>
                  </a:cubicBezTo>
                </a:path>
              </a:pathLst>
            </a:custGeom>
            <a:noFill/>
            <a:ln w="38100" cap="rnd">
              <a:solidFill>
                <a:srgbClr val="2563EB"/>
              </a:solidFill>
            </a:ln>
          </p:spPr>
        </p:sp>
        <p:sp>
          <p:nvSpPr>
            <p:cNvPr id="13" name="Freeform 13"/>
            <p:cNvSpPr/>
            <p:nvPr/>
          </p:nvSpPr>
          <p:spPr>
            <a:xfrm>
              <a:off x="4457700" y="2628900"/>
              <a:ext cx="3962400" cy="171450"/>
            </a:xfrm>
            <a:custGeom>
              <a:avLst/>
              <a:gdLst/>
              <a:ahLst/>
              <a:cxnLst/>
              <a:rect l="l" t="t" r="r" b="b"/>
              <a:pathLst>
                <a:path w="3962400" h="171450">
                  <a:moveTo>
                    <a:pt x="0" y="171450"/>
                  </a:moveTo>
                  <a:cubicBezTo>
                    <a:pt x="1200150" y="0"/>
                    <a:pt x="2800350" y="0"/>
                    <a:pt x="3962400" y="171450"/>
                  </a:cubicBezTo>
                </a:path>
              </a:pathLst>
            </a:custGeom>
            <a:noFill/>
            <a:ln w="38100" cap="rnd">
              <a:solidFill>
                <a:srgbClr val="16A34A"/>
              </a:solidFill>
            </a:ln>
          </p:spPr>
        </p:sp>
        <p:sp>
          <p:nvSpPr>
            <p:cNvPr id="14" name="Freeform 14"/>
            <p:cNvSpPr/>
            <p:nvPr/>
          </p:nvSpPr>
          <p:spPr>
            <a:xfrm>
              <a:off x="8553450" y="2628900"/>
              <a:ext cx="2686050" cy="171450"/>
            </a:xfrm>
            <a:custGeom>
              <a:avLst/>
              <a:gdLst/>
              <a:ahLst/>
              <a:cxnLst/>
              <a:rect l="l" t="t" r="r" b="b"/>
              <a:pathLst>
                <a:path w="2686050" h="171450">
                  <a:moveTo>
                    <a:pt x="0" y="171450"/>
                  </a:moveTo>
                  <a:cubicBezTo>
                    <a:pt x="819150" y="0"/>
                    <a:pt x="1924050" y="0"/>
                    <a:pt x="2686050" y="171450"/>
                  </a:cubicBezTo>
                </a:path>
              </a:pathLst>
            </a:custGeom>
            <a:noFill/>
            <a:ln w="38100" cap="rnd">
              <a:solidFill>
                <a:srgbClr val="F97316"/>
              </a:solidFill>
            </a:ln>
          </p:spPr>
        </p:sp>
      </p:grpSp>
      <p:grpSp>
        <p:nvGrpSpPr>
          <p:cNvPr id="24" name="Group 24"/>
          <p:cNvGrpSpPr/>
          <p:nvPr/>
        </p:nvGrpSpPr>
        <p:grpSpPr>
          <a:xfrm>
            <a:off x="514350" y="3314700"/>
            <a:ext cx="5124450" cy="2781300"/>
            <a:chOff x="514350" y="3314700"/>
            <a:chExt cx="5124450" cy="2781300"/>
          </a:xfrm>
        </p:grpSpPr>
        <p:sp>
          <p:nvSpPr>
            <p:cNvPr id="16" name="Rectangle 16"/>
            <p:cNvSpPr/>
            <p:nvPr/>
          </p:nvSpPr>
          <p:spPr>
            <a:xfrm>
              <a:off x="514350" y="3314700"/>
              <a:ext cx="5124450" cy="2781300"/>
            </a:xfrm>
            <a:prstGeom prst="roundRect">
              <a:avLst>
                <a:gd name="adj" fmla="val 8219"/>
              </a:avLst>
            </a:prstGeom>
            <a:solidFill>
              <a:srgbClr val="111827"/>
            </a:solidFill>
            <a:ln>
              <a:noFill/>
            </a:ln>
          </p:spPr>
        </p:sp>
        <p:sp>
          <p:nvSpPr>
            <p:cNvPr id="17" name="TextBox 17"/>
            <p:cNvSpPr txBox="1"/>
            <p:nvPr/>
          </p:nvSpPr>
          <p:spPr>
            <a:xfrm>
              <a:off x="822960" y="3623310"/>
              <a:ext cx="1416653" cy="243840"/>
            </a:xfrm>
            <a:prstGeom prst="rect">
              <a:avLst/>
            </a:prstGeom>
            <a:noFill/>
            <a:ln>
              <a:noFill/>
            </a:ln>
          </p:spPr>
          <p:txBody>
            <a:bodyPr wrap="none" lIns="0" tIns="0" rIns="0" bIns="0" anchor="t" anchorCtr="0">
              <a:spAutoFit/>
            </a:bodyPr>
            <a:lstStyle/>
            <a:p>
              <a:pPr algn="l"/>
              <a:r>
                <a:rPr lang="zh-CN" sz="1200" b="1" dirty="0">
                  <a:solidFill>
                    <a:srgbClr val="CBD5E1"/>
                  </a:solidFill>
                  <a:latin typeface="Arial"/>
                  <a:ea typeface="Microsoft YaHei"/>
                  <a:cs typeface="Arial"/>
                </a:rPr>
                <a:t>Runnable example</a:t>
              </a:r>
            </a:p>
          </p:txBody>
        </p:sp>
        <p:sp>
          <p:nvSpPr>
            <p:cNvPr id="18" name="TextBox 18"/>
            <p:cNvSpPr txBox="1"/>
            <p:nvPr/>
          </p:nvSpPr>
          <p:spPr>
            <a:xfrm>
              <a:off x="822008" y="4091464"/>
              <a:ext cx="2149150"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numbers = [1, 2, 3, 4, 5]</a:t>
              </a:r>
            </a:p>
          </p:txBody>
        </p:sp>
        <p:sp>
          <p:nvSpPr>
            <p:cNvPr id="19" name="TextBox 19"/>
            <p:cNvSpPr txBox="1"/>
            <p:nvPr/>
          </p:nvSpPr>
          <p:spPr>
            <a:xfrm>
              <a:off x="822008" y="4510564"/>
              <a:ext cx="967502"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my_dict = {</a:t>
              </a:r>
            </a:p>
          </p:txBody>
        </p:sp>
        <p:sp>
          <p:nvSpPr>
            <p:cNvPr id="20" name="TextBox 20"/>
            <p:cNvSpPr txBox="1"/>
            <p:nvPr/>
          </p:nvSpPr>
          <p:spPr>
            <a:xfrm>
              <a:off x="1088708" y="4834414"/>
              <a:ext cx="2055638"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x: x**2 for x in numbers</a:t>
              </a:r>
            </a:p>
          </p:txBody>
        </p:sp>
        <p:sp>
          <p:nvSpPr>
            <p:cNvPr id="21" name="TextBox 21"/>
            <p:cNvSpPr txBox="1"/>
            <p:nvPr/>
          </p:nvSpPr>
          <p:spPr>
            <a:xfrm>
              <a:off x="1088708" y="5158264"/>
              <a:ext cx="1027009"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if x % 2 == 0</a:t>
              </a:r>
            </a:p>
          </p:txBody>
        </p:sp>
        <p:sp>
          <p:nvSpPr>
            <p:cNvPr id="22" name="TextBox 22"/>
            <p:cNvSpPr txBox="1"/>
            <p:nvPr/>
          </p:nvSpPr>
          <p:spPr>
            <a:xfrm>
              <a:off x="822008" y="5482114"/>
              <a:ext cx="125897"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a:t>
              </a:r>
            </a:p>
          </p:txBody>
        </p:sp>
        <p:sp>
          <p:nvSpPr>
            <p:cNvPr id="23" name="TextBox 23"/>
            <p:cNvSpPr txBox="1"/>
            <p:nvPr/>
          </p:nvSpPr>
          <p:spPr>
            <a:xfrm>
              <a:off x="822008" y="5805964"/>
              <a:ext cx="1290542" cy="259080"/>
            </a:xfrm>
            <a:prstGeom prst="rect">
              <a:avLst/>
            </a:prstGeom>
            <a:noFill/>
            <a:ln>
              <a:noFill/>
            </a:ln>
          </p:spPr>
          <p:txBody>
            <a:bodyPr wrap="none" lIns="0" tIns="0" rIns="0" bIns="0" anchor="t" anchorCtr="0">
              <a:spAutoFit/>
            </a:bodyPr>
            <a:lstStyle/>
            <a:p>
              <a:pPr algn="l"/>
              <a:r>
                <a:rPr lang="zh-CN" sz="1275" dirty="0">
                  <a:solidFill>
                    <a:srgbClr val="F9FAFB"/>
                  </a:solidFill>
                  <a:latin typeface="Consolas"/>
                  <a:ea typeface="Microsoft YaHei"/>
                  <a:cs typeface="Consolas"/>
                </a:rPr>
                <a:t>print(my_dict)</a:t>
              </a:r>
            </a:p>
          </p:txBody>
        </p:sp>
      </p:grpSp>
      <p:grpSp>
        <p:nvGrpSpPr>
          <p:cNvPr id="36" name="Group 36"/>
          <p:cNvGrpSpPr/>
          <p:nvPr/>
        </p:nvGrpSpPr>
        <p:grpSpPr>
          <a:xfrm>
            <a:off x="6076950" y="3314700"/>
            <a:ext cx="5543550" cy="2800350"/>
            <a:chOff x="6076950" y="3314700"/>
            <a:chExt cx="5543550" cy="2800350"/>
          </a:xfrm>
        </p:grpSpPr>
        <p:sp>
          <p:nvSpPr>
            <p:cNvPr id="25" name="Rectangle 25"/>
            <p:cNvSpPr/>
            <p:nvPr/>
          </p:nvSpPr>
          <p:spPr>
            <a:xfrm>
              <a:off x="6076950" y="3314700"/>
              <a:ext cx="5543550" cy="2781300"/>
            </a:xfrm>
            <a:prstGeom prst="roundRect">
              <a:avLst>
                <a:gd name="adj" fmla="val 8219"/>
              </a:avLst>
            </a:prstGeom>
            <a:solidFill>
              <a:srgbClr val="FFFFFF"/>
            </a:solidFill>
            <a:ln w="19050">
              <a:solidFill>
                <a:srgbClr val="CBD5E1"/>
              </a:solidFill>
            </a:ln>
          </p:spPr>
        </p:sp>
        <p:sp>
          <p:nvSpPr>
            <p:cNvPr id="26" name="TextBox 26"/>
            <p:cNvSpPr txBox="1"/>
            <p:nvPr/>
          </p:nvSpPr>
          <p:spPr>
            <a:xfrm>
              <a:off x="6377940" y="3558540"/>
              <a:ext cx="3196114" cy="365760"/>
            </a:xfrm>
            <a:prstGeom prst="rect">
              <a:avLst/>
            </a:prstGeom>
            <a:noFill/>
            <a:ln>
              <a:noFill/>
            </a:ln>
          </p:spPr>
          <p:txBody>
            <a:bodyPr wrap="none" lIns="0" tIns="0" rIns="0" bIns="0" anchor="t" anchorCtr="0">
              <a:spAutoFit/>
            </a:bodyPr>
            <a:lstStyle/>
            <a:p>
              <a:pPr algn="l"/>
              <a:r>
                <a:rPr lang="zh-CN" sz="1800" b="1" dirty="0">
                  <a:solidFill>
                    <a:srgbClr val="0F172A"/>
                  </a:solidFill>
                  <a:latin typeface="Arial"/>
                  <a:ea typeface="Microsoft YaHei"/>
                  <a:cs typeface="Arial"/>
                </a:rPr>
                <a:t>Read it from left to right</a:t>
              </a:r>
            </a:p>
          </p:txBody>
        </p:sp>
        <p:sp>
          <p:nvSpPr>
            <p:cNvPr id="27" name="Rectangle 27"/>
            <p:cNvSpPr/>
            <p:nvPr/>
          </p:nvSpPr>
          <p:spPr>
            <a:xfrm>
              <a:off x="6400800" y="4076700"/>
              <a:ext cx="1447800" cy="552450"/>
            </a:xfrm>
            <a:prstGeom prst="roundRect">
              <a:avLst>
                <a:gd name="adj" fmla="val 27586"/>
              </a:avLst>
            </a:prstGeom>
            <a:solidFill>
              <a:srgbClr val="E2E8F0"/>
            </a:solidFill>
            <a:ln w="19050">
              <a:solidFill>
                <a:srgbClr val="CBD5E1"/>
              </a:solidFill>
            </a:ln>
          </p:spPr>
        </p:sp>
        <p:sp>
          <p:nvSpPr>
            <p:cNvPr id="28" name="TextBox 28"/>
            <p:cNvSpPr txBox="1"/>
            <p:nvPr/>
          </p:nvSpPr>
          <p:spPr>
            <a:xfrm>
              <a:off x="7055574" y="4273868"/>
              <a:ext cx="138253" cy="274320"/>
            </a:xfrm>
            <a:prstGeom prst="rect">
              <a:avLst/>
            </a:prstGeom>
            <a:noFill/>
            <a:ln>
              <a:noFill/>
            </a:ln>
          </p:spPr>
          <p:txBody>
            <a:bodyPr wrap="none" lIns="0" tIns="0" rIns="0" bIns="0" anchor="t" anchorCtr="0">
              <a:spAutoFit/>
            </a:bodyPr>
            <a:lstStyle/>
            <a:p>
              <a:pPr algn="ctr"/>
              <a:r>
                <a:rPr lang="zh-CN" sz="1350" b="1" dirty="0">
                  <a:solidFill>
                    <a:srgbClr val="2563EB"/>
                  </a:solidFill>
                  <a:latin typeface="Consolas"/>
                  <a:ea typeface="Microsoft YaHei"/>
                  <a:cs typeface="Consolas"/>
                </a:rPr>
                <a:t>x</a:t>
              </a:r>
            </a:p>
          </p:txBody>
        </p:sp>
        <p:sp>
          <p:nvSpPr>
            <p:cNvPr id="29" name="TextBox 29"/>
            <p:cNvSpPr txBox="1"/>
            <p:nvPr/>
          </p:nvSpPr>
          <p:spPr>
            <a:xfrm>
              <a:off x="8041958" y="4281964"/>
              <a:ext cx="147756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becomes each key</a:t>
              </a:r>
            </a:p>
          </p:txBody>
        </p:sp>
        <p:sp>
          <p:nvSpPr>
            <p:cNvPr id="30" name="Rectangle 30"/>
            <p:cNvSpPr/>
            <p:nvPr/>
          </p:nvSpPr>
          <p:spPr>
            <a:xfrm>
              <a:off x="6400800" y="4819650"/>
              <a:ext cx="1447800" cy="552450"/>
            </a:xfrm>
            <a:prstGeom prst="roundRect">
              <a:avLst>
                <a:gd name="adj" fmla="val 27586"/>
              </a:avLst>
            </a:prstGeom>
            <a:solidFill>
              <a:srgbClr val="E2E8F0"/>
            </a:solidFill>
            <a:ln w="19050">
              <a:solidFill>
                <a:srgbClr val="CBD5E1"/>
              </a:solidFill>
            </a:ln>
          </p:spPr>
        </p:sp>
        <p:sp>
          <p:nvSpPr>
            <p:cNvPr id="31" name="TextBox 31"/>
            <p:cNvSpPr txBox="1"/>
            <p:nvPr/>
          </p:nvSpPr>
          <p:spPr>
            <a:xfrm>
              <a:off x="6899629" y="5016818"/>
              <a:ext cx="450142" cy="274320"/>
            </a:xfrm>
            <a:prstGeom prst="rect">
              <a:avLst/>
            </a:prstGeom>
            <a:noFill/>
            <a:ln>
              <a:noFill/>
            </a:ln>
          </p:spPr>
          <p:txBody>
            <a:bodyPr wrap="none" lIns="0" tIns="0" rIns="0" bIns="0" anchor="t" anchorCtr="0">
              <a:spAutoFit/>
            </a:bodyPr>
            <a:lstStyle/>
            <a:p>
              <a:pPr algn="ctr"/>
              <a:r>
                <a:rPr lang="zh-CN" sz="1350" b="1" dirty="0">
                  <a:solidFill>
                    <a:srgbClr val="16A34A"/>
                  </a:solidFill>
                  <a:latin typeface="Consolas"/>
                  <a:ea typeface="Microsoft YaHei"/>
                  <a:cs typeface="Consolas"/>
                </a:rPr>
                <a:t>x**2</a:t>
              </a:r>
            </a:p>
          </p:txBody>
        </p:sp>
        <p:sp>
          <p:nvSpPr>
            <p:cNvPr id="32" name="TextBox 32"/>
            <p:cNvSpPr txBox="1"/>
            <p:nvPr/>
          </p:nvSpPr>
          <p:spPr>
            <a:xfrm>
              <a:off x="8041958" y="5024914"/>
              <a:ext cx="1622084"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becomes each value</a:t>
              </a:r>
            </a:p>
          </p:txBody>
        </p:sp>
        <p:sp>
          <p:nvSpPr>
            <p:cNvPr id="33" name="Rectangle 33"/>
            <p:cNvSpPr/>
            <p:nvPr/>
          </p:nvSpPr>
          <p:spPr>
            <a:xfrm>
              <a:off x="6400800" y="5562600"/>
              <a:ext cx="1447800" cy="552450"/>
            </a:xfrm>
            <a:prstGeom prst="roundRect">
              <a:avLst>
                <a:gd name="adj" fmla="val 27586"/>
              </a:avLst>
            </a:prstGeom>
            <a:solidFill>
              <a:srgbClr val="E2E8F0"/>
            </a:solidFill>
            <a:ln w="19050">
              <a:solidFill>
                <a:srgbClr val="CBD5E1"/>
              </a:solidFill>
            </a:ln>
          </p:spPr>
        </p:sp>
        <p:sp>
          <p:nvSpPr>
            <p:cNvPr id="34" name="TextBox 34"/>
            <p:cNvSpPr txBox="1"/>
            <p:nvPr/>
          </p:nvSpPr>
          <p:spPr>
            <a:xfrm>
              <a:off x="6790940" y="5759768"/>
              <a:ext cx="667519" cy="274320"/>
            </a:xfrm>
            <a:prstGeom prst="rect">
              <a:avLst/>
            </a:prstGeom>
            <a:noFill/>
            <a:ln>
              <a:noFill/>
            </a:ln>
          </p:spPr>
          <p:txBody>
            <a:bodyPr wrap="none" lIns="0" tIns="0" rIns="0" bIns="0" anchor="t" anchorCtr="0">
              <a:spAutoFit/>
            </a:bodyPr>
            <a:lstStyle/>
            <a:p>
              <a:pPr algn="ctr"/>
              <a:r>
                <a:rPr lang="zh-CN" sz="1350" b="1" dirty="0">
                  <a:solidFill>
                    <a:srgbClr val="F97316"/>
                  </a:solidFill>
                  <a:latin typeface="Consolas"/>
                  <a:ea typeface="Microsoft YaHei"/>
                  <a:cs typeface="Consolas"/>
                </a:rPr>
                <a:t>if even</a:t>
              </a:r>
            </a:p>
          </p:txBody>
        </p:sp>
        <p:sp>
          <p:nvSpPr>
            <p:cNvPr id="35" name="TextBox 35"/>
            <p:cNvSpPr txBox="1"/>
            <p:nvPr/>
          </p:nvSpPr>
          <p:spPr>
            <a:xfrm>
              <a:off x="8041958" y="5767864"/>
              <a:ext cx="1503069"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keeps only 2 and 4</a:t>
              </a:r>
            </a:p>
          </p:txBody>
        </p:sp>
      </p:grpSp>
      <p:grpSp>
        <p:nvGrpSpPr>
          <p:cNvPr id="40" name="Group 40"/>
          <p:cNvGrpSpPr/>
          <p:nvPr/>
        </p:nvGrpSpPr>
        <p:grpSpPr>
          <a:xfrm>
            <a:off x="6076950" y="2362200"/>
            <a:ext cx="5543550" cy="571500"/>
            <a:chOff x="6076950" y="2362200"/>
            <a:chExt cx="5543550" cy="571500"/>
          </a:xfrm>
        </p:grpSpPr>
        <p:sp>
          <p:nvSpPr>
            <p:cNvPr id="37" name="Rectangle 37"/>
            <p:cNvSpPr/>
            <p:nvPr/>
          </p:nvSpPr>
          <p:spPr>
            <a:xfrm>
              <a:off x="6076950" y="2362200"/>
              <a:ext cx="5543550" cy="571500"/>
            </a:xfrm>
            <a:prstGeom prst="roundRect">
              <a:avLst>
                <a:gd name="adj" fmla="val 30000"/>
              </a:avLst>
            </a:prstGeom>
            <a:solidFill>
              <a:srgbClr val="E2E8F0"/>
            </a:solidFill>
            <a:ln w="19050">
              <a:solidFill>
                <a:srgbClr val="CBD5E1"/>
              </a:solidFill>
            </a:ln>
          </p:spPr>
        </p:sp>
        <p:sp>
          <p:nvSpPr>
            <p:cNvPr id="38" name="TextBox 38"/>
            <p:cNvSpPr txBox="1"/>
            <p:nvPr/>
          </p:nvSpPr>
          <p:spPr>
            <a:xfrm>
              <a:off x="6383655" y="2578418"/>
              <a:ext cx="799836" cy="274320"/>
            </a:xfrm>
            <a:prstGeom prst="rect">
              <a:avLst/>
            </a:prstGeom>
            <a:noFill/>
            <a:ln>
              <a:noFill/>
            </a:ln>
          </p:spPr>
          <p:txBody>
            <a:bodyPr wrap="none" lIns="0" tIns="0" rIns="0" bIns="0" anchor="t" anchorCtr="0">
              <a:spAutoFit/>
            </a:bodyPr>
            <a:lstStyle/>
            <a:p>
              <a:pPr algn="l"/>
              <a:r>
                <a:rPr lang="zh-CN" sz="1350" b="1" dirty="0">
                  <a:solidFill>
                    <a:srgbClr val="F97316"/>
                  </a:solidFill>
                  <a:latin typeface="Arial"/>
                  <a:ea typeface="Microsoft YaHei"/>
                  <a:cs typeface="Arial"/>
                </a:rPr>
                <a:t>Output:</a:t>
              </a:r>
            </a:p>
          </p:txBody>
        </p:sp>
        <p:sp>
          <p:nvSpPr>
            <p:cNvPr id="39" name="TextBox 39"/>
            <p:cNvSpPr txBox="1"/>
            <p:nvPr/>
          </p:nvSpPr>
          <p:spPr>
            <a:xfrm>
              <a:off x="7163752" y="2570321"/>
              <a:ext cx="1252347"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Consolas"/>
                  <a:ea typeface="Microsoft YaHei"/>
                  <a:cs typeface="Consolas"/>
                </a:rPr>
                <a:t>{2: 4, 4: 16}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image">
                                      <p:cBhvr>
                                        <p:cTn id="11" dur="400"/>
                                        <p:tgtEl>
                                          <p:spTgt spid="1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400"/>
                                        <p:tgtEl>
                                          <p:spTgt spid="2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slide(fromBottom)">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4" grpId="0"/>
      <p:bldP spid="36"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129308"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CLASSROOM LAB</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11 / 12</a:t>
              </a:r>
            </a:p>
          </p:txBody>
        </p:sp>
      </p:grpSp>
      <p:grpSp>
        <p:nvGrpSpPr>
          <p:cNvPr id="8" name="Group 8"/>
          <p:cNvGrpSpPr/>
          <p:nvPr/>
        </p:nvGrpSpPr>
        <p:grpSpPr>
          <a:xfrm>
            <a:off x="478155" y="759142"/>
            <a:ext cx="8811582" cy="760096"/>
            <a:chOff x="478155" y="759142"/>
            <a:chExt cx="8811582" cy="760096"/>
          </a:xfrm>
        </p:grpSpPr>
        <p:sp>
          <p:nvSpPr>
            <p:cNvPr id="6" name="TextBox 6"/>
            <p:cNvSpPr txBox="1"/>
            <p:nvPr/>
          </p:nvSpPr>
          <p:spPr>
            <a:xfrm>
              <a:off x="478155" y="759142"/>
              <a:ext cx="8811582" cy="579120"/>
            </a:xfrm>
            <a:prstGeom prst="rect">
              <a:avLst/>
            </a:prstGeom>
            <a:noFill/>
            <a:ln>
              <a:noFill/>
            </a:ln>
          </p:spPr>
          <p:txBody>
            <a:bodyPr wrap="none" lIns="0" tIns="0" rIns="0" bIns="0" anchor="t" anchorCtr="0">
              <a:spAutoFit/>
            </a:bodyPr>
            <a:lstStyle/>
            <a:p>
              <a:pPr algn="l"/>
              <a:r>
                <a:rPr lang="zh-CN" sz="2850" b="1" dirty="0">
                  <a:solidFill>
                    <a:srgbClr val="0F172A"/>
                  </a:solidFill>
                  <a:latin typeface="Arial"/>
                  <a:ea typeface="Microsoft YaHei"/>
                  <a:cs typeface="Arial"/>
                </a:rPr>
                <a:t>Practice: build dictionaries from small data.</a:t>
              </a:r>
            </a:p>
          </p:txBody>
        </p:sp>
        <p:sp>
          <p:nvSpPr>
            <p:cNvPr id="7" name="TextBox 7"/>
            <p:cNvSpPr txBox="1"/>
            <p:nvPr/>
          </p:nvSpPr>
          <p:spPr>
            <a:xfrm>
              <a:off x="497205" y="1244918"/>
              <a:ext cx="6938153"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Both exercises use only the chapter ideas: create, update, loop, and inspect.</a:t>
              </a:r>
            </a:p>
          </p:txBody>
        </p:sp>
      </p:grpSp>
      <p:grpSp>
        <p:nvGrpSpPr>
          <p:cNvPr id="22" name="Group 22"/>
          <p:cNvGrpSpPr/>
          <p:nvPr/>
        </p:nvGrpSpPr>
        <p:grpSpPr>
          <a:xfrm>
            <a:off x="514350" y="1866900"/>
            <a:ext cx="5295900" cy="3924300"/>
            <a:chOff x="514350" y="1866900"/>
            <a:chExt cx="5295900" cy="3924300"/>
          </a:xfrm>
        </p:grpSpPr>
        <p:sp>
          <p:nvSpPr>
            <p:cNvPr id="9" name="Rectangle 9"/>
            <p:cNvSpPr/>
            <p:nvPr/>
          </p:nvSpPr>
          <p:spPr>
            <a:xfrm>
              <a:off x="514350" y="1866900"/>
              <a:ext cx="5295900" cy="3924300"/>
            </a:xfrm>
            <a:prstGeom prst="roundRect">
              <a:avLst>
                <a:gd name="adj" fmla="val 5825"/>
              </a:avLst>
            </a:prstGeom>
            <a:solidFill>
              <a:srgbClr val="FFFFFF"/>
            </a:solidFill>
            <a:ln w="19050">
              <a:solidFill>
                <a:srgbClr val="CBD5E1"/>
              </a:solidFill>
            </a:ln>
          </p:spPr>
        </p:sp>
        <p:sp>
          <p:nvSpPr>
            <p:cNvPr id="10" name="Rectangle 10"/>
            <p:cNvSpPr/>
            <p:nvPr/>
          </p:nvSpPr>
          <p:spPr>
            <a:xfrm>
              <a:off x="514350" y="1866900"/>
              <a:ext cx="5295900" cy="609600"/>
            </a:xfrm>
            <a:prstGeom prst="roundRect">
              <a:avLst>
                <a:gd name="adj" fmla="val 37500"/>
              </a:avLst>
            </a:prstGeom>
            <a:solidFill>
              <a:srgbClr val="E2E8F0"/>
            </a:solidFill>
            <a:ln>
              <a:noFill/>
            </a:ln>
          </p:spPr>
        </p:sp>
        <p:sp>
          <p:nvSpPr>
            <p:cNvPr id="11" name="TextBox 11"/>
            <p:cNvSpPr txBox="1"/>
            <p:nvPr/>
          </p:nvSpPr>
          <p:spPr>
            <a:xfrm>
              <a:off x="815340" y="2072640"/>
              <a:ext cx="3674974" cy="365760"/>
            </a:xfrm>
            <a:prstGeom prst="rect">
              <a:avLst/>
            </a:prstGeom>
            <a:noFill/>
            <a:ln>
              <a:noFill/>
            </a:ln>
          </p:spPr>
          <p:txBody>
            <a:bodyPr wrap="none" lIns="0" tIns="0" rIns="0" bIns="0" anchor="t" anchorCtr="0">
              <a:spAutoFit/>
            </a:bodyPr>
            <a:lstStyle/>
            <a:p>
              <a:pPr algn="l"/>
              <a:r>
                <a:rPr lang="zh-CN" sz="1800" b="1" dirty="0">
                  <a:solidFill>
                    <a:srgbClr val="2563EB"/>
                  </a:solidFill>
                  <a:latin typeface="Arial"/>
                  <a:ea typeface="Microsoft YaHei"/>
                  <a:cs typeface="Arial"/>
                </a:rPr>
                <a:t>Exercise 1: count characters</a:t>
              </a:r>
            </a:p>
          </p:txBody>
        </p:sp>
        <p:sp>
          <p:nvSpPr>
            <p:cNvPr id="12" name="TextBox 12"/>
            <p:cNvSpPr txBox="1"/>
            <p:nvPr/>
          </p:nvSpPr>
          <p:spPr>
            <a:xfrm>
              <a:off x="821055" y="2692718"/>
              <a:ext cx="1186434"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Input string:</a:t>
              </a:r>
            </a:p>
          </p:txBody>
        </p:sp>
        <p:sp>
          <p:nvSpPr>
            <p:cNvPr id="13" name="Rectangle 13"/>
            <p:cNvSpPr/>
            <p:nvPr/>
          </p:nvSpPr>
          <p:spPr>
            <a:xfrm>
              <a:off x="2038350" y="2609850"/>
              <a:ext cx="2000250" cy="361950"/>
            </a:xfrm>
            <a:prstGeom prst="roundRect">
              <a:avLst>
                <a:gd name="adj" fmla="val 31579"/>
              </a:avLst>
            </a:prstGeom>
            <a:solidFill>
              <a:srgbClr val="111827"/>
            </a:solidFill>
            <a:ln>
              <a:noFill/>
            </a:ln>
          </p:spPr>
        </p:sp>
        <p:sp>
          <p:nvSpPr>
            <p:cNvPr id="14" name="TextBox 14"/>
            <p:cNvSpPr txBox="1"/>
            <p:nvPr/>
          </p:nvSpPr>
          <p:spPr>
            <a:xfrm>
              <a:off x="2194560" y="2718435"/>
              <a:ext cx="1374648"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"This is a string"</a:t>
              </a:r>
            </a:p>
          </p:txBody>
        </p:sp>
        <p:sp>
          <p:nvSpPr>
            <p:cNvPr id="15" name="TextBox 15"/>
            <p:cNvSpPr txBox="1"/>
            <p:nvPr/>
          </p:nvSpPr>
          <p:spPr>
            <a:xfrm>
              <a:off x="822008" y="3196114"/>
              <a:ext cx="4699468"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Task: create a dictionary where each key is a character</a:t>
              </a:r>
            </a:p>
          </p:txBody>
        </p:sp>
        <p:sp>
          <p:nvSpPr>
            <p:cNvPr id="16" name="TextBox 16"/>
            <p:cNvSpPr txBox="1"/>
            <p:nvPr/>
          </p:nvSpPr>
          <p:spPr>
            <a:xfrm>
              <a:off x="822008" y="3462814"/>
              <a:ext cx="3738848"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and each value is how many times it appears.</a:t>
              </a:r>
            </a:p>
          </p:txBody>
        </p:sp>
        <p:sp>
          <p:nvSpPr>
            <p:cNvPr id="17" name="Rectangle 17"/>
            <p:cNvSpPr/>
            <p:nvPr/>
          </p:nvSpPr>
          <p:spPr>
            <a:xfrm>
              <a:off x="838200" y="4000500"/>
              <a:ext cx="4419600" cy="1123950"/>
            </a:xfrm>
            <a:prstGeom prst="roundRect">
              <a:avLst>
                <a:gd name="adj" fmla="val 15254"/>
              </a:avLst>
            </a:prstGeom>
            <a:solidFill>
              <a:srgbClr val="111827"/>
            </a:solidFill>
            <a:ln>
              <a:noFill/>
            </a:ln>
          </p:spPr>
        </p:sp>
        <p:sp>
          <p:nvSpPr>
            <p:cNvPr id="18" name="TextBox 18"/>
            <p:cNvSpPr txBox="1"/>
            <p:nvPr/>
          </p:nvSpPr>
          <p:spPr>
            <a:xfrm>
              <a:off x="1052512" y="4221956"/>
              <a:ext cx="861179"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counts = {}</a:t>
              </a:r>
            </a:p>
          </p:txBody>
        </p:sp>
        <p:sp>
          <p:nvSpPr>
            <p:cNvPr id="19" name="TextBox 19"/>
            <p:cNvSpPr txBox="1"/>
            <p:nvPr/>
          </p:nvSpPr>
          <p:spPr>
            <a:xfrm>
              <a:off x="1052512" y="4488656"/>
              <a:ext cx="1281232"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for char in text:</a:t>
              </a:r>
            </a:p>
          </p:txBody>
        </p:sp>
        <p:sp>
          <p:nvSpPr>
            <p:cNvPr id="20" name="TextBox 20"/>
            <p:cNvSpPr txBox="1"/>
            <p:nvPr/>
          </p:nvSpPr>
          <p:spPr>
            <a:xfrm>
              <a:off x="1281112" y="4755356"/>
              <a:ext cx="2976443"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counts[char] = counts.get(char, 0) + 1</a:t>
              </a:r>
            </a:p>
          </p:txBody>
        </p:sp>
        <p:sp>
          <p:nvSpPr>
            <p:cNvPr id="21" name="TextBox 21"/>
            <p:cNvSpPr txBox="1"/>
            <p:nvPr/>
          </p:nvSpPr>
          <p:spPr>
            <a:xfrm>
              <a:off x="822960" y="5318760"/>
              <a:ext cx="4046182" cy="243840"/>
            </a:xfrm>
            <a:prstGeom prst="rect">
              <a:avLst/>
            </a:prstGeom>
            <a:noFill/>
            <a:ln>
              <a:noFill/>
            </a:ln>
          </p:spPr>
          <p:txBody>
            <a:bodyPr wrap="none" lIns="0" tIns="0" rIns="0" bIns="0" anchor="t" anchorCtr="0">
              <a:spAutoFit/>
            </a:bodyPr>
            <a:lstStyle/>
            <a:p>
              <a:pPr algn="l"/>
              <a:r>
                <a:rPr lang="zh-CN" sz="1200" b="1" dirty="0">
                  <a:solidFill>
                    <a:srgbClr val="F97316"/>
                  </a:solidFill>
                  <a:latin typeface="Arial"/>
                  <a:ea typeface="Microsoft YaHei"/>
                  <a:cs typeface="Arial"/>
                </a:rPr>
                <a:t>Hint: `.get(char, 0)` supplies a starting count.</a:t>
              </a:r>
            </a:p>
          </p:txBody>
        </p:sp>
      </p:grpSp>
      <p:grpSp>
        <p:nvGrpSpPr>
          <p:cNvPr id="37" name="Group 37"/>
          <p:cNvGrpSpPr/>
          <p:nvPr/>
        </p:nvGrpSpPr>
        <p:grpSpPr>
          <a:xfrm>
            <a:off x="6381750" y="1866900"/>
            <a:ext cx="5295900" cy="3924300"/>
            <a:chOff x="6381750" y="1866900"/>
            <a:chExt cx="5295900" cy="3924300"/>
          </a:xfrm>
        </p:grpSpPr>
        <p:sp>
          <p:nvSpPr>
            <p:cNvPr id="23" name="Rectangle 23"/>
            <p:cNvSpPr/>
            <p:nvPr/>
          </p:nvSpPr>
          <p:spPr>
            <a:xfrm>
              <a:off x="6381750" y="1866900"/>
              <a:ext cx="5295900" cy="3924300"/>
            </a:xfrm>
            <a:prstGeom prst="roundRect">
              <a:avLst>
                <a:gd name="adj" fmla="val 5825"/>
              </a:avLst>
            </a:prstGeom>
            <a:solidFill>
              <a:srgbClr val="FFFFFF"/>
            </a:solidFill>
            <a:ln w="19050">
              <a:solidFill>
                <a:srgbClr val="CBD5E1"/>
              </a:solidFill>
            </a:ln>
          </p:spPr>
        </p:sp>
        <p:sp>
          <p:nvSpPr>
            <p:cNvPr id="24" name="Rectangle 24"/>
            <p:cNvSpPr/>
            <p:nvPr/>
          </p:nvSpPr>
          <p:spPr>
            <a:xfrm>
              <a:off x="6381750" y="1866900"/>
              <a:ext cx="5295900" cy="609600"/>
            </a:xfrm>
            <a:prstGeom prst="roundRect">
              <a:avLst>
                <a:gd name="adj" fmla="val 37500"/>
              </a:avLst>
            </a:prstGeom>
            <a:solidFill>
              <a:srgbClr val="E2E8F0"/>
            </a:solidFill>
            <a:ln>
              <a:noFill/>
            </a:ln>
          </p:spPr>
        </p:sp>
        <p:sp>
          <p:nvSpPr>
            <p:cNvPr id="25" name="TextBox 25"/>
            <p:cNvSpPr txBox="1"/>
            <p:nvPr/>
          </p:nvSpPr>
          <p:spPr>
            <a:xfrm>
              <a:off x="6682740" y="2072640"/>
              <a:ext cx="3826192" cy="365760"/>
            </a:xfrm>
            <a:prstGeom prst="rect">
              <a:avLst/>
            </a:prstGeom>
            <a:noFill/>
            <a:ln>
              <a:noFill/>
            </a:ln>
          </p:spPr>
          <p:txBody>
            <a:bodyPr wrap="none" lIns="0" tIns="0" rIns="0" bIns="0" anchor="t" anchorCtr="0">
              <a:spAutoFit/>
            </a:bodyPr>
            <a:lstStyle/>
            <a:p>
              <a:pPr algn="l"/>
              <a:r>
                <a:rPr lang="zh-CN" sz="1800" b="1" dirty="0">
                  <a:solidFill>
                    <a:srgbClr val="16A34A"/>
                  </a:solidFill>
                  <a:latin typeface="Arial"/>
                  <a:ea typeface="Microsoft YaHei"/>
                  <a:cs typeface="Arial"/>
                </a:rPr>
                <a:t>Exercise 2: group even and odd</a:t>
              </a:r>
            </a:p>
          </p:txBody>
        </p:sp>
        <p:sp>
          <p:nvSpPr>
            <p:cNvPr id="26" name="TextBox 26"/>
            <p:cNvSpPr txBox="1"/>
            <p:nvPr/>
          </p:nvSpPr>
          <p:spPr>
            <a:xfrm>
              <a:off x="6688455" y="2692718"/>
              <a:ext cx="943404"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Input list:</a:t>
              </a:r>
            </a:p>
          </p:txBody>
        </p:sp>
        <p:sp>
          <p:nvSpPr>
            <p:cNvPr id="27" name="Rectangle 27"/>
            <p:cNvSpPr/>
            <p:nvPr/>
          </p:nvSpPr>
          <p:spPr>
            <a:xfrm>
              <a:off x="7620000" y="2609850"/>
              <a:ext cx="1524000" cy="361950"/>
            </a:xfrm>
            <a:prstGeom prst="roundRect">
              <a:avLst>
                <a:gd name="adj" fmla="val 31579"/>
              </a:avLst>
            </a:prstGeom>
            <a:solidFill>
              <a:srgbClr val="111827"/>
            </a:solidFill>
            <a:ln>
              <a:noFill/>
            </a:ln>
          </p:spPr>
        </p:sp>
        <p:sp>
          <p:nvSpPr>
            <p:cNvPr id="28" name="TextBox 28"/>
            <p:cNvSpPr txBox="1"/>
            <p:nvPr/>
          </p:nvSpPr>
          <p:spPr>
            <a:xfrm>
              <a:off x="7776210" y="2718435"/>
              <a:ext cx="966597" cy="243840"/>
            </a:xfrm>
            <a:prstGeom prst="rect">
              <a:avLst/>
            </a:prstGeom>
            <a:noFill/>
            <a:ln>
              <a:noFill/>
            </a:ln>
          </p:spPr>
          <p:txBody>
            <a:bodyPr wrap="none" lIns="0" tIns="0" rIns="0" bIns="0" anchor="t" anchorCtr="0">
              <a:spAutoFit/>
            </a:bodyPr>
            <a:lstStyle/>
            <a:p>
              <a:pPr algn="l"/>
              <a:r>
                <a:rPr lang="zh-CN" sz="1200" dirty="0">
                  <a:solidFill>
                    <a:srgbClr val="F9FAFB"/>
                  </a:solidFill>
                  <a:latin typeface="Consolas"/>
                  <a:ea typeface="Microsoft YaHei"/>
                  <a:cs typeface="Consolas"/>
                </a:rPr>
                <a:t>[3, 5, 6, 1]</a:t>
              </a:r>
            </a:p>
          </p:txBody>
        </p:sp>
        <p:sp>
          <p:nvSpPr>
            <p:cNvPr id="29" name="TextBox 29"/>
            <p:cNvSpPr txBox="1"/>
            <p:nvPr/>
          </p:nvSpPr>
          <p:spPr>
            <a:xfrm>
              <a:off x="6689408" y="3196114"/>
              <a:ext cx="4835485"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Task: build a dictionary with two keys, `even` and `odd`,</a:t>
              </a:r>
            </a:p>
          </p:txBody>
        </p:sp>
        <p:sp>
          <p:nvSpPr>
            <p:cNvPr id="30" name="TextBox 30"/>
            <p:cNvSpPr txBox="1"/>
            <p:nvPr/>
          </p:nvSpPr>
          <p:spPr>
            <a:xfrm>
              <a:off x="6689408" y="3462814"/>
              <a:ext cx="379835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then append each number to the correct list.</a:t>
              </a:r>
            </a:p>
          </p:txBody>
        </p:sp>
        <p:sp>
          <p:nvSpPr>
            <p:cNvPr id="31" name="Rectangle 31"/>
            <p:cNvSpPr/>
            <p:nvPr/>
          </p:nvSpPr>
          <p:spPr>
            <a:xfrm>
              <a:off x="6705600" y="4000500"/>
              <a:ext cx="4419600" cy="1123950"/>
            </a:xfrm>
            <a:prstGeom prst="roundRect">
              <a:avLst>
                <a:gd name="adj" fmla="val 15254"/>
              </a:avLst>
            </a:prstGeom>
            <a:solidFill>
              <a:srgbClr val="111827"/>
            </a:solidFill>
            <a:ln>
              <a:noFill/>
            </a:ln>
          </p:spPr>
        </p:sp>
        <p:sp>
          <p:nvSpPr>
            <p:cNvPr id="32" name="TextBox 32"/>
            <p:cNvSpPr txBox="1"/>
            <p:nvPr/>
          </p:nvSpPr>
          <p:spPr>
            <a:xfrm>
              <a:off x="6919912" y="4183856"/>
              <a:ext cx="2481382"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groups = {"even": [], "odd": []}</a:t>
              </a:r>
            </a:p>
          </p:txBody>
        </p:sp>
        <p:sp>
          <p:nvSpPr>
            <p:cNvPr id="33" name="TextBox 33"/>
            <p:cNvSpPr txBox="1"/>
            <p:nvPr/>
          </p:nvSpPr>
          <p:spPr>
            <a:xfrm>
              <a:off x="6919912" y="4431506"/>
              <a:ext cx="1753791"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for number in numbers:</a:t>
              </a:r>
            </a:p>
          </p:txBody>
        </p:sp>
        <p:sp>
          <p:nvSpPr>
            <p:cNvPr id="34" name="TextBox 34"/>
            <p:cNvSpPr txBox="1"/>
            <p:nvPr/>
          </p:nvSpPr>
          <p:spPr>
            <a:xfrm>
              <a:off x="7148512" y="4679156"/>
              <a:ext cx="3103959"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key = "even" if number % 2 == 0 else "odd"</a:t>
              </a:r>
            </a:p>
          </p:txBody>
        </p:sp>
        <p:sp>
          <p:nvSpPr>
            <p:cNvPr id="35" name="TextBox 35"/>
            <p:cNvSpPr txBox="1"/>
            <p:nvPr/>
          </p:nvSpPr>
          <p:spPr>
            <a:xfrm>
              <a:off x="7148512" y="4926806"/>
              <a:ext cx="2203847" cy="228600"/>
            </a:xfrm>
            <a:prstGeom prst="rect">
              <a:avLst/>
            </a:prstGeom>
            <a:noFill/>
            <a:ln>
              <a:noFill/>
            </a:ln>
          </p:spPr>
          <p:txBody>
            <a:bodyPr wrap="none" lIns="0" tIns="0" rIns="0" bIns="0" anchor="t" anchorCtr="0">
              <a:spAutoFit/>
            </a:bodyPr>
            <a:lstStyle/>
            <a:p>
              <a:pPr algn="l"/>
              <a:r>
                <a:rPr lang="zh-CN" sz="1125" dirty="0">
                  <a:solidFill>
                    <a:srgbClr val="F9FAFB"/>
                  </a:solidFill>
                  <a:latin typeface="Consolas"/>
                  <a:ea typeface="Microsoft YaHei"/>
                  <a:cs typeface="Consolas"/>
                </a:rPr>
                <a:t>groups[key].append(number)</a:t>
              </a:r>
            </a:p>
          </p:txBody>
        </p:sp>
        <p:sp>
          <p:nvSpPr>
            <p:cNvPr id="36" name="TextBox 36"/>
            <p:cNvSpPr txBox="1"/>
            <p:nvPr/>
          </p:nvSpPr>
          <p:spPr>
            <a:xfrm>
              <a:off x="6690360" y="5318760"/>
              <a:ext cx="4079786" cy="243840"/>
            </a:xfrm>
            <a:prstGeom prst="rect">
              <a:avLst/>
            </a:prstGeom>
            <a:noFill/>
            <a:ln>
              <a:noFill/>
            </a:ln>
          </p:spPr>
          <p:txBody>
            <a:bodyPr wrap="none" lIns="0" tIns="0" rIns="0" bIns="0" anchor="t" anchorCtr="0">
              <a:spAutoFit/>
            </a:bodyPr>
            <a:lstStyle/>
            <a:p>
              <a:pPr algn="l"/>
              <a:r>
                <a:rPr lang="zh-CN" sz="1200" b="1" dirty="0">
                  <a:solidFill>
                    <a:srgbClr val="F97316"/>
                  </a:solidFill>
                  <a:latin typeface="Arial"/>
                  <a:ea typeface="Microsoft YaHei"/>
                  <a:cs typeface="Arial"/>
                </a:rPr>
                <a:t>Expected shape: {"even": [6], "odd": [3, 5, 1]}</a:t>
              </a:r>
            </a:p>
          </p:txBody>
        </p:sp>
      </p:grpSp>
      <p:grpSp>
        <p:nvGrpSpPr>
          <p:cNvPr id="40" name="Group 40"/>
          <p:cNvGrpSpPr/>
          <p:nvPr/>
        </p:nvGrpSpPr>
        <p:grpSpPr>
          <a:xfrm>
            <a:off x="514350" y="6038850"/>
            <a:ext cx="11163300" cy="400050"/>
            <a:chOff x="514350" y="6038850"/>
            <a:chExt cx="11163300" cy="400050"/>
          </a:xfrm>
        </p:grpSpPr>
        <p:sp>
          <p:nvSpPr>
            <p:cNvPr id="38" name="Rectangle 38"/>
            <p:cNvSpPr/>
            <p:nvPr/>
          </p:nvSpPr>
          <p:spPr>
            <a:xfrm>
              <a:off x="514350" y="6038850"/>
              <a:ext cx="11163300" cy="400050"/>
            </a:xfrm>
            <a:prstGeom prst="roundRect">
              <a:avLst>
                <a:gd name="adj" fmla="val 33333"/>
              </a:avLst>
            </a:prstGeom>
            <a:solidFill>
              <a:srgbClr val="E2E8F0"/>
            </a:solidFill>
            <a:ln w="19050">
              <a:solidFill>
                <a:srgbClr val="CBD5E1"/>
              </a:solidFill>
            </a:ln>
          </p:spPr>
        </p:sp>
        <p:sp>
          <p:nvSpPr>
            <p:cNvPr id="39" name="TextBox 39"/>
            <p:cNvSpPr txBox="1"/>
            <p:nvPr/>
          </p:nvSpPr>
          <p:spPr>
            <a:xfrm>
              <a:off x="822008" y="6167914"/>
              <a:ext cx="7887367"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a:ea typeface="Microsoft YaHei"/>
                  <a:cs typeface="Arial"/>
                </a:rPr>
                <a:t>Share-out: which exercise used lookup with default, and which used a nested value structure?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400"/>
                                        <p:tgtEl>
                                          <p:spTgt spid="3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slide(fromBottom)">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7" grpId="0"/>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430971"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RECAP</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Consolas"/>
                  <a:ea typeface="Microsoft YaHei"/>
                  <a:cs typeface="Consolas"/>
                </a:rPr>
                <a:t>12 / 12</a:t>
              </a:r>
            </a:p>
          </p:txBody>
        </p:sp>
      </p:grpSp>
      <p:grpSp>
        <p:nvGrpSpPr>
          <p:cNvPr id="8" name="Group 8"/>
          <p:cNvGrpSpPr/>
          <p:nvPr/>
        </p:nvGrpSpPr>
        <p:grpSpPr>
          <a:xfrm>
            <a:off x="468630" y="792480"/>
            <a:ext cx="9895465" cy="912495"/>
            <a:chOff x="468630" y="792480"/>
            <a:chExt cx="9895465" cy="912495"/>
          </a:xfrm>
        </p:grpSpPr>
        <p:sp>
          <p:nvSpPr>
            <p:cNvPr id="6" name="TextBox 6"/>
            <p:cNvSpPr txBox="1"/>
            <p:nvPr/>
          </p:nvSpPr>
          <p:spPr>
            <a:xfrm>
              <a:off x="468630" y="792480"/>
              <a:ext cx="9895465" cy="731520"/>
            </a:xfrm>
            <a:prstGeom prst="rect">
              <a:avLst/>
            </a:prstGeom>
            <a:noFill/>
            <a:ln>
              <a:noFill/>
            </a:ln>
          </p:spPr>
          <p:txBody>
            <a:bodyPr wrap="none" lIns="0" tIns="0" rIns="0" bIns="0" anchor="t" anchorCtr="0">
              <a:spAutoFit/>
            </a:bodyPr>
            <a:lstStyle/>
            <a:p>
              <a:pPr algn="l"/>
              <a:r>
                <a:rPr lang="zh-CN" sz="3600" b="1" dirty="0">
                  <a:solidFill>
                    <a:srgbClr val="0F172A"/>
                  </a:solidFill>
                  <a:latin typeface="Arial"/>
                  <a:ea typeface="Microsoft YaHei"/>
                  <a:cs typeface="Arial"/>
                </a:rPr>
                <a:t>You can now read and build dictionaries.</a:t>
              </a:r>
            </a:p>
          </p:txBody>
        </p:sp>
        <p:sp>
          <p:nvSpPr>
            <p:cNvPr id="7" name="TextBox 7"/>
            <p:cNvSpPr txBox="1"/>
            <p:nvPr/>
          </p:nvSpPr>
          <p:spPr>
            <a:xfrm>
              <a:off x="495300" y="1400175"/>
              <a:ext cx="6408896" cy="304800"/>
            </a:xfrm>
            <a:prstGeom prst="rect">
              <a:avLst/>
            </a:prstGeom>
            <a:noFill/>
            <a:ln>
              <a:noFill/>
            </a:ln>
          </p:spPr>
          <p:txBody>
            <a:bodyPr wrap="none" lIns="0" tIns="0" rIns="0" bIns="0" anchor="t" anchorCtr="0">
              <a:spAutoFit/>
            </a:bodyPr>
            <a:lstStyle/>
            <a:p>
              <a:pPr algn="l"/>
              <a:r>
                <a:rPr lang="zh-CN" sz="1500" dirty="0">
                  <a:solidFill>
                    <a:srgbClr val="64748B"/>
                  </a:solidFill>
                  <a:latin typeface="Arial"/>
                  <a:ea typeface="Microsoft YaHei"/>
                  <a:cs typeface="Arial"/>
                </a:rPr>
                <a:t>A dictionary is most useful when your data has meaningful labels.</a:t>
              </a:r>
            </a:p>
          </p:txBody>
        </p:sp>
      </p:grpSp>
      <p:grpSp>
        <p:nvGrpSpPr>
          <p:cNvPr id="26" name="Group 26"/>
          <p:cNvGrpSpPr/>
          <p:nvPr/>
        </p:nvGrpSpPr>
        <p:grpSpPr>
          <a:xfrm>
            <a:off x="514350" y="2095500"/>
            <a:ext cx="5105400" cy="3333750"/>
            <a:chOff x="514350" y="2095500"/>
            <a:chExt cx="5105400" cy="3333750"/>
          </a:xfrm>
        </p:grpSpPr>
        <p:sp>
          <p:nvSpPr>
            <p:cNvPr id="9" name="Rectangle 9"/>
            <p:cNvSpPr/>
            <p:nvPr/>
          </p:nvSpPr>
          <p:spPr>
            <a:xfrm>
              <a:off x="514350" y="2095500"/>
              <a:ext cx="5105400" cy="3333750"/>
            </a:xfrm>
            <a:prstGeom prst="roundRect">
              <a:avLst>
                <a:gd name="adj" fmla="val 7429"/>
              </a:avLst>
            </a:prstGeom>
            <a:solidFill>
              <a:srgbClr val="FFFFFF"/>
            </a:solidFill>
            <a:ln w="19050">
              <a:solidFill>
                <a:srgbClr val="CBD5E1"/>
              </a:solidFill>
            </a:ln>
          </p:spPr>
        </p:sp>
        <p:sp>
          <p:nvSpPr>
            <p:cNvPr id="10" name="TextBox 10"/>
            <p:cNvSpPr txBox="1"/>
            <p:nvPr/>
          </p:nvSpPr>
          <p:spPr>
            <a:xfrm>
              <a:off x="832485" y="2323148"/>
              <a:ext cx="2397623" cy="396240"/>
            </a:xfrm>
            <a:prstGeom prst="rect">
              <a:avLst/>
            </a:prstGeom>
            <a:noFill/>
            <a:ln>
              <a:noFill/>
            </a:ln>
          </p:spPr>
          <p:txBody>
            <a:bodyPr wrap="none" lIns="0" tIns="0" rIns="0" bIns="0" anchor="t" anchorCtr="0">
              <a:spAutoFit/>
            </a:bodyPr>
            <a:lstStyle/>
            <a:p>
              <a:pPr algn="l"/>
              <a:r>
                <a:rPr lang="zh-CN" sz="1950" b="1" dirty="0">
                  <a:solidFill>
                    <a:srgbClr val="0F172A"/>
                  </a:solidFill>
                  <a:latin typeface="Arial"/>
                  <a:ea typeface="Microsoft YaHei"/>
                  <a:cs typeface="Arial"/>
                </a:rPr>
                <a:t>Chapter checklist</a:t>
              </a:r>
            </a:p>
          </p:txBody>
        </p:sp>
        <p:sp>
          <p:nvSpPr>
            <p:cNvPr id="11" name="Ellipse 11"/>
            <p:cNvSpPr/>
            <p:nvPr/>
          </p:nvSpPr>
          <p:spPr>
            <a:xfrm>
              <a:off x="885825" y="2905125"/>
              <a:ext cx="247650" cy="247650"/>
            </a:xfrm>
            <a:prstGeom prst="ellipse">
              <a:avLst/>
            </a:prstGeom>
            <a:solidFill>
              <a:srgbClr val="16A34A"/>
            </a:solidFill>
            <a:ln>
              <a:noFill/>
            </a:ln>
          </p:spPr>
        </p:sp>
        <p:sp>
          <p:nvSpPr>
            <p:cNvPr id="12" name="TextBox 12"/>
            <p:cNvSpPr txBox="1"/>
            <p:nvPr/>
          </p:nvSpPr>
          <p:spPr>
            <a:xfrm>
              <a:off x="959725" y="298084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t>
              </a:r>
            </a:p>
          </p:txBody>
        </p:sp>
        <p:sp>
          <p:nvSpPr>
            <p:cNvPr id="13" name="TextBox 13"/>
            <p:cNvSpPr txBox="1"/>
            <p:nvPr/>
          </p:nvSpPr>
          <p:spPr>
            <a:xfrm>
              <a:off x="1277302" y="2941796"/>
              <a:ext cx="3988689"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Arial"/>
                  <a:ea typeface="Microsoft YaHei"/>
                  <a:cs typeface="Arial"/>
                </a:rPr>
                <a:t>Create dictionaries with `{}` and `dict()`</a:t>
              </a:r>
            </a:p>
          </p:txBody>
        </p:sp>
        <p:sp>
          <p:nvSpPr>
            <p:cNvPr id="14" name="Ellipse 14"/>
            <p:cNvSpPr/>
            <p:nvPr/>
          </p:nvSpPr>
          <p:spPr>
            <a:xfrm>
              <a:off x="885825" y="3362325"/>
              <a:ext cx="247650" cy="247650"/>
            </a:xfrm>
            <a:prstGeom prst="ellipse">
              <a:avLst/>
            </a:prstGeom>
            <a:solidFill>
              <a:srgbClr val="16A34A"/>
            </a:solidFill>
            <a:ln>
              <a:noFill/>
            </a:ln>
          </p:spPr>
        </p:sp>
        <p:sp>
          <p:nvSpPr>
            <p:cNvPr id="15" name="TextBox 15"/>
            <p:cNvSpPr txBox="1"/>
            <p:nvPr/>
          </p:nvSpPr>
          <p:spPr>
            <a:xfrm>
              <a:off x="959725" y="343804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t>
              </a:r>
            </a:p>
          </p:txBody>
        </p:sp>
        <p:sp>
          <p:nvSpPr>
            <p:cNvPr id="16" name="TextBox 16"/>
            <p:cNvSpPr txBox="1"/>
            <p:nvPr/>
          </p:nvSpPr>
          <p:spPr>
            <a:xfrm>
              <a:off x="1277302" y="3398996"/>
              <a:ext cx="3922181"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Arial"/>
                  <a:ea typeface="Microsoft YaHei"/>
                  <a:cs typeface="Arial"/>
                </a:rPr>
                <a:t>Access values with brackets and `.get()`</a:t>
              </a:r>
            </a:p>
          </p:txBody>
        </p:sp>
        <p:sp>
          <p:nvSpPr>
            <p:cNvPr id="17" name="Ellipse 17"/>
            <p:cNvSpPr/>
            <p:nvPr/>
          </p:nvSpPr>
          <p:spPr>
            <a:xfrm>
              <a:off x="885825" y="3819525"/>
              <a:ext cx="247650" cy="247650"/>
            </a:xfrm>
            <a:prstGeom prst="ellipse">
              <a:avLst/>
            </a:prstGeom>
            <a:solidFill>
              <a:srgbClr val="16A34A"/>
            </a:solidFill>
            <a:ln>
              <a:noFill/>
            </a:ln>
          </p:spPr>
        </p:sp>
        <p:sp>
          <p:nvSpPr>
            <p:cNvPr id="18" name="TextBox 18"/>
            <p:cNvSpPr txBox="1"/>
            <p:nvPr/>
          </p:nvSpPr>
          <p:spPr>
            <a:xfrm>
              <a:off x="959725" y="389524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t>
              </a:r>
            </a:p>
          </p:txBody>
        </p:sp>
        <p:sp>
          <p:nvSpPr>
            <p:cNvPr id="19" name="TextBox 19"/>
            <p:cNvSpPr txBox="1"/>
            <p:nvPr/>
          </p:nvSpPr>
          <p:spPr>
            <a:xfrm>
              <a:off x="1277302" y="3856196"/>
              <a:ext cx="3295102"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Arial"/>
                  <a:ea typeface="Microsoft YaHei"/>
                  <a:cs typeface="Arial"/>
                </a:rPr>
                <a:t>Add, update, delete, and pop items</a:t>
              </a:r>
            </a:p>
          </p:txBody>
        </p:sp>
        <p:sp>
          <p:nvSpPr>
            <p:cNvPr id="20" name="Ellipse 20"/>
            <p:cNvSpPr/>
            <p:nvPr/>
          </p:nvSpPr>
          <p:spPr>
            <a:xfrm>
              <a:off x="885825" y="4276725"/>
              <a:ext cx="247650" cy="247650"/>
            </a:xfrm>
            <a:prstGeom prst="ellipse">
              <a:avLst/>
            </a:prstGeom>
            <a:solidFill>
              <a:srgbClr val="16A34A"/>
            </a:solidFill>
            <a:ln>
              <a:noFill/>
            </a:ln>
          </p:spPr>
        </p:sp>
        <p:sp>
          <p:nvSpPr>
            <p:cNvPr id="21" name="TextBox 21"/>
            <p:cNvSpPr txBox="1"/>
            <p:nvPr/>
          </p:nvSpPr>
          <p:spPr>
            <a:xfrm>
              <a:off x="959725" y="435244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t>
              </a:r>
            </a:p>
          </p:txBody>
        </p:sp>
        <p:sp>
          <p:nvSpPr>
            <p:cNvPr id="22" name="TextBox 22"/>
            <p:cNvSpPr txBox="1"/>
            <p:nvPr/>
          </p:nvSpPr>
          <p:spPr>
            <a:xfrm>
              <a:off x="1277302" y="4313396"/>
              <a:ext cx="3884176"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Arial"/>
                  <a:ea typeface="Microsoft YaHei"/>
                  <a:cs typeface="Arial"/>
                </a:rPr>
                <a:t>Use keys, values, items, and conditionals</a:t>
              </a:r>
            </a:p>
          </p:txBody>
        </p:sp>
        <p:sp>
          <p:nvSpPr>
            <p:cNvPr id="23" name="Ellipse 23"/>
            <p:cNvSpPr/>
            <p:nvPr/>
          </p:nvSpPr>
          <p:spPr>
            <a:xfrm>
              <a:off x="885825" y="4733925"/>
              <a:ext cx="247650" cy="247650"/>
            </a:xfrm>
            <a:prstGeom prst="ellipse">
              <a:avLst/>
            </a:prstGeom>
            <a:solidFill>
              <a:srgbClr val="16A34A"/>
            </a:solidFill>
            <a:ln>
              <a:noFill/>
            </a:ln>
          </p:spPr>
        </p:sp>
        <p:sp>
          <p:nvSpPr>
            <p:cNvPr id="24" name="TextBox 24"/>
            <p:cNvSpPr txBox="1"/>
            <p:nvPr/>
          </p:nvSpPr>
          <p:spPr>
            <a:xfrm>
              <a:off x="959725" y="4809649"/>
              <a:ext cx="9984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t>
              </a:r>
            </a:p>
          </p:txBody>
        </p:sp>
        <p:sp>
          <p:nvSpPr>
            <p:cNvPr id="25" name="TextBox 25"/>
            <p:cNvSpPr txBox="1"/>
            <p:nvPr/>
          </p:nvSpPr>
          <p:spPr>
            <a:xfrm>
              <a:off x="1277302" y="4770596"/>
              <a:ext cx="3589639" cy="289560"/>
            </a:xfrm>
            <a:prstGeom prst="rect">
              <a:avLst/>
            </a:prstGeom>
            <a:noFill/>
            <a:ln>
              <a:noFill/>
            </a:ln>
          </p:spPr>
          <p:txBody>
            <a:bodyPr wrap="none" lIns="0" tIns="0" rIns="0" bIns="0" anchor="t" anchorCtr="0">
              <a:spAutoFit/>
            </a:bodyPr>
            <a:lstStyle/>
            <a:p>
              <a:pPr algn="l"/>
              <a:r>
                <a:rPr lang="zh-CN" sz="1425" dirty="0">
                  <a:solidFill>
                    <a:srgbClr val="0F172A"/>
                  </a:solidFill>
                  <a:latin typeface="Arial"/>
                  <a:ea typeface="Microsoft YaHei"/>
                  <a:cs typeface="Arial"/>
                </a:rPr>
                <a:t>Loop, nest, and write comprehensions</a:t>
              </a:r>
            </a:p>
          </p:txBody>
        </p:sp>
      </p:grpSp>
      <p:grpSp>
        <p:nvGrpSpPr>
          <p:cNvPr id="38" name="Group 38"/>
          <p:cNvGrpSpPr/>
          <p:nvPr/>
        </p:nvGrpSpPr>
        <p:grpSpPr>
          <a:xfrm>
            <a:off x="6115050" y="2095500"/>
            <a:ext cx="5563981" cy="3333750"/>
            <a:chOff x="6115050" y="2095500"/>
            <a:chExt cx="5563981" cy="3333750"/>
          </a:xfrm>
        </p:grpSpPr>
        <p:sp>
          <p:nvSpPr>
            <p:cNvPr id="27" name="Rectangle 27"/>
            <p:cNvSpPr/>
            <p:nvPr/>
          </p:nvSpPr>
          <p:spPr>
            <a:xfrm>
              <a:off x="6115050" y="2095500"/>
              <a:ext cx="5562600" cy="3333750"/>
            </a:xfrm>
            <a:prstGeom prst="roundRect">
              <a:avLst>
                <a:gd name="adj" fmla="val 7429"/>
              </a:avLst>
            </a:prstGeom>
            <a:solidFill>
              <a:srgbClr val="E2E8F0"/>
            </a:solidFill>
            <a:ln w="19050">
              <a:solidFill>
                <a:srgbClr val="CBD5E1"/>
              </a:solidFill>
            </a:ln>
          </p:spPr>
        </p:sp>
        <p:sp>
          <p:nvSpPr>
            <p:cNvPr id="28" name="TextBox 28"/>
            <p:cNvSpPr txBox="1"/>
            <p:nvPr/>
          </p:nvSpPr>
          <p:spPr>
            <a:xfrm>
              <a:off x="6433185" y="2323148"/>
              <a:ext cx="1496611" cy="396240"/>
            </a:xfrm>
            <a:prstGeom prst="rect">
              <a:avLst/>
            </a:prstGeom>
            <a:noFill/>
            <a:ln>
              <a:noFill/>
            </a:ln>
          </p:spPr>
          <p:txBody>
            <a:bodyPr wrap="none" lIns="0" tIns="0" rIns="0" bIns="0" anchor="t" anchorCtr="0">
              <a:spAutoFit/>
            </a:bodyPr>
            <a:lstStyle/>
            <a:p>
              <a:pPr algn="l"/>
              <a:r>
                <a:rPr lang="zh-CN" sz="1950" b="1" dirty="0">
                  <a:solidFill>
                    <a:srgbClr val="0F172A"/>
                  </a:solidFill>
                  <a:latin typeface="Arial"/>
                  <a:ea typeface="Microsoft YaHei"/>
                  <a:cs typeface="Arial"/>
                </a:rPr>
                <a:t>Exit ticket</a:t>
              </a:r>
            </a:p>
          </p:txBody>
        </p:sp>
        <p:sp>
          <p:nvSpPr>
            <p:cNvPr id="29" name="TextBox 29"/>
            <p:cNvSpPr txBox="1"/>
            <p:nvPr/>
          </p:nvSpPr>
          <p:spPr>
            <a:xfrm>
              <a:off x="6440805" y="2883218"/>
              <a:ext cx="1942529"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Given this dictionary:</a:t>
              </a:r>
            </a:p>
          </p:txBody>
        </p:sp>
        <p:sp>
          <p:nvSpPr>
            <p:cNvPr id="30" name="Rectangle 30"/>
            <p:cNvSpPr/>
            <p:nvPr/>
          </p:nvSpPr>
          <p:spPr>
            <a:xfrm>
              <a:off x="6457950" y="3238500"/>
              <a:ext cx="4419600" cy="552450"/>
            </a:xfrm>
            <a:prstGeom prst="roundRect">
              <a:avLst>
                <a:gd name="adj" fmla="val 27586"/>
              </a:avLst>
            </a:prstGeom>
            <a:solidFill>
              <a:srgbClr val="111827"/>
            </a:solidFill>
            <a:ln>
              <a:noFill/>
            </a:ln>
          </p:spPr>
        </p:sp>
        <p:sp>
          <p:nvSpPr>
            <p:cNvPr id="31" name="TextBox 31"/>
            <p:cNvSpPr txBox="1"/>
            <p:nvPr/>
          </p:nvSpPr>
          <p:spPr>
            <a:xfrm>
              <a:off x="6688455" y="3445192"/>
              <a:ext cx="3580733" cy="274320"/>
            </a:xfrm>
            <a:prstGeom prst="rect">
              <a:avLst/>
            </a:prstGeom>
            <a:noFill/>
            <a:ln>
              <a:noFill/>
            </a:ln>
          </p:spPr>
          <p:txBody>
            <a:bodyPr wrap="none" lIns="0" tIns="0" rIns="0" bIns="0" anchor="t" anchorCtr="0">
              <a:spAutoFit/>
            </a:bodyPr>
            <a:lstStyle/>
            <a:p>
              <a:pPr algn="l"/>
              <a:r>
                <a:rPr lang="zh-CN" sz="1350" dirty="0">
                  <a:solidFill>
                    <a:srgbClr val="F9FAFB"/>
                  </a:solidFill>
                  <a:latin typeface="Consolas"/>
                  <a:ea typeface="Microsoft YaHei"/>
                  <a:cs typeface="Consolas"/>
                </a:rPr>
                <a:t>fruit_count = {"apple": 2, "orange": 5}</a:t>
              </a:r>
            </a:p>
          </p:txBody>
        </p:sp>
        <p:sp>
          <p:nvSpPr>
            <p:cNvPr id="32" name="Rectangle 32"/>
            <p:cNvSpPr/>
            <p:nvPr/>
          </p:nvSpPr>
          <p:spPr>
            <a:xfrm>
              <a:off x="6457950" y="4095750"/>
              <a:ext cx="4800600" cy="495300"/>
            </a:xfrm>
            <a:prstGeom prst="roundRect">
              <a:avLst>
                <a:gd name="adj" fmla="val 30769"/>
              </a:avLst>
            </a:prstGeom>
            <a:solidFill>
              <a:srgbClr val="FFFFFF"/>
            </a:solidFill>
            <a:ln w="19050">
              <a:solidFill>
                <a:srgbClr val="CBD5E1"/>
              </a:solidFill>
            </a:ln>
          </p:spPr>
        </p:sp>
        <p:sp>
          <p:nvSpPr>
            <p:cNvPr id="33" name="TextBox 33"/>
            <p:cNvSpPr txBox="1"/>
            <p:nvPr/>
          </p:nvSpPr>
          <p:spPr>
            <a:xfrm>
              <a:off x="6688455" y="4264342"/>
              <a:ext cx="242216" cy="274320"/>
            </a:xfrm>
            <a:prstGeom prst="rect">
              <a:avLst/>
            </a:prstGeom>
            <a:noFill/>
            <a:ln>
              <a:noFill/>
            </a:ln>
          </p:spPr>
          <p:txBody>
            <a:bodyPr wrap="none" lIns="0" tIns="0" rIns="0" bIns="0" anchor="t" anchorCtr="0">
              <a:spAutoFit/>
            </a:bodyPr>
            <a:lstStyle/>
            <a:p>
              <a:pPr algn="l"/>
              <a:r>
                <a:rPr lang="zh-CN" sz="1350" b="1" dirty="0">
                  <a:solidFill>
                    <a:srgbClr val="2563EB"/>
                  </a:solidFill>
                  <a:latin typeface="Arial"/>
                  <a:ea typeface="Microsoft YaHei"/>
                  <a:cs typeface="Arial"/>
                </a:rPr>
                <a:t>1.</a:t>
              </a:r>
            </a:p>
          </p:txBody>
        </p:sp>
        <p:sp>
          <p:nvSpPr>
            <p:cNvPr id="34" name="TextBox 34"/>
            <p:cNvSpPr txBox="1"/>
            <p:nvPr/>
          </p:nvSpPr>
          <p:spPr>
            <a:xfrm>
              <a:off x="6955155" y="4264342"/>
              <a:ext cx="3931777"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Write one line that prints the orange count.</a:t>
              </a:r>
            </a:p>
          </p:txBody>
        </p:sp>
        <p:sp>
          <p:nvSpPr>
            <p:cNvPr id="35" name="Rectangle 35"/>
            <p:cNvSpPr/>
            <p:nvPr/>
          </p:nvSpPr>
          <p:spPr>
            <a:xfrm>
              <a:off x="6457950" y="4781550"/>
              <a:ext cx="4800600" cy="495300"/>
            </a:xfrm>
            <a:prstGeom prst="roundRect">
              <a:avLst>
                <a:gd name="adj" fmla="val 30769"/>
              </a:avLst>
            </a:prstGeom>
            <a:solidFill>
              <a:srgbClr val="FFFFFF"/>
            </a:solidFill>
            <a:ln w="19050">
              <a:solidFill>
                <a:srgbClr val="CBD5E1"/>
              </a:solidFill>
            </a:ln>
          </p:spPr>
        </p:sp>
        <p:sp>
          <p:nvSpPr>
            <p:cNvPr id="36" name="TextBox 36"/>
            <p:cNvSpPr txBox="1"/>
            <p:nvPr/>
          </p:nvSpPr>
          <p:spPr>
            <a:xfrm>
              <a:off x="6688455" y="4950142"/>
              <a:ext cx="242216" cy="274320"/>
            </a:xfrm>
            <a:prstGeom prst="rect">
              <a:avLst/>
            </a:prstGeom>
            <a:noFill/>
            <a:ln>
              <a:noFill/>
            </a:ln>
          </p:spPr>
          <p:txBody>
            <a:bodyPr wrap="none" lIns="0" tIns="0" rIns="0" bIns="0" anchor="t" anchorCtr="0">
              <a:spAutoFit/>
            </a:bodyPr>
            <a:lstStyle/>
            <a:p>
              <a:pPr algn="l"/>
              <a:r>
                <a:rPr lang="zh-CN" sz="1350" b="1" dirty="0">
                  <a:solidFill>
                    <a:srgbClr val="2563EB"/>
                  </a:solidFill>
                  <a:latin typeface="Arial"/>
                  <a:ea typeface="Microsoft YaHei"/>
                  <a:cs typeface="Arial"/>
                </a:rPr>
                <a:t>2.</a:t>
              </a:r>
            </a:p>
          </p:txBody>
        </p:sp>
        <p:sp>
          <p:nvSpPr>
            <p:cNvPr id="37" name="TextBox 37"/>
            <p:cNvSpPr txBox="1"/>
            <p:nvPr/>
          </p:nvSpPr>
          <p:spPr>
            <a:xfrm>
              <a:off x="6955155" y="4950142"/>
              <a:ext cx="4723876"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Write one line that tests whether `"apple"` is a key.</a:t>
              </a:r>
            </a:p>
          </p:txBody>
        </p:sp>
      </p:grpSp>
      <p:grpSp>
        <p:nvGrpSpPr>
          <p:cNvPr id="41" name="Group 41"/>
          <p:cNvGrpSpPr/>
          <p:nvPr/>
        </p:nvGrpSpPr>
        <p:grpSpPr>
          <a:xfrm>
            <a:off x="499110" y="5753100"/>
            <a:ext cx="9025890" cy="781050"/>
            <a:chOff x="499110" y="5753100"/>
            <a:chExt cx="9025890" cy="781050"/>
          </a:xfrm>
        </p:grpSpPr>
        <p:sp>
          <p:nvSpPr>
            <p:cNvPr id="39" name="Freeform 39"/>
            <p:cNvSpPr/>
            <p:nvPr/>
          </p:nvSpPr>
          <p:spPr>
            <a:xfrm>
              <a:off x="838200" y="5753100"/>
              <a:ext cx="8686800" cy="514350"/>
            </a:xfrm>
            <a:custGeom>
              <a:avLst/>
              <a:gdLst/>
              <a:ahLst/>
              <a:cxnLst/>
              <a:rect l="l" t="t" r="r" b="b"/>
              <a:pathLst>
                <a:path w="8686800" h="514350">
                  <a:moveTo>
                    <a:pt x="0" y="228600"/>
                  </a:moveTo>
                  <a:cubicBezTo>
                    <a:pt x="1257300" y="0"/>
                    <a:pt x="2590800" y="0"/>
                    <a:pt x="3829050" y="228600"/>
                  </a:cubicBezTo>
                  <a:cubicBezTo>
                    <a:pt x="5353050" y="514350"/>
                    <a:pt x="6972300" y="514350"/>
                    <a:pt x="8686800" y="228600"/>
                  </a:cubicBezTo>
                </a:path>
              </a:pathLst>
            </a:custGeom>
            <a:noFill/>
            <a:ln w="47625" cap="rnd">
              <a:solidFill>
                <a:srgbClr val="F97316"/>
              </a:solidFill>
            </a:ln>
          </p:spPr>
        </p:sp>
        <p:sp>
          <p:nvSpPr>
            <p:cNvPr id="40" name="TextBox 40"/>
            <p:cNvSpPr txBox="1"/>
            <p:nvPr/>
          </p:nvSpPr>
          <p:spPr>
            <a:xfrm>
              <a:off x="499110" y="6290310"/>
              <a:ext cx="618324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Next step: use dictionaries to make messy real-world data easier to organize.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400"/>
                                        <p:tgtEl>
                                          <p:spTgt spid="38"/>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slide(fromBottom)">
                                      <p:cBhvr>
                                        <p:cTn id="1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6" grpId="0"/>
      <p:bldP spid="38" grpId="0"/>
      <p:bldP spid="4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2026-07-03T05:18:01Z</dcterms:created>
  <dcterms:modified xsi:type="dcterms:W3CDTF">2026-07-03T05:18:01Z</dcterms:modified>
  <cp:category/>
  <cp:contentStatus/>
</cp:coreProperties>
</file>
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dPt>
            <c:idx val="0"/>
            <c:spPr>
              <a:solidFill>
                <a:srgbClr val="2E5C8A"/>
              </a:solidFill>
              <a:ln>
                <a:noFill/>
              </a:ln>
            </c:spPr>
          </c:dPt>
          <c:dPt>
            <c:idx val="1"/>
            <c:spPr>
              <a:solidFill>
                <a:srgbClr val="1F77B4"/>
              </a:solidFill>
              <a:ln>
                <a:noFill/>
              </a:ln>
            </c:spPr>
          </c:dPt>
          <c:dPt>
            <c:idx val="2"/>
            <c:spPr>
              <a:solidFill>
                <a:srgbClr val="2CA02C"/>
              </a:solidFill>
              <a:ln>
                <a:noFill/>
              </a:ln>
            </c:spPr>
          </c:dPt>
          <c:dPt>
            <c:idx val="3"/>
            <c:spPr>
              <a:solidFill>
                <a:srgbClr val="9B59B6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Activated users</c:v>
                </c:pt>
                <c:pt idx="3">
                  <c:v>Paid conversions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365800</c:v>
                </c:pt>
                <c:pt idx="1">
                  <c:v>30415</c:v>
                </c:pt>
                <c:pt idx="2">
                  <c:v>20006</c:v>
                </c:pt>
                <c:pt idx="3">
                  <c:v>6370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023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10233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100550.0</c:v>
                </c:pt>
                <c:pt idx="1">
                  <c:v>122100.0</c:v>
                </c:pt>
                <c:pt idx="2">
                  <c:v>158750.0</c:v>
                </c:pt>
                <c:pt idx="3">
                  <c:v>205450.0</c:v>
                </c:pt>
                <c:pt idx="4">
                  <c:v>271600.0</c:v>
                </c:pt>
                <c:pt idx="5">
                  <c:v>349675.0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1023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1F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80000.0"/>
        </c:scaling>
        <c:delete val="0"/>
        <c:axPos val="l"/>
        <c:majorGridlines>
          <c:spPr>
            <a:ln>
              <a:solidFill>
                <a:srgbClr val="E6E9EF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34500.0</c:v>
                </c:pt>
                <c:pt idx="1">
                  <c:v>40300.0</c:v>
                </c:pt>
                <c:pt idx="2">
                  <c:v>51400.0</c:v>
                </c:pt>
                <c:pt idx="3">
                  <c:v>64750.0</c:v>
                </c:pt>
                <c:pt idx="4">
                  <c:v>81700.0</c:v>
                </c:pt>
                <c:pt idx="5">
                  <c:v>101475.0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Social</c:v>
                </c:pt>
              </c:strCache>
            </c:strRef>
          </c:tx>
          <c:spPr>
            <a:solidFill>
              <a:srgbClr val="FF7F0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20150.0</c:v>
                </c:pt>
                <c:pt idx="1">
                  <c:v>26600.0</c:v>
                </c:pt>
                <c:pt idx="2">
                  <c:v>33750.0</c:v>
                </c:pt>
                <c:pt idx="3">
                  <c:v>42900.0</c:v>
                </c:pt>
                <c:pt idx="4">
                  <c:v>58900.0</c:v>
                </c:pt>
                <c:pt idx="5">
                  <c:v>78750.0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Referral</c:v>
                </c:pt>
              </c:strCache>
            </c:strRef>
          </c:tx>
          <c:spPr>
            <a:solidFill>
              <a:srgbClr val="2CA02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28800.0</c:v>
                </c:pt>
                <c:pt idx="1">
                  <c:v>34850.0</c:v>
                </c:pt>
                <c:pt idx="2">
                  <c:v>45325.0</c:v>
                </c:pt>
                <c:pt idx="3">
                  <c:v>60000.0</c:v>
                </c:pt>
                <c:pt idx="4">
                  <c:v>78100.0</c:v>
                </c:pt>
                <c:pt idx="5">
                  <c:v>101050.0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9B59B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17100.0</c:v>
                </c:pt>
                <c:pt idx="1">
                  <c:v>20350.0</c:v>
                </c:pt>
                <c:pt idx="2">
                  <c:v>28275.0</c:v>
                </c:pt>
                <c:pt idx="3">
                  <c:v>37800.0</c:v>
                </c:pt>
                <c:pt idx="4">
                  <c:v>52900.0</c:v>
                </c:pt>
                <c:pt idx="5">
                  <c:v>68400.0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1F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9EF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1B1F2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0233D"/>
                </a:solidFill>
              </a:rPr>
              <a:t>CAC per Paid Conversion by Channel (USD, H1)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CAC per paid conversion (USD)</c:v>
                </c:pt>
              </c:strCache>
            </c:strRef>
          </c:tx>
          <c:dPt>
            <c:idx val="0"/>
            <c:spPr>
              <a:solidFill>
                <a:srgbClr val="1F77B4"/>
              </a:solidFill>
              <a:ln>
                <a:noFill/>
              </a:ln>
            </c:spPr>
          </c:dPt>
          <c:dPt>
            <c:idx val="1"/>
            <c:spPr>
              <a:solidFill>
                <a:srgbClr val="FF7F0E"/>
              </a:solidFill>
              <a:ln>
                <a:noFill/>
              </a:ln>
            </c:spPr>
          </c:dPt>
          <c:dPt>
            <c:idx val="2"/>
            <c:spPr>
              <a:solidFill>
                <a:srgbClr val="2CA02C"/>
              </a:solidFill>
              <a:ln>
                <a:noFill/>
              </a:ln>
            </c:spPr>
          </c:dPt>
          <c:dPt>
            <c:idx val="3"/>
            <c:spPr>
              <a:solidFill>
                <a:srgbClr val="9B59B6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Paid Social</c:v>
                </c:pt>
                <c:pt idx="2">
                  <c:v>Referral</c:v>
                </c:pt>
                <c:pt idx="3">
                  <c:v>Partner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31.026252983293556</c:v>
                </c:pt>
                <c:pt idx="1">
                  <c:v>71.94719471947195</c:v>
                </c:pt>
                <c:pt idx="2">
                  <c:v>9.154518950437318</c:v>
                </c:pt>
                <c:pt idx="3">
                  <c:v>23.732057416267942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200" b="1">
                  <a:solidFill>
                    <a:srgbClr val="1023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1B1F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</c:scaling>
        <c:delete val="0"/>
        <c:axPos val="b"/>
        <c:majorGridlines>
          <c:spPr>
            <a:ln>
              <a:solidFill>
                <a:srgbClr val="E6E9EF"/>
              </a:solidFill>
            </a:ln>
          </c:spPr>
        </c:majorGridlines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</c:v>
                </c:pt>
              </c:strCache>
            </c:strRef>
          </c:tx>
          <c:spPr>
            <a:ln w="28575">
              <a:solidFill>
                <a:srgbClr val="1F77B4"/>
              </a:solidFill>
            </a:ln>
          </c:spPr>
          <c:marker>
            <c:symbol val="circle"/>
            <c:size val="6"/>
            <c:spPr>
              <a:solidFill>
                <a:srgbClr val="1F77B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0.8</c:v>
                </c:pt>
                <c:pt idx="2">
                  <c:v>0.81</c:v>
                </c:pt>
                <c:pt idx="3">
                  <c:v>0.82</c:v>
                </c:pt>
                <c:pt idx="4">
                  <c:v>0.83</c:v>
                </c:pt>
                <c:pt idx="5">
                  <c:v>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Social</c:v>
                </c:pt>
              </c:strCache>
            </c:strRef>
          </c:tx>
          <c:spPr>
            <a:ln w="28575">
              <a:solidFill>
                <a:srgbClr val="FF7F0E"/>
              </a:solidFill>
            </a:ln>
          </c:spPr>
          <c:marker>
            <c:symbol val="circle"/>
            <c:size val="6"/>
            <c:spPr>
              <a:solidFill>
                <a:srgbClr val="FF7F0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0.69</c:v>
                </c:pt>
                <c:pt idx="1">
                  <c:v>0.7</c:v>
                </c:pt>
                <c:pt idx="2">
                  <c:v>0.72</c:v>
                </c:pt>
                <c:pt idx="3">
                  <c:v>0.73</c:v>
                </c:pt>
                <c:pt idx="4">
                  <c:v>0.74</c:v>
                </c:pt>
                <c:pt idx="5">
                  <c:v>0.75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Referral</c:v>
                </c:pt>
              </c:strCache>
            </c:strRef>
          </c:tx>
          <c:spPr>
            <a:ln w="28575">
              <a:solidFill>
                <a:srgbClr val="2CA02C"/>
              </a:solidFill>
            </a:ln>
          </c:spPr>
          <c:marker>
            <c:symbol val="circle"/>
            <c:size val="6"/>
            <c:spPr>
              <a:solidFill>
                <a:srgbClr val="2CA02C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0.86</c:v>
                </c:pt>
                <c:pt idx="1">
                  <c:v>0.87</c:v>
                </c:pt>
                <c:pt idx="2">
                  <c:v>0.88</c:v>
                </c:pt>
                <c:pt idx="3">
                  <c:v>0.89</c:v>
                </c:pt>
                <c:pt idx="4">
                  <c:v>0.9</c:v>
                </c:pt>
                <c:pt idx="5">
                  <c:v>0.91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Partner</c:v>
                </c:pt>
              </c:strCache>
            </c:strRef>
          </c:tx>
          <c:spPr>
            <a:ln w="28575">
              <a:solidFill>
                <a:srgbClr val="9B59B6"/>
              </a:solidFill>
            </a:ln>
          </c:spPr>
          <c:marker>
            <c:symbol val="circle"/>
            <c:size val="6"/>
            <c:spPr>
              <a:solidFill>
                <a:srgbClr val="9B59B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0.84</c:v>
                </c:pt>
                <c:pt idx="1">
                  <c:v>0.85</c:v>
                </c:pt>
                <c:pt idx="2">
                  <c:v>0.86</c:v>
                </c:pt>
                <c:pt idx="3">
                  <c:v>0.87</c:v>
                </c:pt>
                <c:pt idx="4">
                  <c:v>0.88</c:v>
                </c:pt>
                <c:pt idx="5">
                  <c:v>0.89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>
                  <a:solidFill>
                    <a:srgbClr val="1B1F27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B1F2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6E9EF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2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1B1F2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dPt>
            <c:idx val="0"/>
            <c:spPr>
              <a:solidFill>
                <a:srgbClr val="1F77B4"/>
              </a:solidFill>
              <a:ln>
                <a:noFill/>
              </a:ln>
            </c:spPr>
          </c:dPt>
          <c:dPt>
            <c:idx val="1"/>
            <c:spPr>
              <a:solidFill>
                <a:srgbClr val="FF7F0E"/>
              </a:solidFill>
              <a:ln>
                <a:noFill/>
              </a:ln>
            </c:spPr>
          </c:dPt>
          <c:dPt>
            <c:idx val="2"/>
            <c:spPr>
              <a:solidFill>
                <a:srgbClr val="2CA02C"/>
              </a:solidFill>
              <a:ln>
                <a:noFill/>
              </a:ln>
            </c:spPr>
          </c:dPt>
          <c:dPt>
            <c:idx val="3"/>
            <c:spPr>
              <a:solidFill>
                <a:srgbClr val="9B59B6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Paid Social</c:v>
                </c:pt>
                <c:pt idx="2">
                  <c:v>Referral</c:v>
                </c:pt>
                <c:pt idx="3">
                  <c:v>Partner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</c:v>
                </c:pt>
                <c:pt idx="1">
                  <c:v>161</c:v>
                </c:pt>
                <c:pt idx="2">
                  <c:v>76</c:v>
                </c:pt>
                <c:pt idx="3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1023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B1F2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H1 2026 Growth Review — Visits to Paid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B1F27"/>
                </a:solidFill>
                <a:latin typeface="Calibri"/>
              </a:rPr>
              <a:t>Jan–Jun 2026 across Search, Paid Social, Referral, and Partner channels. Revenue compounded from $100,550 (Jan) to $349,675 (Jun), a 248% increase, while paid conversions grew 140%.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697480" cy="635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372"/>
                </a:solidFill>
                <a:latin typeface="Calibri"/>
              </a:rPr>
              <a:t>H1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4884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0233D"/>
                </a:solidFill>
                <a:latin typeface="Calibri"/>
              </a:rPr>
              <a:t>$1.21M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74320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2"/>
                </a:solidFill>
                <a:latin typeface="Calibri"/>
              </a:rPr>
              <a:t>+248% Jan→Jun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91640"/>
            <a:ext cx="2697480" cy="635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85623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372"/>
                </a:solidFill>
                <a:latin typeface="Calibri"/>
              </a:rPr>
              <a:t>PAID CONVERSIONS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4884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0233D"/>
                </a:solidFill>
                <a:latin typeface="Calibri"/>
              </a:rPr>
              <a:t>6,370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74320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2"/>
                </a:solidFill>
                <a:latin typeface="Calibri"/>
              </a:rPr>
              <a:t>+140% Jan→Jun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91640"/>
            <a:ext cx="2697480" cy="635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85623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372"/>
                </a:solidFill>
                <a:latin typeface="Calibri"/>
              </a:rPr>
              <a:t>BLENDED 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14884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0233D"/>
                </a:solidFill>
                <a:latin typeface="Calibri"/>
              </a:rPr>
              <a:t>$33.67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74320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2"/>
                </a:solidFill>
                <a:latin typeface="Calibri"/>
              </a:rPr>
              <a:t>vs $190 rev/conv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691640"/>
            <a:ext cx="2697480" cy="635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85623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A6372"/>
                </a:solidFill>
                <a:latin typeface="Calibri"/>
              </a:rPr>
              <a:t>M30 RETENTION (Jun)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14884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0233D"/>
                </a:solidFill>
                <a:latin typeface="Calibri"/>
              </a:rP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74320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372"/>
                </a:solidFill>
                <a:latin typeface="Calibri"/>
              </a:rPr>
              <a:t>weighted by paid conv.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1127760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74720"/>
            <a:ext cx="1091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77B4"/>
                </a:solidFill>
                <a:latin typeface="Calibri"/>
              </a:rPr>
              <a:t>WHAT TO ACT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1091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•  </a:t>
            </a:r>
            <a:r>
              <a:rPr sz="1200">
                <a:solidFill>
                  <a:srgbClr val="1B1F27"/>
                </a:solidFill>
                <a:latin typeface="Calibri"/>
              </a:rPr>
              <a:t>Revenue compounding 29% MoM in June; growth accelerating since April — referral is now the #1 revenue channel in June ($101,050).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•  </a:t>
            </a:r>
            <a:r>
              <a:rPr sz="1200">
                <a:solidFill>
                  <a:srgbClr val="1B1F27"/>
                </a:solidFill>
                <a:latin typeface="Calibri"/>
              </a:rPr>
              <a:t>Referral has the lowest CAC ($9/paid) and highest retention (91%); Paid Social CAC ($72) is ~8x Referral with the lowest M30 retention (75%).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•  </a:t>
            </a:r>
            <a:r>
              <a:rPr sz="1200">
                <a:solidFill>
                  <a:srgbClr val="1B1F27"/>
                </a:solidFill>
                <a:latin typeface="Calibri"/>
              </a:rPr>
              <a:t>Funnel bottleneck is visit→signup (8%) and activated→paid (32%); activation rate sits at 66%.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•  </a:t>
            </a:r>
            <a:r>
              <a:rPr sz="1200">
                <a:solidFill>
                  <a:srgbClr val="1B1F27"/>
                </a:solidFill>
                <a:latin typeface="Calibri"/>
              </a:rPr>
              <a:t>Paid Social drives 24% of paid conversions but burns 51% of ad spend — efficiency is the priority lever.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CONVERSION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Visits → Signups → Activated → Paid (H1)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143000"/>
          <a:ext cx="7406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138160" y="1143000"/>
            <a:ext cx="361188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80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77B4"/>
                </a:solidFill>
                <a:latin typeface="Calibri"/>
              </a:rPr>
              <a:t>STAGE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27"/>
                </a:solidFill>
                <a:latin typeface="Calibri"/>
              </a:rPr>
              <a:t>Visits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9019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372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64592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F77B4"/>
                </a:solidFill>
                <a:latin typeface="Calibri"/>
              </a:rPr>
              <a:t>365,800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04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27"/>
                </a:solidFill>
                <a:latin typeface="Calibri"/>
              </a:rPr>
              <a:t>Signup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372"/>
                </a:solidFill>
                <a:latin typeface="Calibri"/>
              </a:rPr>
              <a:t>signups /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30428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F77B4"/>
                </a:solidFill>
                <a:latin typeface="Calibri"/>
              </a:rPr>
              <a:t>8.3%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626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27"/>
                </a:solidFill>
                <a:latin typeface="Calibri"/>
              </a:rPr>
              <a:t>Activation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186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372"/>
                </a:solidFill>
                <a:latin typeface="Calibri"/>
              </a:rPr>
              <a:t>activated / signups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96265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F77B4"/>
                </a:solidFill>
                <a:latin typeface="Calibri"/>
              </a:rPr>
              <a:t>65.8%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21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27"/>
                </a:solidFill>
                <a:latin typeface="Calibri"/>
              </a:rPr>
              <a:t>Paid of activated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7705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372"/>
                </a:solidFill>
                <a:latin typeface="Calibri"/>
              </a:rPr>
              <a:t>paid / activated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62102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F77B4"/>
                </a:solidFill>
                <a:latin typeface="Calibri"/>
              </a:rPr>
              <a:t>31.8%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79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27"/>
                </a:solidFill>
                <a:latin typeface="Calibri"/>
              </a:rPr>
              <a:t>Paid of visits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3542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A6372"/>
                </a:solidFill>
                <a:latin typeface="Calibri"/>
              </a:rPr>
              <a:t>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4279392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1F77B4"/>
                </a:solidFill>
                <a:latin typeface="Calibri"/>
              </a:rPr>
              <a:t>1.74%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7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0800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41264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77B4"/>
                </a:solidFill>
                <a:latin typeface="Calibri"/>
              </a:rPr>
              <a:t>TAKEAWAY</a:t>
            </a:r>
          </a:p>
          <a:p>
            <a:pPr algn="l"/>
            <a:r>
              <a:rPr sz="1050" b="1">
                <a:solidFill>
                  <a:srgbClr val="10233D"/>
                </a:solidFill>
                <a:latin typeface="Calibri"/>
              </a:rPr>
              <a:t>End-to-end paid conversion is 1.74%; the visit→signup step (8.3%) and activated→paid (31.8%) are the two highest-leverage funnel gaps to attack.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REVENUE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Monthly Revenue, Jan–Jun 2026 (USD)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97280"/>
          <a:ext cx="11277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440680"/>
            <a:ext cx="11277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440680"/>
            <a:ext cx="50800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495544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77B4"/>
                </a:solidFill>
                <a:latin typeface="Calibri"/>
              </a:rPr>
              <a:t>TAKEAWAY</a:t>
            </a:r>
          </a:p>
          <a:p>
            <a:pPr algn="l"/>
            <a:r>
              <a:rPr sz="1050" b="1">
                <a:solidFill>
                  <a:srgbClr val="10233D"/>
                </a:solidFill>
                <a:latin typeface="Calibri"/>
              </a:rPr>
              <a:t>Revenue grew every month, accelerating from April; June at $349,675 is 3.5× January, a +248% H1 increase.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REVENUE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Revenue by Channel — Stacked Monthly (USD)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97280"/>
          <a:ext cx="11277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85232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A6372"/>
                </a:solidFill>
                <a:latin typeface="Calibri"/>
              </a:rPr>
              <a:t>H1 revenue share — Search: $374K (31%)  |  Paid Social: $261K (22%)  |  Referral: $348K (29%)  |  Partner: $225K (19%)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577840"/>
            <a:ext cx="11277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577840"/>
            <a:ext cx="50800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632704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77B4"/>
                </a:solidFill>
                <a:latin typeface="Calibri"/>
              </a:rPr>
              <a:t>TAKEAWAY</a:t>
            </a:r>
          </a:p>
          <a:p>
            <a:pPr algn="l"/>
            <a:r>
              <a:rPr sz="1050" b="1">
                <a:solidFill>
                  <a:srgbClr val="10233D"/>
                </a:solidFill>
                <a:latin typeface="Calibri"/>
              </a:rPr>
              <a:t>Referral grew fastest and overtook Search in June ($101K vs $101K tie in revenue); Partner is a quiet outperformer at 19% share on the lowest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CHANNEL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CAC per Paid Conversion vs Paid Conversions (H1)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97280"/>
          <a:ext cx="5943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0" y="1097280"/>
            <a:ext cx="516636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2344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77B4"/>
                </a:solidFill>
                <a:latin typeface="Calibri"/>
              </a:rPr>
              <a:t>PAID CONVERSIONS &amp; EFFICIENCY (H1)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00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77B4"/>
                </a:solidFill>
                <a:latin typeface="Calibri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0233D"/>
                </a:solidFill>
                <a:latin typeface="Calibri"/>
              </a:rPr>
              <a:t>2,095 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600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372"/>
                </a:solidFill>
                <a:latin typeface="Calibri"/>
              </a:rPr>
              <a:t>CAC $31  |  5.8× LTV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911096"/>
            <a:ext cx="301752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240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A02C"/>
                </a:solidFill>
                <a:latin typeface="Calibri"/>
              </a:rPr>
              <a:t>Referral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0233D"/>
                </a:solidFill>
                <a:latin typeface="Calibri"/>
              </a:rPr>
              <a:t>1,715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240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372"/>
                </a:solidFill>
                <a:latin typeface="Calibri"/>
              </a:rPr>
              <a:t>CAC $9  |  22.2× LTV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551176"/>
            <a:ext cx="2470189" cy="73152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880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F0E"/>
                </a:solidFill>
                <a:latin typeface="Calibri"/>
              </a:rPr>
              <a:t>Paid 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0233D"/>
                </a:solidFill>
                <a:latin typeface="Calibri"/>
              </a:rPr>
              <a:t>1,515 paid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8803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372"/>
                </a:solidFill>
                <a:latin typeface="Calibri"/>
              </a:rPr>
              <a:t>CAC $72  |  2.4× LTV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191256"/>
            <a:ext cx="2182120" cy="73152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520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  <a:latin typeface="Calibri"/>
              </a:rPr>
              <a:t>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10233D"/>
                </a:solidFill>
                <a:latin typeface="Calibri"/>
              </a:rPr>
              <a:t>1,045 paid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5204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372"/>
                </a:solidFill>
                <a:latin typeface="Calibri"/>
              </a:rPr>
              <a:t>CAC $24  |  9.1× LTV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831336"/>
            <a:ext cx="1505159" cy="73152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66344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A6372"/>
                </a:solidFill>
                <a:latin typeface="Calibri"/>
              </a:rPr>
              <a:t>LTV ratio = revenue per paid conversion ÷ CAC.  Higher is better.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49240"/>
            <a:ext cx="11277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50800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404104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77B4"/>
                </a:solidFill>
                <a:latin typeface="Calibri"/>
              </a:rPr>
              <a:t>TAKEAWAY</a:t>
            </a:r>
          </a:p>
          <a:p>
            <a:pPr algn="l"/>
            <a:r>
              <a:rPr sz="1050" b="1">
                <a:solidFill>
                  <a:srgbClr val="10233D"/>
                </a:solidFill>
                <a:latin typeface="Calibri"/>
              </a:rPr>
              <a:t>Referral is the efficiency leader: $9 CAC with a 22× rev/CAC ratio. Paid Social CAC ($72) yields only a 2.4× ratio — cap spend until efficiency improves.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RETENTION &amp;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M30 Retention by Channel + Churned Paid Users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9728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138160" y="1097280"/>
            <a:ext cx="361188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77B4"/>
                </a:solidFill>
                <a:latin typeface="Calibri"/>
              </a:rPr>
              <a:t>H1 CHURNED PAID USERS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321040" y="1600200"/>
          <a:ext cx="32461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47091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5A6372"/>
                </a:solidFill>
                <a:latin typeface="Calibri"/>
              </a:rPr>
              <a:t>Total H1 churned: 422 paid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40680"/>
            <a:ext cx="11277600" cy="56692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440680"/>
            <a:ext cx="50800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495544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77B4"/>
                </a:solidFill>
                <a:latin typeface="Calibri"/>
              </a:rPr>
              <a:t>TAKEAWAY</a:t>
            </a:r>
          </a:p>
          <a:p>
            <a:pPr algn="l"/>
            <a:r>
              <a:rPr sz="1050" b="1">
                <a:solidFill>
                  <a:srgbClr val="10233D"/>
                </a:solidFill>
                <a:latin typeface="Calibri"/>
              </a:rPr>
              <a:t>Paid Social retention is the weakest (75% M30) and it churned the most paid users (161); Referral &amp; Partner hold above 88% with the lowest churn — double down there.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2000" cy="254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AB4D8"/>
                </a:solidFill>
                <a:latin typeface="Calibri"/>
              </a:rPr>
              <a:t>RECOMMENDED NEXT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Next Actions by Channel — H2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1653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716530" cy="457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2442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CAC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5465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5465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2,095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REV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$374K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5465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M30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5465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84%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97480"/>
            <a:ext cx="24970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F77B4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Scale spend modestly — CAC $31 is healthy and stable.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F77B4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Lift activated→paid via onboarding offers to high-intent signups.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F77B4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Protect M30 retention (84%) with lifecycle email.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890" y="1097280"/>
            <a:ext cx="271653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0890" y="1097280"/>
            <a:ext cx="2716530" cy="4572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8050" y="1188720"/>
            <a:ext cx="2442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PAID 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2330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CAC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330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9155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PAID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9155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1,515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2330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REV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2330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$261K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9155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M30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9155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0618" y="2697480"/>
            <a:ext cx="24970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7F0E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Cap spend until CAC &lt; $50 (currently $72); restructure creative.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7F0E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Tighten targeting to lookalikes of Referral converters.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FF7F0E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Address churn (161 H1) with win-back flow before upsell.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4580" y="1097280"/>
            <a:ext cx="271653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80" y="1097280"/>
            <a:ext cx="2716530" cy="457200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1740" y="1188720"/>
            <a:ext cx="2442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REFERRAL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6020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6020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2845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PAID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2845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1,715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6020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REV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6020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$348K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2845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M30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2845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91%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4308" y="2697480"/>
            <a:ext cx="24970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2CA02C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Invest in the program — $9 CAC and 91% retention are best-in-class.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2CA02C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Build viral loops / double-sided incentives to expand top of funnel.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2CA02C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Defend quality: monitor referral activation rate as program scales.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8270" y="1097280"/>
            <a:ext cx="271653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18270" y="1097280"/>
            <a:ext cx="2716530" cy="4572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1188720"/>
            <a:ext cx="2442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9710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CAC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9710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6535" y="16459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PAID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6535" y="18288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1,045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9710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REV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9710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$225K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6535" y="2103120"/>
            <a:ext cx="126682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5A6372"/>
                </a:solidFill>
                <a:latin typeface="Calibri"/>
              </a:rPr>
              <a:t>M30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76535" y="2286000"/>
            <a:ext cx="126682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233D"/>
                </a:solidFill>
                <a:latin typeface="Calibri"/>
              </a:rPr>
              <a:t>89%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7998" y="2697480"/>
            <a:ext cx="249707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9B59B6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Expand co-marketing with top partners; revenue grew to $68K in Jun.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9B59B6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Replicate Partner playbook across 2–3 new integrations.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9B59B6"/>
                </a:solidFill>
                <a:latin typeface="Calibri"/>
              </a:rPr>
              <a:t>▸ </a:t>
            </a:r>
            <a:r>
              <a:rPr sz="1000">
                <a:solidFill>
                  <a:srgbClr val="1B1F27"/>
                </a:solidFill>
                <a:latin typeface="Calibri"/>
              </a:rPr>
              <a:t>Track partner-attributed activation to keep CAC stable at $24.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57800"/>
            <a:ext cx="11277600" cy="502920"/>
          </a:xfrm>
          <a:prstGeom prst="rect">
            <a:avLst/>
          </a:prstGeom>
          <a:solidFill>
            <a:srgbClr val="10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3035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AB4D8"/>
                </a:solidFill>
                <a:latin typeface="Calibri"/>
              </a:rPr>
              <a:t>PRIORITY ORDER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504688"/>
            <a:ext cx="1091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1) Referral — scale  2) Search — activate &amp; retain  3) Partner — expand co-marketing  4) Paid Social — fix efficiency before scaling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A6372"/>
                </a:solidFill>
                <a:latin typeface="Calibri"/>
              </a:rPr>
              <a:t>H1 2026 Growth Review  |  Source: product_growth_metrics_q1_q2_2026.csv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2040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5A637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
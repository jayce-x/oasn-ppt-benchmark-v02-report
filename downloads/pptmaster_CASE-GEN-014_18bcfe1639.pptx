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Use this opening slide to set the key mental model: a heat pump moves heat by adding work to a refrigerant cycle. Point out the three distinct energy arrows. Blue is heat absorbed from the cold reservoir, pink is compressor work input, and orange is useful heat delivered indoors. Emphasize that the deck never treats the system as creating heat from nothing.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Walk through the energy balance from left to right. Heat is absorbed from the outdoor reservoir as Q_cold, the compressor adds W_in, and the indoor space receives Q_hot. The relationship Q_hot = Q_cold + W_in is a qualitative accounting frame for heating mode. It explains why useful heat delivered indoors can be larger than the electrical work input alone.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Introduce the five named components before discussing detailed thermodynamics. The evaporator absorbs heat and evaporates low-pressure refrigerant. The compressor raises pressure and temperature by adding work. The condenser releases heat and condenses vapor into liquid. The expansion valve lowers pressure before the refrigerant returns to the evaporator. The reversing valve changes the routing so the same hardware can support heating or cooling mode.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Read the loop as a four-step heating sequence. In the outdoor evaporator, a cold low-pressure mixture absorbs outdoor heat and becomes vapor. The compressor turns that low-pressure vapor into hot high-pressure vapor. The indoor condenser releases heat to the room as the vapor condenses into high-pressure liquid. The expansion valve then drops pressure and temperature before the refrigerant returns to the outdoor evaporator. Note that the expansion valve does not produce useful work.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Use the split diagram to compare modes. In heating, the indoor coil acts as the condenser and releases heat indoors, while the outdoor coil acts as the evaporator. In cooling, those roles swap: the indoor coil absorbs heat from the room and the outdoor coil rejects it outdoors. The compressor and expansion processes still remain part of the same vapor-compression logic.</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Define both COP formulas as ratios between heat moved and work input. For heating, COP_heating is Q_hot divided by W_in. For cooling, COP_cooling is Q_cold divided by W_in. Stress that COP above one is not a violation of conservation of energy. It happens because the system is moving heat, not directly converting every unit of electricity into newly created heat.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is a qualitative p-h diagram, so do not read exact numbers from it. The useful information is process order and relative pressure level. Compression raises the refrigerant to the high-pressure side. Condensation releases heat at high pressure. Expansion drops pressure. Evaporation absorbs heat at low pressure. This diagram connects component names to thermodynamic processes.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Explain the two mechanisms separately. First, very cold outdoor air offers less available heat for the evaporator to absorb. Second, the compressor has to lift the refrigerant from a colder source condition to the indoor heating condition, which increases work demand. Together, these effects reduce delivered capacity and often lower COP in very cold weather.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Close with a practical operating frame. When output is low, do not jump directly to blaming the compressor. Follow the heat path first: airflow, coil condition, defrost behavior, mode and reversing-valve behavior, then temperature lift. This turns the system diagram into a facilities troubleshooting checklist.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E1117"/>
          </a:solidFill>
          <a:ln>
            <a:noFill/>
          </a:ln>
        </p:spPr>
      </p:sp>
      <p:grpSp>
        <p:nvGrpSpPr>
          <p:cNvPr id="5" name="Group 5"/>
          <p:cNvGrpSpPr/>
          <p:nvPr/>
        </p:nvGrpSpPr>
        <p:grpSpPr>
          <a:xfrm>
            <a:off x="0" y="0"/>
            <a:ext cx="12192000" cy="6858000"/>
            <a:chOff x="0" y="0"/>
            <a:chExt cx="12192000" cy="6858000"/>
          </a:xfrm>
        </p:grpSpPr>
        <p:sp>
          <p:nvSpPr>
            <p:cNvPr id="3" name="Freeform 3"/>
            <p:cNvSpPr/>
            <p:nvPr/>
          </p:nvSpPr>
          <p:spPr>
            <a:xfrm>
              <a:off x="762000" y="0"/>
              <a:ext cx="10668000" cy="6858000"/>
            </a:xfrm>
            <a:custGeom>
              <a:avLst/>
              <a:gdLst/>
              <a:ahLst/>
              <a:cxnLst/>
              <a:rect l="l" t="t" r="r" b="b"/>
              <a:pathLst>
                <a:path w="10668000" h="6858000">
                  <a:moveTo>
                    <a:pt x="0" y="0"/>
                  </a:moveTo>
                  <a:lnTo>
                    <a:pt x="0" y="6858000"/>
                  </a:lnTo>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path>
              </a:pathLst>
            </a:custGeom>
            <a:solidFill>
              <a:srgbClr val="000000"/>
            </a:solidFill>
            <a:ln w="9525">
              <a:solidFill>
                <a:srgbClr val="25364A"/>
              </a:solidFill>
            </a:ln>
          </p:spPr>
        </p:sp>
        <p:sp>
          <p:nvSpPr>
            <p:cNvPr id="4" name="Freeform 4"/>
            <p:cNvSpPr/>
            <p:nvPr/>
          </p:nvSpPr>
          <p:spPr>
            <a:xfrm>
              <a:off x="0" y="762000"/>
              <a:ext cx="12192000" cy="5334000"/>
            </a:xfrm>
            <a:custGeom>
              <a:avLst/>
              <a:gdLst/>
              <a:ahLst/>
              <a:cxnLst/>
              <a:rect l="l" t="t" r="r" b="b"/>
              <a:pathLst>
                <a:path w="12192000" h="5334000">
                  <a:moveTo>
                    <a:pt x="0" y="0"/>
                  </a:moveTo>
                  <a:lnTo>
                    <a:pt x="12192000" y="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path>
              </a:pathLst>
            </a:custGeom>
            <a:solidFill>
              <a:srgbClr val="000000"/>
            </a:solidFill>
            <a:ln w="9525">
              <a:solidFill>
                <a:srgbClr val="25364A"/>
              </a:solidFill>
            </a:ln>
          </p:spPr>
        </p:sp>
      </p:grpSp>
      <p:grpSp>
        <p:nvGrpSpPr>
          <p:cNvPr id="11" name="Group 11"/>
          <p:cNvGrpSpPr/>
          <p:nvPr/>
        </p:nvGrpSpPr>
        <p:grpSpPr>
          <a:xfrm>
            <a:off x="497205" y="678656"/>
            <a:ext cx="5857018" cy="2374106"/>
            <a:chOff x="497205" y="678656"/>
            <a:chExt cx="5857018" cy="2374106"/>
          </a:xfrm>
        </p:grpSpPr>
        <p:sp>
          <p:nvSpPr>
            <p:cNvPr id="6" name="TextBox 6"/>
            <p:cNvSpPr txBox="1"/>
            <p:nvPr/>
          </p:nvSpPr>
          <p:spPr>
            <a:xfrm>
              <a:off x="538162" y="678656"/>
              <a:ext cx="3423124" cy="228600"/>
            </a:xfrm>
            <a:prstGeom prst="rect">
              <a:avLst/>
            </a:prstGeom>
            <a:noFill/>
            <a:ln>
              <a:noFill/>
            </a:ln>
          </p:spPr>
          <p:txBody>
            <a:bodyPr wrap="none" lIns="0" tIns="0" rIns="0" bIns="0" anchor="t" anchorCtr="0">
              <a:spAutoFit/>
            </a:bodyPr>
            <a:lstStyle/>
            <a:p>
              <a:pPr algn="l"/>
              <a:r>
                <a:rPr lang="zh-CN" sz="1125" b="1" dirty="0">
                  <a:solidFill>
                    <a:srgbClr val="9FB2C8"/>
                  </a:solidFill>
                  <a:latin typeface="Arial"/>
                  <a:ea typeface="Microsoft YaHei"/>
                  <a:cs typeface="Arial"/>
                </a:rPr>
                <a:t>CASE-GEN-014 | TECHNICAL SYSTEMS EXPLAINER</a:t>
              </a:r>
            </a:p>
          </p:txBody>
        </p:sp>
        <p:sp>
          <p:nvSpPr>
            <p:cNvPr id="7" name="TextBox 7"/>
            <p:cNvSpPr txBox="1"/>
            <p:nvPr/>
          </p:nvSpPr>
          <p:spPr>
            <a:xfrm>
              <a:off x="497205" y="1073468"/>
              <a:ext cx="5774898" cy="883920"/>
            </a:xfrm>
            <a:prstGeom prst="rect">
              <a:avLst/>
            </a:prstGeom>
            <a:noFill/>
            <a:ln>
              <a:noFill/>
            </a:ln>
          </p:spPr>
          <p:txBody>
            <a:bodyPr wrap="none" lIns="0" tIns="0" rIns="0" bIns="0" anchor="t" anchorCtr="0">
              <a:spAutoFit/>
            </a:bodyPr>
            <a:lstStyle/>
            <a:p>
              <a:pPr algn="l"/>
              <a:r>
                <a:rPr lang="zh-CN" sz="4350" b="1" dirty="0">
                  <a:solidFill>
                    <a:srgbClr val="F5F7FA"/>
                  </a:solidFill>
                  <a:latin typeface="Arial"/>
                  <a:ea typeface="Microsoft YaHei"/>
                  <a:cs typeface="Arial"/>
                </a:rPr>
                <a:t>Vapor-Compression</a:t>
              </a:r>
            </a:p>
          </p:txBody>
        </p:sp>
        <p:sp>
          <p:nvSpPr>
            <p:cNvPr id="8" name="TextBox 8"/>
            <p:cNvSpPr txBox="1"/>
            <p:nvPr/>
          </p:nvSpPr>
          <p:spPr>
            <a:xfrm>
              <a:off x="497205" y="1664018"/>
              <a:ext cx="3429955" cy="883920"/>
            </a:xfrm>
            <a:prstGeom prst="rect">
              <a:avLst/>
            </a:prstGeom>
            <a:noFill/>
            <a:ln>
              <a:noFill/>
            </a:ln>
          </p:spPr>
          <p:txBody>
            <a:bodyPr wrap="none" lIns="0" tIns="0" rIns="0" bIns="0" anchor="t" anchorCtr="0">
              <a:spAutoFit/>
            </a:bodyPr>
            <a:lstStyle/>
            <a:p>
              <a:pPr algn="l"/>
              <a:r>
                <a:rPr lang="zh-CN" sz="4350" b="1" dirty="0">
                  <a:solidFill>
                    <a:srgbClr val="F5F7FA"/>
                  </a:solidFill>
                  <a:latin typeface="Arial"/>
                  <a:ea typeface="Microsoft YaHei"/>
                  <a:cs typeface="Arial"/>
                </a:rPr>
                <a:t>Heat Pumps</a:t>
              </a:r>
            </a:p>
          </p:txBody>
        </p:sp>
        <p:sp>
          <p:nvSpPr>
            <p:cNvPr id="9" name="TextBox 9"/>
            <p:cNvSpPr txBox="1"/>
            <p:nvPr/>
          </p:nvSpPr>
          <p:spPr>
            <a:xfrm>
              <a:off x="569595" y="2431732"/>
              <a:ext cx="5784628" cy="335280"/>
            </a:xfrm>
            <a:prstGeom prst="rect">
              <a:avLst/>
            </a:prstGeom>
            <a:noFill/>
            <a:ln>
              <a:noFill/>
            </a:ln>
          </p:spPr>
          <p:txBody>
            <a:bodyPr wrap="none" lIns="0" tIns="0" rIns="0" bIns="0" anchor="t" anchorCtr="0">
              <a:spAutoFit/>
            </a:bodyPr>
            <a:lstStyle/>
            <a:p>
              <a:pPr algn="l"/>
              <a:r>
                <a:rPr lang="zh-CN" sz="1650" dirty="0">
                  <a:solidFill>
                    <a:srgbClr val="9FB2C8"/>
                  </a:solidFill>
                  <a:latin typeface="Arial"/>
                  <a:ea typeface="Microsoft YaHei"/>
                  <a:cs typeface="Arial"/>
                </a:rPr>
                <a:t>Move heat from a colder reservoir to a warmer space</a:t>
              </a:r>
            </a:p>
          </p:txBody>
        </p:sp>
        <p:sp>
          <p:nvSpPr>
            <p:cNvPr id="10" name="TextBox 10"/>
            <p:cNvSpPr txBox="1"/>
            <p:nvPr/>
          </p:nvSpPr>
          <p:spPr>
            <a:xfrm>
              <a:off x="569595" y="2717482"/>
              <a:ext cx="5388578" cy="335280"/>
            </a:xfrm>
            <a:prstGeom prst="rect">
              <a:avLst/>
            </a:prstGeom>
            <a:noFill/>
            <a:ln>
              <a:noFill/>
            </a:ln>
          </p:spPr>
          <p:txBody>
            <a:bodyPr wrap="none" lIns="0" tIns="0" rIns="0" bIns="0" anchor="t" anchorCtr="0">
              <a:spAutoFit/>
            </a:bodyPr>
            <a:lstStyle/>
            <a:p>
              <a:pPr algn="l"/>
              <a:r>
                <a:rPr lang="zh-CN" sz="1650" dirty="0">
                  <a:solidFill>
                    <a:srgbClr val="9FB2C8"/>
                  </a:solidFill>
                  <a:latin typeface="Arial"/>
                  <a:ea typeface="Microsoft YaHei"/>
                  <a:cs typeface="Arial"/>
                </a:rPr>
                <a:t>by adding compressor work to a refrigerant loop.</a:t>
              </a:r>
            </a:p>
          </p:txBody>
        </p:sp>
      </p:grpSp>
      <p:grpSp>
        <p:nvGrpSpPr>
          <p:cNvPr id="35" name="Group 35"/>
          <p:cNvGrpSpPr/>
          <p:nvPr/>
        </p:nvGrpSpPr>
        <p:grpSpPr>
          <a:xfrm>
            <a:off x="6376035" y="1066800"/>
            <a:ext cx="5622017" cy="4610100"/>
            <a:chOff x="6376035" y="1066800"/>
            <a:chExt cx="5622017" cy="4610100"/>
          </a:xfrm>
        </p:grpSpPr>
        <p:sp>
          <p:nvSpPr>
            <p:cNvPr id="12" name="Rectangle 12"/>
            <p:cNvSpPr/>
            <p:nvPr/>
          </p:nvSpPr>
          <p:spPr>
            <a:xfrm>
              <a:off x="6762750" y="1066800"/>
              <a:ext cx="4533900" cy="4343400"/>
            </a:xfrm>
            <a:prstGeom prst="roundRect">
              <a:avLst>
                <a:gd name="adj" fmla="val 3947"/>
              </a:avLst>
            </a:prstGeom>
            <a:solidFill>
              <a:srgbClr val="142033"/>
            </a:solidFill>
            <a:ln w="19050">
              <a:solidFill>
                <a:srgbClr val="38506A"/>
              </a:solidFill>
            </a:ln>
          </p:spPr>
        </p:sp>
        <p:sp>
          <p:nvSpPr>
            <p:cNvPr id="13" name="Rectangle 13"/>
            <p:cNvSpPr/>
            <p:nvPr/>
          </p:nvSpPr>
          <p:spPr>
            <a:xfrm>
              <a:off x="7258050" y="1543050"/>
              <a:ext cx="1466850" cy="819150"/>
            </a:xfrm>
            <a:prstGeom prst="roundRect">
              <a:avLst>
                <a:gd name="adj" fmla="val 11628"/>
              </a:avLst>
            </a:prstGeom>
            <a:solidFill>
              <a:srgbClr val="18283D"/>
            </a:solidFill>
            <a:ln w="28575">
              <a:solidFill>
                <a:srgbClr val="4DA3FF"/>
              </a:solidFill>
            </a:ln>
          </p:spPr>
        </p:sp>
        <p:sp>
          <p:nvSpPr>
            <p:cNvPr id="14" name="TextBox 14"/>
            <p:cNvSpPr txBox="1"/>
            <p:nvPr/>
          </p:nvSpPr>
          <p:spPr>
            <a:xfrm>
              <a:off x="7304377" y="1687354"/>
              <a:ext cx="1374197" cy="320040"/>
            </a:xfrm>
            <a:prstGeom prst="rect">
              <a:avLst/>
            </a:prstGeom>
            <a:noFill/>
            <a:ln>
              <a:noFill/>
            </a:ln>
          </p:spPr>
          <p:txBody>
            <a:bodyPr wrap="none" lIns="0" tIns="0" rIns="0" bIns="0" anchor="t" anchorCtr="0">
              <a:spAutoFit/>
            </a:bodyPr>
            <a:lstStyle/>
            <a:p>
              <a:pPr algn="ctr"/>
              <a:r>
                <a:rPr lang="zh-CN" sz="1575" b="1" dirty="0">
                  <a:solidFill>
                    <a:srgbClr val="F5F7FA"/>
                  </a:solidFill>
                  <a:latin typeface="Arial"/>
                  <a:ea typeface="Microsoft YaHei"/>
                  <a:cs typeface="Arial"/>
                </a:rPr>
                <a:t>Outdoor coil</a:t>
              </a:r>
            </a:p>
          </p:txBody>
        </p:sp>
        <p:sp>
          <p:nvSpPr>
            <p:cNvPr id="15" name="TextBox 15"/>
            <p:cNvSpPr txBox="1"/>
            <p:nvPr/>
          </p:nvSpPr>
          <p:spPr>
            <a:xfrm>
              <a:off x="7468171" y="2004060"/>
              <a:ext cx="1046607" cy="243840"/>
            </a:xfrm>
            <a:prstGeom prst="rect">
              <a:avLst/>
            </a:prstGeom>
            <a:noFill/>
            <a:ln>
              <a:noFill/>
            </a:ln>
          </p:spPr>
          <p:txBody>
            <a:bodyPr wrap="none" lIns="0" tIns="0" rIns="0" bIns="0" anchor="t" anchorCtr="0">
              <a:spAutoFit/>
            </a:bodyPr>
            <a:lstStyle/>
            <a:p>
              <a:pPr algn="ctr"/>
              <a:r>
                <a:rPr lang="zh-CN" sz="1200" dirty="0">
                  <a:solidFill>
                    <a:srgbClr val="4DA3FF"/>
                  </a:solidFill>
                  <a:latin typeface="Arial"/>
                  <a:ea typeface="Microsoft YaHei"/>
                  <a:cs typeface="Arial"/>
                </a:rPr>
                <a:t>absorbs heat</a:t>
              </a:r>
            </a:p>
          </p:txBody>
        </p:sp>
        <p:sp>
          <p:nvSpPr>
            <p:cNvPr id="16" name="Rectangle 16"/>
            <p:cNvSpPr/>
            <p:nvPr/>
          </p:nvSpPr>
          <p:spPr>
            <a:xfrm>
              <a:off x="9334500" y="1543050"/>
              <a:ext cx="1466850" cy="819150"/>
            </a:xfrm>
            <a:prstGeom prst="roundRect">
              <a:avLst>
                <a:gd name="adj" fmla="val 11628"/>
              </a:avLst>
            </a:prstGeom>
            <a:solidFill>
              <a:srgbClr val="18283D"/>
            </a:solidFill>
            <a:ln w="28575">
              <a:solidFill>
                <a:srgbClr val="FFB000"/>
              </a:solidFill>
            </a:ln>
          </p:spPr>
        </p:sp>
        <p:sp>
          <p:nvSpPr>
            <p:cNvPr id="17" name="TextBox 17"/>
            <p:cNvSpPr txBox="1"/>
            <p:nvPr/>
          </p:nvSpPr>
          <p:spPr>
            <a:xfrm>
              <a:off x="9491090" y="1687354"/>
              <a:ext cx="1153669" cy="320040"/>
            </a:xfrm>
            <a:prstGeom prst="rect">
              <a:avLst/>
            </a:prstGeom>
            <a:noFill/>
            <a:ln>
              <a:noFill/>
            </a:ln>
          </p:spPr>
          <p:txBody>
            <a:bodyPr wrap="none" lIns="0" tIns="0" rIns="0" bIns="0" anchor="t" anchorCtr="0">
              <a:spAutoFit/>
            </a:bodyPr>
            <a:lstStyle/>
            <a:p>
              <a:pPr algn="ctr"/>
              <a:r>
                <a:rPr lang="zh-CN" sz="1575" b="1" dirty="0">
                  <a:solidFill>
                    <a:srgbClr val="F5F7FA"/>
                  </a:solidFill>
                  <a:latin typeface="Arial"/>
                  <a:ea typeface="Microsoft YaHei"/>
                  <a:cs typeface="Arial"/>
                </a:rPr>
                <a:t>Indoor coil</a:t>
              </a:r>
            </a:p>
          </p:txBody>
        </p:sp>
        <p:sp>
          <p:nvSpPr>
            <p:cNvPr id="18" name="TextBox 18"/>
            <p:cNvSpPr txBox="1"/>
            <p:nvPr/>
          </p:nvSpPr>
          <p:spPr>
            <a:xfrm>
              <a:off x="9520618" y="2004060"/>
              <a:ext cx="1094613" cy="243840"/>
            </a:xfrm>
            <a:prstGeom prst="rect">
              <a:avLst/>
            </a:prstGeom>
            <a:noFill/>
            <a:ln>
              <a:noFill/>
            </a:ln>
          </p:spPr>
          <p:txBody>
            <a:bodyPr wrap="none" lIns="0" tIns="0" rIns="0" bIns="0" anchor="t" anchorCtr="0">
              <a:spAutoFit/>
            </a:bodyPr>
            <a:lstStyle/>
            <a:p>
              <a:pPr algn="ctr"/>
              <a:r>
                <a:rPr lang="zh-CN" sz="1200" dirty="0">
                  <a:solidFill>
                    <a:srgbClr val="FFB000"/>
                  </a:solidFill>
                  <a:latin typeface="Arial"/>
                  <a:ea typeface="Microsoft YaHei"/>
                  <a:cs typeface="Arial"/>
                </a:rPr>
                <a:t>releases heat</a:t>
              </a:r>
            </a:p>
          </p:txBody>
        </p:sp>
        <p:sp>
          <p:nvSpPr>
            <p:cNvPr id="19" name="Rectangle 19"/>
            <p:cNvSpPr/>
            <p:nvPr/>
          </p:nvSpPr>
          <p:spPr>
            <a:xfrm>
              <a:off x="9334500" y="3790950"/>
              <a:ext cx="1466850" cy="819150"/>
            </a:xfrm>
            <a:prstGeom prst="roundRect">
              <a:avLst>
                <a:gd name="adj" fmla="val 11628"/>
              </a:avLst>
            </a:prstGeom>
            <a:solidFill>
              <a:srgbClr val="18283D"/>
            </a:solidFill>
            <a:ln w="28575">
              <a:solidFill>
                <a:srgbClr val="FF5C8A"/>
              </a:solidFill>
            </a:ln>
          </p:spPr>
        </p:sp>
        <p:sp>
          <p:nvSpPr>
            <p:cNvPr id="20" name="TextBox 20"/>
            <p:cNvSpPr txBox="1"/>
            <p:nvPr/>
          </p:nvSpPr>
          <p:spPr>
            <a:xfrm>
              <a:off x="9419419" y="3944779"/>
              <a:ext cx="1297012" cy="320040"/>
            </a:xfrm>
            <a:prstGeom prst="rect">
              <a:avLst/>
            </a:prstGeom>
            <a:noFill/>
            <a:ln>
              <a:noFill/>
            </a:ln>
          </p:spPr>
          <p:txBody>
            <a:bodyPr wrap="none" lIns="0" tIns="0" rIns="0" bIns="0" anchor="t" anchorCtr="0">
              <a:spAutoFit/>
            </a:bodyPr>
            <a:lstStyle/>
            <a:p>
              <a:pPr algn="ctr"/>
              <a:r>
                <a:rPr lang="zh-CN" sz="1575" b="1" dirty="0">
                  <a:solidFill>
                    <a:srgbClr val="F5F7FA"/>
                  </a:solidFill>
                  <a:latin typeface="Arial"/>
                  <a:ea typeface="Microsoft YaHei"/>
                  <a:cs typeface="Arial"/>
                </a:rPr>
                <a:t>Compressor</a:t>
              </a:r>
            </a:p>
          </p:txBody>
        </p:sp>
        <p:sp>
          <p:nvSpPr>
            <p:cNvPr id="21" name="TextBox 21"/>
            <p:cNvSpPr txBox="1"/>
            <p:nvPr/>
          </p:nvSpPr>
          <p:spPr>
            <a:xfrm>
              <a:off x="9636633" y="4261485"/>
              <a:ext cx="862584" cy="243840"/>
            </a:xfrm>
            <a:prstGeom prst="rect">
              <a:avLst/>
            </a:prstGeom>
            <a:noFill/>
            <a:ln>
              <a:noFill/>
            </a:ln>
          </p:spPr>
          <p:txBody>
            <a:bodyPr wrap="none" lIns="0" tIns="0" rIns="0" bIns="0" anchor="t" anchorCtr="0">
              <a:spAutoFit/>
            </a:bodyPr>
            <a:lstStyle/>
            <a:p>
              <a:pPr algn="ctr"/>
              <a:r>
                <a:rPr lang="zh-CN" sz="1200" dirty="0">
                  <a:solidFill>
                    <a:srgbClr val="FF5C8A"/>
                  </a:solidFill>
                  <a:latin typeface="Arial"/>
                  <a:ea typeface="Microsoft YaHei"/>
                  <a:cs typeface="Arial"/>
                </a:rPr>
                <a:t>work input</a:t>
              </a:r>
            </a:p>
          </p:txBody>
        </p:sp>
        <p:sp>
          <p:nvSpPr>
            <p:cNvPr id="22" name="Rectangle 22"/>
            <p:cNvSpPr/>
            <p:nvPr/>
          </p:nvSpPr>
          <p:spPr>
            <a:xfrm>
              <a:off x="7258050" y="3790950"/>
              <a:ext cx="1466850" cy="819150"/>
            </a:xfrm>
            <a:prstGeom prst="roundRect">
              <a:avLst>
                <a:gd name="adj" fmla="val 11628"/>
              </a:avLst>
            </a:prstGeom>
            <a:solidFill>
              <a:srgbClr val="18283D"/>
            </a:solidFill>
            <a:ln w="28575">
              <a:solidFill>
                <a:srgbClr val="3DDC97"/>
              </a:solidFill>
            </a:ln>
          </p:spPr>
        </p:sp>
        <p:sp>
          <p:nvSpPr>
            <p:cNvPr id="23" name="TextBox 23"/>
            <p:cNvSpPr txBox="1"/>
            <p:nvPr/>
          </p:nvSpPr>
          <p:spPr>
            <a:xfrm>
              <a:off x="7453233" y="3944779"/>
              <a:ext cx="1076485" cy="320040"/>
            </a:xfrm>
            <a:prstGeom prst="rect">
              <a:avLst/>
            </a:prstGeom>
            <a:noFill/>
            <a:ln>
              <a:noFill/>
            </a:ln>
          </p:spPr>
          <p:txBody>
            <a:bodyPr wrap="none" lIns="0" tIns="0" rIns="0" bIns="0" anchor="t" anchorCtr="0">
              <a:spAutoFit/>
            </a:bodyPr>
            <a:lstStyle/>
            <a:p>
              <a:pPr algn="ctr"/>
              <a:r>
                <a:rPr lang="zh-CN" sz="1575" b="1" dirty="0">
                  <a:solidFill>
                    <a:srgbClr val="F5F7FA"/>
                  </a:solidFill>
                  <a:latin typeface="Arial"/>
                  <a:ea typeface="Microsoft YaHei"/>
                  <a:cs typeface="Arial"/>
                </a:rPr>
                <a:t>Expansion</a:t>
              </a:r>
            </a:p>
          </p:txBody>
        </p:sp>
        <p:sp>
          <p:nvSpPr>
            <p:cNvPr id="24" name="TextBox 24"/>
            <p:cNvSpPr txBox="1"/>
            <p:nvPr/>
          </p:nvSpPr>
          <p:spPr>
            <a:xfrm>
              <a:off x="7424166" y="4261485"/>
              <a:ext cx="1134618" cy="243840"/>
            </a:xfrm>
            <a:prstGeom prst="rect">
              <a:avLst/>
            </a:prstGeom>
            <a:noFill/>
            <a:ln>
              <a:noFill/>
            </a:ln>
          </p:spPr>
          <p:txBody>
            <a:bodyPr wrap="none" lIns="0" tIns="0" rIns="0" bIns="0" anchor="t" anchorCtr="0">
              <a:spAutoFit/>
            </a:bodyPr>
            <a:lstStyle/>
            <a:p>
              <a:pPr algn="ctr"/>
              <a:r>
                <a:rPr lang="zh-CN" sz="1200" dirty="0">
                  <a:solidFill>
                    <a:srgbClr val="3DDC97"/>
                  </a:solidFill>
                  <a:latin typeface="Arial"/>
                  <a:ea typeface="Microsoft YaHei"/>
                  <a:cs typeface="Arial"/>
                </a:rPr>
                <a:t>pressure drop</a:t>
              </a:r>
            </a:p>
          </p:txBody>
        </p:sp>
        <p:sp>
          <p:nvSpPr>
            <p:cNvPr id="25" name="Freeform 25"/>
            <p:cNvSpPr/>
            <p:nvPr/>
          </p:nvSpPr>
          <p:spPr>
            <a:xfrm>
              <a:off x="8763000" y="1952625"/>
              <a:ext cx="476250" cy="9525"/>
            </a:xfrm>
            <a:custGeom>
              <a:avLst/>
              <a:gdLst/>
              <a:ahLst/>
              <a:cxnLst/>
              <a:rect l="l" t="t" r="r" b="b"/>
              <a:pathLst>
                <a:path w="476250" h="9525">
                  <a:moveTo>
                    <a:pt x="0" y="0"/>
                  </a:moveTo>
                  <a:lnTo>
                    <a:pt x="476250" y="0"/>
                  </a:lnTo>
                </a:path>
              </a:pathLst>
            </a:custGeom>
            <a:noFill/>
            <a:ln w="47625">
              <a:solidFill>
                <a:srgbClr val="3DDC97"/>
              </a:solidFill>
              <a:tailEnd type="triangle" w="lg" len="lg"/>
            </a:ln>
          </p:spPr>
        </p:sp>
        <p:sp>
          <p:nvSpPr>
            <p:cNvPr id="26" name="Freeform 26"/>
            <p:cNvSpPr/>
            <p:nvPr/>
          </p:nvSpPr>
          <p:spPr>
            <a:xfrm>
              <a:off x="10067925" y="2419350"/>
              <a:ext cx="9525" cy="1257300"/>
            </a:xfrm>
            <a:custGeom>
              <a:avLst/>
              <a:gdLst/>
              <a:ahLst/>
              <a:cxnLst/>
              <a:rect l="l" t="t" r="r" b="b"/>
              <a:pathLst>
                <a:path w="9525" h="1257300">
                  <a:moveTo>
                    <a:pt x="0" y="0"/>
                  </a:moveTo>
                  <a:lnTo>
                    <a:pt x="0" y="1257300"/>
                  </a:lnTo>
                </a:path>
              </a:pathLst>
            </a:custGeom>
            <a:noFill/>
            <a:ln w="47625">
              <a:solidFill>
                <a:srgbClr val="3DDC97"/>
              </a:solidFill>
              <a:tailEnd type="triangle" w="lg" len="lg"/>
            </a:ln>
          </p:spPr>
        </p:sp>
        <p:sp>
          <p:nvSpPr>
            <p:cNvPr id="27" name="Freeform 27"/>
            <p:cNvSpPr/>
            <p:nvPr/>
          </p:nvSpPr>
          <p:spPr>
            <a:xfrm>
              <a:off x="8839200" y="4200525"/>
              <a:ext cx="457200" cy="9525"/>
            </a:xfrm>
            <a:custGeom>
              <a:avLst/>
              <a:gdLst/>
              <a:ahLst/>
              <a:cxnLst/>
              <a:rect l="l" t="t" r="r" b="b"/>
              <a:pathLst>
                <a:path w="457200" h="9525">
                  <a:moveTo>
                    <a:pt x="457200" y="0"/>
                  </a:moveTo>
                  <a:lnTo>
                    <a:pt x="0" y="0"/>
                  </a:lnTo>
                </a:path>
              </a:pathLst>
            </a:custGeom>
            <a:noFill/>
            <a:ln w="47625">
              <a:solidFill>
                <a:srgbClr val="3DDC97"/>
              </a:solidFill>
              <a:tailEnd type="triangle" w="lg" len="lg"/>
            </a:ln>
          </p:spPr>
        </p:sp>
        <p:sp>
          <p:nvSpPr>
            <p:cNvPr id="28" name="Freeform 28"/>
            <p:cNvSpPr/>
            <p:nvPr/>
          </p:nvSpPr>
          <p:spPr>
            <a:xfrm>
              <a:off x="7991475" y="2476500"/>
              <a:ext cx="9525" cy="1257300"/>
            </a:xfrm>
            <a:custGeom>
              <a:avLst/>
              <a:gdLst/>
              <a:ahLst/>
              <a:cxnLst/>
              <a:rect l="l" t="t" r="r" b="b"/>
              <a:pathLst>
                <a:path w="9525" h="1257300">
                  <a:moveTo>
                    <a:pt x="0" y="1257300"/>
                  </a:moveTo>
                  <a:lnTo>
                    <a:pt x="0" y="0"/>
                  </a:lnTo>
                </a:path>
              </a:pathLst>
            </a:custGeom>
            <a:noFill/>
            <a:ln w="47625">
              <a:solidFill>
                <a:srgbClr val="3DDC97"/>
              </a:solidFill>
              <a:tailEnd type="triangle" w="lg" len="lg"/>
            </a:ln>
          </p:spPr>
        </p:sp>
        <p:sp>
          <p:nvSpPr>
            <p:cNvPr id="29" name="Freeform 29"/>
            <p:cNvSpPr/>
            <p:nvPr/>
          </p:nvSpPr>
          <p:spPr>
            <a:xfrm>
              <a:off x="6705600" y="1952625"/>
              <a:ext cx="533400" cy="9525"/>
            </a:xfrm>
            <a:custGeom>
              <a:avLst/>
              <a:gdLst/>
              <a:ahLst/>
              <a:cxnLst/>
              <a:rect l="l" t="t" r="r" b="b"/>
              <a:pathLst>
                <a:path w="533400" h="9525">
                  <a:moveTo>
                    <a:pt x="0" y="0"/>
                  </a:moveTo>
                  <a:lnTo>
                    <a:pt x="533400" y="0"/>
                  </a:lnTo>
                </a:path>
              </a:pathLst>
            </a:custGeom>
            <a:noFill/>
            <a:ln w="38100">
              <a:solidFill>
                <a:srgbClr val="4DA3FF"/>
              </a:solidFill>
              <a:tailEnd type="triangle" w="lg" len="lg"/>
            </a:ln>
          </p:spPr>
        </p:sp>
        <p:sp>
          <p:nvSpPr>
            <p:cNvPr id="30" name="TextBox 30"/>
            <p:cNvSpPr txBox="1"/>
            <p:nvPr/>
          </p:nvSpPr>
          <p:spPr>
            <a:xfrm>
              <a:off x="6376035" y="1737360"/>
              <a:ext cx="576548" cy="243840"/>
            </a:xfrm>
            <a:prstGeom prst="rect">
              <a:avLst/>
            </a:prstGeom>
            <a:noFill/>
            <a:ln>
              <a:noFill/>
            </a:ln>
          </p:spPr>
          <p:txBody>
            <a:bodyPr wrap="none" lIns="0" tIns="0" rIns="0" bIns="0" anchor="t" anchorCtr="0">
              <a:spAutoFit/>
            </a:bodyPr>
            <a:lstStyle/>
            <a:p>
              <a:pPr algn="l"/>
              <a:r>
                <a:rPr lang="zh-CN" sz="1200" b="1" dirty="0">
                  <a:solidFill>
                    <a:srgbClr val="4DA3FF"/>
                  </a:solidFill>
                  <a:latin typeface="Arial"/>
                  <a:ea typeface="Microsoft YaHei"/>
                  <a:cs typeface="Arial"/>
                </a:rPr>
                <a:t>Q_cold</a:t>
              </a:r>
            </a:p>
          </p:txBody>
        </p:sp>
        <p:sp>
          <p:nvSpPr>
            <p:cNvPr id="31" name="Freeform 31"/>
            <p:cNvSpPr/>
            <p:nvPr/>
          </p:nvSpPr>
          <p:spPr>
            <a:xfrm>
              <a:off x="10820400" y="1952625"/>
              <a:ext cx="590550" cy="9525"/>
            </a:xfrm>
            <a:custGeom>
              <a:avLst/>
              <a:gdLst/>
              <a:ahLst/>
              <a:cxnLst/>
              <a:rect l="l" t="t" r="r" b="b"/>
              <a:pathLst>
                <a:path w="590550" h="9525">
                  <a:moveTo>
                    <a:pt x="0" y="0"/>
                  </a:moveTo>
                  <a:lnTo>
                    <a:pt x="590550" y="0"/>
                  </a:lnTo>
                </a:path>
              </a:pathLst>
            </a:custGeom>
            <a:noFill/>
            <a:ln w="38100">
              <a:solidFill>
                <a:srgbClr val="FFB000"/>
              </a:solidFill>
              <a:tailEnd type="triangle" w="lg" len="lg"/>
            </a:ln>
          </p:spPr>
        </p:sp>
        <p:sp>
          <p:nvSpPr>
            <p:cNvPr id="32" name="TextBox 32"/>
            <p:cNvSpPr txBox="1"/>
            <p:nvPr/>
          </p:nvSpPr>
          <p:spPr>
            <a:xfrm>
              <a:off x="11471910" y="1880235"/>
              <a:ext cx="526142" cy="243840"/>
            </a:xfrm>
            <a:prstGeom prst="rect">
              <a:avLst/>
            </a:prstGeom>
            <a:noFill/>
            <a:ln>
              <a:noFill/>
            </a:ln>
          </p:spPr>
          <p:txBody>
            <a:bodyPr wrap="none" lIns="0" tIns="0" rIns="0" bIns="0" anchor="t" anchorCtr="0">
              <a:spAutoFit/>
            </a:bodyPr>
            <a:lstStyle/>
            <a:p>
              <a:pPr algn="l"/>
              <a:r>
                <a:rPr lang="zh-CN" sz="1200" b="1" dirty="0">
                  <a:solidFill>
                    <a:srgbClr val="FFB000"/>
                  </a:solidFill>
                  <a:latin typeface="Arial"/>
                  <a:ea typeface="Microsoft YaHei"/>
                  <a:cs typeface="Arial"/>
                </a:rPr>
                <a:t>Q_hot</a:t>
              </a:r>
            </a:p>
          </p:txBody>
        </p:sp>
        <p:sp>
          <p:nvSpPr>
            <p:cNvPr id="33" name="Freeform 33"/>
            <p:cNvSpPr/>
            <p:nvPr/>
          </p:nvSpPr>
          <p:spPr>
            <a:xfrm>
              <a:off x="10067925" y="4686300"/>
              <a:ext cx="9525" cy="533400"/>
            </a:xfrm>
            <a:custGeom>
              <a:avLst/>
              <a:gdLst/>
              <a:ahLst/>
              <a:cxnLst/>
              <a:rect l="l" t="t" r="r" b="b"/>
              <a:pathLst>
                <a:path w="9525" h="533400">
                  <a:moveTo>
                    <a:pt x="0" y="533400"/>
                  </a:moveTo>
                  <a:lnTo>
                    <a:pt x="0" y="0"/>
                  </a:lnTo>
                </a:path>
              </a:pathLst>
            </a:custGeom>
            <a:noFill/>
            <a:ln w="38100">
              <a:solidFill>
                <a:srgbClr val="FF5C8A"/>
              </a:solidFill>
              <a:tailEnd type="triangle" w="lg" len="lg"/>
            </a:ln>
          </p:spPr>
        </p:sp>
        <p:sp>
          <p:nvSpPr>
            <p:cNvPr id="34" name="TextBox 34"/>
            <p:cNvSpPr txBox="1"/>
            <p:nvPr/>
          </p:nvSpPr>
          <p:spPr>
            <a:xfrm>
              <a:off x="9719310" y="5433060"/>
              <a:ext cx="391725" cy="243840"/>
            </a:xfrm>
            <a:prstGeom prst="rect">
              <a:avLst/>
            </a:prstGeom>
            <a:noFill/>
            <a:ln>
              <a:noFill/>
            </a:ln>
          </p:spPr>
          <p:txBody>
            <a:bodyPr wrap="none" lIns="0" tIns="0" rIns="0" bIns="0" anchor="t" anchorCtr="0">
              <a:spAutoFit/>
            </a:bodyPr>
            <a:lstStyle/>
            <a:p>
              <a:pPr algn="l"/>
              <a:r>
                <a:rPr lang="zh-CN" sz="1200" b="1" dirty="0">
                  <a:solidFill>
                    <a:srgbClr val="FF5C8A"/>
                  </a:solidFill>
                  <a:latin typeface="Arial"/>
                  <a:ea typeface="Microsoft YaHei"/>
                  <a:cs typeface="Arial"/>
                </a:rPr>
                <a:t>W_in</a:t>
              </a:r>
            </a:p>
          </p:txBody>
        </p:sp>
      </p:grpSp>
      <p:grpSp>
        <p:nvGrpSpPr>
          <p:cNvPr id="40" name="Group 40"/>
          <p:cNvGrpSpPr/>
          <p:nvPr/>
        </p:nvGrpSpPr>
        <p:grpSpPr>
          <a:xfrm>
            <a:off x="552450" y="3829050"/>
            <a:ext cx="6904577" cy="1581150"/>
            <a:chOff x="552450" y="3829050"/>
            <a:chExt cx="6904577" cy="1581150"/>
          </a:xfrm>
        </p:grpSpPr>
        <p:sp>
          <p:nvSpPr>
            <p:cNvPr id="36" name="Rectangle 36"/>
            <p:cNvSpPr/>
            <p:nvPr/>
          </p:nvSpPr>
          <p:spPr>
            <a:xfrm>
              <a:off x="552450" y="3829050"/>
              <a:ext cx="5334000" cy="1581150"/>
            </a:xfrm>
            <a:prstGeom prst="roundRect">
              <a:avLst>
                <a:gd name="adj" fmla="val 9639"/>
              </a:avLst>
            </a:prstGeom>
            <a:solidFill>
              <a:srgbClr val="142033"/>
            </a:solidFill>
            <a:ln w="19050">
              <a:solidFill>
                <a:srgbClr val="38506A"/>
              </a:solidFill>
            </a:ln>
          </p:spPr>
        </p:sp>
        <p:sp>
          <p:nvSpPr>
            <p:cNvPr id="37" name="TextBox 37"/>
            <p:cNvSpPr txBox="1"/>
            <p:nvPr/>
          </p:nvSpPr>
          <p:spPr>
            <a:xfrm>
              <a:off x="833438" y="4102894"/>
              <a:ext cx="2830473" cy="381000"/>
            </a:xfrm>
            <a:prstGeom prst="rect">
              <a:avLst/>
            </a:prstGeom>
            <a:noFill/>
            <a:ln>
              <a:noFill/>
            </a:ln>
          </p:spPr>
          <p:txBody>
            <a:bodyPr wrap="none" lIns="0" tIns="0" rIns="0" bIns="0" anchor="t" anchorCtr="0">
              <a:spAutoFit/>
            </a:bodyPr>
            <a:lstStyle/>
            <a:p>
              <a:pPr algn="l"/>
              <a:r>
                <a:rPr lang="zh-CN" sz="1875" b="1" dirty="0">
                  <a:solidFill>
                    <a:srgbClr val="F5F7FA"/>
                  </a:solidFill>
                  <a:latin typeface="Arial"/>
                  <a:ea typeface="Microsoft YaHei"/>
                  <a:cs typeface="Arial"/>
                </a:rPr>
                <a:t>Key idea for this deck</a:t>
              </a:r>
            </a:p>
          </p:txBody>
        </p:sp>
        <p:sp>
          <p:nvSpPr>
            <p:cNvPr id="38" name="TextBox 38"/>
            <p:cNvSpPr txBox="1"/>
            <p:nvPr/>
          </p:nvSpPr>
          <p:spPr>
            <a:xfrm>
              <a:off x="836295" y="4546282"/>
              <a:ext cx="5201555" cy="335280"/>
            </a:xfrm>
            <a:prstGeom prst="rect">
              <a:avLst/>
            </a:prstGeom>
            <a:noFill/>
            <a:ln>
              <a:noFill/>
            </a:ln>
          </p:spPr>
          <p:txBody>
            <a:bodyPr wrap="none" lIns="0" tIns="0" rIns="0" bIns="0" anchor="t" anchorCtr="0">
              <a:spAutoFit/>
            </a:bodyPr>
            <a:lstStyle/>
            <a:p>
              <a:pPr algn="l"/>
              <a:r>
                <a:rPr lang="zh-CN" sz="1650" dirty="0">
                  <a:solidFill>
                    <a:srgbClr val="9FB2C8"/>
                  </a:solidFill>
                  <a:latin typeface="Arial"/>
                  <a:ea typeface="Microsoft YaHei"/>
                  <a:cs typeface="Arial"/>
                </a:rPr>
                <a:t>A heat pump does not create heat from nothing.</a:t>
              </a:r>
            </a:p>
          </p:txBody>
        </p:sp>
        <p:sp>
          <p:nvSpPr>
            <p:cNvPr id="39" name="TextBox 39"/>
            <p:cNvSpPr txBox="1"/>
            <p:nvPr/>
          </p:nvSpPr>
          <p:spPr>
            <a:xfrm>
              <a:off x="836295" y="4889182"/>
              <a:ext cx="6620732" cy="335280"/>
            </a:xfrm>
            <a:prstGeom prst="rect">
              <a:avLst/>
            </a:prstGeom>
            <a:noFill/>
            <a:ln>
              <a:noFill/>
            </a:ln>
          </p:spPr>
          <p:txBody>
            <a:bodyPr wrap="none" lIns="0" tIns="0" rIns="0" bIns="0" anchor="t" anchorCtr="0">
              <a:spAutoFit/>
            </a:bodyPr>
            <a:lstStyle/>
            <a:p>
              <a:pPr algn="l"/>
              <a:r>
                <a:rPr lang="zh-CN" sz="1650" dirty="0">
                  <a:solidFill>
                    <a:srgbClr val="9FB2C8"/>
                  </a:solidFill>
                  <a:latin typeface="Arial"/>
                  <a:ea typeface="Microsoft YaHei"/>
                  <a:cs typeface="Arial"/>
                </a:rPr>
                <a:t>It uses a compressor to move heat along a refrigerant cycle.</a:t>
              </a:r>
            </a:p>
          </p:txBody>
        </p:sp>
      </p:grpSp>
      <p:sp>
        <p:nvSpPr>
          <p:cNvPr id="41" name="TextBox 41"/>
          <p:cNvSpPr txBox="1"/>
          <p:nvPr/>
        </p:nvSpPr>
        <p:spPr>
          <a:xfrm>
            <a:off x="540068" y="6238399"/>
            <a:ext cx="5719477" cy="198120"/>
          </a:xfrm>
          <a:prstGeom prst="rect">
            <a:avLst/>
          </a:prstGeom>
          <a:noFill/>
          <a:ln>
            <a:noFill/>
          </a:ln>
        </p:spPr>
        <p:txBody>
          <a:bodyPr wrap="none" lIns="0" tIns="0" rIns="0" bIns="0" anchor="t" anchorCtr="0">
            <a:spAutoFit/>
          </a:bodyPr>
          <a:lstStyle/>
          <a:p>
            <a:pPr algn="l"/>
            <a:r>
              <a:rPr lang="zh-CN" sz="975" dirty="0">
                <a:solidFill>
                  <a:srgbClr val="9FB2C8"/>
                </a:solidFill>
                <a:latin typeface="Arial"/>
                <a:ea typeface="Microsoft YaHei"/>
                <a:cs typeface="Arial"/>
              </a:rPr>
              <a:t>Source: Vapor-compression heat pump notes | editable SVG components, arrows, and text</a:t>
            </a:r>
          </a:p>
        </p:txBody>
      </p:sp>
      <p:sp>
        <p:nvSpPr>
          <p:cNvPr id="42" name="TextBox 42"/>
          <p:cNvSpPr txBox="1"/>
          <p:nvPr/>
        </p:nvSpPr>
        <p:spPr>
          <a:xfrm>
            <a:off x="11398568" y="6238399"/>
            <a:ext cx="460319" cy="198120"/>
          </a:xfrm>
          <a:prstGeom prst="rect">
            <a:avLst/>
          </a:prstGeom>
          <a:noFill/>
          <a:ln>
            <a:noFill/>
          </a:ln>
        </p:spPr>
        <p:txBody>
          <a:bodyPr wrap="none" lIns="0" tIns="0" rIns="0" bIns="0" anchor="t" anchorCtr="0">
            <a:spAutoFit/>
          </a:bodyPr>
          <a:lstStyle/>
          <a:p>
            <a:pPr algn="l"/>
            <a:r>
              <a:rPr lang="zh-CN" sz="975" dirty="0">
                <a:solidFill>
                  <a:srgbClr val="9FB2C8"/>
                </a:solidFill>
                <a:latin typeface="Consolas"/>
                <a:ea typeface="Microsoft YaHei"/>
                <a:cs typeface="Consolas"/>
              </a:rPr>
              <a:t>01 / 09</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slide(fromBottom)">
                                      <p:cBhvr>
                                        <p:cTn id="15" dur="400"/>
                                        <p:tgtEl>
                                          <p:spTgt spid="35"/>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image">
                                      <p:cBhvr>
                                        <p:cTn id="19"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35" grpId="0"/>
      <p:bldP spid="4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E1117"/>
          </a:solidFill>
          <a:ln>
            <a:noFill/>
          </a:ln>
        </p:spPr>
      </p:sp>
      <p:sp>
        <p:nvSpPr>
          <p:cNvPr id="3" name="Freeform 3"/>
          <p:cNvSpPr/>
          <p:nvPr/>
        </p:nvSpPr>
        <p:spPr>
          <a:xfrm>
            <a:off x="762000" y="0"/>
            <a:ext cx="10668000" cy="6858000"/>
          </a:xfrm>
          <a:custGeom>
            <a:avLst/>
            <a:gdLst/>
            <a:ahLst/>
            <a:cxnLst/>
            <a:rect l="l" t="t" r="r" b="b"/>
            <a:pathLst>
              <a:path w="10668000" h="6858000">
                <a:moveTo>
                  <a:pt x="0" y="0"/>
                </a:moveTo>
                <a:lnTo>
                  <a:pt x="0" y="6858000"/>
                </a:lnTo>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path>
            </a:pathLst>
          </a:custGeom>
          <a:solidFill>
            <a:srgbClr val="000000"/>
          </a:solidFill>
          <a:ln w="9525">
            <a:solidFill>
              <a:srgbClr val="25364A"/>
            </a:solidFill>
          </a:ln>
        </p:spPr>
      </p:sp>
      <p:sp>
        <p:nvSpPr>
          <p:cNvPr id="4" name="Freeform 4"/>
          <p:cNvSpPr/>
          <p:nvPr/>
        </p:nvSpPr>
        <p:spPr>
          <a:xfrm>
            <a:off x="0" y="762000"/>
            <a:ext cx="12192000" cy="5334000"/>
          </a:xfrm>
          <a:custGeom>
            <a:avLst/>
            <a:gdLst/>
            <a:ahLst/>
            <a:cxnLst/>
            <a:rect l="l" t="t" r="r" b="b"/>
            <a:pathLst>
              <a:path w="12192000" h="5334000">
                <a:moveTo>
                  <a:pt x="0" y="0"/>
                </a:moveTo>
                <a:lnTo>
                  <a:pt x="12192000" y="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path>
            </a:pathLst>
          </a:custGeom>
          <a:solidFill>
            <a:srgbClr val="000000"/>
          </a:solidFill>
          <a:ln w="9525">
            <a:solidFill>
              <a:srgbClr val="25364A"/>
            </a:solidFill>
          </a:ln>
        </p:spPr>
      </p:sp>
      <p:grpSp>
        <p:nvGrpSpPr>
          <p:cNvPr id="8" name="Group 8"/>
          <p:cNvGrpSpPr/>
          <p:nvPr/>
        </p:nvGrpSpPr>
        <p:grpSpPr>
          <a:xfrm>
            <a:off x="481965" y="334328"/>
            <a:ext cx="11195685" cy="780097"/>
            <a:chOff x="481965" y="334328"/>
            <a:chExt cx="11195685" cy="780097"/>
          </a:xfrm>
        </p:grpSpPr>
        <p:sp>
          <p:nvSpPr>
            <p:cNvPr id="5" name="TextBox 5"/>
            <p:cNvSpPr txBox="1"/>
            <p:nvPr/>
          </p:nvSpPr>
          <p:spPr>
            <a:xfrm>
              <a:off x="481965" y="334328"/>
              <a:ext cx="5652518" cy="518160"/>
            </a:xfrm>
            <a:prstGeom prst="rect">
              <a:avLst/>
            </a:prstGeom>
            <a:noFill/>
            <a:ln>
              <a:noFill/>
            </a:ln>
          </p:spPr>
          <p:txBody>
            <a:bodyPr wrap="none" lIns="0" tIns="0" rIns="0" bIns="0" anchor="t" anchorCtr="0">
              <a:spAutoFit/>
            </a:bodyPr>
            <a:lstStyle/>
            <a:p>
              <a:pPr algn="l"/>
              <a:r>
                <a:rPr lang="zh-CN" sz="2550" b="1" dirty="0">
                  <a:solidFill>
                    <a:srgbClr val="F5F7FA"/>
                  </a:solidFill>
                  <a:latin typeface="Arial"/>
                  <a:ea typeface="Microsoft YaHei"/>
                  <a:cs typeface="Arial"/>
                </a:rPr>
                <a:t>The Energy Balance to Remember</a:t>
              </a:r>
            </a:p>
          </p:txBody>
        </p:sp>
        <p:sp>
          <p:nvSpPr>
            <p:cNvPr id="6" name="TextBox 6"/>
            <p:cNvSpPr txBox="1"/>
            <p:nvPr/>
          </p:nvSpPr>
          <p:spPr>
            <a:xfrm>
              <a:off x="497205" y="768668"/>
              <a:ext cx="6776133" cy="274320"/>
            </a:xfrm>
            <a:prstGeom prst="rect">
              <a:avLst/>
            </a:prstGeom>
            <a:noFill/>
            <a:ln>
              <a:noFill/>
            </a:ln>
          </p:spPr>
          <p:txBody>
            <a:bodyPr wrap="none" lIns="0" tIns="0" rIns="0" bIns="0" anchor="t" anchorCtr="0">
              <a:spAutoFit/>
            </a:bodyPr>
            <a:lstStyle/>
            <a:p>
              <a:pPr algn="l"/>
              <a:r>
                <a:rPr lang="zh-CN" sz="1350" dirty="0">
                  <a:solidFill>
                    <a:srgbClr val="9FB2C8"/>
                  </a:solidFill>
                  <a:latin typeface="Arial"/>
                  <a:ea typeface="Microsoft YaHei"/>
                  <a:cs typeface="Arial"/>
                </a:rPr>
                <a:t>A heat pump uses work to move heat; it is not a heat-from-nothing machine.</a:t>
              </a:r>
            </a:p>
          </p:txBody>
        </p:sp>
        <p:sp>
          <p:nvSpPr>
            <p:cNvPr id="7" name="Line 7"/>
            <p:cNvSpPr/>
            <p:nvPr/>
          </p:nvSpPr>
          <p:spPr>
            <a:xfrm>
              <a:off x="514350" y="1104900"/>
              <a:ext cx="11163300" cy="9525"/>
            </a:xfrm>
            <a:custGeom>
              <a:avLst/>
              <a:gdLst/>
              <a:ahLst/>
              <a:cxnLst/>
              <a:rect l="l" t="t" r="r" b="b"/>
              <a:pathLst>
                <a:path w="11163300" h="9525">
                  <a:moveTo>
                    <a:pt x="0" y="0"/>
                  </a:moveTo>
                  <a:lnTo>
                    <a:pt x="11163300" y="0"/>
                  </a:lnTo>
                </a:path>
              </a:pathLst>
            </a:custGeom>
            <a:noFill/>
            <a:ln w="19050">
              <a:solidFill>
                <a:srgbClr val="38506A"/>
              </a:solidFill>
            </a:ln>
          </p:spPr>
        </p:sp>
      </p:grpSp>
      <p:grpSp>
        <p:nvGrpSpPr>
          <p:cNvPr id="31" name="Group 31"/>
          <p:cNvGrpSpPr/>
          <p:nvPr/>
        </p:nvGrpSpPr>
        <p:grpSpPr>
          <a:xfrm>
            <a:off x="526137" y="1714500"/>
            <a:ext cx="10922913" cy="4048125"/>
            <a:chOff x="526137" y="1714500"/>
            <a:chExt cx="10922913" cy="4048125"/>
          </a:xfrm>
        </p:grpSpPr>
        <p:sp>
          <p:nvSpPr>
            <p:cNvPr id="9" name="Rectangle 9"/>
            <p:cNvSpPr/>
            <p:nvPr/>
          </p:nvSpPr>
          <p:spPr>
            <a:xfrm>
              <a:off x="742950" y="1905000"/>
              <a:ext cx="2400300" cy="2000250"/>
            </a:xfrm>
            <a:prstGeom prst="roundRect">
              <a:avLst>
                <a:gd name="adj" fmla="val 8571"/>
              </a:avLst>
            </a:prstGeom>
            <a:solidFill>
              <a:srgbClr val="142033"/>
            </a:solidFill>
            <a:ln w="28575">
              <a:solidFill>
                <a:srgbClr val="4DA3FF"/>
              </a:solidFill>
            </a:ln>
          </p:spPr>
        </p:sp>
        <p:sp>
          <p:nvSpPr>
            <p:cNvPr id="10" name="TextBox 10"/>
            <p:cNvSpPr txBox="1"/>
            <p:nvPr/>
          </p:nvSpPr>
          <p:spPr>
            <a:xfrm>
              <a:off x="1006986" y="2159794"/>
              <a:ext cx="1872228" cy="381000"/>
            </a:xfrm>
            <a:prstGeom prst="rect">
              <a:avLst/>
            </a:prstGeom>
            <a:noFill/>
            <a:ln>
              <a:noFill/>
            </a:ln>
          </p:spPr>
          <p:txBody>
            <a:bodyPr wrap="none" lIns="0" tIns="0" rIns="0" bIns="0" anchor="t" anchorCtr="0">
              <a:spAutoFit/>
            </a:bodyPr>
            <a:lstStyle/>
            <a:p>
              <a:pPr algn="ctr"/>
              <a:r>
                <a:rPr lang="zh-CN" sz="1875" b="1" dirty="0">
                  <a:solidFill>
                    <a:srgbClr val="4DA3FF"/>
                  </a:solidFill>
                  <a:latin typeface="Arial"/>
                  <a:ea typeface="Microsoft YaHei"/>
                  <a:cs typeface="Arial"/>
                </a:rPr>
                <a:t>Cold reservoir</a:t>
              </a:r>
            </a:p>
          </p:txBody>
        </p:sp>
        <p:sp>
          <p:nvSpPr>
            <p:cNvPr id="11" name="TextBox 11"/>
            <p:cNvSpPr txBox="1"/>
            <p:nvPr/>
          </p:nvSpPr>
          <p:spPr>
            <a:xfrm>
              <a:off x="1397687" y="2551271"/>
              <a:ext cx="1090827" cy="289560"/>
            </a:xfrm>
            <a:prstGeom prst="rect">
              <a:avLst/>
            </a:prstGeom>
            <a:noFill/>
            <a:ln>
              <a:noFill/>
            </a:ln>
          </p:spPr>
          <p:txBody>
            <a:bodyPr wrap="none" lIns="0" tIns="0" rIns="0" bIns="0" anchor="t" anchorCtr="0">
              <a:spAutoFit/>
            </a:bodyPr>
            <a:lstStyle/>
            <a:p>
              <a:pPr algn="ctr"/>
              <a:r>
                <a:rPr lang="zh-CN" sz="1425" dirty="0">
                  <a:solidFill>
                    <a:srgbClr val="F5F7FA"/>
                  </a:solidFill>
                  <a:latin typeface="Arial"/>
                  <a:ea typeface="Microsoft YaHei"/>
                  <a:cs typeface="Arial"/>
                </a:rPr>
                <a:t>outdoor air</a:t>
              </a:r>
            </a:p>
          </p:txBody>
        </p:sp>
        <p:sp>
          <p:nvSpPr>
            <p:cNvPr id="12" name="Freeform 12"/>
            <p:cNvSpPr/>
            <p:nvPr/>
          </p:nvSpPr>
          <p:spPr>
            <a:xfrm>
              <a:off x="1219200" y="3009900"/>
              <a:ext cx="1162050" cy="723900"/>
            </a:xfrm>
            <a:custGeom>
              <a:avLst/>
              <a:gdLst/>
              <a:ahLst/>
              <a:cxnLst/>
              <a:rect l="l" t="t" r="r" b="b"/>
              <a:pathLst>
                <a:path w="1162050" h="723900">
                  <a:moveTo>
                    <a:pt x="0" y="266700"/>
                  </a:moveTo>
                  <a:cubicBezTo>
                    <a:pt x="323850" y="0"/>
                    <a:pt x="742950" y="723900"/>
                    <a:pt x="1162050" y="247650"/>
                  </a:cubicBezTo>
                </a:path>
              </a:pathLst>
            </a:custGeom>
            <a:noFill/>
            <a:ln w="47625">
              <a:solidFill>
                <a:srgbClr val="4DA3FF"/>
              </a:solidFill>
            </a:ln>
          </p:spPr>
        </p:sp>
        <p:sp>
          <p:nvSpPr>
            <p:cNvPr id="13" name="TextBox 13"/>
            <p:cNvSpPr txBox="1"/>
            <p:nvPr/>
          </p:nvSpPr>
          <p:spPr>
            <a:xfrm>
              <a:off x="526137" y="3517106"/>
              <a:ext cx="2833926" cy="228600"/>
            </a:xfrm>
            <a:prstGeom prst="rect">
              <a:avLst/>
            </a:prstGeom>
            <a:noFill/>
            <a:ln>
              <a:noFill/>
            </a:ln>
          </p:spPr>
          <p:txBody>
            <a:bodyPr wrap="none" lIns="0" tIns="0" rIns="0" bIns="0" anchor="t" anchorCtr="0">
              <a:spAutoFit/>
            </a:bodyPr>
            <a:lstStyle/>
            <a:p>
              <a:pPr algn="ctr"/>
              <a:r>
                <a:rPr lang="zh-CN" sz="1125" dirty="0">
                  <a:solidFill>
                    <a:srgbClr val="9FB2C8"/>
                  </a:solidFill>
                  <a:latin typeface="Arial"/>
                  <a:ea typeface="Microsoft YaHei"/>
                  <a:cs typeface="Arial"/>
                </a:rPr>
                <a:t>heat is available, even when air is cold</a:t>
              </a:r>
            </a:p>
          </p:txBody>
        </p:sp>
        <p:sp>
          <p:nvSpPr>
            <p:cNvPr id="14" name="Rectangle 14"/>
            <p:cNvSpPr/>
            <p:nvPr/>
          </p:nvSpPr>
          <p:spPr>
            <a:xfrm>
              <a:off x="4895850" y="1714500"/>
              <a:ext cx="2419350" cy="2381250"/>
            </a:xfrm>
            <a:prstGeom prst="roundRect">
              <a:avLst>
                <a:gd name="adj" fmla="val 8800"/>
              </a:avLst>
            </a:prstGeom>
            <a:solidFill>
              <a:srgbClr val="18283D"/>
            </a:solidFill>
            <a:ln w="28575">
              <a:solidFill>
                <a:srgbClr val="3DDC97"/>
              </a:solidFill>
            </a:ln>
          </p:spPr>
        </p:sp>
        <p:sp>
          <p:nvSpPr>
            <p:cNvPr id="15" name="TextBox 15"/>
            <p:cNvSpPr txBox="1"/>
            <p:nvPr/>
          </p:nvSpPr>
          <p:spPr>
            <a:xfrm>
              <a:off x="5385146" y="1924526"/>
              <a:ext cx="1440759" cy="411480"/>
            </a:xfrm>
            <a:prstGeom prst="rect">
              <a:avLst/>
            </a:prstGeom>
            <a:noFill/>
            <a:ln>
              <a:noFill/>
            </a:ln>
          </p:spPr>
          <p:txBody>
            <a:bodyPr wrap="none" lIns="0" tIns="0" rIns="0" bIns="0" anchor="t" anchorCtr="0">
              <a:spAutoFit/>
            </a:bodyPr>
            <a:lstStyle/>
            <a:p>
              <a:pPr algn="ctr"/>
              <a:r>
                <a:rPr lang="zh-CN" sz="2025" b="1" dirty="0">
                  <a:solidFill>
                    <a:srgbClr val="F5F7FA"/>
                  </a:solidFill>
                  <a:latin typeface="Arial"/>
                  <a:ea typeface="Microsoft YaHei"/>
                  <a:cs typeface="Arial"/>
                </a:rPr>
                <a:t>Heat pump</a:t>
              </a:r>
            </a:p>
          </p:txBody>
        </p:sp>
        <p:sp>
          <p:nvSpPr>
            <p:cNvPr id="16" name="Ellipse 16"/>
            <p:cNvSpPr/>
            <p:nvPr/>
          </p:nvSpPr>
          <p:spPr>
            <a:xfrm>
              <a:off x="5553075" y="2419350"/>
              <a:ext cx="1104900" cy="1104900"/>
            </a:xfrm>
            <a:prstGeom prst="ellipse">
              <a:avLst/>
            </a:prstGeom>
            <a:solidFill>
              <a:srgbClr val="142033"/>
            </a:solidFill>
            <a:ln w="38100">
              <a:solidFill>
                <a:srgbClr val="3DDC97"/>
              </a:solidFill>
            </a:ln>
          </p:spPr>
        </p:sp>
        <p:sp>
          <p:nvSpPr>
            <p:cNvPr id="17" name="Freeform 17"/>
            <p:cNvSpPr/>
            <p:nvPr/>
          </p:nvSpPr>
          <p:spPr>
            <a:xfrm>
              <a:off x="5772150" y="2686050"/>
              <a:ext cx="666750" cy="571500"/>
            </a:xfrm>
            <a:custGeom>
              <a:avLst/>
              <a:gdLst/>
              <a:ahLst/>
              <a:cxnLst/>
              <a:rect l="l" t="t" r="r" b="b"/>
              <a:pathLst>
                <a:path w="666750" h="571500">
                  <a:moveTo>
                    <a:pt x="0" y="285750"/>
                  </a:moveTo>
                  <a:cubicBezTo>
                    <a:pt x="0" y="0"/>
                    <a:pt x="666750" y="0"/>
                    <a:pt x="666750" y="285750"/>
                  </a:cubicBezTo>
                  <a:cubicBezTo>
                    <a:pt x="666750" y="571500"/>
                    <a:pt x="0" y="571500"/>
                    <a:pt x="0" y="285750"/>
                  </a:cubicBezTo>
                </a:path>
              </a:pathLst>
            </a:custGeom>
            <a:noFill/>
            <a:ln w="38100">
              <a:solidFill>
                <a:srgbClr val="3DDC97"/>
              </a:solidFill>
            </a:ln>
          </p:spPr>
        </p:sp>
        <p:sp>
          <p:nvSpPr>
            <p:cNvPr id="18" name="TextBox 18"/>
            <p:cNvSpPr txBox="1"/>
            <p:nvPr/>
          </p:nvSpPr>
          <p:spPr>
            <a:xfrm>
              <a:off x="5852100" y="2892742"/>
              <a:ext cx="506849" cy="274320"/>
            </a:xfrm>
            <a:prstGeom prst="rect">
              <a:avLst/>
            </a:prstGeom>
            <a:noFill/>
            <a:ln>
              <a:noFill/>
            </a:ln>
          </p:spPr>
          <p:txBody>
            <a:bodyPr wrap="none" lIns="0" tIns="0" rIns="0" bIns="0" anchor="t" anchorCtr="0">
              <a:spAutoFit/>
            </a:bodyPr>
            <a:lstStyle/>
            <a:p>
              <a:pPr algn="ctr"/>
              <a:r>
                <a:rPr lang="zh-CN" sz="1350" b="1" dirty="0">
                  <a:solidFill>
                    <a:srgbClr val="3DDC97"/>
                  </a:solidFill>
                  <a:latin typeface="Arial"/>
                  <a:ea typeface="Microsoft YaHei"/>
                  <a:cs typeface="Arial"/>
                </a:rPr>
                <a:t>cycle</a:t>
              </a:r>
            </a:p>
          </p:txBody>
        </p:sp>
        <p:sp>
          <p:nvSpPr>
            <p:cNvPr id="19" name="TextBox 19"/>
            <p:cNvSpPr txBox="1"/>
            <p:nvPr/>
          </p:nvSpPr>
          <p:spPr>
            <a:xfrm>
              <a:off x="4770120" y="3670935"/>
              <a:ext cx="2670810" cy="243840"/>
            </a:xfrm>
            <a:prstGeom prst="rect">
              <a:avLst/>
            </a:prstGeom>
            <a:noFill/>
            <a:ln>
              <a:noFill/>
            </a:ln>
          </p:spPr>
          <p:txBody>
            <a:bodyPr wrap="none" lIns="0" tIns="0" rIns="0" bIns="0" anchor="t" anchorCtr="0">
              <a:spAutoFit/>
            </a:bodyPr>
            <a:lstStyle/>
            <a:p>
              <a:pPr algn="ctr"/>
              <a:r>
                <a:rPr lang="zh-CN" sz="1200" dirty="0">
                  <a:solidFill>
                    <a:srgbClr val="9FB2C8"/>
                  </a:solidFill>
                  <a:latin typeface="Arial"/>
                  <a:ea typeface="Microsoft YaHei"/>
                  <a:cs typeface="Arial"/>
                </a:rPr>
                <a:t>compressor adds work to the loop</a:t>
              </a:r>
            </a:p>
          </p:txBody>
        </p:sp>
        <p:sp>
          <p:nvSpPr>
            <p:cNvPr id="20" name="Rectangle 20"/>
            <p:cNvSpPr/>
            <p:nvPr/>
          </p:nvSpPr>
          <p:spPr>
            <a:xfrm>
              <a:off x="9048750" y="1905000"/>
              <a:ext cx="2400300" cy="2000250"/>
            </a:xfrm>
            <a:prstGeom prst="roundRect">
              <a:avLst>
                <a:gd name="adj" fmla="val 8571"/>
              </a:avLst>
            </a:prstGeom>
            <a:solidFill>
              <a:srgbClr val="142033"/>
            </a:solidFill>
            <a:ln w="28575">
              <a:solidFill>
                <a:srgbClr val="FFB000"/>
              </a:solidFill>
            </a:ln>
          </p:spPr>
        </p:sp>
        <p:sp>
          <p:nvSpPr>
            <p:cNvPr id="21" name="TextBox 21"/>
            <p:cNvSpPr txBox="1"/>
            <p:nvPr/>
          </p:nvSpPr>
          <p:spPr>
            <a:xfrm>
              <a:off x="9483432" y="2159794"/>
              <a:ext cx="1530935" cy="381000"/>
            </a:xfrm>
            <a:prstGeom prst="rect">
              <a:avLst/>
            </a:prstGeom>
            <a:noFill/>
            <a:ln>
              <a:noFill/>
            </a:ln>
          </p:spPr>
          <p:txBody>
            <a:bodyPr wrap="none" lIns="0" tIns="0" rIns="0" bIns="0" anchor="t" anchorCtr="0">
              <a:spAutoFit/>
            </a:bodyPr>
            <a:lstStyle/>
            <a:p>
              <a:pPr algn="ctr"/>
              <a:r>
                <a:rPr lang="zh-CN" sz="1875" b="1" dirty="0">
                  <a:solidFill>
                    <a:srgbClr val="FFB000"/>
                  </a:solidFill>
                  <a:latin typeface="Arial"/>
                  <a:ea typeface="Microsoft YaHei"/>
                  <a:cs typeface="Arial"/>
                </a:rPr>
                <a:t>Warm space</a:t>
              </a:r>
            </a:p>
          </p:txBody>
        </p:sp>
        <p:sp>
          <p:nvSpPr>
            <p:cNvPr id="22" name="TextBox 22"/>
            <p:cNvSpPr txBox="1"/>
            <p:nvPr/>
          </p:nvSpPr>
          <p:spPr>
            <a:xfrm>
              <a:off x="9570470" y="2551271"/>
              <a:ext cx="1356860" cy="289560"/>
            </a:xfrm>
            <a:prstGeom prst="rect">
              <a:avLst/>
            </a:prstGeom>
            <a:noFill/>
            <a:ln>
              <a:noFill/>
            </a:ln>
          </p:spPr>
          <p:txBody>
            <a:bodyPr wrap="none" lIns="0" tIns="0" rIns="0" bIns="0" anchor="t" anchorCtr="0">
              <a:spAutoFit/>
            </a:bodyPr>
            <a:lstStyle/>
            <a:p>
              <a:pPr algn="ctr"/>
              <a:r>
                <a:rPr lang="zh-CN" sz="1425" dirty="0">
                  <a:solidFill>
                    <a:srgbClr val="F5F7FA"/>
                  </a:solidFill>
                  <a:latin typeface="Arial"/>
                  <a:ea typeface="Microsoft YaHei"/>
                  <a:cs typeface="Arial"/>
                </a:rPr>
                <a:t>indoor heating</a:t>
              </a:r>
            </a:p>
          </p:txBody>
        </p:sp>
        <p:sp>
          <p:nvSpPr>
            <p:cNvPr id="23" name="Freeform 23"/>
            <p:cNvSpPr/>
            <p:nvPr/>
          </p:nvSpPr>
          <p:spPr>
            <a:xfrm>
              <a:off x="9544050" y="2857500"/>
              <a:ext cx="1447800" cy="838200"/>
            </a:xfrm>
            <a:custGeom>
              <a:avLst/>
              <a:gdLst/>
              <a:ahLst/>
              <a:cxnLst/>
              <a:rect l="l" t="t" r="r" b="b"/>
              <a:pathLst>
                <a:path w="1447800" h="838200">
                  <a:moveTo>
                    <a:pt x="0" y="419100"/>
                  </a:moveTo>
                  <a:cubicBezTo>
                    <a:pt x="438150" y="0"/>
                    <a:pt x="971550" y="838200"/>
                    <a:pt x="1447800" y="342900"/>
                  </a:cubicBezTo>
                </a:path>
              </a:pathLst>
            </a:custGeom>
            <a:noFill/>
            <a:ln w="47625">
              <a:solidFill>
                <a:srgbClr val="FFB000"/>
              </a:solidFill>
            </a:ln>
          </p:spPr>
        </p:sp>
        <p:sp>
          <p:nvSpPr>
            <p:cNvPr id="24" name="TextBox 24"/>
            <p:cNvSpPr txBox="1"/>
            <p:nvPr/>
          </p:nvSpPr>
          <p:spPr>
            <a:xfrm>
              <a:off x="9169479" y="3517106"/>
              <a:ext cx="2158841" cy="228600"/>
            </a:xfrm>
            <a:prstGeom prst="rect">
              <a:avLst/>
            </a:prstGeom>
            <a:noFill/>
            <a:ln>
              <a:noFill/>
            </a:ln>
          </p:spPr>
          <p:txBody>
            <a:bodyPr wrap="none" lIns="0" tIns="0" rIns="0" bIns="0" anchor="t" anchorCtr="0">
              <a:spAutoFit/>
            </a:bodyPr>
            <a:lstStyle/>
            <a:p>
              <a:pPr algn="ctr"/>
              <a:r>
                <a:rPr lang="zh-CN" sz="1125" dirty="0">
                  <a:solidFill>
                    <a:srgbClr val="9FB2C8"/>
                  </a:solidFill>
                  <a:latin typeface="Arial"/>
                  <a:ea typeface="Microsoft YaHei"/>
                  <a:cs typeface="Arial"/>
                </a:rPr>
                <a:t>useful heat delivered indoors</a:t>
              </a:r>
            </a:p>
          </p:txBody>
        </p:sp>
        <p:sp>
          <p:nvSpPr>
            <p:cNvPr id="25" name="Freeform 25"/>
            <p:cNvSpPr/>
            <p:nvPr/>
          </p:nvSpPr>
          <p:spPr>
            <a:xfrm>
              <a:off x="3181350" y="2905125"/>
              <a:ext cx="1638300" cy="9525"/>
            </a:xfrm>
            <a:custGeom>
              <a:avLst/>
              <a:gdLst/>
              <a:ahLst/>
              <a:cxnLst/>
              <a:rect l="l" t="t" r="r" b="b"/>
              <a:pathLst>
                <a:path w="1638300" h="9525">
                  <a:moveTo>
                    <a:pt x="0" y="0"/>
                  </a:moveTo>
                  <a:lnTo>
                    <a:pt x="1638300" y="0"/>
                  </a:lnTo>
                </a:path>
              </a:pathLst>
            </a:custGeom>
            <a:noFill/>
            <a:ln w="57150">
              <a:solidFill>
                <a:srgbClr val="4DA3FF"/>
              </a:solidFill>
              <a:tailEnd type="triangle" w="lg" len="lg"/>
            </a:ln>
          </p:spPr>
        </p:sp>
        <p:sp>
          <p:nvSpPr>
            <p:cNvPr id="26" name="TextBox 26"/>
            <p:cNvSpPr txBox="1"/>
            <p:nvPr/>
          </p:nvSpPr>
          <p:spPr>
            <a:xfrm>
              <a:off x="3640157" y="2524125"/>
              <a:ext cx="720685" cy="304800"/>
            </a:xfrm>
            <a:prstGeom prst="rect">
              <a:avLst/>
            </a:prstGeom>
            <a:noFill/>
            <a:ln>
              <a:noFill/>
            </a:ln>
          </p:spPr>
          <p:txBody>
            <a:bodyPr wrap="none" lIns="0" tIns="0" rIns="0" bIns="0" anchor="t" anchorCtr="0">
              <a:spAutoFit/>
            </a:bodyPr>
            <a:lstStyle/>
            <a:p>
              <a:pPr algn="ctr"/>
              <a:r>
                <a:rPr lang="zh-CN" sz="1500" b="1" dirty="0">
                  <a:solidFill>
                    <a:srgbClr val="4DA3FF"/>
                  </a:solidFill>
                  <a:latin typeface="Consolas"/>
                  <a:ea typeface="Microsoft YaHei"/>
                  <a:cs typeface="Consolas"/>
                </a:rPr>
                <a:t>Q_cold</a:t>
              </a:r>
            </a:p>
          </p:txBody>
        </p:sp>
        <p:sp>
          <p:nvSpPr>
            <p:cNvPr id="27" name="Freeform 27"/>
            <p:cNvSpPr/>
            <p:nvPr/>
          </p:nvSpPr>
          <p:spPr>
            <a:xfrm>
              <a:off x="6105525" y="4171950"/>
              <a:ext cx="9525" cy="1085850"/>
            </a:xfrm>
            <a:custGeom>
              <a:avLst/>
              <a:gdLst/>
              <a:ahLst/>
              <a:cxnLst/>
              <a:rect l="l" t="t" r="r" b="b"/>
              <a:pathLst>
                <a:path w="9525" h="1085850">
                  <a:moveTo>
                    <a:pt x="0" y="1085850"/>
                  </a:moveTo>
                  <a:lnTo>
                    <a:pt x="0" y="0"/>
                  </a:lnTo>
                </a:path>
              </a:pathLst>
            </a:custGeom>
            <a:noFill/>
            <a:ln w="57150">
              <a:solidFill>
                <a:srgbClr val="FF5C8A"/>
              </a:solidFill>
              <a:tailEnd type="triangle" w="lg" len="lg"/>
            </a:ln>
          </p:spPr>
        </p:sp>
        <p:sp>
          <p:nvSpPr>
            <p:cNvPr id="28" name="TextBox 28"/>
            <p:cNvSpPr txBox="1"/>
            <p:nvPr/>
          </p:nvSpPr>
          <p:spPr>
            <a:xfrm>
              <a:off x="5860697" y="5457825"/>
              <a:ext cx="489656" cy="304800"/>
            </a:xfrm>
            <a:prstGeom prst="rect">
              <a:avLst/>
            </a:prstGeom>
            <a:noFill/>
            <a:ln>
              <a:noFill/>
            </a:ln>
          </p:spPr>
          <p:txBody>
            <a:bodyPr wrap="none" lIns="0" tIns="0" rIns="0" bIns="0" anchor="t" anchorCtr="0">
              <a:spAutoFit/>
            </a:bodyPr>
            <a:lstStyle/>
            <a:p>
              <a:pPr algn="ctr"/>
              <a:r>
                <a:rPr lang="zh-CN" sz="1500" b="1" dirty="0">
                  <a:solidFill>
                    <a:srgbClr val="FF5C8A"/>
                  </a:solidFill>
                  <a:latin typeface="Consolas"/>
                  <a:ea typeface="Microsoft YaHei"/>
                  <a:cs typeface="Consolas"/>
                </a:rPr>
                <a:t>W_in</a:t>
              </a:r>
            </a:p>
          </p:txBody>
        </p:sp>
        <p:sp>
          <p:nvSpPr>
            <p:cNvPr id="29" name="Freeform 29"/>
            <p:cNvSpPr/>
            <p:nvPr/>
          </p:nvSpPr>
          <p:spPr>
            <a:xfrm>
              <a:off x="7391400" y="2905125"/>
              <a:ext cx="1600200" cy="9525"/>
            </a:xfrm>
            <a:custGeom>
              <a:avLst/>
              <a:gdLst/>
              <a:ahLst/>
              <a:cxnLst/>
              <a:rect l="l" t="t" r="r" b="b"/>
              <a:pathLst>
                <a:path w="1600200" h="9525">
                  <a:moveTo>
                    <a:pt x="0" y="0"/>
                  </a:moveTo>
                  <a:lnTo>
                    <a:pt x="1600200" y="0"/>
                  </a:lnTo>
                </a:path>
              </a:pathLst>
            </a:custGeom>
            <a:noFill/>
            <a:ln w="57150">
              <a:solidFill>
                <a:srgbClr val="FFB000"/>
              </a:solidFill>
              <a:tailEnd type="triangle" w="lg" len="lg"/>
            </a:ln>
          </p:spPr>
        </p:sp>
        <p:sp>
          <p:nvSpPr>
            <p:cNvPr id="30" name="TextBox 30"/>
            <p:cNvSpPr txBox="1"/>
            <p:nvPr/>
          </p:nvSpPr>
          <p:spPr>
            <a:xfrm>
              <a:off x="7881711" y="2524125"/>
              <a:ext cx="657677" cy="304800"/>
            </a:xfrm>
            <a:prstGeom prst="rect">
              <a:avLst/>
            </a:prstGeom>
            <a:noFill/>
            <a:ln>
              <a:noFill/>
            </a:ln>
          </p:spPr>
          <p:txBody>
            <a:bodyPr wrap="none" lIns="0" tIns="0" rIns="0" bIns="0" anchor="t" anchorCtr="0">
              <a:spAutoFit/>
            </a:bodyPr>
            <a:lstStyle/>
            <a:p>
              <a:pPr algn="ctr"/>
              <a:r>
                <a:rPr lang="zh-CN" sz="1500" b="1" dirty="0">
                  <a:solidFill>
                    <a:srgbClr val="FFB000"/>
                  </a:solidFill>
                  <a:latin typeface="Consolas"/>
                  <a:ea typeface="Microsoft YaHei"/>
                  <a:cs typeface="Consolas"/>
                </a:rPr>
                <a:t>Q_hot</a:t>
              </a:r>
            </a:p>
          </p:txBody>
        </p:sp>
      </p:grpSp>
      <p:grpSp>
        <p:nvGrpSpPr>
          <p:cNvPr id="35" name="Group 35"/>
          <p:cNvGrpSpPr/>
          <p:nvPr/>
        </p:nvGrpSpPr>
        <p:grpSpPr>
          <a:xfrm>
            <a:off x="2171700" y="4552950"/>
            <a:ext cx="7848600" cy="876300"/>
            <a:chOff x="2171700" y="4552950"/>
            <a:chExt cx="7848600" cy="876300"/>
          </a:xfrm>
        </p:grpSpPr>
        <p:sp>
          <p:nvSpPr>
            <p:cNvPr id="32" name="Rectangle 32"/>
            <p:cNvSpPr/>
            <p:nvPr/>
          </p:nvSpPr>
          <p:spPr>
            <a:xfrm>
              <a:off x="2171700" y="4552950"/>
              <a:ext cx="7848600" cy="876300"/>
            </a:xfrm>
            <a:prstGeom prst="roundRect">
              <a:avLst>
                <a:gd name="adj" fmla="val 17391"/>
              </a:avLst>
            </a:prstGeom>
            <a:solidFill>
              <a:srgbClr val="142033"/>
            </a:solidFill>
            <a:ln w="19050">
              <a:solidFill>
                <a:srgbClr val="38506A"/>
              </a:solidFill>
            </a:ln>
          </p:spPr>
        </p:sp>
        <p:sp>
          <p:nvSpPr>
            <p:cNvPr id="33" name="TextBox 33"/>
            <p:cNvSpPr txBox="1"/>
            <p:nvPr/>
          </p:nvSpPr>
          <p:spPr>
            <a:xfrm>
              <a:off x="4674200" y="4712494"/>
              <a:ext cx="2843599" cy="381000"/>
            </a:xfrm>
            <a:prstGeom prst="rect">
              <a:avLst/>
            </a:prstGeom>
            <a:noFill/>
            <a:ln>
              <a:noFill/>
            </a:ln>
          </p:spPr>
          <p:txBody>
            <a:bodyPr wrap="none" lIns="0" tIns="0" rIns="0" bIns="0" anchor="t" anchorCtr="0">
              <a:spAutoFit/>
            </a:bodyPr>
            <a:lstStyle/>
            <a:p>
              <a:pPr algn="ctr"/>
              <a:r>
                <a:rPr lang="zh-CN" sz="1875" b="1" dirty="0">
                  <a:solidFill>
                    <a:srgbClr val="F5F7FA"/>
                  </a:solidFill>
                  <a:latin typeface="Consolas"/>
                  <a:ea typeface="Microsoft YaHei"/>
                  <a:cs typeface="Consolas"/>
                </a:rPr>
                <a:t>Q_hot = Q_cold + W_in</a:t>
              </a:r>
            </a:p>
          </p:txBody>
        </p:sp>
        <p:sp>
          <p:nvSpPr>
            <p:cNvPr id="34" name="TextBox 34"/>
            <p:cNvSpPr txBox="1"/>
            <p:nvPr/>
          </p:nvSpPr>
          <p:spPr>
            <a:xfrm>
              <a:off x="2977967" y="5093018"/>
              <a:ext cx="6236065" cy="274320"/>
            </a:xfrm>
            <a:prstGeom prst="rect">
              <a:avLst/>
            </a:prstGeom>
            <a:noFill/>
            <a:ln>
              <a:noFill/>
            </a:ln>
          </p:spPr>
          <p:txBody>
            <a:bodyPr wrap="none" lIns="0" tIns="0" rIns="0" bIns="0" anchor="t" anchorCtr="0">
              <a:spAutoFit/>
            </a:bodyPr>
            <a:lstStyle/>
            <a:p>
              <a:pPr algn="ctr"/>
              <a:r>
                <a:rPr lang="zh-CN" sz="1350" dirty="0">
                  <a:solidFill>
                    <a:srgbClr val="9FB2C8"/>
                  </a:solidFill>
                  <a:latin typeface="Arial"/>
                  <a:ea typeface="Microsoft YaHei"/>
                  <a:cs typeface="Arial"/>
                </a:rPr>
                <a:t>The machine delivers moved heat plus compressor work as indoor heat.</a:t>
              </a:r>
            </a:p>
          </p:txBody>
        </p:sp>
      </p:grpSp>
      <p:sp>
        <p:nvSpPr>
          <p:cNvPr id="36" name="TextBox 36"/>
          <p:cNvSpPr txBox="1"/>
          <p:nvPr/>
        </p:nvSpPr>
        <p:spPr>
          <a:xfrm>
            <a:off x="501968" y="6238399"/>
            <a:ext cx="4646843" cy="198120"/>
          </a:xfrm>
          <a:prstGeom prst="rect">
            <a:avLst/>
          </a:prstGeom>
          <a:noFill/>
          <a:ln>
            <a:noFill/>
          </a:ln>
        </p:spPr>
        <p:txBody>
          <a:bodyPr wrap="none" lIns="0" tIns="0" rIns="0" bIns="0" anchor="t" anchorCtr="0">
            <a:spAutoFit/>
          </a:bodyPr>
          <a:lstStyle/>
          <a:p>
            <a:pPr algn="l"/>
            <a:r>
              <a:rPr lang="zh-CN" sz="975" dirty="0">
                <a:solidFill>
                  <a:srgbClr val="9FB2C8"/>
                </a:solidFill>
                <a:latin typeface="Arial"/>
                <a:ea typeface="Microsoft YaHei"/>
                <a:cs typeface="Arial"/>
              </a:rPr>
              <a:t>Legend: blue = absorbed heat, orange = delivered heat, pink = work input</a:t>
            </a:r>
          </a:p>
        </p:txBody>
      </p:sp>
      <p:sp>
        <p:nvSpPr>
          <p:cNvPr id="37" name="TextBox 37"/>
          <p:cNvSpPr txBox="1"/>
          <p:nvPr/>
        </p:nvSpPr>
        <p:spPr>
          <a:xfrm>
            <a:off x="11398568" y="6238399"/>
            <a:ext cx="460319" cy="198120"/>
          </a:xfrm>
          <a:prstGeom prst="rect">
            <a:avLst/>
          </a:prstGeom>
          <a:noFill/>
          <a:ln>
            <a:noFill/>
          </a:ln>
        </p:spPr>
        <p:txBody>
          <a:bodyPr wrap="none" lIns="0" tIns="0" rIns="0" bIns="0" anchor="t" anchorCtr="0">
            <a:spAutoFit/>
          </a:bodyPr>
          <a:lstStyle/>
          <a:p>
            <a:pPr algn="l"/>
            <a:r>
              <a:rPr lang="zh-CN" sz="975" dirty="0">
                <a:solidFill>
                  <a:srgbClr val="9FB2C8"/>
                </a:solidFill>
                <a:latin typeface="Consolas"/>
                <a:ea typeface="Microsoft YaHei"/>
                <a:cs typeface="Consolas"/>
              </a:rPr>
              <a:t>02 / 09</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wipe(left)">
                                      <p:cBhvr>
                                        <p:cTn id="11"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E1117"/>
          </a:solidFill>
          <a:ln>
            <a:noFill/>
          </a:ln>
        </p:spPr>
      </p:sp>
      <p:sp>
        <p:nvSpPr>
          <p:cNvPr id="3" name="Freeform 3"/>
          <p:cNvSpPr/>
          <p:nvPr/>
        </p:nvSpPr>
        <p:spPr>
          <a:xfrm>
            <a:off x="762000" y="0"/>
            <a:ext cx="10668000" cy="6858000"/>
          </a:xfrm>
          <a:custGeom>
            <a:avLst/>
            <a:gdLst/>
            <a:ahLst/>
            <a:cxnLst/>
            <a:rect l="l" t="t" r="r" b="b"/>
            <a:pathLst>
              <a:path w="10668000" h="6858000">
                <a:moveTo>
                  <a:pt x="0" y="0"/>
                </a:moveTo>
                <a:lnTo>
                  <a:pt x="0" y="6858000"/>
                </a:lnTo>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path>
            </a:pathLst>
          </a:custGeom>
          <a:solidFill>
            <a:srgbClr val="000000"/>
          </a:solidFill>
          <a:ln w="9525">
            <a:solidFill>
              <a:srgbClr val="25364A"/>
            </a:solidFill>
          </a:ln>
        </p:spPr>
      </p:sp>
      <p:sp>
        <p:nvSpPr>
          <p:cNvPr id="4" name="Freeform 4"/>
          <p:cNvSpPr/>
          <p:nvPr/>
        </p:nvSpPr>
        <p:spPr>
          <a:xfrm>
            <a:off x="0" y="762000"/>
            <a:ext cx="12192000" cy="5334000"/>
          </a:xfrm>
          <a:custGeom>
            <a:avLst/>
            <a:gdLst/>
            <a:ahLst/>
            <a:cxnLst/>
            <a:rect l="l" t="t" r="r" b="b"/>
            <a:pathLst>
              <a:path w="12192000" h="5334000">
                <a:moveTo>
                  <a:pt x="0" y="0"/>
                </a:moveTo>
                <a:lnTo>
                  <a:pt x="12192000" y="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path>
            </a:pathLst>
          </a:custGeom>
          <a:solidFill>
            <a:srgbClr val="000000"/>
          </a:solidFill>
          <a:ln w="9525">
            <a:solidFill>
              <a:srgbClr val="25364A"/>
            </a:solidFill>
          </a:ln>
        </p:spPr>
      </p:sp>
      <p:grpSp>
        <p:nvGrpSpPr>
          <p:cNvPr id="8" name="Group 8"/>
          <p:cNvGrpSpPr/>
          <p:nvPr/>
        </p:nvGrpSpPr>
        <p:grpSpPr>
          <a:xfrm>
            <a:off x="481965" y="334328"/>
            <a:ext cx="11195685" cy="780097"/>
            <a:chOff x="481965" y="334328"/>
            <a:chExt cx="11195685" cy="780097"/>
          </a:xfrm>
        </p:grpSpPr>
        <p:sp>
          <p:nvSpPr>
            <p:cNvPr id="5" name="TextBox 5"/>
            <p:cNvSpPr txBox="1"/>
            <p:nvPr/>
          </p:nvSpPr>
          <p:spPr>
            <a:xfrm>
              <a:off x="481965" y="334328"/>
              <a:ext cx="7152106" cy="518160"/>
            </a:xfrm>
            <a:prstGeom prst="rect">
              <a:avLst/>
            </a:prstGeom>
            <a:noFill/>
            <a:ln>
              <a:noFill/>
            </a:ln>
          </p:spPr>
          <p:txBody>
            <a:bodyPr wrap="none" lIns="0" tIns="0" rIns="0" bIns="0" anchor="t" anchorCtr="0">
              <a:spAutoFit/>
            </a:bodyPr>
            <a:lstStyle/>
            <a:p>
              <a:pPr algn="l"/>
              <a:r>
                <a:rPr lang="zh-CN" sz="2550" b="1" dirty="0">
                  <a:solidFill>
                    <a:srgbClr val="F5F7FA"/>
                  </a:solidFill>
                  <a:latin typeface="Arial"/>
                  <a:ea typeface="Microsoft YaHei"/>
                  <a:cs typeface="Arial"/>
                </a:rPr>
                <a:t>Five Components in One Refrigerant Loop</a:t>
              </a:r>
            </a:p>
          </p:txBody>
        </p:sp>
        <p:sp>
          <p:nvSpPr>
            <p:cNvPr id="6" name="TextBox 6"/>
            <p:cNvSpPr txBox="1"/>
            <p:nvPr/>
          </p:nvSpPr>
          <p:spPr>
            <a:xfrm>
              <a:off x="497205" y="768668"/>
              <a:ext cx="8027289" cy="274320"/>
            </a:xfrm>
            <a:prstGeom prst="rect">
              <a:avLst/>
            </a:prstGeom>
            <a:noFill/>
            <a:ln>
              <a:noFill/>
            </a:ln>
          </p:spPr>
          <p:txBody>
            <a:bodyPr wrap="none" lIns="0" tIns="0" rIns="0" bIns="0" anchor="t" anchorCtr="0">
              <a:spAutoFit/>
            </a:bodyPr>
            <a:lstStyle/>
            <a:p>
              <a:pPr algn="l"/>
              <a:r>
                <a:rPr lang="zh-CN" sz="1350" dirty="0">
                  <a:solidFill>
                    <a:srgbClr val="9FB2C8"/>
                  </a:solidFill>
                  <a:latin typeface="Arial"/>
                  <a:ea typeface="Microsoft YaHei"/>
                  <a:cs typeface="Arial"/>
                </a:rPr>
                <a:t>Each component changes either heat transfer, pressure, temperature, or flow direction.</a:t>
              </a:r>
            </a:p>
          </p:txBody>
        </p:sp>
        <p:sp>
          <p:nvSpPr>
            <p:cNvPr id="7" name="Line 7"/>
            <p:cNvSpPr/>
            <p:nvPr/>
          </p:nvSpPr>
          <p:spPr>
            <a:xfrm>
              <a:off x="514350" y="1104900"/>
              <a:ext cx="11163300" cy="9525"/>
            </a:xfrm>
            <a:custGeom>
              <a:avLst/>
              <a:gdLst/>
              <a:ahLst/>
              <a:cxnLst/>
              <a:rect l="l" t="t" r="r" b="b"/>
              <a:pathLst>
                <a:path w="11163300" h="9525">
                  <a:moveTo>
                    <a:pt x="0" y="0"/>
                  </a:moveTo>
                  <a:lnTo>
                    <a:pt x="11163300" y="0"/>
                  </a:lnTo>
                </a:path>
              </a:pathLst>
            </a:custGeom>
            <a:noFill/>
            <a:ln w="19050">
              <a:solidFill>
                <a:srgbClr val="38506A"/>
              </a:solidFill>
            </a:ln>
          </p:spPr>
        </p:sp>
      </p:grpSp>
      <p:grpSp>
        <p:nvGrpSpPr>
          <p:cNvPr id="41" name="Group 41"/>
          <p:cNvGrpSpPr/>
          <p:nvPr/>
        </p:nvGrpSpPr>
        <p:grpSpPr>
          <a:xfrm>
            <a:off x="529532" y="1504950"/>
            <a:ext cx="7757218" cy="4476750"/>
            <a:chOff x="529532" y="1504950"/>
            <a:chExt cx="7757218" cy="4476750"/>
          </a:xfrm>
        </p:grpSpPr>
        <p:sp>
          <p:nvSpPr>
            <p:cNvPr id="9" name="Rectangle 9"/>
            <p:cNvSpPr/>
            <p:nvPr/>
          </p:nvSpPr>
          <p:spPr>
            <a:xfrm>
              <a:off x="666750" y="1504950"/>
              <a:ext cx="7620000" cy="4476750"/>
            </a:xfrm>
            <a:prstGeom prst="roundRect">
              <a:avLst>
                <a:gd name="adj" fmla="val 3830"/>
              </a:avLst>
            </a:prstGeom>
            <a:solidFill>
              <a:srgbClr val="142033"/>
            </a:solidFill>
            <a:ln w="19050">
              <a:solidFill>
                <a:srgbClr val="38506A"/>
              </a:solidFill>
            </a:ln>
          </p:spPr>
        </p:sp>
        <p:sp>
          <p:nvSpPr>
            <p:cNvPr id="10" name="TextBox 10"/>
            <p:cNvSpPr txBox="1"/>
            <p:nvPr/>
          </p:nvSpPr>
          <p:spPr>
            <a:xfrm>
              <a:off x="1243012" y="1764506"/>
              <a:ext cx="2210223" cy="228600"/>
            </a:xfrm>
            <a:prstGeom prst="rect">
              <a:avLst/>
            </a:prstGeom>
            <a:noFill/>
            <a:ln>
              <a:noFill/>
            </a:ln>
          </p:spPr>
          <p:txBody>
            <a:bodyPr wrap="none" lIns="0" tIns="0" rIns="0" bIns="0" anchor="t" anchorCtr="0">
              <a:spAutoFit/>
            </a:bodyPr>
            <a:lstStyle/>
            <a:p>
              <a:pPr algn="l"/>
              <a:r>
                <a:rPr lang="zh-CN" sz="1125" b="1" dirty="0">
                  <a:solidFill>
                    <a:srgbClr val="9FB2C8"/>
                  </a:solidFill>
                  <a:latin typeface="Arial"/>
                  <a:ea typeface="Microsoft YaHei"/>
                  <a:cs typeface="Arial"/>
                </a:rPr>
                <a:t>HEATING MODE HARDWARE VIEW</a:t>
              </a:r>
            </a:p>
          </p:txBody>
        </p:sp>
        <p:sp>
          <p:nvSpPr>
            <p:cNvPr id="11" name="Rectangle 11"/>
            <p:cNvSpPr/>
            <p:nvPr/>
          </p:nvSpPr>
          <p:spPr>
            <a:xfrm>
              <a:off x="1257300" y="2381250"/>
              <a:ext cx="1847850" cy="971550"/>
            </a:xfrm>
            <a:prstGeom prst="roundRect">
              <a:avLst>
                <a:gd name="adj" fmla="val 11765"/>
              </a:avLst>
            </a:prstGeom>
            <a:solidFill>
              <a:srgbClr val="18283D"/>
            </a:solidFill>
            <a:ln w="28575">
              <a:solidFill>
                <a:srgbClr val="4DA3FF"/>
              </a:solidFill>
            </a:ln>
          </p:spPr>
        </p:sp>
        <p:sp>
          <p:nvSpPr>
            <p:cNvPr id="12" name="TextBox 12"/>
            <p:cNvSpPr txBox="1"/>
            <p:nvPr/>
          </p:nvSpPr>
          <p:spPr>
            <a:xfrm>
              <a:off x="1524941" y="2526982"/>
              <a:ext cx="1312569" cy="335280"/>
            </a:xfrm>
            <a:prstGeom prst="rect">
              <a:avLst/>
            </a:prstGeom>
            <a:noFill/>
            <a:ln>
              <a:noFill/>
            </a:ln>
          </p:spPr>
          <p:txBody>
            <a:bodyPr wrap="none" lIns="0" tIns="0" rIns="0" bIns="0" anchor="t" anchorCtr="0">
              <a:spAutoFit/>
            </a:bodyPr>
            <a:lstStyle/>
            <a:p>
              <a:pPr algn="ctr"/>
              <a:r>
                <a:rPr lang="zh-CN" sz="1650" b="1" dirty="0">
                  <a:solidFill>
                    <a:srgbClr val="F5F7FA"/>
                  </a:solidFill>
                  <a:latin typeface="Arial"/>
                  <a:ea typeface="Microsoft YaHei"/>
                  <a:cs typeface="Arial"/>
                </a:rPr>
                <a:t>Evaporator</a:t>
              </a:r>
            </a:p>
          </p:txBody>
        </p:sp>
        <p:sp>
          <p:nvSpPr>
            <p:cNvPr id="13" name="TextBox 13"/>
            <p:cNvSpPr txBox="1"/>
            <p:nvPr/>
          </p:nvSpPr>
          <p:spPr>
            <a:xfrm>
              <a:off x="1657922" y="2861310"/>
              <a:ext cx="1046607" cy="243840"/>
            </a:xfrm>
            <a:prstGeom prst="rect">
              <a:avLst/>
            </a:prstGeom>
            <a:noFill/>
            <a:ln>
              <a:noFill/>
            </a:ln>
          </p:spPr>
          <p:txBody>
            <a:bodyPr wrap="none" lIns="0" tIns="0" rIns="0" bIns="0" anchor="t" anchorCtr="0">
              <a:spAutoFit/>
            </a:bodyPr>
            <a:lstStyle/>
            <a:p>
              <a:pPr algn="ctr"/>
              <a:r>
                <a:rPr lang="zh-CN" sz="1200" dirty="0">
                  <a:solidFill>
                    <a:srgbClr val="4DA3FF"/>
                  </a:solidFill>
                  <a:latin typeface="Arial"/>
                  <a:ea typeface="Microsoft YaHei"/>
                  <a:cs typeface="Arial"/>
                </a:rPr>
                <a:t>absorbs heat</a:t>
              </a:r>
            </a:p>
          </p:txBody>
        </p:sp>
        <p:sp>
          <p:nvSpPr>
            <p:cNvPr id="14" name="TextBox 14"/>
            <p:cNvSpPr txBox="1"/>
            <p:nvPr/>
          </p:nvSpPr>
          <p:spPr>
            <a:xfrm>
              <a:off x="1203472" y="3104674"/>
              <a:ext cx="1955506" cy="198120"/>
            </a:xfrm>
            <a:prstGeom prst="rect">
              <a:avLst/>
            </a:prstGeom>
            <a:noFill/>
            <a:ln>
              <a:noFill/>
            </a:ln>
          </p:spPr>
          <p:txBody>
            <a:bodyPr wrap="none" lIns="0" tIns="0" rIns="0" bIns="0" anchor="t" anchorCtr="0">
              <a:spAutoFit/>
            </a:bodyPr>
            <a:lstStyle/>
            <a:p>
              <a:pPr algn="ctr"/>
              <a:r>
                <a:rPr lang="zh-CN" sz="975" dirty="0">
                  <a:solidFill>
                    <a:srgbClr val="9FB2C8"/>
                  </a:solidFill>
                  <a:latin typeface="Arial"/>
                  <a:ea typeface="Microsoft YaHei"/>
                  <a:cs typeface="Arial"/>
                </a:rPr>
                <a:t>low pressure mixture to vapor</a:t>
              </a:r>
            </a:p>
          </p:txBody>
        </p:sp>
        <p:sp>
          <p:nvSpPr>
            <p:cNvPr id="15" name="Rectangle 15"/>
            <p:cNvSpPr/>
            <p:nvPr/>
          </p:nvSpPr>
          <p:spPr>
            <a:xfrm>
              <a:off x="5619750" y="2381250"/>
              <a:ext cx="1847850" cy="971550"/>
            </a:xfrm>
            <a:prstGeom prst="roundRect">
              <a:avLst>
                <a:gd name="adj" fmla="val 11765"/>
              </a:avLst>
            </a:prstGeom>
            <a:solidFill>
              <a:srgbClr val="18283D"/>
            </a:solidFill>
            <a:ln w="28575">
              <a:solidFill>
                <a:srgbClr val="FFB000"/>
              </a:solidFill>
            </a:ln>
          </p:spPr>
        </p:sp>
        <p:sp>
          <p:nvSpPr>
            <p:cNvPr id="16" name="TextBox 16"/>
            <p:cNvSpPr txBox="1"/>
            <p:nvPr/>
          </p:nvSpPr>
          <p:spPr>
            <a:xfrm>
              <a:off x="5950924" y="2526982"/>
              <a:ext cx="1185503" cy="335280"/>
            </a:xfrm>
            <a:prstGeom prst="rect">
              <a:avLst/>
            </a:prstGeom>
            <a:noFill/>
            <a:ln>
              <a:noFill/>
            </a:ln>
          </p:spPr>
          <p:txBody>
            <a:bodyPr wrap="none" lIns="0" tIns="0" rIns="0" bIns="0" anchor="t" anchorCtr="0">
              <a:spAutoFit/>
            </a:bodyPr>
            <a:lstStyle/>
            <a:p>
              <a:pPr algn="ctr"/>
              <a:r>
                <a:rPr lang="zh-CN" sz="1650" b="1" dirty="0">
                  <a:solidFill>
                    <a:srgbClr val="F5F7FA"/>
                  </a:solidFill>
                  <a:latin typeface="Arial"/>
                  <a:ea typeface="Microsoft YaHei"/>
                  <a:cs typeface="Arial"/>
                </a:rPr>
                <a:t>Condenser</a:t>
              </a:r>
            </a:p>
          </p:txBody>
        </p:sp>
        <p:sp>
          <p:nvSpPr>
            <p:cNvPr id="17" name="TextBox 17"/>
            <p:cNvSpPr txBox="1"/>
            <p:nvPr/>
          </p:nvSpPr>
          <p:spPr>
            <a:xfrm>
              <a:off x="5996368" y="2861310"/>
              <a:ext cx="1094613" cy="243840"/>
            </a:xfrm>
            <a:prstGeom prst="rect">
              <a:avLst/>
            </a:prstGeom>
            <a:noFill/>
            <a:ln>
              <a:noFill/>
            </a:ln>
          </p:spPr>
          <p:txBody>
            <a:bodyPr wrap="none" lIns="0" tIns="0" rIns="0" bIns="0" anchor="t" anchorCtr="0">
              <a:spAutoFit/>
            </a:bodyPr>
            <a:lstStyle/>
            <a:p>
              <a:pPr algn="ctr"/>
              <a:r>
                <a:rPr lang="zh-CN" sz="1200" dirty="0">
                  <a:solidFill>
                    <a:srgbClr val="FFB000"/>
                  </a:solidFill>
                  <a:latin typeface="Arial"/>
                  <a:ea typeface="Microsoft YaHei"/>
                  <a:cs typeface="Arial"/>
                </a:rPr>
                <a:t>releases heat</a:t>
              </a:r>
            </a:p>
          </p:txBody>
        </p:sp>
        <p:sp>
          <p:nvSpPr>
            <p:cNvPr id="18" name="TextBox 18"/>
            <p:cNvSpPr txBox="1"/>
            <p:nvPr/>
          </p:nvSpPr>
          <p:spPr>
            <a:xfrm>
              <a:off x="5949470" y="3104674"/>
              <a:ext cx="1188410" cy="198120"/>
            </a:xfrm>
            <a:prstGeom prst="rect">
              <a:avLst/>
            </a:prstGeom>
            <a:noFill/>
            <a:ln>
              <a:noFill/>
            </a:ln>
          </p:spPr>
          <p:txBody>
            <a:bodyPr wrap="none" lIns="0" tIns="0" rIns="0" bIns="0" anchor="t" anchorCtr="0">
              <a:spAutoFit/>
            </a:bodyPr>
            <a:lstStyle/>
            <a:p>
              <a:pPr algn="ctr"/>
              <a:r>
                <a:rPr lang="zh-CN" sz="975" dirty="0">
                  <a:solidFill>
                    <a:srgbClr val="9FB2C8"/>
                  </a:solidFill>
                  <a:latin typeface="Arial"/>
                  <a:ea typeface="Microsoft YaHei"/>
                  <a:cs typeface="Arial"/>
                </a:rPr>
                <a:t>hot vapor to liquid</a:t>
              </a:r>
            </a:p>
          </p:txBody>
        </p:sp>
        <p:sp>
          <p:nvSpPr>
            <p:cNvPr id="19" name="Rectangle 19"/>
            <p:cNvSpPr/>
            <p:nvPr/>
          </p:nvSpPr>
          <p:spPr>
            <a:xfrm>
              <a:off x="5619750" y="4362450"/>
              <a:ext cx="1847850" cy="971550"/>
            </a:xfrm>
            <a:prstGeom prst="roundRect">
              <a:avLst>
                <a:gd name="adj" fmla="val 11765"/>
              </a:avLst>
            </a:prstGeom>
            <a:solidFill>
              <a:srgbClr val="18283D"/>
            </a:solidFill>
            <a:ln w="28575">
              <a:solidFill>
                <a:srgbClr val="FF5C8A"/>
              </a:solidFill>
            </a:ln>
          </p:spPr>
        </p:sp>
        <p:sp>
          <p:nvSpPr>
            <p:cNvPr id="20" name="TextBox 20"/>
            <p:cNvSpPr txBox="1"/>
            <p:nvPr/>
          </p:nvSpPr>
          <p:spPr>
            <a:xfrm>
              <a:off x="5864288" y="4508182"/>
              <a:ext cx="1358775" cy="335280"/>
            </a:xfrm>
            <a:prstGeom prst="rect">
              <a:avLst/>
            </a:prstGeom>
            <a:noFill/>
            <a:ln>
              <a:noFill/>
            </a:ln>
          </p:spPr>
          <p:txBody>
            <a:bodyPr wrap="none" lIns="0" tIns="0" rIns="0" bIns="0" anchor="t" anchorCtr="0">
              <a:spAutoFit/>
            </a:bodyPr>
            <a:lstStyle/>
            <a:p>
              <a:pPr algn="ctr"/>
              <a:r>
                <a:rPr lang="zh-CN" sz="1650" b="1" dirty="0">
                  <a:solidFill>
                    <a:srgbClr val="F5F7FA"/>
                  </a:solidFill>
                  <a:latin typeface="Arial"/>
                  <a:ea typeface="Microsoft YaHei"/>
                  <a:cs typeface="Arial"/>
                </a:rPr>
                <a:t>Compressor</a:t>
              </a:r>
            </a:p>
          </p:txBody>
        </p:sp>
        <p:sp>
          <p:nvSpPr>
            <p:cNvPr id="21" name="TextBox 21"/>
            <p:cNvSpPr txBox="1"/>
            <p:nvPr/>
          </p:nvSpPr>
          <p:spPr>
            <a:xfrm>
              <a:off x="6136386" y="4842510"/>
              <a:ext cx="814578" cy="243840"/>
            </a:xfrm>
            <a:prstGeom prst="rect">
              <a:avLst/>
            </a:prstGeom>
            <a:noFill/>
            <a:ln>
              <a:noFill/>
            </a:ln>
          </p:spPr>
          <p:txBody>
            <a:bodyPr wrap="none" lIns="0" tIns="0" rIns="0" bIns="0" anchor="t" anchorCtr="0">
              <a:spAutoFit/>
            </a:bodyPr>
            <a:lstStyle/>
            <a:p>
              <a:pPr algn="ctr"/>
              <a:r>
                <a:rPr lang="zh-CN" sz="1200" dirty="0">
                  <a:solidFill>
                    <a:srgbClr val="FF5C8A"/>
                  </a:solidFill>
                  <a:latin typeface="Arial"/>
                  <a:ea typeface="Microsoft YaHei"/>
                  <a:cs typeface="Arial"/>
                </a:rPr>
                <a:t>adds work</a:t>
              </a:r>
            </a:p>
          </p:txBody>
        </p:sp>
        <p:sp>
          <p:nvSpPr>
            <p:cNvPr id="22" name="TextBox 22"/>
            <p:cNvSpPr txBox="1"/>
            <p:nvPr/>
          </p:nvSpPr>
          <p:spPr>
            <a:xfrm>
              <a:off x="5546419" y="5085874"/>
              <a:ext cx="1994511" cy="198120"/>
            </a:xfrm>
            <a:prstGeom prst="rect">
              <a:avLst/>
            </a:prstGeom>
            <a:noFill/>
            <a:ln>
              <a:noFill/>
            </a:ln>
          </p:spPr>
          <p:txBody>
            <a:bodyPr wrap="none" lIns="0" tIns="0" rIns="0" bIns="0" anchor="t" anchorCtr="0">
              <a:spAutoFit/>
            </a:bodyPr>
            <a:lstStyle/>
            <a:p>
              <a:pPr algn="ctr"/>
              <a:r>
                <a:rPr lang="zh-CN" sz="975" dirty="0">
                  <a:solidFill>
                    <a:srgbClr val="9FB2C8"/>
                  </a:solidFill>
                  <a:latin typeface="Arial"/>
                  <a:ea typeface="Microsoft YaHei"/>
                  <a:cs typeface="Arial"/>
                </a:rPr>
                <a:t>pressure and temperature rise</a:t>
              </a:r>
            </a:p>
          </p:txBody>
        </p:sp>
        <p:sp>
          <p:nvSpPr>
            <p:cNvPr id="23" name="Rectangle 23"/>
            <p:cNvSpPr/>
            <p:nvPr/>
          </p:nvSpPr>
          <p:spPr>
            <a:xfrm>
              <a:off x="1257300" y="4362450"/>
              <a:ext cx="1847850" cy="971550"/>
            </a:xfrm>
            <a:prstGeom prst="roundRect">
              <a:avLst>
                <a:gd name="adj" fmla="val 11765"/>
              </a:avLst>
            </a:prstGeom>
            <a:solidFill>
              <a:srgbClr val="18283D"/>
            </a:solidFill>
            <a:ln w="28575">
              <a:solidFill>
                <a:srgbClr val="3DDC97"/>
              </a:solidFill>
            </a:ln>
          </p:spPr>
        </p:sp>
        <p:sp>
          <p:nvSpPr>
            <p:cNvPr id="24" name="TextBox 24"/>
            <p:cNvSpPr txBox="1"/>
            <p:nvPr/>
          </p:nvSpPr>
          <p:spPr>
            <a:xfrm>
              <a:off x="1293912" y="4508182"/>
              <a:ext cx="1774627" cy="335280"/>
            </a:xfrm>
            <a:prstGeom prst="rect">
              <a:avLst/>
            </a:prstGeom>
            <a:noFill/>
            <a:ln>
              <a:noFill/>
            </a:ln>
          </p:spPr>
          <p:txBody>
            <a:bodyPr wrap="none" lIns="0" tIns="0" rIns="0" bIns="0" anchor="t" anchorCtr="0">
              <a:spAutoFit/>
            </a:bodyPr>
            <a:lstStyle/>
            <a:p>
              <a:pPr algn="ctr"/>
              <a:r>
                <a:rPr lang="zh-CN" sz="1650" b="1" dirty="0">
                  <a:solidFill>
                    <a:srgbClr val="F5F7FA"/>
                  </a:solidFill>
                  <a:latin typeface="Arial"/>
                  <a:ea typeface="Microsoft YaHei"/>
                  <a:cs typeface="Arial"/>
                </a:rPr>
                <a:t>Expansion valve</a:t>
              </a:r>
            </a:p>
          </p:txBody>
        </p:sp>
        <p:sp>
          <p:nvSpPr>
            <p:cNvPr id="25" name="TextBox 25"/>
            <p:cNvSpPr txBox="1"/>
            <p:nvPr/>
          </p:nvSpPr>
          <p:spPr>
            <a:xfrm>
              <a:off x="1569911" y="4842510"/>
              <a:ext cx="1222629" cy="243840"/>
            </a:xfrm>
            <a:prstGeom prst="rect">
              <a:avLst/>
            </a:prstGeom>
            <a:noFill/>
            <a:ln>
              <a:noFill/>
            </a:ln>
          </p:spPr>
          <p:txBody>
            <a:bodyPr wrap="none" lIns="0" tIns="0" rIns="0" bIns="0" anchor="t" anchorCtr="0">
              <a:spAutoFit/>
            </a:bodyPr>
            <a:lstStyle/>
            <a:p>
              <a:pPr algn="ctr"/>
              <a:r>
                <a:rPr lang="zh-CN" sz="1200" dirty="0">
                  <a:solidFill>
                    <a:srgbClr val="3DDC97"/>
                  </a:solidFill>
                  <a:latin typeface="Arial"/>
                  <a:ea typeface="Microsoft YaHei"/>
                  <a:cs typeface="Arial"/>
                </a:rPr>
                <a:t>drops pressure</a:t>
              </a:r>
            </a:p>
          </p:txBody>
        </p:sp>
        <p:sp>
          <p:nvSpPr>
            <p:cNvPr id="26" name="TextBox 26"/>
            <p:cNvSpPr txBox="1"/>
            <p:nvPr/>
          </p:nvSpPr>
          <p:spPr>
            <a:xfrm>
              <a:off x="1209973" y="5085874"/>
              <a:ext cx="1942505" cy="198120"/>
            </a:xfrm>
            <a:prstGeom prst="rect">
              <a:avLst/>
            </a:prstGeom>
            <a:noFill/>
            <a:ln>
              <a:noFill/>
            </a:ln>
          </p:spPr>
          <p:txBody>
            <a:bodyPr wrap="none" lIns="0" tIns="0" rIns="0" bIns="0" anchor="t" anchorCtr="0">
              <a:spAutoFit/>
            </a:bodyPr>
            <a:lstStyle/>
            <a:p>
              <a:pPr algn="ctr"/>
              <a:r>
                <a:rPr lang="zh-CN" sz="975" dirty="0">
                  <a:solidFill>
                    <a:srgbClr val="9FB2C8"/>
                  </a:solidFill>
                  <a:latin typeface="Arial"/>
                  <a:ea typeface="Microsoft YaHei"/>
                  <a:cs typeface="Arial"/>
                </a:rPr>
                <a:t>liquid cools before evaporator</a:t>
              </a:r>
            </a:p>
          </p:txBody>
        </p:sp>
        <p:sp>
          <p:nvSpPr>
            <p:cNvPr id="27" name="Rectangle 27"/>
            <p:cNvSpPr/>
            <p:nvPr/>
          </p:nvSpPr>
          <p:spPr>
            <a:xfrm>
              <a:off x="3810000" y="3371850"/>
              <a:ext cx="1085850" cy="971550"/>
            </a:xfrm>
            <a:prstGeom prst="roundRect">
              <a:avLst>
                <a:gd name="adj" fmla="val 15686"/>
              </a:avLst>
            </a:prstGeom>
            <a:solidFill>
              <a:srgbClr val="18283D"/>
            </a:solidFill>
            <a:ln w="28575">
              <a:solidFill>
                <a:srgbClr val="38506A"/>
              </a:solidFill>
            </a:ln>
          </p:spPr>
        </p:sp>
        <p:sp>
          <p:nvSpPr>
            <p:cNvPr id="28" name="TextBox 28"/>
            <p:cNvSpPr txBox="1"/>
            <p:nvPr/>
          </p:nvSpPr>
          <p:spPr>
            <a:xfrm>
              <a:off x="3891574" y="3578542"/>
              <a:ext cx="922701" cy="274320"/>
            </a:xfrm>
            <a:prstGeom prst="rect">
              <a:avLst/>
            </a:prstGeom>
            <a:noFill/>
            <a:ln>
              <a:noFill/>
            </a:ln>
          </p:spPr>
          <p:txBody>
            <a:bodyPr wrap="none" lIns="0" tIns="0" rIns="0" bIns="0" anchor="t" anchorCtr="0">
              <a:spAutoFit/>
            </a:bodyPr>
            <a:lstStyle/>
            <a:p>
              <a:pPr algn="ctr"/>
              <a:r>
                <a:rPr lang="zh-CN" sz="1350" b="1" dirty="0">
                  <a:solidFill>
                    <a:srgbClr val="F5F7FA"/>
                  </a:solidFill>
                  <a:latin typeface="Arial"/>
                  <a:ea typeface="Microsoft YaHei"/>
                  <a:cs typeface="Arial"/>
                </a:rPr>
                <a:t>Reversing</a:t>
              </a:r>
            </a:p>
          </p:txBody>
        </p:sp>
        <p:sp>
          <p:nvSpPr>
            <p:cNvPr id="29" name="TextBox 29"/>
            <p:cNvSpPr txBox="1"/>
            <p:nvPr/>
          </p:nvSpPr>
          <p:spPr>
            <a:xfrm>
              <a:off x="4099500" y="3826192"/>
              <a:ext cx="506849" cy="274320"/>
            </a:xfrm>
            <a:prstGeom prst="rect">
              <a:avLst/>
            </a:prstGeom>
            <a:noFill/>
            <a:ln>
              <a:noFill/>
            </a:ln>
          </p:spPr>
          <p:txBody>
            <a:bodyPr wrap="none" lIns="0" tIns="0" rIns="0" bIns="0" anchor="t" anchorCtr="0">
              <a:spAutoFit/>
            </a:bodyPr>
            <a:lstStyle/>
            <a:p>
              <a:pPr algn="ctr"/>
              <a:r>
                <a:rPr lang="zh-CN" sz="1350" b="1" dirty="0">
                  <a:solidFill>
                    <a:srgbClr val="F5F7FA"/>
                  </a:solidFill>
                  <a:latin typeface="Arial"/>
                  <a:ea typeface="Microsoft YaHei"/>
                  <a:cs typeface="Arial"/>
                </a:rPr>
                <a:t>valve</a:t>
              </a:r>
            </a:p>
          </p:txBody>
        </p:sp>
        <p:sp>
          <p:nvSpPr>
            <p:cNvPr id="30" name="TextBox 30"/>
            <p:cNvSpPr txBox="1"/>
            <p:nvPr/>
          </p:nvSpPr>
          <p:spPr>
            <a:xfrm>
              <a:off x="3846481" y="4104799"/>
              <a:ext cx="1012889" cy="198120"/>
            </a:xfrm>
            <a:prstGeom prst="rect">
              <a:avLst/>
            </a:prstGeom>
            <a:noFill/>
            <a:ln>
              <a:noFill/>
            </a:ln>
          </p:spPr>
          <p:txBody>
            <a:bodyPr wrap="none" lIns="0" tIns="0" rIns="0" bIns="0" anchor="t" anchorCtr="0">
              <a:spAutoFit/>
            </a:bodyPr>
            <a:lstStyle/>
            <a:p>
              <a:pPr algn="ctr"/>
              <a:r>
                <a:rPr lang="zh-CN" sz="975" dirty="0">
                  <a:solidFill>
                    <a:srgbClr val="9FB2C8"/>
                  </a:solidFill>
                  <a:latin typeface="Arial"/>
                  <a:ea typeface="Microsoft YaHei"/>
                  <a:cs typeface="Arial"/>
                </a:rPr>
                <a:t>switches modes</a:t>
              </a:r>
            </a:p>
          </p:txBody>
        </p:sp>
        <p:sp>
          <p:nvSpPr>
            <p:cNvPr id="31" name="Freeform 31"/>
            <p:cNvSpPr/>
            <p:nvPr/>
          </p:nvSpPr>
          <p:spPr>
            <a:xfrm>
              <a:off x="3143250" y="2867025"/>
              <a:ext cx="2438400" cy="9525"/>
            </a:xfrm>
            <a:custGeom>
              <a:avLst/>
              <a:gdLst/>
              <a:ahLst/>
              <a:cxnLst/>
              <a:rect l="l" t="t" r="r" b="b"/>
              <a:pathLst>
                <a:path w="2438400" h="9525">
                  <a:moveTo>
                    <a:pt x="0" y="0"/>
                  </a:moveTo>
                  <a:lnTo>
                    <a:pt x="2438400" y="0"/>
                  </a:lnTo>
                </a:path>
              </a:pathLst>
            </a:custGeom>
            <a:noFill/>
            <a:ln w="47625">
              <a:solidFill>
                <a:srgbClr val="3DDC97"/>
              </a:solidFill>
              <a:tailEnd type="triangle" w="lg" len="lg"/>
            </a:ln>
          </p:spPr>
        </p:sp>
        <p:sp>
          <p:nvSpPr>
            <p:cNvPr id="32" name="Freeform 32"/>
            <p:cNvSpPr/>
            <p:nvPr/>
          </p:nvSpPr>
          <p:spPr>
            <a:xfrm>
              <a:off x="6543675" y="3390900"/>
              <a:ext cx="9525" cy="895350"/>
            </a:xfrm>
            <a:custGeom>
              <a:avLst/>
              <a:gdLst/>
              <a:ahLst/>
              <a:cxnLst/>
              <a:rect l="l" t="t" r="r" b="b"/>
              <a:pathLst>
                <a:path w="9525" h="895350">
                  <a:moveTo>
                    <a:pt x="0" y="0"/>
                  </a:moveTo>
                  <a:lnTo>
                    <a:pt x="0" y="895350"/>
                  </a:lnTo>
                </a:path>
              </a:pathLst>
            </a:custGeom>
            <a:noFill/>
            <a:ln w="47625">
              <a:solidFill>
                <a:srgbClr val="3DDC97"/>
              </a:solidFill>
              <a:tailEnd type="triangle" w="lg" len="lg"/>
            </a:ln>
          </p:spPr>
        </p:sp>
        <p:sp>
          <p:nvSpPr>
            <p:cNvPr id="33" name="Freeform 33"/>
            <p:cNvSpPr/>
            <p:nvPr/>
          </p:nvSpPr>
          <p:spPr>
            <a:xfrm>
              <a:off x="3143250" y="4848225"/>
              <a:ext cx="2438400" cy="9525"/>
            </a:xfrm>
            <a:custGeom>
              <a:avLst/>
              <a:gdLst/>
              <a:ahLst/>
              <a:cxnLst/>
              <a:rect l="l" t="t" r="r" b="b"/>
              <a:pathLst>
                <a:path w="2438400" h="9525">
                  <a:moveTo>
                    <a:pt x="2438400" y="0"/>
                  </a:moveTo>
                  <a:lnTo>
                    <a:pt x="0" y="0"/>
                  </a:lnTo>
                </a:path>
              </a:pathLst>
            </a:custGeom>
            <a:noFill/>
            <a:ln w="47625">
              <a:solidFill>
                <a:srgbClr val="3DDC97"/>
              </a:solidFill>
              <a:tailEnd type="triangle" w="lg" len="lg"/>
            </a:ln>
          </p:spPr>
        </p:sp>
        <p:sp>
          <p:nvSpPr>
            <p:cNvPr id="34" name="Freeform 34"/>
            <p:cNvSpPr/>
            <p:nvPr/>
          </p:nvSpPr>
          <p:spPr>
            <a:xfrm>
              <a:off x="2181225" y="3390900"/>
              <a:ext cx="9525" cy="933450"/>
            </a:xfrm>
            <a:custGeom>
              <a:avLst/>
              <a:gdLst/>
              <a:ahLst/>
              <a:cxnLst/>
              <a:rect l="l" t="t" r="r" b="b"/>
              <a:pathLst>
                <a:path w="9525" h="933450">
                  <a:moveTo>
                    <a:pt x="0" y="933450"/>
                  </a:moveTo>
                  <a:lnTo>
                    <a:pt x="0" y="0"/>
                  </a:lnTo>
                </a:path>
              </a:pathLst>
            </a:custGeom>
            <a:noFill/>
            <a:ln w="47625">
              <a:solidFill>
                <a:srgbClr val="3DDC97"/>
              </a:solidFill>
              <a:tailEnd type="triangle" w="lg" len="lg"/>
            </a:ln>
          </p:spPr>
        </p:sp>
        <p:sp>
          <p:nvSpPr>
            <p:cNvPr id="35" name="Freeform 35"/>
            <p:cNvSpPr/>
            <p:nvPr/>
          </p:nvSpPr>
          <p:spPr>
            <a:xfrm>
              <a:off x="723900" y="2867025"/>
              <a:ext cx="476250" cy="9525"/>
            </a:xfrm>
            <a:custGeom>
              <a:avLst/>
              <a:gdLst/>
              <a:ahLst/>
              <a:cxnLst/>
              <a:rect l="l" t="t" r="r" b="b"/>
              <a:pathLst>
                <a:path w="476250" h="9525">
                  <a:moveTo>
                    <a:pt x="0" y="0"/>
                  </a:moveTo>
                  <a:lnTo>
                    <a:pt x="476250" y="0"/>
                  </a:lnTo>
                </a:path>
              </a:pathLst>
            </a:custGeom>
            <a:noFill/>
            <a:ln w="38100">
              <a:solidFill>
                <a:srgbClr val="4DA3FF"/>
              </a:solidFill>
              <a:tailEnd type="triangle" w="lg" len="lg"/>
            </a:ln>
          </p:spPr>
        </p:sp>
        <p:sp>
          <p:nvSpPr>
            <p:cNvPr id="36" name="TextBox 36"/>
            <p:cNvSpPr txBox="1"/>
            <p:nvPr/>
          </p:nvSpPr>
          <p:spPr>
            <a:xfrm>
              <a:off x="529532" y="2534602"/>
              <a:ext cx="960237" cy="213360"/>
            </a:xfrm>
            <a:prstGeom prst="rect">
              <a:avLst/>
            </a:prstGeom>
            <a:noFill/>
            <a:ln>
              <a:noFill/>
            </a:ln>
          </p:spPr>
          <p:txBody>
            <a:bodyPr wrap="none" lIns="0" tIns="0" rIns="0" bIns="0" anchor="t" anchorCtr="0">
              <a:spAutoFit/>
            </a:bodyPr>
            <a:lstStyle/>
            <a:p>
              <a:pPr algn="ctr"/>
              <a:r>
                <a:rPr lang="zh-CN" sz="1050" b="1" dirty="0">
                  <a:solidFill>
                    <a:srgbClr val="4DA3FF"/>
                  </a:solidFill>
                  <a:latin typeface="Arial"/>
                  <a:ea typeface="Microsoft YaHei"/>
                  <a:cs typeface="Arial"/>
                </a:rPr>
                <a:t>outdoor heat</a:t>
              </a:r>
            </a:p>
          </p:txBody>
        </p:sp>
        <p:sp>
          <p:nvSpPr>
            <p:cNvPr id="37" name="Freeform 37"/>
            <p:cNvSpPr/>
            <p:nvPr/>
          </p:nvSpPr>
          <p:spPr>
            <a:xfrm>
              <a:off x="7486650" y="2867025"/>
              <a:ext cx="571500" cy="9525"/>
            </a:xfrm>
            <a:custGeom>
              <a:avLst/>
              <a:gdLst/>
              <a:ahLst/>
              <a:cxnLst/>
              <a:rect l="l" t="t" r="r" b="b"/>
              <a:pathLst>
                <a:path w="571500" h="9525">
                  <a:moveTo>
                    <a:pt x="0" y="0"/>
                  </a:moveTo>
                  <a:lnTo>
                    <a:pt x="571500" y="0"/>
                  </a:lnTo>
                </a:path>
              </a:pathLst>
            </a:custGeom>
            <a:noFill/>
            <a:ln w="38100">
              <a:solidFill>
                <a:srgbClr val="FFB000"/>
              </a:solidFill>
              <a:tailEnd type="triangle" w="lg" len="lg"/>
            </a:ln>
          </p:spPr>
        </p:sp>
        <p:sp>
          <p:nvSpPr>
            <p:cNvPr id="38" name="TextBox 38"/>
            <p:cNvSpPr txBox="1"/>
            <p:nvPr/>
          </p:nvSpPr>
          <p:spPr>
            <a:xfrm>
              <a:off x="7341564" y="2534602"/>
              <a:ext cx="842622" cy="213360"/>
            </a:xfrm>
            <a:prstGeom prst="rect">
              <a:avLst/>
            </a:prstGeom>
            <a:noFill/>
            <a:ln>
              <a:noFill/>
            </a:ln>
          </p:spPr>
          <p:txBody>
            <a:bodyPr wrap="none" lIns="0" tIns="0" rIns="0" bIns="0" anchor="t" anchorCtr="0">
              <a:spAutoFit/>
            </a:bodyPr>
            <a:lstStyle/>
            <a:p>
              <a:pPr algn="ctr"/>
              <a:r>
                <a:rPr lang="zh-CN" sz="1050" b="1" dirty="0">
                  <a:solidFill>
                    <a:srgbClr val="FFB000"/>
                  </a:solidFill>
                  <a:latin typeface="Arial"/>
                  <a:ea typeface="Microsoft YaHei"/>
                  <a:cs typeface="Arial"/>
                </a:rPr>
                <a:t>indoor heat</a:t>
              </a:r>
            </a:p>
          </p:txBody>
        </p:sp>
        <p:sp>
          <p:nvSpPr>
            <p:cNvPr id="39" name="Freeform 39"/>
            <p:cNvSpPr/>
            <p:nvPr/>
          </p:nvSpPr>
          <p:spPr>
            <a:xfrm>
              <a:off x="6543675" y="5391150"/>
              <a:ext cx="9525" cy="533400"/>
            </a:xfrm>
            <a:custGeom>
              <a:avLst/>
              <a:gdLst/>
              <a:ahLst/>
              <a:cxnLst/>
              <a:rect l="l" t="t" r="r" b="b"/>
              <a:pathLst>
                <a:path w="9525" h="533400">
                  <a:moveTo>
                    <a:pt x="0" y="533400"/>
                  </a:moveTo>
                  <a:lnTo>
                    <a:pt x="0" y="0"/>
                  </a:lnTo>
                </a:path>
              </a:pathLst>
            </a:custGeom>
            <a:noFill/>
            <a:ln w="38100">
              <a:solidFill>
                <a:srgbClr val="FF5C8A"/>
              </a:solidFill>
              <a:tailEnd type="triangle" w="lg" len="lg"/>
            </a:ln>
          </p:spPr>
        </p:sp>
        <p:sp>
          <p:nvSpPr>
            <p:cNvPr id="40" name="TextBox 40"/>
            <p:cNvSpPr txBox="1"/>
            <p:nvPr/>
          </p:nvSpPr>
          <p:spPr>
            <a:xfrm>
              <a:off x="6882765" y="5715952"/>
              <a:ext cx="996991" cy="213360"/>
            </a:xfrm>
            <a:prstGeom prst="rect">
              <a:avLst/>
            </a:prstGeom>
            <a:noFill/>
            <a:ln>
              <a:noFill/>
            </a:ln>
          </p:spPr>
          <p:txBody>
            <a:bodyPr wrap="none" lIns="0" tIns="0" rIns="0" bIns="0" anchor="t" anchorCtr="0">
              <a:spAutoFit/>
            </a:bodyPr>
            <a:lstStyle/>
            <a:p>
              <a:pPr algn="l"/>
              <a:r>
                <a:rPr lang="zh-CN" sz="1050" b="1" dirty="0">
                  <a:solidFill>
                    <a:srgbClr val="FF5C8A"/>
                  </a:solidFill>
                  <a:latin typeface="Arial"/>
                  <a:ea typeface="Microsoft YaHei"/>
                  <a:cs typeface="Arial"/>
                </a:rPr>
                <a:t>electric work</a:t>
              </a:r>
            </a:p>
          </p:txBody>
        </p:sp>
      </p:grpSp>
      <p:grpSp>
        <p:nvGrpSpPr>
          <p:cNvPr id="57" name="Group 57"/>
          <p:cNvGrpSpPr/>
          <p:nvPr/>
        </p:nvGrpSpPr>
        <p:grpSpPr>
          <a:xfrm>
            <a:off x="8562142" y="1504950"/>
            <a:ext cx="3409236" cy="4476750"/>
            <a:chOff x="8562142" y="1504950"/>
            <a:chExt cx="3409236" cy="4476750"/>
          </a:xfrm>
        </p:grpSpPr>
        <p:sp>
          <p:nvSpPr>
            <p:cNvPr id="42" name="Rectangle 42"/>
            <p:cNvSpPr/>
            <p:nvPr/>
          </p:nvSpPr>
          <p:spPr>
            <a:xfrm>
              <a:off x="8648700" y="1504950"/>
              <a:ext cx="3009900" cy="4476750"/>
            </a:xfrm>
            <a:prstGeom prst="roundRect">
              <a:avLst>
                <a:gd name="adj" fmla="val 5696"/>
              </a:avLst>
            </a:prstGeom>
            <a:solidFill>
              <a:srgbClr val="142033"/>
            </a:solidFill>
            <a:ln w="19050">
              <a:solidFill>
                <a:srgbClr val="38506A"/>
              </a:solidFill>
            </a:ln>
          </p:spPr>
        </p:sp>
        <p:sp>
          <p:nvSpPr>
            <p:cNvPr id="43" name="TextBox 43"/>
            <p:cNvSpPr txBox="1"/>
            <p:nvPr/>
          </p:nvSpPr>
          <p:spPr>
            <a:xfrm>
              <a:off x="8930640" y="1729740"/>
              <a:ext cx="1734331" cy="365760"/>
            </a:xfrm>
            <a:prstGeom prst="rect">
              <a:avLst/>
            </a:prstGeom>
            <a:noFill/>
            <a:ln>
              <a:noFill/>
            </a:ln>
          </p:spPr>
          <p:txBody>
            <a:bodyPr wrap="none" lIns="0" tIns="0" rIns="0" bIns="0" anchor="t" anchorCtr="0">
              <a:spAutoFit/>
            </a:bodyPr>
            <a:lstStyle/>
            <a:p>
              <a:pPr algn="l"/>
              <a:r>
                <a:rPr lang="zh-CN" sz="1800" b="1" dirty="0">
                  <a:solidFill>
                    <a:srgbClr val="F5F7FA"/>
                  </a:solidFill>
                  <a:latin typeface="Arial"/>
                  <a:ea typeface="Microsoft YaHei"/>
                  <a:cs typeface="Arial"/>
                </a:rPr>
                <a:t>Role checklist</a:t>
              </a:r>
            </a:p>
          </p:txBody>
        </p:sp>
        <p:sp>
          <p:nvSpPr>
            <p:cNvPr id="44" name="Line 44"/>
            <p:cNvSpPr/>
            <p:nvPr/>
          </p:nvSpPr>
          <p:spPr>
            <a:xfrm>
              <a:off x="8953500" y="2114550"/>
              <a:ext cx="2381250" cy="9525"/>
            </a:xfrm>
            <a:custGeom>
              <a:avLst/>
              <a:gdLst/>
              <a:ahLst/>
              <a:cxnLst/>
              <a:rect l="l" t="t" r="r" b="b"/>
              <a:pathLst>
                <a:path w="2381250" h="9525">
                  <a:moveTo>
                    <a:pt x="0" y="0"/>
                  </a:moveTo>
                  <a:lnTo>
                    <a:pt x="2381250" y="0"/>
                  </a:lnTo>
                </a:path>
              </a:pathLst>
            </a:custGeom>
            <a:noFill/>
            <a:ln w="19050">
              <a:solidFill>
                <a:srgbClr val="38506A"/>
              </a:solidFill>
            </a:ln>
          </p:spPr>
        </p:sp>
        <p:sp>
          <p:nvSpPr>
            <p:cNvPr id="45" name="Ellipse 45"/>
            <p:cNvSpPr/>
            <p:nvPr/>
          </p:nvSpPr>
          <p:spPr>
            <a:xfrm>
              <a:off x="8991600" y="2476500"/>
              <a:ext cx="152400" cy="152400"/>
            </a:xfrm>
            <a:prstGeom prst="ellipse">
              <a:avLst/>
            </a:prstGeom>
            <a:solidFill>
              <a:srgbClr val="4DA3FF"/>
            </a:solidFill>
            <a:ln>
              <a:noFill/>
            </a:ln>
          </p:spPr>
        </p:sp>
        <p:sp>
          <p:nvSpPr>
            <p:cNvPr id="46" name="TextBox 46"/>
            <p:cNvSpPr txBox="1"/>
            <p:nvPr/>
          </p:nvSpPr>
          <p:spPr>
            <a:xfrm>
              <a:off x="9261158" y="2472214"/>
              <a:ext cx="2098143" cy="259080"/>
            </a:xfrm>
            <a:prstGeom prst="rect">
              <a:avLst/>
            </a:prstGeom>
            <a:noFill/>
            <a:ln>
              <a:noFill/>
            </a:ln>
          </p:spPr>
          <p:txBody>
            <a:bodyPr wrap="none" lIns="0" tIns="0" rIns="0" bIns="0" anchor="t" anchorCtr="0">
              <a:spAutoFit/>
            </a:bodyPr>
            <a:lstStyle/>
            <a:p>
              <a:pPr algn="l"/>
              <a:r>
                <a:rPr lang="zh-CN" sz="1275" dirty="0">
                  <a:solidFill>
                    <a:srgbClr val="F5F7FA"/>
                  </a:solidFill>
                  <a:latin typeface="Arial"/>
                  <a:ea typeface="Microsoft YaHei"/>
                  <a:cs typeface="Arial"/>
                </a:rPr>
                <a:t>Evaporator absorbs heat</a:t>
              </a:r>
            </a:p>
          </p:txBody>
        </p:sp>
        <p:sp>
          <p:nvSpPr>
            <p:cNvPr id="47" name="Ellipse 47"/>
            <p:cNvSpPr/>
            <p:nvPr/>
          </p:nvSpPr>
          <p:spPr>
            <a:xfrm>
              <a:off x="8991600" y="3028950"/>
              <a:ext cx="152400" cy="152400"/>
            </a:xfrm>
            <a:prstGeom prst="ellipse">
              <a:avLst/>
            </a:prstGeom>
            <a:solidFill>
              <a:srgbClr val="FF5C8A"/>
            </a:solidFill>
            <a:ln>
              <a:noFill/>
            </a:ln>
          </p:spPr>
        </p:sp>
        <p:sp>
          <p:nvSpPr>
            <p:cNvPr id="48" name="TextBox 48"/>
            <p:cNvSpPr txBox="1"/>
            <p:nvPr/>
          </p:nvSpPr>
          <p:spPr>
            <a:xfrm>
              <a:off x="9261158" y="3024664"/>
              <a:ext cx="2370177" cy="259080"/>
            </a:xfrm>
            <a:prstGeom prst="rect">
              <a:avLst/>
            </a:prstGeom>
            <a:noFill/>
            <a:ln>
              <a:noFill/>
            </a:ln>
          </p:spPr>
          <p:txBody>
            <a:bodyPr wrap="none" lIns="0" tIns="0" rIns="0" bIns="0" anchor="t" anchorCtr="0">
              <a:spAutoFit/>
            </a:bodyPr>
            <a:lstStyle/>
            <a:p>
              <a:pPr algn="l"/>
              <a:r>
                <a:rPr lang="zh-CN" sz="1275" dirty="0">
                  <a:solidFill>
                    <a:srgbClr val="F5F7FA"/>
                  </a:solidFill>
                  <a:latin typeface="Arial"/>
                  <a:ea typeface="Microsoft YaHei"/>
                  <a:cs typeface="Arial"/>
                </a:rPr>
                <a:t>Compressor raises pressure</a:t>
              </a:r>
            </a:p>
          </p:txBody>
        </p:sp>
        <p:sp>
          <p:nvSpPr>
            <p:cNvPr id="49" name="Ellipse 49"/>
            <p:cNvSpPr/>
            <p:nvPr/>
          </p:nvSpPr>
          <p:spPr>
            <a:xfrm>
              <a:off x="8991600" y="3581400"/>
              <a:ext cx="152400" cy="152400"/>
            </a:xfrm>
            <a:prstGeom prst="ellipse">
              <a:avLst/>
            </a:prstGeom>
            <a:solidFill>
              <a:srgbClr val="FFB000"/>
            </a:solidFill>
            <a:ln>
              <a:noFill/>
            </a:ln>
          </p:spPr>
        </p:sp>
        <p:sp>
          <p:nvSpPr>
            <p:cNvPr id="50" name="TextBox 50"/>
            <p:cNvSpPr txBox="1"/>
            <p:nvPr/>
          </p:nvSpPr>
          <p:spPr>
            <a:xfrm>
              <a:off x="9261158" y="3577114"/>
              <a:ext cx="2055638" cy="259080"/>
            </a:xfrm>
            <a:prstGeom prst="rect">
              <a:avLst/>
            </a:prstGeom>
            <a:noFill/>
            <a:ln>
              <a:noFill/>
            </a:ln>
          </p:spPr>
          <p:txBody>
            <a:bodyPr wrap="none" lIns="0" tIns="0" rIns="0" bIns="0" anchor="t" anchorCtr="0">
              <a:spAutoFit/>
            </a:bodyPr>
            <a:lstStyle/>
            <a:p>
              <a:pPr algn="l"/>
              <a:r>
                <a:rPr lang="zh-CN" sz="1275" dirty="0">
                  <a:solidFill>
                    <a:srgbClr val="F5F7FA"/>
                  </a:solidFill>
                  <a:latin typeface="Arial"/>
                  <a:ea typeface="Microsoft YaHei"/>
                  <a:cs typeface="Arial"/>
                </a:rPr>
                <a:t>Condenser releases heat</a:t>
              </a:r>
            </a:p>
          </p:txBody>
        </p:sp>
        <p:sp>
          <p:nvSpPr>
            <p:cNvPr id="51" name="Ellipse 51"/>
            <p:cNvSpPr/>
            <p:nvPr/>
          </p:nvSpPr>
          <p:spPr>
            <a:xfrm>
              <a:off x="8991600" y="4133850"/>
              <a:ext cx="152400" cy="152400"/>
            </a:xfrm>
            <a:prstGeom prst="ellipse">
              <a:avLst/>
            </a:prstGeom>
            <a:solidFill>
              <a:srgbClr val="3DDC97"/>
            </a:solidFill>
            <a:ln>
              <a:noFill/>
            </a:ln>
          </p:spPr>
        </p:sp>
        <p:sp>
          <p:nvSpPr>
            <p:cNvPr id="52" name="TextBox 52"/>
            <p:cNvSpPr txBox="1"/>
            <p:nvPr/>
          </p:nvSpPr>
          <p:spPr>
            <a:xfrm>
              <a:off x="9261158" y="4129564"/>
              <a:ext cx="2710220" cy="259080"/>
            </a:xfrm>
            <a:prstGeom prst="rect">
              <a:avLst/>
            </a:prstGeom>
            <a:noFill/>
            <a:ln>
              <a:noFill/>
            </a:ln>
          </p:spPr>
          <p:txBody>
            <a:bodyPr wrap="none" lIns="0" tIns="0" rIns="0" bIns="0" anchor="t" anchorCtr="0">
              <a:spAutoFit/>
            </a:bodyPr>
            <a:lstStyle/>
            <a:p>
              <a:pPr algn="l"/>
              <a:r>
                <a:rPr lang="zh-CN" sz="1275" dirty="0">
                  <a:solidFill>
                    <a:srgbClr val="F5F7FA"/>
                  </a:solidFill>
                  <a:latin typeface="Arial"/>
                  <a:ea typeface="Microsoft YaHei"/>
                  <a:cs typeface="Arial"/>
                </a:rPr>
                <a:t>Expansion valve lowers pressure</a:t>
              </a:r>
            </a:p>
          </p:txBody>
        </p:sp>
        <p:sp>
          <p:nvSpPr>
            <p:cNvPr id="53" name="Ellipse 53"/>
            <p:cNvSpPr/>
            <p:nvPr/>
          </p:nvSpPr>
          <p:spPr>
            <a:xfrm>
              <a:off x="8991600" y="4686300"/>
              <a:ext cx="152400" cy="152400"/>
            </a:xfrm>
            <a:prstGeom prst="ellipse">
              <a:avLst/>
            </a:prstGeom>
            <a:solidFill>
              <a:srgbClr val="9FB2C8"/>
            </a:solidFill>
            <a:ln>
              <a:noFill/>
            </a:ln>
          </p:spPr>
        </p:sp>
        <p:sp>
          <p:nvSpPr>
            <p:cNvPr id="54" name="TextBox 54"/>
            <p:cNvSpPr txBox="1"/>
            <p:nvPr/>
          </p:nvSpPr>
          <p:spPr>
            <a:xfrm>
              <a:off x="9261158" y="4682014"/>
              <a:ext cx="2319171" cy="259080"/>
            </a:xfrm>
            <a:prstGeom prst="rect">
              <a:avLst/>
            </a:prstGeom>
            <a:noFill/>
            <a:ln>
              <a:noFill/>
            </a:ln>
          </p:spPr>
          <p:txBody>
            <a:bodyPr wrap="none" lIns="0" tIns="0" rIns="0" bIns="0" anchor="t" anchorCtr="0">
              <a:spAutoFit/>
            </a:bodyPr>
            <a:lstStyle/>
            <a:p>
              <a:pPr algn="l"/>
              <a:r>
                <a:rPr lang="zh-CN" sz="1275" dirty="0">
                  <a:solidFill>
                    <a:srgbClr val="F5F7FA"/>
                  </a:solidFill>
                  <a:latin typeface="Arial"/>
                  <a:ea typeface="Microsoft YaHei"/>
                  <a:cs typeface="Arial"/>
                </a:rPr>
                <a:t>Reversing valve swaps mode</a:t>
              </a:r>
            </a:p>
          </p:txBody>
        </p:sp>
        <p:sp>
          <p:nvSpPr>
            <p:cNvPr id="55" name="Rectangle 55"/>
            <p:cNvSpPr/>
            <p:nvPr/>
          </p:nvSpPr>
          <p:spPr>
            <a:xfrm>
              <a:off x="8953500" y="5200650"/>
              <a:ext cx="2381250" cy="495300"/>
            </a:xfrm>
            <a:prstGeom prst="roundRect">
              <a:avLst>
                <a:gd name="adj" fmla="val 19231"/>
              </a:avLst>
            </a:prstGeom>
            <a:solidFill>
              <a:srgbClr val="18283D"/>
            </a:solidFill>
            <a:ln w="19050">
              <a:solidFill>
                <a:srgbClr val="38506A"/>
              </a:solidFill>
            </a:ln>
          </p:spPr>
        </p:sp>
        <p:sp>
          <p:nvSpPr>
            <p:cNvPr id="56" name="TextBox 56"/>
            <p:cNvSpPr txBox="1"/>
            <p:nvPr/>
          </p:nvSpPr>
          <p:spPr>
            <a:xfrm>
              <a:off x="8562142" y="5393531"/>
              <a:ext cx="3163967" cy="228600"/>
            </a:xfrm>
            <a:prstGeom prst="rect">
              <a:avLst/>
            </a:prstGeom>
            <a:noFill/>
            <a:ln>
              <a:noFill/>
            </a:ln>
          </p:spPr>
          <p:txBody>
            <a:bodyPr wrap="none" lIns="0" tIns="0" rIns="0" bIns="0" anchor="t" anchorCtr="0">
              <a:spAutoFit/>
            </a:bodyPr>
            <a:lstStyle/>
            <a:p>
              <a:pPr algn="ctr"/>
              <a:r>
                <a:rPr lang="zh-CN" sz="1125" dirty="0">
                  <a:solidFill>
                    <a:srgbClr val="9FB2C8"/>
                  </a:solidFill>
                  <a:latin typeface="Arial"/>
                  <a:ea typeface="Microsoft YaHei"/>
                  <a:cs typeface="Arial"/>
                </a:rPr>
                <a:t>No component is optional in the cycle logic.</a:t>
              </a:r>
            </a:p>
          </p:txBody>
        </p:sp>
      </p:grpSp>
      <p:sp>
        <p:nvSpPr>
          <p:cNvPr id="58" name="TextBox 58"/>
          <p:cNvSpPr txBox="1"/>
          <p:nvPr/>
        </p:nvSpPr>
        <p:spPr>
          <a:xfrm>
            <a:off x="501968" y="6238399"/>
            <a:ext cx="6090023" cy="198120"/>
          </a:xfrm>
          <a:prstGeom prst="rect">
            <a:avLst/>
          </a:prstGeom>
          <a:noFill/>
          <a:ln>
            <a:noFill/>
          </a:ln>
        </p:spPr>
        <p:txBody>
          <a:bodyPr wrap="none" lIns="0" tIns="0" rIns="0" bIns="0" anchor="t" anchorCtr="0">
            <a:spAutoFit/>
          </a:bodyPr>
          <a:lstStyle/>
          <a:p>
            <a:pPr algn="l"/>
            <a:r>
              <a:rPr lang="zh-CN" sz="975" dirty="0">
                <a:solidFill>
                  <a:srgbClr val="9FB2C8"/>
                </a:solidFill>
                <a:latin typeface="Arial"/>
                <a:ea typeface="Microsoft YaHei"/>
                <a:cs typeface="Arial"/>
              </a:rPr>
              <a:t>Editable component blocks and arrows distinguish refrigerant flow, heat flow, and work input.</a:t>
            </a:r>
          </a:p>
        </p:txBody>
      </p:sp>
      <p:sp>
        <p:nvSpPr>
          <p:cNvPr id="59" name="TextBox 59"/>
          <p:cNvSpPr txBox="1"/>
          <p:nvPr/>
        </p:nvSpPr>
        <p:spPr>
          <a:xfrm>
            <a:off x="11398568" y="6238399"/>
            <a:ext cx="460319" cy="198120"/>
          </a:xfrm>
          <a:prstGeom prst="rect">
            <a:avLst/>
          </a:prstGeom>
          <a:noFill/>
          <a:ln>
            <a:noFill/>
          </a:ln>
        </p:spPr>
        <p:txBody>
          <a:bodyPr wrap="none" lIns="0" tIns="0" rIns="0" bIns="0" anchor="t" anchorCtr="0">
            <a:spAutoFit/>
          </a:bodyPr>
          <a:lstStyle/>
          <a:p>
            <a:pPr algn="l"/>
            <a:r>
              <a:rPr lang="zh-CN" sz="975" dirty="0">
                <a:solidFill>
                  <a:srgbClr val="9FB2C8"/>
                </a:solidFill>
                <a:latin typeface="Consolas"/>
                <a:ea typeface="Microsoft YaHei"/>
                <a:cs typeface="Consolas"/>
              </a:rPr>
              <a:t>03 / 09</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slide(fromBottom)">
                                      <p:cBhvr>
                                        <p:cTn id="7" dur="400"/>
                                        <p:tgtEl>
                                          <p:spTgt spid="41"/>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image">
                                      <p:cBhvr>
                                        <p:cTn id="11"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5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E1117"/>
          </a:solidFill>
          <a:ln>
            <a:noFill/>
          </a:ln>
        </p:spPr>
      </p:sp>
      <p:sp>
        <p:nvSpPr>
          <p:cNvPr id="3" name="Freeform 3"/>
          <p:cNvSpPr/>
          <p:nvPr/>
        </p:nvSpPr>
        <p:spPr>
          <a:xfrm>
            <a:off x="762000" y="0"/>
            <a:ext cx="10668000" cy="6858000"/>
          </a:xfrm>
          <a:custGeom>
            <a:avLst/>
            <a:gdLst/>
            <a:ahLst/>
            <a:cxnLst/>
            <a:rect l="l" t="t" r="r" b="b"/>
            <a:pathLst>
              <a:path w="10668000" h="6858000">
                <a:moveTo>
                  <a:pt x="0" y="0"/>
                </a:moveTo>
                <a:lnTo>
                  <a:pt x="0" y="6858000"/>
                </a:lnTo>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path>
            </a:pathLst>
          </a:custGeom>
          <a:solidFill>
            <a:srgbClr val="000000"/>
          </a:solidFill>
          <a:ln w="9525">
            <a:solidFill>
              <a:srgbClr val="25364A"/>
            </a:solidFill>
          </a:ln>
        </p:spPr>
      </p:sp>
      <p:sp>
        <p:nvSpPr>
          <p:cNvPr id="4" name="Freeform 4"/>
          <p:cNvSpPr/>
          <p:nvPr/>
        </p:nvSpPr>
        <p:spPr>
          <a:xfrm>
            <a:off x="0" y="762000"/>
            <a:ext cx="12192000" cy="5334000"/>
          </a:xfrm>
          <a:custGeom>
            <a:avLst/>
            <a:gdLst/>
            <a:ahLst/>
            <a:cxnLst/>
            <a:rect l="l" t="t" r="r" b="b"/>
            <a:pathLst>
              <a:path w="12192000" h="5334000">
                <a:moveTo>
                  <a:pt x="0" y="0"/>
                </a:moveTo>
                <a:lnTo>
                  <a:pt x="12192000" y="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path>
            </a:pathLst>
          </a:custGeom>
          <a:solidFill>
            <a:srgbClr val="000000"/>
          </a:solidFill>
          <a:ln w="9525">
            <a:solidFill>
              <a:srgbClr val="25364A"/>
            </a:solidFill>
          </a:ln>
        </p:spPr>
      </p:sp>
      <p:grpSp>
        <p:nvGrpSpPr>
          <p:cNvPr id="8" name="Group 8"/>
          <p:cNvGrpSpPr/>
          <p:nvPr/>
        </p:nvGrpSpPr>
        <p:grpSpPr>
          <a:xfrm>
            <a:off x="481965" y="334328"/>
            <a:ext cx="11195685" cy="780097"/>
            <a:chOff x="481965" y="334328"/>
            <a:chExt cx="11195685" cy="780097"/>
          </a:xfrm>
        </p:grpSpPr>
        <p:sp>
          <p:nvSpPr>
            <p:cNvPr id="5" name="TextBox 5"/>
            <p:cNvSpPr txBox="1"/>
            <p:nvPr/>
          </p:nvSpPr>
          <p:spPr>
            <a:xfrm>
              <a:off x="481965" y="334328"/>
              <a:ext cx="5170508" cy="518160"/>
            </a:xfrm>
            <a:prstGeom prst="rect">
              <a:avLst/>
            </a:prstGeom>
            <a:noFill/>
            <a:ln>
              <a:noFill/>
            </a:ln>
          </p:spPr>
          <p:txBody>
            <a:bodyPr wrap="none" lIns="0" tIns="0" rIns="0" bIns="0" anchor="t" anchorCtr="0">
              <a:spAutoFit/>
            </a:bodyPr>
            <a:lstStyle/>
            <a:p>
              <a:pPr algn="l"/>
              <a:r>
                <a:rPr lang="zh-CN" sz="2550" b="1" dirty="0">
                  <a:solidFill>
                    <a:srgbClr val="F5F7FA"/>
                  </a:solidFill>
                  <a:latin typeface="Arial"/>
                  <a:ea typeface="Microsoft YaHei"/>
                  <a:cs typeface="Arial"/>
                </a:rPr>
                <a:t>Heating-Mode State Sequence</a:t>
              </a:r>
            </a:p>
          </p:txBody>
        </p:sp>
        <p:sp>
          <p:nvSpPr>
            <p:cNvPr id="6" name="TextBox 6"/>
            <p:cNvSpPr txBox="1"/>
            <p:nvPr/>
          </p:nvSpPr>
          <p:spPr>
            <a:xfrm>
              <a:off x="497205" y="768668"/>
              <a:ext cx="5398960" cy="274320"/>
            </a:xfrm>
            <a:prstGeom prst="rect">
              <a:avLst/>
            </a:prstGeom>
            <a:noFill/>
            <a:ln>
              <a:noFill/>
            </a:ln>
          </p:spPr>
          <p:txBody>
            <a:bodyPr wrap="none" lIns="0" tIns="0" rIns="0" bIns="0" anchor="t" anchorCtr="0">
              <a:spAutoFit/>
            </a:bodyPr>
            <a:lstStyle/>
            <a:p>
              <a:pPr algn="l"/>
              <a:r>
                <a:rPr lang="zh-CN" sz="1350" dirty="0">
                  <a:solidFill>
                    <a:srgbClr val="9FB2C8"/>
                  </a:solidFill>
                  <a:latin typeface="Arial"/>
                  <a:ea typeface="Microsoft YaHei"/>
                  <a:cs typeface="Arial"/>
                </a:rPr>
                <a:t>Follow the refrigerant state, not only the equipment names.</a:t>
              </a:r>
            </a:p>
          </p:txBody>
        </p:sp>
        <p:sp>
          <p:nvSpPr>
            <p:cNvPr id="7" name="Line 7"/>
            <p:cNvSpPr/>
            <p:nvPr/>
          </p:nvSpPr>
          <p:spPr>
            <a:xfrm>
              <a:off x="514350" y="1104900"/>
              <a:ext cx="11163300" cy="9525"/>
            </a:xfrm>
            <a:custGeom>
              <a:avLst/>
              <a:gdLst/>
              <a:ahLst/>
              <a:cxnLst/>
              <a:rect l="l" t="t" r="r" b="b"/>
              <a:pathLst>
                <a:path w="11163300" h="9525">
                  <a:moveTo>
                    <a:pt x="0" y="0"/>
                  </a:moveTo>
                  <a:lnTo>
                    <a:pt x="11163300" y="0"/>
                  </a:lnTo>
                </a:path>
              </a:pathLst>
            </a:custGeom>
            <a:noFill/>
            <a:ln w="19050">
              <a:solidFill>
                <a:srgbClr val="38506A"/>
              </a:solidFill>
            </a:ln>
          </p:spPr>
        </p:sp>
      </p:grpSp>
      <p:grpSp>
        <p:nvGrpSpPr>
          <p:cNvPr id="43" name="Group 43"/>
          <p:cNvGrpSpPr/>
          <p:nvPr/>
        </p:nvGrpSpPr>
        <p:grpSpPr>
          <a:xfrm>
            <a:off x="328178" y="1695450"/>
            <a:ext cx="11500957" cy="3886200"/>
            <a:chOff x="328178" y="1695450"/>
            <a:chExt cx="11500957" cy="3886200"/>
          </a:xfrm>
        </p:grpSpPr>
        <p:sp>
          <p:nvSpPr>
            <p:cNvPr id="9" name="Rectangle 9"/>
            <p:cNvSpPr/>
            <p:nvPr/>
          </p:nvSpPr>
          <p:spPr>
            <a:xfrm>
              <a:off x="819150" y="1695450"/>
              <a:ext cx="10553700" cy="3886200"/>
            </a:xfrm>
            <a:prstGeom prst="roundRect">
              <a:avLst>
                <a:gd name="adj" fmla="val 4412"/>
              </a:avLst>
            </a:prstGeom>
            <a:solidFill>
              <a:srgbClr val="142033"/>
            </a:solidFill>
            <a:ln w="19050">
              <a:solidFill>
                <a:srgbClr val="38506A"/>
              </a:solidFill>
            </a:ln>
          </p:spPr>
        </p:sp>
        <p:sp>
          <p:nvSpPr>
            <p:cNvPr id="10" name="Rectangle 10"/>
            <p:cNvSpPr/>
            <p:nvPr/>
          </p:nvSpPr>
          <p:spPr>
            <a:xfrm>
              <a:off x="1333500" y="2228850"/>
              <a:ext cx="2152650" cy="1143000"/>
            </a:xfrm>
            <a:prstGeom prst="roundRect">
              <a:avLst>
                <a:gd name="adj" fmla="val 11667"/>
              </a:avLst>
            </a:prstGeom>
            <a:solidFill>
              <a:srgbClr val="18283D"/>
            </a:solidFill>
            <a:ln w="28575">
              <a:solidFill>
                <a:srgbClr val="4DA3FF"/>
              </a:solidFill>
            </a:ln>
          </p:spPr>
        </p:sp>
        <p:sp>
          <p:nvSpPr>
            <p:cNvPr id="11" name="TextBox 11"/>
            <p:cNvSpPr txBox="1"/>
            <p:nvPr/>
          </p:nvSpPr>
          <p:spPr>
            <a:xfrm>
              <a:off x="1581150" y="2371725"/>
              <a:ext cx="153614" cy="304800"/>
            </a:xfrm>
            <a:prstGeom prst="rect">
              <a:avLst/>
            </a:prstGeom>
            <a:noFill/>
            <a:ln>
              <a:noFill/>
            </a:ln>
          </p:spPr>
          <p:txBody>
            <a:bodyPr wrap="none" lIns="0" tIns="0" rIns="0" bIns="0" anchor="t" anchorCtr="0">
              <a:spAutoFit/>
            </a:bodyPr>
            <a:lstStyle/>
            <a:p>
              <a:pPr algn="l"/>
              <a:r>
                <a:rPr lang="zh-CN" sz="1500" b="1" dirty="0">
                  <a:solidFill>
                    <a:srgbClr val="4DA3FF"/>
                  </a:solidFill>
                  <a:latin typeface="Consolas"/>
                  <a:ea typeface="Microsoft YaHei"/>
                  <a:cs typeface="Consolas"/>
                </a:rPr>
                <a:t>1</a:t>
              </a:r>
            </a:p>
          </p:txBody>
        </p:sp>
        <p:sp>
          <p:nvSpPr>
            <p:cNvPr id="12" name="TextBox 12"/>
            <p:cNvSpPr txBox="1"/>
            <p:nvPr/>
          </p:nvSpPr>
          <p:spPr>
            <a:xfrm>
              <a:off x="1303724" y="2363629"/>
              <a:ext cx="2212201" cy="320040"/>
            </a:xfrm>
            <a:prstGeom prst="rect">
              <a:avLst/>
            </a:prstGeom>
            <a:noFill/>
            <a:ln>
              <a:noFill/>
            </a:ln>
          </p:spPr>
          <p:txBody>
            <a:bodyPr wrap="none" lIns="0" tIns="0" rIns="0" bIns="0" anchor="t" anchorCtr="0">
              <a:spAutoFit/>
            </a:bodyPr>
            <a:lstStyle/>
            <a:p>
              <a:pPr algn="ctr"/>
              <a:r>
                <a:rPr lang="zh-CN" sz="1575" b="1" dirty="0">
                  <a:solidFill>
                    <a:srgbClr val="F5F7FA"/>
                  </a:solidFill>
                  <a:latin typeface="Arial"/>
                  <a:ea typeface="Microsoft YaHei"/>
                  <a:cs typeface="Arial"/>
                </a:rPr>
                <a:t>Outdoor evaporator</a:t>
              </a:r>
            </a:p>
          </p:txBody>
        </p:sp>
        <p:sp>
          <p:nvSpPr>
            <p:cNvPr id="13" name="TextBox 13"/>
            <p:cNvSpPr txBox="1"/>
            <p:nvPr/>
          </p:nvSpPr>
          <p:spPr>
            <a:xfrm>
              <a:off x="1427917" y="2736056"/>
              <a:ext cx="1963817" cy="228600"/>
            </a:xfrm>
            <a:prstGeom prst="rect">
              <a:avLst/>
            </a:prstGeom>
            <a:noFill/>
            <a:ln>
              <a:noFill/>
            </a:ln>
          </p:spPr>
          <p:txBody>
            <a:bodyPr wrap="none" lIns="0" tIns="0" rIns="0" bIns="0" anchor="t" anchorCtr="0">
              <a:spAutoFit/>
            </a:bodyPr>
            <a:lstStyle/>
            <a:p>
              <a:pPr algn="ctr"/>
              <a:r>
                <a:rPr lang="zh-CN" sz="1125" dirty="0">
                  <a:solidFill>
                    <a:srgbClr val="9FB2C8"/>
                  </a:solidFill>
                  <a:latin typeface="Arial"/>
                  <a:ea typeface="Microsoft YaHei"/>
                  <a:cs typeface="Arial"/>
                </a:rPr>
                <a:t>cold low-pressure mixture</a:t>
              </a:r>
            </a:p>
          </p:txBody>
        </p:sp>
        <p:sp>
          <p:nvSpPr>
            <p:cNvPr id="14" name="TextBox 14"/>
            <p:cNvSpPr txBox="1"/>
            <p:nvPr/>
          </p:nvSpPr>
          <p:spPr>
            <a:xfrm>
              <a:off x="1862971" y="2983706"/>
              <a:ext cx="1093708" cy="228600"/>
            </a:xfrm>
            <a:prstGeom prst="rect">
              <a:avLst/>
            </a:prstGeom>
            <a:noFill/>
            <a:ln>
              <a:noFill/>
            </a:ln>
          </p:spPr>
          <p:txBody>
            <a:bodyPr wrap="none" lIns="0" tIns="0" rIns="0" bIns="0" anchor="t" anchorCtr="0">
              <a:spAutoFit/>
            </a:bodyPr>
            <a:lstStyle/>
            <a:p>
              <a:pPr algn="ctr"/>
              <a:r>
                <a:rPr lang="zh-CN" sz="1125" dirty="0">
                  <a:solidFill>
                    <a:srgbClr val="9FB2C8"/>
                  </a:solidFill>
                  <a:latin typeface="Arial"/>
                  <a:ea typeface="Microsoft YaHei"/>
                  <a:cs typeface="Arial"/>
                </a:rPr>
                <a:t>becomes vapor</a:t>
              </a:r>
            </a:p>
          </p:txBody>
        </p:sp>
        <p:sp>
          <p:nvSpPr>
            <p:cNvPr id="15" name="Freeform 15"/>
            <p:cNvSpPr/>
            <p:nvPr/>
          </p:nvSpPr>
          <p:spPr>
            <a:xfrm>
              <a:off x="819150" y="2800350"/>
              <a:ext cx="457200" cy="9525"/>
            </a:xfrm>
            <a:custGeom>
              <a:avLst/>
              <a:gdLst/>
              <a:ahLst/>
              <a:cxnLst/>
              <a:rect l="l" t="t" r="r" b="b"/>
              <a:pathLst>
                <a:path w="457200" h="9525">
                  <a:moveTo>
                    <a:pt x="0" y="0"/>
                  </a:moveTo>
                  <a:lnTo>
                    <a:pt x="457200" y="0"/>
                  </a:lnTo>
                </a:path>
              </a:pathLst>
            </a:custGeom>
            <a:noFill/>
            <a:ln w="38100">
              <a:solidFill>
                <a:srgbClr val="4DA3FF"/>
              </a:solidFill>
              <a:tailEnd type="triangle" w="lg" len="lg"/>
            </a:ln>
          </p:spPr>
        </p:sp>
        <p:sp>
          <p:nvSpPr>
            <p:cNvPr id="16" name="TextBox 16"/>
            <p:cNvSpPr txBox="1"/>
            <p:nvPr/>
          </p:nvSpPr>
          <p:spPr>
            <a:xfrm>
              <a:off x="328178" y="2485549"/>
              <a:ext cx="1458194" cy="198120"/>
            </a:xfrm>
            <a:prstGeom prst="rect">
              <a:avLst/>
            </a:prstGeom>
            <a:noFill/>
            <a:ln>
              <a:noFill/>
            </a:ln>
          </p:spPr>
          <p:txBody>
            <a:bodyPr wrap="none" lIns="0" tIns="0" rIns="0" bIns="0" anchor="t" anchorCtr="0">
              <a:spAutoFit/>
            </a:bodyPr>
            <a:lstStyle/>
            <a:p>
              <a:pPr algn="ctr"/>
              <a:r>
                <a:rPr lang="zh-CN" sz="975" b="1" dirty="0">
                  <a:solidFill>
                    <a:srgbClr val="4DA3FF"/>
                  </a:solidFill>
                  <a:latin typeface="Arial"/>
                  <a:ea typeface="Microsoft YaHei"/>
                  <a:cs typeface="Arial"/>
                </a:rPr>
                <a:t>absorbs outdoor heat</a:t>
              </a:r>
            </a:p>
          </p:txBody>
        </p:sp>
        <p:sp>
          <p:nvSpPr>
            <p:cNvPr id="17" name="Rectangle 17"/>
            <p:cNvSpPr/>
            <p:nvPr/>
          </p:nvSpPr>
          <p:spPr>
            <a:xfrm>
              <a:off x="4972050" y="2228850"/>
              <a:ext cx="2152650" cy="1143000"/>
            </a:xfrm>
            <a:prstGeom prst="roundRect">
              <a:avLst>
                <a:gd name="adj" fmla="val 11667"/>
              </a:avLst>
            </a:prstGeom>
            <a:solidFill>
              <a:srgbClr val="18283D"/>
            </a:solidFill>
            <a:ln w="28575">
              <a:solidFill>
                <a:srgbClr val="FF5C8A"/>
              </a:solidFill>
            </a:ln>
          </p:spPr>
        </p:sp>
        <p:sp>
          <p:nvSpPr>
            <p:cNvPr id="18" name="TextBox 18"/>
            <p:cNvSpPr txBox="1"/>
            <p:nvPr/>
          </p:nvSpPr>
          <p:spPr>
            <a:xfrm>
              <a:off x="5219700" y="2371725"/>
              <a:ext cx="153614" cy="304800"/>
            </a:xfrm>
            <a:prstGeom prst="rect">
              <a:avLst/>
            </a:prstGeom>
            <a:noFill/>
            <a:ln>
              <a:noFill/>
            </a:ln>
          </p:spPr>
          <p:txBody>
            <a:bodyPr wrap="none" lIns="0" tIns="0" rIns="0" bIns="0" anchor="t" anchorCtr="0">
              <a:spAutoFit/>
            </a:bodyPr>
            <a:lstStyle/>
            <a:p>
              <a:pPr algn="l"/>
              <a:r>
                <a:rPr lang="zh-CN" sz="1500" b="1" dirty="0">
                  <a:solidFill>
                    <a:srgbClr val="FF5C8A"/>
                  </a:solidFill>
                  <a:latin typeface="Consolas"/>
                  <a:ea typeface="Microsoft YaHei"/>
                  <a:cs typeface="Consolas"/>
                </a:rPr>
                <a:t>2</a:t>
              </a:r>
            </a:p>
          </p:txBody>
        </p:sp>
        <p:sp>
          <p:nvSpPr>
            <p:cNvPr id="19" name="TextBox 19"/>
            <p:cNvSpPr txBox="1"/>
            <p:nvPr/>
          </p:nvSpPr>
          <p:spPr>
            <a:xfrm>
              <a:off x="5399869" y="2363629"/>
              <a:ext cx="1297012" cy="320040"/>
            </a:xfrm>
            <a:prstGeom prst="rect">
              <a:avLst/>
            </a:prstGeom>
            <a:noFill/>
            <a:ln>
              <a:noFill/>
            </a:ln>
          </p:spPr>
          <p:txBody>
            <a:bodyPr wrap="none" lIns="0" tIns="0" rIns="0" bIns="0" anchor="t" anchorCtr="0">
              <a:spAutoFit/>
            </a:bodyPr>
            <a:lstStyle/>
            <a:p>
              <a:pPr algn="ctr"/>
              <a:r>
                <a:rPr lang="zh-CN" sz="1575" b="1" dirty="0">
                  <a:solidFill>
                    <a:srgbClr val="F5F7FA"/>
                  </a:solidFill>
                  <a:latin typeface="Arial"/>
                  <a:ea typeface="Microsoft YaHei"/>
                  <a:cs typeface="Arial"/>
                </a:rPr>
                <a:t>Compressor</a:t>
              </a:r>
            </a:p>
          </p:txBody>
        </p:sp>
        <p:sp>
          <p:nvSpPr>
            <p:cNvPr id="20" name="TextBox 20"/>
            <p:cNvSpPr txBox="1"/>
            <p:nvPr/>
          </p:nvSpPr>
          <p:spPr>
            <a:xfrm>
              <a:off x="4987707" y="2736056"/>
              <a:ext cx="2121337" cy="228600"/>
            </a:xfrm>
            <a:prstGeom prst="rect">
              <a:avLst/>
            </a:prstGeom>
            <a:noFill/>
            <a:ln>
              <a:noFill/>
            </a:ln>
          </p:spPr>
          <p:txBody>
            <a:bodyPr wrap="none" lIns="0" tIns="0" rIns="0" bIns="0" anchor="t" anchorCtr="0">
              <a:spAutoFit/>
            </a:bodyPr>
            <a:lstStyle/>
            <a:p>
              <a:pPr algn="ctr"/>
              <a:r>
                <a:rPr lang="zh-CN" sz="1125" dirty="0">
                  <a:solidFill>
                    <a:srgbClr val="9FB2C8"/>
                  </a:solidFill>
                  <a:latin typeface="Arial"/>
                  <a:ea typeface="Microsoft YaHei"/>
                  <a:cs typeface="Arial"/>
                </a:rPr>
                <a:t>low-pressure vapor becomes</a:t>
              </a:r>
            </a:p>
          </p:txBody>
        </p:sp>
        <p:sp>
          <p:nvSpPr>
            <p:cNvPr id="21" name="TextBox 21"/>
            <p:cNvSpPr txBox="1"/>
            <p:nvPr/>
          </p:nvSpPr>
          <p:spPr>
            <a:xfrm>
              <a:off x="5141476" y="2983706"/>
              <a:ext cx="1813798" cy="228600"/>
            </a:xfrm>
            <a:prstGeom prst="rect">
              <a:avLst/>
            </a:prstGeom>
            <a:noFill/>
            <a:ln>
              <a:noFill/>
            </a:ln>
          </p:spPr>
          <p:txBody>
            <a:bodyPr wrap="none" lIns="0" tIns="0" rIns="0" bIns="0" anchor="t" anchorCtr="0">
              <a:spAutoFit/>
            </a:bodyPr>
            <a:lstStyle/>
            <a:p>
              <a:pPr algn="ctr"/>
              <a:r>
                <a:rPr lang="zh-CN" sz="1125" dirty="0">
                  <a:solidFill>
                    <a:srgbClr val="9FB2C8"/>
                  </a:solidFill>
                  <a:latin typeface="Arial"/>
                  <a:ea typeface="Microsoft YaHei"/>
                  <a:cs typeface="Arial"/>
                </a:rPr>
                <a:t>hot high-pressure vapor</a:t>
              </a:r>
            </a:p>
          </p:txBody>
        </p:sp>
        <p:sp>
          <p:nvSpPr>
            <p:cNvPr id="22" name="Freeform 22"/>
            <p:cNvSpPr/>
            <p:nvPr/>
          </p:nvSpPr>
          <p:spPr>
            <a:xfrm>
              <a:off x="6048375" y="3429000"/>
              <a:ext cx="9525" cy="381000"/>
            </a:xfrm>
            <a:custGeom>
              <a:avLst/>
              <a:gdLst/>
              <a:ahLst/>
              <a:cxnLst/>
              <a:rect l="l" t="t" r="r" b="b"/>
              <a:pathLst>
                <a:path w="9525" h="381000">
                  <a:moveTo>
                    <a:pt x="0" y="381000"/>
                  </a:moveTo>
                  <a:lnTo>
                    <a:pt x="0" y="0"/>
                  </a:lnTo>
                </a:path>
              </a:pathLst>
            </a:custGeom>
            <a:noFill/>
            <a:ln w="38100">
              <a:solidFill>
                <a:srgbClr val="FF5C8A"/>
              </a:solidFill>
              <a:tailEnd type="triangle" w="lg" len="lg"/>
            </a:ln>
          </p:spPr>
        </p:sp>
        <p:sp>
          <p:nvSpPr>
            <p:cNvPr id="23" name="TextBox 23"/>
            <p:cNvSpPr txBox="1"/>
            <p:nvPr/>
          </p:nvSpPr>
          <p:spPr>
            <a:xfrm>
              <a:off x="6369368" y="3676174"/>
              <a:ext cx="734654" cy="198120"/>
            </a:xfrm>
            <a:prstGeom prst="rect">
              <a:avLst/>
            </a:prstGeom>
            <a:noFill/>
            <a:ln>
              <a:noFill/>
            </a:ln>
          </p:spPr>
          <p:txBody>
            <a:bodyPr wrap="none" lIns="0" tIns="0" rIns="0" bIns="0" anchor="t" anchorCtr="0">
              <a:spAutoFit/>
            </a:bodyPr>
            <a:lstStyle/>
            <a:p>
              <a:pPr algn="l"/>
              <a:r>
                <a:rPr lang="zh-CN" sz="975" b="1" dirty="0">
                  <a:solidFill>
                    <a:srgbClr val="FF5C8A"/>
                  </a:solidFill>
                  <a:latin typeface="Arial"/>
                  <a:ea typeface="Microsoft YaHei"/>
                  <a:cs typeface="Arial"/>
                </a:rPr>
                <a:t>work input</a:t>
              </a:r>
            </a:p>
          </p:txBody>
        </p:sp>
        <p:sp>
          <p:nvSpPr>
            <p:cNvPr id="24" name="Rectangle 24"/>
            <p:cNvSpPr/>
            <p:nvPr/>
          </p:nvSpPr>
          <p:spPr>
            <a:xfrm>
              <a:off x="8610600" y="2228850"/>
              <a:ext cx="2152650" cy="1143000"/>
            </a:xfrm>
            <a:prstGeom prst="roundRect">
              <a:avLst>
                <a:gd name="adj" fmla="val 11667"/>
              </a:avLst>
            </a:prstGeom>
            <a:solidFill>
              <a:srgbClr val="18283D"/>
            </a:solidFill>
            <a:ln w="28575">
              <a:solidFill>
                <a:srgbClr val="FFB000"/>
              </a:solidFill>
            </a:ln>
          </p:spPr>
        </p:sp>
        <p:sp>
          <p:nvSpPr>
            <p:cNvPr id="25" name="TextBox 25"/>
            <p:cNvSpPr txBox="1"/>
            <p:nvPr/>
          </p:nvSpPr>
          <p:spPr>
            <a:xfrm>
              <a:off x="8858250" y="2371725"/>
              <a:ext cx="153614" cy="304800"/>
            </a:xfrm>
            <a:prstGeom prst="rect">
              <a:avLst/>
            </a:prstGeom>
            <a:noFill/>
            <a:ln>
              <a:noFill/>
            </a:ln>
          </p:spPr>
          <p:txBody>
            <a:bodyPr wrap="none" lIns="0" tIns="0" rIns="0" bIns="0" anchor="t" anchorCtr="0">
              <a:spAutoFit/>
            </a:bodyPr>
            <a:lstStyle/>
            <a:p>
              <a:pPr algn="l"/>
              <a:r>
                <a:rPr lang="zh-CN" sz="1500" b="1" dirty="0">
                  <a:solidFill>
                    <a:srgbClr val="FFB000"/>
                  </a:solidFill>
                  <a:latin typeface="Consolas"/>
                  <a:ea typeface="Microsoft YaHei"/>
                  <a:cs typeface="Consolas"/>
                </a:rPr>
                <a:t>3</a:t>
              </a:r>
            </a:p>
          </p:txBody>
        </p:sp>
        <p:sp>
          <p:nvSpPr>
            <p:cNvPr id="26" name="TextBox 26"/>
            <p:cNvSpPr txBox="1"/>
            <p:nvPr/>
          </p:nvSpPr>
          <p:spPr>
            <a:xfrm>
              <a:off x="8751733" y="2363629"/>
              <a:ext cx="1870384" cy="320040"/>
            </a:xfrm>
            <a:prstGeom prst="rect">
              <a:avLst/>
            </a:prstGeom>
            <a:noFill/>
            <a:ln>
              <a:noFill/>
            </a:ln>
          </p:spPr>
          <p:txBody>
            <a:bodyPr wrap="none" lIns="0" tIns="0" rIns="0" bIns="0" anchor="t" anchorCtr="0">
              <a:spAutoFit/>
            </a:bodyPr>
            <a:lstStyle/>
            <a:p>
              <a:pPr algn="ctr"/>
              <a:r>
                <a:rPr lang="zh-CN" sz="1575" b="1" dirty="0">
                  <a:solidFill>
                    <a:srgbClr val="F5F7FA"/>
                  </a:solidFill>
                  <a:latin typeface="Arial"/>
                  <a:ea typeface="Microsoft YaHei"/>
                  <a:cs typeface="Arial"/>
                </a:rPr>
                <a:t>Indoor condenser</a:t>
              </a:r>
            </a:p>
          </p:txBody>
        </p:sp>
        <p:sp>
          <p:nvSpPr>
            <p:cNvPr id="27" name="TextBox 27"/>
            <p:cNvSpPr txBox="1"/>
            <p:nvPr/>
          </p:nvSpPr>
          <p:spPr>
            <a:xfrm>
              <a:off x="8757523" y="2736056"/>
              <a:ext cx="1858804" cy="228600"/>
            </a:xfrm>
            <a:prstGeom prst="rect">
              <a:avLst/>
            </a:prstGeom>
            <a:noFill/>
            <a:ln>
              <a:noFill/>
            </a:ln>
          </p:spPr>
          <p:txBody>
            <a:bodyPr wrap="none" lIns="0" tIns="0" rIns="0" bIns="0" anchor="t" anchorCtr="0">
              <a:spAutoFit/>
            </a:bodyPr>
            <a:lstStyle/>
            <a:p>
              <a:pPr algn="ctr"/>
              <a:r>
                <a:rPr lang="zh-CN" sz="1125" dirty="0">
                  <a:solidFill>
                    <a:srgbClr val="9FB2C8"/>
                  </a:solidFill>
                  <a:latin typeface="Arial"/>
                  <a:ea typeface="Microsoft YaHei"/>
                  <a:cs typeface="Arial"/>
                </a:rPr>
                <a:t>hot vapor condenses into</a:t>
              </a:r>
            </a:p>
          </p:txBody>
        </p:sp>
        <p:sp>
          <p:nvSpPr>
            <p:cNvPr id="28" name="TextBox 28"/>
            <p:cNvSpPr txBox="1"/>
            <p:nvPr/>
          </p:nvSpPr>
          <p:spPr>
            <a:xfrm>
              <a:off x="8941296" y="2983706"/>
              <a:ext cx="1491258" cy="228600"/>
            </a:xfrm>
            <a:prstGeom prst="rect">
              <a:avLst/>
            </a:prstGeom>
            <a:noFill/>
            <a:ln>
              <a:noFill/>
            </a:ln>
          </p:spPr>
          <p:txBody>
            <a:bodyPr wrap="none" lIns="0" tIns="0" rIns="0" bIns="0" anchor="t" anchorCtr="0">
              <a:spAutoFit/>
            </a:bodyPr>
            <a:lstStyle/>
            <a:p>
              <a:pPr algn="ctr"/>
              <a:r>
                <a:rPr lang="zh-CN" sz="1125" dirty="0">
                  <a:solidFill>
                    <a:srgbClr val="9FB2C8"/>
                  </a:solidFill>
                  <a:latin typeface="Arial"/>
                  <a:ea typeface="Microsoft YaHei"/>
                  <a:cs typeface="Arial"/>
                </a:rPr>
                <a:t>high-pressure liquid</a:t>
              </a:r>
            </a:p>
          </p:txBody>
        </p:sp>
        <p:sp>
          <p:nvSpPr>
            <p:cNvPr id="29" name="Freeform 29"/>
            <p:cNvSpPr/>
            <p:nvPr/>
          </p:nvSpPr>
          <p:spPr>
            <a:xfrm>
              <a:off x="10801350" y="2800350"/>
              <a:ext cx="571500" cy="9525"/>
            </a:xfrm>
            <a:custGeom>
              <a:avLst/>
              <a:gdLst/>
              <a:ahLst/>
              <a:cxnLst/>
              <a:rect l="l" t="t" r="r" b="b"/>
              <a:pathLst>
                <a:path w="571500" h="9525">
                  <a:moveTo>
                    <a:pt x="0" y="0"/>
                  </a:moveTo>
                  <a:lnTo>
                    <a:pt x="571500" y="0"/>
                  </a:lnTo>
                </a:path>
              </a:pathLst>
            </a:custGeom>
            <a:noFill/>
            <a:ln w="38100">
              <a:solidFill>
                <a:srgbClr val="FFB000"/>
              </a:solidFill>
              <a:tailEnd type="triangle" w="lg" len="lg"/>
            </a:ln>
          </p:spPr>
        </p:sp>
        <p:sp>
          <p:nvSpPr>
            <p:cNvPr id="30" name="TextBox 30"/>
            <p:cNvSpPr txBox="1"/>
            <p:nvPr/>
          </p:nvSpPr>
          <p:spPr>
            <a:xfrm>
              <a:off x="10364115" y="2485549"/>
              <a:ext cx="1465020" cy="198120"/>
            </a:xfrm>
            <a:prstGeom prst="rect">
              <a:avLst/>
            </a:prstGeom>
            <a:noFill/>
            <a:ln>
              <a:noFill/>
            </a:ln>
          </p:spPr>
          <p:txBody>
            <a:bodyPr wrap="none" lIns="0" tIns="0" rIns="0" bIns="0" anchor="t" anchorCtr="0">
              <a:spAutoFit/>
            </a:bodyPr>
            <a:lstStyle/>
            <a:p>
              <a:pPr algn="ctr"/>
              <a:r>
                <a:rPr lang="zh-CN" sz="975" b="1" dirty="0">
                  <a:solidFill>
                    <a:srgbClr val="FFB000"/>
                  </a:solidFill>
                  <a:latin typeface="Arial"/>
                  <a:ea typeface="Microsoft YaHei"/>
                  <a:cs typeface="Arial"/>
                </a:rPr>
                <a:t>releases heat indoors</a:t>
              </a:r>
            </a:p>
          </p:txBody>
        </p:sp>
        <p:sp>
          <p:nvSpPr>
            <p:cNvPr id="31" name="Rectangle 31"/>
            <p:cNvSpPr/>
            <p:nvPr/>
          </p:nvSpPr>
          <p:spPr>
            <a:xfrm>
              <a:off x="4972050" y="4229100"/>
              <a:ext cx="2152650" cy="876300"/>
            </a:xfrm>
            <a:prstGeom prst="roundRect">
              <a:avLst>
                <a:gd name="adj" fmla="val 15217"/>
              </a:avLst>
            </a:prstGeom>
            <a:solidFill>
              <a:srgbClr val="18283D"/>
            </a:solidFill>
            <a:ln w="28575">
              <a:solidFill>
                <a:srgbClr val="3DDC97"/>
              </a:solidFill>
            </a:ln>
          </p:spPr>
        </p:sp>
        <p:sp>
          <p:nvSpPr>
            <p:cNvPr id="32" name="TextBox 32"/>
            <p:cNvSpPr txBox="1"/>
            <p:nvPr/>
          </p:nvSpPr>
          <p:spPr>
            <a:xfrm>
              <a:off x="5219700" y="4371975"/>
              <a:ext cx="153614" cy="304800"/>
            </a:xfrm>
            <a:prstGeom prst="rect">
              <a:avLst/>
            </a:prstGeom>
            <a:noFill/>
            <a:ln>
              <a:noFill/>
            </a:ln>
          </p:spPr>
          <p:txBody>
            <a:bodyPr wrap="none" lIns="0" tIns="0" rIns="0" bIns="0" anchor="t" anchorCtr="0">
              <a:spAutoFit/>
            </a:bodyPr>
            <a:lstStyle/>
            <a:p>
              <a:pPr algn="l"/>
              <a:r>
                <a:rPr lang="zh-CN" sz="1500" b="1" dirty="0">
                  <a:solidFill>
                    <a:srgbClr val="3DDC97"/>
                  </a:solidFill>
                  <a:latin typeface="Consolas"/>
                  <a:ea typeface="Microsoft YaHei"/>
                  <a:cs typeface="Consolas"/>
                </a:rPr>
                <a:t>4</a:t>
              </a:r>
            </a:p>
          </p:txBody>
        </p:sp>
        <p:sp>
          <p:nvSpPr>
            <p:cNvPr id="33" name="TextBox 33"/>
            <p:cNvSpPr txBox="1"/>
            <p:nvPr/>
          </p:nvSpPr>
          <p:spPr>
            <a:xfrm>
              <a:off x="5201394" y="4363879"/>
              <a:ext cx="1693962" cy="320040"/>
            </a:xfrm>
            <a:prstGeom prst="rect">
              <a:avLst/>
            </a:prstGeom>
            <a:noFill/>
            <a:ln>
              <a:noFill/>
            </a:ln>
          </p:spPr>
          <p:txBody>
            <a:bodyPr wrap="none" lIns="0" tIns="0" rIns="0" bIns="0" anchor="t" anchorCtr="0">
              <a:spAutoFit/>
            </a:bodyPr>
            <a:lstStyle/>
            <a:p>
              <a:pPr algn="ctr"/>
              <a:r>
                <a:rPr lang="zh-CN" sz="1575" b="1" dirty="0">
                  <a:solidFill>
                    <a:srgbClr val="F5F7FA"/>
                  </a:solidFill>
                  <a:latin typeface="Arial"/>
                  <a:ea typeface="Microsoft YaHei"/>
                  <a:cs typeface="Arial"/>
                </a:rPr>
                <a:t>Expansion valve</a:t>
              </a:r>
            </a:p>
          </p:txBody>
        </p:sp>
        <p:sp>
          <p:nvSpPr>
            <p:cNvPr id="34" name="TextBox 34"/>
            <p:cNvSpPr txBox="1"/>
            <p:nvPr/>
          </p:nvSpPr>
          <p:spPr>
            <a:xfrm>
              <a:off x="4605159" y="4726781"/>
              <a:ext cx="2886432" cy="228600"/>
            </a:xfrm>
            <a:prstGeom prst="rect">
              <a:avLst/>
            </a:prstGeom>
            <a:noFill/>
            <a:ln>
              <a:noFill/>
            </a:ln>
          </p:spPr>
          <p:txBody>
            <a:bodyPr wrap="none" lIns="0" tIns="0" rIns="0" bIns="0" anchor="t" anchorCtr="0">
              <a:spAutoFit/>
            </a:bodyPr>
            <a:lstStyle/>
            <a:p>
              <a:pPr algn="ctr"/>
              <a:r>
                <a:rPr lang="zh-CN" sz="1125" dirty="0">
                  <a:solidFill>
                    <a:srgbClr val="9FB2C8"/>
                  </a:solidFill>
                  <a:latin typeface="Arial"/>
                  <a:ea typeface="Microsoft YaHei"/>
                  <a:cs typeface="Arial"/>
                </a:rPr>
                <a:t>pressure drops; no useful work output</a:t>
              </a:r>
            </a:p>
          </p:txBody>
        </p:sp>
        <p:sp>
          <p:nvSpPr>
            <p:cNvPr id="35" name="Freeform 35"/>
            <p:cNvSpPr/>
            <p:nvPr/>
          </p:nvSpPr>
          <p:spPr>
            <a:xfrm>
              <a:off x="3524250" y="2800350"/>
              <a:ext cx="1371600" cy="9525"/>
            </a:xfrm>
            <a:custGeom>
              <a:avLst/>
              <a:gdLst/>
              <a:ahLst/>
              <a:cxnLst/>
              <a:rect l="l" t="t" r="r" b="b"/>
              <a:pathLst>
                <a:path w="1371600" h="9525">
                  <a:moveTo>
                    <a:pt x="0" y="0"/>
                  </a:moveTo>
                  <a:lnTo>
                    <a:pt x="1371600" y="0"/>
                  </a:lnTo>
                </a:path>
              </a:pathLst>
            </a:custGeom>
            <a:noFill/>
            <a:ln w="47625">
              <a:solidFill>
                <a:srgbClr val="3DDC97"/>
              </a:solidFill>
              <a:tailEnd type="triangle" w="lg" len="lg"/>
            </a:ln>
          </p:spPr>
        </p:sp>
        <p:sp>
          <p:nvSpPr>
            <p:cNvPr id="36" name="TextBox 36"/>
            <p:cNvSpPr txBox="1"/>
            <p:nvPr/>
          </p:nvSpPr>
          <p:spPr>
            <a:xfrm>
              <a:off x="4018895" y="2504599"/>
              <a:ext cx="382310" cy="198120"/>
            </a:xfrm>
            <a:prstGeom prst="rect">
              <a:avLst/>
            </a:prstGeom>
            <a:noFill/>
            <a:ln>
              <a:noFill/>
            </a:ln>
          </p:spPr>
          <p:txBody>
            <a:bodyPr wrap="none" lIns="0" tIns="0" rIns="0" bIns="0" anchor="t" anchorCtr="0">
              <a:spAutoFit/>
            </a:bodyPr>
            <a:lstStyle/>
            <a:p>
              <a:pPr algn="ctr"/>
              <a:r>
                <a:rPr lang="zh-CN" sz="975" dirty="0">
                  <a:solidFill>
                    <a:srgbClr val="3DDC97"/>
                  </a:solidFill>
                  <a:latin typeface="Arial"/>
                  <a:ea typeface="Microsoft YaHei"/>
                  <a:cs typeface="Arial"/>
                </a:rPr>
                <a:t>vapor</a:t>
              </a:r>
            </a:p>
          </p:txBody>
        </p:sp>
        <p:sp>
          <p:nvSpPr>
            <p:cNvPr id="37" name="Freeform 37"/>
            <p:cNvSpPr/>
            <p:nvPr/>
          </p:nvSpPr>
          <p:spPr>
            <a:xfrm>
              <a:off x="7162800" y="2800350"/>
              <a:ext cx="1371600" cy="9525"/>
            </a:xfrm>
            <a:custGeom>
              <a:avLst/>
              <a:gdLst/>
              <a:ahLst/>
              <a:cxnLst/>
              <a:rect l="l" t="t" r="r" b="b"/>
              <a:pathLst>
                <a:path w="1371600" h="9525">
                  <a:moveTo>
                    <a:pt x="0" y="0"/>
                  </a:moveTo>
                  <a:lnTo>
                    <a:pt x="1371600" y="0"/>
                  </a:lnTo>
                </a:path>
              </a:pathLst>
            </a:custGeom>
            <a:noFill/>
            <a:ln w="47625">
              <a:solidFill>
                <a:srgbClr val="3DDC97"/>
              </a:solidFill>
              <a:tailEnd type="triangle" w="lg" len="lg"/>
            </a:ln>
          </p:spPr>
        </p:sp>
        <p:sp>
          <p:nvSpPr>
            <p:cNvPr id="38" name="TextBox 38"/>
            <p:cNvSpPr txBox="1"/>
            <p:nvPr/>
          </p:nvSpPr>
          <p:spPr>
            <a:xfrm>
              <a:off x="7530679" y="2504599"/>
              <a:ext cx="635841" cy="198120"/>
            </a:xfrm>
            <a:prstGeom prst="rect">
              <a:avLst/>
            </a:prstGeom>
            <a:noFill/>
            <a:ln>
              <a:noFill/>
            </a:ln>
          </p:spPr>
          <p:txBody>
            <a:bodyPr wrap="none" lIns="0" tIns="0" rIns="0" bIns="0" anchor="t" anchorCtr="0">
              <a:spAutoFit/>
            </a:bodyPr>
            <a:lstStyle/>
            <a:p>
              <a:pPr algn="ctr"/>
              <a:r>
                <a:rPr lang="zh-CN" sz="975" dirty="0">
                  <a:solidFill>
                    <a:srgbClr val="3DDC97"/>
                  </a:solidFill>
                  <a:latin typeface="Arial"/>
                  <a:ea typeface="Microsoft YaHei"/>
                  <a:cs typeface="Arial"/>
                </a:rPr>
                <a:t>hot vapor</a:t>
              </a:r>
            </a:p>
          </p:txBody>
        </p:sp>
        <p:sp>
          <p:nvSpPr>
            <p:cNvPr id="39" name="Freeform 39"/>
            <p:cNvSpPr/>
            <p:nvPr/>
          </p:nvSpPr>
          <p:spPr>
            <a:xfrm>
              <a:off x="7200900" y="3409950"/>
              <a:ext cx="2486025" cy="1257300"/>
            </a:xfrm>
            <a:custGeom>
              <a:avLst/>
              <a:gdLst/>
              <a:ahLst/>
              <a:cxnLst/>
              <a:rect l="l" t="t" r="r" b="b"/>
              <a:pathLst>
                <a:path w="2486025" h="1257300">
                  <a:moveTo>
                    <a:pt x="2486025" y="0"/>
                  </a:moveTo>
                  <a:lnTo>
                    <a:pt x="2486025" y="381000"/>
                  </a:lnTo>
                  <a:cubicBezTo>
                    <a:pt x="2486025" y="781050"/>
                    <a:pt x="476250" y="1257300"/>
                    <a:pt x="0" y="1257300"/>
                  </a:cubicBezTo>
                </a:path>
              </a:pathLst>
            </a:custGeom>
            <a:noFill/>
            <a:ln w="47625">
              <a:solidFill>
                <a:srgbClr val="3DDC97"/>
              </a:solidFill>
              <a:tailEnd type="triangle" w="lg" len="lg"/>
            </a:ln>
          </p:spPr>
        </p:sp>
        <p:sp>
          <p:nvSpPr>
            <p:cNvPr id="40" name="TextBox 40"/>
            <p:cNvSpPr txBox="1"/>
            <p:nvPr/>
          </p:nvSpPr>
          <p:spPr>
            <a:xfrm>
              <a:off x="7964388" y="4409599"/>
              <a:ext cx="1292423" cy="198120"/>
            </a:xfrm>
            <a:prstGeom prst="rect">
              <a:avLst/>
            </a:prstGeom>
            <a:noFill/>
            <a:ln>
              <a:noFill/>
            </a:ln>
          </p:spPr>
          <p:txBody>
            <a:bodyPr wrap="none" lIns="0" tIns="0" rIns="0" bIns="0" anchor="t" anchorCtr="0">
              <a:spAutoFit/>
            </a:bodyPr>
            <a:lstStyle/>
            <a:p>
              <a:pPr algn="ctr"/>
              <a:r>
                <a:rPr lang="zh-CN" sz="975" dirty="0">
                  <a:solidFill>
                    <a:srgbClr val="3DDC97"/>
                  </a:solidFill>
                  <a:latin typeface="Arial"/>
                  <a:ea typeface="Microsoft YaHei"/>
                  <a:cs typeface="Arial"/>
                </a:rPr>
                <a:t>high-pressure liquid</a:t>
              </a:r>
            </a:p>
          </p:txBody>
        </p:sp>
        <p:sp>
          <p:nvSpPr>
            <p:cNvPr id="41" name="Freeform 41"/>
            <p:cNvSpPr/>
            <p:nvPr/>
          </p:nvSpPr>
          <p:spPr>
            <a:xfrm>
              <a:off x="2409825" y="3448050"/>
              <a:ext cx="2524125" cy="1219200"/>
            </a:xfrm>
            <a:custGeom>
              <a:avLst/>
              <a:gdLst/>
              <a:ahLst/>
              <a:cxnLst/>
              <a:rect l="l" t="t" r="r" b="b"/>
              <a:pathLst>
                <a:path w="2524125" h="1219200">
                  <a:moveTo>
                    <a:pt x="2524125" y="1219200"/>
                  </a:moveTo>
                  <a:cubicBezTo>
                    <a:pt x="2009775" y="1219200"/>
                    <a:pt x="0" y="723900"/>
                    <a:pt x="0" y="0"/>
                  </a:cubicBezTo>
                </a:path>
              </a:pathLst>
            </a:custGeom>
            <a:noFill/>
            <a:ln w="47625">
              <a:solidFill>
                <a:srgbClr val="3DDC97"/>
              </a:solidFill>
              <a:tailEnd type="triangle" w="lg" len="lg"/>
            </a:ln>
          </p:spPr>
        </p:sp>
        <p:sp>
          <p:nvSpPr>
            <p:cNvPr id="42" name="TextBox 42"/>
            <p:cNvSpPr txBox="1"/>
            <p:nvPr/>
          </p:nvSpPr>
          <p:spPr>
            <a:xfrm>
              <a:off x="2463713" y="4371499"/>
              <a:ext cx="1701975" cy="198120"/>
            </a:xfrm>
            <a:prstGeom prst="rect">
              <a:avLst/>
            </a:prstGeom>
            <a:noFill/>
            <a:ln>
              <a:noFill/>
            </a:ln>
          </p:spPr>
          <p:txBody>
            <a:bodyPr wrap="none" lIns="0" tIns="0" rIns="0" bIns="0" anchor="t" anchorCtr="0">
              <a:spAutoFit/>
            </a:bodyPr>
            <a:lstStyle/>
            <a:p>
              <a:pPr algn="ctr"/>
              <a:r>
                <a:rPr lang="zh-CN" sz="975" dirty="0">
                  <a:solidFill>
                    <a:srgbClr val="3DDC97"/>
                  </a:solidFill>
                  <a:latin typeface="Arial"/>
                  <a:ea typeface="Microsoft YaHei"/>
                  <a:cs typeface="Arial"/>
                </a:rPr>
                <a:t>cold low-pressure mixture</a:t>
              </a:r>
            </a:p>
          </p:txBody>
        </p:sp>
      </p:grpSp>
      <p:grpSp>
        <p:nvGrpSpPr>
          <p:cNvPr id="47" name="Group 47"/>
          <p:cNvGrpSpPr/>
          <p:nvPr/>
        </p:nvGrpSpPr>
        <p:grpSpPr>
          <a:xfrm>
            <a:off x="1543050" y="5753100"/>
            <a:ext cx="9105900" cy="521494"/>
            <a:chOff x="1543050" y="5753100"/>
            <a:chExt cx="9105900" cy="521494"/>
          </a:xfrm>
        </p:grpSpPr>
        <p:sp>
          <p:nvSpPr>
            <p:cNvPr id="44" name="Rectangle 44"/>
            <p:cNvSpPr/>
            <p:nvPr/>
          </p:nvSpPr>
          <p:spPr>
            <a:xfrm>
              <a:off x="1543050" y="5753100"/>
              <a:ext cx="9105900" cy="400050"/>
            </a:xfrm>
            <a:prstGeom prst="roundRect">
              <a:avLst>
                <a:gd name="adj" fmla="val 23810"/>
              </a:avLst>
            </a:prstGeom>
            <a:solidFill>
              <a:srgbClr val="18283D"/>
            </a:solidFill>
            <a:ln w="19050">
              <a:solidFill>
                <a:srgbClr val="38506A"/>
              </a:solidFill>
            </a:ln>
          </p:spPr>
        </p:sp>
        <p:sp>
          <p:nvSpPr>
            <p:cNvPr id="45" name="TextBox 45"/>
            <p:cNvSpPr txBox="1"/>
            <p:nvPr/>
          </p:nvSpPr>
          <p:spPr>
            <a:xfrm>
              <a:off x="3227701" y="5786914"/>
              <a:ext cx="5736598" cy="259080"/>
            </a:xfrm>
            <a:prstGeom prst="rect">
              <a:avLst/>
            </a:prstGeom>
            <a:noFill/>
            <a:ln>
              <a:noFill/>
            </a:ln>
          </p:spPr>
          <p:txBody>
            <a:bodyPr wrap="none" lIns="0" tIns="0" rIns="0" bIns="0" anchor="t" anchorCtr="0">
              <a:spAutoFit/>
            </a:bodyPr>
            <a:lstStyle/>
            <a:p>
              <a:pPr algn="ctr"/>
              <a:r>
                <a:rPr lang="zh-CN" sz="1275" dirty="0">
                  <a:solidFill>
                    <a:srgbClr val="F5F7FA"/>
                  </a:solidFill>
                  <a:latin typeface="Arial"/>
                  <a:ea typeface="Microsoft YaHei"/>
                  <a:cs typeface="Arial"/>
                </a:rPr>
                <a:t>Heating mode: outdoor side absorbs heat; indoor side releases heat.</a:t>
              </a:r>
            </a:p>
          </p:txBody>
        </p:sp>
        <p:sp>
          <p:nvSpPr>
            <p:cNvPr id="46" name="TextBox 46"/>
            <p:cNvSpPr txBox="1"/>
            <p:nvPr/>
          </p:nvSpPr>
          <p:spPr>
            <a:xfrm>
              <a:off x="4290334" y="6015514"/>
              <a:ext cx="3611332" cy="259080"/>
            </a:xfrm>
            <a:prstGeom prst="rect">
              <a:avLst/>
            </a:prstGeom>
            <a:noFill/>
            <a:ln>
              <a:noFill/>
            </a:ln>
          </p:spPr>
          <p:txBody>
            <a:bodyPr wrap="none" lIns="0" tIns="0" rIns="0" bIns="0" anchor="t" anchorCtr="0">
              <a:spAutoFit/>
            </a:bodyPr>
            <a:lstStyle/>
            <a:p>
              <a:pPr algn="ctr"/>
              <a:r>
                <a:rPr lang="zh-CN" sz="1275" dirty="0">
                  <a:solidFill>
                    <a:srgbClr val="F5F7FA"/>
                  </a:solidFill>
                  <a:latin typeface="Arial"/>
                  <a:ea typeface="Microsoft YaHei"/>
                  <a:cs typeface="Arial"/>
                </a:rPr>
                <a:t>The compressor supplies the pressure lift.</a:t>
              </a:r>
            </a:p>
          </p:txBody>
        </p:sp>
      </p:grpSp>
      <p:sp>
        <p:nvSpPr>
          <p:cNvPr id="48" name="TextBox 48"/>
          <p:cNvSpPr txBox="1"/>
          <p:nvPr/>
        </p:nvSpPr>
        <p:spPr>
          <a:xfrm>
            <a:off x="501968" y="6314599"/>
            <a:ext cx="5823490" cy="198120"/>
          </a:xfrm>
          <a:prstGeom prst="rect">
            <a:avLst/>
          </a:prstGeom>
          <a:noFill/>
          <a:ln>
            <a:noFill/>
          </a:ln>
        </p:spPr>
        <p:txBody>
          <a:bodyPr wrap="none" lIns="0" tIns="0" rIns="0" bIns="0" anchor="t" anchorCtr="0">
            <a:spAutoFit/>
          </a:bodyPr>
          <a:lstStyle/>
          <a:p>
            <a:pPr algn="l"/>
            <a:r>
              <a:rPr lang="zh-CN" sz="975" dirty="0">
                <a:solidFill>
                  <a:srgbClr val="9FB2C8"/>
                </a:solidFill>
                <a:latin typeface="Arial"/>
                <a:ea typeface="Microsoft YaHei"/>
                <a:cs typeface="Arial"/>
              </a:rPr>
              <a:t>Source-derived state sequence; expansion valve is pressure drop, not useful work output.</a:t>
            </a:r>
          </a:p>
        </p:txBody>
      </p:sp>
      <p:sp>
        <p:nvSpPr>
          <p:cNvPr id="49" name="TextBox 49"/>
          <p:cNvSpPr txBox="1"/>
          <p:nvPr/>
        </p:nvSpPr>
        <p:spPr>
          <a:xfrm>
            <a:off x="11398568" y="6314599"/>
            <a:ext cx="460319" cy="198120"/>
          </a:xfrm>
          <a:prstGeom prst="rect">
            <a:avLst/>
          </a:prstGeom>
          <a:noFill/>
          <a:ln>
            <a:noFill/>
          </a:ln>
        </p:spPr>
        <p:txBody>
          <a:bodyPr wrap="none" lIns="0" tIns="0" rIns="0" bIns="0" anchor="t" anchorCtr="0">
            <a:spAutoFit/>
          </a:bodyPr>
          <a:lstStyle/>
          <a:p>
            <a:pPr algn="l"/>
            <a:r>
              <a:rPr lang="zh-CN" sz="975" dirty="0">
                <a:solidFill>
                  <a:srgbClr val="9FB2C8"/>
                </a:solidFill>
                <a:latin typeface="Consolas"/>
                <a:ea typeface="Microsoft YaHei"/>
                <a:cs typeface="Consolas"/>
              </a:rPr>
              <a:t>04 / 09</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400"/>
                                        <p:tgtEl>
                                          <p:spTgt spid="43"/>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wipe(left)">
                                      <p:cBhvr>
                                        <p:cTn id="11"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E1117"/>
          </a:solidFill>
          <a:ln>
            <a:noFill/>
          </a:ln>
        </p:spPr>
      </p:sp>
      <p:sp>
        <p:nvSpPr>
          <p:cNvPr id="3" name="Freeform 3"/>
          <p:cNvSpPr/>
          <p:nvPr/>
        </p:nvSpPr>
        <p:spPr>
          <a:xfrm>
            <a:off x="762000" y="0"/>
            <a:ext cx="10668000" cy="6858000"/>
          </a:xfrm>
          <a:custGeom>
            <a:avLst/>
            <a:gdLst/>
            <a:ahLst/>
            <a:cxnLst/>
            <a:rect l="l" t="t" r="r" b="b"/>
            <a:pathLst>
              <a:path w="10668000" h="6858000">
                <a:moveTo>
                  <a:pt x="0" y="0"/>
                </a:moveTo>
                <a:lnTo>
                  <a:pt x="0" y="6858000"/>
                </a:lnTo>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path>
            </a:pathLst>
          </a:custGeom>
          <a:solidFill>
            <a:srgbClr val="000000"/>
          </a:solidFill>
          <a:ln w="9525">
            <a:solidFill>
              <a:srgbClr val="25364A"/>
            </a:solidFill>
          </a:ln>
        </p:spPr>
      </p:sp>
      <p:sp>
        <p:nvSpPr>
          <p:cNvPr id="4" name="Freeform 4"/>
          <p:cNvSpPr/>
          <p:nvPr/>
        </p:nvSpPr>
        <p:spPr>
          <a:xfrm>
            <a:off x="0" y="762000"/>
            <a:ext cx="12192000" cy="5334000"/>
          </a:xfrm>
          <a:custGeom>
            <a:avLst/>
            <a:gdLst/>
            <a:ahLst/>
            <a:cxnLst/>
            <a:rect l="l" t="t" r="r" b="b"/>
            <a:pathLst>
              <a:path w="12192000" h="5334000">
                <a:moveTo>
                  <a:pt x="0" y="0"/>
                </a:moveTo>
                <a:lnTo>
                  <a:pt x="12192000" y="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path>
            </a:pathLst>
          </a:custGeom>
          <a:solidFill>
            <a:srgbClr val="000000"/>
          </a:solidFill>
          <a:ln w="9525">
            <a:solidFill>
              <a:srgbClr val="25364A"/>
            </a:solidFill>
          </a:ln>
        </p:spPr>
      </p:sp>
      <p:grpSp>
        <p:nvGrpSpPr>
          <p:cNvPr id="8" name="Group 8"/>
          <p:cNvGrpSpPr/>
          <p:nvPr/>
        </p:nvGrpSpPr>
        <p:grpSpPr>
          <a:xfrm>
            <a:off x="481965" y="334328"/>
            <a:ext cx="11195685" cy="780097"/>
            <a:chOff x="481965" y="334328"/>
            <a:chExt cx="11195685" cy="780097"/>
          </a:xfrm>
        </p:grpSpPr>
        <p:sp>
          <p:nvSpPr>
            <p:cNvPr id="5" name="TextBox 5"/>
            <p:cNvSpPr txBox="1"/>
            <p:nvPr/>
          </p:nvSpPr>
          <p:spPr>
            <a:xfrm>
              <a:off x="481965" y="334328"/>
              <a:ext cx="4117226" cy="518160"/>
            </a:xfrm>
            <a:prstGeom prst="rect">
              <a:avLst/>
            </a:prstGeom>
            <a:noFill/>
            <a:ln>
              <a:noFill/>
            </a:ln>
          </p:spPr>
          <p:txBody>
            <a:bodyPr wrap="none" lIns="0" tIns="0" rIns="0" bIns="0" anchor="t" anchorCtr="0">
              <a:spAutoFit/>
            </a:bodyPr>
            <a:lstStyle/>
            <a:p>
              <a:pPr algn="l"/>
              <a:r>
                <a:rPr lang="zh-CN" sz="2550" b="1" dirty="0">
                  <a:solidFill>
                    <a:srgbClr val="F5F7FA"/>
                  </a:solidFill>
                  <a:latin typeface="Arial"/>
                  <a:ea typeface="Microsoft YaHei"/>
                  <a:cs typeface="Arial"/>
                </a:rPr>
                <a:t>Heating vs Cooling Mode</a:t>
              </a:r>
            </a:p>
          </p:txBody>
        </p:sp>
        <p:sp>
          <p:nvSpPr>
            <p:cNvPr id="6" name="TextBox 6"/>
            <p:cNvSpPr txBox="1"/>
            <p:nvPr/>
          </p:nvSpPr>
          <p:spPr>
            <a:xfrm>
              <a:off x="497205" y="768668"/>
              <a:ext cx="7181183" cy="274320"/>
            </a:xfrm>
            <a:prstGeom prst="rect">
              <a:avLst/>
            </a:prstGeom>
            <a:noFill/>
            <a:ln>
              <a:noFill/>
            </a:ln>
          </p:spPr>
          <p:txBody>
            <a:bodyPr wrap="none" lIns="0" tIns="0" rIns="0" bIns="0" anchor="t" anchorCtr="0">
              <a:spAutoFit/>
            </a:bodyPr>
            <a:lstStyle/>
            <a:p>
              <a:pPr algn="l"/>
              <a:r>
                <a:rPr lang="zh-CN" sz="1350" dirty="0">
                  <a:solidFill>
                    <a:srgbClr val="9FB2C8"/>
                  </a:solidFill>
                  <a:latin typeface="Arial"/>
                  <a:ea typeface="Microsoft YaHei"/>
                  <a:cs typeface="Arial"/>
                </a:rPr>
                <a:t>The reversing valve changes which coil absorbs heat and which coil releases heat.</a:t>
              </a:r>
            </a:p>
          </p:txBody>
        </p:sp>
        <p:sp>
          <p:nvSpPr>
            <p:cNvPr id="7" name="Line 7"/>
            <p:cNvSpPr/>
            <p:nvPr/>
          </p:nvSpPr>
          <p:spPr>
            <a:xfrm>
              <a:off x="514350" y="1104900"/>
              <a:ext cx="11163300" cy="9525"/>
            </a:xfrm>
            <a:custGeom>
              <a:avLst/>
              <a:gdLst/>
              <a:ahLst/>
              <a:cxnLst/>
              <a:rect l="l" t="t" r="r" b="b"/>
              <a:pathLst>
                <a:path w="11163300" h="9525">
                  <a:moveTo>
                    <a:pt x="0" y="0"/>
                  </a:moveTo>
                  <a:lnTo>
                    <a:pt x="11163300" y="0"/>
                  </a:lnTo>
                </a:path>
              </a:pathLst>
            </a:custGeom>
            <a:noFill/>
            <a:ln w="19050">
              <a:solidFill>
                <a:srgbClr val="38506A"/>
              </a:solidFill>
            </a:ln>
          </p:spPr>
        </p:sp>
      </p:grpSp>
      <p:grpSp>
        <p:nvGrpSpPr>
          <p:cNvPr id="27" name="Group 27"/>
          <p:cNvGrpSpPr/>
          <p:nvPr/>
        </p:nvGrpSpPr>
        <p:grpSpPr>
          <a:xfrm>
            <a:off x="552450" y="1485900"/>
            <a:ext cx="5353050" cy="4095750"/>
            <a:chOff x="552450" y="1485900"/>
            <a:chExt cx="5353050" cy="4095750"/>
          </a:xfrm>
        </p:grpSpPr>
        <p:sp>
          <p:nvSpPr>
            <p:cNvPr id="9" name="Rectangle 9"/>
            <p:cNvSpPr/>
            <p:nvPr/>
          </p:nvSpPr>
          <p:spPr>
            <a:xfrm>
              <a:off x="552450" y="1485900"/>
              <a:ext cx="5353050" cy="4095750"/>
            </a:xfrm>
            <a:prstGeom prst="roundRect">
              <a:avLst>
                <a:gd name="adj" fmla="val 4186"/>
              </a:avLst>
            </a:prstGeom>
            <a:solidFill>
              <a:srgbClr val="142033"/>
            </a:solidFill>
            <a:ln w="19050">
              <a:solidFill>
                <a:srgbClr val="38506A"/>
              </a:solidFill>
            </a:ln>
          </p:spPr>
        </p:sp>
        <p:sp>
          <p:nvSpPr>
            <p:cNvPr id="10" name="TextBox 10"/>
            <p:cNvSpPr txBox="1"/>
            <p:nvPr/>
          </p:nvSpPr>
          <p:spPr>
            <a:xfrm>
              <a:off x="813435" y="1694498"/>
              <a:ext cx="1769645" cy="396240"/>
            </a:xfrm>
            <a:prstGeom prst="rect">
              <a:avLst/>
            </a:prstGeom>
            <a:noFill/>
            <a:ln>
              <a:noFill/>
            </a:ln>
          </p:spPr>
          <p:txBody>
            <a:bodyPr wrap="none" lIns="0" tIns="0" rIns="0" bIns="0" anchor="t" anchorCtr="0">
              <a:spAutoFit/>
            </a:bodyPr>
            <a:lstStyle/>
            <a:p>
              <a:pPr algn="l"/>
              <a:r>
                <a:rPr lang="zh-CN" sz="1950" b="1" dirty="0">
                  <a:solidFill>
                    <a:srgbClr val="FFB000"/>
                  </a:solidFill>
                  <a:latin typeface="Arial"/>
                  <a:ea typeface="Microsoft YaHei"/>
                  <a:cs typeface="Arial"/>
                </a:rPr>
                <a:t>Heating mode</a:t>
              </a:r>
            </a:p>
          </p:txBody>
        </p:sp>
        <p:sp>
          <p:nvSpPr>
            <p:cNvPr id="11" name="TextBox 11"/>
            <p:cNvSpPr txBox="1"/>
            <p:nvPr/>
          </p:nvSpPr>
          <p:spPr>
            <a:xfrm>
              <a:off x="822960" y="2042160"/>
              <a:ext cx="2078736" cy="243840"/>
            </a:xfrm>
            <a:prstGeom prst="rect">
              <a:avLst/>
            </a:prstGeom>
            <a:noFill/>
            <a:ln>
              <a:noFill/>
            </a:ln>
          </p:spPr>
          <p:txBody>
            <a:bodyPr wrap="none" lIns="0" tIns="0" rIns="0" bIns="0" anchor="t" anchorCtr="0">
              <a:spAutoFit/>
            </a:bodyPr>
            <a:lstStyle/>
            <a:p>
              <a:pPr algn="l"/>
              <a:r>
                <a:rPr lang="zh-CN" sz="1200" dirty="0">
                  <a:solidFill>
                    <a:srgbClr val="9FB2C8"/>
                  </a:solidFill>
                  <a:latin typeface="Arial"/>
                  <a:ea typeface="Microsoft YaHei"/>
                  <a:cs typeface="Arial"/>
                </a:rPr>
                <a:t>Goal: release heat indoors</a:t>
              </a:r>
            </a:p>
          </p:txBody>
        </p:sp>
        <p:sp>
          <p:nvSpPr>
            <p:cNvPr id="12" name="Rectangle 12"/>
            <p:cNvSpPr/>
            <p:nvPr/>
          </p:nvSpPr>
          <p:spPr>
            <a:xfrm>
              <a:off x="990600" y="2705100"/>
              <a:ext cx="1695450" cy="1028700"/>
            </a:xfrm>
            <a:prstGeom prst="roundRect">
              <a:avLst>
                <a:gd name="adj" fmla="val 12963"/>
              </a:avLst>
            </a:prstGeom>
            <a:solidFill>
              <a:srgbClr val="18283D"/>
            </a:solidFill>
            <a:ln w="28575">
              <a:solidFill>
                <a:srgbClr val="4DA3FF"/>
              </a:solidFill>
            </a:ln>
          </p:spPr>
        </p:sp>
        <p:sp>
          <p:nvSpPr>
            <p:cNvPr id="13" name="TextBox 13"/>
            <p:cNvSpPr txBox="1"/>
            <p:nvPr/>
          </p:nvSpPr>
          <p:spPr>
            <a:xfrm>
              <a:off x="1183946" y="2886075"/>
              <a:ext cx="1308759" cy="304800"/>
            </a:xfrm>
            <a:prstGeom prst="rect">
              <a:avLst/>
            </a:prstGeom>
            <a:noFill/>
            <a:ln>
              <a:noFill/>
            </a:ln>
          </p:spPr>
          <p:txBody>
            <a:bodyPr wrap="none" lIns="0" tIns="0" rIns="0" bIns="0" anchor="t" anchorCtr="0">
              <a:spAutoFit/>
            </a:bodyPr>
            <a:lstStyle/>
            <a:p>
              <a:pPr algn="ctr"/>
              <a:r>
                <a:rPr lang="zh-CN" sz="1500" b="1" dirty="0">
                  <a:solidFill>
                    <a:srgbClr val="F5F7FA"/>
                  </a:solidFill>
                  <a:latin typeface="Arial"/>
                  <a:ea typeface="Microsoft YaHei"/>
                  <a:cs typeface="Arial"/>
                </a:rPr>
                <a:t>Outdoor coil</a:t>
              </a:r>
            </a:p>
          </p:txBody>
        </p:sp>
        <p:sp>
          <p:nvSpPr>
            <p:cNvPr id="14" name="TextBox 14"/>
            <p:cNvSpPr txBox="1"/>
            <p:nvPr/>
          </p:nvSpPr>
          <p:spPr>
            <a:xfrm>
              <a:off x="1383030" y="3204210"/>
              <a:ext cx="910590" cy="243840"/>
            </a:xfrm>
            <a:prstGeom prst="rect">
              <a:avLst/>
            </a:prstGeom>
            <a:noFill/>
            <a:ln>
              <a:noFill/>
            </a:ln>
          </p:spPr>
          <p:txBody>
            <a:bodyPr wrap="none" lIns="0" tIns="0" rIns="0" bIns="0" anchor="t" anchorCtr="0">
              <a:spAutoFit/>
            </a:bodyPr>
            <a:lstStyle/>
            <a:p>
              <a:pPr algn="ctr"/>
              <a:r>
                <a:rPr lang="zh-CN" sz="1200" dirty="0">
                  <a:solidFill>
                    <a:srgbClr val="4DA3FF"/>
                  </a:solidFill>
                  <a:latin typeface="Arial"/>
                  <a:ea typeface="Microsoft YaHei"/>
                  <a:cs typeface="Arial"/>
                </a:rPr>
                <a:t>evaporator</a:t>
              </a:r>
            </a:p>
          </p:txBody>
        </p:sp>
        <p:sp>
          <p:nvSpPr>
            <p:cNvPr id="15" name="TextBox 15"/>
            <p:cNvSpPr txBox="1"/>
            <p:nvPr/>
          </p:nvSpPr>
          <p:spPr>
            <a:xfrm>
              <a:off x="1413141" y="3457099"/>
              <a:ext cx="850368" cy="198120"/>
            </a:xfrm>
            <a:prstGeom prst="rect">
              <a:avLst/>
            </a:prstGeom>
            <a:noFill/>
            <a:ln>
              <a:noFill/>
            </a:ln>
          </p:spPr>
          <p:txBody>
            <a:bodyPr wrap="none" lIns="0" tIns="0" rIns="0" bIns="0" anchor="t" anchorCtr="0">
              <a:spAutoFit/>
            </a:bodyPr>
            <a:lstStyle/>
            <a:p>
              <a:pPr algn="ctr"/>
              <a:r>
                <a:rPr lang="zh-CN" sz="975" dirty="0">
                  <a:solidFill>
                    <a:srgbClr val="9FB2C8"/>
                  </a:solidFill>
                  <a:latin typeface="Arial"/>
                  <a:ea typeface="Microsoft YaHei"/>
                  <a:cs typeface="Arial"/>
                </a:rPr>
                <a:t>absorbs heat</a:t>
              </a:r>
            </a:p>
          </p:txBody>
        </p:sp>
        <p:sp>
          <p:nvSpPr>
            <p:cNvPr id="16" name="Rectangle 16"/>
            <p:cNvSpPr/>
            <p:nvPr/>
          </p:nvSpPr>
          <p:spPr>
            <a:xfrm>
              <a:off x="3771900" y="2705100"/>
              <a:ext cx="1695450" cy="1028700"/>
            </a:xfrm>
            <a:prstGeom prst="roundRect">
              <a:avLst>
                <a:gd name="adj" fmla="val 12963"/>
              </a:avLst>
            </a:prstGeom>
            <a:solidFill>
              <a:srgbClr val="18283D"/>
            </a:solidFill>
            <a:ln w="28575">
              <a:solidFill>
                <a:srgbClr val="FFB000"/>
              </a:solidFill>
            </a:ln>
          </p:spPr>
        </p:sp>
        <p:sp>
          <p:nvSpPr>
            <p:cNvPr id="17" name="TextBox 17"/>
            <p:cNvSpPr txBox="1"/>
            <p:nvPr/>
          </p:nvSpPr>
          <p:spPr>
            <a:xfrm>
              <a:off x="4070259" y="2886075"/>
              <a:ext cx="1098733" cy="304800"/>
            </a:xfrm>
            <a:prstGeom prst="rect">
              <a:avLst/>
            </a:prstGeom>
            <a:noFill/>
            <a:ln>
              <a:noFill/>
            </a:ln>
          </p:spPr>
          <p:txBody>
            <a:bodyPr wrap="none" lIns="0" tIns="0" rIns="0" bIns="0" anchor="t" anchorCtr="0">
              <a:spAutoFit/>
            </a:bodyPr>
            <a:lstStyle/>
            <a:p>
              <a:pPr algn="ctr"/>
              <a:r>
                <a:rPr lang="zh-CN" sz="1500" b="1" dirty="0">
                  <a:solidFill>
                    <a:srgbClr val="F5F7FA"/>
                  </a:solidFill>
                  <a:latin typeface="Arial"/>
                  <a:ea typeface="Microsoft YaHei"/>
                  <a:cs typeface="Arial"/>
                </a:rPr>
                <a:t>Indoor coil</a:t>
              </a:r>
            </a:p>
          </p:txBody>
        </p:sp>
        <p:sp>
          <p:nvSpPr>
            <p:cNvPr id="18" name="TextBox 18"/>
            <p:cNvSpPr txBox="1"/>
            <p:nvPr/>
          </p:nvSpPr>
          <p:spPr>
            <a:xfrm>
              <a:off x="4208336" y="3204210"/>
              <a:ext cx="822579" cy="243840"/>
            </a:xfrm>
            <a:prstGeom prst="rect">
              <a:avLst/>
            </a:prstGeom>
            <a:noFill/>
            <a:ln>
              <a:noFill/>
            </a:ln>
          </p:spPr>
          <p:txBody>
            <a:bodyPr wrap="none" lIns="0" tIns="0" rIns="0" bIns="0" anchor="t" anchorCtr="0">
              <a:spAutoFit/>
            </a:bodyPr>
            <a:lstStyle/>
            <a:p>
              <a:pPr algn="ctr"/>
              <a:r>
                <a:rPr lang="zh-CN" sz="1200" dirty="0">
                  <a:solidFill>
                    <a:srgbClr val="FFB000"/>
                  </a:solidFill>
                  <a:latin typeface="Arial"/>
                  <a:ea typeface="Microsoft YaHei"/>
                  <a:cs typeface="Arial"/>
                </a:rPr>
                <a:t>condenser</a:t>
              </a:r>
            </a:p>
          </p:txBody>
        </p:sp>
        <p:sp>
          <p:nvSpPr>
            <p:cNvPr id="19" name="TextBox 19"/>
            <p:cNvSpPr txBox="1"/>
            <p:nvPr/>
          </p:nvSpPr>
          <p:spPr>
            <a:xfrm>
              <a:off x="4174938" y="3457099"/>
              <a:ext cx="889373" cy="198120"/>
            </a:xfrm>
            <a:prstGeom prst="rect">
              <a:avLst/>
            </a:prstGeom>
            <a:noFill/>
            <a:ln>
              <a:noFill/>
            </a:ln>
          </p:spPr>
          <p:txBody>
            <a:bodyPr wrap="none" lIns="0" tIns="0" rIns="0" bIns="0" anchor="t" anchorCtr="0">
              <a:spAutoFit/>
            </a:bodyPr>
            <a:lstStyle/>
            <a:p>
              <a:pPr algn="ctr"/>
              <a:r>
                <a:rPr lang="zh-CN" sz="975" dirty="0">
                  <a:solidFill>
                    <a:srgbClr val="9FB2C8"/>
                  </a:solidFill>
                  <a:latin typeface="Arial"/>
                  <a:ea typeface="Microsoft YaHei"/>
                  <a:cs typeface="Arial"/>
                </a:rPr>
                <a:t>releases heat</a:t>
              </a:r>
            </a:p>
          </p:txBody>
        </p:sp>
        <p:sp>
          <p:nvSpPr>
            <p:cNvPr id="20" name="Freeform 20"/>
            <p:cNvSpPr/>
            <p:nvPr/>
          </p:nvSpPr>
          <p:spPr>
            <a:xfrm>
              <a:off x="2724150" y="3219450"/>
              <a:ext cx="990600" cy="9525"/>
            </a:xfrm>
            <a:custGeom>
              <a:avLst/>
              <a:gdLst/>
              <a:ahLst/>
              <a:cxnLst/>
              <a:rect l="l" t="t" r="r" b="b"/>
              <a:pathLst>
                <a:path w="990600" h="9525">
                  <a:moveTo>
                    <a:pt x="0" y="0"/>
                  </a:moveTo>
                  <a:lnTo>
                    <a:pt x="990600" y="0"/>
                  </a:lnTo>
                </a:path>
              </a:pathLst>
            </a:custGeom>
            <a:noFill/>
            <a:ln w="47625">
              <a:solidFill>
                <a:srgbClr val="3DDC97"/>
              </a:solidFill>
              <a:tailEnd type="triangle" w="lg" len="lg"/>
            </a:ln>
          </p:spPr>
        </p:sp>
        <p:sp>
          <p:nvSpPr>
            <p:cNvPr id="21" name="Freeform 21"/>
            <p:cNvSpPr/>
            <p:nvPr/>
          </p:nvSpPr>
          <p:spPr>
            <a:xfrm>
              <a:off x="685800" y="3219450"/>
              <a:ext cx="247650" cy="9525"/>
            </a:xfrm>
            <a:custGeom>
              <a:avLst/>
              <a:gdLst/>
              <a:ahLst/>
              <a:cxnLst/>
              <a:rect l="l" t="t" r="r" b="b"/>
              <a:pathLst>
                <a:path w="247650" h="9525">
                  <a:moveTo>
                    <a:pt x="0" y="0"/>
                  </a:moveTo>
                  <a:lnTo>
                    <a:pt x="247650" y="0"/>
                  </a:lnTo>
                </a:path>
              </a:pathLst>
            </a:custGeom>
            <a:noFill/>
            <a:ln w="38100">
              <a:solidFill>
                <a:srgbClr val="4DA3FF"/>
              </a:solidFill>
              <a:tailEnd type="triangle" w="lg" len="lg"/>
            </a:ln>
          </p:spPr>
        </p:sp>
        <p:sp>
          <p:nvSpPr>
            <p:cNvPr id="22" name="TextBox 22"/>
            <p:cNvSpPr txBox="1"/>
            <p:nvPr/>
          </p:nvSpPr>
          <p:spPr>
            <a:xfrm>
              <a:off x="1167765" y="2363152"/>
              <a:ext cx="1692878" cy="213360"/>
            </a:xfrm>
            <a:prstGeom prst="rect">
              <a:avLst/>
            </a:prstGeom>
            <a:noFill/>
            <a:ln>
              <a:noFill/>
            </a:ln>
          </p:spPr>
          <p:txBody>
            <a:bodyPr wrap="none" lIns="0" tIns="0" rIns="0" bIns="0" anchor="t" anchorCtr="0">
              <a:spAutoFit/>
            </a:bodyPr>
            <a:lstStyle/>
            <a:p>
              <a:pPr algn="l"/>
              <a:r>
                <a:rPr lang="zh-CN" sz="1050" dirty="0">
                  <a:solidFill>
                    <a:srgbClr val="4DA3FF"/>
                  </a:solidFill>
                  <a:latin typeface="Arial"/>
                  <a:ea typeface="Microsoft YaHei"/>
                  <a:cs typeface="Arial"/>
                </a:rPr>
                <a:t>heat in from outdoor air</a:t>
              </a:r>
            </a:p>
          </p:txBody>
        </p:sp>
        <p:sp>
          <p:nvSpPr>
            <p:cNvPr id="23" name="Freeform 23"/>
            <p:cNvSpPr/>
            <p:nvPr/>
          </p:nvSpPr>
          <p:spPr>
            <a:xfrm>
              <a:off x="5505450" y="3219450"/>
              <a:ext cx="323850" cy="9525"/>
            </a:xfrm>
            <a:custGeom>
              <a:avLst/>
              <a:gdLst/>
              <a:ahLst/>
              <a:cxnLst/>
              <a:rect l="l" t="t" r="r" b="b"/>
              <a:pathLst>
                <a:path w="323850" h="9525">
                  <a:moveTo>
                    <a:pt x="0" y="0"/>
                  </a:moveTo>
                  <a:lnTo>
                    <a:pt x="323850" y="0"/>
                  </a:lnTo>
                </a:path>
              </a:pathLst>
            </a:custGeom>
            <a:noFill/>
            <a:ln w="38100">
              <a:solidFill>
                <a:srgbClr val="FFB000"/>
              </a:solidFill>
              <a:tailEnd type="triangle" w="lg" len="lg"/>
            </a:ln>
          </p:spPr>
        </p:sp>
        <p:sp>
          <p:nvSpPr>
            <p:cNvPr id="24" name="TextBox 24"/>
            <p:cNvSpPr txBox="1"/>
            <p:nvPr/>
          </p:nvSpPr>
          <p:spPr>
            <a:xfrm>
              <a:off x="3949065" y="2363152"/>
              <a:ext cx="1181814" cy="213360"/>
            </a:xfrm>
            <a:prstGeom prst="rect">
              <a:avLst/>
            </a:prstGeom>
            <a:noFill/>
            <a:ln>
              <a:noFill/>
            </a:ln>
          </p:spPr>
          <p:txBody>
            <a:bodyPr wrap="none" lIns="0" tIns="0" rIns="0" bIns="0" anchor="t" anchorCtr="0">
              <a:spAutoFit/>
            </a:bodyPr>
            <a:lstStyle/>
            <a:p>
              <a:pPr algn="l"/>
              <a:r>
                <a:rPr lang="zh-CN" sz="1050" dirty="0">
                  <a:solidFill>
                    <a:srgbClr val="FFB000"/>
                  </a:solidFill>
                  <a:latin typeface="Arial"/>
                  <a:ea typeface="Microsoft YaHei"/>
                  <a:cs typeface="Arial"/>
                </a:rPr>
                <a:t>heat out to room</a:t>
              </a:r>
            </a:p>
          </p:txBody>
        </p:sp>
        <p:sp>
          <p:nvSpPr>
            <p:cNvPr id="25" name="Rectangle 25"/>
            <p:cNvSpPr/>
            <p:nvPr/>
          </p:nvSpPr>
          <p:spPr>
            <a:xfrm>
              <a:off x="2171700" y="4248150"/>
              <a:ext cx="2133600" cy="552450"/>
            </a:xfrm>
            <a:prstGeom prst="roundRect">
              <a:avLst>
                <a:gd name="adj" fmla="val 20690"/>
              </a:avLst>
            </a:prstGeom>
            <a:solidFill>
              <a:srgbClr val="18283D"/>
            </a:solidFill>
            <a:ln w="19050">
              <a:solidFill>
                <a:srgbClr val="38506A"/>
              </a:solidFill>
            </a:ln>
          </p:spPr>
        </p:sp>
        <p:sp>
          <p:nvSpPr>
            <p:cNvPr id="26" name="TextBox 26"/>
            <p:cNvSpPr txBox="1"/>
            <p:nvPr/>
          </p:nvSpPr>
          <p:spPr>
            <a:xfrm>
              <a:off x="2070414" y="4443889"/>
              <a:ext cx="2336173" cy="259080"/>
            </a:xfrm>
            <a:prstGeom prst="rect">
              <a:avLst/>
            </a:prstGeom>
            <a:noFill/>
            <a:ln>
              <a:noFill/>
            </a:ln>
          </p:spPr>
          <p:txBody>
            <a:bodyPr wrap="none" lIns="0" tIns="0" rIns="0" bIns="0" anchor="t" anchorCtr="0">
              <a:spAutoFit/>
            </a:bodyPr>
            <a:lstStyle/>
            <a:p>
              <a:pPr algn="ctr"/>
              <a:r>
                <a:rPr lang="zh-CN" sz="1275" dirty="0">
                  <a:solidFill>
                    <a:srgbClr val="F5F7FA"/>
                  </a:solidFill>
                  <a:latin typeface="Arial"/>
                  <a:ea typeface="Microsoft YaHei"/>
                  <a:cs typeface="Arial"/>
                </a:rPr>
                <a:t>Reversing valve routes flow</a:t>
              </a:r>
            </a:p>
          </p:txBody>
        </p:sp>
      </p:grpSp>
      <p:grpSp>
        <p:nvGrpSpPr>
          <p:cNvPr id="46" name="Group 46"/>
          <p:cNvGrpSpPr/>
          <p:nvPr/>
        </p:nvGrpSpPr>
        <p:grpSpPr>
          <a:xfrm>
            <a:off x="6286500" y="1485900"/>
            <a:ext cx="5353050" cy="4095750"/>
            <a:chOff x="6286500" y="1485900"/>
            <a:chExt cx="5353050" cy="4095750"/>
          </a:xfrm>
        </p:grpSpPr>
        <p:sp>
          <p:nvSpPr>
            <p:cNvPr id="28" name="Rectangle 28"/>
            <p:cNvSpPr/>
            <p:nvPr/>
          </p:nvSpPr>
          <p:spPr>
            <a:xfrm>
              <a:off x="6286500" y="1485900"/>
              <a:ext cx="5353050" cy="4095750"/>
            </a:xfrm>
            <a:prstGeom prst="roundRect">
              <a:avLst>
                <a:gd name="adj" fmla="val 4186"/>
              </a:avLst>
            </a:prstGeom>
            <a:solidFill>
              <a:srgbClr val="142033"/>
            </a:solidFill>
            <a:ln w="19050">
              <a:solidFill>
                <a:srgbClr val="38506A"/>
              </a:solidFill>
            </a:ln>
          </p:spPr>
        </p:sp>
        <p:sp>
          <p:nvSpPr>
            <p:cNvPr id="29" name="TextBox 29"/>
            <p:cNvSpPr txBox="1"/>
            <p:nvPr/>
          </p:nvSpPr>
          <p:spPr>
            <a:xfrm>
              <a:off x="6547485" y="1694498"/>
              <a:ext cx="1701386" cy="396240"/>
            </a:xfrm>
            <a:prstGeom prst="rect">
              <a:avLst/>
            </a:prstGeom>
            <a:noFill/>
            <a:ln>
              <a:noFill/>
            </a:ln>
          </p:spPr>
          <p:txBody>
            <a:bodyPr wrap="none" lIns="0" tIns="0" rIns="0" bIns="0" anchor="t" anchorCtr="0">
              <a:spAutoFit/>
            </a:bodyPr>
            <a:lstStyle/>
            <a:p>
              <a:pPr algn="l"/>
              <a:r>
                <a:rPr lang="zh-CN" sz="1950" b="1" dirty="0">
                  <a:solidFill>
                    <a:srgbClr val="4DA3FF"/>
                  </a:solidFill>
                  <a:latin typeface="Arial"/>
                  <a:ea typeface="Microsoft YaHei"/>
                  <a:cs typeface="Arial"/>
                </a:rPr>
                <a:t>Cooling mode</a:t>
              </a:r>
            </a:p>
          </p:txBody>
        </p:sp>
        <p:sp>
          <p:nvSpPr>
            <p:cNvPr id="30" name="TextBox 30"/>
            <p:cNvSpPr txBox="1"/>
            <p:nvPr/>
          </p:nvSpPr>
          <p:spPr>
            <a:xfrm>
              <a:off x="6557010" y="2042160"/>
              <a:ext cx="2582799" cy="243840"/>
            </a:xfrm>
            <a:prstGeom prst="rect">
              <a:avLst/>
            </a:prstGeom>
            <a:noFill/>
            <a:ln>
              <a:noFill/>
            </a:ln>
          </p:spPr>
          <p:txBody>
            <a:bodyPr wrap="none" lIns="0" tIns="0" rIns="0" bIns="0" anchor="t" anchorCtr="0">
              <a:spAutoFit/>
            </a:bodyPr>
            <a:lstStyle/>
            <a:p>
              <a:pPr algn="l"/>
              <a:r>
                <a:rPr lang="zh-CN" sz="1200" dirty="0">
                  <a:solidFill>
                    <a:srgbClr val="9FB2C8"/>
                  </a:solidFill>
                  <a:latin typeface="Arial"/>
                  <a:ea typeface="Microsoft YaHei"/>
                  <a:cs typeface="Arial"/>
                </a:rPr>
                <a:t>Goal: absorb heat from the room</a:t>
              </a:r>
            </a:p>
          </p:txBody>
        </p:sp>
        <p:sp>
          <p:nvSpPr>
            <p:cNvPr id="31" name="Rectangle 31"/>
            <p:cNvSpPr/>
            <p:nvPr/>
          </p:nvSpPr>
          <p:spPr>
            <a:xfrm>
              <a:off x="6724650" y="2705100"/>
              <a:ext cx="1695450" cy="1028700"/>
            </a:xfrm>
            <a:prstGeom prst="roundRect">
              <a:avLst>
                <a:gd name="adj" fmla="val 12963"/>
              </a:avLst>
            </a:prstGeom>
            <a:solidFill>
              <a:srgbClr val="18283D"/>
            </a:solidFill>
            <a:ln w="28575">
              <a:solidFill>
                <a:srgbClr val="FFB000"/>
              </a:solidFill>
            </a:ln>
          </p:spPr>
        </p:sp>
        <p:sp>
          <p:nvSpPr>
            <p:cNvPr id="32" name="TextBox 32"/>
            <p:cNvSpPr txBox="1"/>
            <p:nvPr/>
          </p:nvSpPr>
          <p:spPr>
            <a:xfrm>
              <a:off x="6917996" y="2886075"/>
              <a:ext cx="1308759" cy="304800"/>
            </a:xfrm>
            <a:prstGeom prst="rect">
              <a:avLst/>
            </a:prstGeom>
            <a:noFill/>
            <a:ln>
              <a:noFill/>
            </a:ln>
          </p:spPr>
          <p:txBody>
            <a:bodyPr wrap="none" lIns="0" tIns="0" rIns="0" bIns="0" anchor="t" anchorCtr="0">
              <a:spAutoFit/>
            </a:bodyPr>
            <a:lstStyle/>
            <a:p>
              <a:pPr algn="ctr"/>
              <a:r>
                <a:rPr lang="zh-CN" sz="1500" b="1" dirty="0">
                  <a:solidFill>
                    <a:srgbClr val="F5F7FA"/>
                  </a:solidFill>
                  <a:latin typeface="Arial"/>
                  <a:ea typeface="Microsoft YaHei"/>
                  <a:cs typeface="Arial"/>
                </a:rPr>
                <a:t>Outdoor coil</a:t>
              </a:r>
            </a:p>
          </p:txBody>
        </p:sp>
        <p:sp>
          <p:nvSpPr>
            <p:cNvPr id="33" name="TextBox 33"/>
            <p:cNvSpPr txBox="1"/>
            <p:nvPr/>
          </p:nvSpPr>
          <p:spPr>
            <a:xfrm>
              <a:off x="7161085" y="3204210"/>
              <a:ext cx="822579" cy="243840"/>
            </a:xfrm>
            <a:prstGeom prst="rect">
              <a:avLst/>
            </a:prstGeom>
            <a:noFill/>
            <a:ln>
              <a:noFill/>
            </a:ln>
          </p:spPr>
          <p:txBody>
            <a:bodyPr wrap="none" lIns="0" tIns="0" rIns="0" bIns="0" anchor="t" anchorCtr="0">
              <a:spAutoFit/>
            </a:bodyPr>
            <a:lstStyle/>
            <a:p>
              <a:pPr algn="ctr"/>
              <a:r>
                <a:rPr lang="zh-CN" sz="1200" dirty="0">
                  <a:solidFill>
                    <a:srgbClr val="FFB000"/>
                  </a:solidFill>
                  <a:latin typeface="Arial"/>
                  <a:ea typeface="Microsoft YaHei"/>
                  <a:cs typeface="Arial"/>
                </a:rPr>
                <a:t>condenser</a:t>
              </a:r>
            </a:p>
          </p:txBody>
        </p:sp>
        <p:sp>
          <p:nvSpPr>
            <p:cNvPr id="34" name="TextBox 34"/>
            <p:cNvSpPr txBox="1"/>
            <p:nvPr/>
          </p:nvSpPr>
          <p:spPr>
            <a:xfrm>
              <a:off x="7163443" y="3457099"/>
              <a:ext cx="817864" cy="198120"/>
            </a:xfrm>
            <a:prstGeom prst="rect">
              <a:avLst/>
            </a:prstGeom>
            <a:noFill/>
            <a:ln>
              <a:noFill/>
            </a:ln>
          </p:spPr>
          <p:txBody>
            <a:bodyPr wrap="none" lIns="0" tIns="0" rIns="0" bIns="0" anchor="t" anchorCtr="0">
              <a:spAutoFit/>
            </a:bodyPr>
            <a:lstStyle/>
            <a:p>
              <a:pPr algn="ctr"/>
              <a:r>
                <a:rPr lang="zh-CN" sz="975" dirty="0">
                  <a:solidFill>
                    <a:srgbClr val="9FB2C8"/>
                  </a:solidFill>
                  <a:latin typeface="Arial"/>
                  <a:ea typeface="Microsoft YaHei"/>
                  <a:cs typeface="Arial"/>
                </a:rPr>
                <a:t>rejects heat</a:t>
              </a:r>
            </a:p>
          </p:txBody>
        </p:sp>
        <p:sp>
          <p:nvSpPr>
            <p:cNvPr id="35" name="Rectangle 35"/>
            <p:cNvSpPr/>
            <p:nvPr/>
          </p:nvSpPr>
          <p:spPr>
            <a:xfrm>
              <a:off x="9505950" y="2705100"/>
              <a:ext cx="1695450" cy="1028700"/>
            </a:xfrm>
            <a:prstGeom prst="roundRect">
              <a:avLst>
                <a:gd name="adj" fmla="val 12963"/>
              </a:avLst>
            </a:prstGeom>
            <a:solidFill>
              <a:srgbClr val="18283D"/>
            </a:solidFill>
            <a:ln w="28575">
              <a:solidFill>
                <a:srgbClr val="4DA3FF"/>
              </a:solidFill>
            </a:ln>
          </p:spPr>
        </p:sp>
        <p:sp>
          <p:nvSpPr>
            <p:cNvPr id="36" name="TextBox 36"/>
            <p:cNvSpPr txBox="1"/>
            <p:nvPr/>
          </p:nvSpPr>
          <p:spPr>
            <a:xfrm>
              <a:off x="9804309" y="2886075"/>
              <a:ext cx="1098733" cy="304800"/>
            </a:xfrm>
            <a:prstGeom prst="rect">
              <a:avLst/>
            </a:prstGeom>
            <a:noFill/>
            <a:ln>
              <a:noFill/>
            </a:ln>
          </p:spPr>
          <p:txBody>
            <a:bodyPr wrap="none" lIns="0" tIns="0" rIns="0" bIns="0" anchor="t" anchorCtr="0">
              <a:spAutoFit/>
            </a:bodyPr>
            <a:lstStyle/>
            <a:p>
              <a:pPr algn="ctr"/>
              <a:r>
                <a:rPr lang="zh-CN" sz="1500" b="1" dirty="0">
                  <a:solidFill>
                    <a:srgbClr val="F5F7FA"/>
                  </a:solidFill>
                  <a:latin typeface="Arial"/>
                  <a:ea typeface="Microsoft YaHei"/>
                  <a:cs typeface="Arial"/>
                </a:rPr>
                <a:t>Indoor coil</a:t>
              </a:r>
            </a:p>
          </p:txBody>
        </p:sp>
        <p:sp>
          <p:nvSpPr>
            <p:cNvPr id="37" name="TextBox 37"/>
            <p:cNvSpPr txBox="1"/>
            <p:nvPr/>
          </p:nvSpPr>
          <p:spPr>
            <a:xfrm>
              <a:off x="9898380" y="3204210"/>
              <a:ext cx="910590" cy="243840"/>
            </a:xfrm>
            <a:prstGeom prst="rect">
              <a:avLst/>
            </a:prstGeom>
            <a:noFill/>
            <a:ln>
              <a:noFill/>
            </a:ln>
          </p:spPr>
          <p:txBody>
            <a:bodyPr wrap="none" lIns="0" tIns="0" rIns="0" bIns="0" anchor="t" anchorCtr="0">
              <a:spAutoFit/>
            </a:bodyPr>
            <a:lstStyle/>
            <a:p>
              <a:pPr algn="ctr"/>
              <a:r>
                <a:rPr lang="zh-CN" sz="1200" dirty="0">
                  <a:solidFill>
                    <a:srgbClr val="4DA3FF"/>
                  </a:solidFill>
                  <a:latin typeface="Arial"/>
                  <a:ea typeface="Microsoft YaHei"/>
                  <a:cs typeface="Arial"/>
                </a:rPr>
                <a:t>evaporator</a:t>
              </a:r>
            </a:p>
          </p:txBody>
        </p:sp>
        <p:sp>
          <p:nvSpPr>
            <p:cNvPr id="38" name="TextBox 38"/>
            <p:cNvSpPr txBox="1"/>
            <p:nvPr/>
          </p:nvSpPr>
          <p:spPr>
            <a:xfrm>
              <a:off x="9752969" y="3457099"/>
              <a:ext cx="1201412" cy="198120"/>
            </a:xfrm>
            <a:prstGeom prst="rect">
              <a:avLst/>
            </a:prstGeom>
            <a:noFill/>
            <a:ln>
              <a:noFill/>
            </a:ln>
          </p:spPr>
          <p:txBody>
            <a:bodyPr wrap="none" lIns="0" tIns="0" rIns="0" bIns="0" anchor="t" anchorCtr="0">
              <a:spAutoFit/>
            </a:bodyPr>
            <a:lstStyle/>
            <a:p>
              <a:pPr algn="ctr"/>
              <a:r>
                <a:rPr lang="zh-CN" sz="975" dirty="0">
                  <a:solidFill>
                    <a:srgbClr val="9FB2C8"/>
                  </a:solidFill>
                  <a:latin typeface="Arial"/>
                  <a:ea typeface="Microsoft YaHei"/>
                  <a:cs typeface="Arial"/>
                </a:rPr>
                <a:t>absorbs room heat</a:t>
              </a:r>
            </a:p>
          </p:txBody>
        </p:sp>
        <p:sp>
          <p:nvSpPr>
            <p:cNvPr id="39" name="Freeform 39"/>
            <p:cNvSpPr/>
            <p:nvPr/>
          </p:nvSpPr>
          <p:spPr>
            <a:xfrm>
              <a:off x="8477250" y="3219450"/>
              <a:ext cx="990600" cy="9525"/>
            </a:xfrm>
            <a:custGeom>
              <a:avLst/>
              <a:gdLst/>
              <a:ahLst/>
              <a:cxnLst/>
              <a:rect l="l" t="t" r="r" b="b"/>
              <a:pathLst>
                <a:path w="990600" h="9525">
                  <a:moveTo>
                    <a:pt x="990600" y="0"/>
                  </a:moveTo>
                  <a:lnTo>
                    <a:pt x="0" y="0"/>
                  </a:lnTo>
                </a:path>
              </a:pathLst>
            </a:custGeom>
            <a:noFill/>
            <a:ln w="47625">
              <a:solidFill>
                <a:srgbClr val="3DDC97"/>
              </a:solidFill>
              <a:tailEnd type="triangle" w="lg" len="lg"/>
            </a:ln>
          </p:spPr>
        </p:sp>
        <p:sp>
          <p:nvSpPr>
            <p:cNvPr id="40" name="Freeform 40"/>
            <p:cNvSpPr/>
            <p:nvPr/>
          </p:nvSpPr>
          <p:spPr>
            <a:xfrm>
              <a:off x="11220450" y="3219450"/>
              <a:ext cx="304800" cy="9525"/>
            </a:xfrm>
            <a:custGeom>
              <a:avLst/>
              <a:gdLst/>
              <a:ahLst/>
              <a:cxnLst/>
              <a:rect l="l" t="t" r="r" b="b"/>
              <a:pathLst>
                <a:path w="304800" h="9525">
                  <a:moveTo>
                    <a:pt x="0" y="0"/>
                  </a:moveTo>
                  <a:lnTo>
                    <a:pt x="304800" y="0"/>
                  </a:lnTo>
                </a:path>
              </a:pathLst>
            </a:custGeom>
            <a:noFill/>
            <a:ln w="38100">
              <a:solidFill>
                <a:srgbClr val="4DA3FF"/>
              </a:solidFill>
              <a:tailEnd type="triangle" w="lg" len="lg"/>
            </a:ln>
          </p:spPr>
        </p:sp>
        <p:sp>
          <p:nvSpPr>
            <p:cNvPr id="41" name="TextBox 41"/>
            <p:cNvSpPr txBox="1"/>
            <p:nvPr/>
          </p:nvSpPr>
          <p:spPr>
            <a:xfrm>
              <a:off x="9683115" y="2363152"/>
              <a:ext cx="1251823" cy="213360"/>
            </a:xfrm>
            <a:prstGeom prst="rect">
              <a:avLst/>
            </a:prstGeom>
            <a:noFill/>
            <a:ln>
              <a:noFill/>
            </a:ln>
          </p:spPr>
          <p:txBody>
            <a:bodyPr wrap="none" lIns="0" tIns="0" rIns="0" bIns="0" anchor="t" anchorCtr="0">
              <a:spAutoFit/>
            </a:bodyPr>
            <a:lstStyle/>
            <a:p>
              <a:pPr algn="l"/>
              <a:r>
                <a:rPr lang="zh-CN" sz="1050" dirty="0">
                  <a:solidFill>
                    <a:srgbClr val="4DA3FF"/>
                  </a:solidFill>
                  <a:latin typeface="Arial"/>
                  <a:ea typeface="Microsoft YaHei"/>
                  <a:cs typeface="Arial"/>
                </a:rPr>
                <a:t>heat in from room</a:t>
              </a:r>
            </a:p>
          </p:txBody>
        </p:sp>
        <p:sp>
          <p:nvSpPr>
            <p:cNvPr id="42" name="Freeform 42"/>
            <p:cNvSpPr/>
            <p:nvPr/>
          </p:nvSpPr>
          <p:spPr>
            <a:xfrm>
              <a:off x="6400800" y="3219450"/>
              <a:ext cx="304800" cy="9525"/>
            </a:xfrm>
            <a:custGeom>
              <a:avLst/>
              <a:gdLst/>
              <a:ahLst/>
              <a:cxnLst/>
              <a:rect l="l" t="t" r="r" b="b"/>
              <a:pathLst>
                <a:path w="304800" h="9525">
                  <a:moveTo>
                    <a:pt x="304800" y="0"/>
                  </a:moveTo>
                  <a:lnTo>
                    <a:pt x="0" y="0"/>
                  </a:lnTo>
                </a:path>
              </a:pathLst>
            </a:custGeom>
            <a:noFill/>
            <a:ln w="38100">
              <a:solidFill>
                <a:srgbClr val="FFB000"/>
              </a:solidFill>
              <a:tailEnd type="triangle" w="lg" len="lg"/>
            </a:ln>
          </p:spPr>
        </p:sp>
        <p:sp>
          <p:nvSpPr>
            <p:cNvPr id="43" name="TextBox 43"/>
            <p:cNvSpPr txBox="1"/>
            <p:nvPr/>
          </p:nvSpPr>
          <p:spPr>
            <a:xfrm>
              <a:off x="6882765" y="2363152"/>
              <a:ext cx="1615869" cy="213360"/>
            </a:xfrm>
            <a:prstGeom prst="rect">
              <a:avLst/>
            </a:prstGeom>
            <a:noFill/>
            <a:ln>
              <a:noFill/>
            </a:ln>
          </p:spPr>
          <p:txBody>
            <a:bodyPr wrap="none" lIns="0" tIns="0" rIns="0" bIns="0" anchor="t" anchorCtr="0">
              <a:spAutoFit/>
            </a:bodyPr>
            <a:lstStyle/>
            <a:p>
              <a:pPr algn="l"/>
              <a:r>
                <a:rPr lang="zh-CN" sz="1050" dirty="0">
                  <a:solidFill>
                    <a:srgbClr val="FFB000"/>
                  </a:solidFill>
                  <a:latin typeface="Arial"/>
                  <a:ea typeface="Microsoft YaHei"/>
                  <a:cs typeface="Arial"/>
                </a:rPr>
                <a:t>heat rejected outdoors</a:t>
              </a:r>
            </a:p>
          </p:txBody>
        </p:sp>
        <p:sp>
          <p:nvSpPr>
            <p:cNvPr id="44" name="Rectangle 44"/>
            <p:cNvSpPr/>
            <p:nvPr/>
          </p:nvSpPr>
          <p:spPr>
            <a:xfrm>
              <a:off x="7905750" y="4248150"/>
              <a:ext cx="2133600" cy="552450"/>
            </a:xfrm>
            <a:prstGeom prst="roundRect">
              <a:avLst>
                <a:gd name="adj" fmla="val 20690"/>
              </a:avLst>
            </a:prstGeom>
            <a:solidFill>
              <a:srgbClr val="18283D"/>
            </a:solidFill>
            <a:ln w="19050">
              <a:solidFill>
                <a:srgbClr val="38506A"/>
              </a:solidFill>
            </a:ln>
          </p:spPr>
        </p:sp>
        <p:sp>
          <p:nvSpPr>
            <p:cNvPr id="45" name="TextBox 45"/>
            <p:cNvSpPr txBox="1"/>
            <p:nvPr/>
          </p:nvSpPr>
          <p:spPr>
            <a:xfrm>
              <a:off x="7651444" y="4443889"/>
              <a:ext cx="2642211" cy="259080"/>
            </a:xfrm>
            <a:prstGeom prst="rect">
              <a:avLst/>
            </a:prstGeom>
            <a:noFill/>
            <a:ln>
              <a:noFill/>
            </a:ln>
          </p:spPr>
          <p:txBody>
            <a:bodyPr wrap="none" lIns="0" tIns="0" rIns="0" bIns="0" anchor="t" anchorCtr="0">
              <a:spAutoFit/>
            </a:bodyPr>
            <a:lstStyle/>
            <a:p>
              <a:pPr algn="ctr"/>
              <a:r>
                <a:rPr lang="zh-CN" sz="1275" dirty="0">
                  <a:solidFill>
                    <a:srgbClr val="F5F7FA"/>
                  </a:solidFill>
                  <a:latin typeface="Arial"/>
                  <a:ea typeface="Microsoft YaHei"/>
                  <a:cs typeface="Arial"/>
                </a:rPr>
                <a:t>Same hardware, reversed roles</a:t>
              </a:r>
            </a:p>
          </p:txBody>
        </p:sp>
      </p:grpSp>
      <p:grpSp>
        <p:nvGrpSpPr>
          <p:cNvPr id="50" name="Group 50"/>
          <p:cNvGrpSpPr/>
          <p:nvPr/>
        </p:nvGrpSpPr>
        <p:grpSpPr>
          <a:xfrm>
            <a:off x="2533650" y="5791200"/>
            <a:ext cx="7124700" cy="547688"/>
            <a:chOff x="2533650" y="5791200"/>
            <a:chExt cx="7124700" cy="547688"/>
          </a:xfrm>
        </p:grpSpPr>
        <p:sp>
          <p:nvSpPr>
            <p:cNvPr id="47" name="Rectangle 47"/>
            <p:cNvSpPr/>
            <p:nvPr/>
          </p:nvSpPr>
          <p:spPr>
            <a:xfrm>
              <a:off x="2533650" y="5791200"/>
              <a:ext cx="7124700" cy="457200"/>
            </a:xfrm>
            <a:prstGeom prst="roundRect">
              <a:avLst>
                <a:gd name="adj" fmla="val 25000"/>
              </a:avLst>
            </a:prstGeom>
            <a:solidFill>
              <a:srgbClr val="18283D"/>
            </a:solidFill>
            <a:ln w="19050">
              <a:solidFill>
                <a:srgbClr val="38506A"/>
              </a:solidFill>
            </a:ln>
          </p:spPr>
        </p:sp>
        <p:sp>
          <p:nvSpPr>
            <p:cNvPr id="48" name="TextBox 48"/>
            <p:cNvSpPr txBox="1"/>
            <p:nvPr/>
          </p:nvSpPr>
          <p:spPr>
            <a:xfrm>
              <a:off x="4742188" y="5835968"/>
              <a:ext cx="2707624" cy="274320"/>
            </a:xfrm>
            <a:prstGeom prst="rect">
              <a:avLst/>
            </a:prstGeom>
            <a:noFill/>
            <a:ln>
              <a:noFill/>
            </a:ln>
          </p:spPr>
          <p:txBody>
            <a:bodyPr wrap="none" lIns="0" tIns="0" rIns="0" bIns="0" anchor="t" anchorCtr="0">
              <a:spAutoFit/>
            </a:bodyPr>
            <a:lstStyle/>
            <a:p>
              <a:pPr algn="ctr"/>
              <a:r>
                <a:rPr lang="zh-CN" sz="1350" dirty="0">
                  <a:solidFill>
                    <a:srgbClr val="F5F7FA"/>
                  </a:solidFill>
                  <a:latin typeface="Arial"/>
                  <a:ea typeface="Microsoft YaHei"/>
                  <a:cs typeface="Arial"/>
                </a:rPr>
                <a:t>Mode switch = coil roles swap.</a:t>
              </a:r>
            </a:p>
          </p:txBody>
        </p:sp>
        <p:sp>
          <p:nvSpPr>
            <p:cNvPr id="49" name="TextBox 49"/>
            <p:cNvSpPr txBox="1"/>
            <p:nvPr/>
          </p:nvSpPr>
          <p:spPr>
            <a:xfrm>
              <a:off x="2734937" y="6064568"/>
              <a:ext cx="6722126" cy="274320"/>
            </a:xfrm>
            <a:prstGeom prst="rect">
              <a:avLst/>
            </a:prstGeom>
            <a:noFill/>
            <a:ln>
              <a:noFill/>
            </a:ln>
          </p:spPr>
          <p:txBody>
            <a:bodyPr wrap="none" lIns="0" tIns="0" rIns="0" bIns="0" anchor="t" anchorCtr="0">
              <a:spAutoFit/>
            </a:bodyPr>
            <a:lstStyle/>
            <a:p>
              <a:pPr algn="ctr"/>
              <a:r>
                <a:rPr lang="zh-CN" sz="1350" dirty="0">
                  <a:solidFill>
                    <a:srgbClr val="F5F7FA"/>
                  </a:solidFill>
                  <a:latin typeface="Arial"/>
                  <a:ea typeface="Microsoft YaHei"/>
                  <a:cs typeface="Arial"/>
                </a:rPr>
                <a:t>The loop still needs compressor, expansion, evaporation, and condensation.</a:t>
              </a:r>
            </a:p>
          </p:txBody>
        </p:sp>
      </p:grpSp>
      <p:sp>
        <p:nvSpPr>
          <p:cNvPr id="51" name="TextBox 51"/>
          <p:cNvSpPr txBox="1"/>
          <p:nvPr/>
        </p:nvSpPr>
        <p:spPr>
          <a:xfrm>
            <a:off x="501968" y="6409849"/>
            <a:ext cx="6467070" cy="198120"/>
          </a:xfrm>
          <a:prstGeom prst="rect">
            <a:avLst/>
          </a:prstGeom>
          <a:noFill/>
          <a:ln>
            <a:noFill/>
          </a:ln>
        </p:spPr>
        <p:txBody>
          <a:bodyPr wrap="none" lIns="0" tIns="0" rIns="0" bIns="0" anchor="t" anchorCtr="0">
            <a:spAutoFit/>
          </a:bodyPr>
          <a:lstStyle/>
          <a:p>
            <a:pPr algn="l"/>
            <a:r>
              <a:rPr lang="zh-CN" sz="975" dirty="0">
                <a:solidFill>
                  <a:srgbClr val="9FB2C8"/>
                </a:solidFill>
                <a:latin typeface="Arial"/>
                <a:ea typeface="Microsoft YaHei"/>
                <a:cs typeface="Arial"/>
              </a:rPr>
              <a:t>The comparison is qualitative and source-grounded; arrows show directionality and heat interaction.</a:t>
            </a:r>
          </a:p>
        </p:txBody>
      </p:sp>
      <p:sp>
        <p:nvSpPr>
          <p:cNvPr id="52" name="TextBox 52"/>
          <p:cNvSpPr txBox="1"/>
          <p:nvPr/>
        </p:nvSpPr>
        <p:spPr>
          <a:xfrm>
            <a:off x="11398568" y="6409849"/>
            <a:ext cx="460319" cy="198120"/>
          </a:xfrm>
          <a:prstGeom prst="rect">
            <a:avLst/>
          </a:prstGeom>
          <a:noFill/>
          <a:ln>
            <a:noFill/>
          </a:ln>
        </p:spPr>
        <p:txBody>
          <a:bodyPr wrap="none" lIns="0" tIns="0" rIns="0" bIns="0" anchor="t" anchorCtr="0">
            <a:spAutoFit/>
          </a:bodyPr>
          <a:lstStyle/>
          <a:p>
            <a:pPr algn="l"/>
            <a:r>
              <a:rPr lang="zh-CN" sz="975" dirty="0">
                <a:solidFill>
                  <a:srgbClr val="9FB2C8"/>
                </a:solidFill>
                <a:latin typeface="Consolas"/>
                <a:ea typeface="Microsoft YaHei"/>
                <a:cs typeface="Consolas"/>
              </a:rPr>
              <a:t>05 / 09</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slide(fromBottom)">
                                      <p:cBhvr>
                                        <p:cTn id="7" dur="400"/>
                                        <p:tgtEl>
                                          <p:spTgt spid="27"/>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image">
                                      <p:cBhvr>
                                        <p:cTn id="11" dur="400"/>
                                        <p:tgtEl>
                                          <p:spTgt spid="46"/>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fade">
                                      <p:cBhvr>
                                        <p:cTn id="15"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6" grpId="0"/>
      <p:bldP spid="5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E1117"/>
          </a:solidFill>
          <a:ln>
            <a:noFill/>
          </a:ln>
        </p:spPr>
      </p:sp>
      <p:sp>
        <p:nvSpPr>
          <p:cNvPr id="3" name="Freeform 3"/>
          <p:cNvSpPr/>
          <p:nvPr/>
        </p:nvSpPr>
        <p:spPr>
          <a:xfrm>
            <a:off x="762000" y="0"/>
            <a:ext cx="10668000" cy="6858000"/>
          </a:xfrm>
          <a:custGeom>
            <a:avLst/>
            <a:gdLst/>
            <a:ahLst/>
            <a:cxnLst/>
            <a:rect l="l" t="t" r="r" b="b"/>
            <a:pathLst>
              <a:path w="10668000" h="6858000">
                <a:moveTo>
                  <a:pt x="0" y="0"/>
                </a:moveTo>
                <a:lnTo>
                  <a:pt x="0" y="6858000"/>
                </a:lnTo>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path>
            </a:pathLst>
          </a:custGeom>
          <a:solidFill>
            <a:srgbClr val="000000"/>
          </a:solidFill>
          <a:ln w="9525">
            <a:solidFill>
              <a:srgbClr val="25364A"/>
            </a:solidFill>
          </a:ln>
        </p:spPr>
      </p:sp>
      <p:sp>
        <p:nvSpPr>
          <p:cNvPr id="4" name="Freeform 4"/>
          <p:cNvSpPr/>
          <p:nvPr/>
        </p:nvSpPr>
        <p:spPr>
          <a:xfrm>
            <a:off x="0" y="762000"/>
            <a:ext cx="12192000" cy="5334000"/>
          </a:xfrm>
          <a:custGeom>
            <a:avLst/>
            <a:gdLst/>
            <a:ahLst/>
            <a:cxnLst/>
            <a:rect l="l" t="t" r="r" b="b"/>
            <a:pathLst>
              <a:path w="12192000" h="5334000">
                <a:moveTo>
                  <a:pt x="0" y="0"/>
                </a:moveTo>
                <a:lnTo>
                  <a:pt x="12192000" y="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path>
            </a:pathLst>
          </a:custGeom>
          <a:solidFill>
            <a:srgbClr val="000000"/>
          </a:solidFill>
          <a:ln w="9525">
            <a:solidFill>
              <a:srgbClr val="25364A"/>
            </a:solidFill>
          </a:ln>
        </p:spPr>
      </p:sp>
      <p:grpSp>
        <p:nvGrpSpPr>
          <p:cNvPr id="8" name="Group 8"/>
          <p:cNvGrpSpPr/>
          <p:nvPr/>
        </p:nvGrpSpPr>
        <p:grpSpPr>
          <a:xfrm>
            <a:off x="481965" y="334328"/>
            <a:ext cx="11195685" cy="780097"/>
            <a:chOff x="481965" y="334328"/>
            <a:chExt cx="11195685" cy="780097"/>
          </a:xfrm>
        </p:grpSpPr>
        <p:sp>
          <p:nvSpPr>
            <p:cNvPr id="5" name="TextBox 5"/>
            <p:cNvSpPr txBox="1"/>
            <p:nvPr/>
          </p:nvSpPr>
          <p:spPr>
            <a:xfrm>
              <a:off x="481965" y="334328"/>
              <a:ext cx="6277346" cy="518160"/>
            </a:xfrm>
            <a:prstGeom prst="rect">
              <a:avLst/>
            </a:prstGeom>
            <a:noFill/>
            <a:ln>
              <a:noFill/>
            </a:ln>
          </p:spPr>
          <p:txBody>
            <a:bodyPr wrap="none" lIns="0" tIns="0" rIns="0" bIns="0" anchor="t" anchorCtr="0">
              <a:spAutoFit/>
            </a:bodyPr>
            <a:lstStyle/>
            <a:p>
              <a:pPr algn="l"/>
              <a:r>
                <a:rPr lang="zh-CN" sz="2550" b="1" dirty="0">
                  <a:solidFill>
                    <a:srgbClr val="F5F7FA"/>
                  </a:solidFill>
                  <a:latin typeface="Arial"/>
                  <a:ea typeface="Microsoft YaHei"/>
                  <a:cs typeface="Arial"/>
                </a:rPr>
                <a:t>COP: Why Greater Than 1 Is Possible</a:t>
              </a:r>
            </a:p>
          </p:txBody>
        </p:sp>
        <p:sp>
          <p:nvSpPr>
            <p:cNvPr id="6" name="TextBox 6"/>
            <p:cNvSpPr txBox="1"/>
            <p:nvPr/>
          </p:nvSpPr>
          <p:spPr>
            <a:xfrm>
              <a:off x="497205" y="768668"/>
              <a:ext cx="4705874" cy="274320"/>
            </a:xfrm>
            <a:prstGeom prst="rect">
              <a:avLst/>
            </a:prstGeom>
            <a:noFill/>
            <a:ln>
              <a:noFill/>
            </a:ln>
          </p:spPr>
          <p:txBody>
            <a:bodyPr wrap="none" lIns="0" tIns="0" rIns="0" bIns="0" anchor="t" anchorCtr="0">
              <a:spAutoFit/>
            </a:bodyPr>
            <a:lstStyle/>
            <a:p>
              <a:pPr algn="l"/>
              <a:r>
                <a:rPr lang="zh-CN" sz="1350" dirty="0">
                  <a:solidFill>
                    <a:srgbClr val="9FB2C8"/>
                  </a:solidFill>
                  <a:latin typeface="Arial"/>
                  <a:ea typeface="Microsoft YaHei"/>
                  <a:cs typeface="Arial"/>
                </a:rPr>
                <a:t>COP compares heat moved to compressor work input.</a:t>
              </a:r>
            </a:p>
          </p:txBody>
        </p:sp>
        <p:sp>
          <p:nvSpPr>
            <p:cNvPr id="7" name="Line 7"/>
            <p:cNvSpPr/>
            <p:nvPr/>
          </p:nvSpPr>
          <p:spPr>
            <a:xfrm>
              <a:off x="514350" y="1104900"/>
              <a:ext cx="11163300" cy="9525"/>
            </a:xfrm>
            <a:custGeom>
              <a:avLst/>
              <a:gdLst/>
              <a:ahLst/>
              <a:cxnLst/>
              <a:rect l="l" t="t" r="r" b="b"/>
              <a:pathLst>
                <a:path w="11163300" h="9525">
                  <a:moveTo>
                    <a:pt x="0" y="0"/>
                  </a:moveTo>
                  <a:lnTo>
                    <a:pt x="11163300" y="0"/>
                  </a:lnTo>
                </a:path>
              </a:pathLst>
            </a:custGeom>
            <a:noFill/>
            <a:ln w="19050">
              <a:solidFill>
                <a:srgbClr val="38506A"/>
              </a:solidFill>
            </a:ln>
          </p:spPr>
        </p:sp>
      </p:grpSp>
      <p:grpSp>
        <p:nvGrpSpPr>
          <p:cNvPr id="17" name="Group 17"/>
          <p:cNvGrpSpPr/>
          <p:nvPr/>
        </p:nvGrpSpPr>
        <p:grpSpPr>
          <a:xfrm>
            <a:off x="742950" y="1600200"/>
            <a:ext cx="5929646" cy="3924300"/>
            <a:chOff x="742950" y="1600200"/>
            <a:chExt cx="5929646" cy="3924300"/>
          </a:xfrm>
        </p:grpSpPr>
        <p:sp>
          <p:nvSpPr>
            <p:cNvPr id="9" name="Rectangle 9"/>
            <p:cNvSpPr/>
            <p:nvPr/>
          </p:nvSpPr>
          <p:spPr>
            <a:xfrm>
              <a:off x="742950" y="1600200"/>
              <a:ext cx="4762500" cy="1771650"/>
            </a:xfrm>
            <a:prstGeom prst="roundRect">
              <a:avLst>
                <a:gd name="adj" fmla="val 9677"/>
              </a:avLst>
            </a:prstGeom>
            <a:solidFill>
              <a:srgbClr val="142033"/>
            </a:solidFill>
            <a:ln w="19050">
              <a:solidFill>
                <a:srgbClr val="38506A"/>
              </a:solidFill>
            </a:ln>
          </p:spPr>
        </p:sp>
        <p:sp>
          <p:nvSpPr>
            <p:cNvPr id="10" name="TextBox 10"/>
            <p:cNvSpPr txBox="1"/>
            <p:nvPr/>
          </p:nvSpPr>
          <p:spPr>
            <a:xfrm>
              <a:off x="1024890" y="1805940"/>
              <a:ext cx="2603840" cy="365760"/>
            </a:xfrm>
            <a:prstGeom prst="rect">
              <a:avLst/>
            </a:prstGeom>
            <a:noFill/>
            <a:ln>
              <a:noFill/>
            </a:ln>
          </p:spPr>
          <p:txBody>
            <a:bodyPr wrap="none" lIns="0" tIns="0" rIns="0" bIns="0" anchor="t" anchorCtr="0">
              <a:spAutoFit/>
            </a:bodyPr>
            <a:lstStyle/>
            <a:p>
              <a:pPr algn="l"/>
              <a:r>
                <a:rPr lang="zh-CN" sz="1800" b="1" dirty="0">
                  <a:solidFill>
                    <a:srgbClr val="FFB000"/>
                  </a:solidFill>
                  <a:latin typeface="Arial"/>
                  <a:ea typeface="Microsoft YaHei"/>
                  <a:cs typeface="Arial"/>
                </a:rPr>
                <a:t>Heating performance</a:t>
              </a:r>
            </a:p>
          </p:txBody>
        </p:sp>
        <p:sp>
          <p:nvSpPr>
            <p:cNvPr id="11" name="TextBox 11"/>
            <p:cNvSpPr txBox="1"/>
            <p:nvPr/>
          </p:nvSpPr>
          <p:spPr>
            <a:xfrm>
              <a:off x="1015365" y="2334578"/>
              <a:ext cx="4849168" cy="518160"/>
            </a:xfrm>
            <a:prstGeom prst="rect">
              <a:avLst/>
            </a:prstGeom>
            <a:noFill/>
            <a:ln>
              <a:noFill/>
            </a:ln>
          </p:spPr>
          <p:txBody>
            <a:bodyPr wrap="none" lIns="0" tIns="0" rIns="0" bIns="0" anchor="t" anchorCtr="0">
              <a:spAutoFit/>
            </a:bodyPr>
            <a:lstStyle/>
            <a:p>
              <a:pPr algn="l"/>
              <a:r>
                <a:rPr lang="zh-CN" sz="2550" b="1" dirty="0">
                  <a:solidFill>
                    <a:srgbClr val="F5F7FA"/>
                  </a:solidFill>
                  <a:latin typeface="Consolas"/>
                  <a:ea typeface="Microsoft YaHei"/>
                  <a:cs typeface="Consolas"/>
                </a:rPr>
                <a:t>COP_heating = Q_hot / W_in</a:t>
              </a:r>
            </a:p>
          </p:txBody>
        </p:sp>
        <p:sp>
          <p:nvSpPr>
            <p:cNvPr id="12" name="TextBox 12"/>
            <p:cNvSpPr txBox="1"/>
            <p:nvPr/>
          </p:nvSpPr>
          <p:spPr>
            <a:xfrm>
              <a:off x="1030605" y="2921318"/>
              <a:ext cx="5641991" cy="274320"/>
            </a:xfrm>
            <a:prstGeom prst="rect">
              <a:avLst/>
            </a:prstGeom>
            <a:noFill/>
            <a:ln>
              <a:noFill/>
            </a:ln>
          </p:spPr>
          <p:txBody>
            <a:bodyPr wrap="none" lIns="0" tIns="0" rIns="0" bIns="0" anchor="t" anchorCtr="0">
              <a:spAutoFit/>
            </a:bodyPr>
            <a:lstStyle/>
            <a:p>
              <a:pPr algn="l"/>
              <a:r>
                <a:rPr lang="zh-CN" sz="1350" dirty="0">
                  <a:solidFill>
                    <a:srgbClr val="9FB2C8"/>
                  </a:solidFill>
                  <a:latin typeface="Arial"/>
                  <a:ea typeface="Microsoft YaHei"/>
                  <a:cs typeface="Arial"/>
                </a:rPr>
                <a:t>How much indoor heat is delivered per unit of compressor work.</a:t>
              </a:r>
            </a:p>
          </p:txBody>
        </p:sp>
        <p:sp>
          <p:nvSpPr>
            <p:cNvPr id="13" name="Rectangle 13"/>
            <p:cNvSpPr/>
            <p:nvPr/>
          </p:nvSpPr>
          <p:spPr>
            <a:xfrm>
              <a:off x="742950" y="3752850"/>
              <a:ext cx="4762500" cy="1771650"/>
            </a:xfrm>
            <a:prstGeom prst="roundRect">
              <a:avLst>
                <a:gd name="adj" fmla="val 9677"/>
              </a:avLst>
            </a:prstGeom>
            <a:solidFill>
              <a:srgbClr val="142033"/>
            </a:solidFill>
            <a:ln w="19050">
              <a:solidFill>
                <a:srgbClr val="38506A"/>
              </a:solidFill>
            </a:ln>
          </p:spPr>
        </p:sp>
        <p:sp>
          <p:nvSpPr>
            <p:cNvPr id="14" name="TextBox 14"/>
            <p:cNvSpPr txBox="1"/>
            <p:nvPr/>
          </p:nvSpPr>
          <p:spPr>
            <a:xfrm>
              <a:off x="1024890" y="3958590"/>
              <a:ext cx="2540832" cy="365760"/>
            </a:xfrm>
            <a:prstGeom prst="rect">
              <a:avLst/>
            </a:prstGeom>
            <a:noFill/>
            <a:ln>
              <a:noFill/>
            </a:ln>
          </p:spPr>
          <p:txBody>
            <a:bodyPr wrap="none" lIns="0" tIns="0" rIns="0" bIns="0" anchor="t" anchorCtr="0">
              <a:spAutoFit/>
            </a:bodyPr>
            <a:lstStyle/>
            <a:p>
              <a:pPr algn="l"/>
              <a:r>
                <a:rPr lang="zh-CN" sz="1800" b="1" dirty="0">
                  <a:solidFill>
                    <a:srgbClr val="4DA3FF"/>
                  </a:solidFill>
                  <a:latin typeface="Arial"/>
                  <a:ea typeface="Microsoft YaHei"/>
                  <a:cs typeface="Arial"/>
                </a:rPr>
                <a:t>Cooling performance</a:t>
              </a:r>
            </a:p>
          </p:txBody>
        </p:sp>
        <p:sp>
          <p:nvSpPr>
            <p:cNvPr id="15" name="TextBox 15"/>
            <p:cNvSpPr txBox="1"/>
            <p:nvPr/>
          </p:nvSpPr>
          <p:spPr>
            <a:xfrm>
              <a:off x="1015365" y="4487228"/>
              <a:ext cx="4867020" cy="518160"/>
            </a:xfrm>
            <a:prstGeom prst="rect">
              <a:avLst/>
            </a:prstGeom>
            <a:noFill/>
            <a:ln>
              <a:noFill/>
            </a:ln>
          </p:spPr>
          <p:txBody>
            <a:bodyPr wrap="none" lIns="0" tIns="0" rIns="0" bIns="0" anchor="t" anchorCtr="0">
              <a:spAutoFit/>
            </a:bodyPr>
            <a:lstStyle/>
            <a:p>
              <a:pPr algn="l"/>
              <a:r>
                <a:rPr lang="zh-CN" sz="2550" b="1" dirty="0">
                  <a:solidFill>
                    <a:srgbClr val="F5F7FA"/>
                  </a:solidFill>
                  <a:latin typeface="Consolas"/>
                  <a:ea typeface="Microsoft YaHei"/>
                  <a:cs typeface="Consolas"/>
                </a:rPr>
                <a:t>COP_cooling = Q_cold / W_in</a:t>
              </a:r>
            </a:p>
          </p:txBody>
        </p:sp>
        <p:sp>
          <p:nvSpPr>
            <p:cNvPr id="16" name="TextBox 16"/>
            <p:cNvSpPr txBox="1"/>
            <p:nvPr/>
          </p:nvSpPr>
          <p:spPr>
            <a:xfrm>
              <a:off x="1030605" y="5073968"/>
              <a:ext cx="5452967" cy="274320"/>
            </a:xfrm>
            <a:prstGeom prst="rect">
              <a:avLst/>
            </a:prstGeom>
            <a:noFill/>
            <a:ln>
              <a:noFill/>
            </a:ln>
          </p:spPr>
          <p:txBody>
            <a:bodyPr wrap="none" lIns="0" tIns="0" rIns="0" bIns="0" anchor="t" anchorCtr="0">
              <a:spAutoFit/>
            </a:bodyPr>
            <a:lstStyle/>
            <a:p>
              <a:pPr algn="l"/>
              <a:r>
                <a:rPr lang="zh-CN" sz="1350" dirty="0">
                  <a:solidFill>
                    <a:srgbClr val="9FB2C8"/>
                  </a:solidFill>
                  <a:latin typeface="Arial"/>
                  <a:ea typeface="Microsoft YaHei"/>
                  <a:cs typeface="Arial"/>
                </a:rPr>
                <a:t>How much room heat is removed per unit of compressor work.</a:t>
              </a:r>
            </a:p>
          </p:txBody>
        </p:sp>
      </p:grpSp>
      <p:grpSp>
        <p:nvGrpSpPr>
          <p:cNvPr id="37" name="Group 37"/>
          <p:cNvGrpSpPr/>
          <p:nvPr/>
        </p:nvGrpSpPr>
        <p:grpSpPr>
          <a:xfrm>
            <a:off x="6305550" y="1600200"/>
            <a:ext cx="5048250" cy="3924300"/>
            <a:chOff x="6305550" y="1600200"/>
            <a:chExt cx="5048250" cy="3924300"/>
          </a:xfrm>
        </p:grpSpPr>
        <p:sp>
          <p:nvSpPr>
            <p:cNvPr id="18" name="Rectangle 18"/>
            <p:cNvSpPr/>
            <p:nvPr/>
          </p:nvSpPr>
          <p:spPr>
            <a:xfrm>
              <a:off x="6305550" y="1600200"/>
              <a:ext cx="5048250" cy="3924300"/>
            </a:xfrm>
            <a:prstGeom prst="roundRect">
              <a:avLst>
                <a:gd name="adj" fmla="val 4369"/>
              </a:avLst>
            </a:prstGeom>
            <a:solidFill>
              <a:srgbClr val="142033"/>
            </a:solidFill>
            <a:ln w="19050">
              <a:solidFill>
                <a:srgbClr val="38506A"/>
              </a:solidFill>
            </a:ln>
          </p:spPr>
        </p:sp>
        <p:sp>
          <p:nvSpPr>
            <p:cNvPr id="19" name="TextBox 19"/>
            <p:cNvSpPr txBox="1"/>
            <p:nvPr/>
          </p:nvSpPr>
          <p:spPr>
            <a:xfrm>
              <a:off x="6624638" y="1816894"/>
              <a:ext cx="4169390" cy="381000"/>
            </a:xfrm>
            <a:prstGeom prst="rect">
              <a:avLst/>
            </a:prstGeom>
            <a:noFill/>
            <a:ln>
              <a:noFill/>
            </a:ln>
          </p:spPr>
          <p:txBody>
            <a:bodyPr wrap="none" lIns="0" tIns="0" rIns="0" bIns="0" anchor="t" anchorCtr="0">
              <a:spAutoFit/>
            </a:bodyPr>
            <a:lstStyle/>
            <a:p>
              <a:pPr algn="l"/>
              <a:r>
                <a:rPr lang="zh-CN" sz="1875" b="1" dirty="0">
                  <a:solidFill>
                    <a:srgbClr val="F5F7FA"/>
                  </a:solidFill>
                  <a:latin typeface="Arial"/>
                  <a:ea typeface="Microsoft YaHei"/>
                  <a:cs typeface="Arial"/>
                </a:rPr>
                <a:t>Moved heat explains COP above 1</a:t>
              </a:r>
            </a:p>
          </p:txBody>
        </p:sp>
        <p:sp>
          <p:nvSpPr>
            <p:cNvPr id="20" name="Rectangle 20"/>
            <p:cNvSpPr/>
            <p:nvPr/>
          </p:nvSpPr>
          <p:spPr>
            <a:xfrm>
              <a:off x="6877050" y="2762250"/>
              <a:ext cx="1162050" cy="1581150"/>
            </a:xfrm>
            <a:prstGeom prst="roundRect">
              <a:avLst>
                <a:gd name="adj" fmla="val 9836"/>
              </a:avLst>
            </a:prstGeom>
            <a:solidFill>
              <a:srgbClr val="18283D"/>
            </a:solidFill>
            <a:ln w="28575">
              <a:solidFill>
                <a:srgbClr val="4DA3FF"/>
              </a:solidFill>
            </a:ln>
          </p:spPr>
        </p:sp>
        <p:sp>
          <p:nvSpPr>
            <p:cNvPr id="21" name="TextBox 21"/>
            <p:cNvSpPr txBox="1"/>
            <p:nvPr/>
          </p:nvSpPr>
          <p:spPr>
            <a:xfrm>
              <a:off x="7061698" y="2946082"/>
              <a:ext cx="792754" cy="335280"/>
            </a:xfrm>
            <a:prstGeom prst="rect">
              <a:avLst/>
            </a:prstGeom>
            <a:noFill/>
            <a:ln>
              <a:noFill/>
            </a:ln>
          </p:spPr>
          <p:txBody>
            <a:bodyPr wrap="none" lIns="0" tIns="0" rIns="0" bIns="0" anchor="t" anchorCtr="0">
              <a:spAutoFit/>
            </a:bodyPr>
            <a:lstStyle/>
            <a:p>
              <a:pPr algn="ctr"/>
              <a:r>
                <a:rPr lang="zh-CN" sz="1650" b="1" dirty="0">
                  <a:solidFill>
                    <a:srgbClr val="4DA3FF"/>
                  </a:solidFill>
                  <a:latin typeface="Consolas"/>
                  <a:ea typeface="Microsoft YaHei"/>
                  <a:cs typeface="Consolas"/>
                </a:rPr>
                <a:t>Q_cold</a:t>
              </a:r>
            </a:p>
          </p:txBody>
        </p:sp>
        <p:sp>
          <p:nvSpPr>
            <p:cNvPr id="22" name="TextBox 22"/>
            <p:cNvSpPr txBox="1"/>
            <p:nvPr/>
          </p:nvSpPr>
          <p:spPr>
            <a:xfrm>
              <a:off x="7278767" y="3498056"/>
              <a:ext cx="358616" cy="228600"/>
            </a:xfrm>
            <a:prstGeom prst="rect">
              <a:avLst/>
            </a:prstGeom>
            <a:noFill/>
            <a:ln>
              <a:noFill/>
            </a:ln>
          </p:spPr>
          <p:txBody>
            <a:bodyPr wrap="none" lIns="0" tIns="0" rIns="0" bIns="0" anchor="t" anchorCtr="0">
              <a:spAutoFit/>
            </a:bodyPr>
            <a:lstStyle/>
            <a:p>
              <a:pPr algn="ctr"/>
              <a:r>
                <a:rPr lang="zh-CN" sz="1125" dirty="0">
                  <a:solidFill>
                    <a:srgbClr val="9FB2C8"/>
                  </a:solidFill>
                  <a:latin typeface="Arial"/>
                  <a:ea typeface="Microsoft YaHei"/>
                  <a:cs typeface="Arial"/>
                </a:rPr>
                <a:t>heat</a:t>
              </a:r>
            </a:p>
          </p:txBody>
        </p:sp>
        <p:sp>
          <p:nvSpPr>
            <p:cNvPr id="23" name="TextBox 23"/>
            <p:cNvSpPr txBox="1"/>
            <p:nvPr/>
          </p:nvSpPr>
          <p:spPr>
            <a:xfrm>
              <a:off x="7113746" y="3726656"/>
              <a:ext cx="688658" cy="228600"/>
            </a:xfrm>
            <a:prstGeom prst="rect">
              <a:avLst/>
            </a:prstGeom>
            <a:noFill/>
            <a:ln>
              <a:noFill/>
            </a:ln>
          </p:spPr>
          <p:txBody>
            <a:bodyPr wrap="none" lIns="0" tIns="0" rIns="0" bIns="0" anchor="t" anchorCtr="0">
              <a:spAutoFit/>
            </a:bodyPr>
            <a:lstStyle/>
            <a:p>
              <a:pPr algn="ctr"/>
              <a:r>
                <a:rPr lang="zh-CN" sz="1125" dirty="0">
                  <a:solidFill>
                    <a:srgbClr val="9FB2C8"/>
                  </a:solidFill>
                  <a:latin typeface="Arial"/>
                  <a:ea typeface="Microsoft YaHei"/>
                  <a:cs typeface="Arial"/>
                </a:rPr>
                <a:t>absorbed</a:t>
              </a:r>
            </a:p>
          </p:txBody>
        </p:sp>
        <p:sp>
          <p:nvSpPr>
            <p:cNvPr id="24" name="Rectangle 24"/>
            <p:cNvSpPr/>
            <p:nvPr/>
          </p:nvSpPr>
          <p:spPr>
            <a:xfrm>
              <a:off x="8324850" y="3238500"/>
              <a:ext cx="876300" cy="1104900"/>
            </a:xfrm>
            <a:prstGeom prst="roundRect">
              <a:avLst>
                <a:gd name="adj" fmla="val 13043"/>
              </a:avLst>
            </a:prstGeom>
            <a:solidFill>
              <a:srgbClr val="18283D"/>
            </a:solidFill>
            <a:ln w="28575">
              <a:solidFill>
                <a:srgbClr val="FF5C8A"/>
              </a:solidFill>
            </a:ln>
          </p:spPr>
        </p:sp>
        <p:sp>
          <p:nvSpPr>
            <p:cNvPr id="25" name="TextBox 25"/>
            <p:cNvSpPr txBox="1"/>
            <p:nvPr/>
          </p:nvSpPr>
          <p:spPr>
            <a:xfrm>
              <a:off x="8518172" y="3438525"/>
              <a:ext cx="489656" cy="304800"/>
            </a:xfrm>
            <a:prstGeom prst="rect">
              <a:avLst/>
            </a:prstGeom>
            <a:noFill/>
            <a:ln>
              <a:noFill/>
            </a:ln>
          </p:spPr>
          <p:txBody>
            <a:bodyPr wrap="none" lIns="0" tIns="0" rIns="0" bIns="0" anchor="t" anchorCtr="0">
              <a:spAutoFit/>
            </a:bodyPr>
            <a:lstStyle/>
            <a:p>
              <a:pPr algn="ctr"/>
              <a:r>
                <a:rPr lang="zh-CN" sz="1500" b="1" dirty="0">
                  <a:solidFill>
                    <a:srgbClr val="FF5C8A"/>
                  </a:solidFill>
                  <a:latin typeface="Consolas"/>
                  <a:ea typeface="Microsoft YaHei"/>
                  <a:cs typeface="Consolas"/>
                </a:rPr>
                <a:t>W_in</a:t>
              </a:r>
            </a:p>
          </p:txBody>
        </p:sp>
        <p:sp>
          <p:nvSpPr>
            <p:cNvPr id="26" name="TextBox 26"/>
            <p:cNvSpPr txBox="1"/>
            <p:nvPr/>
          </p:nvSpPr>
          <p:spPr>
            <a:xfrm>
              <a:off x="8568690" y="3860006"/>
              <a:ext cx="388620" cy="228600"/>
            </a:xfrm>
            <a:prstGeom prst="rect">
              <a:avLst/>
            </a:prstGeom>
            <a:noFill/>
            <a:ln>
              <a:noFill/>
            </a:ln>
          </p:spPr>
          <p:txBody>
            <a:bodyPr wrap="none" lIns="0" tIns="0" rIns="0" bIns="0" anchor="t" anchorCtr="0">
              <a:spAutoFit/>
            </a:bodyPr>
            <a:lstStyle/>
            <a:p>
              <a:pPr algn="ctr"/>
              <a:r>
                <a:rPr lang="zh-CN" sz="1125" dirty="0">
                  <a:solidFill>
                    <a:srgbClr val="9FB2C8"/>
                  </a:solidFill>
                  <a:latin typeface="Arial"/>
                  <a:ea typeface="Microsoft YaHei"/>
                  <a:cs typeface="Arial"/>
                </a:rPr>
                <a:t>work</a:t>
              </a:r>
            </a:p>
          </p:txBody>
        </p:sp>
        <p:sp>
          <p:nvSpPr>
            <p:cNvPr id="27" name="Freeform 27"/>
            <p:cNvSpPr/>
            <p:nvPr/>
          </p:nvSpPr>
          <p:spPr>
            <a:xfrm>
              <a:off x="8077200" y="3562350"/>
              <a:ext cx="190500" cy="9525"/>
            </a:xfrm>
            <a:custGeom>
              <a:avLst/>
              <a:gdLst/>
              <a:ahLst/>
              <a:cxnLst/>
              <a:rect l="l" t="t" r="r" b="b"/>
              <a:pathLst>
                <a:path w="190500" h="9525">
                  <a:moveTo>
                    <a:pt x="0" y="0"/>
                  </a:moveTo>
                  <a:lnTo>
                    <a:pt x="190500" y="0"/>
                  </a:lnTo>
                </a:path>
              </a:pathLst>
            </a:custGeom>
            <a:solidFill>
              <a:srgbClr val="000000"/>
            </a:solidFill>
            <a:ln w="28575">
              <a:solidFill>
                <a:srgbClr val="F5F7FA"/>
              </a:solidFill>
            </a:ln>
          </p:spPr>
        </p:sp>
        <p:sp>
          <p:nvSpPr>
            <p:cNvPr id="28" name="Freeform 28"/>
            <p:cNvSpPr/>
            <p:nvPr/>
          </p:nvSpPr>
          <p:spPr>
            <a:xfrm>
              <a:off x="9391650" y="3562350"/>
              <a:ext cx="590550" cy="9525"/>
            </a:xfrm>
            <a:custGeom>
              <a:avLst/>
              <a:gdLst/>
              <a:ahLst/>
              <a:cxnLst/>
              <a:rect l="l" t="t" r="r" b="b"/>
              <a:pathLst>
                <a:path w="590550" h="9525">
                  <a:moveTo>
                    <a:pt x="0" y="0"/>
                  </a:moveTo>
                  <a:lnTo>
                    <a:pt x="590550" y="0"/>
                  </a:lnTo>
                </a:path>
              </a:pathLst>
            </a:custGeom>
            <a:noFill/>
            <a:ln w="47625">
              <a:solidFill>
                <a:srgbClr val="FFB000"/>
              </a:solidFill>
              <a:tailEnd type="triangle" w="lg" len="lg"/>
            </a:ln>
          </p:spPr>
        </p:sp>
        <p:sp>
          <p:nvSpPr>
            <p:cNvPr id="29" name="Rectangle 29"/>
            <p:cNvSpPr/>
            <p:nvPr/>
          </p:nvSpPr>
          <p:spPr>
            <a:xfrm>
              <a:off x="10001250" y="2552700"/>
              <a:ext cx="933450" cy="1790700"/>
            </a:xfrm>
            <a:prstGeom prst="roundRect">
              <a:avLst>
                <a:gd name="adj" fmla="val 12245"/>
              </a:avLst>
            </a:prstGeom>
            <a:solidFill>
              <a:srgbClr val="18283D"/>
            </a:solidFill>
            <a:ln w="28575">
              <a:solidFill>
                <a:srgbClr val="FFB000"/>
              </a:solidFill>
            </a:ln>
          </p:spPr>
        </p:sp>
        <p:sp>
          <p:nvSpPr>
            <p:cNvPr id="30" name="TextBox 30"/>
            <p:cNvSpPr txBox="1"/>
            <p:nvPr/>
          </p:nvSpPr>
          <p:spPr>
            <a:xfrm>
              <a:off x="10106252" y="2774632"/>
              <a:ext cx="723445" cy="335280"/>
            </a:xfrm>
            <a:prstGeom prst="rect">
              <a:avLst/>
            </a:prstGeom>
            <a:noFill/>
            <a:ln>
              <a:noFill/>
            </a:ln>
          </p:spPr>
          <p:txBody>
            <a:bodyPr wrap="none" lIns="0" tIns="0" rIns="0" bIns="0" anchor="t" anchorCtr="0">
              <a:spAutoFit/>
            </a:bodyPr>
            <a:lstStyle/>
            <a:p>
              <a:pPr algn="ctr"/>
              <a:r>
                <a:rPr lang="zh-CN" sz="1650" b="1" dirty="0">
                  <a:solidFill>
                    <a:srgbClr val="FFB000"/>
                  </a:solidFill>
                  <a:latin typeface="Consolas"/>
                  <a:ea typeface="Microsoft YaHei"/>
                  <a:cs typeface="Consolas"/>
                </a:rPr>
                <a:t>Q_hot</a:t>
              </a:r>
            </a:p>
          </p:txBody>
        </p:sp>
        <p:sp>
          <p:nvSpPr>
            <p:cNvPr id="31" name="TextBox 31"/>
            <p:cNvSpPr txBox="1"/>
            <p:nvPr/>
          </p:nvSpPr>
          <p:spPr>
            <a:xfrm>
              <a:off x="10288667" y="3364706"/>
              <a:ext cx="358616" cy="228600"/>
            </a:xfrm>
            <a:prstGeom prst="rect">
              <a:avLst/>
            </a:prstGeom>
            <a:noFill/>
            <a:ln>
              <a:noFill/>
            </a:ln>
          </p:spPr>
          <p:txBody>
            <a:bodyPr wrap="none" lIns="0" tIns="0" rIns="0" bIns="0" anchor="t" anchorCtr="0">
              <a:spAutoFit/>
            </a:bodyPr>
            <a:lstStyle/>
            <a:p>
              <a:pPr algn="ctr"/>
              <a:r>
                <a:rPr lang="zh-CN" sz="1125" dirty="0">
                  <a:solidFill>
                    <a:srgbClr val="9FB2C8"/>
                  </a:solidFill>
                  <a:latin typeface="Arial"/>
                  <a:ea typeface="Microsoft YaHei"/>
                  <a:cs typeface="Arial"/>
                </a:rPr>
                <a:t>heat</a:t>
              </a:r>
            </a:p>
          </p:txBody>
        </p:sp>
        <p:sp>
          <p:nvSpPr>
            <p:cNvPr id="32" name="TextBox 32"/>
            <p:cNvSpPr txBox="1"/>
            <p:nvPr/>
          </p:nvSpPr>
          <p:spPr>
            <a:xfrm>
              <a:off x="10119896" y="3593306"/>
              <a:ext cx="696158" cy="228600"/>
            </a:xfrm>
            <a:prstGeom prst="rect">
              <a:avLst/>
            </a:prstGeom>
            <a:noFill/>
            <a:ln>
              <a:noFill/>
            </a:ln>
          </p:spPr>
          <p:txBody>
            <a:bodyPr wrap="none" lIns="0" tIns="0" rIns="0" bIns="0" anchor="t" anchorCtr="0">
              <a:spAutoFit/>
            </a:bodyPr>
            <a:lstStyle/>
            <a:p>
              <a:pPr algn="ctr"/>
              <a:r>
                <a:rPr lang="zh-CN" sz="1125" dirty="0">
                  <a:solidFill>
                    <a:srgbClr val="9FB2C8"/>
                  </a:solidFill>
                  <a:latin typeface="Arial"/>
                  <a:ea typeface="Microsoft YaHei"/>
                  <a:cs typeface="Arial"/>
                </a:rPr>
                <a:t>delivered</a:t>
              </a:r>
            </a:p>
          </p:txBody>
        </p:sp>
        <p:sp>
          <p:nvSpPr>
            <p:cNvPr id="33" name="Freeform 33"/>
            <p:cNvSpPr/>
            <p:nvPr/>
          </p:nvSpPr>
          <p:spPr>
            <a:xfrm>
              <a:off x="7334250" y="4953000"/>
              <a:ext cx="2952750" cy="9525"/>
            </a:xfrm>
            <a:custGeom>
              <a:avLst/>
              <a:gdLst/>
              <a:ahLst/>
              <a:cxnLst/>
              <a:rect l="l" t="t" r="r" b="b"/>
              <a:pathLst>
                <a:path w="2952750" h="9525">
                  <a:moveTo>
                    <a:pt x="0" y="0"/>
                  </a:moveTo>
                  <a:lnTo>
                    <a:pt x="2952750" y="0"/>
                  </a:lnTo>
                </a:path>
              </a:pathLst>
            </a:custGeom>
            <a:solidFill>
              <a:srgbClr val="000000"/>
            </a:solidFill>
            <a:ln w="19050">
              <a:solidFill>
                <a:srgbClr val="38506A"/>
              </a:solidFill>
            </a:ln>
          </p:spPr>
        </p:sp>
        <p:sp>
          <p:nvSpPr>
            <p:cNvPr id="34" name="TextBox 34"/>
            <p:cNvSpPr txBox="1"/>
            <p:nvPr/>
          </p:nvSpPr>
          <p:spPr>
            <a:xfrm>
              <a:off x="6435090" y="5090160"/>
              <a:ext cx="4751070" cy="243840"/>
            </a:xfrm>
            <a:prstGeom prst="rect">
              <a:avLst/>
            </a:prstGeom>
            <a:noFill/>
            <a:ln>
              <a:noFill/>
            </a:ln>
          </p:spPr>
          <p:txBody>
            <a:bodyPr wrap="none" lIns="0" tIns="0" rIns="0" bIns="0" anchor="t" anchorCtr="0">
              <a:spAutoFit/>
            </a:bodyPr>
            <a:lstStyle/>
            <a:p>
              <a:pPr algn="ctr"/>
              <a:r>
                <a:rPr lang="zh-CN" sz="1200" dirty="0">
                  <a:solidFill>
                    <a:srgbClr val="9FB2C8"/>
                  </a:solidFill>
                  <a:latin typeface="Arial"/>
                  <a:ea typeface="Microsoft YaHei"/>
                  <a:cs typeface="Arial"/>
                </a:rPr>
                <a:t>COP is not capped like direct electric resistance efficiency.</a:t>
              </a:r>
            </a:p>
          </p:txBody>
        </p:sp>
        <p:sp>
          <p:nvSpPr>
            <p:cNvPr id="35" name="Freeform 35"/>
            <p:cNvSpPr/>
            <p:nvPr/>
          </p:nvSpPr>
          <p:spPr>
            <a:xfrm>
              <a:off x="7458075" y="2247900"/>
              <a:ext cx="3009900" cy="381000"/>
            </a:xfrm>
            <a:custGeom>
              <a:avLst/>
              <a:gdLst/>
              <a:ahLst/>
              <a:cxnLst/>
              <a:rect l="l" t="t" r="r" b="b"/>
              <a:pathLst>
                <a:path w="3009900" h="381000">
                  <a:moveTo>
                    <a:pt x="0" y="381000"/>
                  </a:moveTo>
                  <a:lnTo>
                    <a:pt x="0" y="0"/>
                  </a:lnTo>
                  <a:lnTo>
                    <a:pt x="3009900" y="0"/>
                  </a:lnTo>
                  <a:lnTo>
                    <a:pt x="3009900" y="228600"/>
                  </a:lnTo>
                </a:path>
              </a:pathLst>
            </a:custGeom>
            <a:noFill/>
            <a:ln w="38100">
              <a:solidFill>
                <a:srgbClr val="4DA3FF"/>
              </a:solidFill>
              <a:tailEnd type="triangle" w="lg" len="lg"/>
            </a:ln>
          </p:spPr>
        </p:sp>
        <p:sp>
          <p:nvSpPr>
            <p:cNvPr id="36" name="Freeform 36"/>
            <p:cNvSpPr/>
            <p:nvPr/>
          </p:nvSpPr>
          <p:spPr>
            <a:xfrm>
              <a:off x="8763000" y="2362200"/>
              <a:ext cx="9525" cy="762000"/>
            </a:xfrm>
            <a:custGeom>
              <a:avLst/>
              <a:gdLst/>
              <a:ahLst/>
              <a:cxnLst/>
              <a:rect l="l" t="t" r="r" b="b"/>
              <a:pathLst>
                <a:path w="9525" h="762000">
                  <a:moveTo>
                    <a:pt x="0" y="762000"/>
                  </a:moveTo>
                  <a:lnTo>
                    <a:pt x="0" y="0"/>
                  </a:lnTo>
                </a:path>
              </a:pathLst>
            </a:custGeom>
            <a:noFill/>
            <a:ln w="38100">
              <a:solidFill>
                <a:srgbClr val="FF5C8A"/>
              </a:solidFill>
              <a:tailEnd type="triangle" w="lg" len="lg"/>
            </a:ln>
          </p:spPr>
        </p:sp>
      </p:grpSp>
      <p:grpSp>
        <p:nvGrpSpPr>
          <p:cNvPr id="40" name="Group 40"/>
          <p:cNvGrpSpPr/>
          <p:nvPr/>
        </p:nvGrpSpPr>
        <p:grpSpPr>
          <a:xfrm>
            <a:off x="1683696" y="5829300"/>
            <a:ext cx="8824609" cy="438150"/>
            <a:chOff x="1683696" y="5829300"/>
            <a:chExt cx="8824609" cy="438150"/>
          </a:xfrm>
        </p:grpSpPr>
        <p:sp>
          <p:nvSpPr>
            <p:cNvPr id="38" name="Rectangle 38"/>
            <p:cNvSpPr/>
            <p:nvPr/>
          </p:nvSpPr>
          <p:spPr>
            <a:xfrm>
              <a:off x="2724150" y="5829300"/>
              <a:ext cx="6743700" cy="438150"/>
            </a:xfrm>
            <a:prstGeom prst="roundRect">
              <a:avLst>
                <a:gd name="adj" fmla="val 26087"/>
              </a:avLst>
            </a:prstGeom>
            <a:solidFill>
              <a:srgbClr val="18283D"/>
            </a:solidFill>
            <a:ln w="19050">
              <a:solidFill>
                <a:srgbClr val="FF7A70"/>
              </a:solidFill>
            </a:ln>
          </p:spPr>
        </p:sp>
        <p:sp>
          <p:nvSpPr>
            <p:cNvPr id="39" name="TextBox 39"/>
            <p:cNvSpPr txBox="1"/>
            <p:nvPr/>
          </p:nvSpPr>
          <p:spPr>
            <a:xfrm>
              <a:off x="1683696" y="5967889"/>
              <a:ext cx="8824609" cy="259080"/>
            </a:xfrm>
            <a:prstGeom prst="rect">
              <a:avLst/>
            </a:prstGeom>
            <a:noFill/>
            <a:ln>
              <a:noFill/>
            </a:ln>
          </p:spPr>
          <p:txBody>
            <a:bodyPr wrap="none" lIns="0" tIns="0" rIns="0" bIns="0" anchor="t" anchorCtr="0">
              <a:spAutoFit/>
            </a:bodyPr>
            <a:lstStyle/>
            <a:p>
              <a:pPr algn="ctr"/>
              <a:r>
                <a:rPr lang="zh-CN" sz="1275" b="1" dirty="0">
                  <a:solidFill>
                    <a:srgbClr val="FF7A70"/>
                  </a:solidFill>
                  <a:latin typeface="Arial"/>
                  <a:ea typeface="Microsoft YaHei"/>
                  <a:cs typeface="Arial"/>
                </a:rPr>
                <a:t>Interpretation guardrail: high COP means heat is being moved efficiently, not created from nothing.</a:t>
              </a:r>
            </a:p>
          </p:txBody>
        </p:sp>
      </p:grpSp>
      <p:sp>
        <p:nvSpPr>
          <p:cNvPr id="41" name="TextBox 41"/>
          <p:cNvSpPr txBox="1"/>
          <p:nvPr/>
        </p:nvSpPr>
        <p:spPr>
          <a:xfrm>
            <a:off x="501968" y="6409849"/>
            <a:ext cx="4295799" cy="198120"/>
          </a:xfrm>
          <a:prstGeom prst="rect">
            <a:avLst/>
          </a:prstGeom>
          <a:noFill/>
          <a:ln>
            <a:noFill/>
          </a:ln>
        </p:spPr>
        <p:txBody>
          <a:bodyPr wrap="none" lIns="0" tIns="0" rIns="0" bIns="0" anchor="t" anchorCtr="0">
            <a:spAutoFit/>
          </a:bodyPr>
          <a:lstStyle/>
          <a:p>
            <a:pPr algn="l"/>
            <a:r>
              <a:rPr lang="zh-CN" sz="975" dirty="0">
                <a:solidFill>
                  <a:srgbClr val="9FB2C8"/>
                </a:solidFill>
                <a:latin typeface="Arial"/>
                <a:ea typeface="Microsoft YaHei"/>
                <a:cs typeface="Arial"/>
              </a:rPr>
              <a:t>Editable formulas remain as text; no raster formula image is used.</a:t>
            </a:r>
          </a:p>
        </p:txBody>
      </p:sp>
      <p:sp>
        <p:nvSpPr>
          <p:cNvPr id="42" name="TextBox 42"/>
          <p:cNvSpPr txBox="1"/>
          <p:nvPr/>
        </p:nvSpPr>
        <p:spPr>
          <a:xfrm>
            <a:off x="11398568" y="6409849"/>
            <a:ext cx="460319" cy="198120"/>
          </a:xfrm>
          <a:prstGeom prst="rect">
            <a:avLst/>
          </a:prstGeom>
          <a:noFill/>
          <a:ln>
            <a:noFill/>
          </a:ln>
        </p:spPr>
        <p:txBody>
          <a:bodyPr wrap="none" lIns="0" tIns="0" rIns="0" bIns="0" anchor="t" anchorCtr="0">
            <a:spAutoFit/>
          </a:bodyPr>
          <a:lstStyle/>
          <a:p>
            <a:pPr algn="l"/>
            <a:r>
              <a:rPr lang="zh-CN" sz="975" dirty="0">
                <a:solidFill>
                  <a:srgbClr val="9FB2C8"/>
                </a:solidFill>
                <a:latin typeface="Consolas"/>
                <a:ea typeface="Microsoft YaHei"/>
                <a:cs typeface="Consolas"/>
              </a:rPr>
              <a:t>06 / 09</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400"/>
                                        <p:tgtEl>
                                          <p:spTgt spid="17"/>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slide(fromBottom)">
                                      <p:cBhvr>
                                        <p:cTn id="11" dur="400"/>
                                        <p:tgtEl>
                                          <p:spTgt spid="37"/>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image">
                                      <p:cBhvr>
                                        <p:cTn id="15"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7" grpId="0"/>
      <p:bldP spid="4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E1117"/>
          </a:solidFill>
          <a:ln>
            <a:noFill/>
          </a:ln>
        </p:spPr>
      </p:sp>
      <p:sp>
        <p:nvSpPr>
          <p:cNvPr id="3" name="Freeform 3"/>
          <p:cNvSpPr/>
          <p:nvPr/>
        </p:nvSpPr>
        <p:spPr>
          <a:xfrm>
            <a:off x="762000" y="0"/>
            <a:ext cx="10668000" cy="6858000"/>
          </a:xfrm>
          <a:custGeom>
            <a:avLst/>
            <a:gdLst/>
            <a:ahLst/>
            <a:cxnLst/>
            <a:rect l="l" t="t" r="r" b="b"/>
            <a:pathLst>
              <a:path w="10668000" h="6858000">
                <a:moveTo>
                  <a:pt x="0" y="0"/>
                </a:moveTo>
                <a:lnTo>
                  <a:pt x="0" y="6858000"/>
                </a:lnTo>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path>
            </a:pathLst>
          </a:custGeom>
          <a:solidFill>
            <a:srgbClr val="000000"/>
          </a:solidFill>
          <a:ln w="9525">
            <a:solidFill>
              <a:srgbClr val="25364A"/>
            </a:solidFill>
          </a:ln>
        </p:spPr>
      </p:sp>
      <p:sp>
        <p:nvSpPr>
          <p:cNvPr id="4" name="Freeform 4"/>
          <p:cNvSpPr/>
          <p:nvPr/>
        </p:nvSpPr>
        <p:spPr>
          <a:xfrm>
            <a:off x="0" y="762000"/>
            <a:ext cx="12192000" cy="5334000"/>
          </a:xfrm>
          <a:custGeom>
            <a:avLst/>
            <a:gdLst/>
            <a:ahLst/>
            <a:cxnLst/>
            <a:rect l="l" t="t" r="r" b="b"/>
            <a:pathLst>
              <a:path w="12192000" h="5334000">
                <a:moveTo>
                  <a:pt x="0" y="0"/>
                </a:moveTo>
                <a:lnTo>
                  <a:pt x="12192000" y="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path>
            </a:pathLst>
          </a:custGeom>
          <a:solidFill>
            <a:srgbClr val="000000"/>
          </a:solidFill>
          <a:ln w="9525">
            <a:solidFill>
              <a:srgbClr val="25364A"/>
            </a:solidFill>
          </a:ln>
        </p:spPr>
      </p:sp>
      <p:grpSp>
        <p:nvGrpSpPr>
          <p:cNvPr id="8" name="Group 8"/>
          <p:cNvGrpSpPr/>
          <p:nvPr/>
        </p:nvGrpSpPr>
        <p:grpSpPr>
          <a:xfrm>
            <a:off x="481965" y="334328"/>
            <a:ext cx="11195685" cy="780097"/>
            <a:chOff x="481965" y="334328"/>
            <a:chExt cx="11195685" cy="780097"/>
          </a:xfrm>
        </p:grpSpPr>
        <p:sp>
          <p:nvSpPr>
            <p:cNvPr id="5" name="TextBox 5"/>
            <p:cNvSpPr txBox="1"/>
            <p:nvPr/>
          </p:nvSpPr>
          <p:spPr>
            <a:xfrm>
              <a:off x="481965" y="334328"/>
              <a:ext cx="6277346" cy="518160"/>
            </a:xfrm>
            <a:prstGeom prst="rect">
              <a:avLst/>
            </a:prstGeom>
            <a:noFill/>
            <a:ln>
              <a:noFill/>
            </a:ln>
          </p:spPr>
          <p:txBody>
            <a:bodyPr wrap="none" lIns="0" tIns="0" rIns="0" bIns="0" anchor="t" anchorCtr="0">
              <a:spAutoFit/>
            </a:bodyPr>
            <a:lstStyle/>
            <a:p>
              <a:pPr algn="l"/>
              <a:r>
                <a:rPr lang="zh-CN" sz="2550" b="1" dirty="0">
                  <a:solidFill>
                    <a:srgbClr val="F5F7FA"/>
                  </a:solidFill>
                  <a:latin typeface="Arial"/>
                  <a:ea typeface="Microsoft YaHei"/>
                  <a:cs typeface="Arial"/>
                </a:rPr>
                <a:t>Qualitative Pressure-Enthalpy Path</a:t>
              </a:r>
            </a:p>
          </p:txBody>
        </p:sp>
        <p:sp>
          <p:nvSpPr>
            <p:cNvPr id="6" name="TextBox 6"/>
            <p:cNvSpPr txBox="1"/>
            <p:nvPr/>
          </p:nvSpPr>
          <p:spPr>
            <a:xfrm>
              <a:off x="497205" y="768668"/>
              <a:ext cx="8171307" cy="274320"/>
            </a:xfrm>
            <a:prstGeom prst="rect">
              <a:avLst/>
            </a:prstGeom>
            <a:noFill/>
            <a:ln>
              <a:noFill/>
            </a:ln>
          </p:spPr>
          <p:txBody>
            <a:bodyPr wrap="none" lIns="0" tIns="0" rIns="0" bIns="0" anchor="t" anchorCtr="0">
              <a:spAutoFit/>
            </a:bodyPr>
            <a:lstStyle/>
            <a:p>
              <a:pPr algn="l"/>
              <a:r>
                <a:rPr lang="zh-CN" sz="1350" dirty="0">
                  <a:solidFill>
                    <a:srgbClr val="9FB2C8"/>
                  </a:solidFill>
                  <a:latin typeface="Arial"/>
                  <a:ea typeface="Microsoft YaHei"/>
                  <a:cs typeface="Arial"/>
                </a:rPr>
                <a:t>The diagram shows process order and pressure level, not exact thermodynamic coordinates.</a:t>
              </a:r>
            </a:p>
          </p:txBody>
        </p:sp>
        <p:sp>
          <p:nvSpPr>
            <p:cNvPr id="7" name="Line 7"/>
            <p:cNvSpPr/>
            <p:nvPr/>
          </p:nvSpPr>
          <p:spPr>
            <a:xfrm>
              <a:off x="514350" y="1104900"/>
              <a:ext cx="11163300" cy="9525"/>
            </a:xfrm>
            <a:custGeom>
              <a:avLst/>
              <a:gdLst/>
              <a:ahLst/>
              <a:cxnLst/>
              <a:rect l="l" t="t" r="r" b="b"/>
              <a:pathLst>
                <a:path w="11163300" h="9525">
                  <a:moveTo>
                    <a:pt x="0" y="0"/>
                  </a:moveTo>
                  <a:lnTo>
                    <a:pt x="11163300" y="0"/>
                  </a:lnTo>
                </a:path>
              </a:pathLst>
            </a:custGeom>
            <a:noFill/>
            <a:ln w="19050">
              <a:solidFill>
                <a:srgbClr val="38506A"/>
              </a:solidFill>
            </a:ln>
          </p:spPr>
        </p:sp>
      </p:grpSp>
      <p:grpSp>
        <p:nvGrpSpPr>
          <p:cNvPr id="38" name="Group 38"/>
          <p:cNvGrpSpPr/>
          <p:nvPr/>
        </p:nvGrpSpPr>
        <p:grpSpPr>
          <a:xfrm>
            <a:off x="653355" y="1466850"/>
            <a:ext cx="7157145" cy="4476750"/>
            <a:chOff x="653355" y="1466850"/>
            <a:chExt cx="7157145" cy="4476750"/>
          </a:xfrm>
        </p:grpSpPr>
        <p:sp>
          <p:nvSpPr>
            <p:cNvPr id="9" name="Rectangle 9"/>
            <p:cNvSpPr/>
            <p:nvPr/>
          </p:nvSpPr>
          <p:spPr>
            <a:xfrm>
              <a:off x="781050" y="1466850"/>
              <a:ext cx="7029450" cy="4476750"/>
            </a:xfrm>
            <a:prstGeom prst="roundRect">
              <a:avLst>
                <a:gd name="adj" fmla="val 3830"/>
              </a:avLst>
            </a:prstGeom>
            <a:solidFill>
              <a:srgbClr val="142033"/>
            </a:solidFill>
            <a:ln w="19050">
              <a:solidFill>
                <a:srgbClr val="38506A"/>
              </a:solidFill>
            </a:ln>
          </p:spPr>
        </p:sp>
        <p:sp>
          <p:nvSpPr>
            <p:cNvPr id="10" name="Line 10"/>
            <p:cNvSpPr/>
            <p:nvPr/>
          </p:nvSpPr>
          <p:spPr>
            <a:xfrm>
              <a:off x="1485900" y="5257800"/>
              <a:ext cx="5638800" cy="9525"/>
            </a:xfrm>
            <a:custGeom>
              <a:avLst/>
              <a:gdLst/>
              <a:ahLst/>
              <a:cxnLst/>
              <a:rect l="l" t="t" r="r" b="b"/>
              <a:pathLst>
                <a:path w="5638800" h="9525">
                  <a:moveTo>
                    <a:pt x="0" y="0"/>
                  </a:moveTo>
                  <a:lnTo>
                    <a:pt x="5638800" y="0"/>
                  </a:lnTo>
                </a:path>
              </a:pathLst>
            </a:custGeom>
            <a:noFill/>
            <a:ln w="28575">
              <a:solidFill>
                <a:srgbClr val="F5F7FA"/>
              </a:solidFill>
            </a:ln>
          </p:spPr>
        </p:sp>
        <p:sp>
          <p:nvSpPr>
            <p:cNvPr id="11" name="Line 11"/>
            <p:cNvSpPr/>
            <p:nvPr/>
          </p:nvSpPr>
          <p:spPr>
            <a:xfrm>
              <a:off x="1485900" y="1981200"/>
              <a:ext cx="9525" cy="3276600"/>
            </a:xfrm>
            <a:custGeom>
              <a:avLst/>
              <a:gdLst/>
              <a:ahLst/>
              <a:cxnLst/>
              <a:rect l="l" t="t" r="r" b="b"/>
              <a:pathLst>
                <a:path w="9525" h="3276600">
                  <a:moveTo>
                    <a:pt x="0" y="3276600"/>
                  </a:moveTo>
                  <a:lnTo>
                    <a:pt x="0" y="0"/>
                  </a:lnTo>
                </a:path>
              </a:pathLst>
            </a:custGeom>
            <a:noFill/>
            <a:ln w="28575">
              <a:solidFill>
                <a:srgbClr val="F5F7FA"/>
              </a:solidFill>
            </a:ln>
          </p:spPr>
        </p:sp>
        <p:sp>
          <p:nvSpPr>
            <p:cNvPr id="12" name="TextBox 12"/>
            <p:cNvSpPr txBox="1"/>
            <p:nvPr/>
          </p:nvSpPr>
          <p:spPr>
            <a:xfrm>
              <a:off x="3507010" y="5539264"/>
              <a:ext cx="1596580" cy="259080"/>
            </a:xfrm>
            <a:prstGeom prst="rect">
              <a:avLst/>
            </a:prstGeom>
            <a:noFill/>
            <a:ln>
              <a:noFill/>
            </a:ln>
          </p:spPr>
          <p:txBody>
            <a:bodyPr wrap="none" lIns="0" tIns="0" rIns="0" bIns="0" anchor="t" anchorCtr="0">
              <a:spAutoFit/>
            </a:bodyPr>
            <a:lstStyle/>
            <a:p>
              <a:pPr algn="ctr"/>
              <a:r>
                <a:rPr lang="zh-CN" sz="1275" dirty="0">
                  <a:solidFill>
                    <a:srgbClr val="9FB2C8"/>
                  </a:solidFill>
                  <a:latin typeface="Arial"/>
                  <a:ea typeface="Microsoft YaHei"/>
                  <a:cs typeface="Arial"/>
                </a:rPr>
                <a:t>specific enthalpy h</a:t>
              </a:r>
            </a:p>
          </p:txBody>
        </p:sp>
        <p:sp>
          <p:nvSpPr>
            <p:cNvPr id="13" name="TextBox 13"/>
            <p:cNvSpPr txBox="1"/>
            <p:nvPr/>
          </p:nvSpPr>
          <p:spPr>
            <a:xfrm rot="-5400000">
              <a:off x="653355" y="3489960"/>
              <a:ext cx="924997" cy="259080"/>
            </a:xfrm>
            <a:prstGeom prst="rect">
              <a:avLst/>
            </a:prstGeom>
            <a:noFill/>
            <a:ln>
              <a:noFill/>
            </a:ln>
          </p:spPr>
          <p:txBody>
            <a:bodyPr wrap="none" lIns="0" tIns="0" rIns="0" bIns="0" anchor="t" anchorCtr="0">
              <a:spAutoFit/>
            </a:bodyPr>
            <a:lstStyle/>
            <a:p>
              <a:pPr algn="ctr"/>
              <a:r>
                <a:rPr lang="zh-CN" sz="1275" dirty="0">
                  <a:solidFill>
                    <a:srgbClr val="9FB2C8"/>
                  </a:solidFill>
                  <a:latin typeface="Arial"/>
                  <a:ea typeface="Microsoft YaHei"/>
                  <a:cs typeface="Arial"/>
                </a:rPr>
                <a:t>pressure p</a:t>
              </a:r>
            </a:p>
          </p:txBody>
        </p:sp>
        <p:sp>
          <p:nvSpPr>
            <p:cNvPr id="14" name="Line 14"/>
            <p:cNvSpPr/>
            <p:nvPr/>
          </p:nvSpPr>
          <p:spPr>
            <a:xfrm>
              <a:off x="1485900" y="2628900"/>
              <a:ext cx="5638800" cy="9525"/>
            </a:xfrm>
            <a:custGeom>
              <a:avLst/>
              <a:gdLst/>
              <a:ahLst/>
              <a:cxnLst/>
              <a:rect l="l" t="t" r="r" b="b"/>
              <a:pathLst>
                <a:path w="5638800" h="9525">
                  <a:moveTo>
                    <a:pt x="0" y="0"/>
                  </a:moveTo>
                  <a:lnTo>
                    <a:pt x="5638800" y="0"/>
                  </a:lnTo>
                </a:path>
              </a:pathLst>
            </a:custGeom>
            <a:noFill/>
            <a:ln w="19050">
              <a:solidFill>
                <a:srgbClr val="38506A"/>
              </a:solidFill>
              <a:custDash>
                <a:ds d="400000" sp="400000"/>
              </a:custDash>
            </a:ln>
          </p:spPr>
        </p:sp>
        <p:sp>
          <p:nvSpPr>
            <p:cNvPr id="15" name="Line 15"/>
            <p:cNvSpPr/>
            <p:nvPr/>
          </p:nvSpPr>
          <p:spPr>
            <a:xfrm>
              <a:off x="1485900" y="4362450"/>
              <a:ext cx="5638800" cy="9525"/>
            </a:xfrm>
            <a:custGeom>
              <a:avLst/>
              <a:gdLst/>
              <a:ahLst/>
              <a:cxnLst/>
              <a:rect l="l" t="t" r="r" b="b"/>
              <a:pathLst>
                <a:path w="5638800" h="9525">
                  <a:moveTo>
                    <a:pt x="0" y="0"/>
                  </a:moveTo>
                  <a:lnTo>
                    <a:pt x="5638800" y="0"/>
                  </a:lnTo>
                </a:path>
              </a:pathLst>
            </a:custGeom>
            <a:noFill/>
            <a:ln w="19050">
              <a:solidFill>
                <a:srgbClr val="38506A"/>
              </a:solidFill>
              <a:custDash>
                <a:ds d="400000" sp="400000"/>
              </a:custDash>
            </a:ln>
          </p:spPr>
        </p:sp>
        <p:sp>
          <p:nvSpPr>
            <p:cNvPr id="16" name="TextBox 16"/>
            <p:cNvSpPr txBox="1"/>
            <p:nvPr/>
          </p:nvSpPr>
          <p:spPr>
            <a:xfrm>
              <a:off x="1663065" y="2420302"/>
              <a:ext cx="1272826" cy="213360"/>
            </a:xfrm>
            <a:prstGeom prst="rect">
              <a:avLst/>
            </a:prstGeom>
            <a:noFill/>
            <a:ln>
              <a:noFill/>
            </a:ln>
          </p:spPr>
          <p:txBody>
            <a:bodyPr wrap="none" lIns="0" tIns="0" rIns="0" bIns="0" anchor="t" anchorCtr="0">
              <a:spAutoFit/>
            </a:bodyPr>
            <a:lstStyle/>
            <a:p>
              <a:pPr algn="l"/>
              <a:r>
                <a:rPr lang="zh-CN" sz="1050" dirty="0">
                  <a:solidFill>
                    <a:srgbClr val="9FB2C8"/>
                  </a:solidFill>
                  <a:latin typeface="Arial"/>
                  <a:ea typeface="Microsoft YaHei"/>
                  <a:cs typeface="Arial"/>
                </a:rPr>
                <a:t>high pressure side</a:t>
              </a:r>
            </a:p>
          </p:txBody>
        </p:sp>
        <p:sp>
          <p:nvSpPr>
            <p:cNvPr id="17" name="TextBox 17"/>
            <p:cNvSpPr txBox="1"/>
            <p:nvPr/>
          </p:nvSpPr>
          <p:spPr>
            <a:xfrm>
              <a:off x="1663065" y="4477702"/>
              <a:ext cx="1223820" cy="213360"/>
            </a:xfrm>
            <a:prstGeom prst="rect">
              <a:avLst/>
            </a:prstGeom>
            <a:noFill/>
            <a:ln>
              <a:noFill/>
            </a:ln>
          </p:spPr>
          <p:txBody>
            <a:bodyPr wrap="none" lIns="0" tIns="0" rIns="0" bIns="0" anchor="t" anchorCtr="0">
              <a:spAutoFit/>
            </a:bodyPr>
            <a:lstStyle/>
            <a:p>
              <a:pPr algn="l"/>
              <a:r>
                <a:rPr lang="zh-CN" sz="1050" dirty="0">
                  <a:solidFill>
                    <a:srgbClr val="9FB2C8"/>
                  </a:solidFill>
                  <a:latin typeface="Arial"/>
                  <a:ea typeface="Microsoft YaHei"/>
                  <a:cs typeface="Arial"/>
                </a:rPr>
                <a:t>low pressure side</a:t>
              </a:r>
            </a:p>
          </p:txBody>
        </p:sp>
        <p:sp>
          <p:nvSpPr>
            <p:cNvPr id="18" name="Freeform 18"/>
            <p:cNvSpPr/>
            <p:nvPr/>
          </p:nvSpPr>
          <p:spPr>
            <a:xfrm>
              <a:off x="2952750" y="2628900"/>
              <a:ext cx="952500" cy="1733550"/>
            </a:xfrm>
            <a:custGeom>
              <a:avLst/>
              <a:gdLst/>
              <a:ahLst/>
              <a:cxnLst/>
              <a:rect l="l" t="t" r="r" b="b"/>
              <a:pathLst>
                <a:path w="952500" h="1733550">
                  <a:moveTo>
                    <a:pt x="0" y="1733550"/>
                  </a:moveTo>
                  <a:cubicBezTo>
                    <a:pt x="381000" y="1200150"/>
                    <a:pt x="628650" y="590550"/>
                    <a:pt x="952500" y="0"/>
                  </a:cubicBezTo>
                </a:path>
              </a:pathLst>
            </a:custGeom>
            <a:noFill/>
            <a:ln w="47625">
              <a:solidFill>
                <a:srgbClr val="FF5C8A"/>
              </a:solidFill>
              <a:tailEnd type="triangle" w="lg" len="lg"/>
            </a:ln>
          </p:spPr>
        </p:sp>
        <p:sp>
          <p:nvSpPr>
            <p:cNvPr id="19" name="Freeform 19"/>
            <p:cNvSpPr/>
            <p:nvPr/>
          </p:nvSpPr>
          <p:spPr>
            <a:xfrm>
              <a:off x="3943350" y="2628900"/>
              <a:ext cx="2019300" cy="9525"/>
            </a:xfrm>
            <a:custGeom>
              <a:avLst/>
              <a:gdLst/>
              <a:ahLst/>
              <a:cxnLst/>
              <a:rect l="l" t="t" r="r" b="b"/>
              <a:pathLst>
                <a:path w="2019300" h="9525">
                  <a:moveTo>
                    <a:pt x="0" y="0"/>
                  </a:moveTo>
                  <a:lnTo>
                    <a:pt x="2019300" y="0"/>
                  </a:lnTo>
                </a:path>
              </a:pathLst>
            </a:custGeom>
            <a:noFill/>
            <a:ln w="47625">
              <a:solidFill>
                <a:srgbClr val="FFB000"/>
              </a:solidFill>
              <a:tailEnd type="triangle" w="lg" len="lg"/>
            </a:ln>
          </p:spPr>
        </p:sp>
        <p:sp>
          <p:nvSpPr>
            <p:cNvPr id="20" name="Freeform 20"/>
            <p:cNvSpPr/>
            <p:nvPr/>
          </p:nvSpPr>
          <p:spPr>
            <a:xfrm>
              <a:off x="5448300" y="2628900"/>
              <a:ext cx="552450" cy="1733550"/>
            </a:xfrm>
            <a:custGeom>
              <a:avLst/>
              <a:gdLst/>
              <a:ahLst/>
              <a:cxnLst/>
              <a:rect l="l" t="t" r="r" b="b"/>
              <a:pathLst>
                <a:path w="552450" h="1733550">
                  <a:moveTo>
                    <a:pt x="552450" y="0"/>
                  </a:moveTo>
                  <a:cubicBezTo>
                    <a:pt x="342900" y="647700"/>
                    <a:pt x="209550" y="1200150"/>
                    <a:pt x="0" y="1733550"/>
                  </a:cubicBezTo>
                </a:path>
              </a:pathLst>
            </a:custGeom>
            <a:noFill/>
            <a:ln w="47625">
              <a:solidFill>
                <a:srgbClr val="3DDC97"/>
              </a:solidFill>
              <a:tailEnd type="triangle" w="lg" len="lg"/>
            </a:ln>
          </p:spPr>
        </p:sp>
        <p:sp>
          <p:nvSpPr>
            <p:cNvPr id="21" name="Freeform 21"/>
            <p:cNvSpPr/>
            <p:nvPr/>
          </p:nvSpPr>
          <p:spPr>
            <a:xfrm>
              <a:off x="2990850" y="4362450"/>
              <a:ext cx="2419350" cy="9525"/>
            </a:xfrm>
            <a:custGeom>
              <a:avLst/>
              <a:gdLst/>
              <a:ahLst/>
              <a:cxnLst/>
              <a:rect l="l" t="t" r="r" b="b"/>
              <a:pathLst>
                <a:path w="2419350" h="9525">
                  <a:moveTo>
                    <a:pt x="2419350" y="0"/>
                  </a:moveTo>
                  <a:lnTo>
                    <a:pt x="0" y="0"/>
                  </a:lnTo>
                </a:path>
              </a:pathLst>
            </a:custGeom>
            <a:noFill/>
            <a:ln w="47625">
              <a:solidFill>
                <a:srgbClr val="4DA3FF"/>
              </a:solidFill>
              <a:tailEnd type="triangle" w="lg" len="lg"/>
            </a:ln>
          </p:spPr>
        </p:sp>
        <p:sp>
          <p:nvSpPr>
            <p:cNvPr id="22" name="Ellipse 22"/>
            <p:cNvSpPr/>
            <p:nvPr/>
          </p:nvSpPr>
          <p:spPr>
            <a:xfrm>
              <a:off x="2876550" y="4286250"/>
              <a:ext cx="152400" cy="152400"/>
            </a:xfrm>
            <a:prstGeom prst="ellipse">
              <a:avLst/>
            </a:prstGeom>
            <a:solidFill>
              <a:srgbClr val="4DA3FF"/>
            </a:solidFill>
            <a:ln>
              <a:noFill/>
            </a:ln>
          </p:spPr>
        </p:sp>
        <p:sp>
          <p:nvSpPr>
            <p:cNvPr id="23" name="Ellipse 23"/>
            <p:cNvSpPr/>
            <p:nvPr/>
          </p:nvSpPr>
          <p:spPr>
            <a:xfrm>
              <a:off x="3829050" y="2552700"/>
              <a:ext cx="152400" cy="152400"/>
            </a:xfrm>
            <a:prstGeom prst="ellipse">
              <a:avLst/>
            </a:prstGeom>
            <a:solidFill>
              <a:srgbClr val="FF5C8A"/>
            </a:solidFill>
            <a:ln>
              <a:noFill/>
            </a:ln>
          </p:spPr>
        </p:sp>
        <p:sp>
          <p:nvSpPr>
            <p:cNvPr id="24" name="Ellipse 24"/>
            <p:cNvSpPr/>
            <p:nvPr/>
          </p:nvSpPr>
          <p:spPr>
            <a:xfrm>
              <a:off x="5924550" y="2552700"/>
              <a:ext cx="152400" cy="152400"/>
            </a:xfrm>
            <a:prstGeom prst="ellipse">
              <a:avLst/>
            </a:prstGeom>
            <a:solidFill>
              <a:srgbClr val="FFB000"/>
            </a:solidFill>
            <a:ln>
              <a:noFill/>
            </a:ln>
          </p:spPr>
        </p:sp>
        <p:sp>
          <p:nvSpPr>
            <p:cNvPr id="25" name="Ellipse 25"/>
            <p:cNvSpPr/>
            <p:nvPr/>
          </p:nvSpPr>
          <p:spPr>
            <a:xfrm>
              <a:off x="5372100" y="4286250"/>
              <a:ext cx="152400" cy="152400"/>
            </a:xfrm>
            <a:prstGeom prst="ellipse">
              <a:avLst/>
            </a:prstGeom>
            <a:solidFill>
              <a:srgbClr val="3DDC97"/>
            </a:solidFill>
            <a:ln>
              <a:noFill/>
            </a:ln>
          </p:spPr>
        </p:sp>
        <p:sp>
          <p:nvSpPr>
            <p:cNvPr id="26" name="TextBox 26"/>
            <p:cNvSpPr txBox="1"/>
            <p:nvPr/>
          </p:nvSpPr>
          <p:spPr>
            <a:xfrm>
              <a:off x="2747962" y="4050506"/>
              <a:ext cx="111085" cy="228600"/>
            </a:xfrm>
            <a:prstGeom prst="rect">
              <a:avLst/>
            </a:prstGeom>
            <a:noFill/>
            <a:ln>
              <a:noFill/>
            </a:ln>
          </p:spPr>
          <p:txBody>
            <a:bodyPr wrap="none" lIns="0" tIns="0" rIns="0" bIns="0" anchor="t" anchorCtr="0">
              <a:spAutoFit/>
            </a:bodyPr>
            <a:lstStyle/>
            <a:p>
              <a:pPr algn="l"/>
              <a:r>
                <a:rPr lang="zh-CN" sz="1125" dirty="0">
                  <a:solidFill>
                    <a:srgbClr val="F5F7FA"/>
                  </a:solidFill>
                  <a:latin typeface="Consolas"/>
                  <a:ea typeface="Microsoft YaHei"/>
                  <a:cs typeface="Consolas"/>
                </a:rPr>
                <a:t>1</a:t>
              </a:r>
            </a:p>
          </p:txBody>
        </p:sp>
        <p:sp>
          <p:nvSpPr>
            <p:cNvPr id="27" name="TextBox 27"/>
            <p:cNvSpPr txBox="1"/>
            <p:nvPr/>
          </p:nvSpPr>
          <p:spPr>
            <a:xfrm>
              <a:off x="3700462" y="2316956"/>
              <a:ext cx="111085" cy="228600"/>
            </a:xfrm>
            <a:prstGeom prst="rect">
              <a:avLst/>
            </a:prstGeom>
            <a:noFill/>
            <a:ln>
              <a:noFill/>
            </a:ln>
          </p:spPr>
          <p:txBody>
            <a:bodyPr wrap="none" lIns="0" tIns="0" rIns="0" bIns="0" anchor="t" anchorCtr="0">
              <a:spAutoFit/>
            </a:bodyPr>
            <a:lstStyle/>
            <a:p>
              <a:pPr algn="l"/>
              <a:r>
                <a:rPr lang="zh-CN" sz="1125" dirty="0">
                  <a:solidFill>
                    <a:srgbClr val="F5F7FA"/>
                  </a:solidFill>
                  <a:latin typeface="Consolas"/>
                  <a:ea typeface="Microsoft YaHei"/>
                  <a:cs typeface="Consolas"/>
                </a:rPr>
                <a:t>2</a:t>
              </a:r>
            </a:p>
          </p:txBody>
        </p:sp>
        <p:sp>
          <p:nvSpPr>
            <p:cNvPr id="28" name="TextBox 28"/>
            <p:cNvSpPr txBox="1"/>
            <p:nvPr/>
          </p:nvSpPr>
          <p:spPr>
            <a:xfrm>
              <a:off x="6062662" y="2316956"/>
              <a:ext cx="111085" cy="228600"/>
            </a:xfrm>
            <a:prstGeom prst="rect">
              <a:avLst/>
            </a:prstGeom>
            <a:noFill/>
            <a:ln>
              <a:noFill/>
            </a:ln>
          </p:spPr>
          <p:txBody>
            <a:bodyPr wrap="none" lIns="0" tIns="0" rIns="0" bIns="0" anchor="t" anchorCtr="0">
              <a:spAutoFit/>
            </a:bodyPr>
            <a:lstStyle/>
            <a:p>
              <a:pPr algn="l"/>
              <a:r>
                <a:rPr lang="zh-CN" sz="1125" dirty="0">
                  <a:solidFill>
                    <a:srgbClr val="F5F7FA"/>
                  </a:solidFill>
                  <a:latin typeface="Consolas"/>
                  <a:ea typeface="Microsoft YaHei"/>
                  <a:cs typeface="Consolas"/>
                </a:rPr>
                <a:t>3</a:t>
              </a:r>
            </a:p>
          </p:txBody>
        </p:sp>
        <p:sp>
          <p:nvSpPr>
            <p:cNvPr id="29" name="TextBox 29"/>
            <p:cNvSpPr txBox="1"/>
            <p:nvPr/>
          </p:nvSpPr>
          <p:spPr>
            <a:xfrm>
              <a:off x="5510212" y="4507706"/>
              <a:ext cx="111085" cy="228600"/>
            </a:xfrm>
            <a:prstGeom prst="rect">
              <a:avLst/>
            </a:prstGeom>
            <a:noFill/>
            <a:ln>
              <a:noFill/>
            </a:ln>
          </p:spPr>
          <p:txBody>
            <a:bodyPr wrap="none" lIns="0" tIns="0" rIns="0" bIns="0" anchor="t" anchorCtr="0">
              <a:spAutoFit/>
            </a:bodyPr>
            <a:lstStyle/>
            <a:p>
              <a:pPr algn="l"/>
              <a:r>
                <a:rPr lang="zh-CN" sz="1125" dirty="0">
                  <a:solidFill>
                    <a:srgbClr val="F5F7FA"/>
                  </a:solidFill>
                  <a:latin typeface="Consolas"/>
                  <a:ea typeface="Microsoft YaHei"/>
                  <a:cs typeface="Consolas"/>
                </a:rPr>
                <a:t>4</a:t>
              </a:r>
            </a:p>
          </p:txBody>
        </p:sp>
        <p:sp>
          <p:nvSpPr>
            <p:cNvPr id="30" name="Rectangle 30"/>
            <p:cNvSpPr/>
            <p:nvPr/>
          </p:nvSpPr>
          <p:spPr>
            <a:xfrm>
              <a:off x="2114550" y="3009900"/>
              <a:ext cx="1924050" cy="438150"/>
            </a:xfrm>
            <a:prstGeom prst="roundRect">
              <a:avLst>
                <a:gd name="adj" fmla="val 21739"/>
              </a:avLst>
            </a:prstGeom>
            <a:solidFill>
              <a:srgbClr val="18283D"/>
            </a:solidFill>
            <a:ln w="19050">
              <a:solidFill>
                <a:srgbClr val="FF5C8A"/>
              </a:solidFill>
            </a:ln>
          </p:spPr>
        </p:sp>
        <p:sp>
          <p:nvSpPr>
            <p:cNvPr id="31" name="TextBox 31"/>
            <p:cNvSpPr txBox="1"/>
            <p:nvPr/>
          </p:nvSpPr>
          <p:spPr>
            <a:xfrm>
              <a:off x="2557272" y="3156585"/>
              <a:ext cx="1038606" cy="243840"/>
            </a:xfrm>
            <a:prstGeom prst="rect">
              <a:avLst/>
            </a:prstGeom>
            <a:noFill/>
            <a:ln>
              <a:noFill/>
            </a:ln>
          </p:spPr>
          <p:txBody>
            <a:bodyPr wrap="none" lIns="0" tIns="0" rIns="0" bIns="0" anchor="t" anchorCtr="0">
              <a:spAutoFit/>
            </a:bodyPr>
            <a:lstStyle/>
            <a:p>
              <a:pPr algn="ctr"/>
              <a:r>
                <a:rPr lang="zh-CN" sz="1200" b="1" dirty="0">
                  <a:solidFill>
                    <a:srgbClr val="FF5C8A"/>
                  </a:solidFill>
                  <a:latin typeface="Arial"/>
                  <a:ea typeface="Microsoft YaHei"/>
                  <a:cs typeface="Arial"/>
                </a:rPr>
                <a:t>compression</a:t>
              </a:r>
            </a:p>
          </p:txBody>
        </p:sp>
        <p:sp>
          <p:nvSpPr>
            <p:cNvPr id="32" name="Rectangle 32"/>
            <p:cNvSpPr/>
            <p:nvPr/>
          </p:nvSpPr>
          <p:spPr>
            <a:xfrm>
              <a:off x="4629150" y="2057400"/>
              <a:ext cx="1924050" cy="438150"/>
            </a:xfrm>
            <a:prstGeom prst="roundRect">
              <a:avLst>
                <a:gd name="adj" fmla="val 21739"/>
              </a:avLst>
            </a:prstGeom>
            <a:solidFill>
              <a:srgbClr val="18283D"/>
            </a:solidFill>
            <a:ln w="19050">
              <a:solidFill>
                <a:srgbClr val="FFB000"/>
              </a:solidFill>
            </a:ln>
          </p:spPr>
        </p:sp>
        <p:sp>
          <p:nvSpPr>
            <p:cNvPr id="33" name="TextBox 33"/>
            <p:cNvSpPr txBox="1"/>
            <p:nvPr/>
          </p:nvSpPr>
          <p:spPr>
            <a:xfrm>
              <a:off x="5042468" y="2204085"/>
              <a:ext cx="1097413" cy="243840"/>
            </a:xfrm>
            <a:prstGeom prst="rect">
              <a:avLst/>
            </a:prstGeom>
            <a:noFill/>
            <a:ln>
              <a:noFill/>
            </a:ln>
          </p:spPr>
          <p:txBody>
            <a:bodyPr wrap="none" lIns="0" tIns="0" rIns="0" bIns="0" anchor="t" anchorCtr="0">
              <a:spAutoFit/>
            </a:bodyPr>
            <a:lstStyle/>
            <a:p>
              <a:pPr algn="ctr"/>
              <a:r>
                <a:rPr lang="zh-CN" sz="1200" b="1" dirty="0">
                  <a:solidFill>
                    <a:srgbClr val="FFB000"/>
                  </a:solidFill>
                  <a:latin typeface="Arial"/>
                  <a:ea typeface="Microsoft YaHei"/>
                  <a:cs typeface="Arial"/>
                </a:rPr>
                <a:t>condensation</a:t>
              </a:r>
            </a:p>
          </p:txBody>
        </p:sp>
        <p:sp>
          <p:nvSpPr>
            <p:cNvPr id="34" name="Rectangle 34"/>
            <p:cNvSpPr/>
            <p:nvPr/>
          </p:nvSpPr>
          <p:spPr>
            <a:xfrm>
              <a:off x="5867400" y="3295650"/>
              <a:ext cx="1581150" cy="438150"/>
            </a:xfrm>
            <a:prstGeom prst="roundRect">
              <a:avLst>
                <a:gd name="adj" fmla="val 21739"/>
              </a:avLst>
            </a:prstGeom>
            <a:solidFill>
              <a:srgbClr val="18283D"/>
            </a:solidFill>
            <a:ln w="19050">
              <a:solidFill>
                <a:srgbClr val="3DDC97"/>
              </a:solidFill>
            </a:ln>
          </p:spPr>
        </p:sp>
        <p:sp>
          <p:nvSpPr>
            <p:cNvPr id="35" name="TextBox 35"/>
            <p:cNvSpPr txBox="1"/>
            <p:nvPr/>
          </p:nvSpPr>
          <p:spPr>
            <a:xfrm>
              <a:off x="6247886" y="3442335"/>
              <a:ext cx="820179" cy="243840"/>
            </a:xfrm>
            <a:prstGeom prst="rect">
              <a:avLst/>
            </a:prstGeom>
            <a:noFill/>
            <a:ln>
              <a:noFill/>
            </a:ln>
          </p:spPr>
          <p:txBody>
            <a:bodyPr wrap="none" lIns="0" tIns="0" rIns="0" bIns="0" anchor="t" anchorCtr="0">
              <a:spAutoFit/>
            </a:bodyPr>
            <a:lstStyle/>
            <a:p>
              <a:pPr algn="ctr"/>
              <a:r>
                <a:rPr lang="zh-CN" sz="1200" b="1" dirty="0">
                  <a:solidFill>
                    <a:srgbClr val="3DDC97"/>
                  </a:solidFill>
                  <a:latin typeface="Arial"/>
                  <a:ea typeface="Microsoft YaHei"/>
                  <a:cs typeface="Arial"/>
                </a:rPr>
                <a:t>expansion</a:t>
              </a:r>
            </a:p>
          </p:txBody>
        </p:sp>
        <p:sp>
          <p:nvSpPr>
            <p:cNvPr id="36" name="Rectangle 36"/>
            <p:cNvSpPr/>
            <p:nvPr/>
          </p:nvSpPr>
          <p:spPr>
            <a:xfrm>
              <a:off x="3162300" y="4705350"/>
              <a:ext cx="1924050" cy="438150"/>
            </a:xfrm>
            <a:prstGeom prst="roundRect">
              <a:avLst>
                <a:gd name="adj" fmla="val 21739"/>
              </a:avLst>
            </a:prstGeom>
            <a:solidFill>
              <a:srgbClr val="18283D"/>
            </a:solidFill>
            <a:ln w="19050">
              <a:solidFill>
                <a:srgbClr val="4DA3FF"/>
              </a:solidFill>
            </a:ln>
          </p:spPr>
        </p:sp>
        <p:sp>
          <p:nvSpPr>
            <p:cNvPr id="37" name="TextBox 37"/>
            <p:cNvSpPr txBox="1"/>
            <p:nvPr/>
          </p:nvSpPr>
          <p:spPr>
            <a:xfrm>
              <a:off x="3621824" y="4852035"/>
              <a:ext cx="1005002" cy="243840"/>
            </a:xfrm>
            <a:prstGeom prst="rect">
              <a:avLst/>
            </a:prstGeom>
            <a:noFill/>
            <a:ln>
              <a:noFill/>
            </a:ln>
          </p:spPr>
          <p:txBody>
            <a:bodyPr wrap="none" lIns="0" tIns="0" rIns="0" bIns="0" anchor="t" anchorCtr="0">
              <a:spAutoFit/>
            </a:bodyPr>
            <a:lstStyle/>
            <a:p>
              <a:pPr algn="ctr"/>
              <a:r>
                <a:rPr lang="zh-CN" sz="1200" b="1" dirty="0">
                  <a:solidFill>
                    <a:srgbClr val="4DA3FF"/>
                  </a:solidFill>
                  <a:latin typeface="Arial"/>
                  <a:ea typeface="Microsoft YaHei"/>
                  <a:cs typeface="Arial"/>
                </a:rPr>
                <a:t>evaporation</a:t>
              </a:r>
            </a:p>
          </p:txBody>
        </p:sp>
      </p:grpSp>
      <p:grpSp>
        <p:nvGrpSpPr>
          <p:cNvPr id="50" name="Group 50"/>
          <p:cNvGrpSpPr/>
          <p:nvPr/>
        </p:nvGrpSpPr>
        <p:grpSpPr>
          <a:xfrm>
            <a:off x="8153400" y="1466850"/>
            <a:ext cx="4447032" cy="4476750"/>
            <a:chOff x="8153400" y="1466850"/>
            <a:chExt cx="4447032" cy="4476750"/>
          </a:xfrm>
        </p:grpSpPr>
        <p:sp>
          <p:nvSpPr>
            <p:cNvPr id="39" name="Rectangle 39"/>
            <p:cNvSpPr/>
            <p:nvPr/>
          </p:nvSpPr>
          <p:spPr>
            <a:xfrm>
              <a:off x="8153400" y="1466850"/>
              <a:ext cx="3505200" cy="4476750"/>
            </a:xfrm>
            <a:prstGeom prst="roundRect">
              <a:avLst>
                <a:gd name="adj" fmla="val 4891"/>
              </a:avLst>
            </a:prstGeom>
            <a:solidFill>
              <a:srgbClr val="142033"/>
            </a:solidFill>
            <a:ln w="19050">
              <a:solidFill>
                <a:srgbClr val="38506A"/>
              </a:solidFill>
            </a:ln>
          </p:spPr>
        </p:sp>
        <p:sp>
          <p:nvSpPr>
            <p:cNvPr id="40" name="TextBox 40"/>
            <p:cNvSpPr txBox="1"/>
            <p:nvPr/>
          </p:nvSpPr>
          <p:spPr>
            <a:xfrm>
              <a:off x="8435340" y="1729740"/>
              <a:ext cx="1784737" cy="365760"/>
            </a:xfrm>
            <a:prstGeom prst="rect">
              <a:avLst/>
            </a:prstGeom>
            <a:noFill/>
            <a:ln>
              <a:noFill/>
            </a:ln>
          </p:spPr>
          <p:txBody>
            <a:bodyPr wrap="none" lIns="0" tIns="0" rIns="0" bIns="0" anchor="t" anchorCtr="0">
              <a:spAutoFit/>
            </a:bodyPr>
            <a:lstStyle/>
            <a:p>
              <a:pPr algn="l"/>
              <a:r>
                <a:rPr lang="zh-CN" sz="1800" b="1" dirty="0">
                  <a:solidFill>
                    <a:srgbClr val="F5F7FA"/>
                  </a:solidFill>
                  <a:latin typeface="Arial"/>
                  <a:ea typeface="Microsoft YaHei"/>
                  <a:cs typeface="Arial"/>
                </a:rPr>
                <a:t>How to read it</a:t>
              </a:r>
            </a:p>
          </p:txBody>
        </p:sp>
        <p:sp>
          <p:nvSpPr>
            <p:cNvPr id="41" name="Line 41"/>
            <p:cNvSpPr/>
            <p:nvPr/>
          </p:nvSpPr>
          <p:spPr>
            <a:xfrm>
              <a:off x="8458200" y="2114550"/>
              <a:ext cx="2895600" cy="9525"/>
            </a:xfrm>
            <a:custGeom>
              <a:avLst/>
              <a:gdLst/>
              <a:ahLst/>
              <a:cxnLst/>
              <a:rect l="l" t="t" r="r" b="b"/>
              <a:pathLst>
                <a:path w="2895600" h="9525">
                  <a:moveTo>
                    <a:pt x="0" y="0"/>
                  </a:moveTo>
                  <a:lnTo>
                    <a:pt x="2895600" y="0"/>
                  </a:lnTo>
                </a:path>
              </a:pathLst>
            </a:custGeom>
            <a:noFill/>
            <a:ln w="19050">
              <a:solidFill>
                <a:srgbClr val="38506A"/>
              </a:solidFill>
            </a:ln>
          </p:spPr>
        </p:sp>
        <p:sp>
          <p:nvSpPr>
            <p:cNvPr id="42" name="TextBox 42"/>
            <p:cNvSpPr txBox="1"/>
            <p:nvPr/>
          </p:nvSpPr>
          <p:spPr>
            <a:xfrm>
              <a:off x="8441055" y="2406968"/>
              <a:ext cx="1754405" cy="274320"/>
            </a:xfrm>
            <a:prstGeom prst="rect">
              <a:avLst/>
            </a:prstGeom>
            <a:noFill/>
            <a:ln>
              <a:noFill/>
            </a:ln>
          </p:spPr>
          <p:txBody>
            <a:bodyPr wrap="none" lIns="0" tIns="0" rIns="0" bIns="0" anchor="t" anchorCtr="0">
              <a:spAutoFit/>
            </a:bodyPr>
            <a:lstStyle/>
            <a:p>
              <a:pPr algn="l"/>
              <a:r>
                <a:rPr lang="zh-CN" sz="1350" b="1" dirty="0">
                  <a:solidFill>
                    <a:srgbClr val="FF5C8A"/>
                  </a:solidFill>
                  <a:latin typeface="Arial"/>
                  <a:ea typeface="Microsoft YaHei"/>
                  <a:cs typeface="Arial"/>
                </a:rPr>
                <a:t>1 -&gt; 2 Compression</a:t>
              </a:r>
            </a:p>
          </p:txBody>
        </p:sp>
        <p:sp>
          <p:nvSpPr>
            <p:cNvPr id="43" name="TextBox 43"/>
            <p:cNvSpPr txBox="1"/>
            <p:nvPr/>
          </p:nvSpPr>
          <p:spPr>
            <a:xfrm>
              <a:off x="8633460" y="2689860"/>
              <a:ext cx="3638931" cy="243840"/>
            </a:xfrm>
            <a:prstGeom prst="rect">
              <a:avLst/>
            </a:prstGeom>
            <a:noFill/>
            <a:ln>
              <a:noFill/>
            </a:ln>
          </p:spPr>
          <p:txBody>
            <a:bodyPr wrap="none" lIns="0" tIns="0" rIns="0" bIns="0" anchor="t" anchorCtr="0">
              <a:spAutoFit/>
            </a:bodyPr>
            <a:lstStyle/>
            <a:p>
              <a:pPr algn="l"/>
              <a:r>
                <a:rPr lang="zh-CN" sz="1200" dirty="0">
                  <a:solidFill>
                    <a:srgbClr val="9FB2C8"/>
                  </a:solidFill>
                  <a:latin typeface="Arial"/>
                  <a:ea typeface="Microsoft YaHei"/>
                  <a:cs typeface="Arial"/>
                </a:rPr>
                <a:t>Work raises vapor pressure and temperature.</a:t>
              </a:r>
            </a:p>
          </p:txBody>
        </p:sp>
        <p:sp>
          <p:nvSpPr>
            <p:cNvPr id="44" name="TextBox 44"/>
            <p:cNvSpPr txBox="1"/>
            <p:nvPr/>
          </p:nvSpPr>
          <p:spPr>
            <a:xfrm>
              <a:off x="8441055" y="3168968"/>
              <a:ext cx="1820563" cy="274320"/>
            </a:xfrm>
            <a:prstGeom prst="rect">
              <a:avLst/>
            </a:prstGeom>
            <a:noFill/>
            <a:ln>
              <a:noFill/>
            </a:ln>
          </p:spPr>
          <p:txBody>
            <a:bodyPr wrap="none" lIns="0" tIns="0" rIns="0" bIns="0" anchor="t" anchorCtr="0">
              <a:spAutoFit/>
            </a:bodyPr>
            <a:lstStyle/>
            <a:p>
              <a:pPr algn="l"/>
              <a:r>
                <a:rPr lang="zh-CN" sz="1350" b="1" dirty="0">
                  <a:solidFill>
                    <a:srgbClr val="FFB000"/>
                  </a:solidFill>
                  <a:latin typeface="Arial"/>
                  <a:ea typeface="Microsoft YaHei"/>
                  <a:cs typeface="Arial"/>
                </a:rPr>
                <a:t>2 -&gt; 3 Condensation</a:t>
              </a:r>
            </a:p>
          </p:txBody>
        </p:sp>
        <p:sp>
          <p:nvSpPr>
            <p:cNvPr id="45" name="TextBox 45"/>
            <p:cNvSpPr txBox="1"/>
            <p:nvPr/>
          </p:nvSpPr>
          <p:spPr>
            <a:xfrm>
              <a:off x="8633460" y="3451860"/>
              <a:ext cx="3446907" cy="243840"/>
            </a:xfrm>
            <a:prstGeom prst="rect">
              <a:avLst/>
            </a:prstGeom>
            <a:noFill/>
            <a:ln>
              <a:noFill/>
            </a:ln>
          </p:spPr>
          <p:txBody>
            <a:bodyPr wrap="none" lIns="0" tIns="0" rIns="0" bIns="0" anchor="t" anchorCtr="0">
              <a:spAutoFit/>
            </a:bodyPr>
            <a:lstStyle/>
            <a:p>
              <a:pPr algn="l"/>
              <a:r>
                <a:rPr lang="zh-CN" sz="1200" dirty="0">
                  <a:solidFill>
                    <a:srgbClr val="9FB2C8"/>
                  </a:solidFill>
                  <a:latin typeface="Arial"/>
                  <a:ea typeface="Microsoft YaHei"/>
                  <a:cs typeface="Arial"/>
                </a:rPr>
                <a:t>High-pressure vapor releases heat indoors.</a:t>
              </a:r>
            </a:p>
          </p:txBody>
        </p:sp>
        <p:sp>
          <p:nvSpPr>
            <p:cNvPr id="46" name="TextBox 46"/>
            <p:cNvSpPr txBox="1"/>
            <p:nvPr/>
          </p:nvSpPr>
          <p:spPr>
            <a:xfrm>
              <a:off x="8441055" y="3930968"/>
              <a:ext cx="1508674" cy="274320"/>
            </a:xfrm>
            <a:prstGeom prst="rect">
              <a:avLst/>
            </a:prstGeom>
            <a:noFill/>
            <a:ln>
              <a:noFill/>
            </a:ln>
          </p:spPr>
          <p:txBody>
            <a:bodyPr wrap="none" lIns="0" tIns="0" rIns="0" bIns="0" anchor="t" anchorCtr="0">
              <a:spAutoFit/>
            </a:bodyPr>
            <a:lstStyle/>
            <a:p>
              <a:pPr algn="l"/>
              <a:r>
                <a:rPr lang="zh-CN" sz="1350" b="1" dirty="0">
                  <a:solidFill>
                    <a:srgbClr val="3DDC97"/>
                  </a:solidFill>
                  <a:latin typeface="Arial"/>
                  <a:ea typeface="Microsoft YaHei"/>
                  <a:cs typeface="Arial"/>
                </a:rPr>
                <a:t>3 -&gt; 4 Expansion</a:t>
              </a:r>
            </a:p>
          </p:txBody>
        </p:sp>
        <p:sp>
          <p:nvSpPr>
            <p:cNvPr id="47" name="TextBox 47"/>
            <p:cNvSpPr txBox="1"/>
            <p:nvPr/>
          </p:nvSpPr>
          <p:spPr>
            <a:xfrm>
              <a:off x="8633460" y="4213860"/>
              <a:ext cx="3622929" cy="243840"/>
            </a:xfrm>
            <a:prstGeom prst="rect">
              <a:avLst/>
            </a:prstGeom>
            <a:noFill/>
            <a:ln>
              <a:noFill/>
            </a:ln>
          </p:spPr>
          <p:txBody>
            <a:bodyPr wrap="none" lIns="0" tIns="0" rIns="0" bIns="0" anchor="t" anchorCtr="0">
              <a:spAutoFit/>
            </a:bodyPr>
            <a:lstStyle/>
            <a:p>
              <a:pPr algn="l"/>
              <a:r>
                <a:rPr lang="zh-CN" sz="1200" dirty="0">
                  <a:solidFill>
                    <a:srgbClr val="9FB2C8"/>
                  </a:solidFill>
                  <a:latin typeface="Arial"/>
                  <a:ea typeface="Microsoft YaHei"/>
                  <a:cs typeface="Arial"/>
                </a:rPr>
                <a:t>Liquid pressure drops before the evaporator.</a:t>
              </a:r>
            </a:p>
          </p:txBody>
        </p:sp>
        <p:sp>
          <p:nvSpPr>
            <p:cNvPr id="48" name="TextBox 48"/>
            <p:cNvSpPr txBox="1"/>
            <p:nvPr/>
          </p:nvSpPr>
          <p:spPr>
            <a:xfrm>
              <a:off x="8441055" y="4692968"/>
              <a:ext cx="1716600" cy="274320"/>
            </a:xfrm>
            <a:prstGeom prst="rect">
              <a:avLst/>
            </a:prstGeom>
            <a:noFill/>
            <a:ln>
              <a:noFill/>
            </a:ln>
          </p:spPr>
          <p:txBody>
            <a:bodyPr wrap="none" lIns="0" tIns="0" rIns="0" bIns="0" anchor="t" anchorCtr="0">
              <a:spAutoFit/>
            </a:bodyPr>
            <a:lstStyle/>
            <a:p>
              <a:pPr algn="l"/>
              <a:r>
                <a:rPr lang="zh-CN" sz="1350" b="1" dirty="0">
                  <a:solidFill>
                    <a:srgbClr val="4DA3FF"/>
                  </a:solidFill>
                  <a:latin typeface="Arial"/>
                  <a:ea typeface="Microsoft YaHei"/>
                  <a:cs typeface="Arial"/>
                </a:rPr>
                <a:t>4 -&gt; 1 Evaporation</a:t>
              </a:r>
            </a:p>
          </p:txBody>
        </p:sp>
        <p:sp>
          <p:nvSpPr>
            <p:cNvPr id="49" name="TextBox 49"/>
            <p:cNvSpPr txBox="1"/>
            <p:nvPr/>
          </p:nvSpPr>
          <p:spPr>
            <a:xfrm>
              <a:off x="8633460" y="4975860"/>
              <a:ext cx="3966972" cy="243840"/>
            </a:xfrm>
            <a:prstGeom prst="rect">
              <a:avLst/>
            </a:prstGeom>
            <a:noFill/>
            <a:ln>
              <a:noFill/>
            </a:ln>
          </p:spPr>
          <p:txBody>
            <a:bodyPr wrap="none" lIns="0" tIns="0" rIns="0" bIns="0" anchor="t" anchorCtr="0">
              <a:spAutoFit/>
            </a:bodyPr>
            <a:lstStyle/>
            <a:p>
              <a:pPr algn="l"/>
              <a:r>
                <a:rPr lang="zh-CN" sz="1200" dirty="0">
                  <a:solidFill>
                    <a:srgbClr val="9FB2C8"/>
                  </a:solidFill>
                  <a:latin typeface="Arial"/>
                  <a:ea typeface="Microsoft YaHei"/>
                  <a:cs typeface="Arial"/>
                </a:rPr>
                <a:t>Cold refrigerant absorbs heat and becomes vapor.</a:t>
              </a:r>
            </a:p>
          </p:txBody>
        </p:sp>
      </p:grpSp>
      <p:sp>
        <p:nvSpPr>
          <p:cNvPr id="51" name="TextBox 51"/>
          <p:cNvSpPr txBox="1"/>
          <p:nvPr/>
        </p:nvSpPr>
        <p:spPr>
          <a:xfrm>
            <a:off x="501968" y="6238399"/>
            <a:ext cx="4588335" cy="198120"/>
          </a:xfrm>
          <a:prstGeom prst="rect">
            <a:avLst/>
          </a:prstGeom>
          <a:noFill/>
          <a:ln>
            <a:noFill/>
          </a:ln>
        </p:spPr>
        <p:txBody>
          <a:bodyPr wrap="none" lIns="0" tIns="0" rIns="0" bIns="0" anchor="t" anchorCtr="0">
            <a:spAutoFit/>
          </a:bodyPr>
          <a:lstStyle/>
          <a:p>
            <a:pPr algn="l"/>
            <a:r>
              <a:rPr lang="zh-CN" sz="975" dirty="0">
                <a:solidFill>
                  <a:srgbClr val="9FB2C8"/>
                </a:solidFill>
                <a:latin typeface="Arial"/>
                <a:ea typeface="Microsoft YaHei"/>
                <a:cs typeface="Arial"/>
              </a:rPr>
              <a:t>Qualitative diagram: process order and high/low pressure regions only.</a:t>
            </a:r>
          </a:p>
        </p:txBody>
      </p:sp>
      <p:sp>
        <p:nvSpPr>
          <p:cNvPr id="52" name="TextBox 52"/>
          <p:cNvSpPr txBox="1"/>
          <p:nvPr/>
        </p:nvSpPr>
        <p:spPr>
          <a:xfrm>
            <a:off x="501968" y="6409849"/>
            <a:ext cx="2001012" cy="198120"/>
          </a:xfrm>
          <a:prstGeom prst="rect">
            <a:avLst/>
          </a:prstGeom>
          <a:noFill/>
          <a:ln>
            <a:noFill/>
          </a:ln>
        </p:spPr>
        <p:txBody>
          <a:bodyPr wrap="none" lIns="0" tIns="0" rIns="0" bIns="0" anchor="t" anchorCtr="0">
            <a:spAutoFit/>
          </a:bodyPr>
          <a:lstStyle/>
          <a:p>
            <a:pPr algn="l"/>
            <a:r>
              <a:rPr lang="zh-CN" sz="975" dirty="0">
                <a:solidFill>
                  <a:srgbClr val="9FB2C8"/>
                </a:solidFill>
                <a:latin typeface="Arial"/>
                <a:ea typeface="Microsoft YaHei"/>
                <a:cs typeface="Arial"/>
              </a:rPr>
              <a:t>No numeric accuracy is implied.</a:t>
            </a:r>
          </a:p>
        </p:txBody>
      </p:sp>
      <p:sp>
        <p:nvSpPr>
          <p:cNvPr id="53" name="TextBox 53"/>
          <p:cNvSpPr txBox="1"/>
          <p:nvPr/>
        </p:nvSpPr>
        <p:spPr>
          <a:xfrm>
            <a:off x="11398568" y="6314599"/>
            <a:ext cx="460319" cy="198120"/>
          </a:xfrm>
          <a:prstGeom prst="rect">
            <a:avLst/>
          </a:prstGeom>
          <a:noFill/>
          <a:ln>
            <a:noFill/>
          </a:ln>
        </p:spPr>
        <p:txBody>
          <a:bodyPr wrap="none" lIns="0" tIns="0" rIns="0" bIns="0" anchor="t" anchorCtr="0">
            <a:spAutoFit/>
          </a:bodyPr>
          <a:lstStyle/>
          <a:p>
            <a:pPr algn="l"/>
            <a:r>
              <a:rPr lang="zh-CN" sz="975" dirty="0">
                <a:solidFill>
                  <a:srgbClr val="9FB2C8"/>
                </a:solidFill>
                <a:latin typeface="Consolas"/>
                <a:ea typeface="Microsoft YaHei"/>
                <a:cs typeface="Consolas"/>
              </a:rPr>
              <a:t>07 / 09</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400"/>
                                        <p:tgtEl>
                                          <p:spTgt spid="3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wipe(left)">
                                      <p:cBhvr>
                                        <p:cTn id="11"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5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E1117"/>
          </a:solidFill>
          <a:ln>
            <a:noFill/>
          </a:ln>
        </p:spPr>
      </p:sp>
      <p:sp>
        <p:nvSpPr>
          <p:cNvPr id="3" name="Freeform 3"/>
          <p:cNvSpPr/>
          <p:nvPr/>
        </p:nvSpPr>
        <p:spPr>
          <a:xfrm>
            <a:off x="762000" y="0"/>
            <a:ext cx="10668000" cy="6858000"/>
          </a:xfrm>
          <a:custGeom>
            <a:avLst/>
            <a:gdLst/>
            <a:ahLst/>
            <a:cxnLst/>
            <a:rect l="l" t="t" r="r" b="b"/>
            <a:pathLst>
              <a:path w="10668000" h="6858000">
                <a:moveTo>
                  <a:pt x="0" y="0"/>
                </a:moveTo>
                <a:lnTo>
                  <a:pt x="0" y="6858000"/>
                </a:lnTo>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path>
            </a:pathLst>
          </a:custGeom>
          <a:solidFill>
            <a:srgbClr val="000000"/>
          </a:solidFill>
          <a:ln w="9525">
            <a:solidFill>
              <a:srgbClr val="25364A"/>
            </a:solidFill>
          </a:ln>
        </p:spPr>
      </p:sp>
      <p:sp>
        <p:nvSpPr>
          <p:cNvPr id="4" name="Freeform 4"/>
          <p:cNvSpPr/>
          <p:nvPr/>
        </p:nvSpPr>
        <p:spPr>
          <a:xfrm>
            <a:off x="0" y="762000"/>
            <a:ext cx="12192000" cy="5334000"/>
          </a:xfrm>
          <a:custGeom>
            <a:avLst/>
            <a:gdLst/>
            <a:ahLst/>
            <a:cxnLst/>
            <a:rect l="l" t="t" r="r" b="b"/>
            <a:pathLst>
              <a:path w="12192000" h="5334000">
                <a:moveTo>
                  <a:pt x="0" y="0"/>
                </a:moveTo>
                <a:lnTo>
                  <a:pt x="12192000" y="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path>
            </a:pathLst>
          </a:custGeom>
          <a:solidFill>
            <a:srgbClr val="000000"/>
          </a:solidFill>
          <a:ln w="9525">
            <a:solidFill>
              <a:srgbClr val="25364A"/>
            </a:solidFill>
          </a:ln>
        </p:spPr>
      </p:sp>
      <p:grpSp>
        <p:nvGrpSpPr>
          <p:cNvPr id="8" name="Group 8"/>
          <p:cNvGrpSpPr/>
          <p:nvPr/>
        </p:nvGrpSpPr>
        <p:grpSpPr>
          <a:xfrm>
            <a:off x="481965" y="334328"/>
            <a:ext cx="11195685" cy="780097"/>
            <a:chOff x="481965" y="334328"/>
            <a:chExt cx="11195685" cy="780097"/>
          </a:xfrm>
        </p:grpSpPr>
        <p:sp>
          <p:nvSpPr>
            <p:cNvPr id="5" name="TextBox 5"/>
            <p:cNvSpPr txBox="1"/>
            <p:nvPr/>
          </p:nvSpPr>
          <p:spPr>
            <a:xfrm>
              <a:off x="481965" y="334328"/>
              <a:ext cx="7044992" cy="518160"/>
            </a:xfrm>
            <a:prstGeom prst="rect">
              <a:avLst/>
            </a:prstGeom>
            <a:noFill/>
            <a:ln>
              <a:noFill/>
            </a:ln>
          </p:spPr>
          <p:txBody>
            <a:bodyPr wrap="none" lIns="0" tIns="0" rIns="0" bIns="0" anchor="t" anchorCtr="0">
              <a:spAutoFit/>
            </a:bodyPr>
            <a:lstStyle/>
            <a:p>
              <a:pPr algn="l"/>
              <a:r>
                <a:rPr lang="zh-CN" sz="2550" b="1" dirty="0">
                  <a:solidFill>
                    <a:srgbClr val="F5F7FA"/>
                  </a:solidFill>
                  <a:latin typeface="Arial"/>
                  <a:ea typeface="Microsoft YaHei"/>
                  <a:cs typeface="Arial"/>
                </a:rPr>
                <a:t>Why Very Cold Weather Reduces Capacity</a:t>
              </a:r>
            </a:p>
          </p:txBody>
        </p:sp>
        <p:sp>
          <p:nvSpPr>
            <p:cNvPr id="6" name="TextBox 6"/>
            <p:cNvSpPr txBox="1"/>
            <p:nvPr/>
          </p:nvSpPr>
          <p:spPr>
            <a:xfrm>
              <a:off x="497205" y="768668"/>
              <a:ext cx="7775257" cy="274320"/>
            </a:xfrm>
            <a:prstGeom prst="rect">
              <a:avLst/>
            </a:prstGeom>
            <a:noFill/>
            <a:ln>
              <a:noFill/>
            </a:ln>
          </p:spPr>
          <p:txBody>
            <a:bodyPr wrap="none" lIns="0" tIns="0" rIns="0" bIns="0" anchor="t" anchorCtr="0">
              <a:spAutoFit/>
            </a:bodyPr>
            <a:lstStyle/>
            <a:p>
              <a:pPr algn="l"/>
              <a:r>
                <a:rPr lang="zh-CN" sz="1350" dirty="0">
                  <a:solidFill>
                    <a:srgbClr val="9FB2C8"/>
                  </a:solidFill>
                  <a:latin typeface="Arial"/>
                  <a:ea typeface="Microsoft YaHei"/>
                  <a:cs typeface="Arial"/>
                </a:rPr>
                <a:t>The system still moves heat, but the source is colder and the compressor lift is larger.</a:t>
              </a:r>
            </a:p>
          </p:txBody>
        </p:sp>
        <p:sp>
          <p:nvSpPr>
            <p:cNvPr id="7" name="Line 7"/>
            <p:cNvSpPr/>
            <p:nvPr/>
          </p:nvSpPr>
          <p:spPr>
            <a:xfrm>
              <a:off x="514350" y="1104900"/>
              <a:ext cx="11163300" cy="9525"/>
            </a:xfrm>
            <a:custGeom>
              <a:avLst/>
              <a:gdLst/>
              <a:ahLst/>
              <a:cxnLst/>
              <a:rect l="l" t="t" r="r" b="b"/>
              <a:pathLst>
                <a:path w="11163300" h="9525">
                  <a:moveTo>
                    <a:pt x="0" y="0"/>
                  </a:moveTo>
                  <a:lnTo>
                    <a:pt x="11163300" y="0"/>
                  </a:lnTo>
                </a:path>
              </a:pathLst>
            </a:custGeom>
            <a:noFill/>
            <a:ln w="19050">
              <a:solidFill>
                <a:srgbClr val="38506A"/>
              </a:solidFill>
            </a:ln>
          </p:spPr>
        </p:sp>
      </p:grpSp>
      <p:grpSp>
        <p:nvGrpSpPr>
          <p:cNvPr id="25" name="Group 25"/>
          <p:cNvGrpSpPr/>
          <p:nvPr/>
        </p:nvGrpSpPr>
        <p:grpSpPr>
          <a:xfrm>
            <a:off x="723900" y="1581150"/>
            <a:ext cx="4953000" cy="3981450"/>
            <a:chOff x="723900" y="1581150"/>
            <a:chExt cx="4953000" cy="3981450"/>
          </a:xfrm>
        </p:grpSpPr>
        <p:sp>
          <p:nvSpPr>
            <p:cNvPr id="9" name="Rectangle 9"/>
            <p:cNvSpPr/>
            <p:nvPr/>
          </p:nvSpPr>
          <p:spPr>
            <a:xfrm>
              <a:off x="723900" y="1581150"/>
              <a:ext cx="4953000" cy="3981450"/>
            </a:xfrm>
            <a:prstGeom prst="roundRect">
              <a:avLst>
                <a:gd name="adj" fmla="val 4306"/>
              </a:avLst>
            </a:prstGeom>
            <a:solidFill>
              <a:srgbClr val="142033"/>
            </a:solidFill>
            <a:ln w="19050">
              <a:solidFill>
                <a:srgbClr val="38506A"/>
              </a:solidFill>
            </a:ln>
          </p:spPr>
        </p:sp>
        <p:sp>
          <p:nvSpPr>
            <p:cNvPr id="10" name="TextBox 10"/>
            <p:cNvSpPr txBox="1"/>
            <p:nvPr/>
          </p:nvSpPr>
          <p:spPr>
            <a:xfrm>
              <a:off x="1004888" y="1797844"/>
              <a:ext cx="4064377" cy="381000"/>
            </a:xfrm>
            <a:prstGeom prst="rect">
              <a:avLst/>
            </a:prstGeom>
            <a:noFill/>
            <a:ln>
              <a:noFill/>
            </a:ln>
          </p:spPr>
          <p:txBody>
            <a:bodyPr wrap="none" lIns="0" tIns="0" rIns="0" bIns="0" anchor="t" anchorCtr="0">
              <a:spAutoFit/>
            </a:bodyPr>
            <a:lstStyle/>
            <a:p>
              <a:pPr algn="l"/>
              <a:r>
                <a:rPr lang="zh-CN" sz="1875" b="1" dirty="0">
                  <a:solidFill>
                    <a:srgbClr val="4DA3FF"/>
                  </a:solidFill>
                  <a:latin typeface="Arial"/>
                  <a:ea typeface="Microsoft YaHei"/>
                  <a:cs typeface="Arial"/>
                </a:rPr>
                <a:t>1. Less heat available outdoors</a:t>
              </a:r>
            </a:p>
          </p:txBody>
        </p:sp>
        <p:sp>
          <p:nvSpPr>
            <p:cNvPr id="11" name="Rectangle 11"/>
            <p:cNvSpPr/>
            <p:nvPr/>
          </p:nvSpPr>
          <p:spPr>
            <a:xfrm>
              <a:off x="1181100" y="2686050"/>
              <a:ext cx="1352550" cy="1752600"/>
            </a:xfrm>
            <a:prstGeom prst="roundRect">
              <a:avLst>
                <a:gd name="adj" fmla="val 8451"/>
              </a:avLst>
            </a:prstGeom>
            <a:solidFill>
              <a:srgbClr val="18283D"/>
            </a:solidFill>
            <a:ln w="28575">
              <a:solidFill>
                <a:srgbClr val="4DA3FF"/>
              </a:solidFill>
            </a:ln>
          </p:spPr>
        </p:sp>
        <p:sp>
          <p:nvSpPr>
            <p:cNvPr id="12" name="TextBox 12"/>
            <p:cNvSpPr txBox="1"/>
            <p:nvPr/>
          </p:nvSpPr>
          <p:spPr>
            <a:xfrm>
              <a:off x="1476360" y="2902268"/>
              <a:ext cx="762031" cy="274320"/>
            </a:xfrm>
            <a:prstGeom prst="rect">
              <a:avLst/>
            </a:prstGeom>
            <a:noFill/>
            <a:ln>
              <a:noFill/>
            </a:ln>
          </p:spPr>
          <p:txBody>
            <a:bodyPr wrap="none" lIns="0" tIns="0" rIns="0" bIns="0" anchor="t" anchorCtr="0">
              <a:spAutoFit/>
            </a:bodyPr>
            <a:lstStyle/>
            <a:p>
              <a:pPr algn="ctr"/>
              <a:r>
                <a:rPr lang="zh-CN" sz="1350" b="1" dirty="0">
                  <a:solidFill>
                    <a:srgbClr val="F5F7FA"/>
                  </a:solidFill>
                  <a:latin typeface="Arial"/>
                  <a:ea typeface="Microsoft YaHei"/>
                  <a:cs typeface="Arial"/>
                </a:rPr>
                <a:t>Mild day</a:t>
              </a:r>
            </a:p>
          </p:txBody>
        </p:sp>
        <p:sp>
          <p:nvSpPr>
            <p:cNvPr id="13" name="Freeform 13"/>
            <p:cNvSpPr/>
            <p:nvPr/>
          </p:nvSpPr>
          <p:spPr>
            <a:xfrm>
              <a:off x="1504950" y="3429000"/>
              <a:ext cx="704850" cy="476250"/>
            </a:xfrm>
            <a:custGeom>
              <a:avLst/>
              <a:gdLst/>
              <a:ahLst/>
              <a:cxnLst/>
              <a:rect l="l" t="t" r="r" b="b"/>
              <a:pathLst>
                <a:path w="704850" h="476250">
                  <a:moveTo>
                    <a:pt x="0" y="476250"/>
                  </a:moveTo>
                  <a:cubicBezTo>
                    <a:pt x="209550" y="0"/>
                    <a:pt x="514350" y="0"/>
                    <a:pt x="704850" y="476250"/>
                  </a:cubicBezTo>
                </a:path>
              </a:pathLst>
            </a:custGeom>
            <a:noFill/>
            <a:ln w="47625">
              <a:solidFill>
                <a:srgbClr val="4DA3FF"/>
              </a:solidFill>
            </a:ln>
          </p:spPr>
        </p:sp>
        <p:sp>
          <p:nvSpPr>
            <p:cNvPr id="14" name="Freeform 14"/>
            <p:cNvSpPr/>
            <p:nvPr/>
          </p:nvSpPr>
          <p:spPr>
            <a:xfrm>
              <a:off x="2647950" y="3562350"/>
              <a:ext cx="1238250" cy="9525"/>
            </a:xfrm>
            <a:custGeom>
              <a:avLst/>
              <a:gdLst/>
              <a:ahLst/>
              <a:cxnLst/>
              <a:rect l="l" t="t" r="r" b="b"/>
              <a:pathLst>
                <a:path w="1238250" h="9525">
                  <a:moveTo>
                    <a:pt x="0" y="0"/>
                  </a:moveTo>
                  <a:lnTo>
                    <a:pt x="1238250" y="0"/>
                  </a:lnTo>
                </a:path>
              </a:pathLst>
            </a:custGeom>
            <a:noFill/>
            <a:ln w="57150">
              <a:solidFill>
                <a:srgbClr val="4DA3FF"/>
              </a:solidFill>
              <a:tailEnd type="triangle" w="lg" len="lg"/>
            </a:ln>
          </p:spPr>
        </p:sp>
        <p:sp>
          <p:nvSpPr>
            <p:cNvPr id="15" name="TextBox 15"/>
            <p:cNvSpPr txBox="1"/>
            <p:nvPr/>
          </p:nvSpPr>
          <p:spPr>
            <a:xfrm>
              <a:off x="2420183" y="3231356"/>
              <a:ext cx="1693783" cy="228600"/>
            </a:xfrm>
            <a:prstGeom prst="rect">
              <a:avLst/>
            </a:prstGeom>
            <a:noFill/>
            <a:ln>
              <a:noFill/>
            </a:ln>
          </p:spPr>
          <p:txBody>
            <a:bodyPr wrap="none" lIns="0" tIns="0" rIns="0" bIns="0" anchor="t" anchorCtr="0">
              <a:spAutoFit/>
            </a:bodyPr>
            <a:lstStyle/>
            <a:p>
              <a:pPr algn="ctr"/>
              <a:r>
                <a:rPr lang="zh-CN" sz="1125" dirty="0">
                  <a:solidFill>
                    <a:srgbClr val="4DA3FF"/>
                  </a:solidFill>
                  <a:latin typeface="Arial"/>
                  <a:ea typeface="Microsoft YaHei"/>
                  <a:cs typeface="Arial"/>
                </a:rPr>
                <a:t>larger heat absorption</a:t>
              </a:r>
            </a:p>
          </p:txBody>
        </p:sp>
        <p:sp>
          <p:nvSpPr>
            <p:cNvPr id="16" name="Rectangle 16"/>
            <p:cNvSpPr/>
            <p:nvPr/>
          </p:nvSpPr>
          <p:spPr>
            <a:xfrm>
              <a:off x="1181100" y="4686300"/>
              <a:ext cx="1352550" cy="514350"/>
            </a:xfrm>
            <a:prstGeom prst="roundRect">
              <a:avLst>
                <a:gd name="adj" fmla="val 18519"/>
              </a:avLst>
            </a:prstGeom>
            <a:solidFill>
              <a:srgbClr val="18283D"/>
            </a:solidFill>
            <a:ln w="19050">
              <a:solidFill>
                <a:srgbClr val="38506A"/>
              </a:solidFill>
            </a:ln>
          </p:spPr>
        </p:sp>
        <p:sp>
          <p:nvSpPr>
            <p:cNvPr id="17" name="TextBox 17"/>
            <p:cNvSpPr txBox="1"/>
            <p:nvPr/>
          </p:nvSpPr>
          <p:spPr>
            <a:xfrm>
              <a:off x="1141750" y="4888706"/>
              <a:ext cx="1431250" cy="228600"/>
            </a:xfrm>
            <a:prstGeom prst="rect">
              <a:avLst/>
            </a:prstGeom>
            <a:noFill/>
            <a:ln>
              <a:noFill/>
            </a:ln>
          </p:spPr>
          <p:txBody>
            <a:bodyPr wrap="none" lIns="0" tIns="0" rIns="0" bIns="0" anchor="t" anchorCtr="0">
              <a:spAutoFit/>
            </a:bodyPr>
            <a:lstStyle/>
            <a:p>
              <a:pPr algn="ctr"/>
              <a:r>
                <a:rPr lang="zh-CN" sz="1125" dirty="0">
                  <a:solidFill>
                    <a:srgbClr val="9FB2C8"/>
                  </a:solidFill>
                  <a:latin typeface="Arial"/>
                  <a:ea typeface="Microsoft YaHei"/>
                  <a:cs typeface="Arial"/>
                </a:rPr>
                <a:t>higher source temp</a:t>
              </a:r>
            </a:p>
          </p:txBody>
        </p:sp>
        <p:sp>
          <p:nvSpPr>
            <p:cNvPr id="18" name="Rectangle 18"/>
            <p:cNvSpPr/>
            <p:nvPr/>
          </p:nvSpPr>
          <p:spPr>
            <a:xfrm>
              <a:off x="3886200" y="2686050"/>
              <a:ext cx="1352550" cy="1752600"/>
            </a:xfrm>
            <a:prstGeom prst="roundRect">
              <a:avLst>
                <a:gd name="adj" fmla="val 8451"/>
              </a:avLst>
            </a:prstGeom>
            <a:solidFill>
              <a:srgbClr val="18283D"/>
            </a:solidFill>
            <a:ln w="28575">
              <a:solidFill>
                <a:srgbClr val="4DA3FF"/>
              </a:solidFill>
            </a:ln>
          </p:spPr>
        </p:sp>
        <p:sp>
          <p:nvSpPr>
            <p:cNvPr id="19" name="TextBox 19"/>
            <p:cNvSpPr txBox="1"/>
            <p:nvPr/>
          </p:nvSpPr>
          <p:spPr>
            <a:xfrm>
              <a:off x="4124752" y="2902268"/>
              <a:ext cx="875445" cy="274320"/>
            </a:xfrm>
            <a:prstGeom prst="rect">
              <a:avLst/>
            </a:prstGeom>
            <a:noFill/>
            <a:ln>
              <a:noFill/>
            </a:ln>
          </p:spPr>
          <p:txBody>
            <a:bodyPr wrap="none" lIns="0" tIns="0" rIns="0" bIns="0" anchor="t" anchorCtr="0">
              <a:spAutoFit/>
            </a:bodyPr>
            <a:lstStyle/>
            <a:p>
              <a:pPr algn="ctr"/>
              <a:r>
                <a:rPr lang="zh-CN" sz="1350" b="1" dirty="0">
                  <a:solidFill>
                    <a:srgbClr val="F5F7FA"/>
                  </a:solidFill>
                  <a:latin typeface="Arial"/>
                  <a:ea typeface="Microsoft YaHei"/>
                  <a:cs typeface="Arial"/>
                </a:rPr>
                <a:t>Very cold</a:t>
              </a:r>
            </a:p>
          </p:txBody>
        </p:sp>
        <p:sp>
          <p:nvSpPr>
            <p:cNvPr id="20" name="Freeform 20"/>
            <p:cNvSpPr/>
            <p:nvPr/>
          </p:nvSpPr>
          <p:spPr>
            <a:xfrm>
              <a:off x="4305300" y="3676650"/>
              <a:ext cx="514350" cy="228600"/>
            </a:xfrm>
            <a:custGeom>
              <a:avLst/>
              <a:gdLst/>
              <a:ahLst/>
              <a:cxnLst/>
              <a:rect l="l" t="t" r="r" b="b"/>
              <a:pathLst>
                <a:path w="514350" h="228600">
                  <a:moveTo>
                    <a:pt x="0" y="228600"/>
                  </a:moveTo>
                  <a:cubicBezTo>
                    <a:pt x="171450" y="0"/>
                    <a:pt x="342900" y="0"/>
                    <a:pt x="514350" y="228600"/>
                  </a:cubicBezTo>
                </a:path>
              </a:pathLst>
            </a:custGeom>
            <a:noFill/>
            <a:ln w="47625">
              <a:solidFill>
                <a:srgbClr val="4DA3FF"/>
              </a:solidFill>
            </a:ln>
          </p:spPr>
        </p:sp>
        <p:sp>
          <p:nvSpPr>
            <p:cNvPr id="21" name="Freeform 21"/>
            <p:cNvSpPr/>
            <p:nvPr/>
          </p:nvSpPr>
          <p:spPr>
            <a:xfrm>
              <a:off x="2914650" y="3562350"/>
              <a:ext cx="971550" cy="9525"/>
            </a:xfrm>
            <a:custGeom>
              <a:avLst/>
              <a:gdLst/>
              <a:ahLst/>
              <a:cxnLst/>
              <a:rect l="l" t="t" r="r" b="b"/>
              <a:pathLst>
                <a:path w="971550" h="9525">
                  <a:moveTo>
                    <a:pt x="971550" y="0"/>
                  </a:moveTo>
                  <a:lnTo>
                    <a:pt x="0" y="0"/>
                  </a:lnTo>
                </a:path>
              </a:pathLst>
            </a:custGeom>
            <a:noFill/>
            <a:ln w="28575">
              <a:solidFill>
                <a:srgbClr val="4DA3FF"/>
              </a:solidFill>
              <a:tailEnd type="triangle" w="lg" len="lg"/>
            </a:ln>
          </p:spPr>
        </p:sp>
        <p:sp>
          <p:nvSpPr>
            <p:cNvPr id="22" name="TextBox 22"/>
            <p:cNvSpPr txBox="1"/>
            <p:nvPr/>
          </p:nvSpPr>
          <p:spPr>
            <a:xfrm>
              <a:off x="2667774" y="3840956"/>
              <a:ext cx="1446252" cy="228600"/>
            </a:xfrm>
            <a:prstGeom prst="rect">
              <a:avLst/>
            </a:prstGeom>
            <a:noFill/>
            <a:ln>
              <a:noFill/>
            </a:ln>
          </p:spPr>
          <p:txBody>
            <a:bodyPr wrap="none" lIns="0" tIns="0" rIns="0" bIns="0" anchor="t" anchorCtr="0">
              <a:spAutoFit/>
            </a:bodyPr>
            <a:lstStyle/>
            <a:p>
              <a:pPr algn="ctr"/>
              <a:r>
                <a:rPr lang="zh-CN" sz="1125" dirty="0">
                  <a:solidFill>
                    <a:srgbClr val="4DA3FF"/>
                  </a:solidFill>
                  <a:latin typeface="Arial"/>
                  <a:ea typeface="Microsoft YaHei"/>
                  <a:cs typeface="Arial"/>
                </a:rPr>
                <a:t>less heat to absorb</a:t>
              </a:r>
            </a:p>
          </p:txBody>
        </p:sp>
        <p:sp>
          <p:nvSpPr>
            <p:cNvPr id="23" name="Rectangle 23"/>
            <p:cNvSpPr/>
            <p:nvPr/>
          </p:nvSpPr>
          <p:spPr>
            <a:xfrm>
              <a:off x="3886200" y="4686300"/>
              <a:ext cx="1352550" cy="514350"/>
            </a:xfrm>
            <a:prstGeom prst="roundRect">
              <a:avLst>
                <a:gd name="adj" fmla="val 18519"/>
              </a:avLst>
            </a:prstGeom>
            <a:solidFill>
              <a:srgbClr val="18283D"/>
            </a:solidFill>
            <a:ln w="19050">
              <a:solidFill>
                <a:srgbClr val="38506A"/>
              </a:solidFill>
            </a:ln>
          </p:spPr>
        </p:sp>
        <p:sp>
          <p:nvSpPr>
            <p:cNvPr id="24" name="TextBox 24"/>
            <p:cNvSpPr txBox="1"/>
            <p:nvPr/>
          </p:nvSpPr>
          <p:spPr>
            <a:xfrm>
              <a:off x="3873103" y="4888706"/>
              <a:ext cx="1378744" cy="228600"/>
            </a:xfrm>
            <a:prstGeom prst="rect">
              <a:avLst/>
            </a:prstGeom>
            <a:noFill/>
            <a:ln>
              <a:noFill/>
            </a:ln>
          </p:spPr>
          <p:txBody>
            <a:bodyPr wrap="none" lIns="0" tIns="0" rIns="0" bIns="0" anchor="t" anchorCtr="0">
              <a:spAutoFit/>
            </a:bodyPr>
            <a:lstStyle/>
            <a:p>
              <a:pPr algn="ctr"/>
              <a:r>
                <a:rPr lang="zh-CN" sz="1125" dirty="0">
                  <a:solidFill>
                    <a:srgbClr val="9FB2C8"/>
                  </a:solidFill>
                  <a:latin typeface="Arial"/>
                  <a:ea typeface="Microsoft YaHei"/>
                  <a:cs typeface="Arial"/>
                </a:rPr>
                <a:t>lower source temp</a:t>
              </a:r>
            </a:p>
          </p:txBody>
        </p:sp>
      </p:grpSp>
      <p:grpSp>
        <p:nvGrpSpPr>
          <p:cNvPr id="42" name="Group 42"/>
          <p:cNvGrpSpPr/>
          <p:nvPr/>
        </p:nvGrpSpPr>
        <p:grpSpPr>
          <a:xfrm>
            <a:off x="6057900" y="1581150"/>
            <a:ext cx="5410200" cy="3981450"/>
            <a:chOff x="6057900" y="1581150"/>
            <a:chExt cx="5410200" cy="3981450"/>
          </a:xfrm>
        </p:grpSpPr>
        <p:sp>
          <p:nvSpPr>
            <p:cNvPr id="26" name="Rectangle 26"/>
            <p:cNvSpPr/>
            <p:nvPr/>
          </p:nvSpPr>
          <p:spPr>
            <a:xfrm>
              <a:off x="6057900" y="1581150"/>
              <a:ext cx="5410200" cy="3981450"/>
            </a:xfrm>
            <a:prstGeom prst="roundRect">
              <a:avLst>
                <a:gd name="adj" fmla="val 4306"/>
              </a:avLst>
            </a:prstGeom>
            <a:solidFill>
              <a:srgbClr val="142033"/>
            </a:solidFill>
            <a:ln w="19050">
              <a:solidFill>
                <a:srgbClr val="38506A"/>
              </a:solidFill>
            </a:ln>
          </p:spPr>
        </p:sp>
        <p:sp>
          <p:nvSpPr>
            <p:cNvPr id="27" name="TextBox 27"/>
            <p:cNvSpPr txBox="1"/>
            <p:nvPr/>
          </p:nvSpPr>
          <p:spPr>
            <a:xfrm>
              <a:off x="6338888" y="1797844"/>
              <a:ext cx="3749338" cy="381000"/>
            </a:xfrm>
            <a:prstGeom prst="rect">
              <a:avLst/>
            </a:prstGeom>
            <a:noFill/>
            <a:ln>
              <a:noFill/>
            </a:ln>
          </p:spPr>
          <p:txBody>
            <a:bodyPr wrap="none" lIns="0" tIns="0" rIns="0" bIns="0" anchor="t" anchorCtr="0">
              <a:spAutoFit/>
            </a:bodyPr>
            <a:lstStyle/>
            <a:p>
              <a:pPr algn="l"/>
              <a:r>
                <a:rPr lang="zh-CN" sz="1875" b="1" dirty="0">
                  <a:solidFill>
                    <a:srgbClr val="FF5C8A"/>
                  </a:solidFill>
                  <a:latin typeface="Arial"/>
                  <a:ea typeface="Microsoft YaHei"/>
                  <a:cs typeface="Arial"/>
                </a:rPr>
                <a:t>2. Compressor lift increases</a:t>
              </a:r>
            </a:p>
          </p:txBody>
        </p:sp>
        <p:sp>
          <p:nvSpPr>
            <p:cNvPr id="28" name="Line 28"/>
            <p:cNvSpPr/>
            <p:nvPr/>
          </p:nvSpPr>
          <p:spPr>
            <a:xfrm>
              <a:off x="7010400" y="4819650"/>
              <a:ext cx="3505200" cy="9525"/>
            </a:xfrm>
            <a:custGeom>
              <a:avLst/>
              <a:gdLst/>
              <a:ahLst/>
              <a:cxnLst/>
              <a:rect l="l" t="t" r="r" b="b"/>
              <a:pathLst>
                <a:path w="3505200" h="9525">
                  <a:moveTo>
                    <a:pt x="0" y="0"/>
                  </a:moveTo>
                  <a:lnTo>
                    <a:pt x="3505200" y="0"/>
                  </a:lnTo>
                </a:path>
              </a:pathLst>
            </a:custGeom>
            <a:noFill/>
            <a:ln w="28575">
              <a:solidFill>
                <a:srgbClr val="38506A"/>
              </a:solidFill>
            </a:ln>
          </p:spPr>
        </p:sp>
        <p:sp>
          <p:nvSpPr>
            <p:cNvPr id="29" name="Line 29"/>
            <p:cNvSpPr/>
            <p:nvPr/>
          </p:nvSpPr>
          <p:spPr>
            <a:xfrm>
              <a:off x="7486650" y="2457450"/>
              <a:ext cx="9525" cy="2362200"/>
            </a:xfrm>
            <a:custGeom>
              <a:avLst/>
              <a:gdLst/>
              <a:ahLst/>
              <a:cxnLst/>
              <a:rect l="l" t="t" r="r" b="b"/>
              <a:pathLst>
                <a:path w="9525" h="2362200">
                  <a:moveTo>
                    <a:pt x="0" y="2362200"/>
                  </a:moveTo>
                  <a:lnTo>
                    <a:pt x="0" y="0"/>
                  </a:lnTo>
                </a:path>
              </a:pathLst>
            </a:custGeom>
            <a:noFill/>
            <a:ln w="28575">
              <a:solidFill>
                <a:srgbClr val="F5F7FA"/>
              </a:solidFill>
            </a:ln>
          </p:spPr>
        </p:sp>
        <p:sp>
          <p:nvSpPr>
            <p:cNvPr id="30" name="Line 30"/>
            <p:cNvSpPr/>
            <p:nvPr/>
          </p:nvSpPr>
          <p:spPr>
            <a:xfrm>
              <a:off x="9486900" y="2457450"/>
              <a:ext cx="9525" cy="2362200"/>
            </a:xfrm>
            <a:custGeom>
              <a:avLst/>
              <a:gdLst/>
              <a:ahLst/>
              <a:cxnLst/>
              <a:rect l="l" t="t" r="r" b="b"/>
              <a:pathLst>
                <a:path w="9525" h="2362200">
                  <a:moveTo>
                    <a:pt x="0" y="2362200"/>
                  </a:moveTo>
                  <a:lnTo>
                    <a:pt x="0" y="0"/>
                  </a:lnTo>
                </a:path>
              </a:pathLst>
            </a:custGeom>
            <a:noFill/>
            <a:ln w="28575">
              <a:solidFill>
                <a:srgbClr val="F5F7FA"/>
              </a:solidFill>
            </a:ln>
          </p:spPr>
        </p:sp>
        <p:sp>
          <p:nvSpPr>
            <p:cNvPr id="31" name="TextBox 31"/>
            <p:cNvSpPr txBox="1"/>
            <p:nvPr/>
          </p:nvSpPr>
          <p:spPr>
            <a:xfrm>
              <a:off x="6913543" y="4983956"/>
              <a:ext cx="1146215" cy="228600"/>
            </a:xfrm>
            <a:prstGeom prst="rect">
              <a:avLst/>
            </a:prstGeom>
            <a:noFill/>
            <a:ln>
              <a:noFill/>
            </a:ln>
          </p:spPr>
          <p:txBody>
            <a:bodyPr wrap="none" lIns="0" tIns="0" rIns="0" bIns="0" anchor="t" anchorCtr="0">
              <a:spAutoFit/>
            </a:bodyPr>
            <a:lstStyle/>
            <a:p>
              <a:pPr algn="ctr"/>
              <a:r>
                <a:rPr lang="zh-CN" sz="1125" dirty="0">
                  <a:solidFill>
                    <a:srgbClr val="9FB2C8"/>
                  </a:solidFill>
                  <a:latin typeface="Arial"/>
                  <a:ea typeface="Microsoft YaHei"/>
                  <a:cs typeface="Arial"/>
                </a:rPr>
                <a:t>outdoor source</a:t>
              </a:r>
            </a:p>
          </p:txBody>
        </p:sp>
        <p:sp>
          <p:nvSpPr>
            <p:cNvPr id="32" name="TextBox 32"/>
            <p:cNvSpPr txBox="1"/>
            <p:nvPr/>
          </p:nvSpPr>
          <p:spPr>
            <a:xfrm>
              <a:off x="9075063" y="4983956"/>
              <a:ext cx="823674" cy="228600"/>
            </a:xfrm>
            <a:prstGeom prst="rect">
              <a:avLst/>
            </a:prstGeom>
            <a:noFill/>
            <a:ln>
              <a:noFill/>
            </a:ln>
          </p:spPr>
          <p:txBody>
            <a:bodyPr wrap="none" lIns="0" tIns="0" rIns="0" bIns="0" anchor="t" anchorCtr="0">
              <a:spAutoFit/>
            </a:bodyPr>
            <a:lstStyle/>
            <a:p>
              <a:pPr algn="ctr"/>
              <a:r>
                <a:rPr lang="zh-CN" sz="1125" dirty="0">
                  <a:solidFill>
                    <a:srgbClr val="9FB2C8"/>
                  </a:solidFill>
                  <a:latin typeface="Arial"/>
                  <a:ea typeface="Microsoft YaHei"/>
                  <a:cs typeface="Arial"/>
                </a:rPr>
                <a:t>indoor sink</a:t>
              </a:r>
            </a:p>
          </p:txBody>
        </p:sp>
        <p:sp>
          <p:nvSpPr>
            <p:cNvPr id="33" name="Rectangle 33"/>
            <p:cNvSpPr/>
            <p:nvPr/>
          </p:nvSpPr>
          <p:spPr>
            <a:xfrm>
              <a:off x="7162800" y="4038600"/>
              <a:ext cx="647700" cy="781050"/>
            </a:xfrm>
            <a:prstGeom prst="rect">
              <a:avLst/>
            </a:prstGeom>
            <a:solidFill>
              <a:srgbClr val="18283D"/>
            </a:solidFill>
            <a:ln w="19050">
              <a:solidFill>
                <a:srgbClr val="4DA3FF"/>
              </a:solidFill>
            </a:ln>
          </p:spPr>
        </p:sp>
        <p:sp>
          <p:nvSpPr>
            <p:cNvPr id="34" name="Rectangle 34"/>
            <p:cNvSpPr/>
            <p:nvPr/>
          </p:nvSpPr>
          <p:spPr>
            <a:xfrm>
              <a:off x="9163050" y="2895600"/>
              <a:ext cx="647700" cy="1924050"/>
            </a:xfrm>
            <a:prstGeom prst="rect">
              <a:avLst/>
            </a:prstGeom>
            <a:solidFill>
              <a:srgbClr val="18283D"/>
            </a:solidFill>
            <a:ln w="19050">
              <a:solidFill>
                <a:srgbClr val="FFB000"/>
              </a:solidFill>
            </a:ln>
          </p:spPr>
        </p:sp>
        <p:sp>
          <p:nvSpPr>
            <p:cNvPr id="35" name="Freeform 35"/>
            <p:cNvSpPr/>
            <p:nvPr/>
          </p:nvSpPr>
          <p:spPr>
            <a:xfrm>
              <a:off x="7905750" y="2895600"/>
              <a:ext cx="1162050" cy="1143000"/>
            </a:xfrm>
            <a:custGeom>
              <a:avLst/>
              <a:gdLst/>
              <a:ahLst/>
              <a:cxnLst/>
              <a:rect l="l" t="t" r="r" b="b"/>
              <a:pathLst>
                <a:path w="1162050" h="1143000">
                  <a:moveTo>
                    <a:pt x="0" y="1143000"/>
                  </a:moveTo>
                  <a:cubicBezTo>
                    <a:pt x="552450" y="838200"/>
                    <a:pt x="762000" y="476250"/>
                    <a:pt x="1162050" y="0"/>
                  </a:cubicBezTo>
                </a:path>
              </a:pathLst>
            </a:custGeom>
            <a:noFill/>
            <a:ln w="57150">
              <a:solidFill>
                <a:srgbClr val="FF5C8A"/>
              </a:solidFill>
              <a:tailEnd type="triangle" w="lg" len="lg"/>
            </a:ln>
          </p:spPr>
        </p:sp>
        <p:sp>
          <p:nvSpPr>
            <p:cNvPr id="36" name="TextBox 36"/>
            <p:cNvSpPr txBox="1"/>
            <p:nvPr/>
          </p:nvSpPr>
          <p:spPr>
            <a:xfrm>
              <a:off x="7468438" y="3375660"/>
              <a:ext cx="1979524" cy="243840"/>
            </a:xfrm>
            <a:prstGeom prst="rect">
              <a:avLst/>
            </a:prstGeom>
            <a:noFill/>
            <a:ln>
              <a:noFill/>
            </a:ln>
          </p:spPr>
          <p:txBody>
            <a:bodyPr wrap="none" lIns="0" tIns="0" rIns="0" bIns="0" anchor="t" anchorCtr="0">
              <a:spAutoFit/>
            </a:bodyPr>
            <a:lstStyle/>
            <a:p>
              <a:pPr algn="ctr"/>
              <a:r>
                <a:rPr lang="zh-CN" sz="1200" b="1" dirty="0">
                  <a:solidFill>
                    <a:srgbClr val="FF5C8A"/>
                  </a:solidFill>
                  <a:latin typeface="Arial"/>
                  <a:ea typeface="Microsoft YaHei"/>
                  <a:cs typeface="Arial"/>
                </a:rPr>
                <a:t>larger temperature lift</a:t>
              </a:r>
            </a:p>
          </p:txBody>
        </p:sp>
        <p:sp>
          <p:nvSpPr>
            <p:cNvPr id="37" name="TextBox 37"/>
            <p:cNvSpPr txBox="1"/>
            <p:nvPr/>
          </p:nvSpPr>
          <p:spPr>
            <a:xfrm>
              <a:off x="7277517" y="3631406"/>
              <a:ext cx="2361367" cy="228600"/>
            </a:xfrm>
            <a:prstGeom prst="rect">
              <a:avLst/>
            </a:prstGeom>
            <a:noFill/>
            <a:ln>
              <a:noFill/>
            </a:ln>
          </p:spPr>
          <p:txBody>
            <a:bodyPr wrap="none" lIns="0" tIns="0" rIns="0" bIns="0" anchor="t" anchorCtr="0">
              <a:spAutoFit/>
            </a:bodyPr>
            <a:lstStyle/>
            <a:p>
              <a:pPr algn="ctr"/>
              <a:r>
                <a:rPr lang="zh-CN" sz="1125" dirty="0">
                  <a:solidFill>
                    <a:srgbClr val="9FB2C8"/>
                  </a:solidFill>
                  <a:latin typeface="Arial"/>
                  <a:ea typeface="Microsoft YaHei"/>
                  <a:cs typeface="Arial"/>
                </a:rPr>
                <a:t>more compressor work required</a:t>
              </a:r>
            </a:p>
          </p:txBody>
        </p:sp>
        <p:sp>
          <p:nvSpPr>
            <p:cNvPr id="38" name="Freeform 38"/>
            <p:cNvSpPr/>
            <p:nvPr/>
          </p:nvSpPr>
          <p:spPr>
            <a:xfrm>
              <a:off x="9906000" y="2971800"/>
              <a:ext cx="781050" cy="9525"/>
            </a:xfrm>
            <a:custGeom>
              <a:avLst/>
              <a:gdLst/>
              <a:ahLst/>
              <a:cxnLst/>
              <a:rect l="l" t="t" r="r" b="b"/>
              <a:pathLst>
                <a:path w="781050" h="9525">
                  <a:moveTo>
                    <a:pt x="0" y="0"/>
                  </a:moveTo>
                  <a:lnTo>
                    <a:pt x="781050" y="0"/>
                  </a:lnTo>
                </a:path>
              </a:pathLst>
            </a:custGeom>
            <a:noFill/>
            <a:ln w="47625">
              <a:solidFill>
                <a:srgbClr val="FFB000"/>
              </a:solidFill>
              <a:tailEnd type="triangle" w="lg" len="lg"/>
            </a:ln>
          </p:spPr>
        </p:sp>
        <p:sp>
          <p:nvSpPr>
            <p:cNvPr id="39" name="TextBox 39"/>
            <p:cNvSpPr txBox="1"/>
            <p:nvPr/>
          </p:nvSpPr>
          <p:spPr>
            <a:xfrm>
              <a:off x="9609475" y="2640806"/>
              <a:ext cx="1431250" cy="228600"/>
            </a:xfrm>
            <a:prstGeom prst="rect">
              <a:avLst/>
            </a:prstGeom>
            <a:noFill/>
            <a:ln>
              <a:noFill/>
            </a:ln>
          </p:spPr>
          <p:txBody>
            <a:bodyPr wrap="none" lIns="0" tIns="0" rIns="0" bIns="0" anchor="t" anchorCtr="0">
              <a:spAutoFit/>
            </a:bodyPr>
            <a:lstStyle/>
            <a:p>
              <a:pPr algn="ctr"/>
              <a:r>
                <a:rPr lang="zh-CN" sz="1125" dirty="0">
                  <a:solidFill>
                    <a:srgbClr val="FFB000"/>
                  </a:solidFill>
                  <a:latin typeface="Arial"/>
                  <a:ea typeface="Microsoft YaHei"/>
                  <a:cs typeface="Arial"/>
                </a:rPr>
                <a:t>indoor heat demand</a:t>
              </a:r>
            </a:p>
          </p:txBody>
        </p:sp>
        <p:sp>
          <p:nvSpPr>
            <p:cNvPr id="40" name="Rectangle 40"/>
            <p:cNvSpPr/>
            <p:nvPr/>
          </p:nvSpPr>
          <p:spPr>
            <a:xfrm>
              <a:off x="6705600" y="2247900"/>
              <a:ext cx="4076700" cy="400050"/>
            </a:xfrm>
            <a:prstGeom prst="roundRect">
              <a:avLst>
                <a:gd name="adj" fmla="val 23810"/>
              </a:avLst>
            </a:prstGeom>
            <a:solidFill>
              <a:srgbClr val="18283D"/>
            </a:solidFill>
            <a:ln w="19050">
              <a:solidFill>
                <a:srgbClr val="38506A"/>
              </a:solidFill>
            </a:ln>
          </p:spPr>
        </p:sp>
        <p:sp>
          <p:nvSpPr>
            <p:cNvPr id="41" name="TextBox 41"/>
            <p:cNvSpPr txBox="1"/>
            <p:nvPr/>
          </p:nvSpPr>
          <p:spPr>
            <a:xfrm>
              <a:off x="6608445" y="2375535"/>
              <a:ext cx="4271010" cy="243840"/>
            </a:xfrm>
            <a:prstGeom prst="rect">
              <a:avLst/>
            </a:prstGeom>
            <a:noFill/>
            <a:ln>
              <a:noFill/>
            </a:ln>
          </p:spPr>
          <p:txBody>
            <a:bodyPr wrap="none" lIns="0" tIns="0" rIns="0" bIns="0" anchor="t" anchorCtr="0">
              <a:spAutoFit/>
            </a:bodyPr>
            <a:lstStyle/>
            <a:p>
              <a:pPr algn="ctr"/>
              <a:r>
                <a:rPr lang="zh-CN" sz="1200" dirty="0">
                  <a:solidFill>
                    <a:srgbClr val="F5F7FA"/>
                  </a:solidFill>
                  <a:latin typeface="Arial"/>
                  <a:ea typeface="Microsoft YaHei"/>
                  <a:cs typeface="Arial"/>
                </a:rPr>
                <a:t>Result: lower delivered capacity and often lower COP.</a:t>
              </a:r>
            </a:p>
          </p:txBody>
        </p:sp>
      </p:grpSp>
      <p:grpSp>
        <p:nvGrpSpPr>
          <p:cNvPr id="45" name="Group 45"/>
          <p:cNvGrpSpPr/>
          <p:nvPr/>
        </p:nvGrpSpPr>
        <p:grpSpPr>
          <a:xfrm>
            <a:off x="1817587" y="5810250"/>
            <a:ext cx="8556825" cy="457200"/>
            <a:chOff x="1817587" y="5810250"/>
            <a:chExt cx="8556825" cy="457200"/>
          </a:xfrm>
        </p:grpSpPr>
        <p:sp>
          <p:nvSpPr>
            <p:cNvPr id="43" name="Rectangle 43"/>
            <p:cNvSpPr/>
            <p:nvPr/>
          </p:nvSpPr>
          <p:spPr>
            <a:xfrm>
              <a:off x="2076450" y="5810250"/>
              <a:ext cx="8039100" cy="457200"/>
            </a:xfrm>
            <a:prstGeom prst="roundRect">
              <a:avLst>
                <a:gd name="adj" fmla="val 25000"/>
              </a:avLst>
            </a:prstGeom>
            <a:solidFill>
              <a:srgbClr val="18283D"/>
            </a:solidFill>
            <a:ln w="19050">
              <a:solidFill>
                <a:srgbClr val="FF7A70"/>
              </a:solidFill>
            </a:ln>
          </p:spPr>
        </p:sp>
        <p:sp>
          <p:nvSpPr>
            <p:cNvPr id="44" name="TextBox 44"/>
            <p:cNvSpPr txBox="1"/>
            <p:nvPr/>
          </p:nvSpPr>
          <p:spPr>
            <a:xfrm>
              <a:off x="1817587" y="5958364"/>
              <a:ext cx="8556825" cy="259080"/>
            </a:xfrm>
            <a:prstGeom prst="rect">
              <a:avLst/>
            </a:prstGeom>
            <a:noFill/>
            <a:ln>
              <a:noFill/>
            </a:ln>
          </p:spPr>
          <p:txBody>
            <a:bodyPr wrap="none" lIns="0" tIns="0" rIns="0" bIns="0" anchor="t" anchorCtr="0">
              <a:spAutoFit/>
            </a:bodyPr>
            <a:lstStyle/>
            <a:p>
              <a:pPr algn="ctr"/>
              <a:r>
                <a:rPr lang="zh-CN" sz="1275" b="1" dirty="0">
                  <a:solidFill>
                    <a:srgbClr val="FF7A70"/>
                  </a:solidFill>
                  <a:latin typeface="Arial"/>
                  <a:ea typeface="Microsoft YaHei"/>
                  <a:cs typeface="Arial"/>
                </a:rPr>
                <a:t>Cold weather limitation is physical: less source heat plus a larger pressure and temperature lift.</a:t>
              </a:r>
            </a:p>
          </p:txBody>
        </p:sp>
      </p:grpSp>
      <p:sp>
        <p:nvSpPr>
          <p:cNvPr id="46" name="TextBox 46"/>
          <p:cNvSpPr txBox="1"/>
          <p:nvPr/>
        </p:nvSpPr>
        <p:spPr>
          <a:xfrm>
            <a:off x="501968" y="6409849"/>
            <a:ext cx="4802862" cy="198120"/>
          </a:xfrm>
          <a:prstGeom prst="rect">
            <a:avLst/>
          </a:prstGeom>
          <a:noFill/>
          <a:ln>
            <a:noFill/>
          </a:ln>
        </p:spPr>
        <p:txBody>
          <a:bodyPr wrap="none" lIns="0" tIns="0" rIns="0" bIns="0" anchor="t" anchorCtr="0">
            <a:spAutoFit/>
          </a:bodyPr>
          <a:lstStyle/>
          <a:p>
            <a:pPr algn="l"/>
            <a:r>
              <a:rPr lang="zh-CN" sz="975" dirty="0">
                <a:solidFill>
                  <a:srgbClr val="9FB2C8"/>
                </a:solidFill>
                <a:latin typeface="Arial"/>
                <a:ea typeface="Microsoft YaHei"/>
                <a:cs typeface="Arial"/>
              </a:rPr>
              <a:t>No unsupported numeric claim is made; the explanation remains qualitative.</a:t>
            </a:r>
          </a:p>
        </p:txBody>
      </p:sp>
      <p:sp>
        <p:nvSpPr>
          <p:cNvPr id="47" name="TextBox 47"/>
          <p:cNvSpPr txBox="1"/>
          <p:nvPr/>
        </p:nvSpPr>
        <p:spPr>
          <a:xfrm>
            <a:off x="11398568" y="6409849"/>
            <a:ext cx="460319" cy="198120"/>
          </a:xfrm>
          <a:prstGeom prst="rect">
            <a:avLst/>
          </a:prstGeom>
          <a:noFill/>
          <a:ln>
            <a:noFill/>
          </a:ln>
        </p:spPr>
        <p:txBody>
          <a:bodyPr wrap="none" lIns="0" tIns="0" rIns="0" bIns="0" anchor="t" anchorCtr="0">
            <a:spAutoFit/>
          </a:bodyPr>
          <a:lstStyle/>
          <a:p>
            <a:pPr algn="l"/>
            <a:r>
              <a:rPr lang="zh-CN" sz="975" dirty="0">
                <a:solidFill>
                  <a:srgbClr val="9FB2C8"/>
                </a:solidFill>
                <a:latin typeface="Consolas"/>
                <a:ea typeface="Microsoft YaHei"/>
                <a:cs typeface="Consolas"/>
              </a:rPr>
              <a:t>08 / 09</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image">
                                      <p:cBhvr>
                                        <p:cTn id="11" dur="400"/>
                                        <p:tgtEl>
                                          <p:spTgt spid="42"/>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fade">
                                      <p:cBhvr>
                                        <p:cTn id="1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42" grpId="0"/>
      <p:bldP spid="4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E1117"/>
          </a:solidFill>
          <a:ln>
            <a:noFill/>
          </a:ln>
        </p:spPr>
      </p:sp>
      <p:sp>
        <p:nvSpPr>
          <p:cNvPr id="3" name="Freeform 3"/>
          <p:cNvSpPr/>
          <p:nvPr/>
        </p:nvSpPr>
        <p:spPr>
          <a:xfrm>
            <a:off x="762000" y="0"/>
            <a:ext cx="10668000" cy="6858000"/>
          </a:xfrm>
          <a:custGeom>
            <a:avLst/>
            <a:gdLst/>
            <a:ahLst/>
            <a:cxnLst/>
            <a:rect l="l" t="t" r="r" b="b"/>
            <a:pathLst>
              <a:path w="10668000" h="6858000">
                <a:moveTo>
                  <a:pt x="0" y="0"/>
                </a:moveTo>
                <a:lnTo>
                  <a:pt x="0" y="6858000"/>
                </a:lnTo>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path>
            </a:pathLst>
          </a:custGeom>
          <a:solidFill>
            <a:srgbClr val="000000"/>
          </a:solidFill>
          <a:ln w="9525">
            <a:solidFill>
              <a:srgbClr val="25364A"/>
            </a:solidFill>
          </a:ln>
        </p:spPr>
      </p:sp>
      <p:sp>
        <p:nvSpPr>
          <p:cNvPr id="4" name="Freeform 4"/>
          <p:cNvSpPr/>
          <p:nvPr/>
        </p:nvSpPr>
        <p:spPr>
          <a:xfrm>
            <a:off x="0" y="762000"/>
            <a:ext cx="12192000" cy="5334000"/>
          </a:xfrm>
          <a:custGeom>
            <a:avLst/>
            <a:gdLst/>
            <a:ahLst/>
            <a:cxnLst/>
            <a:rect l="l" t="t" r="r" b="b"/>
            <a:pathLst>
              <a:path w="12192000" h="5334000">
                <a:moveTo>
                  <a:pt x="0" y="0"/>
                </a:moveTo>
                <a:lnTo>
                  <a:pt x="12192000" y="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path>
            </a:pathLst>
          </a:custGeom>
          <a:solidFill>
            <a:srgbClr val="000000"/>
          </a:solidFill>
          <a:ln w="9525">
            <a:solidFill>
              <a:srgbClr val="25364A"/>
            </a:solidFill>
          </a:ln>
        </p:spPr>
      </p:sp>
      <p:grpSp>
        <p:nvGrpSpPr>
          <p:cNvPr id="8" name="Group 8"/>
          <p:cNvGrpSpPr/>
          <p:nvPr/>
        </p:nvGrpSpPr>
        <p:grpSpPr>
          <a:xfrm>
            <a:off x="481965" y="334328"/>
            <a:ext cx="11195685" cy="780097"/>
            <a:chOff x="481965" y="334328"/>
            <a:chExt cx="11195685" cy="780097"/>
          </a:xfrm>
        </p:grpSpPr>
        <p:sp>
          <p:nvSpPr>
            <p:cNvPr id="5" name="TextBox 5"/>
            <p:cNvSpPr txBox="1"/>
            <p:nvPr/>
          </p:nvSpPr>
          <p:spPr>
            <a:xfrm>
              <a:off x="481965" y="334328"/>
              <a:ext cx="6991436" cy="518160"/>
            </a:xfrm>
            <a:prstGeom prst="rect">
              <a:avLst/>
            </a:prstGeom>
            <a:noFill/>
            <a:ln>
              <a:noFill/>
            </a:ln>
          </p:spPr>
          <p:txBody>
            <a:bodyPr wrap="none" lIns="0" tIns="0" rIns="0" bIns="0" anchor="t" anchorCtr="0">
              <a:spAutoFit/>
            </a:bodyPr>
            <a:lstStyle/>
            <a:p>
              <a:pPr algn="l"/>
              <a:r>
                <a:rPr lang="zh-CN" sz="2550" b="1" dirty="0">
                  <a:solidFill>
                    <a:srgbClr val="F5F7FA"/>
                  </a:solidFill>
                  <a:latin typeface="Arial"/>
                  <a:ea typeface="Microsoft YaHei"/>
                  <a:cs typeface="Arial"/>
                </a:rPr>
                <a:t>Troubleshoot by Following the Heat Path</a:t>
              </a:r>
            </a:p>
          </p:txBody>
        </p:sp>
        <p:sp>
          <p:nvSpPr>
            <p:cNvPr id="6" name="TextBox 6"/>
            <p:cNvSpPr txBox="1"/>
            <p:nvPr/>
          </p:nvSpPr>
          <p:spPr>
            <a:xfrm>
              <a:off x="497205" y="768668"/>
              <a:ext cx="6362081" cy="274320"/>
            </a:xfrm>
            <a:prstGeom prst="rect">
              <a:avLst/>
            </a:prstGeom>
            <a:noFill/>
            <a:ln>
              <a:noFill/>
            </a:ln>
          </p:spPr>
          <p:txBody>
            <a:bodyPr wrap="none" lIns="0" tIns="0" rIns="0" bIns="0" anchor="t" anchorCtr="0">
              <a:spAutoFit/>
            </a:bodyPr>
            <a:lstStyle/>
            <a:p>
              <a:pPr algn="l"/>
              <a:r>
                <a:rPr lang="zh-CN" sz="1350" dirty="0">
                  <a:solidFill>
                    <a:srgbClr val="9FB2C8"/>
                  </a:solidFill>
                  <a:latin typeface="Arial"/>
                  <a:ea typeface="Microsoft YaHei"/>
                  <a:cs typeface="Arial"/>
                </a:rPr>
                <a:t>For facilities teams, the cycle diagram becomes an operating checklist.</a:t>
              </a:r>
            </a:p>
          </p:txBody>
        </p:sp>
        <p:sp>
          <p:nvSpPr>
            <p:cNvPr id="7" name="Line 7"/>
            <p:cNvSpPr/>
            <p:nvPr/>
          </p:nvSpPr>
          <p:spPr>
            <a:xfrm>
              <a:off x="514350" y="1104900"/>
              <a:ext cx="11163300" cy="9525"/>
            </a:xfrm>
            <a:custGeom>
              <a:avLst/>
              <a:gdLst/>
              <a:ahLst/>
              <a:cxnLst/>
              <a:rect l="l" t="t" r="r" b="b"/>
              <a:pathLst>
                <a:path w="11163300" h="9525">
                  <a:moveTo>
                    <a:pt x="0" y="0"/>
                  </a:moveTo>
                  <a:lnTo>
                    <a:pt x="11163300" y="0"/>
                  </a:lnTo>
                </a:path>
              </a:pathLst>
            </a:custGeom>
            <a:noFill/>
            <a:ln w="19050">
              <a:solidFill>
                <a:srgbClr val="38506A"/>
              </a:solidFill>
            </a:ln>
          </p:spPr>
        </p:sp>
      </p:grpSp>
      <p:grpSp>
        <p:nvGrpSpPr>
          <p:cNvPr id="38" name="Group 38"/>
          <p:cNvGrpSpPr/>
          <p:nvPr/>
        </p:nvGrpSpPr>
        <p:grpSpPr>
          <a:xfrm>
            <a:off x="666750" y="1600200"/>
            <a:ext cx="10858500" cy="3143250"/>
            <a:chOff x="666750" y="1600200"/>
            <a:chExt cx="10858500" cy="3143250"/>
          </a:xfrm>
        </p:grpSpPr>
        <p:sp>
          <p:nvSpPr>
            <p:cNvPr id="9" name="Rectangle 9"/>
            <p:cNvSpPr/>
            <p:nvPr/>
          </p:nvSpPr>
          <p:spPr>
            <a:xfrm>
              <a:off x="666750" y="1600200"/>
              <a:ext cx="10858500" cy="3143250"/>
            </a:xfrm>
            <a:prstGeom prst="roundRect">
              <a:avLst>
                <a:gd name="adj" fmla="val 5455"/>
              </a:avLst>
            </a:prstGeom>
            <a:solidFill>
              <a:srgbClr val="142033"/>
            </a:solidFill>
            <a:ln w="19050">
              <a:solidFill>
                <a:srgbClr val="38506A"/>
              </a:solidFill>
            </a:ln>
          </p:spPr>
        </p:sp>
        <p:sp>
          <p:nvSpPr>
            <p:cNvPr id="10" name="Rectangle 10"/>
            <p:cNvSpPr/>
            <p:nvPr/>
          </p:nvSpPr>
          <p:spPr>
            <a:xfrm>
              <a:off x="1066800" y="2247900"/>
              <a:ext cx="1600200" cy="952500"/>
            </a:xfrm>
            <a:prstGeom prst="roundRect">
              <a:avLst>
                <a:gd name="adj" fmla="val 12000"/>
              </a:avLst>
            </a:prstGeom>
            <a:solidFill>
              <a:srgbClr val="18283D"/>
            </a:solidFill>
            <a:ln w="28575">
              <a:solidFill>
                <a:srgbClr val="4DA3FF"/>
              </a:solidFill>
            </a:ln>
          </p:spPr>
        </p:sp>
        <p:sp>
          <p:nvSpPr>
            <p:cNvPr id="11" name="TextBox 11"/>
            <p:cNvSpPr txBox="1"/>
            <p:nvPr/>
          </p:nvSpPr>
          <p:spPr>
            <a:xfrm>
              <a:off x="1494646" y="2379821"/>
              <a:ext cx="744509" cy="289560"/>
            </a:xfrm>
            <a:prstGeom prst="rect">
              <a:avLst/>
            </a:prstGeom>
            <a:noFill/>
            <a:ln>
              <a:noFill/>
            </a:ln>
          </p:spPr>
          <p:txBody>
            <a:bodyPr wrap="none" lIns="0" tIns="0" rIns="0" bIns="0" anchor="t" anchorCtr="0">
              <a:spAutoFit/>
            </a:bodyPr>
            <a:lstStyle/>
            <a:p>
              <a:pPr algn="ctr"/>
              <a:r>
                <a:rPr lang="zh-CN" sz="1425" b="1" dirty="0">
                  <a:solidFill>
                    <a:srgbClr val="F5F7FA"/>
                  </a:solidFill>
                  <a:latin typeface="Arial"/>
                  <a:ea typeface="Microsoft YaHei"/>
                  <a:cs typeface="Arial"/>
                </a:rPr>
                <a:t>Airflow</a:t>
              </a:r>
            </a:p>
          </p:txBody>
        </p:sp>
        <p:sp>
          <p:nvSpPr>
            <p:cNvPr id="12" name="TextBox 12"/>
            <p:cNvSpPr txBox="1"/>
            <p:nvPr/>
          </p:nvSpPr>
          <p:spPr>
            <a:xfrm>
              <a:off x="1132475" y="2706052"/>
              <a:ext cx="1468850" cy="213360"/>
            </a:xfrm>
            <a:prstGeom prst="rect">
              <a:avLst/>
            </a:prstGeom>
            <a:noFill/>
            <a:ln>
              <a:noFill/>
            </a:ln>
          </p:spPr>
          <p:txBody>
            <a:bodyPr wrap="none" lIns="0" tIns="0" rIns="0" bIns="0" anchor="t" anchorCtr="0">
              <a:spAutoFit/>
            </a:bodyPr>
            <a:lstStyle/>
            <a:p>
              <a:pPr algn="ctr"/>
              <a:r>
                <a:rPr lang="zh-CN" sz="1050" dirty="0">
                  <a:solidFill>
                    <a:srgbClr val="9FB2C8"/>
                  </a:solidFill>
                  <a:latin typeface="Arial"/>
                  <a:ea typeface="Microsoft YaHei"/>
                  <a:cs typeface="Arial"/>
                </a:rPr>
                <a:t>filters, fan, blocked</a:t>
              </a:r>
            </a:p>
          </p:txBody>
        </p:sp>
        <p:sp>
          <p:nvSpPr>
            <p:cNvPr id="13" name="TextBox 13"/>
            <p:cNvSpPr txBox="1"/>
            <p:nvPr/>
          </p:nvSpPr>
          <p:spPr>
            <a:xfrm>
              <a:off x="1114973" y="2915602"/>
              <a:ext cx="1503855" cy="213360"/>
            </a:xfrm>
            <a:prstGeom prst="rect">
              <a:avLst/>
            </a:prstGeom>
            <a:noFill/>
            <a:ln>
              <a:noFill/>
            </a:ln>
          </p:spPr>
          <p:txBody>
            <a:bodyPr wrap="none" lIns="0" tIns="0" rIns="0" bIns="0" anchor="t" anchorCtr="0">
              <a:spAutoFit/>
            </a:bodyPr>
            <a:lstStyle/>
            <a:p>
              <a:pPr algn="ctr"/>
              <a:r>
                <a:rPr lang="zh-CN" sz="1050" dirty="0">
                  <a:solidFill>
                    <a:srgbClr val="9FB2C8"/>
                  </a:solidFill>
                  <a:latin typeface="Arial"/>
                  <a:ea typeface="Microsoft YaHei"/>
                  <a:cs typeface="Arial"/>
                </a:rPr>
                <a:t>supply or return path</a:t>
              </a:r>
            </a:p>
          </p:txBody>
        </p:sp>
        <p:sp>
          <p:nvSpPr>
            <p:cNvPr id="14" name="Rectangle 14"/>
            <p:cNvSpPr/>
            <p:nvPr/>
          </p:nvSpPr>
          <p:spPr>
            <a:xfrm>
              <a:off x="3143250" y="2247900"/>
              <a:ext cx="1600200" cy="952500"/>
            </a:xfrm>
            <a:prstGeom prst="roundRect">
              <a:avLst>
                <a:gd name="adj" fmla="val 12000"/>
              </a:avLst>
            </a:prstGeom>
            <a:solidFill>
              <a:srgbClr val="18283D"/>
            </a:solidFill>
            <a:ln w="28575">
              <a:solidFill>
                <a:srgbClr val="4DA3FF"/>
              </a:solidFill>
            </a:ln>
          </p:spPr>
        </p:sp>
        <p:sp>
          <p:nvSpPr>
            <p:cNvPr id="15" name="TextBox 15"/>
            <p:cNvSpPr txBox="1"/>
            <p:nvPr/>
          </p:nvSpPr>
          <p:spPr>
            <a:xfrm>
              <a:off x="3700787" y="2379821"/>
              <a:ext cx="485126" cy="289560"/>
            </a:xfrm>
            <a:prstGeom prst="rect">
              <a:avLst/>
            </a:prstGeom>
            <a:noFill/>
            <a:ln>
              <a:noFill/>
            </a:ln>
          </p:spPr>
          <p:txBody>
            <a:bodyPr wrap="none" lIns="0" tIns="0" rIns="0" bIns="0" anchor="t" anchorCtr="0">
              <a:spAutoFit/>
            </a:bodyPr>
            <a:lstStyle/>
            <a:p>
              <a:pPr algn="ctr"/>
              <a:r>
                <a:rPr lang="zh-CN" sz="1425" b="1" dirty="0">
                  <a:solidFill>
                    <a:srgbClr val="F5F7FA"/>
                  </a:solidFill>
                  <a:latin typeface="Arial"/>
                  <a:ea typeface="Microsoft YaHei"/>
                  <a:cs typeface="Arial"/>
                </a:rPr>
                <a:t>Coils</a:t>
              </a:r>
            </a:p>
          </p:txBody>
        </p:sp>
        <p:sp>
          <p:nvSpPr>
            <p:cNvPr id="16" name="TextBox 16"/>
            <p:cNvSpPr txBox="1"/>
            <p:nvPr/>
          </p:nvSpPr>
          <p:spPr>
            <a:xfrm>
              <a:off x="3324439" y="2706052"/>
              <a:ext cx="1237821" cy="213360"/>
            </a:xfrm>
            <a:prstGeom prst="rect">
              <a:avLst/>
            </a:prstGeom>
            <a:noFill/>
            <a:ln>
              <a:noFill/>
            </a:ln>
          </p:spPr>
          <p:txBody>
            <a:bodyPr wrap="none" lIns="0" tIns="0" rIns="0" bIns="0" anchor="t" anchorCtr="0">
              <a:spAutoFit/>
            </a:bodyPr>
            <a:lstStyle/>
            <a:p>
              <a:pPr algn="ctr"/>
              <a:r>
                <a:rPr lang="zh-CN" sz="1050" dirty="0">
                  <a:solidFill>
                    <a:srgbClr val="9FB2C8"/>
                  </a:solidFill>
                  <a:latin typeface="Arial"/>
                  <a:ea typeface="Microsoft YaHei"/>
                  <a:cs typeface="Arial"/>
                </a:rPr>
                <a:t>ice, dirt, blocked</a:t>
              </a:r>
            </a:p>
          </p:txBody>
        </p:sp>
        <p:sp>
          <p:nvSpPr>
            <p:cNvPr id="17" name="TextBox 17"/>
            <p:cNvSpPr txBox="1"/>
            <p:nvPr/>
          </p:nvSpPr>
          <p:spPr>
            <a:xfrm>
              <a:off x="3156418" y="2915602"/>
              <a:ext cx="1573863" cy="213360"/>
            </a:xfrm>
            <a:prstGeom prst="rect">
              <a:avLst/>
            </a:prstGeom>
            <a:noFill/>
            <a:ln>
              <a:noFill/>
            </a:ln>
          </p:spPr>
          <p:txBody>
            <a:bodyPr wrap="none" lIns="0" tIns="0" rIns="0" bIns="0" anchor="t" anchorCtr="0">
              <a:spAutoFit/>
            </a:bodyPr>
            <a:lstStyle/>
            <a:p>
              <a:pPr algn="ctr"/>
              <a:r>
                <a:rPr lang="zh-CN" sz="1050" dirty="0">
                  <a:solidFill>
                    <a:srgbClr val="9FB2C8"/>
                  </a:solidFill>
                  <a:latin typeface="Arial"/>
                  <a:ea typeface="Microsoft YaHei"/>
                  <a:cs typeface="Arial"/>
                </a:rPr>
                <a:t>heat exchange surface</a:t>
              </a:r>
            </a:p>
          </p:txBody>
        </p:sp>
        <p:sp>
          <p:nvSpPr>
            <p:cNvPr id="18" name="Rectangle 18"/>
            <p:cNvSpPr/>
            <p:nvPr/>
          </p:nvSpPr>
          <p:spPr>
            <a:xfrm>
              <a:off x="5219700" y="2247900"/>
              <a:ext cx="1600200" cy="952500"/>
            </a:xfrm>
            <a:prstGeom prst="roundRect">
              <a:avLst>
                <a:gd name="adj" fmla="val 12000"/>
              </a:avLst>
            </a:prstGeom>
            <a:solidFill>
              <a:srgbClr val="18283D"/>
            </a:solidFill>
            <a:ln w="28575">
              <a:solidFill>
                <a:srgbClr val="FFB000"/>
              </a:solidFill>
            </a:ln>
          </p:spPr>
        </p:sp>
        <p:sp>
          <p:nvSpPr>
            <p:cNvPr id="19" name="TextBox 19"/>
            <p:cNvSpPr txBox="1"/>
            <p:nvPr/>
          </p:nvSpPr>
          <p:spPr>
            <a:xfrm>
              <a:off x="5617617" y="2379821"/>
              <a:ext cx="804366" cy="289560"/>
            </a:xfrm>
            <a:prstGeom prst="rect">
              <a:avLst/>
            </a:prstGeom>
            <a:noFill/>
            <a:ln>
              <a:noFill/>
            </a:ln>
          </p:spPr>
          <p:txBody>
            <a:bodyPr wrap="none" lIns="0" tIns="0" rIns="0" bIns="0" anchor="t" anchorCtr="0">
              <a:spAutoFit/>
            </a:bodyPr>
            <a:lstStyle/>
            <a:p>
              <a:pPr algn="ctr"/>
              <a:r>
                <a:rPr lang="zh-CN" sz="1425" b="1" dirty="0">
                  <a:solidFill>
                    <a:srgbClr val="F5F7FA"/>
                  </a:solidFill>
                  <a:latin typeface="Arial"/>
                  <a:ea typeface="Microsoft YaHei"/>
                  <a:cs typeface="Arial"/>
                </a:rPr>
                <a:t>Defrost</a:t>
              </a:r>
            </a:p>
          </p:txBody>
        </p:sp>
        <p:sp>
          <p:nvSpPr>
            <p:cNvPr id="20" name="TextBox 20"/>
            <p:cNvSpPr txBox="1"/>
            <p:nvPr/>
          </p:nvSpPr>
          <p:spPr>
            <a:xfrm>
              <a:off x="5383387" y="2706052"/>
              <a:ext cx="1272826" cy="213360"/>
            </a:xfrm>
            <a:prstGeom prst="rect">
              <a:avLst/>
            </a:prstGeom>
            <a:noFill/>
            <a:ln>
              <a:noFill/>
            </a:ln>
          </p:spPr>
          <p:txBody>
            <a:bodyPr wrap="none" lIns="0" tIns="0" rIns="0" bIns="0" anchor="t" anchorCtr="0">
              <a:spAutoFit/>
            </a:bodyPr>
            <a:lstStyle/>
            <a:p>
              <a:pPr algn="ctr"/>
              <a:r>
                <a:rPr lang="zh-CN" sz="1050" dirty="0">
                  <a:solidFill>
                    <a:srgbClr val="9FB2C8"/>
                  </a:solidFill>
                  <a:latin typeface="Arial"/>
                  <a:ea typeface="Microsoft YaHei"/>
                  <a:cs typeface="Arial"/>
                </a:rPr>
                <a:t>outdoor coil needs</a:t>
              </a:r>
            </a:p>
          </p:txBody>
        </p:sp>
        <p:sp>
          <p:nvSpPr>
            <p:cNvPr id="21" name="TextBox 21"/>
            <p:cNvSpPr txBox="1"/>
            <p:nvPr/>
          </p:nvSpPr>
          <p:spPr>
            <a:xfrm>
              <a:off x="5267873" y="2915602"/>
              <a:ext cx="1503855" cy="213360"/>
            </a:xfrm>
            <a:prstGeom prst="rect">
              <a:avLst/>
            </a:prstGeom>
            <a:noFill/>
            <a:ln>
              <a:noFill/>
            </a:ln>
          </p:spPr>
          <p:txBody>
            <a:bodyPr wrap="none" lIns="0" tIns="0" rIns="0" bIns="0" anchor="t" anchorCtr="0">
              <a:spAutoFit/>
            </a:bodyPr>
            <a:lstStyle/>
            <a:p>
              <a:pPr algn="ctr"/>
              <a:r>
                <a:rPr lang="zh-CN" sz="1050" dirty="0">
                  <a:solidFill>
                    <a:srgbClr val="9FB2C8"/>
                  </a:solidFill>
                  <a:latin typeface="Arial"/>
                  <a:ea typeface="Microsoft YaHei"/>
                  <a:cs typeface="Arial"/>
                </a:rPr>
                <a:t>clear heat absorption</a:t>
              </a:r>
            </a:p>
          </p:txBody>
        </p:sp>
        <p:sp>
          <p:nvSpPr>
            <p:cNvPr id="22" name="Rectangle 22"/>
            <p:cNvSpPr/>
            <p:nvPr/>
          </p:nvSpPr>
          <p:spPr>
            <a:xfrm>
              <a:off x="7296150" y="2247900"/>
              <a:ext cx="1600200" cy="952500"/>
            </a:xfrm>
            <a:prstGeom prst="roundRect">
              <a:avLst>
                <a:gd name="adj" fmla="val 12000"/>
              </a:avLst>
            </a:prstGeom>
            <a:solidFill>
              <a:srgbClr val="18283D"/>
            </a:solidFill>
            <a:ln w="28575">
              <a:solidFill>
                <a:srgbClr val="3DDC97"/>
              </a:solidFill>
            </a:ln>
          </p:spPr>
        </p:sp>
        <p:sp>
          <p:nvSpPr>
            <p:cNvPr id="23" name="TextBox 23"/>
            <p:cNvSpPr txBox="1"/>
            <p:nvPr/>
          </p:nvSpPr>
          <p:spPr>
            <a:xfrm>
              <a:off x="7364851" y="2379821"/>
              <a:ext cx="1462798" cy="289560"/>
            </a:xfrm>
            <a:prstGeom prst="rect">
              <a:avLst/>
            </a:prstGeom>
            <a:noFill/>
            <a:ln>
              <a:noFill/>
            </a:ln>
          </p:spPr>
          <p:txBody>
            <a:bodyPr wrap="none" lIns="0" tIns="0" rIns="0" bIns="0" anchor="t" anchorCtr="0">
              <a:spAutoFit/>
            </a:bodyPr>
            <a:lstStyle/>
            <a:p>
              <a:pPr algn="ctr"/>
              <a:r>
                <a:rPr lang="zh-CN" sz="1425" b="1" dirty="0">
                  <a:solidFill>
                    <a:srgbClr val="F5F7FA"/>
                  </a:solidFill>
                  <a:latin typeface="Arial"/>
                  <a:ea typeface="Microsoft YaHei"/>
                  <a:cs typeface="Arial"/>
                </a:rPr>
                <a:t>Mode and valve</a:t>
              </a:r>
            </a:p>
          </p:txBody>
        </p:sp>
        <p:sp>
          <p:nvSpPr>
            <p:cNvPr id="24" name="TextBox 24"/>
            <p:cNvSpPr txBox="1"/>
            <p:nvPr/>
          </p:nvSpPr>
          <p:spPr>
            <a:xfrm>
              <a:off x="7400330" y="2706052"/>
              <a:ext cx="1391841" cy="213360"/>
            </a:xfrm>
            <a:prstGeom prst="rect">
              <a:avLst/>
            </a:prstGeom>
            <a:noFill/>
            <a:ln>
              <a:noFill/>
            </a:ln>
          </p:spPr>
          <p:txBody>
            <a:bodyPr wrap="none" lIns="0" tIns="0" rIns="0" bIns="0" anchor="t" anchorCtr="0">
              <a:spAutoFit/>
            </a:bodyPr>
            <a:lstStyle/>
            <a:p>
              <a:pPr algn="ctr"/>
              <a:r>
                <a:rPr lang="zh-CN" sz="1050" dirty="0">
                  <a:solidFill>
                    <a:srgbClr val="9FB2C8"/>
                  </a:solidFill>
                  <a:latin typeface="Arial"/>
                  <a:ea typeface="Microsoft YaHei"/>
                  <a:cs typeface="Arial"/>
                </a:rPr>
                <a:t>heating/cooling role</a:t>
              </a:r>
            </a:p>
          </p:txBody>
        </p:sp>
        <p:sp>
          <p:nvSpPr>
            <p:cNvPr id="25" name="TextBox 25"/>
            <p:cNvSpPr txBox="1"/>
            <p:nvPr/>
          </p:nvSpPr>
          <p:spPr>
            <a:xfrm>
              <a:off x="7484340" y="2915602"/>
              <a:ext cx="1223820" cy="213360"/>
            </a:xfrm>
            <a:prstGeom prst="rect">
              <a:avLst/>
            </a:prstGeom>
            <a:noFill/>
            <a:ln>
              <a:noFill/>
            </a:ln>
          </p:spPr>
          <p:txBody>
            <a:bodyPr wrap="none" lIns="0" tIns="0" rIns="0" bIns="0" anchor="t" anchorCtr="0">
              <a:spAutoFit/>
            </a:bodyPr>
            <a:lstStyle/>
            <a:p>
              <a:pPr algn="ctr"/>
              <a:r>
                <a:rPr lang="zh-CN" sz="1050" dirty="0">
                  <a:solidFill>
                    <a:srgbClr val="9FB2C8"/>
                  </a:solidFill>
                  <a:latin typeface="Arial"/>
                  <a:ea typeface="Microsoft YaHei"/>
                  <a:cs typeface="Arial"/>
                </a:rPr>
                <a:t>switch is correct</a:t>
              </a:r>
            </a:p>
          </p:txBody>
        </p:sp>
        <p:sp>
          <p:nvSpPr>
            <p:cNvPr id="26" name="Rectangle 26"/>
            <p:cNvSpPr/>
            <p:nvPr/>
          </p:nvSpPr>
          <p:spPr>
            <a:xfrm>
              <a:off x="9372600" y="2247900"/>
              <a:ext cx="1600200" cy="952500"/>
            </a:xfrm>
            <a:prstGeom prst="roundRect">
              <a:avLst>
                <a:gd name="adj" fmla="val 12000"/>
              </a:avLst>
            </a:prstGeom>
            <a:solidFill>
              <a:srgbClr val="18283D"/>
            </a:solidFill>
            <a:ln w="28575">
              <a:solidFill>
                <a:srgbClr val="FF5C8A"/>
              </a:solidFill>
            </a:ln>
          </p:spPr>
        </p:sp>
        <p:sp>
          <p:nvSpPr>
            <p:cNvPr id="27" name="TextBox 27"/>
            <p:cNvSpPr txBox="1"/>
            <p:nvPr/>
          </p:nvSpPr>
          <p:spPr>
            <a:xfrm>
              <a:off x="9960066" y="2379821"/>
              <a:ext cx="425269" cy="289560"/>
            </a:xfrm>
            <a:prstGeom prst="rect">
              <a:avLst/>
            </a:prstGeom>
            <a:noFill/>
            <a:ln>
              <a:noFill/>
            </a:ln>
          </p:spPr>
          <p:txBody>
            <a:bodyPr wrap="none" lIns="0" tIns="0" rIns="0" bIns="0" anchor="t" anchorCtr="0">
              <a:spAutoFit/>
            </a:bodyPr>
            <a:lstStyle/>
            <a:p>
              <a:pPr algn="ctr"/>
              <a:r>
                <a:rPr lang="zh-CN" sz="1425" b="1" dirty="0">
                  <a:solidFill>
                    <a:srgbClr val="F5F7FA"/>
                  </a:solidFill>
                  <a:latin typeface="Arial"/>
                  <a:ea typeface="Microsoft YaHei"/>
                  <a:cs typeface="Arial"/>
                </a:rPr>
                <a:t>Lift</a:t>
              </a:r>
            </a:p>
          </p:txBody>
        </p:sp>
        <p:sp>
          <p:nvSpPr>
            <p:cNvPr id="28" name="TextBox 28"/>
            <p:cNvSpPr txBox="1"/>
            <p:nvPr/>
          </p:nvSpPr>
          <p:spPr>
            <a:xfrm>
              <a:off x="9564291" y="2706052"/>
              <a:ext cx="1216819" cy="213360"/>
            </a:xfrm>
            <a:prstGeom prst="rect">
              <a:avLst/>
            </a:prstGeom>
            <a:noFill/>
            <a:ln>
              <a:noFill/>
            </a:ln>
          </p:spPr>
          <p:txBody>
            <a:bodyPr wrap="none" lIns="0" tIns="0" rIns="0" bIns="0" anchor="t" anchorCtr="0">
              <a:spAutoFit/>
            </a:bodyPr>
            <a:lstStyle/>
            <a:p>
              <a:pPr algn="ctr"/>
              <a:r>
                <a:rPr lang="zh-CN" sz="1050" dirty="0">
                  <a:solidFill>
                    <a:srgbClr val="9FB2C8"/>
                  </a:solidFill>
                  <a:latin typeface="Arial"/>
                  <a:ea typeface="Microsoft YaHei"/>
                  <a:cs typeface="Arial"/>
                </a:rPr>
                <a:t>outdoor temp and</a:t>
              </a:r>
            </a:p>
          </p:txBody>
        </p:sp>
        <p:sp>
          <p:nvSpPr>
            <p:cNvPr id="29" name="TextBox 29"/>
            <p:cNvSpPr txBox="1"/>
            <p:nvPr/>
          </p:nvSpPr>
          <p:spPr>
            <a:xfrm>
              <a:off x="9497782" y="2915602"/>
              <a:ext cx="1349835" cy="213360"/>
            </a:xfrm>
            <a:prstGeom prst="rect">
              <a:avLst/>
            </a:prstGeom>
            <a:noFill/>
            <a:ln>
              <a:noFill/>
            </a:ln>
          </p:spPr>
          <p:txBody>
            <a:bodyPr wrap="none" lIns="0" tIns="0" rIns="0" bIns="0" anchor="t" anchorCtr="0">
              <a:spAutoFit/>
            </a:bodyPr>
            <a:lstStyle/>
            <a:p>
              <a:pPr algn="ctr"/>
              <a:r>
                <a:rPr lang="zh-CN" sz="1050" dirty="0">
                  <a:solidFill>
                    <a:srgbClr val="9FB2C8"/>
                  </a:solidFill>
                  <a:latin typeface="Arial"/>
                  <a:ea typeface="Microsoft YaHei"/>
                  <a:cs typeface="Arial"/>
                </a:rPr>
                <a:t>indoor setpoint gap</a:t>
              </a:r>
            </a:p>
          </p:txBody>
        </p:sp>
        <p:sp>
          <p:nvSpPr>
            <p:cNvPr id="30" name="Freeform 30"/>
            <p:cNvSpPr/>
            <p:nvPr/>
          </p:nvSpPr>
          <p:spPr>
            <a:xfrm>
              <a:off x="2705100" y="2724150"/>
              <a:ext cx="381000" cy="9525"/>
            </a:xfrm>
            <a:custGeom>
              <a:avLst/>
              <a:gdLst/>
              <a:ahLst/>
              <a:cxnLst/>
              <a:rect l="l" t="t" r="r" b="b"/>
              <a:pathLst>
                <a:path w="381000" h="9525">
                  <a:moveTo>
                    <a:pt x="0" y="0"/>
                  </a:moveTo>
                  <a:lnTo>
                    <a:pt x="381000" y="0"/>
                  </a:lnTo>
                </a:path>
              </a:pathLst>
            </a:custGeom>
            <a:noFill/>
            <a:ln w="47625">
              <a:solidFill>
                <a:srgbClr val="3DDC97"/>
              </a:solidFill>
              <a:tailEnd type="triangle" w="lg" len="lg"/>
            </a:ln>
          </p:spPr>
        </p:sp>
        <p:sp>
          <p:nvSpPr>
            <p:cNvPr id="31" name="Freeform 31"/>
            <p:cNvSpPr/>
            <p:nvPr/>
          </p:nvSpPr>
          <p:spPr>
            <a:xfrm>
              <a:off x="4781550" y="2724150"/>
              <a:ext cx="381000" cy="9525"/>
            </a:xfrm>
            <a:custGeom>
              <a:avLst/>
              <a:gdLst/>
              <a:ahLst/>
              <a:cxnLst/>
              <a:rect l="l" t="t" r="r" b="b"/>
              <a:pathLst>
                <a:path w="381000" h="9525">
                  <a:moveTo>
                    <a:pt x="0" y="0"/>
                  </a:moveTo>
                  <a:lnTo>
                    <a:pt x="381000" y="0"/>
                  </a:lnTo>
                </a:path>
              </a:pathLst>
            </a:custGeom>
            <a:noFill/>
            <a:ln w="47625">
              <a:solidFill>
                <a:srgbClr val="3DDC97"/>
              </a:solidFill>
              <a:tailEnd type="triangle" w="lg" len="lg"/>
            </a:ln>
          </p:spPr>
        </p:sp>
        <p:sp>
          <p:nvSpPr>
            <p:cNvPr id="32" name="Freeform 32"/>
            <p:cNvSpPr/>
            <p:nvPr/>
          </p:nvSpPr>
          <p:spPr>
            <a:xfrm>
              <a:off x="6858000" y="2724150"/>
              <a:ext cx="381000" cy="9525"/>
            </a:xfrm>
            <a:custGeom>
              <a:avLst/>
              <a:gdLst/>
              <a:ahLst/>
              <a:cxnLst/>
              <a:rect l="l" t="t" r="r" b="b"/>
              <a:pathLst>
                <a:path w="381000" h="9525">
                  <a:moveTo>
                    <a:pt x="0" y="0"/>
                  </a:moveTo>
                  <a:lnTo>
                    <a:pt x="381000" y="0"/>
                  </a:lnTo>
                </a:path>
              </a:pathLst>
            </a:custGeom>
            <a:noFill/>
            <a:ln w="47625">
              <a:solidFill>
                <a:srgbClr val="3DDC97"/>
              </a:solidFill>
              <a:tailEnd type="triangle" w="lg" len="lg"/>
            </a:ln>
          </p:spPr>
        </p:sp>
        <p:sp>
          <p:nvSpPr>
            <p:cNvPr id="33" name="Freeform 33"/>
            <p:cNvSpPr/>
            <p:nvPr/>
          </p:nvSpPr>
          <p:spPr>
            <a:xfrm>
              <a:off x="8934450" y="2724150"/>
              <a:ext cx="381000" cy="9525"/>
            </a:xfrm>
            <a:custGeom>
              <a:avLst/>
              <a:gdLst/>
              <a:ahLst/>
              <a:cxnLst/>
              <a:rect l="l" t="t" r="r" b="b"/>
              <a:pathLst>
                <a:path w="381000" h="9525">
                  <a:moveTo>
                    <a:pt x="0" y="0"/>
                  </a:moveTo>
                  <a:lnTo>
                    <a:pt x="381000" y="0"/>
                  </a:lnTo>
                </a:path>
              </a:pathLst>
            </a:custGeom>
            <a:noFill/>
            <a:ln w="47625">
              <a:solidFill>
                <a:srgbClr val="3DDC97"/>
              </a:solidFill>
              <a:tailEnd type="triangle" w="lg" len="lg"/>
            </a:ln>
          </p:spPr>
        </p:sp>
        <p:sp>
          <p:nvSpPr>
            <p:cNvPr id="34" name="TextBox 34"/>
            <p:cNvSpPr txBox="1"/>
            <p:nvPr/>
          </p:nvSpPr>
          <p:spPr>
            <a:xfrm>
              <a:off x="1052512" y="1840706"/>
              <a:ext cx="4864429" cy="228600"/>
            </a:xfrm>
            <a:prstGeom prst="rect">
              <a:avLst/>
            </a:prstGeom>
            <a:noFill/>
            <a:ln>
              <a:noFill/>
            </a:ln>
          </p:spPr>
          <p:txBody>
            <a:bodyPr wrap="none" lIns="0" tIns="0" rIns="0" bIns="0" anchor="t" anchorCtr="0">
              <a:spAutoFit/>
            </a:bodyPr>
            <a:lstStyle/>
            <a:p>
              <a:pPr algn="l"/>
              <a:r>
                <a:rPr lang="zh-CN" sz="1125" b="1" dirty="0">
                  <a:solidFill>
                    <a:srgbClr val="9FB2C8"/>
                  </a:solidFill>
                  <a:latin typeface="Arial"/>
                  <a:ea typeface="Microsoft YaHei"/>
                  <a:cs typeface="Arial"/>
                </a:rPr>
                <a:t>START WITH WHAT MOVES HEAT, THEN CHECK WHAT RAISES PRESSURE</a:t>
              </a:r>
            </a:p>
          </p:txBody>
        </p:sp>
        <p:sp>
          <p:nvSpPr>
            <p:cNvPr id="35" name="Rectangle 35"/>
            <p:cNvSpPr/>
            <p:nvPr/>
          </p:nvSpPr>
          <p:spPr>
            <a:xfrm>
              <a:off x="1619250" y="3676650"/>
              <a:ext cx="8953500" cy="590550"/>
            </a:xfrm>
            <a:prstGeom prst="roundRect">
              <a:avLst>
                <a:gd name="adj" fmla="val 19355"/>
              </a:avLst>
            </a:prstGeom>
            <a:solidFill>
              <a:srgbClr val="18283D"/>
            </a:solidFill>
            <a:ln w="19050">
              <a:solidFill>
                <a:srgbClr val="38506A"/>
              </a:solidFill>
            </a:ln>
          </p:spPr>
        </p:sp>
        <p:sp>
          <p:nvSpPr>
            <p:cNvPr id="36" name="TextBox 36"/>
            <p:cNvSpPr txBox="1"/>
            <p:nvPr/>
          </p:nvSpPr>
          <p:spPr>
            <a:xfrm>
              <a:off x="3816620" y="3789521"/>
              <a:ext cx="4558760" cy="289560"/>
            </a:xfrm>
            <a:prstGeom prst="rect">
              <a:avLst/>
            </a:prstGeom>
            <a:noFill/>
            <a:ln>
              <a:noFill/>
            </a:ln>
          </p:spPr>
          <p:txBody>
            <a:bodyPr wrap="none" lIns="0" tIns="0" rIns="0" bIns="0" anchor="t" anchorCtr="0">
              <a:spAutoFit/>
            </a:bodyPr>
            <a:lstStyle/>
            <a:p>
              <a:pPr algn="ctr"/>
              <a:r>
                <a:rPr lang="zh-CN" sz="1425" dirty="0">
                  <a:solidFill>
                    <a:srgbClr val="F5F7FA"/>
                  </a:solidFill>
                  <a:latin typeface="Arial"/>
                  <a:ea typeface="Microsoft YaHei"/>
                  <a:cs typeface="Arial"/>
                </a:rPr>
                <a:t>A compressor problem is only one possible cause.</a:t>
              </a:r>
            </a:p>
          </p:txBody>
        </p:sp>
        <p:sp>
          <p:nvSpPr>
            <p:cNvPr id="37" name="TextBox 37"/>
            <p:cNvSpPr txBox="1"/>
            <p:nvPr/>
          </p:nvSpPr>
          <p:spPr>
            <a:xfrm>
              <a:off x="3541085" y="4037171"/>
              <a:ext cx="5109829" cy="289560"/>
            </a:xfrm>
            <a:prstGeom prst="rect">
              <a:avLst/>
            </a:prstGeom>
            <a:noFill/>
            <a:ln>
              <a:noFill/>
            </a:ln>
          </p:spPr>
          <p:txBody>
            <a:bodyPr wrap="none" lIns="0" tIns="0" rIns="0" bIns="0" anchor="t" anchorCtr="0">
              <a:spAutoFit/>
            </a:bodyPr>
            <a:lstStyle/>
            <a:p>
              <a:pPr algn="ctr"/>
              <a:r>
                <a:rPr lang="zh-CN" sz="1425" dirty="0">
                  <a:solidFill>
                    <a:srgbClr val="F5F7FA"/>
                  </a:solidFill>
                  <a:latin typeface="Arial"/>
                  <a:ea typeface="Microsoft YaHei"/>
                  <a:cs typeface="Arial"/>
                </a:rPr>
                <a:t>First verify the path for heat absorption and release.</a:t>
              </a:r>
            </a:p>
          </p:txBody>
        </p:sp>
      </p:grpSp>
      <p:grpSp>
        <p:nvGrpSpPr>
          <p:cNvPr id="45" name="Group 45"/>
          <p:cNvGrpSpPr/>
          <p:nvPr/>
        </p:nvGrpSpPr>
        <p:grpSpPr>
          <a:xfrm>
            <a:off x="800100" y="5067300"/>
            <a:ext cx="10591800" cy="876300"/>
            <a:chOff x="800100" y="5067300"/>
            <a:chExt cx="10591800" cy="876300"/>
          </a:xfrm>
        </p:grpSpPr>
        <p:sp>
          <p:nvSpPr>
            <p:cNvPr id="39" name="Rectangle 39"/>
            <p:cNvSpPr/>
            <p:nvPr/>
          </p:nvSpPr>
          <p:spPr>
            <a:xfrm>
              <a:off x="800100" y="5067300"/>
              <a:ext cx="4953000" cy="876300"/>
            </a:xfrm>
            <a:prstGeom prst="roundRect">
              <a:avLst>
                <a:gd name="adj" fmla="val 17391"/>
              </a:avLst>
            </a:prstGeom>
            <a:solidFill>
              <a:srgbClr val="142033"/>
            </a:solidFill>
            <a:ln w="19050">
              <a:solidFill>
                <a:srgbClr val="38506A"/>
              </a:solidFill>
            </a:ln>
          </p:spPr>
        </p:sp>
        <p:sp>
          <p:nvSpPr>
            <p:cNvPr id="40" name="TextBox 40"/>
            <p:cNvSpPr txBox="1"/>
            <p:nvPr/>
          </p:nvSpPr>
          <p:spPr>
            <a:xfrm>
              <a:off x="1102995" y="5251132"/>
              <a:ext cx="2652536" cy="335280"/>
            </a:xfrm>
            <a:prstGeom prst="rect">
              <a:avLst/>
            </a:prstGeom>
            <a:noFill/>
            <a:ln>
              <a:noFill/>
            </a:ln>
          </p:spPr>
          <p:txBody>
            <a:bodyPr wrap="none" lIns="0" tIns="0" rIns="0" bIns="0" anchor="t" anchorCtr="0">
              <a:spAutoFit/>
            </a:bodyPr>
            <a:lstStyle/>
            <a:p>
              <a:pPr algn="l"/>
              <a:r>
                <a:rPr lang="zh-CN" sz="1650" b="1" dirty="0">
                  <a:solidFill>
                    <a:srgbClr val="F5F7FA"/>
                  </a:solidFill>
                  <a:latin typeface="Arial"/>
                  <a:ea typeface="Microsoft YaHei"/>
                  <a:cs typeface="Arial"/>
                </a:rPr>
                <a:t>Operational implication</a:t>
              </a:r>
            </a:p>
          </p:txBody>
        </p:sp>
        <p:sp>
          <p:nvSpPr>
            <p:cNvPr id="41" name="TextBox 41"/>
            <p:cNvSpPr txBox="1"/>
            <p:nvPr/>
          </p:nvSpPr>
          <p:spPr>
            <a:xfrm>
              <a:off x="1108710" y="5623560"/>
              <a:ext cx="3958971" cy="243840"/>
            </a:xfrm>
            <a:prstGeom prst="rect">
              <a:avLst/>
            </a:prstGeom>
            <a:noFill/>
            <a:ln>
              <a:noFill/>
            </a:ln>
          </p:spPr>
          <p:txBody>
            <a:bodyPr wrap="none" lIns="0" tIns="0" rIns="0" bIns="0" anchor="t" anchorCtr="0">
              <a:spAutoFit/>
            </a:bodyPr>
            <a:lstStyle/>
            <a:p>
              <a:pPr algn="l"/>
              <a:r>
                <a:rPr lang="zh-CN" sz="1200" dirty="0">
                  <a:solidFill>
                    <a:srgbClr val="9FB2C8"/>
                  </a:solidFill>
                  <a:latin typeface="Arial"/>
                  <a:ea typeface="Microsoft YaHei"/>
                  <a:cs typeface="Arial"/>
                </a:rPr>
                <a:t>Map low output to the cycle before blaming parts.</a:t>
              </a:r>
            </a:p>
          </p:txBody>
        </p:sp>
        <p:sp>
          <p:nvSpPr>
            <p:cNvPr id="42" name="Rectangle 42"/>
            <p:cNvSpPr/>
            <p:nvPr/>
          </p:nvSpPr>
          <p:spPr>
            <a:xfrm>
              <a:off x="6438900" y="5067300"/>
              <a:ext cx="4953000" cy="876300"/>
            </a:xfrm>
            <a:prstGeom prst="roundRect">
              <a:avLst>
                <a:gd name="adj" fmla="val 17391"/>
              </a:avLst>
            </a:prstGeom>
            <a:solidFill>
              <a:srgbClr val="142033"/>
            </a:solidFill>
            <a:ln w="19050">
              <a:solidFill>
                <a:srgbClr val="38506A"/>
              </a:solidFill>
            </a:ln>
          </p:spPr>
        </p:sp>
        <p:sp>
          <p:nvSpPr>
            <p:cNvPr id="43" name="TextBox 43"/>
            <p:cNvSpPr txBox="1"/>
            <p:nvPr/>
          </p:nvSpPr>
          <p:spPr>
            <a:xfrm>
              <a:off x="6741795" y="5251132"/>
              <a:ext cx="1774627" cy="335280"/>
            </a:xfrm>
            <a:prstGeom prst="rect">
              <a:avLst/>
            </a:prstGeom>
            <a:noFill/>
            <a:ln>
              <a:noFill/>
            </a:ln>
          </p:spPr>
          <p:txBody>
            <a:bodyPr wrap="none" lIns="0" tIns="0" rIns="0" bIns="0" anchor="t" anchorCtr="0">
              <a:spAutoFit/>
            </a:bodyPr>
            <a:lstStyle/>
            <a:p>
              <a:pPr algn="l"/>
              <a:r>
                <a:rPr lang="zh-CN" sz="1650" b="1" dirty="0">
                  <a:solidFill>
                    <a:srgbClr val="F5F7FA"/>
                  </a:solidFill>
                  <a:latin typeface="Arial"/>
                  <a:ea typeface="Microsoft YaHei"/>
                  <a:cs typeface="Arial"/>
                </a:rPr>
                <a:t>Technical recap</a:t>
              </a:r>
            </a:p>
          </p:txBody>
        </p:sp>
        <p:sp>
          <p:nvSpPr>
            <p:cNvPr id="44" name="TextBox 44"/>
            <p:cNvSpPr txBox="1"/>
            <p:nvPr/>
          </p:nvSpPr>
          <p:spPr>
            <a:xfrm>
              <a:off x="6747510" y="5623560"/>
              <a:ext cx="3430905" cy="243840"/>
            </a:xfrm>
            <a:prstGeom prst="rect">
              <a:avLst/>
            </a:prstGeom>
            <a:noFill/>
            <a:ln>
              <a:noFill/>
            </a:ln>
          </p:spPr>
          <p:txBody>
            <a:bodyPr wrap="none" lIns="0" tIns="0" rIns="0" bIns="0" anchor="t" anchorCtr="0">
              <a:spAutoFit/>
            </a:bodyPr>
            <a:lstStyle/>
            <a:p>
              <a:pPr algn="l"/>
              <a:r>
                <a:rPr lang="zh-CN" sz="1200" dirty="0">
                  <a:solidFill>
                    <a:srgbClr val="9FB2C8"/>
                  </a:solidFill>
                  <a:latin typeface="Arial"/>
                  <a:ea typeface="Microsoft YaHei"/>
                  <a:cs typeface="Arial"/>
                </a:rPr>
                <a:t>Heat is moved; work input raises pressure.</a:t>
              </a:r>
            </a:p>
          </p:txBody>
        </p:sp>
      </p:grpSp>
      <p:sp>
        <p:nvSpPr>
          <p:cNvPr id="46" name="TextBox 46"/>
          <p:cNvSpPr txBox="1"/>
          <p:nvPr/>
        </p:nvSpPr>
        <p:spPr>
          <a:xfrm>
            <a:off x="501968" y="6409849"/>
            <a:ext cx="6077021" cy="198120"/>
          </a:xfrm>
          <a:prstGeom prst="rect">
            <a:avLst/>
          </a:prstGeom>
          <a:noFill/>
          <a:ln>
            <a:noFill/>
          </a:ln>
        </p:spPr>
        <p:txBody>
          <a:bodyPr wrap="none" lIns="0" tIns="0" rIns="0" bIns="0" anchor="t" anchorCtr="0">
            <a:spAutoFit/>
          </a:bodyPr>
          <a:lstStyle/>
          <a:p>
            <a:pPr algn="l"/>
            <a:r>
              <a:rPr lang="zh-CN" sz="975" dirty="0">
                <a:solidFill>
                  <a:srgbClr val="9FB2C8"/>
                </a:solidFill>
                <a:latin typeface="Arial"/>
                <a:ea typeface="Microsoft YaHei"/>
                <a:cs typeface="Arial"/>
              </a:rPr>
              <a:t>Troubleshooting slide is source-consistent and intentionally practical for facilities operators.</a:t>
            </a:r>
          </a:p>
        </p:txBody>
      </p:sp>
      <p:sp>
        <p:nvSpPr>
          <p:cNvPr id="47" name="TextBox 47"/>
          <p:cNvSpPr txBox="1"/>
          <p:nvPr/>
        </p:nvSpPr>
        <p:spPr>
          <a:xfrm>
            <a:off x="11398568" y="6409849"/>
            <a:ext cx="460319" cy="198120"/>
          </a:xfrm>
          <a:prstGeom prst="rect">
            <a:avLst/>
          </a:prstGeom>
          <a:noFill/>
          <a:ln>
            <a:noFill/>
          </a:ln>
        </p:spPr>
        <p:txBody>
          <a:bodyPr wrap="none" lIns="0" tIns="0" rIns="0" bIns="0" anchor="t" anchorCtr="0">
            <a:spAutoFit/>
          </a:bodyPr>
          <a:lstStyle/>
          <a:p>
            <a:pPr algn="l"/>
            <a:r>
              <a:rPr lang="zh-CN" sz="975" dirty="0">
                <a:solidFill>
                  <a:srgbClr val="9FB2C8"/>
                </a:solidFill>
                <a:latin typeface="Consolas"/>
                <a:ea typeface="Microsoft YaHei"/>
                <a:cs typeface="Consolas"/>
              </a:rPr>
              <a:t>09 / 09</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400"/>
                                        <p:tgtEl>
                                          <p:spTgt spid="38"/>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slide(fromBottom)">
                                      <p:cBhvr>
                                        <p:cTn id="11"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2026-07-03T04:28:12Z</dcterms:created>
  <dcterms:modified xsi:type="dcterms:W3CDTF">2026-07-03T04:28:12Z</dcterms:modified>
  <cp:category/>
  <cp:contentStatus/>
</cp:coreProperties>
</file>
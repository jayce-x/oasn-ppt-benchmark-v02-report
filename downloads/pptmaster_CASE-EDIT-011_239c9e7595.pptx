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58"/>
  </p:normalViewPr>
  <p:slideViewPr>
    <p:cSldViewPr snapToGrid="0" snapToObjects="1">
      <p:cViewPr varScale="1">
        <p:scale>
          <a:sx n="120" d="100"/>
          <a:sy n="120" d="100"/>
        </p:scale>
        <p:origin x="1944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12" Type="http://schemas.openxmlformats.org/officeDocument/2006/relationships/slide" Target="slides/slide7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Global average surface temperature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Global avg temp (deg C)</c:v>
                </c:pt>
              </c:strCache>
            </c:strRef>
          </c:tx>
          <c:dPt>
            <c:idx val="0"/>
            <c:spPr>
              <a:solidFill>
                <a:srgbClr val="7996B2"/>
              </a:solidFill>
            </c:spPr>
          </c:dPt>
          <c:dPt>
            <c:idx val="1"/>
            <c:spPr>
              <a:solidFill>
                <a:srgbClr val="EB9F48"/>
              </a:solidFill>
            </c:spPr>
          </c:dPt>
          <c:dPt>
            <c:idx val="2"/>
            <c:spPr>
              <a:solidFill>
                <a:srgbClr val="D1504A"/>
              </a:solidFill>
            </c:spPr>
          </c:dPt>
          <c:cat>
            <c:strRef>
              <c:f>Sheet1!$A$2:$A$4</c:f>
              <c:strCache>
                <c:ptCount val="3"/>
                <c:pt idx="0">
                  <c:v>1991-2020 avg</c:v>
                </c:pt>
                <c:pt idx="1">
                  <c:v>2023</c:v>
                </c:pt>
                <c:pt idx="2">
                  <c:v>2024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14.38</c:v>
                </c:pt>
                <c:pt idx="1">
                  <c:v>14.98</c:v>
                </c:pt>
                <c:pt idx="2">
                  <c:v>15.1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5.3"/>
          <c:min val="14.0"/>
        </c:scaling>
        <c:delete val="0"/>
        <c:axPos val="l"/>
        <c:majorGridlines/>
        <c:numFmt formatCode="0.0" sourceLinked="0"/>
        <c:majorTickMark val="out"/>
        <c:minorTickMark val="none"/>
        <c:tickLblPos val="nextTo"/>
        <c:crossAx val="-2068027336"/>
        <c:crosses val="autoZero"/>
        <c:majorUnit val="0.2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climate.copernicus.eu/copernicus-2024-first-year-exceed-15degc-above-pre-industrial-level#:~:text=2024%20is%20confirmed%20by%20the,temperatures%20observed%20during%20the%20year" TargetMode="Externa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climate.copernicus.eu/copernicus-2024-first-year-exceed-15degc-above-pre-industrial-level#:~:text=Global%20surface%20air%20temperature%20highlights%3A" TargetMode="Externa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Relationship Id="rId3" Type="http://schemas.openxmlformats.org/officeDocument/2006/relationships/hyperlink" Target="https://climate.copernicus.eu/copernicus-2024-first-year-exceed-15degc-above-pre-industrial-level#:~:text=According%20to%20ERA5%20,industrial%20level" TargetMode="External"/><Relationship Id="rId4" Type="http://schemas.openxmlformats.org/officeDocument/2006/relationships/chart" Target="../charts/char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hyperlink" Target="https://climate.copernicus.eu/copernicus-2024-first-year-exceed-15degc-above-pre-industrial-level#:~:text=,DOWNLOAD%20DATA" TargetMode="Externa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climate.copernicus.eu/copernicus-2024-first-year-exceed-15degc-above-pre-industrial-level#:~:text=Carlo%20Buontempo%2C%20Director%20of%20the,%E2%80%9D" TargetMode="Externa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>
                <a:solidFill>
                  <a:srgbClr val="163D69"/>
                </a:solidFill>
              </a:rPr>
              <a:t>2024 Global Climate Highlights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>
                <a:solidFill>
                  <a:srgbClr val="374151"/>
                </a:solidFill>
              </a:rPr>
              <a:t>Copernicus Climate Change Service Report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20840"/>
            <a:ext cx="9144000" cy="36576"/>
          </a:xfrm>
          <a:prstGeom prst="rect">
            <a:avLst/>
          </a:prstGeom>
          <a:solidFill>
            <a:srgbClr val="D8E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20840"/>
            <a:ext cx="1306285" cy="36576"/>
          </a:xfrm>
          <a:prstGeom prst="rect">
            <a:avLst/>
          </a:prstGeom>
          <a:solidFill>
            <a:srgbClr val="1E48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30768" y="6510528"/>
            <a:ext cx="457200" cy="164592"/>
          </a:xfrm>
          <a:prstGeom prst="rect">
            <a:avLst/>
          </a:prstGeom>
          <a:noFill/>
        </p:spPr>
        <p:txBody>
          <a:bodyPr wrap="none" lIns="45720" rIns="45720" tIns="27432" bIns="27432" anchor="t">
            <a:spAutoFit/>
          </a:bodyPr>
          <a:lstStyle/>
          <a:p>
            <a:pPr algn="r"/>
            <a:r>
              <a:rPr sz="750" b="0">
                <a:solidFill>
                  <a:srgbClr val="5A6574"/>
                </a:solidFill>
                <a:latin typeface="Aptos"/>
              </a:rPr>
              <a:t>1/7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163D69"/>
                </a:solidFill>
              </a:rPr>
              <a:t>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400"/>
            </a:pPr>
            <a:r>
              <a:rPr>
                <a:solidFill>
                  <a:srgbClr val="374151"/>
                </a:solidFill>
              </a:rPr>
              <a:t>In 2024, global surface temperatures reached unprecedented levels, exceeding 1.5°C above the pre-industrial baseline. The Copernicus Climate Change Service reported that 2024 was not only the warmest year on record but also the first calendar year to surpass the 1.5°C threshold. Human-induced climate change is the primary driver of these extreme temperatures, with phenomena like El Niño adding variability.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/>
            </a:pPr>
            <a:endParaRPr/>
          </a:p>
          <a:p>
            <a:r>
              <a:rPr>
                <a:solidFill>
                  <a:srgbClr val="374151"/>
                </a:solidFill>
                <a:hlinkClick r:id="rId2"/>
              </a:rPr>
              <a:t>[1]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720840"/>
            <a:ext cx="9144000" cy="36576"/>
          </a:xfrm>
          <a:prstGeom prst="rect">
            <a:avLst/>
          </a:prstGeom>
          <a:solidFill>
            <a:srgbClr val="D8E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720840"/>
            <a:ext cx="2612571" cy="36576"/>
          </a:xfrm>
          <a:prstGeom prst="rect">
            <a:avLst/>
          </a:prstGeom>
          <a:solidFill>
            <a:srgbClr val="1E48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30768" y="6510528"/>
            <a:ext cx="457200" cy="164592"/>
          </a:xfrm>
          <a:prstGeom prst="rect">
            <a:avLst/>
          </a:prstGeom>
          <a:noFill/>
        </p:spPr>
        <p:txBody>
          <a:bodyPr wrap="none" lIns="45720" rIns="45720" tIns="27432" bIns="27432" anchor="t">
            <a:spAutoFit/>
          </a:bodyPr>
          <a:lstStyle/>
          <a:p>
            <a:pPr algn="r"/>
            <a:r>
              <a:rPr sz="750" b="0">
                <a:solidFill>
                  <a:srgbClr val="5A6574"/>
                </a:solidFill>
                <a:latin typeface="Aptos"/>
              </a:rPr>
              <a:t>2/7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163D69"/>
                </a:solidFill>
              </a:rPr>
              <a:t>2024 Climate Highlights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1400"/>
            </a:pPr>
            <a:r>
              <a:rPr>
                <a:solidFill>
                  <a:srgbClr val="374151"/>
                </a:solidFill>
              </a:rPr>
              <a:t>2024 recorded a global average temperature of 15.10°C, which is 0.72°C above the 1991–2020 average and 0.12°C warmer than 2023.</a:t>
            </a:r>
          </a:p>
          <a:p>
            <a:pPr>
              <a:defRPr sz="1400"/>
            </a:pPr>
            <a:r>
              <a:rPr>
                <a:solidFill>
                  <a:srgbClr val="374151"/>
                </a:solidFill>
              </a:rPr>
              <a:t>2024 is the first calendar year to exceed 1.5°C above pre-industrial levels.</a:t>
            </a:r>
          </a:p>
          <a:p>
            <a:pPr>
              <a:defRPr sz="1400"/>
            </a:pPr>
            <a:r>
              <a:rPr>
                <a:solidFill>
                  <a:srgbClr val="374151"/>
                </a:solidFill>
              </a:rPr>
              <a:t>Each year from 2015 to 2024 ranks among the ten warmest years on record.</a:t>
            </a:r>
          </a:p>
          <a:p>
            <a:pPr>
              <a:defRPr sz="1400"/>
            </a:pPr>
            <a:r>
              <a:rPr>
                <a:solidFill>
                  <a:srgbClr val="374151"/>
                </a:solidFill>
              </a:rPr>
              <a:t>Monthly global temperatures exceeded 1.5°C for 11 months, with a record daily high of 17.16°C on July 22, 2024.</a:t>
            </a:r>
          </a:p>
          <a:p>
            <a:pPr>
              <a:defRPr sz="1400"/>
            </a:pPr>
            <a:r>
              <a:rPr>
                <a:solidFill>
                  <a:srgbClr val="374151"/>
                </a:solidFill>
              </a:rPr>
              <a:t>2024 was the warmest year for almost all continental regions, except Antarctica and Australasia.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800"/>
            </a:pPr>
            <a:r>
              <a:rPr>
                <a:solidFill>
                  <a:srgbClr val="374151"/>
                </a:solidFill>
                <a:hlinkClick r:id="rId2"/>
              </a:rPr>
              <a:t>[2] [3]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720840"/>
            <a:ext cx="9144000" cy="36576"/>
          </a:xfrm>
          <a:prstGeom prst="rect">
            <a:avLst/>
          </a:prstGeom>
          <a:solidFill>
            <a:srgbClr val="D8E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720840"/>
            <a:ext cx="3918857" cy="36576"/>
          </a:xfrm>
          <a:prstGeom prst="rect">
            <a:avLst/>
          </a:prstGeom>
          <a:solidFill>
            <a:srgbClr val="1E48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30768" y="6510528"/>
            <a:ext cx="457200" cy="164592"/>
          </a:xfrm>
          <a:prstGeom prst="rect">
            <a:avLst/>
          </a:prstGeom>
          <a:noFill/>
        </p:spPr>
        <p:txBody>
          <a:bodyPr wrap="none" lIns="45720" rIns="45720" tIns="27432" bIns="27432" anchor="t">
            <a:spAutoFit/>
          </a:bodyPr>
          <a:lstStyle/>
          <a:p>
            <a:pPr algn="r"/>
            <a:r>
              <a:rPr sz="750" b="0">
                <a:solidFill>
                  <a:srgbClr val="5A6574"/>
                </a:solidFill>
                <a:latin typeface="Aptos"/>
              </a:rPr>
              <a:t>3/7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56032"/>
            <a:ext cx="7498079" cy="384048"/>
          </a:xfrm>
          <a:prstGeom prst="rect">
            <a:avLst/>
          </a:prstGeom>
          <a:noFill/>
        </p:spPr>
        <p:txBody>
          <a:bodyPr wrap="none" lIns="45720" rIns="45720" tIns="27432" bIns="27432" anchor="t">
            <a:spAutoFit/>
          </a:bodyPr>
          <a:lstStyle/>
          <a:p>
            <a:pPr algn="l"/>
            <a:r>
              <a:rPr sz="2200" b="1">
                <a:solidFill>
                  <a:srgbClr val="163D69"/>
                </a:solidFill>
                <a:latin typeface="Aptos"/>
              </a:rPr>
              <a:t>Global Average Temperature Comparison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594360" y="1188720"/>
          <a:ext cx="4663440" cy="356616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4" name="Rounded Rectangle 3"/>
          <p:cNvSpPr/>
          <p:nvPr/>
        </p:nvSpPr>
        <p:spPr>
          <a:xfrm>
            <a:off x="5559552" y="1243584"/>
            <a:ext cx="2331720" cy="3200400"/>
          </a:xfrm>
          <a:prstGeom prst="roundRect">
            <a:avLst/>
          </a:prstGeom>
          <a:solidFill>
            <a:srgbClr val="FFFFFF"/>
          </a:solidFill>
          <a:ln>
            <a:solidFill>
              <a:srgbClr val="D1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742432" y="1481328"/>
            <a:ext cx="1965960" cy="402336"/>
          </a:xfrm>
          <a:prstGeom prst="rect">
            <a:avLst/>
          </a:prstGeom>
          <a:noFill/>
        </p:spPr>
        <p:txBody>
          <a:bodyPr wrap="none" lIns="45720" rIns="45720" tIns="27432" bIns="27432" anchor="t">
            <a:spAutoFit/>
          </a:bodyPr>
          <a:lstStyle/>
          <a:p>
            <a:pPr algn="l"/>
            <a:r>
              <a:rPr sz="1600" b="1">
                <a:solidFill>
                  <a:srgbClr val="163D69"/>
                </a:solidFill>
                <a:latin typeface="Aptos"/>
              </a:rPr>
              <a:t>2024 stands tallest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42432" y="1993392"/>
            <a:ext cx="1920240" cy="1353312"/>
          </a:xfrm>
          <a:prstGeom prst="rect">
            <a:avLst/>
          </a:prstGeom>
          <a:noFill/>
        </p:spPr>
        <p:txBody>
          <a:bodyPr wrap="none" lIns="45720" rIns="45720" tIns="27432" bIns="27432" anchor="t">
            <a:spAutoFit/>
          </a:bodyPr>
          <a:lstStyle/>
          <a:p>
            <a:pPr algn="l"/>
            <a:r>
              <a:rPr sz="1100" b="0">
                <a:solidFill>
                  <a:srgbClr val="374151"/>
                </a:solidFill>
                <a:latin typeface="Aptos"/>
              </a:rPr>
              <a:t>The 2024 global average reached 15.10 deg C, 0.72 deg C above the 1991-2020 average and 0.12 deg C warmer than 2023.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42432" y="3803904"/>
            <a:ext cx="1737360" cy="201168"/>
          </a:xfrm>
          <a:prstGeom prst="rect">
            <a:avLst/>
          </a:prstGeom>
          <a:noFill/>
        </p:spPr>
        <p:txBody>
          <a:bodyPr wrap="none" lIns="45720" rIns="45720" tIns="27432" bIns="27432" anchor="t">
            <a:spAutoFit/>
          </a:bodyPr>
          <a:lstStyle/>
          <a:p>
            <a:pPr algn="l"/>
            <a:r>
              <a:rPr sz="1000" b="1">
                <a:solidFill>
                  <a:srgbClr val="374151"/>
                </a:solidFill>
                <a:latin typeface="Aptos"/>
              </a:rPr>
              <a:t>[4]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720840"/>
            <a:ext cx="9144000" cy="36576"/>
          </a:xfrm>
          <a:prstGeom prst="rect">
            <a:avLst/>
          </a:prstGeom>
          <a:solidFill>
            <a:srgbClr val="D8E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6720840"/>
            <a:ext cx="5225142" cy="36576"/>
          </a:xfrm>
          <a:prstGeom prst="rect">
            <a:avLst/>
          </a:prstGeom>
          <a:solidFill>
            <a:srgbClr val="1E48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30768" y="6510528"/>
            <a:ext cx="457200" cy="164592"/>
          </a:xfrm>
          <a:prstGeom prst="rect">
            <a:avLst/>
          </a:prstGeom>
          <a:noFill/>
        </p:spPr>
        <p:txBody>
          <a:bodyPr wrap="none" lIns="45720" rIns="45720" tIns="27432" bIns="27432" anchor="t">
            <a:spAutoFit/>
          </a:bodyPr>
          <a:lstStyle/>
          <a:p>
            <a:pPr algn="r"/>
            <a:r>
              <a:rPr sz="750" b="0">
                <a:solidFill>
                  <a:srgbClr val="5A6574"/>
                </a:solidFill>
                <a:latin typeface="Aptos"/>
              </a:rPr>
              <a:t>4/7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56032"/>
            <a:ext cx="7498079" cy="384048"/>
          </a:xfrm>
          <a:prstGeom prst="rect">
            <a:avLst/>
          </a:prstGeom>
          <a:noFill/>
        </p:spPr>
        <p:txBody>
          <a:bodyPr wrap="none" lIns="45720" rIns="45720" tIns="27432" bIns="27432" anchor="t">
            <a:spAutoFit/>
          </a:bodyPr>
          <a:lstStyle/>
          <a:p>
            <a:pPr algn="l"/>
            <a:r>
              <a:rPr sz="2200" b="1">
                <a:solidFill>
                  <a:srgbClr val="163D69"/>
                </a:solidFill>
                <a:latin typeface="Aptos"/>
              </a:rPr>
              <a:t>Temperature Trends &amp; Anomalies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66928" y="1042415"/>
            <a:ext cx="3520440" cy="3703320"/>
          </a:xfrm>
          <a:prstGeom prst="roundRect">
            <a:avLst/>
          </a:prstGeom>
          <a:solidFill>
            <a:srgbClr val="FFFFFF"/>
          </a:solidFill>
          <a:ln>
            <a:solidFill>
              <a:srgbClr val="D1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225296"/>
            <a:ext cx="3182112" cy="234086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86384" y="3822191"/>
            <a:ext cx="3063240" cy="502920"/>
          </a:xfrm>
          <a:prstGeom prst="rect">
            <a:avLst/>
          </a:prstGeom>
          <a:noFill/>
        </p:spPr>
        <p:txBody>
          <a:bodyPr wrap="none" lIns="45720" rIns="45720" tIns="27432" bIns="27432" anchor="t">
            <a:spAutoFit/>
          </a:bodyPr>
          <a:lstStyle/>
          <a:p>
            <a:pPr algn="ctr"/>
            <a:r>
              <a:rPr sz="1050" b="0">
                <a:solidFill>
                  <a:srgbClr val="374151"/>
                </a:solidFill>
                <a:latin typeface="Aptos"/>
              </a:rPr>
              <a:t>Global surface temperature increase above pre-industrial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90288" y="1042415"/>
            <a:ext cx="3520440" cy="3703320"/>
          </a:xfrm>
          <a:prstGeom prst="roundRect">
            <a:avLst/>
          </a:prstGeom>
          <a:solidFill>
            <a:srgbClr val="FFFFFF"/>
          </a:solidFill>
          <a:ln>
            <a:solidFill>
              <a:srgbClr val="D1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0" y="1225296"/>
            <a:ext cx="3182112" cy="234086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809744" y="3822191"/>
            <a:ext cx="3063240" cy="502920"/>
          </a:xfrm>
          <a:prstGeom prst="rect">
            <a:avLst/>
          </a:prstGeom>
          <a:noFill/>
        </p:spPr>
        <p:txBody>
          <a:bodyPr wrap="none" lIns="45720" rIns="45720" tIns="27432" bIns="27432" anchor="t">
            <a:spAutoFit/>
          </a:bodyPr>
          <a:lstStyle/>
          <a:p>
            <a:pPr algn="ctr"/>
            <a:r>
              <a:rPr sz="1050" b="0">
                <a:solidFill>
                  <a:srgbClr val="374151"/>
                </a:solidFill>
                <a:latin typeface="Aptos"/>
              </a:rPr>
              <a:t>Surface air temperature anomalies in 2024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" y="5166360"/>
            <a:ext cx="7132320" cy="256032"/>
          </a:xfrm>
          <a:prstGeom prst="rect">
            <a:avLst/>
          </a:prstGeom>
          <a:noFill/>
        </p:spPr>
        <p:txBody>
          <a:bodyPr wrap="none" lIns="45720" rIns="45720" tIns="27432" bIns="27432" anchor="t">
            <a:spAutoFit/>
          </a:bodyPr>
          <a:lstStyle/>
          <a:p>
            <a:pPr algn="r"/>
            <a:r>
              <a:rPr sz="1000" b="1">
                <a:solidFill>
                  <a:srgbClr val="374151"/>
                </a:solidFill>
                <a:latin typeface="Aptos"/>
              </a:rPr>
              <a:t>[5]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720840"/>
            <a:ext cx="9144000" cy="36576"/>
          </a:xfrm>
          <a:prstGeom prst="rect">
            <a:avLst/>
          </a:prstGeom>
          <a:solidFill>
            <a:srgbClr val="D8E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720840"/>
            <a:ext cx="6531428" cy="36576"/>
          </a:xfrm>
          <a:prstGeom prst="rect">
            <a:avLst/>
          </a:prstGeom>
          <a:solidFill>
            <a:srgbClr val="1E48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30768" y="6510528"/>
            <a:ext cx="457200" cy="164592"/>
          </a:xfrm>
          <a:prstGeom prst="rect">
            <a:avLst/>
          </a:prstGeom>
          <a:noFill/>
        </p:spPr>
        <p:txBody>
          <a:bodyPr wrap="none" lIns="45720" rIns="45720" tIns="27432" bIns="27432" anchor="t">
            <a:spAutoFit/>
          </a:bodyPr>
          <a:lstStyle/>
          <a:p>
            <a:pPr algn="r"/>
            <a:r>
              <a:rPr sz="750" b="0">
                <a:solidFill>
                  <a:srgbClr val="5A6574"/>
                </a:solidFill>
                <a:latin typeface="Aptos"/>
              </a:rPr>
              <a:t>5/7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163D69"/>
                </a:solidFill>
              </a:rPr>
              <a:t>Conclusions &amp; Outlook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1400"/>
            </a:pPr>
            <a:r>
              <a:rPr>
                <a:solidFill>
                  <a:srgbClr val="374151"/>
                </a:solidFill>
              </a:rPr>
              <a:t>Leading climate scientists warn that the unprecedented warmth of 2024 underscores an urgent need for evidence-based responses. According to Carlo Buontempo, the future is in our hands, and decisive action can alter the trajectory of our climate.</a:t>
            </a:r>
          </a:p>
          <a:p>
            <a:pPr>
              <a:defRPr sz="1400"/>
            </a:pPr>
            <a:r>
              <a:rPr>
                <a:solidFill>
                  <a:srgbClr val="374151"/>
                </a:solidFill>
              </a:rPr>
              <a:t>Strategic Lead Samantha Burgess notes that every year in the last decade ranks among the warmest on record, and global temperatures are already above the 1.5°C threshold set by the Paris Agreement.</a:t>
            </a:r>
          </a:p>
          <a:p>
            <a:pPr>
              <a:defRPr sz="1400"/>
            </a:pPr>
            <a:r>
              <a:rPr>
                <a:solidFill>
                  <a:srgbClr val="374151"/>
                </a:solidFill>
              </a:rPr>
              <a:t>High temperatures coupled with record atmospheric water vapour have led to more frequent heatwaves and heavy rainfall, causing adverse impacts on human societies and ecosystems.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800"/>
            </a:pPr>
            <a:r>
              <a:rPr>
                <a:solidFill>
                  <a:srgbClr val="374151"/>
                </a:solidFill>
                <a:hlinkClick r:id="rId2"/>
              </a:rPr>
              <a:t>[6]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720840"/>
            <a:ext cx="9144000" cy="36576"/>
          </a:xfrm>
          <a:prstGeom prst="rect">
            <a:avLst/>
          </a:prstGeom>
          <a:solidFill>
            <a:srgbClr val="D8E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720840"/>
            <a:ext cx="7837714" cy="36576"/>
          </a:xfrm>
          <a:prstGeom prst="rect">
            <a:avLst/>
          </a:prstGeom>
          <a:solidFill>
            <a:srgbClr val="1E48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30768" y="6510528"/>
            <a:ext cx="457200" cy="164592"/>
          </a:xfrm>
          <a:prstGeom prst="rect">
            <a:avLst/>
          </a:prstGeom>
          <a:noFill/>
        </p:spPr>
        <p:txBody>
          <a:bodyPr wrap="none" lIns="45720" rIns="45720" tIns="27432" bIns="27432" anchor="t">
            <a:spAutoFit/>
          </a:bodyPr>
          <a:lstStyle/>
          <a:p>
            <a:pPr algn="r"/>
            <a:r>
              <a:rPr sz="750" b="0">
                <a:solidFill>
                  <a:srgbClr val="5A6574"/>
                </a:solidFill>
                <a:latin typeface="Aptos"/>
              </a:rPr>
              <a:t>6/7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94360"/>
            <a:ext cx="7132320" cy="548640"/>
          </a:xfrm>
          <a:prstGeom prst="rect">
            <a:avLst/>
          </a:prstGeom>
          <a:noFill/>
        </p:spPr>
        <p:txBody>
          <a:bodyPr wrap="none" lIns="45720" rIns="45720" tIns="27432" bIns="27432" anchor="t">
            <a:spAutoFit/>
          </a:bodyPr>
          <a:lstStyle/>
          <a:p>
            <a:pPr algn="l"/>
            <a:r>
              <a:rPr sz="2800" b="1">
                <a:solidFill>
                  <a:srgbClr val="163D69"/>
                </a:solidFill>
                <a:latin typeface="Aptos"/>
              </a:rPr>
              <a:t>Bibliography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600200"/>
            <a:ext cx="6858000" cy="384048"/>
          </a:xfrm>
          <a:prstGeom prst="rect">
            <a:avLst/>
          </a:prstGeom>
          <a:noFill/>
        </p:spPr>
        <p:txBody>
          <a:bodyPr wrap="none" lIns="45720" rIns="45720" tIns="27432" bIns="27432" anchor="t">
            <a:spAutoFit/>
          </a:bodyPr>
          <a:lstStyle/>
          <a:p>
            <a:pPr algn="l"/>
            <a:r>
              <a:rPr sz="1600" b="1">
                <a:solidFill>
                  <a:srgbClr val="374151"/>
                </a:solidFill>
                <a:latin typeface="Aptos"/>
              </a:rPr>
              <a:t>Copernicus Climate Change Service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2084831"/>
            <a:ext cx="6858000" cy="310896"/>
          </a:xfrm>
          <a:prstGeom prst="rect">
            <a:avLst/>
          </a:prstGeom>
          <a:noFill/>
        </p:spPr>
        <p:txBody>
          <a:bodyPr wrap="none" lIns="45720" rIns="45720" tIns="27432" bIns="27432" anchor="t">
            <a:spAutoFit/>
          </a:bodyPr>
          <a:lstStyle/>
          <a:p>
            <a:pPr algn="l"/>
            <a:r>
              <a:rPr sz="1400" b="0">
                <a:solidFill>
                  <a:srgbClr val="1664AA"/>
                </a:solidFill>
                <a:latin typeface="Aptos"/>
              </a:rPr>
              <a:t>https://climate.copernicus.eu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2788920"/>
            <a:ext cx="6583680" cy="475488"/>
          </a:xfrm>
          <a:prstGeom prst="rect">
            <a:avLst/>
          </a:prstGeom>
          <a:noFill/>
        </p:spPr>
        <p:txBody>
          <a:bodyPr wrap="none" lIns="45720" rIns="45720" tIns="27432" bIns="27432" anchor="t">
            <a:spAutoFit/>
          </a:bodyPr>
          <a:lstStyle/>
          <a:p>
            <a:pPr algn="l"/>
            <a:r>
              <a:rPr sz="1200" b="0">
                <a:solidFill>
                  <a:srgbClr val="374151"/>
                </a:solidFill>
                <a:latin typeface="Aptos"/>
              </a:rPr>
              <a:t>Citation markers [1]-[6] remain on the original content slides.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20840"/>
            <a:ext cx="9144000" cy="36576"/>
          </a:xfrm>
          <a:prstGeom prst="rect">
            <a:avLst/>
          </a:prstGeom>
          <a:solidFill>
            <a:srgbClr val="D8E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720840"/>
            <a:ext cx="9144000" cy="36576"/>
          </a:xfrm>
          <a:prstGeom prst="rect">
            <a:avLst/>
          </a:prstGeom>
          <a:solidFill>
            <a:srgbClr val="1E48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30768" y="6510528"/>
            <a:ext cx="457200" cy="164592"/>
          </a:xfrm>
          <a:prstGeom prst="rect">
            <a:avLst/>
          </a:prstGeom>
          <a:noFill/>
        </p:spPr>
        <p:txBody>
          <a:bodyPr wrap="none" lIns="45720" rIns="45720" tIns="27432" bIns="27432" anchor="t">
            <a:spAutoFit/>
          </a:bodyPr>
          <a:lstStyle/>
          <a:p>
            <a:pPr algn="r"/>
            <a:r>
              <a:rPr sz="750" b="0">
                <a:solidFill>
                  <a:srgbClr val="5A6574"/>
                </a:solidFill>
                <a:latin typeface="Aptos"/>
              </a:rPr>
              <a:t>7/7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376</Words>
  <Application>Microsoft Macintosh PowerPoint</Application>
  <PresentationFormat>On-screen Show (4:3)</PresentationFormat>
  <Paragraphs>32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2024 Global Climate Highlights</vt:lpstr>
      <vt:lpstr>Overview</vt:lpstr>
      <vt:lpstr>2024 Climate Highlights</vt:lpstr>
      <vt:lpstr>Global Average Temperature Comparison</vt:lpstr>
      <vt:lpstr>Temperature Trends &amp; Anomalies</vt:lpstr>
      <vt:lpstr>Conclusions &amp; Outlook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Michael Ofengenden</cp:lastModifiedBy>
  <cp:revision>1</cp:revision>
  <dcterms:created xsi:type="dcterms:W3CDTF">2013-01-27T09:14:16Z</dcterms:created>
  <dcterms:modified xsi:type="dcterms:W3CDTF">2025-10-07T04:39:46Z</dcterms:modified>
  <cp:category/>
</cp:coreProperties>
</file>
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A"/>
                </a:solidFill>
                <a:latin typeface="Calibri"/>
              </a:rPr>
              <a:t>Purchase Conversion Rate (purchases / sessions)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Purchase conversion rate</c:v>
                </c:pt>
              </c:strCache>
            </c:strRef>
          </c:tx>
          <c:spPr>
            <a:solidFill>
              <a:srgbClr val="128C8C"/>
            </a:solidFill>
          </c:spPr>
          <c:dLbls>
            <c:numFmt formatCode="0.0%" sourceLinked="0"/>
            <c:txPr>
              <a:bodyPr/>
              <a:lstStyle/>
              <a:p>
                <a:pPr>
                  <a:defRPr sz="1100" b="1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Redesign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0.16505449591280655</c:v>
                </c:pt>
                <c:pt idx="1">
                  <c:v>0.1871917808219178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F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2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A"/>
                </a:solidFill>
                <a:latin typeface="Calibri"/>
              </a:rPr>
              <a:t>Checkout Completion Rate (purchases / checkout_starts)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Checkout completion rate</c:v>
                </c:pt>
              </c:strCache>
            </c:strRef>
          </c:tx>
          <c:spPr>
            <a:solidFill>
              <a:srgbClr val="E06A1F"/>
            </a:solidFill>
          </c:spPr>
          <c:dLbls>
            <c:numFmt formatCode="0.0%" sourceLinked="0"/>
            <c:txPr>
              <a:bodyPr/>
              <a:lstStyle/>
              <a:p>
                <a:pPr>
                  <a:defRPr sz="1100" b="1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Redesign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0.4717679127725857</c:v>
                </c:pt>
                <c:pt idx="1">
                  <c:v>0.49066427289048475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F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2"/>
          <c:min val="0.0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A"/>
                </a:solidFill>
                <a:latin typeface="Calibri"/>
              </a:rPr>
              <a:t>Purchase Conversion Rate by Segment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0F2A4A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900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Desktop New</c:v>
                </c:pt>
                <c:pt idx="1">
                  <c:v>Desktop Returning</c:v>
                </c:pt>
                <c:pt idx="2">
                  <c:v>Mobile New</c:v>
                </c:pt>
                <c:pt idx="3">
                  <c:v>Mobile Returning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</c:v>
                </c:pt>
                <c:pt idx="1">
                  <c:v>24.1</c:v>
                </c:pt>
                <c:pt idx="2">
                  <c:v>10.8</c:v>
                </c:pt>
                <c:pt idx="3">
                  <c:v>19.6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Redesign</c:v>
                </c:pt>
              </c:strCache>
            </c:strRef>
          </c:tx>
          <c:spPr>
            <a:solidFill>
              <a:srgbClr val="128C8C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900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Desktop New</c:v>
                </c:pt>
                <c:pt idx="1">
                  <c:v>Desktop Returning</c:v>
                </c:pt>
                <c:pt idx="2">
                  <c:v>Mobile New</c:v>
                </c:pt>
                <c:pt idx="3">
                  <c:v>Mobile Returning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18.0</c:v>
                </c:pt>
                <c:pt idx="1">
                  <c:v>26.5</c:v>
                </c:pt>
                <c:pt idx="2">
                  <c:v>13.0</c:v>
                </c:pt>
                <c:pt idx="3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F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0"/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A"/>
                </a:solidFill>
                <a:latin typeface="Calibri"/>
              </a:rPr>
              <a:t>Checkout Completion Rate by Segment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7A521A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900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Desktop New</c:v>
                </c:pt>
                <c:pt idx="1">
                  <c:v>Desktop Returning</c:v>
                </c:pt>
                <c:pt idx="2">
                  <c:v>Mobile New</c:v>
                </c:pt>
                <c:pt idx="3">
                  <c:v>Mobile Returning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47.9</c:v>
                </c:pt>
                <c:pt idx="1">
                  <c:v>57.4</c:v>
                </c:pt>
                <c:pt idx="2">
                  <c:v>36.0</c:v>
                </c:pt>
                <c:pt idx="3">
                  <c:v>50.5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Redesign</c:v>
                </c:pt>
              </c:strCache>
            </c:strRef>
          </c:tx>
          <c:spPr>
            <a:solidFill>
              <a:srgbClr val="E06A1F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900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Desktop New</c:v>
                </c:pt>
                <c:pt idx="1">
                  <c:v>Desktop Returning</c:v>
                </c:pt>
                <c:pt idx="2">
                  <c:v>Mobile New</c:v>
                </c:pt>
                <c:pt idx="3">
                  <c:v>Mobile Returning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50.0</c:v>
                </c:pt>
                <c:pt idx="1">
                  <c:v>58.9</c:v>
                </c:pt>
                <c:pt idx="2">
                  <c:v>38.7</c:v>
                </c:pt>
                <c:pt idx="3">
                  <c:v>52.3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F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A"/>
                </a:solidFill>
                <a:latin typeface="Calibri"/>
              </a:rPr>
              <a:t>Revenue per Session (USD)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session (USD)</c:v>
                </c:pt>
              </c:strCache>
            </c:strRef>
          </c:tx>
          <c:spPr>
            <a:solidFill>
              <a:srgbClr val="128C8C"/>
            </a:solidFill>
          </c:spPr>
          <c:dLbls>
            <c:numFmt formatCode="&quot;$&quot;#,##0.00" sourceLinked="0"/>
            <c:txPr>
              <a:bodyPr/>
              <a:lstStyle/>
              <a:p>
                <a:pPr>
                  <a:defRPr sz="1200" b="1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Redesign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13.69</c:v>
                </c:pt>
                <c:pt idx="1">
                  <c:v>16.19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F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/>
        <c:numFmt formatCode="&quot;$&quot;#,##0.0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A"/>
                </a:solidFill>
                <a:latin typeface="Calibri"/>
              </a:rPr>
              <a:t>Gross Revenue (USD)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 (USD)</c:v>
                </c:pt>
              </c:strCache>
            </c:strRef>
          </c:tx>
          <c:spPr>
            <a:solidFill>
              <a:srgbClr val="E06A1F"/>
            </a:solidFill>
          </c:spPr>
          <c:dLbls>
            <c:numFmt formatCode="&quot;$&quot;#,##0" sourceLinked="0"/>
            <c:txPr>
              <a:bodyPr/>
              <a:lstStyle/>
              <a:p>
                <a:pPr>
                  <a:defRPr sz="1200" b="1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Redesign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1004525</c:v>
                </c:pt>
                <c:pt idx="1">
                  <c:v>1181900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F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000.0"/>
          <c:min val="0.0"/>
        </c:scaling>
        <c:delete val="0"/>
        <c:axPos val="l"/>
        <c:majorGridlines/>
        <c:numFmt formatCode="&quot;$&quot;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A"/>
                </a:solidFill>
                <a:latin typeface="Calibri"/>
              </a:rPr>
              <a:t>Refund &amp; Support-Ticket Rates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Refund rate</c:v>
                </c:pt>
              </c:strCache>
            </c:strRef>
          </c:tx>
          <c:spPr>
            <a:solidFill>
              <a:srgbClr val="0F2A4A"/>
            </a:solidFill>
          </c:spPr>
          <c:dLbls>
            <c:numFmt formatCode="0.00&quot;%&quot;" sourceLinked="0"/>
            <c:txPr>
              <a:bodyPr/>
              <a:lstStyle/>
              <a:p>
                <a:pPr>
                  <a:defRPr sz="1000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Redesign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3.18</c:v>
                </c:pt>
                <c:pt idx="1">
                  <c:v>3.11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Support-ticket rate</c:v>
                </c:pt>
              </c:strCache>
            </c:strRef>
          </c:tx>
          <c:spPr>
            <a:solidFill>
              <a:srgbClr val="128C8C"/>
            </a:solidFill>
          </c:spPr>
          <c:dLbls>
            <c:numFmt formatCode="0.00&quot;%&quot;" sourceLinked="0"/>
            <c:txPr>
              <a:bodyPr/>
              <a:lstStyle/>
              <a:p>
                <a:pPr>
                  <a:defRPr sz="1000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Control</c:v>
                </c:pt>
                <c:pt idx="1">
                  <c:v>Redesign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5.25</c:v>
                </c:pt>
                <c:pt idx="1">
                  <c:v>5.09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F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 val="0"/>
        <c:axPos val="l"/>
        <c:majorGridlines/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F2A4A"/>
                </a:solidFill>
                <a:latin typeface="Calibri"/>
              </a:rPr>
              <a:t>Median Page-Load Latency by Segment (ms)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7A521A"/>
            </a:solidFill>
          </c:spPr>
          <c:dLbls>
            <c:numFmt formatCode="#,##0&quot; ms&quot;" sourceLinked="0"/>
            <c:txPr>
              <a:bodyPr/>
              <a:lstStyle/>
              <a:p>
                <a:pPr>
                  <a:defRPr sz="900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Desktop New</c:v>
                </c:pt>
                <c:pt idx="1">
                  <c:v>Desktop Returning</c:v>
                </c:pt>
                <c:pt idx="2">
                  <c:v>Mobile New</c:v>
                </c:pt>
                <c:pt idx="3">
                  <c:v>Mobile Returning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1420</c:v>
                </c:pt>
                <c:pt idx="1">
                  <c:v>1360</c:v>
                </c:pt>
                <c:pt idx="2">
                  <c:v>1980</c:v>
                </c:pt>
                <c:pt idx="3">
                  <c:v>1870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Redesign</c:v>
                </c:pt>
              </c:strCache>
            </c:strRef>
          </c:tx>
          <c:spPr>
            <a:solidFill>
              <a:srgbClr val="E06A1F"/>
            </a:solidFill>
          </c:spPr>
          <c:dLbls>
            <c:numFmt formatCode="#,##0&quot; ms&quot;" sourceLinked="0"/>
            <c:txPr>
              <a:bodyPr/>
              <a:lstStyle/>
              <a:p>
                <a:pPr>
                  <a:defRPr sz="900">
                    <a:solidFill>
                      <a:srgbClr val="0F2A4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Desktop New</c:v>
                </c:pt>
                <c:pt idx="1">
                  <c:v>Desktop Returning</c:v>
                </c:pt>
                <c:pt idx="2">
                  <c:v>Mobile New</c:v>
                </c:pt>
                <c:pt idx="3">
                  <c:v>Mobile Returning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1490</c:v>
                </c:pt>
                <c:pt idx="1">
                  <c:v>1410</c:v>
                </c:pt>
                <c:pt idx="2">
                  <c:v>2110</c:v>
                </c:pt>
                <c:pt idx="3">
                  <c:v>1990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F2A4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00.0"/>
          <c:min val="0.0"/>
        </c:scaling>
        <c:delete val="0"/>
        <c:axPos val="l"/>
        <c:majorGridlines/>
        <c:numFmt formatCode="#,##0&quot; ms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95959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FC4D6"/>
                </a:solidFill>
                <a:latin typeface="Calibri"/>
              </a:rPr>
              <a:t>SLIDE 1 · EXPERIMENT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Checkout Redesign A/B Test — Setup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Rigorous, data-driven readout for Product, Growth, Design &amp; Engineering leadership.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8C8C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Control: existing checkout experience (current production).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Redesign: new checkout flow with streamlined steps and revised UI.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Randomized 1:1 split; sessions assigned on first checkout entry.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Duration: Q1–Q2 2026. No overlapping checkout experiments.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8C8C"/>
                </a:solidFill>
                <a:latin typeface="Calibri"/>
              </a:rPr>
              <a:t>Segments 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Desktop New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Desktop Returning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Mobile New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Mobile Returning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New vs Returning by device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874519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8C8C"/>
                </a:solidFill>
                <a:latin typeface="Calibri"/>
              </a:rPr>
              <a:t>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2402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Primary: purchase conversion rate (purchases / sessions).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Secondary: checkout completion rate (purchases / checkout_starts).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Revenue: revenue per session, gross revenue.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2A4A"/>
                </a:solidFill>
                <a:latin typeface="Calibri"/>
              </a:rPr>
              <a:t>• Guardrails: refund rate, support-ticket rate, page-load latency.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Calibri"/>
              </a:rPr>
              <a:t>Sample size (sessions) by variant × segment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5212080"/>
          <a:ext cx="1124712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520440"/>
                <a:gridCol w="3520440"/>
              </a:tblGrid>
              <a:tr h="17526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Control sessions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Redesign sessions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Desktop New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18,500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18,200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Desktop Returning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13,200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13,000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Mobile New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24,600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24,900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Mobile Returning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17,100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16,900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2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73,400</a:t>
                      </a:r>
                    </a:p>
                  </a:txBody>
                  <a:tcPr>
                    <a:solidFill>
                      <a:srgbClr val="12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73,000</a:t>
                      </a:r>
                    </a:p>
                  </a:txBody>
                  <a:tcPr>
                    <a:solidFill>
                      <a:srgbClr val="128C8C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Note: source CSV provides counts only — no statistical test results. Significance not assessed.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Checkout Redesign Experiment  |  Q1–Q2 2026  |  Data-driven decision memo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FC4D6"/>
                </a:solidFill>
                <a:latin typeface="Calibri"/>
              </a:rPr>
              <a:t>SLIDE 2 · OVERALL FUNNEL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Overall Conversion Rate &amp; Checkout Completion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Conversion rate (purchases / sessions) and checkout completion rate (purchases / checkout_starts) are reported separately, per readout spec.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783080"/>
          <a:ext cx="5486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63640" y="1783080"/>
          <a:ext cx="54864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715000"/>
            <a:ext cx="1129284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779008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8C8C"/>
                </a:solidFill>
                <a:latin typeface="Calibri"/>
              </a:rP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932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F2A4A"/>
                </a:solidFill>
                <a:latin typeface="Calibri"/>
              </a:rPr>
              <a:t>Redesign lifts purchase conversion 16.5% → 18.7% (+2.2 pp) and checkout completion 47.2% → 49.1% (+1.9 pp). Point estimates only — significance not tested.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Checkout Redesign Experiment  |  Q1–Q2 2026  |  Data-driven decision memo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FC4D6"/>
                </a:solidFill>
                <a:latin typeface="Calibri"/>
              </a:rPr>
              <a:t>SLIDE 3 · SEGMENT-LEVEL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Segment-level Conversion &amp; Completion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Gains are directionally consistent across all four segments; Returning users show the highest absolute rates.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783080"/>
          <a:ext cx="1129284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4251960"/>
          <a:ext cx="1129284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Checkout Redesign Experiment  |  Q1–Q2 2026  |  Data-driven decision memo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FC4D6"/>
                </a:solidFill>
                <a:latin typeface="Calibri"/>
              </a:rPr>
              <a:t>SLIDE 4 · REVENUE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Revenue per Session &amp; Gross Revenue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Redesign delivers higher revenue per session and higher gross revenue at the aggregate level.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783080"/>
          <a:ext cx="5486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63640" y="1783080"/>
          <a:ext cx="54864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715000"/>
            <a:ext cx="1129284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779008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8C8C"/>
                </a:solidFill>
                <a:latin typeface="Calibri"/>
              </a:rP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932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F2A4A"/>
                </a:solidFill>
                <a:latin typeface="Calibri"/>
              </a:rPr>
              <a:t>Revenue per session: $13.69 → $16.19 (+18.3%). Gross revenue: $1,004,525 → $1,181,900 (+17.7%). Note: sessions are not perfectly equal across variants.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Checkout Redesign Experiment  |  Q1–Q2 2026  |  Data-driven decision memo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FC4D6"/>
                </a:solidFill>
                <a:latin typeface="Calibri"/>
              </a:rPr>
              <a:t>SLIDE 5 ·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Guardrails: Refund Rate, Support-Ticket Rate, Page-Load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Quality guardrails remain near parity. Page-load latency regresses on every segment, most severely on Mobile.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783080"/>
          <a:ext cx="5486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63640" y="1783080"/>
          <a:ext cx="54864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715000"/>
            <a:ext cx="11292840" cy="71323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779008"/>
            <a:ext cx="110642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28C8C"/>
                </a:solidFill>
                <a:latin typeface="Calibri"/>
              </a:rPr>
              <a:t>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932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F2A4A"/>
                </a:solidFill>
                <a:latin typeface="Calibri"/>
              </a:rPr>
              <a:t>Refund rate 3.18% → 3.11%; support-ticket rate 5.25% → 5.09% (both ~flat). Page-load regresses everywhere: Mobile New +130 ms, Mobile Returning +120 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Checkout Redesign Experiment  |  Q1–Q2 2026  |  Data-driven decision memo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FC4D6"/>
                </a:solidFill>
                <a:latin typeface="Calibri"/>
              </a:rPr>
              <a:t>SLIDE 6 ·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Recommendation: Iterate — Phased Launch, Hold Mobile Pending Latency 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92840" cy="6858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Verdict: ITERATE — launch Redesign on Desktop now; hold Mobile pending page-load optimization.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28C8C"/>
                </a:solidFill>
                <a:latin typeface="Calibri"/>
              </a:rPr>
              <a:t>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F2A4A"/>
                </a:solidFill>
                <a:latin typeface="Calibri"/>
              </a:rPr>
              <a:t>• Conversion up across all segments (point estimates): +2.2 pp overall purchase conversion, +1.9 pp checkout completion.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2A4A"/>
                </a:solidFill>
                <a:latin typeface="Calibri"/>
              </a:rPr>
              <a:t>• Revenue per session +18.3%; gross revenue +17.6% (aggregate, unequal sessions).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2A4A"/>
                </a:solidFill>
                <a:latin typeface="Calibri"/>
              </a:rPr>
              <a:t>• Refund and support-ticket rates flat or marginally better — no quality regression.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2A4A"/>
                </a:solidFill>
                <a:latin typeface="Calibri"/>
              </a:rPr>
              <a:t>• Desktop latency regression is small (+50 to +70 ms) and acceptable vs revenue 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E06A1F"/>
                </a:solidFill>
                <a:latin typeface="Calibri"/>
              </a:rPr>
              <a:t>Caveats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5603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F2A4A"/>
                </a:solidFill>
                <a:latin typeface="Calibri"/>
              </a:rPr>
              <a:t>• Significance not assessed — CSV has counts only; run z-tests / bootstrap CIs before full rollout.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2A4A"/>
                </a:solidFill>
                <a:latin typeface="Calibri"/>
              </a:rPr>
              <a:t>• Mobile page-load regressed +120–130 ms; prioritize perf fix before Mobile launch (Core Web Vitals risk).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2A4A"/>
                </a:solidFill>
                <a:latin typeface="Calibri"/>
              </a:rPr>
              <a:t>• Sessions unequal across variants (73.4k vs 73.0k); validate randomization and SRM check.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2A4A"/>
                </a:solidFill>
                <a:latin typeface="Calibri"/>
              </a:rPr>
              <a:t>• Monitor refund/support ticket rates post-launch for delayed regressions.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F2A4A"/>
                </a:solidFill>
                <a:latin typeface="Calibri"/>
              </a:rPr>
              <a:t>• Re-evaluate Mobile after latency remediation; consider staged 10/50/100% ramp.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F2A4A"/>
                </a:solidFill>
                <a:latin typeface="Calibri"/>
              </a:rPr>
              <a:t>Segment launch plan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5852160"/>
          <a:ext cx="1129284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520440"/>
                <a:gridCol w="3566160"/>
              </a:tblGrid>
              <a:tr h="2286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Segment group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Desktop (New + Returning)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Launch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Ship now; monitor latency.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Mobile (New + Returning)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Hold — iterate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2A4A"/>
                          </a:solidFill>
                          <a:latin typeface="Calibri"/>
                        </a:rPr>
                        <a:t>Launch after page-load fix + significance test.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Calibri"/>
              </a:rPr>
              <a:t>Checkout Redesign Experiment  |  Q1–Q2 2026  |  Data-driven decision memo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
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rgbClr val="009688"/>
            </a:solidFill>
          </c:spPr>
          <c:cat>
            <c:strRef>
              <c:f>Sheet1!$A$2:$A$4</c:f>
              <c:strCache>
                <c:ptCount val="3"/>
                <c:pt idx="0">
                  <c:v>1999 (Y1)</c:v>
                </c:pt>
                <c:pt idx="1">
                  <c:v>2000 (Y2)</c:v>
                </c:pt>
                <c:pt idx="2">
                  <c:v>2001 (Y3)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240450</c:v>
                </c:pt>
                <c:pt idx="1">
                  <c:v>425940</c:v>
                </c:pt>
                <c:pt idx="2">
                  <c:v>592194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Income</c:v>
                </c:pt>
              </c:strCache>
            </c:strRef>
          </c:tx>
          <c:spPr>
            <a:solidFill>
              <a:srgbClr val="C8AA6E"/>
            </a:solidFill>
          </c:spPr>
          <c:cat>
            <c:strRef>
              <c:f>Sheet1!$A$2:$A$4</c:f>
              <c:strCache>
                <c:ptCount val="3"/>
                <c:pt idx="0">
                  <c:v>1999 (Y1)</c:v>
                </c:pt>
                <c:pt idx="1">
                  <c:v>2000 (Y2)</c:v>
                </c:pt>
                <c:pt idx="2">
                  <c:v>2001 (Y3)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58450</c:v>
                </c:pt>
                <c:pt idx="1">
                  <c:v>107880</c:v>
                </c:pt>
                <c:pt idx="2">
                  <c:v>149988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Income</c:v>
                </c:pt>
              </c:strCache>
            </c:strRef>
          </c:tx>
          <c:spPr>
            <a:solidFill>
              <a:srgbClr val="1B2A49"/>
            </a:solidFill>
          </c:spPr>
          <c:cat>
            <c:strRef>
              <c:f>Sheet1!$A$2:$A$4</c:f>
              <c:strCache>
                <c:ptCount val="3"/>
                <c:pt idx="0">
                  <c:v>1999 (Y1)</c:v>
                </c:pt>
                <c:pt idx="1">
                  <c:v>2000 (Y2)</c:v>
                </c:pt>
                <c:pt idx="2">
                  <c:v>2001 (Y3)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15085</c:v>
                </c:pt>
                <c:pt idx="1">
                  <c:v>35686</c:v>
                </c:pt>
                <c:pt idx="2">
                  <c:v>46822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FANCY'S FOODS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8AA6E"/>
                </a:solidFill>
                <a:latin typeface="Calibri"/>
              </a:defRPr>
            </a:pPr>
            <a:r>
              <a:t>Whipped Dream — Gourmet Flavored Whipped Cream Topping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228600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Investor &amp; Channel Partner Pitch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Keith Bean &amp; Marianne Bean  |  Antlers, Oklahoma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Market Gap in Whipped Toppings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0040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88"/>
                </a:solidFill>
                <a:latin typeface="Calibri"/>
              </a:defRPr>
            </a:pPr>
            <a:r>
              <a:t>$268B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U.S. Dairy Market</a:t>
            </a:r>
            <a:br/>
            <a:r>
              <a:t>(Annual)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20040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88"/>
                </a:solidFill>
                <a:latin typeface="Calibri"/>
              </a:defRPr>
            </a:pPr>
            <a:r>
              <a:t>1.5–2%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Annual Dairy Growth</a:t>
            </a:r>
            <a:br/>
            <a:r>
              <a:t>Rate Projection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371600"/>
            <a:ext cx="320040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173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88"/>
                </a:solidFill>
                <a:latin typeface="Calibri"/>
              </a:defRPr>
            </a:pPr>
            <a:r>
              <a:t>$39B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Gourmet/Specialty</a:t>
            </a:r>
            <a:br/>
            <a:r>
              <a:t>Foods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The Problem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National-brand whipped toppings (Kraft, Sara Lee) dominate retail with ~65% frozen tub and ~35% pressurized can share.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None of these major brands produce or market a flavored whipped topping — only plain or 'whipped topping' (often non-dairy).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Competitor retail price: $1.29–$1.89 per 8 oz tub or 6 oz can.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Double-digit growth in gourmet/specialty foods creates an unmet need for premium flavored dairy toppings.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Whipped Dream — Product Line &amp;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Four Gourmet Flavors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Chocolate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Raspberry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Cinnamon Almond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Strawberry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Product Formats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Frozen tubs: 8 oz &amp; 12 oz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Pressurized cans: 6 oz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Shelf Life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21 days refrigerated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Up to 6 months frozen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Key Differentiators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First-to-market flavored whipped cream topping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Real dairy based (not imitation topping)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Gourmet/specialty positioning with professionally developed labeling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18 years of restaurant-proven recipes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Focus-group-validated packaging and appeal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Proven Demand — Restaurant Roots &amp; Customer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Restaurant Track Record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First restaurant opened: Antlers, OK (1981)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Second location: Hugo, OK (1988)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Special notoriety for desserts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18+ years producing flavored whipped cream at commercial scale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Existing Infrastructure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50-gallon high-speed mixer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Nitrous oxide pressurized tank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10' × 10' walk-in freezer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Market Validation Signals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Years of customer requests to sell toppings separately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Pruett's IGA (Antlers) — letter of intent to carry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Gardiner's Grocery (Antlers) — emphasis on specialty foods, letter of endorsement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Pruett's (Hugo) — letter of intent to carry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Focus group study at Oklahoma State University confirmed product appeal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Phased Geographic Expansion 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76809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Launch Year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Monthly Units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Antlers, OK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1999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2,000/mo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 grocery (IGA, Gardiner's)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Hugo, 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3,000/mo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 grocery (Pruett's)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Oklahoma City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1999 (5 months)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9,000/mo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"Made in Oklahoma" program + Pratt's Foods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Tulsa, 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9,000/mo (6 months)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Grocery &amp; specialty markets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Key metrics: Year 1 — 105,000 total units at $2.29/unit (5% market share target). Year 2 — 186,000 units (10% growth). Year 3 — 258,600 units (Tulsa entry).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Dual-Channel Distribution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Calibri"/>
              </a:defRPr>
            </a:pPr>
            <a:r>
              <a:t>Frozen Tubs (8 oz &amp; 12 oz)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Produced in-house at restaurant facilities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50-gallon mixer + walk-in freezer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Production during off-hours (per health dept.)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Process already established at commercial scale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Target: grocery frozen dairy sections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In-store demos paired with fresh fruit (summer) and hot beverages (winter)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Calibri"/>
              </a:defRPr>
            </a:pPr>
            <a:r>
              <a:t>Pressurized Cans (6 oz)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Co-manufactured with Farm Fresh (Oklahoma dairy processor)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Non-competition / non-disclosure agreement in place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Focus group validated strong preference for pressurized format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Target: premium refrigerated sections + specialty stores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Attractive gourmet labeling developed with OSU marketing specialist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Competitive Landscape &amp; Our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Competitor Weaknesses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Kraft &amp; Sara Lee dominate but offer ZERO flavored varieties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Many 'whipped toppings' are not real dairy based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No gourmet/specialty positioning in the category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Price range: $1.29–$1.89 per unit (commodity pricing)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Innovation vacuum — category has stagnated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Fancy's Foods Advantage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Only flavored whipped cream topping on the market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100% real dairy, gourmet positioning at $2.29/unit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18 years of customer-validated recipes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Established local brand trust in southeastern Oklahoma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Proven retail interest with signed letters of intent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Professional packaging validated by focus group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Scalable Manufacturing &amp; Strategic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In-House Production (Frozen Tubs)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Facilities: Two existing restaurant kitchens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Equipment: 50-gallon mixer, pressurized nitrous tank, walk-in freezer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Regulatory: Approved by Pushmataha County Health Dept. for off-hours retail production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Status: Already producing at commercial scale for restaurant use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Quality Assurance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21-day refrigerated / 6-month frozen shelf life validated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Linda Byford (OSU) — label development &amp; consumer focus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Co-Manufacturing (Pressurized Cans)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Partner: Farm Fresh — Oklahoma-based dairy processor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Agreement: Signed non-competition / non-disclosure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Enables scalable can production without capital investment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Go-to-Market Support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"Made in Oklahoma" Demonstration Program (OK Dept. of Agriculture)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Pratt's Foods partnership for Oklahoma City entry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In-store demonstration strategy with seasonal pairings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Financial Projections — Proven Path to Profitability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106984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512064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 (1999)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 (2000)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 (2001)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Sales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$240,450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$425,940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$592,194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Price: $2.29/unit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Income After 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$15,085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$35,686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$46,822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Owners draw salary Y3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Positive Cash Flow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$21,550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$50,980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$66,888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Before-tax income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Financial Health, Risks &amp; Contingency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Ratio (Y1)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Return on Equity (ROE)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10.88%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Current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Quick Ratio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Debt to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Contingency Triggers &amp;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Threshold: 10% deviation from targets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1. Low Sales (Y1): Double in-store promotions on weekends; escalate to weekly circular ads if no improvement in 1 month.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2. Low Metro Sales (OKC/Tulsa): Contract local marketing specialists on sales commission after 6 months.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3. Liquidity Issue: Review A/R procedures; re-forecast cash flow for unforeseen expenses.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4. Low ROE: Compare per-unit costs vs. prices; consider specialty-store price increase; minimize production costs; evaluate alternative distribution.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Partnership &amp; Investment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We are seeking early-stage investment and channel distribution partnerships to scale Whipped Dream.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Investment Thesis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Proven product: 18 years of restaurant validation with paying customers.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Market gap: Zero flavored whipped cream toppings from major brands in a $268B dairy market.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Demonstrated demand: Letters of intent from 3 grocery retailers + focus-group-validated packaging.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Financial proof: 10.88% ROE in Year 1; positive cash flow from launch; scaling to ~$592K revenue by Year 3.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Manufacturing ready: In-house frozen tub production + contracted pressurized can production with Farm Fresh.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Low-risk rollout: Phased geographic expansion from local trust markets to metro Oklahoma.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Use of Funds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Scale production capacity for frozen tubs and pressurized cans.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Fund in-store demonstrations and market entry programs in Oklahoma City and Tulsa.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Support working capital for inventory build and accounts receivable cycle.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Pursue expanded distribution beyond Oklahoma into regional specialty/gourmet channels.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1996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Fancy's Foods, LLC  |  2409 Oak Hollow Drive, Antlers, OK 74523  |  (580) 298-2234  |  Keith &amp; Marianne Bean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
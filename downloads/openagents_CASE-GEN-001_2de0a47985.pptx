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 ($B)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Dairy products</c:v>
                </c:pt>
                <c:pt idx="1">
                  <c:v>Gourmet/specialty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268</c:v>
                </c:pt>
                <c:pt idx="1">
                  <c:v>39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Antlers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1999</c:v>
                </c:pt>
                <c:pt idx="1">
                  <c:v>2000</c:v>
                </c:pt>
                <c:pt idx="2">
                  <c:v>2001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24000</c:v>
                </c:pt>
                <c:pt idx="1">
                  <c:v>26400</c:v>
                </c:pt>
                <c:pt idx="2">
                  <c:v>29040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Hugo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1999</c:v>
                </c:pt>
                <c:pt idx="1">
                  <c:v>2000</c:v>
                </c:pt>
                <c:pt idx="2">
                  <c:v>2001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36000</c:v>
                </c:pt>
                <c:pt idx="1">
                  <c:v>39600</c:v>
                </c:pt>
                <c:pt idx="2">
                  <c:v>43560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Oklahoma City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1999</c:v>
                </c:pt>
                <c:pt idx="1">
                  <c:v>2000</c:v>
                </c:pt>
                <c:pt idx="2">
                  <c:v>2001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45000</c:v>
                </c:pt>
                <c:pt idx="1">
                  <c:v>120000</c:v>
                </c:pt>
                <c:pt idx="2">
                  <c:v>132000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Tulsa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1999</c:v>
                </c:pt>
                <c:pt idx="1">
                  <c:v>2000</c:v>
                </c:pt>
                <c:pt idx="2">
                  <c:v>2001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54000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Market format split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Frozen tub</c:v>
                </c:pt>
                <c:pt idx="1">
                  <c:v>Pressurized can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65</c:v>
                </c:pt>
                <c:pt idx="1">
                  <c:v>35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legend>
      <c:legendPos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Net sales ($000)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1999</c:v>
                </c:pt>
                <c:pt idx="1">
                  <c:v>2000</c:v>
                </c:pt>
                <c:pt idx="2">
                  <c:v>2001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240.45</c:v>
                </c:pt>
                <c:pt idx="1">
                  <c:v>425.94</c:v>
                </c:pt>
                <c:pt idx="2">
                  <c:v>592.194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income after tax ($000)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1999</c:v>
                </c:pt>
                <c:pt idx="1">
                  <c:v>2000</c:v>
                </c:pt>
                <c:pt idx="2">
                  <c:v>2001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15.085</c:v>
                </c:pt>
                <c:pt idx="1">
                  <c:v>35.686</c:v>
                </c:pt>
                <c:pt idx="2">
                  <c:v>46.8216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27080" cy="4114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300" b="1">
                <a:solidFill>
                  <a:srgbClr val="111F34"/>
                </a:solidFill>
              </a:rPr>
              <a:t>A $307 Billion Market Opportunity with an Unmet Flavor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10332720" cy="329184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050" b="0">
                <a:solidFill>
                  <a:srgbClr val="637284"/>
                </a:solidFill>
              </a:rPr>
              <a:t>The U.S. dairy and gourmet/specialty food markets represent a combined $307 billion opportunity, yet no major player offers a flavored whipped topping - leaving a clear opening for a differentiated product.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768096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650" b="0">
                <a:solidFill>
                  <a:srgbClr val="637284"/>
                </a:solidFill>
              </a:rPr>
              <a:t>Source: Oklahoma State University, A Sample Business Plan for Small Food Businesses, Jan 2006.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/>
            <a:r>
              <a:rPr sz="700" b="0">
                <a:solidFill>
                  <a:srgbClr val="637284"/>
                </a:solidFill>
              </a:rPr>
              <a:t>1/10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2148840" cy="960120"/>
          </a:xfrm>
          <a:prstGeom prst="roundRect">
            <a:avLst/>
          </a:prstGeom>
          <a:solidFill>
            <a:srgbClr val="F7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defRPr sz="2200" b="1">
                <a:solidFill>
                  <a:srgbClr val="3069B4"/>
                </a:solidFill>
              </a:defRPr>
            </a:pPr>
            <a:r>
              <a:t>$268B</a:t>
            </a:r>
          </a:p>
          <a:p>
            <a:pPr>
              <a:defRPr sz="900">
                <a:solidFill>
                  <a:srgbClr val="637284"/>
                </a:solidFill>
              </a:defRPr>
            </a:pPr>
            <a:r>
              <a:t>Annual U.S. dairy market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1325880"/>
            <a:ext cx="2148840" cy="960120"/>
          </a:xfrm>
          <a:prstGeom prst="roundRect">
            <a:avLst/>
          </a:prstGeom>
          <a:solidFill>
            <a:srgbClr val="F7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defRPr sz="2200" b="1">
                <a:solidFill>
                  <a:srgbClr val="168477"/>
                </a:solidFill>
              </a:defRPr>
            </a:pPr>
            <a:r>
              <a:t>$39B</a:t>
            </a:r>
          </a:p>
          <a:p>
            <a:pPr>
              <a:defRPr sz="900">
                <a:solidFill>
                  <a:srgbClr val="637284"/>
                </a:solidFill>
              </a:defRPr>
            </a:pPr>
            <a:r>
              <a:t>Domestic gourmet/specialty foods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60" y="1325880"/>
            <a:ext cx="2148840" cy="960120"/>
          </a:xfrm>
          <a:prstGeom prst="roundRect">
            <a:avLst/>
          </a:prstGeom>
          <a:solidFill>
            <a:srgbClr val="F7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defRPr sz="2200" b="1">
                <a:solidFill>
                  <a:srgbClr val="4B914E"/>
                </a:solidFill>
              </a:defRPr>
            </a:pPr>
            <a:r>
              <a:t>1.5-2%</a:t>
            </a:r>
          </a:p>
          <a:p>
            <a:pPr>
              <a:defRPr sz="900">
                <a:solidFill>
                  <a:srgbClr val="637284"/>
                </a:solidFill>
              </a:defRPr>
            </a:pPr>
            <a:r>
              <a:t>Expected dairy consumption growth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85800" y="2697480"/>
          <a:ext cx="489204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172200" y="2514600"/>
            <a:ext cx="5120640" cy="237744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11F34"/>
                </a:solidFill>
              </a:defRPr>
            </a:pPr>
            <a:r>
              <a:t>- The plan frames Whipped Dream in dairy products and gourmet/specialty foods.</a:t>
            </a:r>
          </a:p>
          <a:p>
            <a:pPr>
              <a:spcAft>
                <a:spcPts val="700"/>
              </a:spcAft>
              <a:defRPr sz="1400">
                <a:solidFill>
                  <a:srgbClr val="111F34"/>
                </a:solidFill>
              </a:defRPr>
            </a:pPr>
            <a:r>
              <a:t>- The dairy market is large and still expected to grow modestly.</a:t>
            </a:r>
          </a:p>
          <a:p>
            <a:pPr>
              <a:spcAft>
                <a:spcPts val="700"/>
              </a:spcAft>
              <a:defRPr sz="1400">
                <a:solidFill>
                  <a:srgbClr val="111F34"/>
                </a:solidFill>
              </a:defRPr>
            </a:pPr>
            <a:r>
              <a:t>- The gourmet/specialty segment supports premium positioning.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172200" y="4983480"/>
          <a:ext cx="4937760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468880"/>
              </a:tblGrid>
              <a:tr h="3429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Market context</a:t>
                      </a:r>
                    </a:p>
                  </a:txBody>
                  <a:tcPr marL="36576" marR="36576" marT="27432" marB="27432">
                    <a:solidFill>
                      <a:srgbClr val="11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Source figure</a:t>
                      </a:r>
                    </a:p>
                  </a:txBody>
                  <a:tcPr marL="36576" marR="36576" marT="27432" marB="27432">
                    <a:solidFill>
                      <a:srgbClr val="111F34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F34"/>
                          </a:solidFill>
                        </a:defRPr>
                      </a:pPr>
                      <a:r>
                        <a:t>Dairy + specialty opportunity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F34"/>
                          </a:solidFill>
                        </a:defRPr>
                      </a:pPr>
                      <a:r>
                        <a:t>$268B + $39B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27080" cy="4114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300" b="1">
                <a:solidFill>
                  <a:srgbClr val="111F34"/>
                </a:solidFill>
              </a:rPr>
              <a:t>Whipped Dream: Gourmet Flavored Whipped Cream in Multiple Formats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10332720" cy="329184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050" b="0">
                <a:solidFill>
                  <a:srgbClr val="637284"/>
                </a:solidFill>
              </a:rPr>
              <a:t>Four signature flavors, validated over 18 years of restaurant service, now packaged for retail in frozen tubs and pressurized cans with a gourmet-focused label.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768096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650" b="0">
                <a:solidFill>
                  <a:srgbClr val="637284"/>
                </a:solidFill>
              </a:rPr>
              <a:t>Source: Oklahoma State University, A Sample Business Plan for Small Food Businesses, Jan 2006.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/>
            <a:r>
              <a:rPr sz="700" b="0">
                <a:solidFill>
                  <a:srgbClr val="637284"/>
                </a:solidFill>
              </a:rPr>
              <a:t>2/10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234440"/>
          <a:ext cx="55778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</a:tblGrid>
              <a:tr h="457200"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FFFFFF"/>
                          </a:solidFill>
                        </a:defRPr>
                      </a:pPr>
                      <a:r>
                        <a:t>Attribute</a:t>
                      </a:r>
                    </a:p>
                  </a:txBody>
                  <a:tcPr marL="36576" marR="36576" marT="27432" marB="27432">
                    <a:solidFill>
                      <a:srgbClr val="11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FFFFFF"/>
                          </a:solidFill>
                        </a:defRPr>
                      </a:pPr>
                      <a:r>
                        <a:t>Source detail</a:t>
                      </a:r>
                    </a:p>
                  </a:txBody>
                  <a:tcPr marL="36576" marR="36576" marT="27432" marB="27432">
                    <a:solidFill>
                      <a:srgbClr val="11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FFFFFF"/>
                          </a:solidFill>
                        </a:defRPr>
                      </a:pPr>
                      <a:r>
                        <a:t>Investor relevance</a:t>
                      </a:r>
                    </a:p>
                  </a:txBody>
                  <a:tcPr marL="36576" marR="36576" marT="27432" marB="27432">
                    <a:solidFill>
                      <a:srgbClr val="111F3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19" b="0">
                          <a:solidFill>
                            <a:srgbClr val="111F34"/>
                          </a:solidFill>
                        </a:defRPr>
                      </a:pPr>
                      <a:r>
                        <a:t>Flavors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0">
                          <a:solidFill>
                            <a:srgbClr val="111F34"/>
                          </a:solidFill>
                        </a:defRPr>
                      </a:pPr>
                      <a:r>
                        <a:t>Chocolate, raspberry, cinnamon almond, strawberry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0">
                          <a:solidFill>
                            <a:srgbClr val="111F34"/>
                          </a:solidFill>
                        </a:defRPr>
                      </a:pPr>
                      <a:r>
                        <a:t>More variety than standard toppings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19" b="0">
                          <a:solidFill>
                            <a:srgbClr val="111F34"/>
                          </a:solidFill>
                        </a:defRPr>
                      </a:pPr>
                      <a:r>
                        <a:t>Frozen tubs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0">
                          <a:solidFill>
                            <a:srgbClr val="111F34"/>
                          </a:solidFill>
                        </a:defRPr>
                      </a:pPr>
                      <a:r>
                        <a:t>8 oz and 12 oz plastic tubs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0">
                          <a:solidFill>
                            <a:srgbClr val="111F34"/>
                          </a:solidFill>
                        </a:defRPr>
                      </a:pPr>
                      <a:r>
                        <a:t>Retail freezer format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19" b="0">
                          <a:solidFill>
                            <a:srgbClr val="111F34"/>
                          </a:solidFill>
                        </a:defRPr>
                      </a:pPr>
                      <a:r>
                        <a:t>Pressurized can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0">
                          <a:solidFill>
                            <a:srgbClr val="111F34"/>
                          </a:solidFill>
                        </a:defRPr>
                      </a:pPr>
                      <a:r>
                        <a:t>6 oz cans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0">
                          <a:solidFill>
                            <a:srgbClr val="111F34"/>
                          </a:solidFill>
                        </a:defRPr>
                      </a:pPr>
                      <a:r>
                        <a:t>Convenience format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19" b="0">
                          <a:solidFill>
                            <a:srgbClr val="111F34"/>
                          </a:solidFill>
                        </a:defRPr>
                      </a:pPr>
                      <a:r>
                        <a:t>Shelf life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0">
                          <a:solidFill>
                            <a:srgbClr val="111F34"/>
                          </a:solidFill>
                        </a:defRPr>
                      </a:pPr>
                      <a:r>
                        <a:t>21 days refrigerated; up to 6 months frozen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0">
                          <a:solidFill>
                            <a:srgbClr val="111F34"/>
                          </a:solidFill>
                        </a:defRPr>
                      </a:pPr>
                      <a:r>
                        <a:t>Manageable inventory window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19" b="0">
                          <a:solidFill>
                            <a:srgbClr val="111F34"/>
                          </a:solidFill>
                        </a:defRPr>
                      </a:pPr>
                      <a:r>
                        <a:t>Price point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0">
                          <a:solidFill>
                            <a:srgbClr val="111F34"/>
                          </a:solidFill>
                        </a:defRPr>
                      </a:pPr>
                      <a:r>
                        <a:t>$2.29/unit planned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0">
                          <a:solidFill>
                            <a:srgbClr val="111F34"/>
                          </a:solidFill>
                        </a:defRPr>
                      </a:pPr>
                      <a:r>
                        <a:t>Premium vs. national brands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629400" y="1234440"/>
            <a:ext cx="4526280" cy="210312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111F34"/>
                </a:solidFill>
              </a:defRPr>
            </a:pPr>
            <a:r>
              <a:t>- Differentiation is flavor-led, not technology-led.</a:t>
            </a:r>
          </a:p>
          <a:p>
            <a:pPr>
              <a:spcAft>
                <a:spcPts val="700"/>
              </a:spcAft>
              <a:defRPr sz="1350">
                <a:solidFill>
                  <a:srgbClr val="111F34"/>
                </a:solidFill>
              </a:defRPr>
            </a:pPr>
            <a:r>
              <a:t>- Formats match both frozen tub and pressurized-can consumption patterns.</a:t>
            </a:r>
          </a:p>
          <a:p>
            <a:pPr>
              <a:spcAft>
                <a:spcPts val="700"/>
              </a:spcAft>
              <a:defRPr sz="1350">
                <a:solidFill>
                  <a:srgbClr val="111F34"/>
                </a:solidFill>
              </a:defRPr>
            </a:pPr>
            <a:r>
              <a:t>- Product claims are limited to the categories and shelf-life stated in the PDF.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3977639"/>
            <a:ext cx="1508760" cy="822960"/>
          </a:xfrm>
          <a:prstGeom prst="roundRect">
            <a:avLst/>
          </a:prstGeom>
          <a:solidFill>
            <a:srgbClr val="F7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defRPr sz="2200" b="1">
                <a:solidFill>
                  <a:srgbClr val="168477"/>
                </a:solidFill>
              </a:defRPr>
            </a:pPr>
            <a:r>
              <a:t>4</a:t>
            </a:r>
          </a:p>
          <a:p>
            <a:pPr>
              <a:defRPr sz="900">
                <a:solidFill>
                  <a:srgbClr val="637284"/>
                </a:solidFill>
              </a:defRPr>
            </a:pPr>
            <a:r>
              <a:t>Flavors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3977639"/>
            <a:ext cx="1508760" cy="822960"/>
          </a:xfrm>
          <a:prstGeom prst="roundRect">
            <a:avLst/>
          </a:prstGeom>
          <a:solidFill>
            <a:srgbClr val="F7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defRPr sz="2200" b="1">
                <a:solidFill>
                  <a:srgbClr val="3069B4"/>
                </a:solidFill>
              </a:defRPr>
            </a:pPr>
            <a:r>
              <a:t>3</a:t>
            </a:r>
          </a:p>
          <a:p>
            <a:pPr>
              <a:defRPr sz="900">
                <a:solidFill>
                  <a:srgbClr val="637284"/>
                </a:solidFill>
              </a:defRPr>
            </a:pPr>
            <a:r>
              <a:t>Retail formats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04120" y="3977639"/>
            <a:ext cx="1508760" cy="822960"/>
          </a:xfrm>
          <a:prstGeom prst="roundRect">
            <a:avLst/>
          </a:prstGeom>
          <a:solidFill>
            <a:srgbClr val="F7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defRPr sz="2200" b="1">
                <a:solidFill>
                  <a:srgbClr val="4B914E"/>
                </a:solidFill>
              </a:defRPr>
            </a:pPr>
            <a:r>
              <a:t>6 mo.</a:t>
            </a:r>
          </a:p>
          <a:p>
            <a:pPr>
              <a:defRPr sz="900">
                <a:solidFill>
                  <a:srgbClr val="637284"/>
                </a:solidFill>
              </a:defRPr>
            </a:pPr>
            <a:r>
              <a:t>Frozen shelf life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27080" cy="4114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300" b="1">
                <a:solidFill>
                  <a:srgbClr val="111F34"/>
                </a:solidFill>
              </a:rPr>
              <a:t>18 Years of Customer Validation Across Two Established Restaurants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10332720" cy="329184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050" b="0">
                <a:solidFill>
                  <a:srgbClr val="637284"/>
                </a:solidFill>
              </a:rPr>
              <a:t>The Beans have already proven product-market fit - flavored toppings have been served and praised in their restaurants for 18 years, with three grocery retailers ready to carry the product on day 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768096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650" b="0">
                <a:solidFill>
                  <a:srgbClr val="637284"/>
                </a:solidFill>
              </a:rPr>
              <a:t>Source: Oklahoma State University, A Sample Business Plan for Small Food Businesses, Jan 2006.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/>
            <a:r>
              <a:rPr sz="700" b="0">
                <a:solidFill>
                  <a:srgbClr val="637284"/>
                </a:solidFill>
              </a:rPr>
              <a:t>3/10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234440"/>
          <a:ext cx="6400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4572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Milestone</a:t>
                      </a:r>
                    </a:p>
                  </a:txBody>
                  <a:tcPr marL="36576" marR="36576" marT="27432" marB="27432">
                    <a:solidFill>
                      <a:srgbClr val="11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Source fact</a:t>
                      </a:r>
                    </a:p>
                  </a:txBody>
                  <a:tcPr marL="36576" marR="36576" marT="27432" marB="27432">
                    <a:solidFill>
                      <a:srgbClr val="11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Signal</a:t>
                      </a:r>
                    </a:p>
                  </a:txBody>
                  <a:tcPr marL="36576" marR="36576" marT="27432" marB="27432">
                    <a:solidFill>
                      <a:srgbClr val="111F3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11F34"/>
                          </a:solidFill>
                        </a:defRPr>
                      </a:pPr>
                      <a:r>
                        <a:t>1981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11F34"/>
                          </a:solidFill>
                        </a:defRPr>
                      </a:pPr>
                      <a:r>
                        <a:t>First restaurant opened in Antlers, Oklahoma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11F34"/>
                          </a:solidFill>
                        </a:defRPr>
                      </a:pPr>
                      <a:r>
                        <a:t>Operator experience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11F34"/>
                          </a:solidFill>
                        </a:defRPr>
                      </a:pPr>
                      <a:r>
                        <a:t>1988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11F34"/>
                          </a:solidFill>
                        </a:defRPr>
                      </a:pPr>
                      <a:r>
                        <a:t>Second restaurant opened in Hugo, Oklahoma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11F34"/>
                          </a:solidFill>
                        </a:defRPr>
                      </a:pPr>
                      <a:r>
                        <a:t>Repeatability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11F34"/>
                          </a:solidFill>
                        </a:defRPr>
                      </a:pPr>
                      <a:r>
                        <a:t>Dessert reputation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11F34"/>
                          </a:solidFill>
                        </a:defRPr>
                      </a:pPr>
                      <a:r>
                        <a:t>Restaurants had special notoriety for desserts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11F34"/>
                          </a:solidFill>
                        </a:defRPr>
                      </a:pPr>
                      <a:r>
                        <a:t>Relevant demand signal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11F34"/>
                          </a:solidFill>
                        </a:defRPr>
                      </a:pPr>
                      <a:r>
                        <a:t>18 years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11F34"/>
                          </a:solidFill>
                        </a:defRPr>
                      </a:pPr>
                      <a:r>
                        <a:t>Large-quantity production and restaurant use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11F34"/>
                          </a:solidFill>
                        </a:defRPr>
                      </a:pPr>
                      <a:r>
                        <a:t>Long operational trial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52360" y="1234440"/>
            <a:ext cx="3977639" cy="192024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11F34"/>
                </a:solidFill>
              </a:defRPr>
            </a:pPr>
            <a:r>
              <a:t>- This is not a concept-only launch; the source describes repeated restaurant use.</a:t>
            </a:r>
          </a:p>
          <a:p>
            <a:pPr>
              <a:spcAft>
                <a:spcPts val="700"/>
              </a:spcAft>
              <a:defRPr sz="1300">
                <a:solidFill>
                  <a:srgbClr val="111F34"/>
                </a:solidFill>
              </a:defRPr>
            </a:pPr>
            <a:r>
              <a:t>- The initial retail plan builds from owner-operated demand and local grocery interest.</a:t>
            </a:r>
          </a:p>
          <a:p>
            <a:pPr>
              <a:spcAft>
                <a:spcPts val="700"/>
              </a:spcAft>
              <a:defRPr sz="1300">
                <a:solidFill>
                  <a:srgbClr val="111F34"/>
                </a:solidFill>
              </a:defRPr>
            </a:pPr>
            <a:r>
              <a:t>- Validation evidence remains local and operational, so expansion still needs channel proof.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3749039"/>
            <a:ext cx="1783080" cy="914400"/>
          </a:xfrm>
          <a:prstGeom prst="roundRect">
            <a:avLst/>
          </a:prstGeom>
          <a:solidFill>
            <a:srgbClr val="F7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defRPr sz="2200" b="1">
                <a:solidFill>
                  <a:srgbClr val="3069B4"/>
                </a:solidFill>
              </a:defRPr>
            </a:pPr>
            <a:r>
              <a:t>2</a:t>
            </a:r>
          </a:p>
          <a:p>
            <a:pPr>
              <a:defRPr sz="900">
                <a:solidFill>
                  <a:srgbClr val="637284"/>
                </a:solidFill>
              </a:defRPr>
            </a:pPr>
            <a:r>
              <a:t>Restaurant locations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3749039"/>
            <a:ext cx="1783080" cy="914400"/>
          </a:xfrm>
          <a:prstGeom prst="roundRect">
            <a:avLst/>
          </a:prstGeom>
          <a:solidFill>
            <a:srgbClr val="F7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defRPr sz="2200" b="1">
                <a:solidFill>
                  <a:srgbClr val="168477"/>
                </a:solidFill>
              </a:defRPr>
            </a:pPr>
            <a:r>
              <a:t>18 yrs</a:t>
            </a:r>
          </a:p>
          <a:p>
            <a:pPr>
              <a:defRPr sz="900">
                <a:solidFill>
                  <a:srgbClr val="637284"/>
                </a:solidFill>
              </a:defRPr>
            </a:pPr>
            <a:r>
              <a:t>Usage history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27080" cy="4114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300" b="1">
                <a:solidFill>
                  <a:srgbClr val="111F34"/>
                </a:solidFill>
              </a:rPr>
              <a:t>Phased Market Expansion: Local -&gt; Oklahoma City -&gt; Tulsa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10332720" cy="329184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050" b="0">
                <a:solidFill>
                  <a:srgbClr val="637284"/>
                </a:solidFill>
              </a:rPr>
              <a:t>A three-phase rollout leverages existing brand strength in southeastern Oklahoma before entering two major metropolitan markets, with sales estimates based on achievable market share.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768096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650" b="0">
                <a:solidFill>
                  <a:srgbClr val="637284"/>
                </a:solidFill>
              </a:rPr>
              <a:t>Source: Oklahoma State University, A Sample Business Plan for Small Food Businesses, Jan 2006.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/>
            <a:r>
              <a:rPr sz="700" b="0">
                <a:solidFill>
                  <a:srgbClr val="637284"/>
                </a:solidFill>
              </a:rPr>
              <a:t>4/10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85800" y="1234440"/>
          <a:ext cx="617220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223760" y="1234440"/>
          <a:ext cx="425196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990"/>
                <a:gridCol w="1062990"/>
                <a:gridCol w="1062990"/>
                <a:gridCol w="1062990"/>
              </a:tblGrid>
              <a:tr h="41148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Market</a:t>
                      </a:r>
                    </a:p>
                  </a:txBody>
                  <a:tcPr marL="36576" marR="36576" marT="27432" marB="27432">
                    <a:solidFill>
                      <a:srgbClr val="11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1999</a:t>
                      </a:r>
                    </a:p>
                  </a:txBody>
                  <a:tcPr marL="36576" marR="36576" marT="27432" marB="27432">
                    <a:solidFill>
                      <a:srgbClr val="11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2000</a:t>
                      </a:r>
                    </a:p>
                  </a:txBody>
                  <a:tcPr marL="36576" marR="36576" marT="27432" marB="27432">
                    <a:solidFill>
                      <a:srgbClr val="11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2001</a:t>
                      </a:r>
                    </a:p>
                  </a:txBody>
                  <a:tcPr marL="36576" marR="36576" marT="27432" marB="27432">
                    <a:solidFill>
                      <a:srgbClr val="111F3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11F34"/>
                          </a:solidFill>
                        </a:defRPr>
                      </a:pPr>
                      <a:r>
                        <a:t>Antlers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11F34"/>
                          </a:solidFill>
                        </a:defRPr>
                      </a:pPr>
                      <a:r>
                        <a:t>24,000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11F34"/>
                          </a:solidFill>
                        </a:defRPr>
                      </a:pPr>
                      <a:r>
                        <a:t>26,400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11F34"/>
                          </a:solidFill>
                        </a:defRPr>
                      </a:pPr>
                      <a:r>
                        <a:t>29,040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11F34"/>
                          </a:solidFill>
                        </a:defRPr>
                      </a:pPr>
                      <a:r>
                        <a:t>Hugo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11F34"/>
                          </a:solidFill>
                        </a:defRPr>
                      </a:pPr>
                      <a:r>
                        <a:t>36,000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11F34"/>
                          </a:solidFill>
                        </a:defRPr>
                      </a:pPr>
                      <a:r>
                        <a:t>39,600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11F34"/>
                          </a:solidFill>
                        </a:defRPr>
                      </a:pPr>
                      <a:r>
                        <a:t>43,560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11F34"/>
                          </a:solidFill>
                        </a:defRPr>
                      </a:pPr>
                      <a:r>
                        <a:t>Oklahoma City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11F34"/>
                          </a:solidFill>
                        </a:defRPr>
                      </a:pPr>
                      <a:r>
                        <a:t>45,000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11F34"/>
                          </a:solidFill>
                        </a:defRPr>
                      </a:pPr>
                      <a:r>
                        <a:t>120,000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11F34"/>
                          </a:solidFill>
                        </a:defRPr>
                      </a:pPr>
                      <a:r>
                        <a:t>132,000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11F34"/>
                          </a:solidFill>
                        </a:defRPr>
                      </a:pPr>
                      <a:r>
                        <a:t>Tulsa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11F34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11F34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11F34"/>
                          </a:solidFill>
                        </a:defRPr>
                      </a:pPr>
                      <a:r>
                        <a:t>54,000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0" y="3703320"/>
            <a:ext cx="4023360" cy="141732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111F34"/>
                </a:solidFill>
              </a:defRPr>
            </a:pPr>
            <a:r>
              <a:t>- Local stores anchor the launch.</a:t>
            </a:r>
          </a:p>
          <a:p>
            <a:pPr>
              <a:spcAft>
                <a:spcPts val="700"/>
              </a:spcAft>
              <a:defRPr sz="1250">
                <a:solidFill>
                  <a:srgbClr val="111F34"/>
                </a:solidFill>
              </a:defRPr>
            </a:pPr>
            <a:r>
              <a:t>- Oklahoma City carries the largest early expansion volume.</a:t>
            </a:r>
          </a:p>
          <a:p>
            <a:pPr>
              <a:spcAft>
                <a:spcPts val="700"/>
              </a:spcAft>
              <a:defRPr sz="1250">
                <a:solidFill>
                  <a:srgbClr val="111F34"/>
                </a:solidFill>
              </a:defRPr>
            </a:pPr>
            <a:r>
              <a:t>- Tulsa is introduced later in the projection.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27080" cy="4114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300" b="1">
                <a:solidFill>
                  <a:srgbClr val="111F34"/>
                </a:solidFill>
              </a:rPr>
              <a:t>Dual Distribution Strategy: Frozen Tubs Plus Pressurized Cans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10332720" cy="329184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050" b="0">
                <a:solidFill>
                  <a:srgbClr val="637284"/>
                </a:solidFill>
              </a:rPr>
              <a:t>Two complementary retail formats match existing consumer purchasing patterns - 65% of national brand whipped topping is sold in frozen tub form and 35% in pressurized cans.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768096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650" b="0">
                <a:solidFill>
                  <a:srgbClr val="637284"/>
                </a:solidFill>
              </a:rPr>
              <a:t>Source: Oklahoma State University, A Sample Business Plan for Small Food Businesses, Jan 2006.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/>
            <a:r>
              <a:rPr sz="700" b="0">
                <a:solidFill>
                  <a:srgbClr val="637284"/>
                </a:solidFill>
              </a:rPr>
              <a:t>5/10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85800" y="1234440"/>
          <a:ext cx="420624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94960" y="1234440"/>
          <a:ext cx="56235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</a:tblGrid>
              <a:tr h="4572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Distribution path</a:t>
                      </a:r>
                    </a:p>
                  </a:txBody>
                  <a:tcPr marL="36576" marR="36576" marT="27432" marB="27432">
                    <a:solidFill>
                      <a:srgbClr val="11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Source evidence</a:t>
                      </a:r>
                    </a:p>
                  </a:txBody>
                  <a:tcPr marL="36576" marR="36576" marT="27432" marB="27432">
                    <a:solidFill>
                      <a:srgbClr val="11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 marL="36576" marR="36576" marT="27432" marB="27432">
                    <a:solidFill>
                      <a:srgbClr val="111F3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11F34"/>
                          </a:solidFill>
                        </a:defRPr>
                      </a:pPr>
                      <a:r>
                        <a:t>Local grocery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11F34"/>
                          </a:solidFill>
                        </a:defRPr>
                      </a:pPr>
                      <a:r>
                        <a:t>Pruett's IGA and Gardiner's Grocery named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11F34"/>
                          </a:solidFill>
                        </a:defRPr>
                      </a:pPr>
                      <a:r>
                        <a:t>Launch channel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11F34"/>
                          </a:solidFill>
                        </a:defRPr>
                      </a:pPr>
                      <a:r>
                        <a:t>Made in Oklahoma program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11F34"/>
                          </a:solidFill>
                        </a:defRPr>
                      </a:pPr>
                      <a:r>
                        <a:t>Pratt's Foods in Oklahoma City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11F34"/>
                          </a:solidFill>
                        </a:defRPr>
                      </a:pPr>
                      <a:r>
                        <a:t>Metro exposure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11F34"/>
                          </a:solidFill>
                        </a:defRPr>
                      </a:pPr>
                      <a:r>
                        <a:t>Retail formats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11F34"/>
                          </a:solidFill>
                        </a:defRPr>
                      </a:pPr>
                      <a:r>
                        <a:t>8/12 oz tubs and 6 oz cans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11F34"/>
                          </a:solidFill>
                        </a:defRPr>
                      </a:pPr>
                      <a:r>
                        <a:t>Two buying occasions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394960" y="3703320"/>
          <a:ext cx="4023360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120"/>
                <a:gridCol w="1341120"/>
                <a:gridCol w="1341120"/>
              </a:tblGrid>
              <a:tr h="33147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marL="36576" marR="36576" marT="27432" marB="27432">
                    <a:solidFill>
                      <a:srgbClr val="11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marL="36576" marR="36576" marT="27432" marB="27432">
                    <a:solidFill>
                      <a:srgbClr val="11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Source</a:t>
                      </a:r>
                    </a:p>
                  </a:txBody>
                  <a:tcPr marL="36576" marR="36576" marT="27432" marB="27432">
                    <a:solidFill>
                      <a:srgbClr val="111F34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11F34"/>
                          </a:solidFill>
                        </a:defRPr>
                      </a:pPr>
                      <a:r>
                        <a:t>Whipped Dream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11F34"/>
                          </a:solidFill>
                        </a:defRPr>
                      </a:pPr>
                      <a:r>
                        <a:t>$2.29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11F34"/>
                          </a:solidFill>
                        </a:defRPr>
                      </a:pPr>
                      <a:r>
                        <a:t>Plan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11F34"/>
                          </a:solidFill>
                        </a:defRPr>
                      </a:pPr>
                      <a:r>
                        <a:t>National brands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11F34"/>
                          </a:solidFill>
                        </a:defRPr>
                      </a:pPr>
                      <a:r>
                        <a:t>$1.29-$1.89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11F34"/>
                          </a:solidFill>
                        </a:defRPr>
                      </a:pPr>
                      <a:r>
                        <a:t>Market scan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11F34"/>
                          </a:solidFill>
                        </a:defRPr>
                      </a:pPr>
                      <a:r>
                        <a:t>Category mix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11F34"/>
                          </a:solidFill>
                        </a:defRPr>
                      </a:pPr>
                      <a:r>
                        <a:t>65% / 35%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11F34"/>
                          </a:solidFill>
                        </a:defRPr>
                      </a:pPr>
                      <a:r>
                        <a:t>Tub / can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4343400"/>
            <a:ext cx="4023360" cy="91440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111F34"/>
                </a:solidFill>
              </a:defRPr>
            </a:pPr>
            <a:r>
              <a:t>- Frozen tubs are the larger category in the source.</a:t>
            </a:r>
          </a:p>
          <a:p>
            <a:pPr>
              <a:spcAft>
                <a:spcPts val="700"/>
              </a:spcAft>
              <a:defRPr sz="1250">
                <a:solidFill>
                  <a:srgbClr val="111F34"/>
                </a:solidFill>
              </a:defRPr>
            </a:pPr>
            <a:r>
              <a:t>- Pressurized cans broaden convenience and retail reach.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27080" cy="4114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300" b="1">
                <a:solidFill>
                  <a:srgbClr val="111F34"/>
                </a:solidFill>
              </a:rPr>
              <a:t>Competitive Advantage: Only Flavored, Dairy-Based Whipped Topping in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10332720" cy="329184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050" b="0">
                <a:solidFill>
                  <a:srgbClr val="637284"/>
                </a:solidFill>
              </a:rPr>
              <a:t>Large incumbents dominate distribution but offer zero flavor variety - several competing products are not even dairy-based - creating a clear differentiation gap for Whipped Dream.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768096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650" b="0">
                <a:solidFill>
                  <a:srgbClr val="637284"/>
                </a:solidFill>
              </a:rPr>
              <a:t>Source: Oklahoma State University, A Sample Business Plan for Small Food Businesses, Jan 2006.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/>
            <a:r>
              <a:rPr sz="700" b="0">
                <a:solidFill>
                  <a:srgbClr val="637284"/>
                </a:solidFill>
              </a:rPr>
              <a:t>6/10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188720"/>
          <a:ext cx="106070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1408"/>
                <a:gridCol w="2121408"/>
                <a:gridCol w="2121408"/>
                <a:gridCol w="2121408"/>
                <a:gridCol w="2121408"/>
              </a:tblGrid>
              <a:tr h="658368">
                <a:tc>
                  <a:txBody>
                    <a:bodyPr/>
                    <a:lstStyle/>
                    <a:p>
                      <a:pPr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Attribute</a:t>
                      </a:r>
                    </a:p>
                  </a:txBody>
                  <a:tcPr marL="36576" marR="36576" marT="27432" marB="27432">
                    <a:solidFill>
                      <a:srgbClr val="11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Whipped Dream</a:t>
                      </a:r>
                    </a:p>
                  </a:txBody>
                  <a:tcPr marL="36576" marR="36576" marT="27432" marB="27432">
                    <a:solidFill>
                      <a:srgbClr val="11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Kraft</a:t>
                      </a:r>
                    </a:p>
                  </a:txBody>
                  <a:tcPr marL="36576" marR="36576" marT="27432" marB="27432">
                    <a:solidFill>
                      <a:srgbClr val="11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Sara Lee</a:t>
                      </a:r>
                    </a:p>
                  </a:txBody>
                  <a:tcPr marL="36576" marR="36576" marT="27432" marB="27432">
                    <a:solidFill>
                      <a:srgbClr val="11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Investor read</a:t>
                      </a:r>
                    </a:p>
                  </a:txBody>
                  <a:tcPr marL="36576" marR="36576" marT="27432" marB="27432">
                    <a:solidFill>
                      <a:srgbClr val="111F3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11F34"/>
                          </a:solidFill>
                        </a:defRPr>
                      </a:pPr>
                      <a:r>
                        <a:t>Flavor variety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11F34"/>
                          </a:solidFill>
                        </a:defRPr>
                      </a:pPr>
                      <a:r>
                        <a:t>Chocolate, raspberry, cinnamon almond, strawberry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11F34"/>
                          </a:solidFill>
                        </a:defRPr>
                      </a:pPr>
                      <a:r>
                        <a:t>Standard varieties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11F34"/>
                          </a:solidFill>
                        </a:defRPr>
                      </a:pPr>
                      <a:r>
                        <a:t>Standard varieties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11F34"/>
                          </a:solidFill>
                        </a:defRPr>
                      </a:pPr>
                      <a:r>
                        <a:t>Flavor whitespace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11F34"/>
                          </a:solidFill>
                        </a:defRPr>
                      </a:pPr>
                      <a:r>
                        <a:t>Flavored topping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11F34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11F34"/>
                          </a:solidFill>
                        </a:defRPr>
                      </a:pPr>
                      <a:r>
                        <a:t>Not marketed in source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11F34"/>
                          </a:solidFill>
                        </a:defRPr>
                      </a:pPr>
                      <a:r>
                        <a:t>Not marketed in source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11F34"/>
                          </a:solidFill>
                        </a:defRPr>
                      </a:pPr>
                      <a:r>
                        <a:t>Differentiation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11F34"/>
                          </a:solidFill>
                        </a:defRPr>
                      </a:pPr>
                      <a:r>
                        <a:t>Dairy-based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11F34"/>
                          </a:solidFill>
                        </a:defRPr>
                      </a:pPr>
                      <a:r>
                        <a:t>Dairy whipped topping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11F34"/>
                          </a:solidFill>
                        </a:defRPr>
                      </a:pPr>
                      <a:r>
                        <a:t>Some products not dairy-based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11F34"/>
                          </a:solidFill>
                        </a:defRPr>
                      </a:pPr>
                      <a:r>
                        <a:t>Some products not dairy-based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11F34"/>
                          </a:solidFill>
                        </a:defRPr>
                      </a:pPr>
                      <a:r>
                        <a:t>Ingredient positioning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11F34"/>
                          </a:solidFill>
                        </a:defRPr>
                      </a:pPr>
                      <a:r>
                        <a:t>Formats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11F34"/>
                          </a:solidFill>
                        </a:defRPr>
                      </a:pPr>
                      <a:r>
                        <a:t>Tubs + pressurized cans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11F34"/>
                          </a:solidFill>
                        </a:defRPr>
                      </a:pPr>
                      <a:r>
                        <a:t>Ready-to-eat varieties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11F34"/>
                          </a:solidFill>
                        </a:defRPr>
                      </a:pPr>
                      <a:r>
                        <a:t>Ready-to-eat varieties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11F34"/>
                          </a:solidFill>
                        </a:defRPr>
                      </a:pPr>
                      <a:r>
                        <a:t>Channel flexibility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4892040"/>
            <a:ext cx="2194560" cy="822960"/>
          </a:xfrm>
          <a:prstGeom prst="roundRect">
            <a:avLst/>
          </a:prstGeom>
          <a:solidFill>
            <a:srgbClr val="F7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defRPr sz="2200" b="1">
                <a:solidFill>
                  <a:srgbClr val="3069B4"/>
                </a:solidFill>
              </a:defRPr>
            </a:pPr>
            <a:r>
              <a:t>$2.29</a:t>
            </a:r>
          </a:p>
          <a:p>
            <a:pPr>
              <a:defRPr sz="900">
                <a:solidFill>
                  <a:srgbClr val="637284"/>
                </a:solidFill>
              </a:defRPr>
            </a:pPr>
            <a:r>
              <a:t>Planned unit price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4892040"/>
            <a:ext cx="2194560" cy="822960"/>
          </a:xfrm>
          <a:prstGeom prst="roundRect">
            <a:avLst/>
          </a:prstGeom>
          <a:solidFill>
            <a:srgbClr val="F7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defRPr sz="2200" b="1">
                <a:solidFill>
                  <a:srgbClr val="DA8432"/>
                </a:solidFill>
              </a:defRPr>
            </a:pPr>
            <a:r>
              <a:t>$1.29-$1.89</a:t>
            </a:r>
          </a:p>
          <a:p>
            <a:pPr>
              <a:defRPr sz="900">
                <a:solidFill>
                  <a:srgbClr val="637284"/>
                </a:solidFill>
              </a:defRPr>
            </a:pPr>
            <a:r>
              <a:t>National brand range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4892040"/>
            <a:ext cx="2194560" cy="822960"/>
          </a:xfrm>
          <a:prstGeom prst="roundRect">
            <a:avLst/>
          </a:prstGeom>
          <a:solidFill>
            <a:srgbClr val="F7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defRPr sz="2200" b="1">
                <a:solidFill>
                  <a:srgbClr val="168477"/>
                </a:solidFill>
              </a:defRPr>
            </a:pPr>
            <a:r>
              <a:t>4</a:t>
            </a:r>
          </a:p>
          <a:p>
            <a:pPr>
              <a:defRPr sz="900">
                <a:solidFill>
                  <a:srgbClr val="637284"/>
                </a:solidFill>
              </a:defRPr>
            </a:pPr>
            <a:r>
              <a:t>Flavor variants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4709160"/>
            <a:ext cx="2743200" cy="86868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111F34"/>
                </a:solidFill>
              </a:defRPr>
            </a:pPr>
            <a:r>
              <a:t>- The source supports a premium/variety thesis, not a proven national moat.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27080" cy="4114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300" b="1">
                <a:solidFill>
                  <a:srgbClr val="111F34"/>
                </a:solidFill>
              </a:rPr>
              <a:t>Manufacturing Ready: Existing Equipment Plus Co-Pack Partnership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10332720" cy="329184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050" b="0">
                <a:solidFill>
                  <a:srgbClr val="637284"/>
                </a:solidFill>
              </a:rPr>
              <a:t>Production is already running at commercial scale in the Beans' own facilities, with a contracted co-packer for pressurized cans - minimal capital required to begin retail distribution.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768096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650" b="0">
                <a:solidFill>
                  <a:srgbClr val="637284"/>
                </a:solidFill>
              </a:rPr>
              <a:t>Source: Oklahoma State University, A Sample Business Plan for Small Food Businesses, Jan 2006.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/>
            <a:r>
              <a:rPr sz="700" b="0">
                <a:solidFill>
                  <a:srgbClr val="637284"/>
                </a:solidFill>
              </a:rPr>
              <a:t>7/10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234440"/>
          <a:ext cx="5486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3340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</a:defRPr>
                      </a:pPr>
                      <a:r>
                        <a:t>Capability</a:t>
                      </a:r>
                    </a:p>
                  </a:txBody>
                  <a:tcPr marL="36576" marR="36576" marT="27432" marB="27432">
                    <a:solidFill>
                      <a:srgbClr val="11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</a:defRPr>
                      </a:pPr>
                      <a:r>
                        <a:t>Source detail</a:t>
                      </a:r>
                    </a:p>
                  </a:txBody>
                  <a:tcPr marL="36576" marR="36576" marT="27432" marB="27432">
                    <a:solidFill>
                      <a:srgbClr val="11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</a:defRPr>
                      </a:pPr>
                      <a:r>
                        <a:t>Implication</a:t>
                      </a:r>
                    </a:p>
                  </a:txBody>
                  <a:tcPr marL="36576" marR="36576" marT="27432" marB="27432">
                    <a:solidFill>
                      <a:srgbClr val="111F34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F34"/>
                          </a:solidFill>
                        </a:defRPr>
                      </a:pPr>
                      <a:r>
                        <a:t>Facilities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F34"/>
                          </a:solidFill>
                        </a:defRPr>
                      </a:pPr>
                      <a:r>
                        <a:t>Two restaurants can be used when closed to public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F34"/>
                          </a:solidFill>
                        </a:defRPr>
                      </a:pPr>
                      <a:r>
                        <a:t>Low initial setup burden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F34"/>
                          </a:solidFill>
                        </a:defRPr>
                      </a:pPr>
                      <a:r>
                        <a:t>Mixer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F34"/>
                          </a:solidFill>
                        </a:defRPr>
                      </a:pPr>
                      <a:r>
                        <a:t>50-gallon high-speed mixer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F34"/>
                          </a:solidFill>
                        </a:defRPr>
                      </a:pPr>
                      <a:r>
                        <a:t>Batch production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F34"/>
                          </a:solidFill>
                        </a:defRPr>
                      </a:pPr>
                      <a:r>
                        <a:t>Gas system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F34"/>
                          </a:solidFill>
                        </a:defRPr>
                      </a:pPr>
                      <a:r>
                        <a:t>Pressurized tank for nitrous oxide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F34"/>
                          </a:solidFill>
                        </a:defRPr>
                      </a:pPr>
                      <a:r>
                        <a:t>Whipped texture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F34"/>
                          </a:solidFill>
                        </a:defRPr>
                      </a:pPr>
                      <a:r>
                        <a:t>Freezer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F34"/>
                          </a:solidFill>
                        </a:defRPr>
                      </a:pPr>
                      <a:r>
                        <a:t>10x10 walk-in freezer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F34"/>
                          </a:solidFill>
                        </a:defRPr>
                      </a:pPr>
                      <a:r>
                        <a:t>Frozen storage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F34"/>
                          </a:solidFill>
                        </a:defRPr>
                      </a:pPr>
                      <a:r>
                        <a:t>Co-pack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F34"/>
                          </a:solidFill>
                        </a:defRPr>
                      </a:pPr>
                      <a:r>
                        <a:t>Farm Fresh contracted for 6 oz cans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F34"/>
                          </a:solidFill>
                        </a:defRPr>
                      </a:pPr>
                      <a:r>
                        <a:t>Can format partner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629400" y="1325880"/>
            <a:ext cx="4389120" cy="237744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11F34"/>
                </a:solidFill>
              </a:defRPr>
            </a:pPr>
            <a:r>
              <a:t>- The source says the process is established on a commercial scale.</a:t>
            </a:r>
          </a:p>
          <a:p>
            <a:pPr>
              <a:spcAft>
                <a:spcPts val="700"/>
              </a:spcAft>
              <a:defRPr sz="1300">
                <a:solidFill>
                  <a:srgbClr val="111F34"/>
                </a:solidFill>
              </a:defRPr>
            </a:pPr>
            <a:r>
              <a:t>- County inspection allows production in restaurant facilities when they are not open to the public.</a:t>
            </a:r>
          </a:p>
          <a:p>
            <a:pPr>
              <a:spcAft>
                <a:spcPts val="700"/>
              </a:spcAft>
              <a:defRPr sz="1300">
                <a:solidFill>
                  <a:srgbClr val="111F34"/>
                </a:solidFill>
              </a:defRPr>
            </a:pPr>
            <a:r>
              <a:t>- Farm Fresh has a nondisclosure and non-compete agreement in place for the can 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4160520"/>
            <a:ext cx="1600200" cy="822960"/>
          </a:xfrm>
          <a:prstGeom prst="roundRect">
            <a:avLst/>
          </a:prstGeom>
          <a:solidFill>
            <a:srgbClr val="F7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defRPr sz="2200" b="1">
                <a:solidFill>
                  <a:srgbClr val="168477"/>
                </a:solidFill>
              </a:defRPr>
            </a:pPr>
            <a:r>
              <a:t>50 gal</a:t>
            </a:r>
          </a:p>
          <a:p>
            <a:pPr>
              <a:defRPr sz="900">
                <a:solidFill>
                  <a:srgbClr val="637284"/>
                </a:solidFill>
              </a:defRPr>
            </a:pPr>
            <a:r>
              <a:t>Mixer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4160520"/>
            <a:ext cx="1600200" cy="822960"/>
          </a:xfrm>
          <a:prstGeom prst="roundRect">
            <a:avLst/>
          </a:prstGeom>
          <a:solidFill>
            <a:srgbClr val="F7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defRPr sz="2200" b="1">
                <a:solidFill>
                  <a:srgbClr val="3069B4"/>
                </a:solidFill>
              </a:defRPr>
            </a:pPr>
            <a:r>
              <a:t>10x10</a:t>
            </a:r>
          </a:p>
          <a:p>
            <a:pPr>
              <a:defRPr sz="900">
                <a:solidFill>
                  <a:srgbClr val="637284"/>
                </a:solidFill>
              </a:defRPr>
            </a:pPr>
            <a:r>
              <a:t>Freezer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78440" y="4160520"/>
            <a:ext cx="1234440" cy="822960"/>
          </a:xfrm>
          <a:prstGeom prst="roundRect">
            <a:avLst/>
          </a:prstGeom>
          <a:solidFill>
            <a:srgbClr val="F7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defRPr sz="2200" b="1">
                <a:solidFill>
                  <a:srgbClr val="4B914E"/>
                </a:solidFill>
              </a:defRPr>
            </a:pPr>
            <a:r>
              <a:t>6 oz</a:t>
            </a:r>
          </a:p>
          <a:p>
            <a:pPr>
              <a:defRPr sz="900">
                <a:solidFill>
                  <a:srgbClr val="637284"/>
                </a:solidFill>
              </a:defRPr>
            </a:pPr>
            <a:r>
              <a:t>Can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27080" cy="4114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300" b="1">
                <a:solidFill>
                  <a:srgbClr val="111F34"/>
                </a:solidFill>
              </a:rPr>
              <a:t>Financial Projections: Positive Cash Flow Year One, 10.88% ROE, 3-Year Growth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10332720" cy="329184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050" b="0">
                <a:solidFill>
                  <a:srgbClr val="637284"/>
                </a:solidFill>
              </a:rPr>
              <a:t>Year 1 delivers positive cash flow and profit with a 10.88% return on equity; net sales grow from $240,450 to $592,194 over three years with expanding market entry.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768096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650" b="0">
                <a:solidFill>
                  <a:srgbClr val="637284"/>
                </a:solidFill>
              </a:rPr>
              <a:t>Source: Oklahoma State University, A Sample Business Plan for Small Food Businesses, Jan 2006.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/>
            <a:r>
              <a:rPr sz="700" b="0">
                <a:solidFill>
                  <a:srgbClr val="637284"/>
                </a:solidFill>
              </a:rPr>
              <a:t>8/10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85800" y="1143000"/>
          <a:ext cx="5669280" cy="2971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629400" y="1143000"/>
          <a:ext cx="457200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143000"/>
                <a:gridCol w="1143000"/>
                <a:gridCol w="1143000"/>
              </a:tblGrid>
              <a:tr h="448056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 marL="36576" marR="36576" marT="27432" marB="27432">
                    <a:solidFill>
                      <a:srgbClr val="11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1999</a:t>
                      </a:r>
                    </a:p>
                  </a:txBody>
                  <a:tcPr marL="36576" marR="36576" marT="27432" marB="27432">
                    <a:solidFill>
                      <a:srgbClr val="11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2000</a:t>
                      </a:r>
                    </a:p>
                  </a:txBody>
                  <a:tcPr marL="36576" marR="36576" marT="27432" marB="27432">
                    <a:solidFill>
                      <a:srgbClr val="11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2001</a:t>
                      </a:r>
                    </a:p>
                  </a:txBody>
                  <a:tcPr marL="36576" marR="36576" marT="27432" marB="27432">
                    <a:solidFill>
                      <a:srgbClr val="111F34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111F34"/>
                          </a:solidFill>
                        </a:defRPr>
                      </a:pPr>
                      <a:r>
                        <a:t>Net sales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111F34"/>
                          </a:solidFill>
                        </a:defRPr>
                      </a:pPr>
                      <a:r>
                        <a:t>$240,450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111F34"/>
                          </a:solidFill>
                        </a:defRPr>
                      </a:pPr>
                      <a:r>
                        <a:t>$425,940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111F34"/>
                          </a:solidFill>
                        </a:defRPr>
                      </a:pPr>
                      <a:r>
                        <a:t>$592,194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111F34"/>
                          </a:solidFill>
                        </a:defRPr>
                      </a:pPr>
                      <a:r>
                        <a:t>Gross income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111F34"/>
                          </a:solidFill>
                        </a:defRPr>
                      </a:pPr>
                      <a:r>
                        <a:t>$58,450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111F34"/>
                          </a:solidFill>
                        </a:defRPr>
                      </a:pPr>
                      <a:r>
                        <a:t>$107,880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111F34"/>
                          </a:solidFill>
                        </a:defRPr>
                      </a:pPr>
                      <a:r>
                        <a:t>$149,988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111F34"/>
                          </a:solidFill>
                        </a:defRPr>
                      </a:pPr>
                      <a:r>
                        <a:t>NI after tax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111F34"/>
                          </a:solidFill>
                        </a:defRPr>
                      </a:pPr>
                      <a:r>
                        <a:t>$15,085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111F34"/>
                          </a:solidFill>
                        </a:defRPr>
                      </a:pPr>
                      <a:r>
                        <a:t>$35,686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111F34"/>
                          </a:solidFill>
                        </a:defRPr>
                      </a:pPr>
                      <a:r>
                        <a:t>$46,821.60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111F34"/>
                          </a:solidFill>
                        </a:defRPr>
                      </a:pPr>
                      <a:r>
                        <a:t>Cash flow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111F34"/>
                          </a:solidFill>
                        </a:defRPr>
                      </a:pPr>
                      <a:r>
                        <a:t>$21,550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111F34"/>
                          </a:solidFill>
                        </a:defRPr>
                      </a:pPr>
                      <a:r>
                        <a:t>not shown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111F34"/>
                          </a:solidFill>
                        </a:defRPr>
                      </a:pPr>
                      <a:r>
                        <a:t>not shown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629400" y="3886200"/>
          <a:ext cx="457200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283464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</a:defRPr>
                      </a:pPr>
                      <a:r>
                        <a:t>1999 ratio</a:t>
                      </a:r>
                    </a:p>
                  </a:txBody>
                  <a:tcPr marL="36576" marR="36576" marT="27432" marB="27432">
                    <a:solidFill>
                      <a:srgbClr val="11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</a:defRPr>
                      </a:pPr>
                      <a:r>
                        <a:t>Source value</a:t>
                      </a:r>
                    </a:p>
                  </a:txBody>
                  <a:tcPr marL="36576" marR="36576" marT="27432" marB="27432">
                    <a:solidFill>
                      <a:srgbClr val="111F34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F34"/>
                          </a:solidFill>
                        </a:defRPr>
                      </a:pPr>
                      <a:r>
                        <a:t>ROE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F34"/>
                          </a:solidFill>
                        </a:defRPr>
                      </a:pPr>
                      <a:r>
                        <a:t>10.88%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F34"/>
                          </a:solidFill>
                        </a:defRPr>
                      </a:pPr>
                      <a:r>
                        <a:t>Current ratio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F34"/>
                          </a:solidFill>
                        </a:defRPr>
                      </a:pPr>
                      <a:r>
                        <a:t>2.73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F34"/>
                          </a:solidFill>
                        </a:defRPr>
                      </a:pPr>
                      <a:r>
                        <a:t>Quick ratio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F34"/>
                          </a:solidFill>
                        </a:defRPr>
                      </a:pPr>
                      <a:r>
                        <a:t>1.26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F34"/>
                          </a:solidFill>
                        </a:defRPr>
                      </a:pPr>
                      <a:r>
                        <a:t>Debt-to-equity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F34"/>
                          </a:solidFill>
                        </a:defRPr>
                      </a:pPr>
                      <a:r>
                        <a:t>0.38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7240" y="4480560"/>
            <a:ext cx="1691640" cy="731520"/>
          </a:xfrm>
          <a:prstGeom prst="roundRect">
            <a:avLst/>
          </a:prstGeom>
          <a:solidFill>
            <a:srgbClr val="F7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defRPr sz="2200" b="1">
                <a:solidFill>
                  <a:srgbClr val="4B914E"/>
                </a:solidFill>
              </a:defRPr>
            </a:pPr>
            <a:r>
              <a:t>$21,550</a:t>
            </a:r>
          </a:p>
          <a:p>
            <a:pPr>
              <a:defRPr sz="900">
                <a:solidFill>
                  <a:srgbClr val="637284"/>
                </a:solidFill>
              </a:defRPr>
            </a:pPr>
            <a:r>
              <a:t>Year-one cash 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4480560"/>
            <a:ext cx="1691640" cy="731520"/>
          </a:xfrm>
          <a:prstGeom prst="roundRect">
            <a:avLst/>
          </a:prstGeom>
          <a:solidFill>
            <a:srgbClr val="F7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defRPr sz="2200" b="1">
                <a:solidFill>
                  <a:srgbClr val="168477"/>
                </a:solidFill>
              </a:defRPr>
            </a:pPr>
            <a:r>
              <a:t>10.88%</a:t>
            </a:r>
          </a:p>
          <a:p>
            <a:pPr>
              <a:defRPr sz="900">
                <a:solidFill>
                  <a:srgbClr val="637284"/>
                </a:solidFill>
              </a:defRPr>
            </a:pPr>
            <a:r>
              <a:t>Year-one ROE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4480560"/>
            <a:ext cx="1691640" cy="731520"/>
          </a:xfrm>
          <a:prstGeom prst="roundRect">
            <a:avLst/>
          </a:prstGeom>
          <a:solidFill>
            <a:srgbClr val="F7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defRPr sz="2200" b="1">
                <a:solidFill>
                  <a:srgbClr val="3069B4"/>
                </a:solidFill>
              </a:defRPr>
            </a:pPr>
            <a:r>
              <a:t>$592K</a:t>
            </a:r>
          </a:p>
          <a:p>
            <a:pPr>
              <a:defRPr sz="900">
                <a:solidFill>
                  <a:srgbClr val="637284"/>
                </a:solidFill>
              </a:defRPr>
            </a:pPr>
            <a:r>
              <a:t>2001 sales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27080" cy="4114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300" b="1">
                <a:solidFill>
                  <a:srgbClr val="111F34"/>
                </a:solidFill>
              </a:rPr>
              <a:t>Risk Mitigation: Defined Contingency Triggers at 90% of Projections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10332720" cy="329184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050" b="0">
                <a:solidFill>
                  <a:srgbClr val="637284"/>
                </a:solidFill>
              </a:rPr>
              <a:t>A structured contingency plan activates if sales or returns fall below 90% of projections, with escalating responses from doubled promotions to contracted local marketing specialists.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768096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650" b="0">
                <a:solidFill>
                  <a:srgbClr val="637284"/>
                </a:solidFill>
              </a:rPr>
              <a:t>Source: Oklahoma State University, A Sample Business Plan for Small Food Businesses, Jan 2006.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/>
            <a:r>
              <a:rPr sz="700" b="0">
                <a:solidFill>
                  <a:srgbClr val="637284"/>
                </a:solidFill>
              </a:rPr>
              <a:t>9/10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188720"/>
          <a:ext cx="1046988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9960"/>
                <a:gridCol w="3489960"/>
                <a:gridCol w="3489960"/>
              </a:tblGrid>
              <a:tr h="49530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</a:defRPr>
                      </a:pPr>
                      <a:r>
                        <a:t>Trigger / risk</a:t>
                      </a:r>
                    </a:p>
                  </a:txBody>
                  <a:tcPr marL="36576" marR="36576" marT="27432" marB="27432">
                    <a:solidFill>
                      <a:srgbClr val="11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</a:defRPr>
                      </a:pPr>
                      <a:r>
                        <a:t>Source contingency</a:t>
                      </a:r>
                    </a:p>
                  </a:txBody>
                  <a:tcPr marL="36576" marR="36576" marT="27432" marB="27432">
                    <a:solidFill>
                      <a:srgbClr val="11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</a:defRPr>
                      </a:pPr>
                      <a:r>
                        <a:t>Operating logic</a:t>
                      </a:r>
                    </a:p>
                  </a:txBody>
                  <a:tcPr marL="36576" marR="36576" marT="27432" marB="27432">
                    <a:solidFill>
                      <a:srgbClr val="111F34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F34"/>
                          </a:solidFill>
                        </a:defRPr>
                      </a:pPr>
                      <a:r>
                        <a:t>Sales below 90% of expected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F34"/>
                          </a:solidFill>
                        </a:defRPr>
                      </a:pPr>
                      <a:r>
                        <a:t>Double in-store promotions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F34"/>
                          </a:solidFill>
                        </a:defRPr>
                      </a:pPr>
                      <a:r>
                        <a:t>Immediate demand response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F34"/>
                          </a:solidFill>
                        </a:defRPr>
                      </a:pPr>
                      <a:r>
                        <a:t>No increase within one month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F34"/>
                          </a:solidFill>
                        </a:defRPr>
                      </a:pPr>
                      <a:r>
                        <a:t>Advertise in weekly circulars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F34"/>
                          </a:solidFill>
                        </a:defRPr>
                      </a:pPr>
                      <a:r>
                        <a:t>Local awareness push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F34"/>
                          </a:solidFill>
                        </a:defRPr>
                      </a:pPr>
                      <a:r>
                        <a:t>OKC/Tulsa underperform after 6 months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F34"/>
                          </a:solidFill>
                        </a:defRPr>
                      </a:pPr>
                      <a:r>
                        <a:t>Use local marketing specialists on commission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F34"/>
                          </a:solidFill>
                        </a:defRPr>
                      </a:pPr>
                      <a:r>
                        <a:t>Variable-cost channel support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F34"/>
                          </a:solidFill>
                        </a:defRPr>
                      </a:pPr>
                      <a:r>
                        <a:t>Cash pressure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F34"/>
                          </a:solidFill>
                        </a:defRPr>
                      </a:pPr>
                      <a:r>
                        <a:t>Review AR, payment periods, and cash-flow projections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F34"/>
                          </a:solidFill>
                        </a:defRPr>
                      </a:pPr>
                      <a:r>
                        <a:t>Working capital control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F34"/>
                          </a:solidFill>
                        </a:defRPr>
                      </a:pPr>
                      <a:r>
                        <a:t>Unit economics pressure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F34"/>
                          </a:solidFill>
                        </a:defRPr>
                      </a:pPr>
                      <a:r>
                        <a:t>Review production and marketing costs vs. prices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F34"/>
                          </a:solidFill>
                        </a:defRPr>
                      </a:pPr>
                      <a:r>
                        <a:t>Margin defense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4617720"/>
            <a:ext cx="9966960" cy="96012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11F34"/>
                </a:solidFill>
              </a:defRPr>
            </a:pPr>
            <a:r>
              <a:t>- The plan accepts a 10% negative deviation from expected sales and projected returns.</a:t>
            </a:r>
          </a:p>
          <a:p>
            <a:pPr>
              <a:spcAft>
                <a:spcPts val="700"/>
              </a:spcAft>
              <a:defRPr sz="1200">
                <a:solidFill>
                  <a:srgbClr val="111F34"/>
                </a:solidFill>
              </a:defRPr>
            </a:pPr>
            <a:r>
              <a:t>- Risks are not removed, but there is a staged operating response before larger commitments.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27080" cy="4114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300" b="1">
                <a:solidFill>
                  <a:srgbClr val="111F34"/>
                </a:solidFill>
              </a:rPr>
              <a:t>Investment &amp; Partnership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10332720" cy="329184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050" b="0">
                <a:solidFill>
                  <a:srgbClr val="637284"/>
                </a:solidFill>
              </a:rPr>
              <a:t>Fancy's Foods seeks early investors and channel partners to support phased market expansion of the only flavored, dairy-based whipped topping - backed by proven product, ready manufacturing, and banker-ready financial projections.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768096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650" b="0">
                <a:solidFill>
                  <a:srgbClr val="637284"/>
                </a:solidFill>
              </a:rPr>
              <a:t>Source: Oklahoma State University, A Sample Business Plan for Small Food Businesses, Jan 2006.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/>
            <a:r>
              <a:rPr sz="700" b="0">
                <a:solidFill>
                  <a:srgbClr val="637284"/>
                </a:solidFill>
              </a:rPr>
              <a:t>10/10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234440"/>
          <a:ext cx="5486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</a:defRPr>
                      </a:pPr>
                      <a:r>
                        <a:t>Need</a:t>
                      </a:r>
                    </a:p>
                  </a:txBody>
                  <a:tcPr marL="36576" marR="36576" marT="27432" marB="27432">
                    <a:solidFill>
                      <a:srgbClr val="11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</a:defRPr>
                      </a:pPr>
                      <a:r>
                        <a:t>Source-backed rationale</a:t>
                      </a:r>
                    </a:p>
                  </a:txBody>
                  <a:tcPr marL="36576" marR="36576" marT="27432" marB="27432">
                    <a:solidFill>
                      <a:srgbClr val="11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</a:defRPr>
                      </a:pPr>
                      <a:r>
                        <a:t>Partner/investor role</a:t>
                      </a:r>
                    </a:p>
                  </a:txBody>
                  <a:tcPr marL="36576" marR="36576" marT="27432" marB="27432">
                    <a:solidFill>
                      <a:srgbClr val="111F3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F34"/>
                          </a:solidFill>
                        </a:defRPr>
                      </a:pPr>
                      <a:r>
                        <a:t>Retail access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F34"/>
                          </a:solidFill>
                        </a:defRPr>
                      </a:pPr>
                      <a:r>
                        <a:t>Local groceries and Made in Oklahoma path identified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F34"/>
                          </a:solidFill>
                        </a:defRPr>
                      </a:pPr>
                      <a:r>
                        <a:t>Open channel doors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F34"/>
                          </a:solidFill>
                        </a:defRPr>
                      </a:pPr>
                      <a:r>
                        <a:t>Manufacturing scale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F34"/>
                          </a:solidFill>
                        </a:defRPr>
                      </a:pPr>
                      <a:r>
                        <a:t>In-house equipment plus Farm Fresh can partner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F34"/>
                          </a:solidFill>
                        </a:defRPr>
                      </a:pPr>
                      <a:r>
                        <a:t>Support controlled capacity ramp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F34"/>
                          </a:solidFill>
                        </a:defRPr>
                      </a:pPr>
                      <a:r>
                        <a:t>Metro expansion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F34"/>
                          </a:solidFill>
                        </a:defRPr>
                      </a:pPr>
                      <a:r>
                        <a:t>OKC and Tulsa included in projections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F34"/>
                          </a:solidFill>
                        </a:defRPr>
                      </a:pPr>
                      <a:r>
                        <a:t>Help validate larger markets</a:t>
                      </a:r>
                    </a:p>
                  </a:txBody>
                  <a:tcPr marL="36576" marR="36576" marT="27432" marB="27432">
                    <a:solidFill>
                      <a:srgbClr val="EBF2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F34"/>
                          </a:solidFill>
                        </a:defRPr>
                      </a:pPr>
                      <a:r>
                        <a:t>No stated capital amount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F34"/>
                          </a:solidFill>
                        </a:defRPr>
                      </a:pPr>
                      <a:r>
                        <a:t>PDF provides projections but no ask amount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F34"/>
                          </a:solidFill>
                        </a:defRPr>
                      </a:pPr>
                      <a:r>
                        <a:t>Define amount after diligence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0" y="1417320"/>
            <a:ext cx="1691640" cy="868680"/>
          </a:xfrm>
          <a:prstGeom prst="roundRect">
            <a:avLst/>
          </a:prstGeom>
          <a:solidFill>
            <a:srgbClr val="F7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defRPr sz="2200" b="1">
                <a:solidFill>
                  <a:srgbClr val="3069B4"/>
                </a:solidFill>
              </a:defRPr>
            </a:pPr>
            <a:r>
              <a:t>258,600</a:t>
            </a:r>
          </a:p>
          <a:p>
            <a:pPr>
              <a:defRPr sz="900">
                <a:solidFill>
                  <a:srgbClr val="637284"/>
                </a:solidFill>
              </a:defRPr>
            </a:pPr>
            <a:r>
              <a:t>Projected 2001 units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58200" y="1417320"/>
            <a:ext cx="1691640" cy="868680"/>
          </a:xfrm>
          <a:prstGeom prst="roundRect">
            <a:avLst/>
          </a:prstGeom>
          <a:solidFill>
            <a:srgbClr val="F7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defRPr sz="2200" b="1">
                <a:solidFill>
                  <a:srgbClr val="168477"/>
                </a:solidFill>
              </a:defRPr>
            </a:pPr>
            <a:r>
              <a:t>$592K</a:t>
            </a:r>
          </a:p>
          <a:p>
            <a:pPr>
              <a:defRPr sz="900">
                <a:solidFill>
                  <a:srgbClr val="637284"/>
                </a:solidFill>
              </a:defRPr>
            </a:pPr>
            <a:r>
              <a:t>Projected 2001 sales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32720" y="1417320"/>
            <a:ext cx="1325880" cy="868680"/>
          </a:xfrm>
          <a:prstGeom prst="roundRect">
            <a:avLst/>
          </a:prstGeom>
          <a:solidFill>
            <a:srgbClr val="F7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defRPr sz="2200" b="1">
                <a:solidFill>
                  <a:srgbClr val="4B914E"/>
                </a:solidFill>
              </a:defRPr>
            </a:pPr>
            <a:r>
              <a:t>10.88%</a:t>
            </a:r>
          </a:p>
          <a:p>
            <a:pPr>
              <a:defRPr sz="900">
                <a:solidFill>
                  <a:srgbClr val="637284"/>
                </a:solidFill>
              </a:defRPr>
            </a:pPr>
            <a:r>
              <a:t>ROE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880360"/>
            <a:ext cx="4480560" cy="214884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11F34"/>
                </a:solidFill>
              </a:defRPr>
            </a:pPr>
            <a:r>
              <a:t>- Near-term diligence: verify retailer commitments, co-pack economics, and production capacity.</a:t>
            </a:r>
          </a:p>
          <a:p>
            <a:pPr>
              <a:spcAft>
                <a:spcPts val="700"/>
              </a:spcAft>
              <a:defRPr sz="1300">
                <a:solidFill>
                  <a:srgbClr val="111F34"/>
                </a:solidFill>
              </a:defRPr>
            </a:pPr>
            <a:r>
              <a:t>- Partnership fit: grocery distribution, specialty food channels, and dairy/co-pack operations.</a:t>
            </a:r>
          </a:p>
          <a:p>
            <a:pPr>
              <a:spcAft>
                <a:spcPts val="700"/>
              </a:spcAft>
              <a:defRPr sz="1300">
                <a:solidFill>
                  <a:srgbClr val="111F34"/>
                </a:solidFill>
              </a:defRPr>
            </a:pPr>
            <a:r>
              <a:t>- Decision principle: fund and partner only against the source-backed phased rollout.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
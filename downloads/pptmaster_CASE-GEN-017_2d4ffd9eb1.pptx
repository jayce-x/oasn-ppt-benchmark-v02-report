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recommendation is to launch the checkout redesign, with latency as the explicit operating guardrail. The redesign improves purchase conversion, checkout completion, and revenue per session versus Control. The tradeoff is that weighted median page load is slower, so the launch decision should include mobile performance monitoring rather than treating the experiment as a clean win.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overall funnel view shows that both conversion definitions move in the same direction. Purchase conversion rises from 16.5 percent to 18.7 percent, and checkout completion rises from 47.2 percent to 49.1 percent. Because the source does not provide a confidence interval or p-value, this is framed as an observed lift rather than a statistical-significance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segment read strengthens the decision because every segment improves. Desktop New, Desktop Returning, Mobile New, and Mobile Returning all show purchase-conversion lifts of roughly two to two and a half percentage points. That consistency reduces the chance that the result is driven by only one audience or device context.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Revenue moves in the same direction as conversion. Gross revenue increases from about 1.005 million dollars under Control to about 1.182 million dollars under Redesign, a lift of 177,375 dollars in the provided sample. Revenue per session also rises, from 13.69 dollars to 16.19 dollars, which shows the revenue story is not only a traffic-volume effect.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guardrail view isolates the main risk. Refund rate and support-ticket rate are slightly lower under Redesign, so neither one creates an immediate service-quality objection from this dataset. Page load is the concern: the weighted median increases by 101 milliseconds overall, and Mobile New increases by 130 milliseconds.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final decision is to launch, but not to launch blindly. The broad conversion and revenue lift supports rollout, while the missing statistical-methodology detail limits the strength of the claim. The operating plan should watch mobile latency, refund rate, and support-ticket rate after launch, then prioritize mobile load optimization before expanding the redesign further.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5" name="Group 5"/>
          <p:cNvGrpSpPr/>
          <p:nvPr/>
        </p:nvGrpSpPr>
        <p:grpSpPr>
          <a:xfrm>
            <a:off x="514350" y="1200150"/>
            <a:ext cx="11163300" cy="4905375"/>
            <a:chOff x="514350" y="1200150"/>
            <a:chExt cx="11163300" cy="4905375"/>
          </a:xfrm>
        </p:grpSpPr>
        <p:sp>
          <p:nvSpPr>
            <p:cNvPr id="3" name="Line 3"/>
            <p:cNvSpPr/>
            <p:nvPr/>
          </p:nvSpPr>
          <p:spPr>
            <a:xfrm>
              <a:off x="514350" y="1200150"/>
              <a:ext cx="11163300" cy="9525"/>
            </a:xfrm>
            <a:custGeom>
              <a:avLst/>
              <a:gdLst/>
              <a:ahLst/>
              <a:cxnLst/>
              <a:rect l="l" t="t" r="r" b="b"/>
              <a:pathLst>
                <a:path w="11163300" h="9525">
                  <a:moveTo>
                    <a:pt x="0" y="0"/>
                  </a:moveTo>
                  <a:lnTo>
                    <a:pt x="11163300" y="0"/>
                  </a:lnTo>
                </a:path>
              </a:pathLst>
            </a:custGeom>
            <a:noFill/>
            <a:ln w="9525">
              <a:solidFill>
                <a:srgbClr val="D9E1EA"/>
              </a:solidFill>
            </a:ln>
          </p:spPr>
        </p:sp>
        <p:sp>
          <p:nvSpPr>
            <p:cNvPr id="4" name="Line 4"/>
            <p:cNvSpPr/>
            <p:nvPr/>
          </p:nvSpPr>
          <p:spPr>
            <a:xfrm>
              <a:off x="514350" y="6096000"/>
              <a:ext cx="11163300" cy="9525"/>
            </a:xfrm>
            <a:custGeom>
              <a:avLst/>
              <a:gdLst/>
              <a:ahLst/>
              <a:cxnLst/>
              <a:rect l="l" t="t" r="r" b="b"/>
              <a:pathLst>
                <a:path w="11163300" h="9525">
                  <a:moveTo>
                    <a:pt x="0" y="0"/>
                  </a:moveTo>
                  <a:lnTo>
                    <a:pt x="11163300" y="0"/>
                  </a:lnTo>
                </a:path>
              </a:pathLst>
            </a:custGeom>
            <a:noFill/>
            <a:ln w="9525">
              <a:solidFill>
                <a:srgbClr val="D9E1EA"/>
              </a:solidFill>
            </a:ln>
          </p:spPr>
        </p:sp>
      </p:grpSp>
      <p:grpSp>
        <p:nvGrpSpPr>
          <p:cNvPr id="9" name="Group 9"/>
          <p:cNvGrpSpPr/>
          <p:nvPr/>
        </p:nvGrpSpPr>
        <p:grpSpPr>
          <a:xfrm>
            <a:off x="500062" y="447199"/>
            <a:ext cx="11189971" cy="460057"/>
            <a:chOff x="500062" y="447199"/>
            <a:chExt cx="11189971" cy="460057"/>
          </a:xfrm>
        </p:grpSpPr>
        <p:sp>
          <p:nvSpPr>
            <p:cNvPr id="6" name="TextBox 6"/>
            <p:cNvSpPr txBox="1"/>
            <p:nvPr/>
          </p:nvSpPr>
          <p:spPr>
            <a:xfrm>
              <a:off x="501968" y="447199"/>
              <a:ext cx="925778"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CASE-GEN-017</a:t>
              </a:r>
            </a:p>
          </p:txBody>
        </p:sp>
        <p:sp>
          <p:nvSpPr>
            <p:cNvPr id="7" name="TextBox 7"/>
            <p:cNvSpPr txBox="1"/>
            <p:nvPr/>
          </p:nvSpPr>
          <p:spPr>
            <a:xfrm>
              <a:off x="500062" y="678656"/>
              <a:ext cx="2841427" cy="228600"/>
            </a:xfrm>
            <a:prstGeom prst="rect">
              <a:avLst/>
            </a:prstGeom>
            <a:noFill/>
            <a:ln>
              <a:noFill/>
            </a:ln>
          </p:spPr>
          <p:txBody>
            <a:bodyPr wrap="none" lIns="0" tIns="0" rIns="0" bIns="0" anchor="t" anchorCtr="0">
              <a:spAutoFit/>
            </a:bodyPr>
            <a:lstStyle/>
            <a:p>
              <a:pPr algn="l"/>
              <a:r>
                <a:rPr lang="zh-CN" sz="1125" dirty="0">
                  <a:solidFill>
                    <a:srgbClr val="5B677A"/>
                  </a:solidFill>
                  <a:latin typeface="Arial"/>
                  <a:ea typeface="Microsoft YaHei"/>
                  <a:cs typeface="Arial"/>
                </a:rPr>
                <a:t>Checkout redesign experiment readout</a:t>
              </a:r>
            </a:p>
          </p:txBody>
        </p:sp>
        <p:sp>
          <p:nvSpPr>
            <p:cNvPr id="8" name="TextBox 8"/>
            <p:cNvSpPr txBox="1"/>
            <p:nvPr/>
          </p:nvSpPr>
          <p:spPr>
            <a:xfrm>
              <a:off x="8947928" y="694849"/>
              <a:ext cx="2742105" cy="198120"/>
            </a:xfrm>
            <a:prstGeom prst="rect">
              <a:avLst/>
            </a:prstGeom>
            <a:noFill/>
            <a:ln>
              <a:noFill/>
            </a:ln>
          </p:spPr>
          <p:txBody>
            <a:bodyPr wrap="none" lIns="0" tIns="0" rIns="0" bIns="0" anchor="t" anchorCtr="0">
              <a:spAutoFit/>
            </a:bodyPr>
            <a:lstStyle/>
            <a:p>
              <a:pPr algn="r"/>
              <a:r>
                <a:rPr lang="zh-CN" sz="975" dirty="0">
                  <a:solidFill>
                    <a:srgbClr val="8A94A6"/>
                  </a:solidFill>
                  <a:latin typeface="Arial"/>
                  <a:ea typeface="Microsoft YaHei"/>
                  <a:cs typeface="Arial"/>
                </a:rPr>
                <a:t>Source: checkout_experiment_results.csv</a:t>
              </a:r>
            </a:p>
          </p:txBody>
        </p:sp>
      </p:grpSp>
      <p:grpSp>
        <p:nvGrpSpPr>
          <p:cNvPr id="12" name="Group 12"/>
          <p:cNvGrpSpPr/>
          <p:nvPr/>
        </p:nvGrpSpPr>
        <p:grpSpPr>
          <a:xfrm>
            <a:off x="471488" y="1350169"/>
            <a:ext cx="7672863" cy="1947862"/>
            <a:chOff x="471488" y="1350169"/>
            <a:chExt cx="7672863" cy="1947862"/>
          </a:xfrm>
        </p:grpSpPr>
        <p:sp>
          <p:nvSpPr>
            <p:cNvPr id="10" name="TextBox 10"/>
            <p:cNvSpPr txBox="1"/>
            <p:nvPr/>
          </p:nvSpPr>
          <p:spPr>
            <a:xfrm>
              <a:off x="471488" y="1350169"/>
              <a:ext cx="7624167" cy="1200150"/>
            </a:xfrm>
            <a:prstGeom prst="rect">
              <a:avLst/>
            </a:prstGeom>
            <a:noFill/>
            <a:ln>
              <a:noFill/>
            </a:ln>
          </p:spPr>
          <p:txBody>
            <a:bodyPr wrap="square" lIns="0" tIns="0" rIns="0" bIns="0" anchor="t" anchorCtr="0"/>
            <a:lstStyle/>
            <a:p>
              <a:pPr algn="l">
                <a:lnSpc>
                  <a:spcPts val="4050"/>
                </a:lnSpc>
              </a:pPr>
              <a:r>
                <a:rPr lang="zh-CN" sz="3375" b="1" dirty="0">
                  <a:solidFill>
                    <a:srgbClr val="182230"/>
                  </a:solidFill>
                  <a:latin typeface="Georgia"/>
                  <a:ea typeface="Microsoft YaHei"/>
                  <a:cs typeface="Georgia"/>
                </a:rPr>
                <a:t xml:space="preserve">Launch the redesign, with latency </a:t>
              </a:r>
              <a:r>
                <a:rPr lang="zh-CN" sz="3375" b="1" dirty="0">
                  <a:solidFill>
                    <a:srgbClr val="182230"/>
                  </a:solidFill>
                  <a:latin typeface="Georgia"/>
                  <a:ea typeface="Microsoft YaHei"/>
                  <a:cs typeface="Georgia"/>
                </a:rPr>
                <a:t>as the explicit operating guardrail</a:t>
              </a:r>
            </a:p>
          </p:txBody>
        </p:sp>
        <p:sp>
          <p:nvSpPr>
            <p:cNvPr id="11" name="TextBox 11"/>
            <p:cNvSpPr txBox="1"/>
            <p:nvPr/>
          </p:nvSpPr>
          <p:spPr>
            <a:xfrm>
              <a:off x="534352" y="2741771"/>
              <a:ext cx="7609999" cy="556260"/>
            </a:xfrm>
            <a:prstGeom prst="rect">
              <a:avLst/>
            </a:prstGeom>
            <a:noFill/>
            <a:ln>
              <a:noFill/>
            </a:ln>
          </p:spPr>
          <p:txBody>
            <a:bodyPr wrap="square" lIns="0" tIns="0" rIns="0" bIns="0" anchor="t" anchorCtr="0"/>
            <a:lstStyle/>
            <a:p>
              <a:pPr algn="l">
                <a:lnSpc>
                  <a:spcPts val="2100"/>
                </a:lnSpc>
              </a:pPr>
              <a:r>
                <a:rPr lang="zh-CN" sz="1425" dirty="0">
                  <a:solidFill>
                    <a:srgbClr val="5B677A"/>
                  </a:solidFill>
                  <a:latin typeface="Arial"/>
                  <a:ea typeface="Microsoft YaHei"/>
                  <a:cs typeface="Arial"/>
                </a:rPr>
                <a:t xml:space="preserve">Redesign beats Control on conversion, checkout completion, and revenue per session. </a:t>
              </a:r>
              <a:r>
                <a:rPr lang="zh-CN" sz="1425" dirty="0">
                  <a:solidFill>
                    <a:srgbClr val="5B677A"/>
                  </a:solidFill>
                  <a:latin typeface="Arial"/>
                  <a:ea typeface="Microsoft YaHei"/>
                  <a:cs typeface="Arial"/>
                </a:rPr>
                <a:t>The only material downside in the provided data is slower weighted median page load.</a:t>
              </a:r>
            </a:p>
          </p:txBody>
        </p:sp>
      </p:grpSp>
      <p:grpSp>
        <p:nvGrpSpPr>
          <p:cNvPr id="19" name="Group 19"/>
          <p:cNvGrpSpPr/>
          <p:nvPr/>
        </p:nvGrpSpPr>
        <p:grpSpPr>
          <a:xfrm>
            <a:off x="514350" y="3390900"/>
            <a:ext cx="2571750" cy="1457325"/>
            <a:chOff x="514350" y="3390900"/>
            <a:chExt cx="2571750" cy="1457325"/>
          </a:xfrm>
        </p:grpSpPr>
        <p:sp>
          <p:nvSpPr>
            <p:cNvPr id="13" name="Rectangle 13"/>
            <p:cNvSpPr/>
            <p:nvPr/>
          </p:nvSpPr>
          <p:spPr>
            <a:xfrm>
              <a:off x="514350" y="3390900"/>
              <a:ext cx="2571750" cy="1428750"/>
            </a:xfrm>
            <a:prstGeom prst="roundRect">
              <a:avLst>
                <a:gd name="adj" fmla="val 4000"/>
              </a:avLst>
            </a:prstGeom>
            <a:solidFill>
              <a:srgbClr val="FFFFFF"/>
            </a:solidFill>
            <a:ln w="9525">
              <a:solidFill>
                <a:srgbClr val="D9E1EA"/>
              </a:solidFill>
            </a:ln>
          </p:spPr>
        </p:sp>
        <p:sp>
          <p:nvSpPr>
            <p:cNvPr id="14" name="Rectangle 14"/>
            <p:cNvSpPr/>
            <p:nvPr/>
          </p:nvSpPr>
          <p:spPr>
            <a:xfrm>
              <a:off x="514350" y="3390900"/>
              <a:ext cx="57150" cy="1428750"/>
            </a:xfrm>
            <a:prstGeom prst="roundRect">
              <a:avLst>
                <a:gd name="adj" fmla="val 50000"/>
              </a:avLst>
            </a:prstGeom>
            <a:solidFill>
              <a:srgbClr val="00A6A6"/>
            </a:solidFill>
            <a:ln>
              <a:noFill/>
            </a:ln>
          </p:spPr>
        </p:sp>
        <p:sp>
          <p:nvSpPr>
            <p:cNvPr id="15" name="TextBox 15"/>
            <p:cNvSpPr txBox="1"/>
            <p:nvPr/>
          </p:nvSpPr>
          <p:spPr>
            <a:xfrm>
              <a:off x="729615" y="3601402"/>
              <a:ext cx="1489503" cy="213360"/>
            </a:xfrm>
            <a:prstGeom prst="rect">
              <a:avLst/>
            </a:prstGeom>
            <a:noFill/>
            <a:ln>
              <a:noFill/>
            </a:ln>
          </p:spPr>
          <p:txBody>
            <a:bodyPr wrap="none" lIns="0" tIns="0" rIns="0" bIns="0" anchor="t" anchorCtr="0">
              <a:spAutoFit/>
            </a:bodyPr>
            <a:lstStyle/>
            <a:p>
              <a:pPr algn="l"/>
              <a:r>
                <a:rPr lang="zh-CN" sz="1050" b="1" dirty="0">
                  <a:solidFill>
                    <a:srgbClr val="5B677A"/>
                  </a:solidFill>
                  <a:latin typeface="Arial"/>
                  <a:ea typeface="Microsoft YaHei"/>
                  <a:cs typeface="Arial"/>
                </a:rPr>
                <a:t>Purchase conversion</a:t>
              </a:r>
            </a:p>
          </p:txBody>
        </p:sp>
        <p:sp>
          <p:nvSpPr>
            <p:cNvPr id="16" name="TextBox 16"/>
            <p:cNvSpPr txBox="1"/>
            <p:nvPr/>
          </p:nvSpPr>
          <p:spPr>
            <a:xfrm>
              <a:off x="702945" y="3889058"/>
              <a:ext cx="1381123" cy="640080"/>
            </a:xfrm>
            <a:prstGeom prst="rect">
              <a:avLst/>
            </a:prstGeom>
            <a:noFill/>
            <a:ln>
              <a:noFill/>
            </a:ln>
          </p:spPr>
          <p:txBody>
            <a:bodyPr wrap="none" lIns="0" tIns="0" rIns="0" bIns="0" anchor="t" anchorCtr="0">
              <a:spAutoFit/>
            </a:bodyPr>
            <a:lstStyle/>
            <a:p>
              <a:pPr algn="l"/>
              <a:r>
                <a:rPr lang="zh-CN" sz="3150" b="1" dirty="0">
                  <a:solidFill>
                    <a:srgbClr val="182230"/>
                  </a:solidFill>
                  <a:latin typeface="Georgia"/>
                  <a:ea typeface="Microsoft YaHei"/>
                  <a:cs typeface="Georgia"/>
                </a:rPr>
                <a:t>18.7%</a:t>
              </a:r>
            </a:p>
          </p:txBody>
        </p:sp>
        <p:sp>
          <p:nvSpPr>
            <p:cNvPr id="17" name="TextBox 17"/>
            <p:cNvSpPr txBox="1"/>
            <p:nvPr/>
          </p:nvSpPr>
          <p:spPr>
            <a:xfrm>
              <a:off x="728662" y="4393406"/>
              <a:ext cx="1138714" cy="228600"/>
            </a:xfrm>
            <a:prstGeom prst="rect">
              <a:avLst/>
            </a:prstGeom>
            <a:noFill/>
            <a:ln>
              <a:noFill/>
            </a:ln>
          </p:spPr>
          <p:txBody>
            <a:bodyPr wrap="none" lIns="0" tIns="0" rIns="0" bIns="0" anchor="t" anchorCtr="0">
              <a:spAutoFit/>
            </a:bodyPr>
            <a:lstStyle/>
            <a:p>
              <a:pPr algn="l"/>
              <a:r>
                <a:rPr lang="zh-CN" sz="1125" dirty="0">
                  <a:solidFill>
                    <a:srgbClr val="5B677A"/>
                  </a:solidFill>
                  <a:latin typeface="Arial"/>
                  <a:ea typeface="Microsoft YaHei"/>
                  <a:cs typeface="Arial"/>
                </a:rPr>
                <a:t>Control: 16.5%</a:t>
              </a:r>
            </a:p>
          </p:txBody>
        </p:sp>
        <p:sp>
          <p:nvSpPr>
            <p:cNvPr id="18" name="TextBox 18"/>
            <p:cNvSpPr txBox="1"/>
            <p:nvPr/>
          </p:nvSpPr>
          <p:spPr>
            <a:xfrm>
              <a:off x="727710" y="4604385"/>
              <a:ext cx="820179" cy="243840"/>
            </a:xfrm>
            <a:prstGeom prst="rect">
              <a:avLst/>
            </a:prstGeom>
            <a:noFill/>
            <a:ln>
              <a:noFill/>
            </a:ln>
          </p:spPr>
          <p:txBody>
            <a:bodyPr wrap="none" lIns="0" tIns="0" rIns="0" bIns="0" anchor="t" anchorCtr="0">
              <a:spAutoFit/>
            </a:bodyPr>
            <a:lstStyle/>
            <a:p>
              <a:pPr algn="l"/>
              <a:r>
                <a:rPr lang="zh-CN" sz="1200" b="1" dirty="0">
                  <a:solidFill>
                    <a:srgbClr val="0E9F6E"/>
                  </a:solidFill>
                  <a:latin typeface="Arial"/>
                  <a:ea typeface="Microsoft YaHei"/>
                  <a:cs typeface="Arial"/>
                </a:rPr>
                <a:t>+2.21 pts</a:t>
              </a:r>
            </a:p>
          </p:txBody>
        </p:sp>
      </p:grpSp>
      <p:grpSp>
        <p:nvGrpSpPr>
          <p:cNvPr id="26" name="Group 26"/>
          <p:cNvGrpSpPr/>
          <p:nvPr/>
        </p:nvGrpSpPr>
        <p:grpSpPr>
          <a:xfrm>
            <a:off x="3276600" y="3390900"/>
            <a:ext cx="2571750" cy="1457325"/>
            <a:chOff x="3276600" y="3390900"/>
            <a:chExt cx="2571750" cy="1457325"/>
          </a:xfrm>
        </p:grpSpPr>
        <p:sp>
          <p:nvSpPr>
            <p:cNvPr id="20" name="Rectangle 20"/>
            <p:cNvSpPr/>
            <p:nvPr/>
          </p:nvSpPr>
          <p:spPr>
            <a:xfrm>
              <a:off x="3276600" y="3390900"/>
              <a:ext cx="2571750" cy="1428750"/>
            </a:xfrm>
            <a:prstGeom prst="roundRect">
              <a:avLst>
                <a:gd name="adj" fmla="val 4000"/>
              </a:avLst>
            </a:prstGeom>
            <a:solidFill>
              <a:srgbClr val="FFFFFF"/>
            </a:solidFill>
            <a:ln w="9525">
              <a:solidFill>
                <a:srgbClr val="D9E1EA"/>
              </a:solidFill>
            </a:ln>
          </p:spPr>
        </p:sp>
        <p:sp>
          <p:nvSpPr>
            <p:cNvPr id="21" name="Rectangle 21"/>
            <p:cNvSpPr/>
            <p:nvPr/>
          </p:nvSpPr>
          <p:spPr>
            <a:xfrm>
              <a:off x="3276600" y="3390900"/>
              <a:ext cx="57150" cy="1428750"/>
            </a:xfrm>
            <a:prstGeom prst="roundRect">
              <a:avLst>
                <a:gd name="adj" fmla="val 50000"/>
              </a:avLst>
            </a:prstGeom>
            <a:solidFill>
              <a:srgbClr val="00A6A6"/>
            </a:solidFill>
            <a:ln>
              <a:noFill/>
            </a:ln>
          </p:spPr>
        </p:sp>
        <p:sp>
          <p:nvSpPr>
            <p:cNvPr id="22" name="TextBox 22"/>
            <p:cNvSpPr txBox="1"/>
            <p:nvPr/>
          </p:nvSpPr>
          <p:spPr>
            <a:xfrm>
              <a:off x="3491865" y="3601402"/>
              <a:ext cx="1482152" cy="213360"/>
            </a:xfrm>
            <a:prstGeom prst="rect">
              <a:avLst/>
            </a:prstGeom>
            <a:noFill/>
            <a:ln>
              <a:noFill/>
            </a:ln>
          </p:spPr>
          <p:txBody>
            <a:bodyPr wrap="none" lIns="0" tIns="0" rIns="0" bIns="0" anchor="t" anchorCtr="0">
              <a:spAutoFit/>
            </a:bodyPr>
            <a:lstStyle/>
            <a:p>
              <a:pPr algn="l"/>
              <a:r>
                <a:rPr lang="zh-CN" sz="1050" b="1" dirty="0">
                  <a:solidFill>
                    <a:srgbClr val="5B677A"/>
                  </a:solidFill>
                  <a:latin typeface="Arial"/>
                  <a:ea typeface="Microsoft YaHei"/>
                  <a:cs typeface="Arial"/>
                </a:rPr>
                <a:t>Checkout completion</a:t>
              </a:r>
            </a:p>
          </p:txBody>
        </p:sp>
        <p:sp>
          <p:nvSpPr>
            <p:cNvPr id="23" name="TextBox 23"/>
            <p:cNvSpPr txBox="1"/>
            <p:nvPr/>
          </p:nvSpPr>
          <p:spPr>
            <a:xfrm>
              <a:off x="3465195" y="3889058"/>
              <a:ext cx="1381123" cy="640080"/>
            </a:xfrm>
            <a:prstGeom prst="rect">
              <a:avLst/>
            </a:prstGeom>
            <a:noFill/>
            <a:ln>
              <a:noFill/>
            </a:ln>
          </p:spPr>
          <p:txBody>
            <a:bodyPr wrap="none" lIns="0" tIns="0" rIns="0" bIns="0" anchor="t" anchorCtr="0">
              <a:spAutoFit/>
            </a:bodyPr>
            <a:lstStyle/>
            <a:p>
              <a:pPr algn="l"/>
              <a:r>
                <a:rPr lang="zh-CN" sz="3150" b="1" dirty="0">
                  <a:solidFill>
                    <a:srgbClr val="182230"/>
                  </a:solidFill>
                  <a:latin typeface="Georgia"/>
                  <a:ea typeface="Microsoft YaHei"/>
                  <a:cs typeface="Georgia"/>
                </a:rPr>
                <a:t>49.1%</a:t>
              </a:r>
            </a:p>
          </p:txBody>
        </p:sp>
        <p:sp>
          <p:nvSpPr>
            <p:cNvPr id="24" name="TextBox 24"/>
            <p:cNvSpPr txBox="1"/>
            <p:nvPr/>
          </p:nvSpPr>
          <p:spPr>
            <a:xfrm>
              <a:off x="3490912" y="4393406"/>
              <a:ext cx="1138714" cy="228600"/>
            </a:xfrm>
            <a:prstGeom prst="rect">
              <a:avLst/>
            </a:prstGeom>
            <a:noFill/>
            <a:ln>
              <a:noFill/>
            </a:ln>
          </p:spPr>
          <p:txBody>
            <a:bodyPr wrap="none" lIns="0" tIns="0" rIns="0" bIns="0" anchor="t" anchorCtr="0">
              <a:spAutoFit/>
            </a:bodyPr>
            <a:lstStyle/>
            <a:p>
              <a:pPr algn="l"/>
              <a:r>
                <a:rPr lang="zh-CN" sz="1125" dirty="0">
                  <a:solidFill>
                    <a:srgbClr val="5B677A"/>
                  </a:solidFill>
                  <a:latin typeface="Arial"/>
                  <a:ea typeface="Microsoft YaHei"/>
                  <a:cs typeface="Arial"/>
                </a:rPr>
                <a:t>Control: 47.2%</a:t>
              </a:r>
            </a:p>
          </p:txBody>
        </p:sp>
        <p:sp>
          <p:nvSpPr>
            <p:cNvPr id="25" name="TextBox 25"/>
            <p:cNvSpPr txBox="1"/>
            <p:nvPr/>
          </p:nvSpPr>
          <p:spPr>
            <a:xfrm>
              <a:off x="3489960" y="4604385"/>
              <a:ext cx="820179" cy="243840"/>
            </a:xfrm>
            <a:prstGeom prst="rect">
              <a:avLst/>
            </a:prstGeom>
            <a:noFill/>
            <a:ln>
              <a:noFill/>
            </a:ln>
          </p:spPr>
          <p:txBody>
            <a:bodyPr wrap="none" lIns="0" tIns="0" rIns="0" bIns="0" anchor="t" anchorCtr="0">
              <a:spAutoFit/>
            </a:bodyPr>
            <a:lstStyle/>
            <a:p>
              <a:pPr algn="l"/>
              <a:r>
                <a:rPr lang="zh-CN" sz="1200" b="1" dirty="0">
                  <a:solidFill>
                    <a:srgbClr val="0E9F6E"/>
                  </a:solidFill>
                  <a:latin typeface="Arial"/>
                  <a:ea typeface="Microsoft YaHei"/>
                  <a:cs typeface="Arial"/>
                </a:rPr>
                <a:t>+1.89 pts</a:t>
              </a:r>
            </a:p>
          </p:txBody>
        </p:sp>
      </p:grpSp>
      <p:grpSp>
        <p:nvGrpSpPr>
          <p:cNvPr id="33" name="Group 33"/>
          <p:cNvGrpSpPr/>
          <p:nvPr/>
        </p:nvGrpSpPr>
        <p:grpSpPr>
          <a:xfrm>
            <a:off x="6038850" y="3390900"/>
            <a:ext cx="2571750" cy="1457325"/>
            <a:chOff x="6038850" y="3390900"/>
            <a:chExt cx="2571750" cy="1457325"/>
          </a:xfrm>
        </p:grpSpPr>
        <p:sp>
          <p:nvSpPr>
            <p:cNvPr id="27" name="Rectangle 27"/>
            <p:cNvSpPr/>
            <p:nvPr/>
          </p:nvSpPr>
          <p:spPr>
            <a:xfrm>
              <a:off x="6038850" y="3390900"/>
              <a:ext cx="2571750" cy="1428750"/>
            </a:xfrm>
            <a:prstGeom prst="roundRect">
              <a:avLst>
                <a:gd name="adj" fmla="val 4000"/>
              </a:avLst>
            </a:prstGeom>
            <a:solidFill>
              <a:srgbClr val="FFFFFF"/>
            </a:solidFill>
            <a:ln w="9525">
              <a:solidFill>
                <a:srgbClr val="D9E1EA"/>
              </a:solidFill>
            </a:ln>
          </p:spPr>
        </p:sp>
        <p:sp>
          <p:nvSpPr>
            <p:cNvPr id="28" name="Rectangle 28"/>
            <p:cNvSpPr/>
            <p:nvPr/>
          </p:nvSpPr>
          <p:spPr>
            <a:xfrm>
              <a:off x="6038850" y="3390900"/>
              <a:ext cx="57150" cy="1428750"/>
            </a:xfrm>
            <a:prstGeom prst="roundRect">
              <a:avLst>
                <a:gd name="adj" fmla="val 50000"/>
              </a:avLst>
            </a:prstGeom>
            <a:solidFill>
              <a:srgbClr val="00A6A6"/>
            </a:solidFill>
            <a:ln>
              <a:noFill/>
            </a:ln>
          </p:spPr>
        </p:sp>
        <p:sp>
          <p:nvSpPr>
            <p:cNvPr id="29" name="TextBox 29"/>
            <p:cNvSpPr txBox="1"/>
            <p:nvPr/>
          </p:nvSpPr>
          <p:spPr>
            <a:xfrm>
              <a:off x="6254115" y="3601402"/>
              <a:ext cx="1452748" cy="213360"/>
            </a:xfrm>
            <a:prstGeom prst="rect">
              <a:avLst/>
            </a:prstGeom>
            <a:noFill/>
            <a:ln>
              <a:noFill/>
            </a:ln>
          </p:spPr>
          <p:txBody>
            <a:bodyPr wrap="none" lIns="0" tIns="0" rIns="0" bIns="0" anchor="t" anchorCtr="0">
              <a:spAutoFit/>
            </a:bodyPr>
            <a:lstStyle/>
            <a:p>
              <a:pPr algn="l"/>
              <a:r>
                <a:rPr lang="zh-CN" sz="1050" b="1" dirty="0">
                  <a:solidFill>
                    <a:srgbClr val="5B677A"/>
                  </a:solidFill>
                  <a:latin typeface="Arial"/>
                  <a:ea typeface="Microsoft YaHei"/>
                  <a:cs typeface="Arial"/>
                </a:rPr>
                <a:t>Revenue per session</a:t>
              </a:r>
            </a:p>
          </p:txBody>
        </p:sp>
        <p:sp>
          <p:nvSpPr>
            <p:cNvPr id="30" name="TextBox 30"/>
            <p:cNvSpPr txBox="1"/>
            <p:nvPr/>
          </p:nvSpPr>
          <p:spPr>
            <a:xfrm>
              <a:off x="6227445" y="3889058"/>
              <a:ext cx="1535492" cy="640080"/>
            </a:xfrm>
            <a:prstGeom prst="rect">
              <a:avLst/>
            </a:prstGeom>
            <a:noFill/>
            <a:ln>
              <a:noFill/>
            </a:ln>
          </p:spPr>
          <p:txBody>
            <a:bodyPr wrap="none" lIns="0" tIns="0" rIns="0" bIns="0" anchor="t" anchorCtr="0">
              <a:spAutoFit/>
            </a:bodyPr>
            <a:lstStyle/>
            <a:p>
              <a:pPr algn="l"/>
              <a:r>
                <a:rPr lang="zh-CN" sz="3150" b="1" dirty="0">
                  <a:solidFill>
                    <a:srgbClr val="182230"/>
                  </a:solidFill>
                  <a:latin typeface="Georgia"/>
                  <a:ea typeface="Microsoft YaHei"/>
                  <a:cs typeface="Georgia"/>
                </a:rPr>
                <a:t>$16.19</a:t>
              </a:r>
            </a:p>
          </p:txBody>
        </p:sp>
        <p:sp>
          <p:nvSpPr>
            <p:cNvPr id="31" name="TextBox 31"/>
            <p:cNvSpPr txBox="1"/>
            <p:nvPr/>
          </p:nvSpPr>
          <p:spPr>
            <a:xfrm>
              <a:off x="6253162" y="4393406"/>
              <a:ext cx="1191220" cy="228600"/>
            </a:xfrm>
            <a:prstGeom prst="rect">
              <a:avLst/>
            </a:prstGeom>
            <a:noFill/>
            <a:ln>
              <a:noFill/>
            </a:ln>
          </p:spPr>
          <p:txBody>
            <a:bodyPr wrap="none" lIns="0" tIns="0" rIns="0" bIns="0" anchor="t" anchorCtr="0">
              <a:spAutoFit/>
            </a:bodyPr>
            <a:lstStyle/>
            <a:p>
              <a:pPr algn="l"/>
              <a:r>
                <a:rPr lang="zh-CN" sz="1125" dirty="0">
                  <a:solidFill>
                    <a:srgbClr val="5B677A"/>
                  </a:solidFill>
                  <a:latin typeface="Arial"/>
                  <a:ea typeface="Microsoft YaHei"/>
                  <a:cs typeface="Arial"/>
                </a:rPr>
                <a:t>Control: $13.69</a:t>
              </a:r>
            </a:p>
          </p:txBody>
        </p:sp>
        <p:sp>
          <p:nvSpPr>
            <p:cNvPr id="32" name="TextBox 32"/>
            <p:cNvSpPr txBox="1"/>
            <p:nvPr/>
          </p:nvSpPr>
          <p:spPr>
            <a:xfrm>
              <a:off x="6252210" y="4604385"/>
              <a:ext cx="584949" cy="243840"/>
            </a:xfrm>
            <a:prstGeom prst="rect">
              <a:avLst/>
            </a:prstGeom>
            <a:noFill/>
            <a:ln>
              <a:noFill/>
            </a:ln>
          </p:spPr>
          <p:txBody>
            <a:bodyPr wrap="none" lIns="0" tIns="0" rIns="0" bIns="0" anchor="t" anchorCtr="0">
              <a:spAutoFit/>
            </a:bodyPr>
            <a:lstStyle/>
            <a:p>
              <a:pPr algn="l"/>
              <a:r>
                <a:rPr lang="zh-CN" sz="1200" b="1" dirty="0">
                  <a:solidFill>
                    <a:srgbClr val="0E9F6E"/>
                  </a:solidFill>
                  <a:latin typeface="Arial"/>
                  <a:ea typeface="Microsoft YaHei"/>
                  <a:cs typeface="Arial"/>
                </a:rPr>
                <a:t>+$2.50</a:t>
              </a:r>
            </a:p>
          </p:txBody>
        </p:sp>
      </p:grpSp>
      <p:grpSp>
        <p:nvGrpSpPr>
          <p:cNvPr id="40" name="Group 40"/>
          <p:cNvGrpSpPr/>
          <p:nvPr/>
        </p:nvGrpSpPr>
        <p:grpSpPr>
          <a:xfrm>
            <a:off x="8801100" y="3390900"/>
            <a:ext cx="2876550" cy="1457325"/>
            <a:chOff x="8801100" y="3390900"/>
            <a:chExt cx="2876550" cy="1457325"/>
          </a:xfrm>
        </p:grpSpPr>
        <p:sp>
          <p:nvSpPr>
            <p:cNvPr id="34" name="Rectangle 34"/>
            <p:cNvSpPr/>
            <p:nvPr/>
          </p:nvSpPr>
          <p:spPr>
            <a:xfrm>
              <a:off x="8801100" y="3390900"/>
              <a:ext cx="2876550" cy="1428750"/>
            </a:xfrm>
            <a:prstGeom prst="roundRect">
              <a:avLst>
                <a:gd name="adj" fmla="val 4000"/>
              </a:avLst>
            </a:prstGeom>
            <a:solidFill>
              <a:srgbClr val="FFFFFF"/>
            </a:solidFill>
            <a:ln w="9525">
              <a:solidFill>
                <a:srgbClr val="D9E1EA"/>
              </a:solidFill>
            </a:ln>
          </p:spPr>
        </p:sp>
        <p:sp>
          <p:nvSpPr>
            <p:cNvPr id="35" name="Rectangle 35"/>
            <p:cNvSpPr/>
            <p:nvPr/>
          </p:nvSpPr>
          <p:spPr>
            <a:xfrm>
              <a:off x="8801100" y="3390900"/>
              <a:ext cx="57150" cy="1428750"/>
            </a:xfrm>
            <a:prstGeom prst="roundRect">
              <a:avLst>
                <a:gd name="adj" fmla="val 50000"/>
              </a:avLst>
            </a:prstGeom>
            <a:solidFill>
              <a:srgbClr val="F59E0B"/>
            </a:solidFill>
            <a:ln>
              <a:noFill/>
            </a:ln>
          </p:spPr>
        </p:sp>
        <p:sp>
          <p:nvSpPr>
            <p:cNvPr id="36" name="TextBox 36"/>
            <p:cNvSpPr txBox="1"/>
            <p:nvPr/>
          </p:nvSpPr>
          <p:spPr>
            <a:xfrm>
              <a:off x="9016365" y="3601402"/>
              <a:ext cx="1886452" cy="213360"/>
            </a:xfrm>
            <a:prstGeom prst="rect">
              <a:avLst/>
            </a:prstGeom>
            <a:noFill/>
            <a:ln>
              <a:noFill/>
            </a:ln>
          </p:spPr>
          <p:txBody>
            <a:bodyPr wrap="none" lIns="0" tIns="0" rIns="0" bIns="0" anchor="t" anchorCtr="0">
              <a:spAutoFit/>
            </a:bodyPr>
            <a:lstStyle/>
            <a:p>
              <a:pPr algn="l"/>
              <a:r>
                <a:rPr lang="zh-CN" sz="1050" b="1" dirty="0">
                  <a:solidFill>
                    <a:srgbClr val="5B677A"/>
                  </a:solidFill>
                  <a:latin typeface="Arial"/>
                  <a:ea typeface="Microsoft YaHei"/>
                  <a:cs typeface="Arial"/>
                </a:rPr>
                <a:t>Weighted median page load</a:t>
              </a:r>
            </a:p>
          </p:txBody>
        </p:sp>
        <p:sp>
          <p:nvSpPr>
            <p:cNvPr id="37" name="TextBox 37"/>
            <p:cNvSpPr txBox="1"/>
            <p:nvPr/>
          </p:nvSpPr>
          <p:spPr>
            <a:xfrm>
              <a:off x="8989695" y="3889058"/>
              <a:ext cx="1756019" cy="640080"/>
            </a:xfrm>
            <a:prstGeom prst="rect">
              <a:avLst/>
            </a:prstGeom>
            <a:noFill/>
            <a:ln>
              <a:noFill/>
            </a:ln>
          </p:spPr>
          <p:txBody>
            <a:bodyPr wrap="none" lIns="0" tIns="0" rIns="0" bIns="0" anchor="t" anchorCtr="0">
              <a:spAutoFit/>
            </a:bodyPr>
            <a:lstStyle/>
            <a:p>
              <a:pPr algn="l"/>
              <a:r>
                <a:rPr lang="zh-CN" sz="3150" b="1" dirty="0">
                  <a:solidFill>
                    <a:srgbClr val="182230"/>
                  </a:solidFill>
                  <a:latin typeface="Georgia"/>
                  <a:ea typeface="Microsoft YaHei"/>
                  <a:cs typeface="Georgia"/>
                </a:rPr>
                <a:t>1803 ms</a:t>
              </a:r>
            </a:p>
          </p:txBody>
        </p:sp>
        <p:sp>
          <p:nvSpPr>
            <p:cNvPr id="38" name="TextBox 38"/>
            <p:cNvSpPr txBox="1"/>
            <p:nvPr/>
          </p:nvSpPr>
          <p:spPr>
            <a:xfrm>
              <a:off x="9015412" y="4393406"/>
              <a:ext cx="1266230" cy="228600"/>
            </a:xfrm>
            <a:prstGeom prst="rect">
              <a:avLst/>
            </a:prstGeom>
            <a:noFill/>
            <a:ln>
              <a:noFill/>
            </a:ln>
          </p:spPr>
          <p:txBody>
            <a:bodyPr wrap="none" lIns="0" tIns="0" rIns="0" bIns="0" anchor="t" anchorCtr="0">
              <a:spAutoFit/>
            </a:bodyPr>
            <a:lstStyle/>
            <a:p>
              <a:pPr algn="l"/>
              <a:r>
                <a:rPr lang="zh-CN" sz="1125" dirty="0">
                  <a:solidFill>
                    <a:srgbClr val="5B677A"/>
                  </a:solidFill>
                  <a:latin typeface="Arial"/>
                  <a:ea typeface="Microsoft YaHei"/>
                  <a:cs typeface="Arial"/>
                </a:rPr>
                <a:t>Control: 1702 ms</a:t>
              </a:r>
            </a:p>
          </p:txBody>
        </p:sp>
        <p:sp>
          <p:nvSpPr>
            <p:cNvPr id="39" name="TextBox 39"/>
            <p:cNvSpPr txBox="1"/>
            <p:nvPr/>
          </p:nvSpPr>
          <p:spPr>
            <a:xfrm>
              <a:off x="9014460" y="4604385"/>
              <a:ext cx="1265434" cy="243840"/>
            </a:xfrm>
            <a:prstGeom prst="rect">
              <a:avLst/>
            </a:prstGeom>
            <a:noFill/>
            <a:ln>
              <a:noFill/>
            </a:ln>
          </p:spPr>
          <p:txBody>
            <a:bodyPr wrap="none" lIns="0" tIns="0" rIns="0" bIns="0" anchor="t" anchorCtr="0">
              <a:spAutoFit/>
            </a:bodyPr>
            <a:lstStyle/>
            <a:p>
              <a:pPr algn="l"/>
              <a:r>
                <a:rPr lang="zh-CN" sz="1200" b="1" dirty="0">
                  <a:solidFill>
                    <a:srgbClr val="D64545"/>
                  </a:solidFill>
                  <a:latin typeface="Arial"/>
                  <a:ea typeface="Microsoft YaHei"/>
                  <a:cs typeface="Arial"/>
                </a:rPr>
                <a:t>+101 ms slower</a:t>
              </a:r>
            </a:p>
          </p:txBody>
        </p:sp>
      </p:grpSp>
      <p:grpSp>
        <p:nvGrpSpPr>
          <p:cNvPr id="46" name="Group 46"/>
          <p:cNvGrpSpPr/>
          <p:nvPr/>
        </p:nvGrpSpPr>
        <p:grpSpPr>
          <a:xfrm>
            <a:off x="514350" y="5143500"/>
            <a:ext cx="11163300" cy="731044"/>
            <a:chOff x="514350" y="5143500"/>
            <a:chExt cx="11163300" cy="731044"/>
          </a:xfrm>
        </p:grpSpPr>
        <p:sp>
          <p:nvSpPr>
            <p:cNvPr id="41" name="Rectangle 41"/>
            <p:cNvSpPr/>
            <p:nvPr/>
          </p:nvSpPr>
          <p:spPr>
            <a:xfrm>
              <a:off x="514350" y="5143500"/>
              <a:ext cx="11163300" cy="704850"/>
            </a:xfrm>
            <a:prstGeom prst="roundRect">
              <a:avLst>
                <a:gd name="adj" fmla="val 8108"/>
              </a:avLst>
            </a:prstGeom>
            <a:solidFill>
              <a:srgbClr val="243B53"/>
            </a:solidFill>
            <a:ln>
              <a:noFill/>
            </a:ln>
          </p:spPr>
        </p:sp>
        <p:sp>
          <p:nvSpPr>
            <p:cNvPr id="42" name="TextBox 42"/>
            <p:cNvSpPr txBox="1"/>
            <p:nvPr/>
          </p:nvSpPr>
          <p:spPr>
            <a:xfrm>
              <a:off x="767715" y="5334952"/>
              <a:ext cx="600042" cy="213360"/>
            </a:xfrm>
            <a:prstGeom prst="rect">
              <a:avLst/>
            </a:prstGeom>
            <a:noFill/>
            <a:ln>
              <a:noFill/>
            </a:ln>
          </p:spPr>
          <p:txBody>
            <a:bodyPr wrap="none" lIns="0" tIns="0" rIns="0" bIns="0" anchor="t" anchorCtr="0">
              <a:spAutoFit/>
            </a:bodyPr>
            <a:lstStyle/>
            <a:p>
              <a:pPr algn="l"/>
              <a:r>
                <a:rPr lang="zh-CN" sz="1050" b="1" dirty="0">
                  <a:solidFill>
                    <a:srgbClr val="D9E1EA"/>
                  </a:solidFill>
                  <a:latin typeface="Arial"/>
                  <a:ea typeface="Microsoft YaHei"/>
                  <a:cs typeface="Arial"/>
                </a:rPr>
                <a:t>Decision</a:t>
              </a:r>
            </a:p>
          </p:txBody>
        </p:sp>
        <p:sp>
          <p:nvSpPr>
            <p:cNvPr id="43" name="TextBox 43"/>
            <p:cNvSpPr txBox="1"/>
            <p:nvPr/>
          </p:nvSpPr>
          <p:spPr>
            <a:xfrm>
              <a:off x="757238" y="5493544"/>
              <a:ext cx="7818596" cy="381000"/>
            </a:xfrm>
            <a:prstGeom prst="rect">
              <a:avLst/>
            </a:prstGeom>
            <a:noFill/>
            <a:ln>
              <a:noFill/>
            </a:ln>
          </p:spPr>
          <p:txBody>
            <a:bodyPr wrap="none" lIns="0" tIns="0" rIns="0" bIns="0" anchor="t" anchorCtr="0">
              <a:spAutoFit/>
            </a:bodyPr>
            <a:lstStyle/>
            <a:p>
              <a:pPr algn="l"/>
              <a:r>
                <a:rPr lang="zh-CN" sz="1875" b="1" dirty="0">
                  <a:solidFill>
                    <a:srgbClr val="FFFFFF"/>
                  </a:solidFill>
                  <a:latin typeface="Georgia"/>
                  <a:ea typeface="Microsoft YaHei"/>
                  <a:cs typeface="Georgia"/>
                </a:rPr>
                <a:t>Launch with mobile latency, refund, and support guardrails.</a:t>
              </a:r>
            </a:p>
          </p:txBody>
        </p:sp>
        <p:sp>
          <p:nvSpPr>
            <p:cNvPr id="44" name="Rectangle 44"/>
            <p:cNvSpPr/>
            <p:nvPr/>
          </p:nvSpPr>
          <p:spPr>
            <a:xfrm>
              <a:off x="9848850" y="5353050"/>
              <a:ext cx="1562100" cy="285750"/>
            </a:xfrm>
            <a:prstGeom prst="roundRect">
              <a:avLst>
                <a:gd name="adj" fmla="val 50000"/>
              </a:avLst>
            </a:prstGeom>
            <a:solidFill>
              <a:srgbClr val="F59E0B">
                <a:alpha val="18000"/>
              </a:srgbClr>
            </a:solidFill>
            <a:ln>
              <a:noFill/>
            </a:ln>
          </p:spPr>
        </p:sp>
        <p:sp>
          <p:nvSpPr>
            <p:cNvPr id="45" name="TextBox 45"/>
            <p:cNvSpPr txBox="1"/>
            <p:nvPr/>
          </p:nvSpPr>
          <p:spPr>
            <a:xfrm>
              <a:off x="9934932" y="5438299"/>
              <a:ext cx="1389936"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a:ea typeface="Microsoft YaHei"/>
                  <a:cs typeface="Arial"/>
                </a:rPr>
                <a:t>No significance claim</a:t>
              </a:r>
            </a:p>
          </p:txBody>
        </p:sp>
      </p:grpSp>
      <p:grpSp>
        <p:nvGrpSpPr>
          <p:cNvPr id="49" name="Group 49"/>
          <p:cNvGrpSpPr/>
          <p:nvPr/>
        </p:nvGrpSpPr>
        <p:grpSpPr>
          <a:xfrm>
            <a:off x="502920" y="6265545"/>
            <a:ext cx="11186160" cy="335280"/>
            <a:chOff x="502920" y="6265545"/>
            <a:chExt cx="11186160" cy="335280"/>
          </a:xfrm>
        </p:grpSpPr>
        <p:sp>
          <p:nvSpPr>
            <p:cNvPr id="47" name="TextBox 47"/>
            <p:cNvSpPr txBox="1"/>
            <p:nvPr/>
          </p:nvSpPr>
          <p:spPr>
            <a:xfrm>
              <a:off x="502920" y="6265545"/>
              <a:ext cx="5114925"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Derived metrics: purchases / sessions, purchases / checkout_starts, revenue / sessions. </a:t>
              </a:r>
              <a:r>
                <a:rPr lang="zh-CN" sz="900" dirty="0">
                  <a:solidFill>
                    <a:srgbClr val="8A94A6"/>
                  </a:solidFill>
                  <a:latin typeface="Arial"/>
                  <a:ea typeface="Microsoft YaHei"/>
                  <a:cs typeface="Arial"/>
                </a:rPr>
                <a:t>Weighted median load is weighted by sessions.</a:t>
              </a:r>
            </a:p>
          </p:txBody>
        </p:sp>
        <p:sp>
          <p:nvSpPr>
            <p:cNvPr id="48" name="TextBox 48"/>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1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400"/>
                                        <p:tgtEl>
                                          <p:spTgt spid="19"/>
                                        </p:tgtEl>
                                      </p:cBhvr>
                                    </p:animEffect>
                                  </p:childTnLst>
                                </p:cTn>
                              </p:par>
                            </p:childTnLst>
                          </p:cTn>
                        </p:par>
                        <p:par>
                          <p:cTn id="12" fill="hold">
                            <p:stCondLst>
                              <p:cond delay="1800"/>
                            </p:stCondLst>
                            <p:childTnLst>
                              <p:par>
                                <p:cTn id="13" presetID="6"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circle(in)">
                                      <p:cBhvr>
                                        <p:cTn id="15" dur="400"/>
                                        <p:tgtEl>
                                          <p:spTgt spid="26"/>
                                        </p:tgtEl>
                                      </p:cBhvr>
                                    </p:animEffect>
                                  </p:childTnLst>
                                </p:cTn>
                              </p:par>
                            </p:childTnLst>
                          </p:cTn>
                        </p:par>
                        <p:par>
                          <p:cTn id="16" fill="hold">
                            <p:stCondLst>
                              <p:cond delay="2700"/>
                            </p:stCondLst>
                            <p:childTnLst>
                              <p:par>
                                <p:cTn id="17" presetID="4"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box(in)">
                                      <p:cBhvr>
                                        <p:cTn id="19" dur="400"/>
                                        <p:tgtEl>
                                          <p:spTgt spid="33"/>
                                        </p:tgtEl>
                                      </p:cBhvr>
                                    </p:animEffect>
                                  </p:childTnLst>
                                </p:cTn>
                              </p:par>
                            </p:childTnLst>
                          </p:cTn>
                        </p:par>
                        <p:par>
                          <p:cTn id="20" fill="hold">
                            <p:stCondLst>
                              <p:cond delay="3600"/>
                            </p:stCondLst>
                            <p:childTnLst>
                              <p:par>
                                <p:cTn id="21" presetID="8"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diamond(in)">
                                      <p:cBhvr>
                                        <p:cTn id="23" dur="400"/>
                                        <p:tgtEl>
                                          <p:spTgt spid="40"/>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6" grpId="0"/>
      <p:bldP spid="33" grpId="0"/>
      <p:bldP spid="40" grpId="0"/>
      <p:bldP spid="4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6" name="Group 6"/>
          <p:cNvGrpSpPr/>
          <p:nvPr/>
        </p:nvGrpSpPr>
        <p:grpSpPr>
          <a:xfrm>
            <a:off x="481965" y="447199"/>
            <a:ext cx="12186435" cy="874395"/>
            <a:chOff x="481965" y="447199"/>
            <a:chExt cx="12186435" cy="874395"/>
          </a:xfrm>
        </p:grpSpPr>
        <p:sp>
          <p:nvSpPr>
            <p:cNvPr id="3" name="TextBox 3"/>
            <p:cNvSpPr txBox="1"/>
            <p:nvPr/>
          </p:nvSpPr>
          <p:spPr>
            <a:xfrm>
              <a:off x="501968" y="447199"/>
              <a:ext cx="1069121"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OVERALL FUNNEL</a:t>
              </a:r>
            </a:p>
          </p:txBody>
        </p:sp>
        <p:sp>
          <p:nvSpPr>
            <p:cNvPr id="4" name="TextBox 4"/>
            <p:cNvSpPr txBox="1"/>
            <p:nvPr/>
          </p:nvSpPr>
          <p:spPr>
            <a:xfrm>
              <a:off x="481965" y="639128"/>
              <a:ext cx="12186435" cy="518160"/>
            </a:xfrm>
            <a:prstGeom prst="rect">
              <a:avLst/>
            </a:prstGeom>
            <a:noFill/>
            <a:ln>
              <a:noFill/>
            </a:ln>
          </p:spPr>
          <p:txBody>
            <a:bodyPr wrap="none" lIns="0" tIns="0" rIns="0" bIns="0" anchor="t" anchorCtr="0">
              <a:spAutoFit/>
            </a:bodyPr>
            <a:lstStyle/>
            <a:p>
              <a:pPr algn="l"/>
              <a:r>
                <a:rPr lang="zh-CN" sz="2550" b="1" dirty="0">
                  <a:solidFill>
                    <a:srgbClr val="182230"/>
                  </a:solidFill>
                  <a:latin typeface="Georgia"/>
                  <a:ea typeface="Microsoft YaHei"/>
                  <a:cs typeface="Georgia"/>
                </a:rPr>
                <a:t>Redesign lifts both conversion definitions, not just one funnel metric</a:t>
              </a:r>
            </a:p>
          </p:txBody>
        </p:sp>
        <p:sp>
          <p:nvSpPr>
            <p:cNvPr id="5" name="TextBox 5"/>
            <p:cNvSpPr txBox="1"/>
            <p:nvPr/>
          </p:nvSpPr>
          <p:spPr>
            <a:xfrm>
              <a:off x="498158" y="1062514"/>
              <a:ext cx="7436810" cy="259080"/>
            </a:xfrm>
            <a:prstGeom prst="rect">
              <a:avLst/>
            </a:prstGeom>
            <a:noFill/>
            <a:ln>
              <a:noFill/>
            </a:ln>
          </p:spPr>
          <p:txBody>
            <a:bodyPr wrap="none" lIns="0" tIns="0" rIns="0" bIns="0" anchor="t" anchorCtr="0">
              <a:spAutoFit/>
            </a:bodyPr>
            <a:lstStyle/>
            <a:p>
              <a:pPr algn="l"/>
              <a:r>
                <a:rPr lang="zh-CN" sz="1275" dirty="0">
                  <a:solidFill>
                    <a:srgbClr val="5B677A"/>
                  </a:solidFill>
                  <a:latin typeface="Arial"/>
                  <a:ea typeface="Microsoft YaHei"/>
                  <a:cs typeface="Arial"/>
                </a:rPr>
                <a:t>Purchase conversion rises by 2.21 points while checkout completion rises by 1.89 points.</a:t>
              </a:r>
            </a:p>
          </p:txBody>
        </p:sp>
      </p:grpSp>
      <p:grpSp>
        <p:nvGrpSpPr>
          <p:cNvPr id="11" name="Group 11"/>
          <p:cNvGrpSpPr/>
          <p:nvPr/>
        </p:nvGrpSpPr>
        <p:grpSpPr>
          <a:xfrm>
            <a:off x="7658100" y="1428750"/>
            <a:ext cx="1756458" cy="214312"/>
            <a:chOff x="7658100" y="1428750"/>
            <a:chExt cx="1756458" cy="214312"/>
          </a:xfrm>
        </p:grpSpPr>
        <p:sp>
          <p:nvSpPr>
            <p:cNvPr id="7" name="Rectangle 7"/>
            <p:cNvSpPr/>
            <p:nvPr/>
          </p:nvSpPr>
          <p:spPr>
            <a:xfrm>
              <a:off x="7658100" y="1428750"/>
              <a:ext cx="133350" cy="133350"/>
            </a:xfrm>
            <a:prstGeom prst="roundRect">
              <a:avLst>
                <a:gd name="adj" fmla="val 14286"/>
              </a:avLst>
            </a:prstGeom>
            <a:solidFill>
              <a:srgbClr val="243B53"/>
            </a:solidFill>
            <a:ln>
              <a:noFill/>
            </a:ln>
          </p:spPr>
        </p:sp>
        <p:sp>
          <p:nvSpPr>
            <p:cNvPr id="8" name="TextBox 8"/>
            <p:cNvSpPr txBox="1"/>
            <p:nvPr/>
          </p:nvSpPr>
          <p:spPr>
            <a:xfrm>
              <a:off x="7854315" y="1429702"/>
              <a:ext cx="53073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Control</a:t>
              </a:r>
            </a:p>
          </p:txBody>
        </p:sp>
        <p:sp>
          <p:nvSpPr>
            <p:cNvPr id="9" name="Rectangle 9"/>
            <p:cNvSpPr/>
            <p:nvPr/>
          </p:nvSpPr>
          <p:spPr>
            <a:xfrm>
              <a:off x="8610600" y="1428750"/>
              <a:ext cx="133350" cy="133350"/>
            </a:xfrm>
            <a:prstGeom prst="roundRect">
              <a:avLst>
                <a:gd name="adj" fmla="val 14286"/>
              </a:avLst>
            </a:prstGeom>
            <a:solidFill>
              <a:srgbClr val="00A6A6"/>
            </a:solidFill>
            <a:ln>
              <a:noFill/>
            </a:ln>
          </p:spPr>
        </p:sp>
        <p:sp>
          <p:nvSpPr>
            <p:cNvPr id="10" name="TextBox 10"/>
            <p:cNvSpPr txBox="1"/>
            <p:nvPr/>
          </p:nvSpPr>
          <p:spPr>
            <a:xfrm>
              <a:off x="8806815" y="1429702"/>
              <a:ext cx="60774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Redesign</a:t>
              </a:r>
            </a:p>
          </p:txBody>
        </p:sp>
      </p:grpSp>
      <p:grpSp>
        <p:nvGrpSpPr>
          <p:cNvPr id="41" name="Group 41"/>
          <p:cNvGrpSpPr/>
          <p:nvPr/>
        </p:nvGrpSpPr>
        <p:grpSpPr>
          <a:xfrm>
            <a:off x="514350" y="1562100"/>
            <a:ext cx="8763000" cy="4200525"/>
            <a:chOff x="514350" y="1562100"/>
            <a:chExt cx="8763000" cy="4200525"/>
          </a:xfrm>
        </p:grpSpPr>
        <p:sp>
          <p:nvSpPr>
            <p:cNvPr id="12" name="Rectangle 12"/>
            <p:cNvSpPr/>
            <p:nvPr/>
          </p:nvSpPr>
          <p:spPr>
            <a:xfrm>
              <a:off x="514350" y="1562100"/>
              <a:ext cx="8763000" cy="4171950"/>
            </a:xfrm>
            <a:prstGeom prst="roundRect">
              <a:avLst>
                <a:gd name="adj" fmla="val 1370"/>
              </a:avLst>
            </a:prstGeom>
            <a:solidFill>
              <a:srgbClr val="FFFFFF"/>
            </a:solidFill>
            <a:ln w="9525">
              <a:solidFill>
                <a:srgbClr val="D9E1EA"/>
              </a:solidFill>
            </a:ln>
          </p:spPr>
        </p:sp>
        <p:sp>
          <p:nvSpPr>
            <p:cNvPr id="13" name="TextBox 13"/>
            <p:cNvSpPr txBox="1"/>
            <p:nvPr/>
          </p:nvSpPr>
          <p:spPr>
            <a:xfrm>
              <a:off x="902018" y="1818799"/>
              <a:ext cx="325103" cy="198120"/>
            </a:xfrm>
            <a:prstGeom prst="rect">
              <a:avLst/>
            </a:prstGeom>
            <a:noFill/>
            <a:ln>
              <a:noFill/>
            </a:ln>
          </p:spPr>
          <p:txBody>
            <a:bodyPr wrap="none" lIns="0" tIns="0" rIns="0" bIns="0" anchor="t" anchorCtr="0">
              <a:spAutoFit/>
            </a:bodyPr>
            <a:lstStyle/>
            <a:p>
              <a:pPr algn="l"/>
              <a:r>
                <a:rPr lang="zh-CN" sz="975" b="1" dirty="0">
                  <a:solidFill>
                    <a:srgbClr val="8A94A6"/>
                  </a:solidFill>
                  <a:latin typeface="Arial"/>
                  <a:ea typeface="Microsoft YaHei"/>
                  <a:cs typeface="Arial"/>
                </a:rPr>
                <a:t>Rate</a:t>
              </a:r>
            </a:p>
          </p:txBody>
        </p:sp>
        <p:sp>
          <p:nvSpPr>
            <p:cNvPr id="14" name="Line 14"/>
            <p:cNvSpPr/>
            <p:nvPr/>
          </p:nvSpPr>
          <p:spPr>
            <a:xfrm>
              <a:off x="1619250" y="5143500"/>
              <a:ext cx="7239000" cy="9525"/>
            </a:xfrm>
            <a:custGeom>
              <a:avLst/>
              <a:gdLst/>
              <a:ahLst/>
              <a:cxnLst/>
              <a:rect l="l" t="t" r="r" b="b"/>
              <a:pathLst>
                <a:path w="7239000" h="9525">
                  <a:moveTo>
                    <a:pt x="0" y="0"/>
                  </a:moveTo>
                  <a:lnTo>
                    <a:pt x="7239000" y="0"/>
                  </a:lnTo>
                </a:path>
              </a:pathLst>
            </a:custGeom>
            <a:noFill/>
            <a:ln w="14288">
              <a:solidFill>
                <a:srgbClr val="243B53"/>
              </a:solidFill>
            </a:ln>
          </p:spPr>
        </p:sp>
        <p:sp>
          <p:nvSpPr>
            <p:cNvPr id="15" name="Line 15"/>
            <p:cNvSpPr/>
            <p:nvPr/>
          </p:nvSpPr>
          <p:spPr>
            <a:xfrm>
              <a:off x="1619250" y="2000250"/>
              <a:ext cx="9525" cy="3143250"/>
            </a:xfrm>
            <a:custGeom>
              <a:avLst/>
              <a:gdLst/>
              <a:ahLst/>
              <a:cxnLst/>
              <a:rect l="l" t="t" r="r" b="b"/>
              <a:pathLst>
                <a:path w="9525" h="3143250">
                  <a:moveTo>
                    <a:pt x="0" y="0"/>
                  </a:moveTo>
                  <a:lnTo>
                    <a:pt x="0" y="3143250"/>
                  </a:lnTo>
                </a:path>
              </a:pathLst>
            </a:custGeom>
            <a:noFill/>
            <a:ln w="14288">
              <a:solidFill>
                <a:srgbClr val="243B53"/>
              </a:solidFill>
            </a:ln>
          </p:spPr>
        </p:sp>
        <p:sp>
          <p:nvSpPr>
            <p:cNvPr id="16" name="Line 16"/>
            <p:cNvSpPr/>
            <p:nvPr/>
          </p:nvSpPr>
          <p:spPr>
            <a:xfrm>
              <a:off x="1619250" y="4572000"/>
              <a:ext cx="7239000" cy="9525"/>
            </a:xfrm>
            <a:custGeom>
              <a:avLst/>
              <a:gdLst/>
              <a:ahLst/>
              <a:cxnLst/>
              <a:rect l="l" t="t" r="r" b="b"/>
              <a:pathLst>
                <a:path w="7239000" h="9525">
                  <a:moveTo>
                    <a:pt x="0" y="0"/>
                  </a:moveTo>
                  <a:lnTo>
                    <a:pt x="7239000" y="0"/>
                  </a:lnTo>
                </a:path>
              </a:pathLst>
            </a:custGeom>
            <a:noFill/>
            <a:ln w="9525">
              <a:solidFill>
                <a:srgbClr val="E8EEF5"/>
              </a:solidFill>
            </a:ln>
          </p:spPr>
        </p:sp>
        <p:sp>
          <p:nvSpPr>
            <p:cNvPr id="17" name="Line 17"/>
            <p:cNvSpPr/>
            <p:nvPr/>
          </p:nvSpPr>
          <p:spPr>
            <a:xfrm>
              <a:off x="1619250" y="4000500"/>
              <a:ext cx="7239000" cy="9525"/>
            </a:xfrm>
            <a:custGeom>
              <a:avLst/>
              <a:gdLst/>
              <a:ahLst/>
              <a:cxnLst/>
              <a:rect l="l" t="t" r="r" b="b"/>
              <a:pathLst>
                <a:path w="7239000" h="9525">
                  <a:moveTo>
                    <a:pt x="0" y="0"/>
                  </a:moveTo>
                  <a:lnTo>
                    <a:pt x="7239000" y="0"/>
                  </a:lnTo>
                </a:path>
              </a:pathLst>
            </a:custGeom>
            <a:noFill/>
            <a:ln w="9525">
              <a:solidFill>
                <a:srgbClr val="E8EEF5"/>
              </a:solidFill>
            </a:ln>
          </p:spPr>
        </p:sp>
        <p:sp>
          <p:nvSpPr>
            <p:cNvPr id="18" name="Line 18"/>
            <p:cNvSpPr/>
            <p:nvPr/>
          </p:nvSpPr>
          <p:spPr>
            <a:xfrm>
              <a:off x="1619250" y="3429000"/>
              <a:ext cx="7239000" cy="9525"/>
            </a:xfrm>
            <a:custGeom>
              <a:avLst/>
              <a:gdLst/>
              <a:ahLst/>
              <a:cxnLst/>
              <a:rect l="l" t="t" r="r" b="b"/>
              <a:pathLst>
                <a:path w="7239000" h="9525">
                  <a:moveTo>
                    <a:pt x="0" y="0"/>
                  </a:moveTo>
                  <a:lnTo>
                    <a:pt x="7239000" y="0"/>
                  </a:lnTo>
                </a:path>
              </a:pathLst>
            </a:custGeom>
            <a:noFill/>
            <a:ln w="9525">
              <a:solidFill>
                <a:srgbClr val="E8EEF5"/>
              </a:solidFill>
            </a:ln>
          </p:spPr>
        </p:sp>
        <p:sp>
          <p:nvSpPr>
            <p:cNvPr id="19" name="Line 19"/>
            <p:cNvSpPr/>
            <p:nvPr/>
          </p:nvSpPr>
          <p:spPr>
            <a:xfrm>
              <a:off x="1619250" y="2857500"/>
              <a:ext cx="7239000" cy="9525"/>
            </a:xfrm>
            <a:custGeom>
              <a:avLst/>
              <a:gdLst/>
              <a:ahLst/>
              <a:cxnLst/>
              <a:rect l="l" t="t" r="r" b="b"/>
              <a:pathLst>
                <a:path w="7239000" h="9525">
                  <a:moveTo>
                    <a:pt x="0" y="0"/>
                  </a:moveTo>
                  <a:lnTo>
                    <a:pt x="7239000" y="0"/>
                  </a:lnTo>
                </a:path>
              </a:pathLst>
            </a:custGeom>
            <a:noFill/>
            <a:ln w="9525">
              <a:solidFill>
                <a:srgbClr val="E8EEF5"/>
              </a:solidFill>
            </a:ln>
          </p:spPr>
        </p:sp>
        <p:sp>
          <p:nvSpPr>
            <p:cNvPr id="20" name="Line 20"/>
            <p:cNvSpPr/>
            <p:nvPr/>
          </p:nvSpPr>
          <p:spPr>
            <a:xfrm>
              <a:off x="1619250" y="2286000"/>
              <a:ext cx="7239000" cy="9525"/>
            </a:xfrm>
            <a:custGeom>
              <a:avLst/>
              <a:gdLst/>
              <a:ahLst/>
              <a:cxnLst/>
              <a:rect l="l" t="t" r="r" b="b"/>
              <a:pathLst>
                <a:path w="7239000" h="9525">
                  <a:moveTo>
                    <a:pt x="0" y="0"/>
                  </a:moveTo>
                  <a:lnTo>
                    <a:pt x="7239000" y="0"/>
                  </a:lnTo>
                </a:path>
              </a:pathLst>
            </a:custGeom>
            <a:noFill/>
            <a:ln w="9525">
              <a:solidFill>
                <a:srgbClr val="E8EEF5"/>
              </a:solidFill>
            </a:ln>
          </p:spPr>
        </p:sp>
        <p:sp>
          <p:nvSpPr>
            <p:cNvPr id="21" name="TextBox 21"/>
            <p:cNvSpPr txBox="1"/>
            <p:nvPr/>
          </p:nvSpPr>
          <p:spPr>
            <a:xfrm>
              <a:off x="1266396" y="5085874"/>
              <a:ext cx="193786"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0%</a:t>
              </a:r>
            </a:p>
          </p:txBody>
        </p:sp>
        <p:sp>
          <p:nvSpPr>
            <p:cNvPr id="22" name="TextBox 22"/>
            <p:cNvSpPr txBox="1"/>
            <p:nvPr/>
          </p:nvSpPr>
          <p:spPr>
            <a:xfrm>
              <a:off x="1194887" y="45143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10%</a:t>
              </a:r>
            </a:p>
          </p:txBody>
        </p:sp>
        <p:sp>
          <p:nvSpPr>
            <p:cNvPr id="23" name="TextBox 23"/>
            <p:cNvSpPr txBox="1"/>
            <p:nvPr/>
          </p:nvSpPr>
          <p:spPr>
            <a:xfrm>
              <a:off x="1194887" y="39428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20%</a:t>
              </a:r>
            </a:p>
          </p:txBody>
        </p:sp>
        <p:sp>
          <p:nvSpPr>
            <p:cNvPr id="24" name="TextBox 24"/>
            <p:cNvSpPr txBox="1"/>
            <p:nvPr/>
          </p:nvSpPr>
          <p:spPr>
            <a:xfrm>
              <a:off x="1194887" y="33713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30%</a:t>
              </a:r>
            </a:p>
          </p:txBody>
        </p:sp>
        <p:sp>
          <p:nvSpPr>
            <p:cNvPr id="25" name="TextBox 25"/>
            <p:cNvSpPr txBox="1"/>
            <p:nvPr/>
          </p:nvSpPr>
          <p:spPr>
            <a:xfrm>
              <a:off x="1194887" y="27998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40%</a:t>
              </a:r>
            </a:p>
          </p:txBody>
        </p:sp>
        <p:sp>
          <p:nvSpPr>
            <p:cNvPr id="26" name="TextBox 26"/>
            <p:cNvSpPr txBox="1"/>
            <p:nvPr/>
          </p:nvSpPr>
          <p:spPr>
            <a:xfrm>
              <a:off x="1194887" y="22283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50%</a:t>
              </a:r>
            </a:p>
          </p:txBody>
        </p:sp>
        <p:grpSp>
          <p:nvGrpSpPr>
            <p:cNvPr id="33" name="Group 33"/>
            <p:cNvGrpSpPr/>
            <p:nvPr/>
          </p:nvGrpSpPr>
          <p:grpSpPr>
            <a:xfrm>
              <a:off x="2964427" y="3830002"/>
              <a:ext cx="1595896" cy="1932623"/>
              <a:chOff x="2964427" y="3830002"/>
              <a:chExt cx="1595896" cy="1932623"/>
            </a:xfrm>
          </p:grpSpPr>
          <p:sp>
            <p:nvSpPr>
              <p:cNvPr id="27" name="Rectangle 27"/>
              <p:cNvSpPr/>
              <p:nvPr/>
            </p:nvSpPr>
            <p:spPr>
              <a:xfrm>
                <a:off x="2971800" y="4200525"/>
                <a:ext cx="704850" cy="942975"/>
              </a:xfrm>
              <a:prstGeom prst="roundRect">
                <a:avLst>
                  <a:gd name="adj" fmla="val 5405"/>
                </a:avLst>
              </a:prstGeom>
              <a:solidFill>
                <a:srgbClr val="243B53"/>
              </a:solidFill>
              <a:ln>
                <a:noFill/>
              </a:ln>
            </p:spPr>
          </p:sp>
          <p:sp>
            <p:nvSpPr>
              <p:cNvPr id="28" name="Rectangle 28"/>
              <p:cNvSpPr/>
              <p:nvPr/>
            </p:nvSpPr>
            <p:spPr>
              <a:xfrm>
                <a:off x="3848100" y="4076700"/>
                <a:ext cx="704850" cy="1066800"/>
              </a:xfrm>
              <a:prstGeom prst="roundRect">
                <a:avLst>
                  <a:gd name="adj" fmla="val 5405"/>
                </a:avLst>
              </a:prstGeom>
              <a:solidFill>
                <a:srgbClr val="00A6A6"/>
              </a:solidFill>
              <a:ln>
                <a:noFill/>
              </a:ln>
            </p:spPr>
          </p:sp>
          <p:sp>
            <p:nvSpPr>
              <p:cNvPr id="29" name="TextBox 29"/>
              <p:cNvSpPr txBox="1"/>
              <p:nvPr/>
            </p:nvSpPr>
            <p:spPr>
              <a:xfrm>
                <a:off x="3094038" y="3953828"/>
                <a:ext cx="460374"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16.5%</a:t>
                </a:r>
              </a:p>
            </p:txBody>
          </p:sp>
          <p:sp>
            <p:nvSpPr>
              <p:cNvPr id="30" name="TextBox 30"/>
              <p:cNvSpPr txBox="1"/>
              <p:nvPr/>
            </p:nvSpPr>
            <p:spPr>
              <a:xfrm>
                <a:off x="3970338" y="3830002"/>
                <a:ext cx="460374"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a:ea typeface="Microsoft YaHei"/>
                    <a:cs typeface="Arial"/>
                  </a:rPr>
                  <a:t>18.7%</a:t>
                </a:r>
              </a:p>
            </p:txBody>
          </p:sp>
          <p:sp>
            <p:nvSpPr>
              <p:cNvPr id="31" name="TextBox 31"/>
              <p:cNvSpPr txBox="1"/>
              <p:nvPr/>
            </p:nvSpPr>
            <p:spPr>
              <a:xfrm>
                <a:off x="2964427" y="5345906"/>
                <a:ext cx="1595896" cy="228600"/>
              </a:xfrm>
              <a:prstGeom prst="rect">
                <a:avLst/>
              </a:prstGeom>
              <a:noFill/>
              <a:ln>
                <a:noFill/>
              </a:ln>
            </p:spPr>
            <p:txBody>
              <a:bodyPr wrap="none" lIns="0" tIns="0" rIns="0" bIns="0" anchor="t" anchorCtr="0">
                <a:spAutoFit/>
              </a:bodyPr>
              <a:lstStyle/>
              <a:p>
                <a:pPr algn="ctr"/>
                <a:r>
                  <a:rPr lang="zh-CN" sz="1125" b="1" dirty="0">
                    <a:solidFill>
                      <a:srgbClr val="182230"/>
                    </a:solidFill>
                    <a:latin typeface="Arial"/>
                    <a:ea typeface="Microsoft YaHei"/>
                    <a:cs typeface="Arial"/>
                  </a:rPr>
                  <a:t>Purchase conversion</a:t>
                </a:r>
              </a:p>
            </p:txBody>
          </p:sp>
          <p:sp>
            <p:nvSpPr>
              <p:cNvPr id="32" name="TextBox 32"/>
              <p:cNvSpPr txBox="1"/>
              <p:nvPr/>
            </p:nvSpPr>
            <p:spPr>
              <a:xfrm>
                <a:off x="3135868" y="5579745"/>
                <a:ext cx="1253014"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purchases / sessions</a:t>
                </a:r>
              </a:p>
            </p:txBody>
          </p:sp>
        </p:grpSp>
        <p:grpSp>
          <p:nvGrpSpPr>
            <p:cNvPr id="40" name="Group 40"/>
            <p:cNvGrpSpPr/>
            <p:nvPr/>
          </p:nvGrpSpPr>
          <p:grpSpPr>
            <a:xfrm>
              <a:off x="6009989" y="2086928"/>
              <a:ext cx="1715071" cy="3675697"/>
              <a:chOff x="6009989" y="2086928"/>
              <a:chExt cx="1715071" cy="3675697"/>
            </a:xfrm>
          </p:grpSpPr>
          <p:sp>
            <p:nvSpPr>
              <p:cNvPr id="34" name="Rectangle 34"/>
              <p:cNvSpPr/>
              <p:nvPr/>
            </p:nvSpPr>
            <p:spPr>
              <a:xfrm>
                <a:off x="6076950" y="2447925"/>
                <a:ext cx="704850" cy="2695575"/>
              </a:xfrm>
              <a:prstGeom prst="roundRect">
                <a:avLst>
                  <a:gd name="adj" fmla="val 5405"/>
                </a:avLst>
              </a:prstGeom>
              <a:solidFill>
                <a:srgbClr val="243B53"/>
              </a:solidFill>
              <a:ln>
                <a:noFill/>
              </a:ln>
            </p:spPr>
          </p:sp>
          <p:sp>
            <p:nvSpPr>
              <p:cNvPr id="35" name="Rectangle 35"/>
              <p:cNvSpPr/>
              <p:nvPr/>
            </p:nvSpPr>
            <p:spPr>
              <a:xfrm>
                <a:off x="6953250" y="2333625"/>
                <a:ext cx="704850" cy="2809875"/>
              </a:xfrm>
              <a:prstGeom prst="roundRect">
                <a:avLst>
                  <a:gd name="adj" fmla="val 5405"/>
                </a:avLst>
              </a:prstGeom>
              <a:solidFill>
                <a:srgbClr val="00A6A6"/>
              </a:solidFill>
              <a:ln>
                <a:noFill/>
              </a:ln>
            </p:spPr>
          </p:sp>
          <p:sp>
            <p:nvSpPr>
              <p:cNvPr id="36" name="TextBox 36"/>
              <p:cNvSpPr txBox="1"/>
              <p:nvPr/>
            </p:nvSpPr>
            <p:spPr>
              <a:xfrm>
                <a:off x="6199188" y="2201228"/>
                <a:ext cx="460374"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47.2%</a:t>
                </a:r>
              </a:p>
            </p:txBody>
          </p:sp>
          <p:sp>
            <p:nvSpPr>
              <p:cNvPr id="37" name="TextBox 37"/>
              <p:cNvSpPr txBox="1"/>
              <p:nvPr/>
            </p:nvSpPr>
            <p:spPr>
              <a:xfrm>
                <a:off x="7075488" y="2086928"/>
                <a:ext cx="460374"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a:ea typeface="Microsoft YaHei"/>
                    <a:cs typeface="Arial"/>
                  </a:rPr>
                  <a:t>49.1%</a:t>
                </a:r>
              </a:p>
            </p:txBody>
          </p:sp>
          <p:sp>
            <p:nvSpPr>
              <p:cNvPr id="38" name="TextBox 38"/>
              <p:cNvSpPr txBox="1"/>
              <p:nvPr/>
            </p:nvSpPr>
            <p:spPr>
              <a:xfrm>
                <a:off x="6073515" y="5345906"/>
                <a:ext cx="1588020" cy="228600"/>
              </a:xfrm>
              <a:prstGeom prst="rect">
                <a:avLst/>
              </a:prstGeom>
              <a:noFill/>
              <a:ln>
                <a:noFill/>
              </a:ln>
            </p:spPr>
            <p:txBody>
              <a:bodyPr wrap="none" lIns="0" tIns="0" rIns="0" bIns="0" anchor="t" anchorCtr="0">
                <a:spAutoFit/>
              </a:bodyPr>
              <a:lstStyle/>
              <a:p>
                <a:pPr algn="ctr"/>
                <a:r>
                  <a:rPr lang="zh-CN" sz="1125" b="1" dirty="0">
                    <a:solidFill>
                      <a:srgbClr val="182230"/>
                    </a:solidFill>
                    <a:latin typeface="Arial"/>
                    <a:ea typeface="Microsoft YaHei"/>
                    <a:cs typeface="Arial"/>
                  </a:rPr>
                  <a:t>Checkout completion</a:t>
                </a:r>
              </a:p>
            </p:txBody>
          </p:sp>
          <p:sp>
            <p:nvSpPr>
              <p:cNvPr id="39" name="TextBox 39"/>
              <p:cNvSpPr txBox="1"/>
              <p:nvPr/>
            </p:nvSpPr>
            <p:spPr>
              <a:xfrm>
                <a:off x="6009989" y="5579745"/>
                <a:ext cx="1715071"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purchases / checkout starts</a:t>
                </a:r>
              </a:p>
            </p:txBody>
          </p:sp>
        </p:grpSp>
      </p:grpSp>
      <p:grpSp>
        <p:nvGrpSpPr>
          <p:cNvPr id="49" name="Group 49"/>
          <p:cNvGrpSpPr/>
          <p:nvPr/>
        </p:nvGrpSpPr>
        <p:grpSpPr>
          <a:xfrm>
            <a:off x="9525000" y="1562100"/>
            <a:ext cx="2152650" cy="4171950"/>
            <a:chOff x="9525000" y="1562100"/>
            <a:chExt cx="2152650" cy="4171950"/>
          </a:xfrm>
        </p:grpSpPr>
        <p:sp>
          <p:nvSpPr>
            <p:cNvPr id="42" name="Rectangle 42"/>
            <p:cNvSpPr/>
            <p:nvPr/>
          </p:nvSpPr>
          <p:spPr>
            <a:xfrm>
              <a:off x="9525000" y="1562100"/>
              <a:ext cx="2152650" cy="4171950"/>
            </a:xfrm>
            <a:prstGeom prst="roundRect">
              <a:avLst>
                <a:gd name="adj" fmla="val 2655"/>
              </a:avLst>
            </a:prstGeom>
            <a:solidFill>
              <a:srgbClr val="FFFFFF"/>
            </a:solidFill>
            <a:ln w="9525">
              <a:solidFill>
                <a:srgbClr val="D9E1EA"/>
              </a:solidFill>
            </a:ln>
          </p:spPr>
        </p:sp>
        <p:sp>
          <p:nvSpPr>
            <p:cNvPr id="43" name="TextBox 43"/>
            <p:cNvSpPr txBox="1"/>
            <p:nvPr/>
          </p:nvSpPr>
          <p:spPr>
            <a:xfrm>
              <a:off x="9741218" y="1856899"/>
              <a:ext cx="652743" cy="198120"/>
            </a:xfrm>
            <a:prstGeom prst="rect">
              <a:avLst/>
            </a:prstGeom>
            <a:noFill/>
            <a:ln>
              <a:noFill/>
            </a:ln>
          </p:spPr>
          <p:txBody>
            <a:bodyPr wrap="none" lIns="0" tIns="0" rIns="0" bIns="0" anchor="t" anchorCtr="0">
              <a:spAutoFit/>
            </a:bodyPr>
            <a:lstStyle/>
            <a:p>
              <a:pPr algn="l"/>
              <a:r>
                <a:rPr lang="zh-CN" sz="975" b="1" dirty="0">
                  <a:solidFill>
                    <a:srgbClr val="8A94A6"/>
                  </a:solidFill>
                  <a:latin typeface="Arial"/>
                  <a:ea typeface="Microsoft YaHei"/>
                  <a:cs typeface="Arial"/>
                </a:rPr>
                <a:t>TAKEAWAY</a:t>
              </a:r>
            </a:p>
          </p:txBody>
        </p:sp>
        <p:sp>
          <p:nvSpPr>
            <p:cNvPr id="44" name="TextBox 44"/>
            <p:cNvSpPr txBox="1"/>
            <p:nvPr/>
          </p:nvSpPr>
          <p:spPr>
            <a:xfrm>
              <a:off x="9721215" y="2125028"/>
              <a:ext cx="1760732" cy="518160"/>
            </a:xfrm>
            <a:prstGeom prst="rect">
              <a:avLst/>
            </a:prstGeom>
            <a:noFill/>
            <a:ln>
              <a:noFill/>
            </a:ln>
          </p:spPr>
          <p:txBody>
            <a:bodyPr wrap="none" lIns="0" tIns="0" rIns="0" bIns="0" anchor="t" anchorCtr="0">
              <a:spAutoFit/>
            </a:bodyPr>
            <a:lstStyle/>
            <a:p>
              <a:pPr algn="l"/>
              <a:r>
                <a:rPr lang="zh-CN" sz="2550" b="1" dirty="0">
                  <a:solidFill>
                    <a:srgbClr val="00A6A6"/>
                  </a:solidFill>
                  <a:latin typeface="Georgia"/>
                  <a:ea typeface="Microsoft YaHei"/>
                  <a:cs typeface="Georgia"/>
                </a:rPr>
                <a:t>Broad lift</a:t>
              </a:r>
            </a:p>
          </p:txBody>
        </p:sp>
        <p:sp>
          <p:nvSpPr>
            <p:cNvPr id="45" name="TextBox 45"/>
            <p:cNvSpPr txBox="1"/>
            <p:nvPr/>
          </p:nvSpPr>
          <p:spPr>
            <a:xfrm>
              <a:off x="9738360" y="2708910"/>
              <a:ext cx="1767840" cy="1158240"/>
            </a:xfrm>
            <a:prstGeom prst="rect">
              <a:avLst/>
            </a:prstGeom>
            <a:noFill/>
            <a:ln>
              <a:noFill/>
            </a:ln>
          </p:spPr>
          <p:txBody>
            <a:bodyPr wrap="square" lIns="0" tIns="0" rIns="0" bIns="0" anchor="t" anchorCtr="0"/>
            <a:lstStyle/>
            <a:p>
              <a:pPr algn="l">
                <a:lnSpc>
                  <a:spcPts val="1800"/>
                </a:lnSpc>
              </a:pPr>
              <a:r>
                <a:rPr lang="zh-CN" sz="1200" dirty="0">
                  <a:solidFill>
                    <a:srgbClr val="182230"/>
                  </a:solidFill>
                  <a:latin typeface="Arial"/>
                  <a:ea typeface="Microsoft YaHei"/>
                  <a:cs typeface="Arial"/>
                </a:rPr>
                <a:t xml:space="preserve">Both funnel measures </a:t>
              </a:r>
              <a:r>
                <a:rPr lang="zh-CN" sz="1200" dirty="0">
                  <a:solidFill>
                    <a:srgbClr val="182230"/>
                  </a:solidFill>
                  <a:latin typeface="Arial"/>
                  <a:ea typeface="Microsoft YaHei"/>
                  <a:cs typeface="Arial"/>
                </a:rPr>
                <a:t xml:space="preserve">move in the same </a:t>
              </a:r>
              <a:r>
                <a:rPr lang="zh-CN" sz="1200" dirty="0">
                  <a:solidFill>
                    <a:srgbClr val="182230"/>
                  </a:solidFill>
                  <a:latin typeface="Arial"/>
                  <a:ea typeface="Microsoft YaHei"/>
                  <a:cs typeface="Arial"/>
                </a:rPr>
                <a:t xml:space="preserve">direction, reducing </a:t>
              </a:r>
              <a:r>
                <a:rPr lang="zh-CN" sz="1200" dirty="0">
                  <a:solidFill>
                    <a:srgbClr val="182230"/>
                  </a:solidFill>
                  <a:latin typeface="Arial"/>
                  <a:ea typeface="Microsoft YaHei"/>
                  <a:cs typeface="Arial"/>
                </a:rPr>
                <a:t xml:space="preserve">the risk that the gain </a:t>
              </a:r>
              <a:r>
                <a:rPr lang="zh-CN" sz="1200" dirty="0">
                  <a:solidFill>
                    <a:srgbClr val="182230"/>
                  </a:solidFill>
                  <a:latin typeface="Arial"/>
                  <a:ea typeface="Microsoft YaHei"/>
                  <a:cs typeface="Arial"/>
                </a:rPr>
                <a:t>is just metric shifting.</a:t>
              </a:r>
            </a:p>
          </p:txBody>
        </p:sp>
        <p:sp>
          <p:nvSpPr>
            <p:cNvPr id="46" name="Line 46"/>
            <p:cNvSpPr/>
            <p:nvPr/>
          </p:nvSpPr>
          <p:spPr>
            <a:xfrm>
              <a:off x="9753600" y="4114800"/>
              <a:ext cx="1695450" cy="9525"/>
            </a:xfrm>
            <a:custGeom>
              <a:avLst/>
              <a:gdLst/>
              <a:ahLst/>
              <a:cxnLst/>
              <a:rect l="l" t="t" r="r" b="b"/>
              <a:pathLst>
                <a:path w="1695450" h="9525">
                  <a:moveTo>
                    <a:pt x="0" y="0"/>
                  </a:moveTo>
                  <a:lnTo>
                    <a:pt x="1695450" y="0"/>
                  </a:lnTo>
                </a:path>
              </a:pathLst>
            </a:custGeom>
            <a:noFill/>
            <a:ln w="9525">
              <a:solidFill>
                <a:srgbClr val="D9E1EA"/>
              </a:solidFill>
            </a:ln>
          </p:spPr>
        </p:sp>
        <p:sp>
          <p:nvSpPr>
            <p:cNvPr id="47" name="TextBox 47"/>
            <p:cNvSpPr txBox="1"/>
            <p:nvPr/>
          </p:nvSpPr>
          <p:spPr>
            <a:xfrm>
              <a:off x="9741218" y="4333399"/>
              <a:ext cx="1348981"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a:ea typeface="Microsoft YaHei"/>
                  <a:cs typeface="Arial"/>
                </a:rPr>
                <a:t>Interpretation limit</a:t>
              </a:r>
            </a:p>
          </p:txBody>
        </p:sp>
        <p:sp>
          <p:nvSpPr>
            <p:cNvPr id="48" name="TextBox 48"/>
            <p:cNvSpPr txBox="1"/>
            <p:nvPr/>
          </p:nvSpPr>
          <p:spPr>
            <a:xfrm>
              <a:off x="9740265" y="4592002"/>
              <a:ext cx="1693545" cy="1013460"/>
            </a:xfrm>
            <a:prstGeom prst="rect">
              <a:avLst/>
            </a:prstGeom>
            <a:noFill/>
            <a:ln>
              <a:noFill/>
            </a:ln>
          </p:spPr>
          <p:txBody>
            <a:bodyPr wrap="square" lIns="0" tIns="0" rIns="0" bIns="0" anchor="t" anchorCtr="0"/>
            <a:lstStyle/>
            <a:p>
              <a:pPr algn="l">
                <a:lnSpc>
                  <a:spcPts val="1575"/>
                </a:lnSpc>
              </a:pPr>
              <a:r>
                <a:rPr lang="zh-CN" sz="1050" dirty="0">
                  <a:solidFill>
                    <a:srgbClr val="5B677A"/>
                  </a:solidFill>
                  <a:latin typeface="Arial"/>
                  <a:ea typeface="Microsoft YaHei"/>
                  <a:cs typeface="Arial"/>
                </a:rPr>
                <a:t xml:space="preserve">The source has no </a:t>
              </a:r>
              <a:r>
                <a:rPr lang="zh-CN" sz="1050" dirty="0">
                  <a:solidFill>
                    <a:srgbClr val="5B677A"/>
                  </a:solidFill>
                  <a:latin typeface="Arial"/>
                  <a:ea typeface="Microsoft YaHei"/>
                  <a:cs typeface="Arial"/>
                </a:rPr>
                <a:t xml:space="preserve">confidence interval or </a:t>
              </a:r>
              <a:r>
                <a:rPr lang="zh-CN" sz="1050" dirty="0">
                  <a:solidFill>
                    <a:srgbClr val="5B677A"/>
                  </a:solidFill>
                  <a:latin typeface="Arial"/>
                  <a:ea typeface="Microsoft YaHei"/>
                  <a:cs typeface="Arial"/>
                </a:rPr>
                <a:t xml:space="preserve">p-value, so this slide </a:t>
              </a:r>
              <a:r>
                <a:rPr lang="zh-CN" sz="1050" dirty="0">
                  <a:solidFill>
                    <a:srgbClr val="5B677A"/>
                  </a:solidFill>
                  <a:latin typeface="Arial"/>
                  <a:ea typeface="Microsoft YaHei"/>
                  <a:cs typeface="Arial"/>
                </a:rPr>
                <a:t xml:space="preserve">does not claim statistical </a:t>
              </a:r>
              <a:r>
                <a:rPr lang="zh-CN" sz="1050" dirty="0">
                  <a:solidFill>
                    <a:srgbClr val="5B677A"/>
                  </a:solidFill>
                  <a:latin typeface="Arial"/>
                  <a:ea typeface="Microsoft YaHei"/>
                  <a:cs typeface="Arial"/>
                </a:rPr>
                <a:t>significance.</a:t>
              </a:r>
            </a:p>
          </p:txBody>
        </p:sp>
      </p:grpSp>
      <p:grpSp>
        <p:nvGrpSpPr>
          <p:cNvPr id="52" name="Group 52"/>
          <p:cNvGrpSpPr/>
          <p:nvPr/>
        </p:nvGrpSpPr>
        <p:grpSpPr>
          <a:xfrm>
            <a:off x="502920" y="6341745"/>
            <a:ext cx="11186160" cy="182880"/>
            <a:chOff x="502920" y="6341745"/>
            <a:chExt cx="11186160" cy="182880"/>
          </a:xfrm>
        </p:grpSpPr>
        <p:sp>
          <p:nvSpPr>
            <p:cNvPr id="50" name="TextBox 50"/>
            <p:cNvSpPr txBox="1"/>
            <p:nvPr/>
          </p:nvSpPr>
          <p:spPr>
            <a:xfrm>
              <a:off x="502920" y="6341745"/>
              <a:ext cx="4757452"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Source: checkout_experiment_results.csv; totals aggregate all four segments.</a:t>
              </a:r>
            </a:p>
          </p:txBody>
        </p:sp>
        <p:sp>
          <p:nvSpPr>
            <p:cNvPr id="51" name="TextBox 51"/>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2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1"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6" name="Group 6"/>
          <p:cNvGrpSpPr/>
          <p:nvPr/>
        </p:nvGrpSpPr>
        <p:grpSpPr>
          <a:xfrm>
            <a:off x="481965" y="447199"/>
            <a:ext cx="9812088" cy="874395"/>
            <a:chOff x="481965" y="447199"/>
            <a:chExt cx="9812088" cy="874395"/>
          </a:xfrm>
        </p:grpSpPr>
        <p:sp>
          <p:nvSpPr>
            <p:cNvPr id="3" name="TextBox 3"/>
            <p:cNvSpPr txBox="1"/>
            <p:nvPr/>
          </p:nvSpPr>
          <p:spPr>
            <a:xfrm>
              <a:off x="501968" y="447199"/>
              <a:ext cx="918952"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SEGMENT READ</a:t>
              </a:r>
            </a:p>
          </p:txBody>
        </p:sp>
        <p:sp>
          <p:nvSpPr>
            <p:cNvPr id="4" name="TextBox 4"/>
            <p:cNvSpPr txBox="1"/>
            <p:nvPr/>
          </p:nvSpPr>
          <p:spPr>
            <a:xfrm>
              <a:off x="481965" y="639128"/>
              <a:ext cx="9812088" cy="518160"/>
            </a:xfrm>
            <a:prstGeom prst="rect">
              <a:avLst/>
            </a:prstGeom>
            <a:noFill/>
            <a:ln>
              <a:noFill/>
            </a:ln>
          </p:spPr>
          <p:txBody>
            <a:bodyPr wrap="none" lIns="0" tIns="0" rIns="0" bIns="0" anchor="t" anchorCtr="0">
              <a:spAutoFit/>
            </a:bodyPr>
            <a:lstStyle/>
            <a:p>
              <a:pPr algn="l"/>
              <a:r>
                <a:rPr lang="zh-CN" sz="2550" b="1" dirty="0">
                  <a:solidFill>
                    <a:srgbClr val="182230"/>
                  </a:solidFill>
                  <a:latin typeface="Georgia"/>
                  <a:ea typeface="Microsoft YaHei"/>
                  <a:cs typeface="Georgia"/>
                </a:rPr>
                <a:t>Every segment shows a similar purchase-conversion lift</a:t>
              </a:r>
            </a:p>
          </p:txBody>
        </p:sp>
        <p:sp>
          <p:nvSpPr>
            <p:cNvPr id="5" name="TextBox 5"/>
            <p:cNvSpPr txBox="1"/>
            <p:nvPr/>
          </p:nvSpPr>
          <p:spPr>
            <a:xfrm>
              <a:off x="498158" y="1062514"/>
              <a:ext cx="7122271" cy="259080"/>
            </a:xfrm>
            <a:prstGeom prst="rect">
              <a:avLst/>
            </a:prstGeom>
            <a:noFill/>
            <a:ln>
              <a:noFill/>
            </a:ln>
          </p:spPr>
          <p:txBody>
            <a:bodyPr wrap="none" lIns="0" tIns="0" rIns="0" bIns="0" anchor="t" anchorCtr="0">
              <a:spAutoFit/>
            </a:bodyPr>
            <a:lstStyle/>
            <a:p>
              <a:pPr algn="l"/>
              <a:r>
                <a:rPr lang="zh-CN" sz="1275" dirty="0">
                  <a:solidFill>
                    <a:srgbClr val="5B677A"/>
                  </a:solidFill>
                  <a:latin typeface="Arial"/>
                  <a:ea typeface="Microsoft YaHei"/>
                  <a:cs typeface="Arial"/>
                </a:rPr>
                <a:t>Segment deltas range from +2.18 to +2.41 points across desktop and mobile cohorts.</a:t>
              </a:r>
            </a:p>
          </p:txBody>
        </p:sp>
      </p:grpSp>
      <p:grpSp>
        <p:nvGrpSpPr>
          <p:cNvPr id="11" name="Group 11"/>
          <p:cNvGrpSpPr/>
          <p:nvPr/>
        </p:nvGrpSpPr>
        <p:grpSpPr>
          <a:xfrm>
            <a:off x="7429500" y="1428750"/>
            <a:ext cx="1756458" cy="214312"/>
            <a:chOff x="7429500" y="1428750"/>
            <a:chExt cx="1756458" cy="214312"/>
          </a:xfrm>
        </p:grpSpPr>
        <p:sp>
          <p:nvSpPr>
            <p:cNvPr id="7" name="Rectangle 7"/>
            <p:cNvSpPr/>
            <p:nvPr/>
          </p:nvSpPr>
          <p:spPr>
            <a:xfrm>
              <a:off x="7429500" y="1428750"/>
              <a:ext cx="133350" cy="133350"/>
            </a:xfrm>
            <a:prstGeom prst="roundRect">
              <a:avLst>
                <a:gd name="adj" fmla="val 14286"/>
              </a:avLst>
            </a:prstGeom>
            <a:solidFill>
              <a:srgbClr val="243B53"/>
            </a:solidFill>
            <a:ln>
              <a:noFill/>
            </a:ln>
          </p:spPr>
        </p:sp>
        <p:sp>
          <p:nvSpPr>
            <p:cNvPr id="8" name="TextBox 8"/>
            <p:cNvSpPr txBox="1"/>
            <p:nvPr/>
          </p:nvSpPr>
          <p:spPr>
            <a:xfrm>
              <a:off x="7625715" y="1429702"/>
              <a:ext cx="53073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Control</a:t>
              </a:r>
            </a:p>
          </p:txBody>
        </p:sp>
        <p:sp>
          <p:nvSpPr>
            <p:cNvPr id="9" name="Rectangle 9"/>
            <p:cNvSpPr/>
            <p:nvPr/>
          </p:nvSpPr>
          <p:spPr>
            <a:xfrm>
              <a:off x="8382000" y="1428750"/>
              <a:ext cx="133350" cy="133350"/>
            </a:xfrm>
            <a:prstGeom prst="roundRect">
              <a:avLst>
                <a:gd name="adj" fmla="val 14286"/>
              </a:avLst>
            </a:prstGeom>
            <a:solidFill>
              <a:srgbClr val="00A6A6"/>
            </a:solidFill>
            <a:ln>
              <a:noFill/>
            </a:ln>
          </p:spPr>
        </p:sp>
        <p:sp>
          <p:nvSpPr>
            <p:cNvPr id="10" name="TextBox 10"/>
            <p:cNvSpPr txBox="1"/>
            <p:nvPr/>
          </p:nvSpPr>
          <p:spPr>
            <a:xfrm>
              <a:off x="8578215" y="1429702"/>
              <a:ext cx="60774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Redesign</a:t>
              </a:r>
            </a:p>
          </p:txBody>
        </p:sp>
      </p:grpSp>
      <p:grpSp>
        <p:nvGrpSpPr>
          <p:cNvPr id="54" name="Group 54"/>
          <p:cNvGrpSpPr/>
          <p:nvPr/>
        </p:nvGrpSpPr>
        <p:grpSpPr>
          <a:xfrm>
            <a:off x="514350" y="1562100"/>
            <a:ext cx="8763000" cy="4181475"/>
            <a:chOff x="514350" y="1562100"/>
            <a:chExt cx="8763000" cy="4181475"/>
          </a:xfrm>
        </p:grpSpPr>
        <p:sp>
          <p:nvSpPr>
            <p:cNvPr id="12" name="Rectangle 12"/>
            <p:cNvSpPr/>
            <p:nvPr/>
          </p:nvSpPr>
          <p:spPr>
            <a:xfrm>
              <a:off x="514350" y="1562100"/>
              <a:ext cx="8763000" cy="4171950"/>
            </a:xfrm>
            <a:prstGeom prst="roundRect">
              <a:avLst>
                <a:gd name="adj" fmla="val 1370"/>
              </a:avLst>
            </a:prstGeom>
            <a:solidFill>
              <a:srgbClr val="FFFFFF"/>
            </a:solidFill>
            <a:ln w="9525">
              <a:solidFill>
                <a:srgbClr val="D9E1EA"/>
              </a:solidFill>
            </a:ln>
          </p:spPr>
        </p:sp>
        <p:sp>
          <p:nvSpPr>
            <p:cNvPr id="13" name="Line 13"/>
            <p:cNvSpPr/>
            <p:nvPr/>
          </p:nvSpPr>
          <p:spPr>
            <a:xfrm>
              <a:off x="1428750" y="5191125"/>
              <a:ext cx="7143750" cy="9525"/>
            </a:xfrm>
            <a:custGeom>
              <a:avLst/>
              <a:gdLst/>
              <a:ahLst/>
              <a:cxnLst/>
              <a:rect l="l" t="t" r="r" b="b"/>
              <a:pathLst>
                <a:path w="7143750" h="9525">
                  <a:moveTo>
                    <a:pt x="0" y="0"/>
                  </a:moveTo>
                  <a:lnTo>
                    <a:pt x="7143750" y="0"/>
                  </a:lnTo>
                </a:path>
              </a:pathLst>
            </a:custGeom>
            <a:noFill/>
            <a:ln w="14288">
              <a:solidFill>
                <a:srgbClr val="243B53"/>
              </a:solidFill>
            </a:ln>
          </p:spPr>
        </p:sp>
        <p:sp>
          <p:nvSpPr>
            <p:cNvPr id="14" name="Line 14"/>
            <p:cNvSpPr/>
            <p:nvPr/>
          </p:nvSpPr>
          <p:spPr>
            <a:xfrm>
              <a:off x="1428750" y="2095500"/>
              <a:ext cx="9525" cy="3095625"/>
            </a:xfrm>
            <a:custGeom>
              <a:avLst/>
              <a:gdLst/>
              <a:ahLst/>
              <a:cxnLst/>
              <a:rect l="l" t="t" r="r" b="b"/>
              <a:pathLst>
                <a:path w="9525" h="3095625">
                  <a:moveTo>
                    <a:pt x="0" y="0"/>
                  </a:moveTo>
                  <a:lnTo>
                    <a:pt x="0" y="3095625"/>
                  </a:lnTo>
                </a:path>
              </a:pathLst>
            </a:custGeom>
            <a:noFill/>
            <a:ln w="14288">
              <a:solidFill>
                <a:srgbClr val="243B53"/>
              </a:solidFill>
            </a:ln>
          </p:spPr>
        </p:sp>
        <p:sp>
          <p:nvSpPr>
            <p:cNvPr id="15" name="Line 15"/>
            <p:cNvSpPr/>
            <p:nvPr/>
          </p:nvSpPr>
          <p:spPr>
            <a:xfrm>
              <a:off x="1428750" y="4162425"/>
              <a:ext cx="7143750" cy="9525"/>
            </a:xfrm>
            <a:custGeom>
              <a:avLst/>
              <a:gdLst/>
              <a:ahLst/>
              <a:cxnLst/>
              <a:rect l="l" t="t" r="r" b="b"/>
              <a:pathLst>
                <a:path w="7143750" h="9525">
                  <a:moveTo>
                    <a:pt x="0" y="0"/>
                  </a:moveTo>
                  <a:lnTo>
                    <a:pt x="7143750" y="0"/>
                  </a:lnTo>
                </a:path>
              </a:pathLst>
            </a:custGeom>
            <a:noFill/>
            <a:ln w="9525">
              <a:solidFill>
                <a:srgbClr val="E8EEF5"/>
              </a:solidFill>
            </a:ln>
          </p:spPr>
        </p:sp>
        <p:sp>
          <p:nvSpPr>
            <p:cNvPr id="16" name="Line 16"/>
            <p:cNvSpPr/>
            <p:nvPr/>
          </p:nvSpPr>
          <p:spPr>
            <a:xfrm>
              <a:off x="1428750" y="3124200"/>
              <a:ext cx="7143750" cy="9525"/>
            </a:xfrm>
            <a:custGeom>
              <a:avLst/>
              <a:gdLst/>
              <a:ahLst/>
              <a:cxnLst/>
              <a:rect l="l" t="t" r="r" b="b"/>
              <a:pathLst>
                <a:path w="7143750" h="9525">
                  <a:moveTo>
                    <a:pt x="0" y="0"/>
                  </a:moveTo>
                  <a:lnTo>
                    <a:pt x="7143750" y="0"/>
                  </a:lnTo>
                </a:path>
              </a:pathLst>
            </a:custGeom>
            <a:noFill/>
            <a:ln w="9525">
              <a:solidFill>
                <a:srgbClr val="E8EEF5"/>
              </a:solidFill>
            </a:ln>
          </p:spPr>
        </p:sp>
        <p:sp>
          <p:nvSpPr>
            <p:cNvPr id="17" name="Line 17"/>
            <p:cNvSpPr/>
            <p:nvPr/>
          </p:nvSpPr>
          <p:spPr>
            <a:xfrm>
              <a:off x="1428750" y="2095500"/>
              <a:ext cx="7143750" cy="9525"/>
            </a:xfrm>
            <a:custGeom>
              <a:avLst/>
              <a:gdLst/>
              <a:ahLst/>
              <a:cxnLst/>
              <a:rect l="l" t="t" r="r" b="b"/>
              <a:pathLst>
                <a:path w="7143750" h="9525">
                  <a:moveTo>
                    <a:pt x="0" y="0"/>
                  </a:moveTo>
                  <a:lnTo>
                    <a:pt x="7143750" y="0"/>
                  </a:lnTo>
                </a:path>
              </a:pathLst>
            </a:custGeom>
            <a:noFill/>
            <a:ln w="9525">
              <a:solidFill>
                <a:srgbClr val="E8EEF5"/>
              </a:solidFill>
            </a:ln>
          </p:spPr>
        </p:sp>
        <p:sp>
          <p:nvSpPr>
            <p:cNvPr id="18" name="TextBox 18"/>
            <p:cNvSpPr txBox="1"/>
            <p:nvPr/>
          </p:nvSpPr>
          <p:spPr>
            <a:xfrm>
              <a:off x="1075896" y="5133499"/>
              <a:ext cx="193786"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0%</a:t>
              </a:r>
            </a:p>
          </p:txBody>
        </p:sp>
        <p:sp>
          <p:nvSpPr>
            <p:cNvPr id="19" name="TextBox 19"/>
            <p:cNvSpPr txBox="1"/>
            <p:nvPr/>
          </p:nvSpPr>
          <p:spPr>
            <a:xfrm>
              <a:off x="1004387" y="4104799"/>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10%</a:t>
              </a:r>
            </a:p>
          </p:txBody>
        </p:sp>
        <p:sp>
          <p:nvSpPr>
            <p:cNvPr id="20" name="TextBox 20"/>
            <p:cNvSpPr txBox="1"/>
            <p:nvPr/>
          </p:nvSpPr>
          <p:spPr>
            <a:xfrm>
              <a:off x="1004387" y="30665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20%</a:t>
              </a:r>
            </a:p>
          </p:txBody>
        </p:sp>
        <p:sp>
          <p:nvSpPr>
            <p:cNvPr id="21" name="TextBox 21"/>
            <p:cNvSpPr txBox="1"/>
            <p:nvPr/>
          </p:nvSpPr>
          <p:spPr>
            <a:xfrm>
              <a:off x="1004387" y="2037874"/>
              <a:ext cx="265295" cy="198120"/>
            </a:xfrm>
            <a:prstGeom prst="rect">
              <a:avLst/>
            </a:prstGeom>
            <a:noFill/>
            <a:ln>
              <a:noFill/>
            </a:ln>
          </p:spPr>
          <p:txBody>
            <a:bodyPr wrap="none" lIns="0" tIns="0" rIns="0" bIns="0" anchor="t" anchorCtr="0">
              <a:spAutoFit/>
            </a:bodyPr>
            <a:lstStyle/>
            <a:p>
              <a:pPr algn="r"/>
              <a:r>
                <a:rPr lang="zh-CN" sz="975" dirty="0">
                  <a:solidFill>
                    <a:srgbClr val="5B677A"/>
                  </a:solidFill>
                  <a:latin typeface="Arial"/>
                  <a:ea typeface="Microsoft YaHei"/>
                  <a:cs typeface="Arial"/>
                </a:rPr>
                <a:t>30%</a:t>
              </a:r>
            </a:p>
          </p:txBody>
        </p:sp>
        <p:grpSp>
          <p:nvGrpSpPr>
            <p:cNvPr id="29" name="Group 29"/>
            <p:cNvGrpSpPr/>
            <p:nvPr/>
          </p:nvGrpSpPr>
          <p:grpSpPr>
            <a:xfrm>
              <a:off x="1952625" y="3037999"/>
              <a:ext cx="1000125" cy="2705576"/>
              <a:chOff x="1952625" y="3037999"/>
              <a:chExt cx="1000125" cy="2705576"/>
            </a:xfrm>
          </p:grpSpPr>
          <p:sp>
            <p:nvSpPr>
              <p:cNvPr id="22" name="Rectangle 22"/>
              <p:cNvSpPr/>
              <p:nvPr/>
            </p:nvSpPr>
            <p:spPr>
              <a:xfrm>
                <a:off x="1952625" y="3562350"/>
                <a:ext cx="457200" cy="1628775"/>
              </a:xfrm>
              <a:prstGeom prst="roundRect">
                <a:avLst>
                  <a:gd name="adj" fmla="val 8333"/>
                </a:avLst>
              </a:prstGeom>
              <a:solidFill>
                <a:srgbClr val="243B53"/>
              </a:solidFill>
              <a:ln>
                <a:noFill/>
              </a:ln>
            </p:spPr>
          </p:sp>
          <p:sp>
            <p:nvSpPr>
              <p:cNvPr id="23" name="Rectangle 23"/>
              <p:cNvSpPr/>
              <p:nvPr/>
            </p:nvSpPr>
            <p:spPr>
              <a:xfrm>
                <a:off x="2495550" y="3333750"/>
                <a:ext cx="457200" cy="1857375"/>
              </a:xfrm>
              <a:prstGeom prst="roundRect">
                <a:avLst>
                  <a:gd name="adj" fmla="val 8333"/>
                </a:avLst>
              </a:prstGeom>
              <a:solidFill>
                <a:srgbClr val="00A6A6"/>
              </a:solidFill>
              <a:ln>
                <a:noFill/>
              </a:ln>
            </p:spPr>
          </p:sp>
          <p:sp>
            <p:nvSpPr>
              <p:cNvPr id="24" name="TextBox 24"/>
              <p:cNvSpPr txBox="1"/>
              <p:nvPr/>
            </p:nvSpPr>
            <p:spPr>
              <a:xfrm>
                <a:off x="2114727" y="3037999"/>
                <a:ext cx="666395"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a:ea typeface="Microsoft YaHei"/>
                    <a:cs typeface="Arial"/>
                  </a:rPr>
                  <a:t>+2.21 pts</a:t>
                </a:r>
              </a:p>
            </p:txBody>
          </p:sp>
          <p:sp>
            <p:nvSpPr>
              <p:cNvPr id="25" name="TextBox 25"/>
              <p:cNvSpPr txBox="1"/>
              <p:nvPr/>
            </p:nvSpPr>
            <p:spPr>
              <a:xfrm>
                <a:off x="2037778" y="3350895"/>
                <a:ext cx="286893" cy="182880"/>
              </a:xfrm>
              <a:prstGeom prst="rect">
                <a:avLst/>
              </a:prstGeom>
              <a:noFill/>
              <a:ln>
                <a:noFill/>
              </a:ln>
            </p:spPr>
            <p:txBody>
              <a:bodyPr wrap="none" lIns="0" tIns="0" rIns="0" bIns="0" anchor="t" anchorCtr="0">
                <a:spAutoFit/>
              </a:bodyPr>
              <a:lstStyle/>
              <a:p>
                <a:pPr algn="ctr"/>
                <a:r>
                  <a:rPr lang="zh-CN" sz="900" dirty="0">
                    <a:solidFill>
                      <a:srgbClr val="182230"/>
                    </a:solidFill>
                    <a:latin typeface="Arial"/>
                    <a:ea typeface="Microsoft YaHei"/>
                    <a:cs typeface="Arial"/>
                  </a:rPr>
                  <a:t>15.8</a:t>
                </a:r>
              </a:p>
            </p:txBody>
          </p:sp>
          <p:sp>
            <p:nvSpPr>
              <p:cNvPr id="26" name="TextBox 26"/>
              <p:cNvSpPr txBox="1"/>
              <p:nvPr/>
            </p:nvSpPr>
            <p:spPr>
              <a:xfrm>
                <a:off x="2580704" y="3122295"/>
                <a:ext cx="286893" cy="182880"/>
              </a:xfrm>
              <a:prstGeom prst="rect">
                <a:avLst/>
              </a:prstGeom>
              <a:noFill/>
              <a:ln>
                <a:noFill/>
              </a:ln>
            </p:spPr>
            <p:txBody>
              <a:bodyPr wrap="none" lIns="0" tIns="0" rIns="0" bIns="0" anchor="t" anchorCtr="0">
                <a:spAutoFit/>
              </a:bodyPr>
              <a:lstStyle/>
              <a:p>
                <a:pPr algn="ctr"/>
                <a:r>
                  <a:rPr lang="zh-CN" sz="900" dirty="0">
                    <a:solidFill>
                      <a:srgbClr val="00A6A6"/>
                    </a:solidFill>
                    <a:latin typeface="Arial"/>
                    <a:ea typeface="Microsoft YaHei"/>
                    <a:cs typeface="Arial"/>
                  </a:rPr>
                  <a:t>18.0</a:t>
                </a:r>
              </a:p>
            </p:txBody>
          </p:sp>
          <p:sp>
            <p:nvSpPr>
              <p:cNvPr id="27" name="TextBox 27"/>
              <p:cNvSpPr txBox="1"/>
              <p:nvPr/>
            </p:nvSpPr>
            <p:spPr>
              <a:xfrm>
                <a:off x="2161105" y="5354002"/>
                <a:ext cx="592691"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Desktop</a:t>
                </a:r>
              </a:p>
            </p:txBody>
          </p:sp>
          <p:sp>
            <p:nvSpPr>
              <p:cNvPr id="28" name="TextBox 28"/>
              <p:cNvSpPr txBox="1"/>
              <p:nvPr/>
            </p:nvSpPr>
            <p:spPr>
              <a:xfrm>
                <a:off x="2335006" y="5560695"/>
                <a:ext cx="244888"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New</a:t>
                </a:r>
              </a:p>
            </p:txBody>
          </p:sp>
        </p:grpSp>
        <p:grpSp>
          <p:nvGrpSpPr>
            <p:cNvPr id="37" name="Group 37"/>
            <p:cNvGrpSpPr/>
            <p:nvPr/>
          </p:nvGrpSpPr>
          <p:grpSpPr>
            <a:xfrm>
              <a:off x="3638550" y="2161699"/>
              <a:ext cx="1000125" cy="3581876"/>
              <a:chOff x="3638550" y="2161699"/>
              <a:chExt cx="1000125" cy="3581876"/>
            </a:xfrm>
          </p:grpSpPr>
          <p:sp>
            <p:nvSpPr>
              <p:cNvPr id="30" name="Rectangle 30"/>
              <p:cNvSpPr/>
              <p:nvPr/>
            </p:nvSpPr>
            <p:spPr>
              <a:xfrm>
                <a:off x="3638550" y="2705100"/>
                <a:ext cx="457200" cy="2486025"/>
              </a:xfrm>
              <a:prstGeom prst="roundRect">
                <a:avLst>
                  <a:gd name="adj" fmla="val 8333"/>
                </a:avLst>
              </a:prstGeom>
              <a:solidFill>
                <a:srgbClr val="243B53"/>
              </a:solidFill>
              <a:ln>
                <a:noFill/>
              </a:ln>
            </p:spPr>
          </p:sp>
          <p:sp>
            <p:nvSpPr>
              <p:cNvPr id="31" name="Rectangle 31"/>
              <p:cNvSpPr/>
              <p:nvPr/>
            </p:nvSpPr>
            <p:spPr>
              <a:xfrm>
                <a:off x="4181475" y="2457450"/>
                <a:ext cx="457200" cy="2733675"/>
              </a:xfrm>
              <a:prstGeom prst="roundRect">
                <a:avLst>
                  <a:gd name="adj" fmla="val 8333"/>
                </a:avLst>
              </a:prstGeom>
              <a:solidFill>
                <a:srgbClr val="00A6A6"/>
              </a:solidFill>
              <a:ln>
                <a:noFill/>
              </a:ln>
            </p:spPr>
          </p:sp>
          <p:sp>
            <p:nvSpPr>
              <p:cNvPr id="32" name="TextBox 32"/>
              <p:cNvSpPr txBox="1"/>
              <p:nvPr/>
            </p:nvSpPr>
            <p:spPr>
              <a:xfrm>
                <a:off x="3810177" y="2161699"/>
                <a:ext cx="666395"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a:ea typeface="Microsoft YaHei"/>
                    <a:cs typeface="Arial"/>
                  </a:rPr>
                  <a:t>+2.41 pts</a:t>
                </a:r>
              </a:p>
            </p:txBody>
          </p:sp>
          <p:sp>
            <p:nvSpPr>
              <p:cNvPr id="33" name="TextBox 33"/>
              <p:cNvSpPr txBox="1"/>
              <p:nvPr/>
            </p:nvSpPr>
            <p:spPr>
              <a:xfrm>
                <a:off x="3723704" y="2493645"/>
                <a:ext cx="286893" cy="182880"/>
              </a:xfrm>
              <a:prstGeom prst="rect">
                <a:avLst/>
              </a:prstGeom>
              <a:noFill/>
              <a:ln>
                <a:noFill/>
              </a:ln>
            </p:spPr>
            <p:txBody>
              <a:bodyPr wrap="none" lIns="0" tIns="0" rIns="0" bIns="0" anchor="t" anchorCtr="0">
                <a:spAutoFit/>
              </a:bodyPr>
              <a:lstStyle/>
              <a:p>
                <a:pPr algn="ctr"/>
                <a:r>
                  <a:rPr lang="zh-CN" sz="900" dirty="0">
                    <a:solidFill>
                      <a:srgbClr val="182230"/>
                    </a:solidFill>
                    <a:latin typeface="Arial"/>
                    <a:ea typeface="Microsoft YaHei"/>
                    <a:cs typeface="Arial"/>
                  </a:rPr>
                  <a:t>24.1</a:t>
                </a:r>
              </a:p>
            </p:txBody>
          </p:sp>
          <p:sp>
            <p:nvSpPr>
              <p:cNvPr id="34" name="TextBox 34"/>
              <p:cNvSpPr txBox="1"/>
              <p:nvPr/>
            </p:nvSpPr>
            <p:spPr>
              <a:xfrm>
                <a:off x="4266628" y="2245995"/>
                <a:ext cx="286893" cy="182880"/>
              </a:xfrm>
              <a:prstGeom prst="rect">
                <a:avLst/>
              </a:prstGeom>
              <a:noFill/>
              <a:ln>
                <a:noFill/>
              </a:ln>
            </p:spPr>
            <p:txBody>
              <a:bodyPr wrap="none" lIns="0" tIns="0" rIns="0" bIns="0" anchor="t" anchorCtr="0">
                <a:spAutoFit/>
              </a:bodyPr>
              <a:lstStyle/>
              <a:p>
                <a:pPr algn="ctr"/>
                <a:r>
                  <a:rPr lang="zh-CN" sz="900" dirty="0">
                    <a:solidFill>
                      <a:srgbClr val="00A6A6"/>
                    </a:solidFill>
                    <a:latin typeface="Arial"/>
                    <a:ea typeface="Microsoft YaHei"/>
                    <a:cs typeface="Arial"/>
                  </a:rPr>
                  <a:t>26.5</a:t>
                </a:r>
              </a:p>
            </p:txBody>
          </p:sp>
          <p:sp>
            <p:nvSpPr>
              <p:cNvPr id="35" name="TextBox 35"/>
              <p:cNvSpPr txBox="1"/>
              <p:nvPr/>
            </p:nvSpPr>
            <p:spPr>
              <a:xfrm>
                <a:off x="3847030" y="5354002"/>
                <a:ext cx="592691"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Desktop</a:t>
                </a:r>
              </a:p>
            </p:txBody>
          </p:sp>
          <p:sp>
            <p:nvSpPr>
              <p:cNvPr id="36" name="TextBox 36"/>
              <p:cNvSpPr txBox="1"/>
              <p:nvPr/>
            </p:nvSpPr>
            <p:spPr>
              <a:xfrm>
                <a:off x="3849910" y="5560695"/>
                <a:ext cx="586930"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Returning</a:t>
                </a:r>
              </a:p>
            </p:txBody>
          </p:sp>
        </p:grpSp>
        <p:grpSp>
          <p:nvGrpSpPr>
            <p:cNvPr id="45" name="Group 45"/>
            <p:cNvGrpSpPr/>
            <p:nvPr/>
          </p:nvGrpSpPr>
          <p:grpSpPr>
            <a:xfrm>
              <a:off x="5324475" y="3552349"/>
              <a:ext cx="1000125" cy="2191226"/>
              <a:chOff x="5324475" y="3552349"/>
              <a:chExt cx="1000125" cy="2191226"/>
            </a:xfrm>
          </p:grpSpPr>
          <p:sp>
            <p:nvSpPr>
              <p:cNvPr id="38" name="Rectangle 38"/>
              <p:cNvSpPr/>
              <p:nvPr/>
            </p:nvSpPr>
            <p:spPr>
              <a:xfrm>
                <a:off x="5324475" y="4076700"/>
                <a:ext cx="457200" cy="1114425"/>
              </a:xfrm>
              <a:prstGeom prst="roundRect">
                <a:avLst>
                  <a:gd name="adj" fmla="val 8333"/>
                </a:avLst>
              </a:prstGeom>
              <a:solidFill>
                <a:srgbClr val="243B53"/>
              </a:solidFill>
              <a:ln>
                <a:noFill/>
              </a:ln>
            </p:spPr>
          </p:sp>
          <p:sp>
            <p:nvSpPr>
              <p:cNvPr id="39" name="Rectangle 39"/>
              <p:cNvSpPr/>
              <p:nvPr/>
            </p:nvSpPr>
            <p:spPr>
              <a:xfrm>
                <a:off x="5867400" y="3848100"/>
                <a:ext cx="457200" cy="1343025"/>
              </a:xfrm>
              <a:prstGeom prst="roundRect">
                <a:avLst>
                  <a:gd name="adj" fmla="val 8333"/>
                </a:avLst>
              </a:prstGeom>
              <a:solidFill>
                <a:srgbClr val="00A6A6"/>
              </a:solidFill>
              <a:ln>
                <a:noFill/>
              </a:ln>
            </p:spPr>
          </p:sp>
          <p:sp>
            <p:nvSpPr>
              <p:cNvPr id="40" name="TextBox 40"/>
              <p:cNvSpPr txBox="1"/>
              <p:nvPr/>
            </p:nvSpPr>
            <p:spPr>
              <a:xfrm>
                <a:off x="5496102" y="3552349"/>
                <a:ext cx="666395"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a:ea typeface="Microsoft YaHei"/>
                    <a:cs typeface="Arial"/>
                  </a:rPr>
                  <a:t>+2.18 pts</a:t>
                </a:r>
              </a:p>
            </p:txBody>
          </p:sp>
          <p:sp>
            <p:nvSpPr>
              <p:cNvPr id="41" name="TextBox 41"/>
              <p:cNvSpPr txBox="1"/>
              <p:nvPr/>
            </p:nvSpPr>
            <p:spPr>
              <a:xfrm>
                <a:off x="5409628" y="3865245"/>
                <a:ext cx="286893" cy="182880"/>
              </a:xfrm>
              <a:prstGeom prst="rect">
                <a:avLst/>
              </a:prstGeom>
              <a:noFill/>
              <a:ln>
                <a:noFill/>
              </a:ln>
            </p:spPr>
            <p:txBody>
              <a:bodyPr wrap="none" lIns="0" tIns="0" rIns="0" bIns="0" anchor="t" anchorCtr="0">
                <a:spAutoFit/>
              </a:bodyPr>
              <a:lstStyle/>
              <a:p>
                <a:pPr algn="ctr"/>
                <a:r>
                  <a:rPr lang="zh-CN" sz="900" dirty="0">
                    <a:solidFill>
                      <a:srgbClr val="182230"/>
                    </a:solidFill>
                    <a:latin typeface="Arial"/>
                    <a:ea typeface="Microsoft YaHei"/>
                    <a:cs typeface="Arial"/>
                  </a:rPr>
                  <a:t>10.8</a:t>
                </a:r>
              </a:p>
            </p:txBody>
          </p:sp>
          <p:sp>
            <p:nvSpPr>
              <p:cNvPr id="42" name="TextBox 42"/>
              <p:cNvSpPr txBox="1"/>
              <p:nvPr/>
            </p:nvSpPr>
            <p:spPr>
              <a:xfrm>
                <a:off x="5952553" y="3636645"/>
                <a:ext cx="286893" cy="182880"/>
              </a:xfrm>
              <a:prstGeom prst="rect">
                <a:avLst/>
              </a:prstGeom>
              <a:noFill/>
              <a:ln>
                <a:noFill/>
              </a:ln>
            </p:spPr>
            <p:txBody>
              <a:bodyPr wrap="none" lIns="0" tIns="0" rIns="0" bIns="0" anchor="t" anchorCtr="0">
                <a:spAutoFit/>
              </a:bodyPr>
              <a:lstStyle/>
              <a:p>
                <a:pPr algn="ctr"/>
                <a:r>
                  <a:rPr lang="zh-CN" sz="900" dirty="0">
                    <a:solidFill>
                      <a:srgbClr val="00A6A6"/>
                    </a:solidFill>
                    <a:latin typeface="Arial"/>
                    <a:ea typeface="Microsoft YaHei"/>
                    <a:cs typeface="Arial"/>
                  </a:rPr>
                  <a:t>13.0</a:t>
                </a:r>
              </a:p>
            </p:txBody>
          </p:sp>
          <p:sp>
            <p:nvSpPr>
              <p:cNvPr id="43" name="TextBox 43"/>
              <p:cNvSpPr txBox="1"/>
              <p:nvPr/>
            </p:nvSpPr>
            <p:spPr>
              <a:xfrm>
                <a:off x="5595437" y="5354002"/>
                <a:ext cx="467725"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Mobile</a:t>
                </a:r>
              </a:p>
            </p:txBody>
          </p:sp>
          <p:sp>
            <p:nvSpPr>
              <p:cNvPr id="44" name="TextBox 44"/>
              <p:cNvSpPr txBox="1"/>
              <p:nvPr/>
            </p:nvSpPr>
            <p:spPr>
              <a:xfrm>
                <a:off x="5706856" y="5560695"/>
                <a:ext cx="244888"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New</a:t>
                </a:r>
              </a:p>
            </p:txBody>
          </p:sp>
        </p:grpSp>
        <p:grpSp>
          <p:nvGrpSpPr>
            <p:cNvPr id="53" name="Group 53"/>
            <p:cNvGrpSpPr/>
            <p:nvPr/>
          </p:nvGrpSpPr>
          <p:grpSpPr>
            <a:xfrm>
              <a:off x="7010400" y="2628424"/>
              <a:ext cx="1000125" cy="3115151"/>
              <a:chOff x="7010400" y="2628424"/>
              <a:chExt cx="1000125" cy="3115151"/>
            </a:xfrm>
          </p:grpSpPr>
          <p:sp>
            <p:nvSpPr>
              <p:cNvPr id="46" name="Rectangle 46"/>
              <p:cNvSpPr/>
              <p:nvPr/>
            </p:nvSpPr>
            <p:spPr>
              <a:xfrm>
                <a:off x="7010400" y="3171825"/>
                <a:ext cx="457200" cy="2019300"/>
              </a:xfrm>
              <a:prstGeom prst="roundRect">
                <a:avLst>
                  <a:gd name="adj" fmla="val 8333"/>
                </a:avLst>
              </a:prstGeom>
              <a:solidFill>
                <a:srgbClr val="243B53"/>
              </a:solidFill>
              <a:ln>
                <a:noFill/>
              </a:ln>
            </p:spPr>
          </p:sp>
          <p:sp>
            <p:nvSpPr>
              <p:cNvPr id="47" name="Rectangle 47"/>
              <p:cNvSpPr/>
              <p:nvPr/>
            </p:nvSpPr>
            <p:spPr>
              <a:xfrm>
                <a:off x="7553325" y="2924175"/>
                <a:ext cx="457200" cy="2266950"/>
              </a:xfrm>
              <a:prstGeom prst="roundRect">
                <a:avLst>
                  <a:gd name="adj" fmla="val 8333"/>
                </a:avLst>
              </a:prstGeom>
              <a:solidFill>
                <a:srgbClr val="00A6A6"/>
              </a:solidFill>
              <a:ln>
                <a:noFill/>
              </a:ln>
            </p:spPr>
          </p:sp>
          <p:sp>
            <p:nvSpPr>
              <p:cNvPr id="48" name="TextBox 48"/>
              <p:cNvSpPr txBox="1"/>
              <p:nvPr/>
            </p:nvSpPr>
            <p:spPr>
              <a:xfrm>
                <a:off x="7182027" y="2628424"/>
                <a:ext cx="666395"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a:ea typeface="Microsoft YaHei"/>
                    <a:cs typeface="Arial"/>
                  </a:rPr>
                  <a:t>+2.33 pts</a:t>
                </a:r>
              </a:p>
            </p:txBody>
          </p:sp>
          <p:sp>
            <p:nvSpPr>
              <p:cNvPr id="49" name="TextBox 49"/>
              <p:cNvSpPr txBox="1"/>
              <p:nvPr/>
            </p:nvSpPr>
            <p:spPr>
              <a:xfrm>
                <a:off x="7095553" y="2960370"/>
                <a:ext cx="286893" cy="182880"/>
              </a:xfrm>
              <a:prstGeom prst="rect">
                <a:avLst/>
              </a:prstGeom>
              <a:noFill/>
              <a:ln>
                <a:noFill/>
              </a:ln>
            </p:spPr>
            <p:txBody>
              <a:bodyPr wrap="none" lIns="0" tIns="0" rIns="0" bIns="0" anchor="t" anchorCtr="0">
                <a:spAutoFit/>
              </a:bodyPr>
              <a:lstStyle/>
              <a:p>
                <a:pPr algn="ctr"/>
                <a:r>
                  <a:rPr lang="zh-CN" sz="900" dirty="0">
                    <a:solidFill>
                      <a:srgbClr val="182230"/>
                    </a:solidFill>
                    <a:latin typeface="Arial"/>
                    <a:ea typeface="Microsoft YaHei"/>
                    <a:cs typeface="Arial"/>
                  </a:rPr>
                  <a:t>19.6</a:t>
                </a:r>
              </a:p>
            </p:txBody>
          </p:sp>
          <p:sp>
            <p:nvSpPr>
              <p:cNvPr id="50" name="TextBox 50"/>
              <p:cNvSpPr txBox="1"/>
              <p:nvPr/>
            </p:nvSpPr>
            <p:spPr>
              <a:xfrm>
                <a:off x="7638478" y="2712720"/>
                <a:ext cx="286893" cy="182880"/>
              </a:xfrm>
              <a:prstGeom prst="rect">
                <a:avLst/>
              </a:prstGeom>
              <a:noFill/>
              <a:ln>
                <a:noFill/>
              </a:ln>
            </p:spPr>
            <p:txBody>
              <a:bodyPr wrap="none" lIns="0" tIns="0" rIns="0" bIns="0" anchor="t" anchorCtr="0">
                <a:spAutoFit/>
              </a:bodyPr>
              <a:lstStyle/>
              <a:p>
                <a:pPr algn="ctr"/>
                <a:r>
                  <a:rPr lang="zh-CN" sz="900" dirty="0">
                    <a:solidFill>
                      <a:srgbClr val="00A6A6"/>
                    </a:solidFill>
                    <a:latin typeface="Arial"/>
                    <a:ea typeface="Microsoft YaHei"/>
                    <a:cs typeface="Arial"/>
                  </a:rPr>
                  <a:t>22.0</a:t>
                </a:r>
              </a:p>
            </p:txBody>
          </p:sp>
          <p:sp>
            <p:nvSpPr>
              <p:cNvPr id="51" name="TextBox 51"/>
              <p:cNvSpPr txBox="1"/>
              <p:nvPr/>
            </p:nvSpPr>
            <p:spPr>
              <a:xfrm>
                <a:off x="7281362" y="5354002"/>
                <a:ext cx="467725"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Mobile</a:t>
                </a:r>
              </a:p>
            </p:txBody>
          </p:sp>
          <p:sp>
            <p:nvSpPr>
              <p:cNvPr id="52" name="TextBox 52"/>
              <p:cNvSpPr txBox="1"/>
              <p:nvPr/>
            </p:nvSpPr>
            <p:spPr>
              <a:xfrm>
                <a:off x="7221760" y="5560695"/>
                <a:ext cx="586930" cy="182880"/>
              </a:xfrm>
              <a:prstGeom prst="rect">
                <a:avLst/>
              </a:prstGeom>
              <a:noFill/>
              <a:ln>
                <a:noFill/>
              </a:ln>
            </p:spPr>
            <p:txBody>
              <a:bodyPr wrap="none" lIns="0" tIns="0" rIns="0" bIns="0" anchor="t" anchorCtr="0">
                <a:spAutoFit/>
              </a:bodyPr>
              <a:lstStyle/>
              <a:p>
                <a:pPr algn="ctr"/>
                <a:r>
                  <a:rPr lang="zh-CN" sz="900" dirty="0">
                    <a:solidFill>
                      <a:srgbClr val="8A94A6"/>
                    </a:solidFill>
                    <a:latin typeface="Arial"/>
                    <a:ea typeface="Microsoft YaHei"/>
                    <a:cs typeface="Arial"/>
                  </a:rPr>
                  <a:t>Returning</a:t>
                </a:r>
              </a:p>
            </p:txBody>
          </p:sp>
        </p:grpSp>
      </p:grpSp>
      <p:grpSp>
        <p:nvGrpSpPr>
          <p:cNvPr id="65" name="Group 65"/>
          <p:cNvGrpSpPr/>
          <p:nvPr/>
        </p:nvGrpSpPr>
        <p:grpSpPr>
          <a:xfrm>
            <a:off x="9525000" y="1562100"/>
            <a:ext cx="2557548" cy="4171950"/>
            <a:chOff x="9525000" y="1562100"/>
            <a:chExt cx="2557548" cy="4171950"/>
          </a:xfrm>
        </p:grpSpPr>
        <p:sp>
          <p:nvSpPr>
            <p:cNvPr id="55" name="Rectangle 55"/>
            <p:cNvSpPr/>
            <p:nvPr/>
          </p:nvSpPr>
          <p:spPr>
            <a:xfrm>
              <a:off x="9525000" y="1562100"/>
              <a:ext cx="2152650" cy="4171950"/>
            </a:xfrm>
            <a:prstGeom prst="roundRect">
              <a:avLst>
                <a:gd name="adj" fmla="val 2655"/>
              </a:avLst>
            </a:prstGeom>
            <a:solidFill>
              <a:srgbClr val="FFFFFF"/>
            </a:solidFill>
            <a:ln w="9525">
              <a:solidFill>
                <a:srgbClr val="D9E1EA"/>
              </a:solidFill>
            </a:ln>
          </p:spPr>
        </p:sp>
        <p:sp>
          <p:nvSpPr>
            <p:cNvPr id="56" name="TextBox 56"/>
            <p:cNvSpPr txBox="1"/>
            <p:nvPr/>
          </p:nvSpPr>
          <p:spPr>
            <a:xfrm>
              <a:off x="9741218" y="1856899"/>
              <a:ext cx="550356" cy="198120"/>
            </a:xfrm>
            <a:prstGeom prst="rect">
              <a:avLst/>
            </a:prstGeom>
            <a:noFill/>
            <a:ln>
              <a:noFill/>
            </a:ln>
          </p:spPr>
          <p:txBody>
            <a:bodyPr wrap="none" lIns="0" tIns="0" rIns="0" bIns="0" anchor="t" anchorCtr="0">
              <a:spAutoFit/>
            </a:bodyPr>
            <a:lstStyle/>
            <a:p>
              <a:pPr algn="l"/>
              <a:r>
                <a:rPr lang="zh-CN" sz="975" b="1" dirty="0">
                  <a:solidFill>
                    <a:srgbClr val="8A94A6"/>
                  </a:solidFill>
                  <a:latin typeface="Arial"/>
                  <a:ea typeface="Microsoft YaHei"/>
                  <a:cs typeface="Arial"/>
                </a:rPr>
                <a:t>PATTERN</a:t>
              </a:r>
            </a:p>
          </p:txBody>
        </p:sp>
        <p:sp>
          <p:nvSpPr>
            <p:cNvPr id="57" name="TextBox 57"/>
            <p:cNvSpPr txBox="1"/>
            <p:nvPr/>
          </p:nvSpPr>
          <p:spPr>
            <a:xfrm>
              <a:off x="9713595" y="2060258"/>
              <a:ext cx="1072384" cy="640080"/>
            </a:xfrm>
            <a:prstGeom prst="rect">
              <a:avLst/>
            </a:prstGeom>
            <a:noFill/>
            <a:ln>
              <a:noFill/>
            </a:ln>
          </p:spPr>
          <p:txBody>
            <a:bodyPr wrap="none" lIns="0" tIns="0" rIns="0" bIns="0" anchor="t" anchorCtr="0">
              <a:spAutoFit/>
            </a:bodyPr>
            <a:lstStyle/>
            <a:p>
              <a:pPr algn="l"/>
              <a:r>
                <a:rPr lang="zh-CN" sz="3150" b="1" dirty="0">
                  <a:solidFill>
                    <a:srgbClr val="182230"/>
                  </a:solidFill>
                  <a:latin typeface="Georgia"/>
                  <a:ea typeface="Microsoft YaHei"/>
                  <a:cs typeface="Georgia"/>
                </a:rPr>
                <a:t>4 / 4</a:t>
              </a:r>
            </a:p>
          </p:txBody>
        </p:sp>
        <p:sp>
          <p:nvSpPr>
            <p:cNvPr id="58" name="TextBox 58"/>
            <p:cNvSpPr txBox="1"/>
            <p:nvPr/>
          </p:nvSpPr>
          <p:spPr>
            <a:xfrm>
              <a:off x="9739312" y="2545556"/>
              <a:ext cx="1485632" cy="228600"/>
            </a:xfrm>
            <a:prstGeom prst="rect">
              <a:avLst/>
            </a:prstGeom>
            <a:noFill/>
            <a:ln>
              <a:noFill/>
            </a:ln>
          </p:spPr>
          <p:txBody>
            <a:bodyPr wrap="none" lIns="0" tIns="0" rIns="0" bIns="0" anchor="t" anchorCtr="0">
              <a:spAutoFit/>
            </a:bodyPr>
            <a:lstStyle/>
            <a:p>
              <a:pPr algn="l"/>
              <a:r>
                <a:rPr lang="zh-CN" sz="1125" b="1" dirty="0">
                  <a:solidFill>
                    <a:srgbClr val="00A6A6"/>
                  </a:solidFill>
                  <a:latin typeface="Arial"/>
                  <a:ea typeface="Microsoft YaHei"/>
                  <a:cs typeface="Arial"/>
                </a:rPr>
                <a:t>segments improved</a:t>
              </a:r>
            </a:p>
          </p:txBody>
        </p:sp>
        <p:sp>
          <p:nvSpPr>
            <p:cNvPr id="59" name="Line 59"/>
            <p:cNvSpPr/>
            <p:nvPr/>
          </p:nvSpPr>
          <p:spPr>
            <a:xfrm>
              <a:off x="9753600" y="3028950"/>
              <a:ext cx="1695450" cy="9525"/>
            </a:xfrm>
            <a:custGeom>
              <a:avLst/>
              <a:gdLst/>
              <a:ahLst/>
              <a:cxnLst/>
              <a:rect l="l" t="t" r="r" b="b"/>
              <a:pathLst>
                <a:path w="1695450" h="9525">
                  <a:moveTo>
                    <a:pt x="0" y="0"/>
                  </a:moveTo>
                  <a:lnTo>
                    <a:pt x="1695450" y="0"/>
                  </a:lnTo>
                </a:path>
              </a:pathLst>
            </a:custGeom>
            <a:noFill/>
            <a:ln w="9525">
              <a:solidFill>
                <a:srgbClr val="D9E1EA"/>
              </a:solidFill>
            </a:ln>
          </p:spPr>
        </p:sp>
        <p:sp>
          <p:nvSpPr>
            <p:cNvPr id="60" name="TextBox 60"/>
            <p:cNvSpPr txBox="1"/>
            <p:nvPr/>
          </p:nvSpPr>
          <p:spPr>
            <a:xfrm>
              <a:off x="9739312" y="3250406"/>
              <a:ext cx="1685925" cy="685800"/>
            </a:xfrm>
            <a:prstGeom prst="rect">
              <a:avLst/>
            </a:prstGeom>
            <a:noFill/>
            <a:ln>
              <a:noFill/>
            </a:ln>
          </p:spPr>
          <p:txBody>
            <a:bodyPr wrap="square" lIns="0" tIns="0" rIns="0" bIns="0" anchor="t" anchorCtr="0"/>
            <a:lstStyle/>
            <a:p>
              <a:pPr algn="l">
                <a:lnSpc>
                  <a:spcPts val="1800"/>
                </a:lnSpc>
              </a:pPr>
              <a:r>
                <a:rPr lang="zh-CN" sz="1125" dirty="0">
                  <a:solidFill>
                    <a:srgbClr val="182230"/>
                  </a:solidFill>
                  <a:latin typeface="Arial"/>
                  <a:ea typeface="Microsoft YaHei"/>
                  <a:cs typeface="Arial"/>
                </a:rPr>
                <a:t xml:space="preserve">The lift is not isolated </a:t>
              </a:r>
              <a:r>
                <a:rPr lang="zh-CN" sz="1125" dirty="0">
                  <a:solidFill>
                    <a:srgbClr val="182230"/>
                  </a:solidFill>
                  <a:latin typeface="Arial"/>
                  <a:ea typeface="Microsoft YaHei"/>
                  <a:cs typeface="Arial"/>
                </a:rPr>
                <a:t xml:space="preserve">to a single device or </a:t>
              </a:r>
              <a:r>
                <a:rPr lang="zh-CN" sz="1125" dirty="0">
                  <a:solidFill>
                    <a:srgbClr val="182230"/>
                  </a:solidFill>
                  <a:latin typeface="Arial"/>
                  <a:ea typeface="Microsoft YaHei"/>
                  <a:cs typeface="Arial"/>
                </a:rPr>
                <a:t>returning-user cohort.</a:t>
              </a:r>
            </a:p>
          </p:txBody>
        </p:sp>
        <p:sp>
          <p:nvSpPr>
            <p:cNvPr id="61" name="TextBox 61"/>
            <p:cNvSpPr txBox="1"/>
            <p:nvPr/>
          </p:nvSpPr>
          <p:spPr>
            <a:xfrm>
              <a:off x="9741218" y="4276249"/>
              <a:ext cx="1048643" cy="198120"/>
            </a:xfrm>
            <a:prstGeom prst="rect">
              <a:avLst/>
            </a:prstGeom>
            <a:noFill/>
            <a:ln>
              <a:noFill/>
            </a:ln>
          </p:spPr>
          <p:txBody>
            <a:bodyPr wrap="none" lIns="0" tIns="0" rIns="0" bIns="0" anchor="t" anchorCtr="0">
              <a:spAutoFit/>
            </a:bodyPr>
            <a:lstStyle/>
            <a:p>
              <a:pPr algn="l"/>
              <a:r>
                <a:rPr lang="zh-CN" sz="975" b="1" dirty="0">
                  <a:solidFill>
                    <a:srgbClr val="5B677A"/>
                  </a:solidFill>
                  <a:latin typeface="Arial"/>
                  <a:ea typeface="Microsoft YaHei"/>
                  <a:cs typeface="Arial"/>
                </a:rPr>
                <a:t>Range of deltas</a:t>
              </a:r>
            </a:p>
          </p:txBody>
        </p:sp>
        <p:sp>
          <p:nvSpPr>
            <p:cNvPr id="62" name="Rectangle 62"/>
            <p:cNvSpPr/>
            <p:nvPr/>
          </p:nvSpPr>
          <p:spPr>
            <a:xfrm>
              <a:off x="9753600" y="4591050"/>
              <a:ext cx="1619250" cy="95250"/>
            </a:xfrm>
            <a:prstGeom prst="roundRect">
              <a:avLst>
                <a:gd name="adj" fmla="val 50000"/>
              </a:avLst>
            </a:prstGeom>
            <a:solidFill>
              <a:srgbClr val="E8EEF5"/>
            </a:solidFill>
            <a:ln>
              <a:noFill/>
            </a:ln>
          </p:spPr>
        </p:sp>
        <p:sp>
          <p:nvSpPr>
            <p:cNvPr id="63" name="Rectangle 63"/>
            <p:cNvSpPr/>
            <p:nvPr/>
          </p:nvSpPr>
          <p:spPr>
            <a:xfrm>
              <a:off x="9867900" y="4591050"/>
              <a:ext cx="1314450" cy="95250"/>
            </a:xfrm>
            <a:prstGeom prst="roundRect">
              <a:avLst>
                <a:gd name="adj" fmla="val 50000"/>
              </a:avLst>
            </a:prstGeom>
            <a:solidFill>
              <a:srgbClr val="00A6A6"/>
            </a:solidFill>
            <a:ln>
              <a:noFill/>
            </a:ln>
          </p:spPr>
        </p:sp>
        <p:sp>
          <p:nvSpPr>
            <p:cNvPr id="64" name="TextBox 64"/>
            <p:cNvSpPr txBox="1"/>
            <p:nvPr/>
          </p:nvSpPr>
          <p:spPr>
            <a:xfrm>
              <a:off x="9730740" y="4739640"/>
              <a:ext cx="2351808" cy="365760"/>
            </a:xfrm>
            <a:prstGeom prst="rect">
              <a:avLst/>
            </a:prstGeom>
            <a:noFill/>
            <a:ln>
              <a:noFill/>
            </a:ln>
          </p:spPr>
          <p:txBody>
            <a:bodyPr wrap="none" lIns="0" tIns="0" rIns="0" bIns="0" anchor="t" anchorCtr="0">
              <a:spAutoFit/>
            </a:bodyPr>
            <a:lstStyle/>
            <a:p>
              <a:pPr algn="l"/>
              <a:r>
                <a:rPr lang="zh-CN" sz="1800" b="1" dirty="0">
                  <a:solidFill>
                    <a:srgbClr val="00A6A6"/>
                  </a:solidFill>
                  <a:latin typeface="Arial"/>
                  <a:ea typeface="Microsoft YaHei"/>
                  <a:cs typeface="Arial"/>
                </a:rPr>
                <a:t>+2.18 to +2.41 pts</a:t>
              </a:r>
            </a:p>
          </p:txBody>
        </p:sp>
      </p:grpSp>
      <p:grpSp>
        <p:nvGrpSpPr>
          <p:cNvPr id="68" name="Group 68"/>
          <p:cNvGrpSpPr/>
          <p:nvPr/>
        </p:nvGrpSpPr>
        <p:grpSpPr>
          <a:xfrm>
            <a:off x="502920" y="6341745"/>
            <a:ext cx="11186160" cy="182880"/>
            <a:chOff x="502920" y="6341745"/>
            <a:chExt cx="11186160" cy="182880"/>
          </a:xfrm>
        </p:grpSpPr>
        <p:sp>
          <p:nvSpPr>
            <p:cNvPr id="66" name="TextBox 66"/>
            <p:cNvSpPr txBox="1"/>
            <p:nvPr/>
          </p:nvSpPr>
          <p:spPr>
            <a:xfrm>
              <a:off x="502920" y="6341745"/>
              <a:ext cx="5399532"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Metric: purchases / sessions. Labels shown as percentages; deltas are percentage points.</a:t>
              </a:r>
            </a:p>
          </p:txBody>
        </p:sp>
        <p:sp>
          <p:nvSpPr>
            <p:cNvPr id="67" name="TextBox 67"/>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3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400"/>
                                        <p:tgtEl>
                                          <p:spTgt spid="54"/>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image">
                                      <p:cBhvr>
                                        <p:cTn id="15"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4" grpId="0"/>
      <p:bldP spid="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6" name="Group 6"/>
          <p:cNvGrpSpPr/>
          <p:nvPr/>
        </p:nvGrpSpPr>
        <p:grpSpPr>
          <a:xfrm>
            <a:off x="481965" y="447199"/>
            <a:ext cx="11811538" cy="1102995"/>
            <a:chOff x="481965" y="447199"/>
            <a:chExt cx="11811538" cy="1102995"/>
          </a:xfrm>
        </p:grpSpPr>
        <p:sp>
          <p:nvSpPr>
            <p:cNvPr id="3" name="TextBox 3"/>
            <p:cNvSpPr txBox="1"/>
            <p:nvPr/>
          </p:nvSpPr>
          <p:spPr>
            <a:xfrm>
              <a:off x="501968" y="447199"/>
              <a:ext cx="1034991"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REVENUE IMPACT</a:t>
              </a:r>
            </a:p>
          </p:txBody>
        </p:sp>
        <p:sp>
          <p:nvSpPr>
            <p:cNvPr id="4" name="TextBox 4"/>
            <p:cNvSpPr txBox="1"/>
            <p:nvPr/>
          </p:nvSpPr>
          <p:spPr>
            <a:xfrm>
              <a:off x="481965" y="639128"/>
              <a:ext cx="11811538" cy="518160"/>
            </a:xfrm>
            <a:prstGeom prst="rect">
              <a:avLst/>
            </a:prstGeom>
            <a:noFill/>
            <a:ln>
              <a:noFill/>
            </a:ln>
          </p:spPr>
          <p:txBody>
            <a:bodyPr wrap="none" lIns="0" tIns="0" rIns="0" bIns="0" anchor="t" anchorCtr="0">
              <a:spAutoFit/>
            </a:bodyPr>
            <a:lstStyle/>
            <a:p>
              <a:pPr algn="l"/>
              <a:r>
                <a:rPr lang="zh-CN" sz="2550" b="1" dirty="0">
                  <a:solidFill>
                    <a:srgbClr val="182230"/>
                  </a:solidFill>
                  <a:latin typeface="Georgia"/>
                  <a:ea typeface="Microsoft YaHei"/>
                  <a:cs typeface="Georgia"/>
                </a:rPr>
                <a:t>Revenue moves with conversion: total gross revenue rises by $177K</a:t>
              </a:r>
            </a:p>
          </p:txBody>
        </p:sp>
        <p:sp>
          <p:nvSpPr>
            <p:cNvPr id="5" name="TextBox 5"/>
            <p:cNvSpPr txBox="1"/>
            <p:nvPr/>
          </p:nvSpPr>
          <p:spPr>
            <a:xfrm>
              <a:off x="498158" y="1062514"/>
              <a:ext cx="5084445" cy="487680"/>
            </a:xfrm>
            <a:prstGeom prst="rect">
              <a:avLst/>
            </a:prstGeom>
            <a:noFill/>
            <a:ln>
              <a:noFill/>
            </a:ln>
          </p:spPr>
          <p:txBody>
            <a:bodyPr wrap="square" lIns="0" tIns="0" rIns="0" bIns="0" anchor="t" anchorCtr="0"/>
            <a:lstStyle/>
            <a:p>
              <a:pPr algn="l">
                <a:lnSpc>
                  <a:spcPts val="1800"/>
                </a:lnSpc>
              </a:pPr>
              <a:r>
                <a:rPr lang="zh-CN" sz="1275" dirty="0">
                  <a:solidFill>
                    <a:srgbClr val="5B677A"/>
                  </a:solidFill>
                  <a:latin typeface="Arial"/>
                  <a:ea typeface="Microsoft YaHei"/>
                  <a:cs typeface="Arial"/>
                </a:rPr>
                <a:t xml:space="preserve">Redesign gross revenue is $1.182M versus $1.005M for Control, </a:t>
              </a:r>
              <a:r>
                <a:rPr lang="zh-CN" sz="1275" dirty="0">
                  <a:solidFill>
                    <a:srgbClr val="5B677A"/>
                  </a:solidFill>
                  <a:latin typeface="Arial"/>
                  <a:ea typeface="Microsoft YaHei"/>
                  <a:cs typeface="Arial"/>
                </a:rPr>
                <a:t>while revenue/session rises to $16.19.</a:t>
              </a:r>
            </a:p>
          </p:txBody>
        </p:sp>
      </p:grpSp>
      <p:grpSp>
        <p:nvGrpSpPr>
          <p:cNvPr id="11" name="Group 11"/>
          <p:cNvGrpSpPr/>
          <p:nvPr/>
        </p:nvGrpSpPr>
        <p:grpSpPr>
          <a:xfrm>
            <a:off x="514350" y="1466850"/>
            <a:ext cx="11163300" cy="757238"/>
            <a:chOff x="514350" y="1466850"/>
            <a:chExt cx="11163300" cy="757238"/>
          </a:xfrm>
        </p:grpSpPr>
        <p:sp>
          <p:nvSpPr>
            <p:cNvPr id="7" name="Rectangle 7"/>
            <p:cNvSpPr/>
            <p:nvPr/>
          </p:nvSpPr>
          <p:spPr>
            <a:xfrm>
              <a:off x="514350" y="1466850"/>
              <a:ext cx="11163300" cy="723900"/>
            </a:xfrm>
            <a:prstGeom prst="roundRect">
              <a:avLst>
                <a:gd name="adj" fmla="val 7895"/>
              </a:avLst>
            </a:prstGeom>
            <a:solidFill>
              <a:srgbClr val="243B53"/>
            </a:solidFill>
            <a:ln>
              <a:noFill/>
            </a:ln>
          </p:spPr>
        </p:sp>
        <p:sp>
          <p:nvSpPr>
            <p:cNvPr id="8" name="TextBox 8"/>
            <p:cNvSpPr txBox="1"/>
            <p:nvPr/>
          </p:nvSpPr>
          <p:spPr>
            <a:xfrm>
              <a:off x="760095" y="1584008"/>
              <a:ext cx="2263233" cy="640080"/>
            </a:xfrm>
            <a:prstGeom prst="rect">
              <a:avLst/>
            </a:prstGeom>
            <a:noFill/>
            <a:ln>
              <a:noFill/>
            </a:ln>
          </p:spPr>
          <p:txBody>
            <a:bodyPr wrap="none" lIns="0" tIns="0" rIns="0" bIns="0" anchor="t" anchorCtr="0">
              <a:spAutoFit/>
            </a:bodyPr>
            <a:lstStyle/>
            <a:p>
              <a:pPr algn="l"/>
              <a:r>
                <a:rPr lang="zh-CN" sz="3150" b="1" dirty="0">
                  <a:solidFill>
                    <a:srgbClr val="FFFFFF"/>
                  </a:solidFill>
                  <a:latin typeface="Georgia"/>
                  <a:ea typeface="Microsoft YaHei"/>
                  <a:cs typeface="Georgia"/>
                </a:rPr>
                <a:t>+$177,375</a:t>
              </a:r>
            </a:p>
          </p:txBody>
        </p:sp>
        <p:sp>
          <p:nvSpPr>
            <p:cNvPr id="9" name="TextBox 9"/>
            <p:cNvSpPr txBox="1"/>
            <p:nvPr/>
          </p:nvSpPr>
          <p:spPr>
            <a:xfrm>
              <a:off x="3127058" y="1710214"/>
              <a:ext cx="3908870" cy="259080"/>
            </a:xfrm>
            <a:prstGeom prst="rect">
              <a:avLst/>
            </a:prstGeom>
            <a:noFill/>
            <a:ln>
              <a:noFill/>
            </a:ln>
          </p:spPr>
          <p:txBody>
            <a:bodyPr wrap="none" lIns="0" tIns="0" rIns="0" bIns="0" anchor="t" anchorCtr="0">
              <a:spAutoFit/>
            </a:bodyPr>
            <a:lstStyle/>
            <a:p>
              <a:pPr algn="l"/>
              <a:r>
                <a:rPr lang="zh-CN" sz="1275" dirty="0">
                  <a:solidFill>
                    <a:srgbClr val="D9E1EA"/>
                  </a:solidFill>
                  <a:latin typeface="Arial"/>
                  <a:ea typeface="Microsoft YaHei"/>
                  <a:cs typeface="Arial"/>
                </a:rPr>
                <a:t>total gross revenue lift in the provided sample</a:t>
              </a:r>
            </a:p>
          </p:txBody>
        </p:sp>
        <p:sp>
          <p:nvSpPr>
            <p:cNvPr id="10" name="TextBox 10"/>
            <p:cNvSpPr txBox="1"/>
            <p:nvPr/>
          </p:nvSpPr>
          <p:spPr>
            <a:xfrm>
              <a:off x="9024203" y="1710214"/>
              <a:ext cx="1469490" cy="259080"/>
            </a:xfrm>
            <a:prstGeom prst="rect">
              <a:avLst/>
            </a:prstGeom>
            <a:noFill/>
            <a:ln>
              <a:noFill/>
            </a:ln>
          </p:spPr>
          <p:txBody>
            <a:bodyPr wrap="none" lIns="0" tIns="0" rIns="0" bIns="0" anchor="t" anchorCtr="0">
              <a:spAutoFit/>
            </a:bodyPr>
            <a:lstStyle/>
            <a:p>
              <a:pPr algn="r"/>
              <a:r>
                <a:rPr lang="zh-CN" sz="1275" b="1" dirty="0">
                  <a:solidFill>
                    <a:srgbClr val="00A6A6"/>
                  </a:solidFill>
                  <a:latin typeface="Arial"/>
                  <a:ea typeface="Microsoft YaHei"/>
                  <a:cs typeface="Arial"/>
                </a:rPr>
                <a:t>+$2.50 / session</a:t>
              </a:r>
            </a:p>
          </p:txBody>
        </p:sp>
      </p:grpSp>
      <p:grpSp>
        <p:nvGrpSpPr>
          <p:cNvPr id="16" name="Group 16"/>
          <p:cNvGrpSpPr/>
          <p:nvPr/>
        </p:nvGrpSpPr>
        <p:grpSpPr>
          <a:xfrm>
            <a:off x="8858250" y="2400300"/>
            <a:ext cx="1756458" cy="214312"/>
            <a:chOff x="8858250" y="2400300"/>
            <a:chExt cx="1756458" cy="214312"/>
          </a:xfrm>
        </p:grpSpPr>
        <p:sp>
          <p:nvSpPr>
            <p:cNvPr id="12" name="Rectangle 12"/>
            <p:cNvSpPr/>
            <p:nvPr/>
          </p:nvSpPr>
          <p:spPr>
            <a:xfrm>
              <a:off x="8858250" y="2400300"/>
              <a:ext cx="133350" cy="133350"/>
            </a:xfrm>
            <a:prstGeom prst="roundRect">
              <a:avLst>
                <a:gd name="adj" fmla="val 14286"/>
              </a:avLst>
            </a:prstGeom>
            <a:solidFill>
              <a:srgbClr val="243B53"/>
            </a:solidFill>
            <a:ln>
              <a:noFill/>
            </a:ln>
          </p:spPr>
        </p:sp>
        <p:sp>
          <p:nvSpPr>
            <p:cNvPr id="13" name="TextBox 13"/>
            <p:cNvSpPr txBox="1"/>
            <p:nvPr/>
          </p:nvSpPr>
          <p:spPr>
            <a:xfrm>
              <a:off x="9054465" y="2401252"/>
              <a:ext cx="53073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Control</a:t>
              </a:r>
            </a:p>
          </p:txBody>
        </p:sp>
        <p:sp>
          <p:nvSpPr>
            <p:cNvPr id="14" name="Rectangle 14"/>
            <p:cNvSpPr/>
            <p:nvPr/>
          </p:nvSpPr>
          <p:spPr>
            <a:xfrm>
              <a:off x="9810750" y="2400300"/>
              <a:ext cx="133350" cy="133350"/>
            </a:xfrm>
            <a:prstGeom prst="roundRect">
              <a:avLst>
                <a:gd name="adj" fmla="val 14286"/>
              </a:avLst>
            </a:prstGeom>
            <a:solidFill>
              <a:srgbClr val="00A6A6"/>
            </a:solidFill>
            <a:ln>
              <a:noFill/>
            </a:ln>
          </p:spPr>
        </p:sp>
        <p:sp>
          <p:nvSpPr>
            <p:cNvPr id="15" name="TextBox 15"/>
            <p:cNvSpPr txBox="1"/>
            <p:nvPr/>
          </p:nvSpPr>
          <p:spPr>
            <a:xfrm>
              <a:off x="10006965" y="2401252"/>
              <a:ext cx="607743" cy="213360"/>
            </a:xfrm>
            <a:prstGeom prst="rect">
              <a:avLst/>
            </a:prstGeom>
            <a:noFill/>
            <a:ln>
              <a:noFill/>
            </a:ln>
          </p:spPr>
          <p:txBody>
            <a:bodyPr wrap="none" lIns="0" tIns="0" rIns="0" bIns="0" anchor="t" anchorCtr="0">
              <a:spAutoFit/>
            </a:bodyPr>
            <a:lstStyle/>
            <a:p>
              <a:pPr algn="l"/>
              <a:r>
                <a:rPr lang="zh-CN" sz="1050" dirty="0">
                  <a:solidFill>
                    <a:srgbClr val="5B677A"/>
                  </a:solidFill>
                  <a:latin typeface="Arial"/>
                  <a:ea typeface="Microsoft YaHei"/>
                  <a:cs typeface="Arial"/>
                </a:rPr>
                <a:t>Redesign</a:t>
              </a:r>
            </a:p>
          </p:txBody>
        </p:sp>
      </p:grpSp>
      <p:grpSp>
        <p:nvGrpSpPr>
          <p:cNvPr id="55" name="Group 55"/>
          <p:cNvGrpSpPr/>
          <p:nvPr/>
        </p:nvGrpSpPr>
        <p:grpSpPr>
          <a:xfrm>
            <a:off x="514350" y="2381250"/>
            <a:ext cx="11163300" cy="3352800"/>
            <a:chOff x="514350" y="2381250"/>
            <a:chExt cx="11163300" cy="3352800"/>
          </a:xfrm>
        </p:grpSpPr>
        <p:sp>
          <p:nvSpPr>
            <p:cNvPr id="17" name="Rectangle 17"/>
            <p:cNvSpPr/>
            <p:nvPr/>
          </p:nvSpPr>
          <p:spPr>
            <a:xfrm>
              <a:off x="514350" y="2381250"/>
              <a:ext cx="5353050" cy="3352800"/>
            </a:xfrm>
            <a:prstGeom prst="roundRect">
              <a:avLst>
                <a:gd name="adj" fmla="val 1705"/>
              </a:avLst>
            </a:prstGeom>
            <a:solidFill>
              <a:srgbClr val="FFFFFF"/>
            </a:solidFill>
            <a:ln w="9525">
              <a:solidFill>
                <a:srgbClr val="D9E1EA"/>
              </a:solidFill>
            </a:ln>
          </p:spPr>
        </p:sp>
        <p:sp>
          <p:nvSpPr>
            <p:cNvPr id="18" name="TextBox 18"/>
            <p:cNvSpPr txBox="1"/>
            <p:nvPr/>
          </p:nvSpPr>
          <p:spPr>
            <a:xfrm>
              <a:off x="784860" y="2651760"/>
              <a:ext cx="1189825" cy="243840"/>
            </a:xfrm>
            <a:prstGeom prst="rect">
              <a:avLst/>
            </a:prstGeom>
            <a:noFill/>
            <a:ln>
              <a:noFill/>
            </a:ln>
          </p:spPr>
          <p:txBody>
            <a:bodyPr wrap="none" lIns="0" tIns="0" rIns="0" bIns="0" anchor="t" anchorCtr="0">
              <a:spAutoFit/>
            </a:bodyPr>
            <a:lstStyle/>
            <a:p>
              <a:pPr algn="l"/>
              <a:r>
                <a:rPr lang="zh-CN" sz="1200" b="1" dirty="0">
                  <a:solidFill>
                    <a:srgbClr val="182230"/>
                  </a:solidFill>
                  <a:latin typeface="Arial"/>
                  <a:ea typeface="Microsoft YaHei"/>
                  <a:cs typeface="Arial"/>
                </a:rPr>
                <a:t>Gross revenue</a:t>
              </a:r>
            </a:p>
          </p:txBody>
        </p:sp>
        <p:sp>
          <p:nvSpPr>
            <p:cNvPr id="19" name="TextBox 19"/>
            <p:cNvSpPr txBox="1"/>
            <p:nvPr/>
          </p:nvSpPr>
          <p:spPr>
            <a:xfrm>
              <a:off x="788670" y="2912745"/>
              <a:ext cx="1024985"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Unit: USD millions</a:t>
              </a:r>
            </a:p>
          </p:txBody>
        </p:sp>
        <p:sp>
          <p:nvSpPr>
            <p:cNvPr id="20" name="Line 20"/>
            <p:cNvSpPr/>
            <p:nvPr/>
          </p:nvSpPr>
          <p:spPr>
            <a:xfrm>
              <a:off x="1143000" y="5191125"/>
              <a:ext cx="4191000" cy="9525"/>
            </a:xfrm>
            <a:custGeom>
              <a:avLst/>
              <a:gdLst/>
              <a:ahLst/>
              <a:cxnLst/>
              <a:rect l="l" t="t" r="r" b="b"/>
              <a:pathLst>
                <a:path w="4191000" h="9525">
                  <a:moveTo>
                    <a:pt x="0" y="0"/>
                  </a:moveTo>
                  <a:lnTo>
                    <a:pt x="4191000" y="0"/>
                  </a:lnTo>
                </a:path>
              </a:pathLst>
            </a:custGeom>
            <a:noFill/>
            <a:ln w="14288">
              <a:solidFill>
                <a:srgbClr val="243B53"/>
              </a:solidFill>
            </a:ln>
          </p:spPr>
        </p:sp>
        <p:sp>
          <p:nvSpPr>
            <p:cNvPr id="21" name="Line 21"/>
            <p:cNvSpPr/>
            <p:nvPr/>
          </p:nvSpPr>
          <p:spPr>
            <a:xfrm>
              <a:off x="1143000" y="2571750"/>
              <a:ext cx="9525" cy="2619375"/>
            </a:xfrm>
            <a:custGeom>
              <a:avLst/>
              <a:gdLst/>
              <a:ahLst/>
              <a:cxnLst/>
              <a:rect l="l" t="t" r="r" b="b"/>
              <a:pathLst>
                <a:path w="9525" h="2619375">
                  <a:moveTo>
                    <a:pt x="0" y="0"/>
                  </a:moveTo>
                  <a:lnTo>
                    <a:pt x="0" y="2619375"/>
                  </a:lnTo>
                </a:path>
              </a:pathLst>
            </a:custGeom>
            <a:noFill/>
            <a:ln w="14288">
              <a:solidFill>
                <a:srgbClr val="243B53"/>
              </a:solidFill>
            </a:ln>
          </p:spPr>
        </p:sp>
        <p:sp>
          <p:nvSpPr>
            <p:cNvPr id="22" name="Line 22"/>
            <p:cNvSpPr/>
            <p:nvPr/>
          </p:nvSpPr>
          <p:spPr>
            <a:xfrm>
              <a:off x="1143000" y="4181475"/>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23" name="Line 23"/>
            <p:cNvSpPr/>
            <p:nvPr/>
          </p:nvSpPr>
          <p:spPr>
            <a:xfrm>
              <a:off x="1143000" y="3171825"/>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24" name="Line 24"/>
            <p:cNvSpPr/>
            <p:nvPr/>
          </p:nvSpPr>
          <p:spPr>
            <a:xfrm>
              <a:off x="1143000" y="2571750"/>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25" name="TextBox 25"/>
            <p:cNvSpPr txBox="1"/>
            <p:nvPr/>
          </p:nvSpPr>
          <p:spPr>
            <a:xfrm>
              <a:off x="913162" y="5141595"/>
              <a:ext cx="88868"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0</a:t>
              </a:r>
            </a:p>
          </p:txBody>
        </p:sp>
        <p:sp>
          <p:nvSpPr>
            <p:cNvPr id="26" name="TextBox 26"/>
            <p:cNvSpPr txBox="1"/>
            <p:nvPr/>
          </p:nvSpPr>
          <p:spPr>
            <a:xfrm>
              <a:off x="781145" y="4131945"/>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0.5</a:t>
              </a:r>
            </a:p>
          </p:txBody>
        </p:sp>
        <p:sp>
          <p:nvSpPr>
            <p:cNvPr id="27" name="TextBox 27"/>
            <p:cNvSpPr txBox="1"/>
            <p:nvPr/>
          </p:nvSpPr>
          <p:spPr>
            <a:xfrm>
              <a:off x="781145" y="3122295"/>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1.0</a:t>
              </a:r>
            </a:p>
          </p:txBody>
        </p:sp>
        <p:sp>
          <p:nvSpPr>
            <p:cNvPr id="28" name="TextBox 28"/>
            <p:cNvSpPr txBox="1"/>
            <p:nvPr/>
          </p:nvSpPr>
          <p:spPr>
            <a:xfrm>
              <a:off x="781145" y="2522220"/>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1.3</a:t>
              </a:r>
            </a:p>
          </p:txBody>
        </p:sp>
        <p:sp>
          <p:nvSpPr>
            <p:cNvPr id="29" name="Rectangle 29"/>
            <p:cNvSpPr/>
            <p:nvPr/>
          </p:nvSpPr>
          <p:spPr>
            <a:xfrm>
              <a:off x="2340292" y="3167062"/>
              <a:ext cx="781050" cy="2024062"/>
            </a:xfrm>
            <a:prstGeom prst="roundRect">
              <a:avLst>
                <a:gd name="adj" fmla="val 4878"/>
              </a:avLst>
            </a:prstGeom>
            <a:solidFill>
              <a:srgbClr val="243B53"/>
            </a:solidFill>
            <a:ln>
              <a:noFill/>
            </a:ln>
          </p:spPr>
        </p:sp>
        <p:sp>
          <p:nvSpPr>
            <p:cNvPr id="30" name="Rectangle 30"/>
            <p:cNvSpPr/>
            <p:nvPr/>
          </p:nvSpPr>
          <p:spPr>
            <a:xfrm>
              <a:off x="3355658" y="2809875"/>
              <a:ext cx="781050" cy="2381250"/>
            </a:xfrm>
            <a:prstGeom prst="roundRect">
              <a:avLst>
                <a:gd name="adj" fmla="val 4878"/>
              </a:avLst>
            </a:prstGeom>
            <a:solidFill>
              <a:srgbClr val="00A6A6"/>
            </a:solidFill>
            <a:ln>
              <a:noFill/>
            </a:ln>
          </p:spPr>
        </p:sp>
        <p:sp>
          <p:nvSpPr>
            <p:cNvPr id="31" name="TextBox 31"/>
            <p:cNvSpPr txBox="1"/>
            <p:nvPr/>
          </p:nvSpPr>
          <p:spPr>
            <a:xfrm>
              <a:off x="2419770" y="2891790"/>
              <a:ext cx="622094"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$1.005M</a:t>
              </a:r>
            </a:p>
          </p:txBody>
        </p:sp>
        <p:sp>
          <p:nvSpPr>
            <p:cNvPr id="32" name="TextBox 32"/>
            <p:cNvSpPr txBox="1"/>
            <p:nvPr/>
          </p:nvSpPr>
          <p:spPr>
            <a:xfrm>
              <a:off x="3435135" y="2534602"/>
              <a:ext cx="622094"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a:ea typeface="Microsoft YaHei"/>
                  <a:cs typeface="Arial"/>
                </a:rPr>
                <a:t>$1.182M</a:t>
              </a:r>
            </a:p>
          </p:txBody>
        </p:sp>
        <p:sp>
          <p:nvSpPr>
            <p:cNvPr id="33" name="TextBox 33"/>
            <p:cNvSpPr txBox="1"/>
            <p:nvPr/>
          </p:nvSpPr>
          <p:spPr>
            <a:xfrm>
              <a:off x="2465451" y="5354002"/>
              <a:ext cx="530733" cy="213360"/>
            </a:xfrm>
            <a:prstGeom prst="rect">
              <a:avLst/>
            </a:prstGeom>
            <a:noFill/>
            <a:ln>
              <a:noFill/>
            </a:ln>
          </p:spPr>
          <p:txBody>
            <a:bodyPr wrap="none" lIns="0" tIns="0" rIns="0" bIns="0" anchor="t" anchorCtr="0">
              <a:spAutoFit/>
            </a:bodyPr>
            <a:lstStyle/>
            <a:p>
              <a:pPr algn="ctr"/>
              <a:r>
                <a:rPr lang="zh-CN" sz="1050" dirty="0">
                  <a:solidFill>
                    <a:srgbClr val="5B677A"/>
                  </a:solidFill>
                  <a:latin typeface="Arial"/>
                  <a:ea typeface="Microsoft YaHei"/>
                  <a:cs typeface="Arial"/>
                </a:rPr>
                <a:t>Control</a:t>
              </a:r>
            </a:p>
          </p:txBody>
        </p:sp>
        <p:sp>
          <p:nvSpPr>
            <p:cNvPr id="34" name="TextBox 34"/>
            <p:cNvSpPr txBox="1"/>
            <p:nvPr/>
          </p:nvSpPr>
          <p:spPr>
            <a:xfrm>
              <a:off x="3442311" y="5354002"/>
              <a:ext cx="607743" cy="213360"/>
            </a:xfrm>
            <a:prstGeom prst="rect">
              <a:avLst/>
            </a:prstGeom>
            <a:noFill/>
            <a:ln>
              <a:noFill/>
            </a:ln>
          </p:spPr>
          <p:txBody>
            <a:bodyPr wrap="none" lIns="0" tIns="0" rIns="0" bIns="0" anchor="t" anchorCtr="0">
              <a:spAutoFit/>
            </a:bodyPr>
            <a:lstStyle/>
            <a:p>
              <a:pPr algn="ctr"/>
              <a:r>
                <a:rPr lang="zh-CN" sz="1050" dirty="0">
                  <a:solidFill>
                    <a:srgbClr val="5B677A"/>
                  </a:solidFill>
                  <a:latin typeface="Arial"/>
                  <a:ea typeface="Microsoft YaHei"/>
                  <a:cs typeface="Arial"/>
                </a:rPr>
                <a:t>Redesign</a:t>
              </a:r>
            </a:p>
          </p:txBody>
        </p:sp>
        <p:sp>
          <p:nvSpPr>
            <p:cNvPr id="35" name="Rectangle 35"/>
            <p:cNvSpPr/>
            <p:nvPr/>
          </p:nvSpPr>
          <p:spPr>
            <a:xfrm>
              <a:off x="6324600" y="2381250"/>
              <a:ext cx="5353050" cy="3352800"/>
            </a:xfrm>
            <a:prstGeom prst="roundRect">
              <a:avLst>
                <a:gd name="adj" fmla="val 1705"/>
              </a:avLst>
            </a:prstGeom>
            <a:solidFill>
              <a:srgbClr val="FFFFFF"/>
            </a:solidFill>
            <a:ln w="9525">
              <a:solidFill>
                <a:srgbClr val="D9E1EA"/>
              </a:solidFill>
            </a:ln>
          </p:spPr>
        </p:sp>
        <p:sp>
          <p:nvSpPr>
            <p:cNvPr id="36" name="TextBox 36"/>
            <p:cNvSpPr txBox="1"/>
            <p:nvPr/>
          </p:nvSpPr>
          <p:spPr>
            <a:xfrm>
              <a:off x="6595110" y="2651760"/>
              <a:ext cx="1660284" cy="243840"/>
            </a:xfrm>
            <a:prstGeom prst="rect">
              <a:avLst/>
            </a:prstGeom>
            <a:noFill/>
            <a:ln>
              <a:noFill/>
            </a:ln>
          </p:spPr>
          <p:txBody>
            <a:bodyPr wrap="none" lIns="0" tIns="0" rIns="0" bIns="0" anchor="t" anchorCtr="0">
              <a:spAutoFit/>
            </a:bodyPr>
            <a:lstStyle/>
            <a:p>
              <a:pPr algn="l"/>
              <a:r>
                <a:rPr lang="zh-CN" sz="1200" b="1" dirty="0">
                  <a:solidFill>
                    <a:srgbClr val="182230"/>
                  </a:solidFill>
                  <a:latin typeface="Arial"/>
                  <a:ea typeface="Microsoft YaHei"/>
                  <a:cs typeface="Arial"/>
                </a:rPr>
                <a:t>Revenue per session</a:t>
              </a:r>
            </a:p>
          </p:txBody>
        </p:sp>
        <p:sp>
          <p:nvSpPr>
            <p:cNvPr id="37" name="TextBox 37"/>
            <p:cNvSpPr txBox="1"/>
            <p:nvPr/>
          </p:nvSpPr>
          <p:spPr>
            <a:xfrm>
              <a:off x="6598920" y="2912745"/>
              <a:ext cx="125901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Unit: USD per session</a:t>
              </a:r>
            </a:p>
          </p:txBody>
        </p:sp>
        <p:sp>
          <p:nvSpPr>
            <p:cNvPr id="38" name="Line 38"/>
            <p:cNvSpPr/>
            <p:nvPr/>
          </p:nvSpPr>
          <p:spPr>
            <a:xfrm>
              <a:off x="6953250" y="5191125"/>
              <a:ext cx="4191000" cy="9525"/>
            </a:xfrm>
            <a:custGeom>
              <a:avLst/>
              <a:gdLst/>
              <a:ahLst/>
              <a:cxnLst/>
              <a:rect l="l" t="t" r="r" b="b"/>
              <a:pathLst>
                <a:path w="4191000" h="9525">
                  <a:moveTo>
                    <a:pt x="0" y="0"/>
                  </a:moveTo>
                  <a:lnTo>
                    <a:pt x="4191000" y="0"/>
                  </a:lnTo>
                </a:path>
              </a:pathLst>
            </a:custGeom>
            <a:noFill/>
            <a:ln w="14288">
              <a:solidFill>
                <a:srgbClr val="243B53"/>
              </a:solidFill>
            </a:ln>
          </p:spPr>
        </p:sp>
        <p:sp>
          <p:nvSpPr>
            <p:cNvPr id="39" name="Line 39"/>
            <p:cNvSpPr/>
            <p:nvPr/>
          </p:nvSpPr>
          <p:spPr>
            <a:xfrm>
              <a:off x="6953250" y="2571750"/>
              <a:ext cx="9525" cy="2619375"/>
            </a:xfrm>
            <a:custGeom>
              <a:avLst/>
              <a:gdLst/>
              <a:ahLst/>
              <a:cxnLst/>
              <a:rect l="l" t="t" r="r" b="b"/>
              <a:pathLst>
                <a:path w="9525" h="2619375">
                  <a:moveTo>
                    <a:pt x="0" y="0"/>
                  </a:moveTo>
                  <a:lnTo>
                    <a:pt x="0" y="2619375"/>
                  </a:lnTo>
                </a:path>
              </a:pathLst>
            </a:custGeom>
            <a:noFill/>
            <a:ln w="14288">
              <a:solidFill>
                <a:srgbClr val="243B53"/>
              </a:solidFill>
            </a:ln>
          </p:spPr>
        </p:sp>
        <p:sp>
          <p:nvSpPr>
            <p:cNvPr id="40" name="Line 40"/>
            <p:cNvSpPr/>
            <p:nvPr/>
          </p:nvSpPr>
          <p:spPr>
            <a:xfrm>
              <a:off x="6953250" y="4467225"/>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41" name="Line 41"/>
            <p:cNvSpPr/>
            <p:nvPr/>
          </p:nvSpPr>
          <p:spPr>
            <a:xfrm>
              <a:off x="6953250" y="3733800"/>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42" name="Line 42"/>
            <p:cNvSpPr/>
            <p:nvPr/>
          </p:nvSpPr>
          <p:spPr>
            <a:xfrm>
              <a:off x="6953250" y="3009900"/>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43" name="Line 43"/>
            <p:cNvSpPr/>
            <p:nvPr/>
          </p:nvSpPr>
          <p:spPr>
            <a:xfrm>
              <a:off x="6953250" y="2571750"/>
              <a:ext cx="4191000" cy="9525"/>
            </a:xfrm>
            <a:custGeom>
              <a:avLst/>
              <a:gdLst/>
              <a:ahLst/>
              <a:cxnLst/>
              <a:rect l="l" t="t" r="r" b="b"/>
              <a:pathLst>
                <a:path w="4191000" h="9525">
                  <a:moveTo>
                    <a:pt x="0" y="0"/>
                  </a:moveTo>
                  <a:lnTo>
                    <a:pt x="4191000" y="0"/>
                  </a:lnTo>
                </a:path>
              </a:pathLst>
            </a:custGeom>
            <a:noFill/>
            <a:ln w="9525">
              <a:solidFill>
                <a:srgbClr val="E8EEF5"/>
              </a:solidFill>
            </a:ln>
          </p:spPr>
        </p:sp>
        <p:sp>
          <p:nvSpPr>
            <p:cNvPr id="44" name="TextBox 44"/>
            <p:cNvSpPr txBox="1"/>
            <p:nvPr/>
          </p:nvSpPr>
          <p:spPr>
            <a:xfrm>
              <a:off x="6657403" y="5141595"/>
              <a:ext cx="154877"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$0</a:t>
              </a:r>
            </a:p>
          </p:txBody>
        </p:sp>
        <p:sp>
          <p:nvSpPr>
            <p:cNvPr id="45" name="TextBox 45"/>
            <p:cNvSpPr txBox="1"/>
            <p:nvPr/>
          </p:nvSpPr>
          <p:spPr>
            <a:xfrm>
              <a:off x="6657403" y="4417695"/>
              <a:ext cx="154877"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$5</a:t>
              </a:r>
            </a:p>
          </p:txBody>
        </p:sp>
        <p:sp>
          <p:nvSpPr>
            <p:cNvPr id="46" name="TextBox 46"/>
            <p:cNvSpPr txBox="1"/>
            <p:nvPr/>
          </p:nvSpPr>
          <p:spPr>
            <a:xfrm>
              <a:off x="6591395" y="3684270"/>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$10</a:t>
              </a:r>
            </a:p>
          </p:txBody>
        </p:sp>
        <p:sp>
          <p:nvSpPr>
            <p:cNvPr id="47" name="TextBox 47"/>
            <p:cNvSpPr txBox="1"/>
            <p:nvPr/>
          </p:nvSpPr>
          <p:spPr>
            <a:xfrm>
              <a:off x="6591395" y="2960370"/>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$15</a:t>
              </a:r>
            </a:p>
          </p:txBody>
        </p:sp>
        <p:sp>
          <p:nvSpPr>
            <p:cNvPr id="48" name="TextBox 48"/>
            <p:cNvSpPr txBox="1"/>
            <p:nvPr/>
          </p:nvSpPr>
          <p:spPr>
            <a:xfrm>
              <a:off x="6591395" y="2522220"/>
              <a:ext cx="220885" cy="182880"/>
            </a:xfrm>
            <a:prstGeom prst="rect">
              <a:avLst/>
            </a:prstGeom>
            <a:noFill/>
            <a:ln>
              <a:noFill/>
            </a:ln>
          </p:spPr>
          <p:txBody>
            <a:bodyPr wrap="none" lIns="0" tIns="0" rIns="0" bIns="0" anchor="t" anchorCtr="0">
              <a:spAutoFit/>
            </a:bodyPr>
            <a:lstStyle/>
            <a:p>
              <a:pPr algn="r"/>
              <a:r>
                <a:rPr lang="zh-CN" sz="900" dirty="0">
                  <a:solidFill>
                    <a:srgbClr val="5B677A"/>
                  </a:solidFill>
                  <a:latin typeface="Arial"/>
                  <a:ea typeface="Microsoft YaHei"/>
                  <a:cs typeface="Arial"/>
                </a:rPr>
                <a:t>$18</a:t>
              </a:r>
            </a:p>
          </p:txBody>
        </p:sp>
        <p:sp>
          <p:nvSpPr>
            <p:cNvPr id="49" name="Rectangle 49"/>
            <p:cNvSpPr/>
            <p:nvPr/>
          </p:nvSpPr>
          <p:spPr>
            <a:xfrm>
              <a:off x="8150542" y="3198495"/>
              <a:ext cx="781050" cy="1992630"/>
            </a:xfrm>
            <a:prstGeom prst="roundRect">
              <a:avLst>
                <a:gd name="adj" fmla="val 4878"/>
              </a:avLst>
            </a:prstGeom>
            <a:solidFill>
              <a:srgbClr val="243B53"/>
            </a:solidFill>
            <a:ln>
              <a:noFill/>
            </a:ln>
          </p:spPr>
        </p:sp>
        <p:sp>
          <p:nvSpPr>
            <p:cNvPr id="50" name="Rectangle 50"/>
            <p:cNvSpPr/>
            <p:nvPr/>
          </p:nvSpPr>
          <p:spPr>
            <a:xfrm>
              <a:off x="9165908" y="2835592"/>
              <a:ext cx="781050" cy="2355532"/>
            </a:xfrm>
            <a:prstGeom prst="roundRect">
              <a:avLst>
                <a:gd name="adj" fmla="val 4878"/>
              </a:avLst>
            </a:prstGeom>
            <a:solidFill>
              <a:srgbClr val="00A6A6"/>
            </a:solidFill>
            <a:ln>
              <a:noFill/>
            </a:ln>
          </p:spPr>
        </p:sp>
        <p:sp>
          <p:nvSpPr>
            <p:cNvPr id="51" name="TextBox 51"/>
            <p:cNvSpPr txBox="1"/>
            <p:nvPr/>
          </p:nvSpPr>
          <p:spPr>
            <a:xfrm>
              <a:off x="8285152" y="2923223"/>
              <a:ext cx="511831" cy="213360"/>
            </a:xfrm>
            <a:prstGeom prst="rect">
              <a:avLst/>
            </a:prstGeom>
            <a:noFill/>
            <a:ln>
              <a:noFill/>
            </a:ln>
          </p:spPr>
          <p:txBody>
            <a:bodyPr wrap="none" lIns="0" tIns="0" rIns="0" bIns="0" anchor="t" anchorCtr="0">
              <a:spAutoFit/>
            </a:bodyPr>
            <a:lstStyle/>
            <a:p>
              <a:pPr algn="ctr"/>
              <a:r>
                <a:rPr lang="zh-CN" sz="1050" b="1" dirty="0">
                  <a:solidFill>
                    <a:srgbClr val="182230"/>
                  </a:solidFill>
                  <a:latin typeface="Arial"/>
                  <a:ea typeface="Microsoft YaHei"/>
                  <a:cs typeface="Arial"/>
                </a:rPr>
                <a:t>$13.69</a:t>
              </a:r>
            </a:p>
          </p:txBody>
        </p:sp>
        <p:sp>
          <p:nvSpPr>
            <p:cNvPr id="52" name="TextBox 52"/>
            <p:cNvSpPr txBox="1"/>
            <p:nvPr/>
          </p:nvSpPr>
          <p:spPr>
            <a:xfrm>
              <a:off x="9300517" y="2560320"/>
              <a:ext cx="511831"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a:ea typeface="Microsoft YaHei"/>
                  <a:cs typeface="Arial"/>
                </a:rPr>
                <a:t>$16.19</a:t>
              </a:r>
            </a:p>
          </p:txBody>
        </p:sp>
        <p:sp>
          <p:nvSpPr>
            <p:cNvPr id="53" name="TextBox 53"/>
            <p:cNvSpPr txBox="1"/>
            <p:nvPr/>
          </p:nvSpPr>
          <p:spPr>
            <a:xfrm>
              <a:off x="8275701" y="5354002"/>
              <a:ext cx="530733" cy="213360"/>
            </a:xfrm>
            <a:prstGeom prst="rect">
              <a:avLst/>
            </a:prstGeom>
            <a:noFill/>
            <a:ln>
              <a:noFill/>
            </a:ln>
          </p:spPr>
          <p:txBody>
            <a:bodyPr wrap="none" lIns="0" tIns="0" rIns="0" bIns="0" anchor="t" anchorCtr="0">
              <a:spAutoFit/>
            </a:bodyPr>
            <a:lstStyle/>
            <a:p>
              <a:pPr algn="ctr"/>
              <a:r>
                <a:rPr lang="zh-CN" sz="1050" dirty="0">
                  <a:solidFill>
                    <a:srgbClr val="5B677A"/>
                  </a:solidFill>
                  <a:latin typeface="Arial"/>
                  <a:ea typeface="Microsoft YaHei"/>
                  <a:cs typeface="Arial"/>
                </a:rPr>
                <a:t>Control</a:t>
              </a:r>
            </a:p>
          </p:txBody>
        </p:sp>
        <p:sp>
          <p:nvSpPr>
            <p:cNvPr id="54" name="TextBox 54"/>
            <p:cNvSpPr txBox="1"/>
            <p:nvPr/>
          </p:nvSpPr>
          <p:spPr>
            <a:xfrm>
              <a:off x="9252561" y="5354002"/>
              <a:ext cx="607743" cy="213360"/>
            </a:xfrm>
            <a:prstGeom prst="rect">
              <a:avLst/>
            </a:prstGeom>
            <a:noFill/>
            <a:ln>
              <a:noFill/>
            </a:ln>
          </p:spPr>
          <p:txBody>
            <a:bodyPr wrap="none" lIns="0" tIns="0" rIns="0" bIns="0" anchor="t" anchorCtr="0">
              <a:spAutoFit/>
            </a:bodyPr>
            <a:lstStyle/>
            <a:p>
              <a:pPr algn="ctr"/>
              <a:r>
                <a:rPr lang="zh-CN" sz="1050" dirty="0">
                  <a:solidFill>
                    <a:srgbClr val="5B677A"/>
                  </a:solidFill>
                  <a:latin typeface="Arial"/>
                  <a:ea typeface="Microsoft YaHei"/>
                  <a:cs typeface="Arial"/>
                </a:rPr>
                <a:t>Redesign</a:t>
              </a:r>
            </a:p>
          </p:txBody>
        </p:sp>
      </p:grpSp>
      <p:grpSp>
        <p:nvGrpSpPr>
          <p:cNvPr id="57" name="Group 57"/>
          <p:cNvGrpSpPr/>
          <p:nvPr/>
        </p:nvGrpSpPr>
        <p:grpSpPr>
          <a:xfrm>
            <a:off x="500062" y="5898356"/>
            <a:ext cx="6276856" cy="228600"/>
            <a:chOff x="500062" y="5898356"/>
            <a:chExt cx="6276856" cy="228600"/>
          </a:xfrm>
        </p:grpSpPr>
        <p:sp>
          <p:nvSpPr>
            <p:cNvPr id="56" name="TextBox 56"/>
            <p:cNvSpPr txBox="1"/>
            <p:nvPr/>
          </p:nvSpPr>
          <p:spPr>
            <a:xfrm>
              <a:off x="500062" y="5898356"/>
              <a:ext cx="6276856" cy="228600"/>
            </a:xfrm>
            <a:prstGeom prst="rect">
              <a:avLst/>
            </a:prstGeom>
            <a:noFill/>
            <a:ln>
              <a:noFill/>
            </a:ln>
          </p:spPr>
          <p:txBody>
            <a:bodyPr wrap="none" lIns="0" tIns="0" rIns="0" bIns="0" anchor="t" anchorCtr="0">
              <a:spAutoFit/>
            </a:bodyPr>
            <a:lstStyle/>
            <a:p>
              <a:pPr algn="l"/>
              <a:r>
                <a:rPr lang="zh-CN" sz="1125" b="1" dirty="0">
                  <a:solidFill>
                    <a:srgbClr val="00A6A6"/>
                  </a:solidFill>
                  <a:latin typeface="Arial"/>
                  <a:ea typeface="Microsoft YaHei"/>
                  <a:cs typeface="Arial"/>
                </a:rPr>
                <a:t>So what:</a:t>
              </a:r>
              <a:r>
                <a:rPr lang="zh-CN" sz="1125" dirty="0">
                  <a:solidFill>
                    <a:srgbClr val="182230"/>
                  </a:solidFill>
                  <a:latin typeface="Arial"/>
                  <a:ea typeface="Microsoft YaHei"/>
                  <a:cs typeface="Arial"/>
                </a:rPr>
                <a:t xml:space="preserve"> </a:t>
              </a:r>
              <a:r>
                <a:rPr lang="zh-CN" sz="1125" dirty="0">
                  <a:solidFill>
                    <a:srgbClr val="182230"/>
                  </a:solidFill>
                  <a:latin typeface="Arial"/>
                  <a:ea typeface="Microsoft YaHei"/>
                  <a:cs typeface="Arial"/>
                </a:rPr>
                <a:t xml:space="preserve"> the redesign improves economics even after normalizing by traffic volume.</a:t>
              </a:r>
            </a:p>
          </p:txBody>
        </p:sp>
      </p:grpSp>
      <p:grpSp>
        <p:nvGrpSpPr>
          <p:cNvPr id="60" name="Group 60"/>
          <p:cNvGrpSpPr/>
          <p:nvPr/>
        </p:nvGrpSpPr>
        <p:grpSpPr>
          <a:xfrm>
            <a:off x="502920" y="6265545"/>
            <a:ext cx="11186160" cy="335280"/>
            <a:chOff x="502920" y="6265545"/>
            <a:chExt cx="11186160" cy="335280"/>
          </a:xfrm>
        </p:grpSpPr>
        <p:sp>
          <p:nvSpPr>
            <p:cNvPr id="58" name="TextBox 58"/>
            <p:cNvSpPr txBox="1"/>
            <p:nvPr/>
          </p:nvSpPr>
          <p:spPr>
            <a:xfrm>
              <a:off x="502920" y="6265545"/>
              <a:ext cx="4954905"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checkout_experiment_results.csv. </a:t>
              </a:r>
              <a:r>
                <a:rPr lang="zh-CN" sz="900" dirty="0">
                  <a:solidFill>
                    <a:srgbClr val="8A94A6"/>
                  </a:solidFill>
                  <a:latin typeface="Arial"/>
                  <a:ea typeface="Microsoft YaHei"/>
                  <a:cs typeface="Arial"/>
                </a:rPr>
                <a:t>Gross revenue excludes refunds because source reports gross_revenue_usd separately.</a:t>
              </a:r>
            </a:p>
          </p:txBody>
        </p:sp>
        <p:sp>
          <p:nvSpPr>
            <p:cNvPr id="59" name="TextBox 59"/>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4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400"/>
                                        <p:tgtEl>
                                          <p:spTgt spid="1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ipe(left)">
                                      <p:cBhvr>
                                        <p:cTn id="15" dur="400"/>
                                        <p:tgtEl>
                                          <p:spTgt spid="55"/>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image">
                                      <p:cBhvr>
                                        <p:cTn id="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55"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6" name="Group 6"/>
          <p:cNvGrpSpPr/>
          <p:nvPr/>
        </p:nvGrpSpPr>
        <p:grpSpPr>
          <a:xfrm>
            <a:off x="481965" y="447199"/>
            <a:ext cx="10936779" cy="1102995"/>
            <a:chOff x="481965" y="447199"/>
            <a:chExt cx="10936779" cy="1102995"/>
          </a:xfrm>
        </p:grpSpPr>
        <p:sp>
          <p:nvSpPr>
            <p:cNvPr id="3" name="TextBox 3"/>
            <p:cNvSpPr txBox="1"/>
            <p:nvPr/>
          </p:nvSpPr>
          <p:spPr>
            <a:xfrm>
              <a:off x="501968" y="447199"/>
              <a:ext cx="741480"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GUARDRAILS</a:t>
              </a:r>
            </a:p>
          </p:txBody>
        </p:sp>
        <p:sp>
          <p:nvSpPr>
            <p:cNvPr id="4" name="TextBox 4"/>
            <p:cNvSpPr txBox="1"/>
            <p:nvPr/>
          </p:nvSpPr>
          <p:spPr>
            <a:xfrm>
              <a:off x="481965" y="639128"/>
              <a:ext cx="10936779" cy="518160"/>
            </a:xfrm>
            <a:prstGeom prst="rect">
              <a:avLst/>
            </a:prstGeom>
            <a:noFill/>
            <a:ln>
              <a:noFill/>
            </a:ln>
          </p:spPr>
          <p:txBody>
            <a:bodyPr wrap="none" lIns="0" tIns="0" rIns="0" bIns="0" anchor="t" anchorCtr="0">
              <a:spAutoFit/>
            </a:bodyPr>
            <a:lstStyle/>
            <a:p>
              <a:pPr algn="l"/>
              <a:r>
                <a:rPr lang="zh-CN" sz="2550" b="1" dirty="0">
                  <a:solidFill>
                    <a:srgbClr val="182230"/>
                  </a:solidFill>
                  <a:latin typeface="Georgia"/>
                  <a:ea typeface="Microsoft YaHei"/>
                  <a:cs typeface="Georgia"/>
                </a:rPr>
                <a:t>Refund and support rates hold, but page-load latency worsens</a:t>
              </a:r>
            </a:p>
          </p:txBody>
        </p:sp>
        <p:sp>
          <p:nvSpPr>
            <p:cNvPr id="5" name="TextBox 5"/>
            <p:cNvSpPr txBox="1"/>
            <p:nvPr/>
          </p:nvSpPr>
          <p:spPr>
            <a:xfrm>
              <a:off x="498158" y="1062514"/>
              <a:ext cx="4922520" cy="487680"/>
            </a:xfrm>
            <a:prstGeom prst="rect">
              <a:avLst/>
            </a:prstGeom>
            <a:noFill/>
            <a:ln>
              <a:noFill/>
            </a:ln>
          </p:spPr>
          <p:txBody>
            <a:bodyPr wrap="square" lIns="0" tIns="0" rIns="0" bIns="0" anchor="t" anchorCtr="0"/>
            <a:lstStyle/>
            <a:p>
              <a:pPr algn="l">
                <a:lnSpc>
                  <a:spcPts val="1800"/>
                </a:lnSpc>
              </a:pPr>
              <a:r>
                <a:rPr lang="zh-CN" sz="1275" dirty="0">
                  <a:solidFill>
                    <a:srgbClr val="5B677A"/>
                  </a:solidFill>
                  <a:latin typeface="Arial"/>
                  <a:ea typeface="Microsoft YaHei"/>
                  <a:cs typeface="Arial"/>
                </a:rPr>
                <a:t xml:space="preserve">Risk is concentrated in load time, especially mobile segments; </a:t>
              </a:r>
              <a:r>
                <a:rPr lang="zh-CN" sz="1275" dirty="0">
                  <a:solidFill>
                    <a:srgbClr val="5B677A"/>
                  </a:solidFill>
                  <a:latin typeface="Arial"/>
                  <a:ea typeface="Microsoft YaHei"/>
                  <a:cs typeface="Arial"/>
                </a:rPr>
                <a:t>service and refund guardrails remain stable.</a:t>
              </a:r>
            </a:p>
          </p:txBody>
        </p:sp>
      </p:grpSp>
      <p:grpSp>
        <p:nvGrpSpPr>
          <p:cNvPr id="65" name="Group 65"/>
          <p:cNvGrpSpPr/>
          <p:nvPr/>
        </p:nvGrpSpPr>
        <p:grpSpPr>
          <a:xfrm>
            <a:off x="514350" y="1543050"/>
            <a:ext cx="11163300" cy="4191000"/>
            <a:chOff x="514350" y="1543050"/>
            <a:chExt cx="11163300" cy="4191000"/>
          </a:xfrm>
        </p:grpSpPr>
        <p:sp>
          <p:nvSpPr>
            <p:cNvPr id="7" name="Rectangle 7"/>
            <p:cNvSpPr/>
            <p:nvPr/>
          </p:nvSpPr>
          <p:spPr>
            <a:xfrm>
              <a:off x="514350" y="1543050"/>
              <a:ext cx="11163300" cy="4191000"/>
            </a:xfrm>
            <a:prstGeom prst="roundRect">
              <a:avLst>
                <a:gd name="adj" fmla="val 1364"/>
              </a:avLst>
            </a:prstGeom>
            <a:solidFill>
              <a:srgbClr val="FFFFFF"/>
            </a:solidFill>
            <a:ln w="9525">
              <a:solidFill>
                <a:srgbClr val="D9E1EA"/>
              </a:solidFill>
            </a:ln>
          </p:spPr>
        </p:sp>
        <p:sp>
          <p:nvSpPr>
            <p:cNvPr id="8" name="Line 8"/>
            <p:cNvSpPr/>
            <p:nvPr/>
          </p:nvSpPr>
          <p:spPr>
            <a:xfrm>
              <a:off x="762000" y="2095500"/>
              <a:ext cx="10668000" cy="9525"/>
            </a:xfrm>
            <a:custGeom>
              <a:avLst/>
              <a:gdLst/>
              <a:ahLst/>
              <a:cxnLst/>
              <a:rect l="l" t="t" r="r" b="b"/>
              <a:pathLst>
                <a:path w="10668000" h="9525">
                  <a:moveTo>
                    <a:pt x="0" y="0"/>
                  </a:moveTo>
                  <a:lnTo>
                    <a:pt x="10668000" y="0"/>
                  </a:lnTo>
                </a:path>
              </a:pathLst>
            </a:custGeom>
            <a:noFill/>
            <a:ln w="19050">
              <a:solidFill>
                <a:srgbClr val="243B53"/>
              </a:solidFill>
            </a:ln>
          </p:spPr>
        </p:sp>
        <p:sp>
          <p:nvSpPr>
            <p:cNvPr id="9" name="TextBox 9"/>
            <p:cNvSpPr txBox="1"/>
            <p:nvPr/>
          </p:nvSpPr>
          <p:spPr>
            <a:xfrm>
              <a:off x="788670" y="1807845"/>
              <a:ext cx="615134" cy="182880"/>
            </a:xfrm>
            <a:prstGeom prst="rect">
              <a:avLst/>
            </a:prstGeom>
            <a:noFill/>
            <a:ln>
              <a:noFill/>
            </a:ln>
          </p:spPr>
          <p:txBody>
            <a:bodyPr wrap="none" lIns="0" tIns="0" rIns="0" bIns="0" anchor="t" anchorCtr="0">
              <a:spAutoFit/>
            </a:bodyPr>
            <a:lstStyle/>
            <a:p>
              <a:pPr algn="l"/>
              <a:r>
                <a:rPr lang="zh-CN" sz="900" b="1" dirty="0">
                  <a:solidFill>
                    <a:srgbClr val="8A94A6"/>
                  </a:solidFill>
                  <a:latin typeface="Arial"/>
                  <a:ea typeface="Microsoft YaHei"/>
                  <a:cs typeface="Arial"/>
                </a:rPr>
                <a:t>GUARDRAIL</a:t>
              </a:r>
            </a:p>
          </p:txBody>
        </p:sp>
        <p:sp>
          <p:nvSpPr>
            <p:cNvPr id="10" name="TextBox 10"/>
            <p:cNvSpPr txBox="1"/>
            <p:nvPr/>
          </p:nvSpPr>
          <p:spPr>
            <a:xfrm>
              <a:off x="3148703" y="1807845"/>
              <a:ext cx="558427" cy="182880"/>
            </a:xfrm>
            <a:prstGeom prst="rect">
              <a:avLst/>
            </a:prstGeom>
            <a:noFill/>
            <a:ln>
              <a:noFill/>
            </a:ln>
          </p:spPr>
          <p:txBody>
            <a:bodyPr wrap="none" lIns="0" tIns="0" rIns="0" bIns="0" anchor="t" anchorCtr="0">
              <a:spAutoFit/>
            </a:bodyPr>
            <a:lstStyle/>
            <a:p>
              <a:pPr algn="r"/>
              <a:r>
                <a:rPr lang="zh-CN" sz="900" b="1" dirty="0">
                  <a:solidFill>
                    <a:srgbClr val="8A94A6"/>
                  </a:solidFill>
                  <a:latin typeface="Arial"/>
                  <a:ea typeface="Microsoft YaHei"/>
                  <a:cs typeface="Arial"/>
                </a:rPr>
                <a:t>CONTROL</a:t>
              </a:r>
            </a:p>
          </p:txBody>
        </p:sp>
        <p:sp>
          <p:nvSpPr>
            <p:cNvPr id="11" name="TextBox 11"/>
            <p:cNvSpPr txBox="1"/>
            <p:nvPr/>
          </p:nvSpPr>
          <p:spPr>
            <a:xfrm>
              <a:off x="4532905" y="1807845"/>
              <a:ext cx="545825" cy="182880"/>
            </a:xfrm>
            <a:prstGeom prst="rect">
              <a:avLst/>
            </a:prstGeom>
            <a:noFill/>
            <a:ln>
              <a:noFill/>
            </a:ln>
          </p:spPr>
          <p:txBody>
            <a:bodyPr wrap="none" lIns="0" tIns="0" rIns="0" bIns="0" anchor="t" anchorCtr="0">
              <a:spAutoFit/>
            </a:bodyPr>
            <a:lstStyle/>
            <a:p>
              <a:pPr algn="r"/>
              <a:r>
                <a:rPr lang="zh-CN" sz="900" b="1" dirty="0">
                  <a:solidFill>
                    <a:srgbClr val="8A94A6"/>
                  </a:solidFill>
                  <a:latin typeface="Arial"/>
                  <a:ea typeface="Microsoft YaHei"/>
                  <a:cs typeface="Arial"/>
                </a:rPr>
                <a:t>REDESIGN</a:t>
              </a:r>
            </a:p>
          </p:txBody>
        </p:sp>
        <p:sp>
          <p:nvSpPr>
            <p:cNvPr id="12" name="TextBox 12"/>
            <p:cNvSpPr txBox="1"/>
            <p:nvPr/>
          </p:nvSpPr>
          <p:spPr>
            <a:xfrm>
              <a:off x="6276694" y="1807845"/>
              <a:ext cx="438712" cy="182880"/>
            </a:xfrm>
            <a:prstGeom prst="rect">
              <a:avLst/>
            </a:prstGeom>
            <a:noFill/>
            <a:ln>
              <a:noFill/>
            </a:ln>
          </p:spPr>
          <p:txBody>
            <a:bodyPr wrap="none" lIns="0" tIns="0" rIns="0" bIns="0" anchor="t" anchorCtr="0">
              <a:spAutoFit/>
            </a:bodyPr>
            <a:lstStyle/>
            <a:p>
              <a:pPr algn="ctr"/>
              <a:r>
                <a:rPr lang="zh-CN" sz="900" b="1" dirty="0">
                  <a:solidFill>
                    <a:srgbClr val="8A94A6"/>
                  </a:solidFill>
                  <a:latin typeface="Arial"/>
                  <a:ea typeface="Microsoft YaHei"/>
                  <a:cs typeface="Arial"/>
                </a:rPr>
                <a:t>CHANGE</a:t>
              </a:r>
            </a:p>
          </p:txBody>
        </p:sp>
        <p:sp>
          <p:nvSpPr>
            <p:cNvPr id="13" name="TextBox 13"/>
            <p:cNvSpPr txBox="1"/>
            <p:nvPr/>
          </p:nvSpPr>
          <p:spPr>
            <a:xfrm>
              <a:off x="7914994" y="1807845"/>
              <a:ext cx="438712" cy="182880"/>
            </a:xfrm>
            <a:prstGeom prst="rect">
              <a:avLst/>
            </a:prstGeom>
            <a:noFill/>
            <a:ln>
              <a:noFill/>
            </a:ln>
          </p:spPr>
          <p:txBody>
            <a:bodyPr wrap="none" lIns="0" tIns="0" rIns="0" bIns="0" anchor="t" anchorCtr="0">
              <a:spAutoFit/>
            </a:bodyPr>
            <a:lstStyle/>
            <a:p>
              <a:pPr algn="ctr"/>
              <a:r>
                <a:rPr lang="zh-CN" sz="900" b="1" dirty="0">
                  <a:solidFill>
                    <a:srgbClr val="8A94A6"/>
                  </a:solidFill>
                  <a:latin typeface="Arial"/>
                  <a:ea typeface="Microsoft YaHei"/>
                  <a:cs typeface="Arial"/>
                </a:rPr>
                <a:t>STATUS</a:t>
              </a:r>
            </a:p>
          </p:txBody>
        </p:sp>
        <p:sp>
          <p:nvSpPr>
            <p:cNvPr id="14" name="TextBox 14"/>
            <p:cNvSpPr txBox="1"/>
            <p:nvPr/>
          </p:nvSpPr>
          <p:spPr>
            <a:xfrm>
              <a:off x="9799320" y="1807845"/>
              <a:ext cx="697044" cy="182880"/>
            </a:xfrm>
            <a:prstGeom prst="rect">
              <a:avLst/>
            </a:prstGeom>
            <a:noFill/>
            <a:ln>
              <a:noFill/>
            </a:ln>
          </p:spPr>
          <p:txBody>
            <a:bodyPr wrap="none" lIns="0" tIns="0" rIns="0" bIns="0" anchor="t" anchorCtr="0">
              <a:spAutoFit/>
            </a:bodyPr>
            <a:lstStyle/>
            <a:p>
              <a:pPr algn="l"/>
              <a:r>
                <a:rPr lang="zh-CN" sz="900" b="1" dirty="0">
                  <a:solidFill>
                    <a:srgbClr val="8A94A6"/>
                  </a:solidFill>
                  <a:latin typeface="Arial"/>
                  <a:ea typeface="Microsoft YaHei"/>
                  <a:cs typeface="Arial"/>
                </a:rPr>
                <a:t>MICRO VIEW</a:t>
              </a:r>
            </a:p>
          </p:txBody>
        </p:sp>
        <p:grpSp>
          <p:nvGrpSpPr>
            <p:cNvPr id="27" name="Group 27"/>
            <p:cNvGrpSpPr/>
            <p:nvPr/>
          </p:nvGrpSpPr>
          <p:grpSpPr>
            <a:xfrm>
              <a:off x="762000" y="2286000"/>
              <a:ext cx="10668000" cy="685800"/>
              <a:chOff x="762000" y="2286000"/>
              <a:chExt cx="10668000" cy="685800"/>
            </a:xfrm>
          </p:grpSpPr>
          <p:sp>
            <p:nvSpPr>
              <p:cNvPr id="15" name="Rectangle 15"/>
              <p:cNvSpPr/>
              <p:nvPr/>
            </p:nvSpPr>
            <p:spPr>
              <a:xfrm>
                <a:off x="762000" y="2286000"/>
                <a:ext cx="10668000" cy="685800"/>
              </a:xfrm>
              <a:prstGeom prst="roundRect">
                <a:avLst>
                  <a:gd name="adj" fmla="val 8333"/>
                </a:avLst>
              </a:prstGeom>
              <a:solidFill>
                <a:srgbClr val="F7F8FA"/>
              </a:solidFill>
              <a:ln>
                <a:noFill/>
              </a:ln>
            </p:spPr>
          </p:sp>
          <p:sp>
            <p:nvSpPr>
              <p:cNvPr id="16" name="TextBox 16"/>
              <p:cNvSpPr txBox="1"/>
              <p:nvPr/>
            </p:nvSpPr>
            <p:spPr>
              <a:xfrm>
                <a:off x="974408" y="2443639"/>
                <a:ext cx="1067814" cy="259080"/>
              </a:xfrm>
              <a:prstGeom prst="rect">
                <a:avLst/>
              </a:prstGeom>
              <a:noFill/>
              <a:ln>
                <a:noFill/>
              </a:ln>
            </p:spPr>
            <p:txBody>
              <a:bodyPr wrap="none" lIns="0" tIns="0" rIns="0" bIns="0" anchor="t" anchorCtr="0">
                <a:spAutoFit/>
              </a:bodyPr>
              <a:lstStyle/>
              <a:p>
                <a:pPr algn="l"/>
                <a:r>
                  <a:rPr lang="zh-CN" sz="1275" b="1" dirty="0">
                    <a:solidFill>
                      <a:srgbClr val="182230"/>
                    </a:solidFill>
                    <a:latin typeface="Arial"/>
                    <a:ea typeface="Microsoft YaHei"/>
                    <a:cs typeface="Arial"/>
                  </a:rPr>
                  <a:t>Refund rate</a:t>
                </a:r>
              </a:p>
            </p:txBody>
          </p:sp>
          <p:sp>
            <p:nvSpPr>
              <p:cNvPr id="17" name="TextBox 17"/>
              <p:cNvSpPr txBox="1"/>
              <p:nvPr/>
            </p:nvSpPr>
            <p:spPr>
              <a:xfrm>
                <a:off x="979170" y="2703195"/>
                <a:ext cx="1217009"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refunds / purchases</a:t>
                </a:r>
              </a:p>
            </p:txBody>
          </p:sp>
          <p:sp>
            <p:nvSpPr>
              <p:cNvPr id="18" name="TextBox 18"/>
              <p:cNvSpPr txBox="1"/>
              <p:nvPr/>
            </p:nvSpPr>
            <p:spPr>
              <a:xfrm>
                <a:off x="3120935" y="2549842"/>
                <a:ext cx="591910" cy="274320"/>
              </a:xfrm>
              <a:prstGeom prst="rect">
                <a:avLst/>
              </a:prstGeom>
              <a:noFill/>
              <a:ln>
                <a:noFill/>
              </a:ln>
            </p:spPr>
            <p:txBody>
              <a:bodyPr wrap="none" lIns="0" tIns="0" rIns="0" bIns="0" anchor="t" anchorCtr="0">
                <a:spAutoFit/>
              </a:bodyPr>
              <a:lstStyle/>
              <a:p>
                <a:pPr algn="r"/>
                <a:r>
                  <a:rPr lang="zh-CN" sz="1350" b="1" dirty="0">
                    <a:solidFill>
                      <a:srgbClr val="182230"/>
                    </a:solidFill>
                    <a:latin typeface="Arial"/>
                    <a:ea typeface="Microsoft YaHei"/>
                    <a:cs typeface="Arial"/>
                  </a:rPr>
                  <a:t>3.18%</a:t>
                </a:r>
              </a:p>
            </p:txBody>
          </p:sp>
          <p:sp>
            <p:nvSpPr>
              <p:cNvPr id="19" name="TextBox 19"/>
              <p:cNvSpPr txBox="1"/>
              <p:nvPr/>
            </p:nvSpPr>
            <p:spPr>
              <a:xfrm>
                <a:off x="4492535" y="2549842"/>
                <a:ext cx="591910" cy="274320"/>
              </a:xfrm>
              <a:prstGeom prst="rect">
                <a:avLst/>
              </a:prstGeom>
              <a:noFill/>
              <a:ln>
                <a:noFill/>
              </a:ln>
            </p:spPr>
            <p:txBody>
              <a:bodyPr wrap="none" lIns="0" tIns="0" rIns="0" bIns="0" anchor="t" anchorCtr="0">
                <a:spAutoFit/>
              </a:bodyPr>
              <a:lstStyle/>
              <a:p>
                <a:pPr algn="r"/>
                <a:r>
                  <a:rPr lang="zh-CN" sz="1350" b="1" dirty="0">
                    <a:solidFill>
                      <a:srgbClr val="00A6A6"/>
                    </a:solidFill>
                    <a:latin typeface="Arial"/>
                    <a:ea typeface="Microsoft YaHei"/>
                    <a:cs typeface="Arial"/>
                  </a:rPr>
                  <a:t>3.11%</a:t>
                </a:r>
              </a:p>
            </p:txBody>
          </p:sp>
          <p:sp>
            <p:nvSpPr>
              <p:cNvPr id="20" name="TextBox 20"/>
              <p:cNvSpPr txBox="1"/>
              <p:nvPr/>
            </p:nvSpPr>
            <p:spPr>
              <a:xfrm>
                <a:off x="6085961" y="2566035"/>
                <a:ext cx="820179" cy="243840"/>
              </a:xfrm>
              <a:prstGeom prst="rect">
                <a:avLst/>
              </a:prstGeom>
              <a:noFill/>
              <a:ln>
                <a:noFill/>
              </a:ln>
            </p:spPr>
            <p:txBody>
              <a:bodyPr wrap="none" lIns="0" tIns="0" rIns="0" bIns="0" anchor="t" anchorCtr="0">
                <a:spAutoFit/>
              </a:bodyPr>
              <a:lstStyle/>
              <a:p>
                <a:pPr algn="ctr"/>
                <a:r>
                  <a:rPr lang="zh-CN" sz="1200" b="1" dirty="0">
                    <a:solidFill>
                      <a:srgbClr val="0E9F6E"/>
                    </a:solidFill>
                    <a:latin typeface="Arial"/>
                    <a:ea typeface="Microsoft YaHei"/>
                    <a:cs typeface="Arial"/>
                  </a:rPr>
                  <a:t>-0.07 pts</a:t>
                </a:r>
              </a:p>
            </p:txBody>
          </p:sp>
          <p:sp>
            <p:nvSpPr>
              <p:cNvPr id="21" name="Rectangle 21"/>
              <p:cNvSpPr/>
              <p:nvPr/>
            </p:nvSpPr>
            <p:spPr>
              <a:xfrm>
                <a:off x="7734300" y="2476500"/>
                <a:ext cx="800100" cy="228600"/>
              </a:xfrm>
              <a:prstGeom prst="roundRect">
                <a:avLst>
                  <a:gd name="adj" fmla="val 50000"/>
                </a:avLst>
              </a:prstGeom>
              <a:solidFill>
                <a:srgbClr val="0E9F6E">
                  <a:alpha val="12000"/>
                </a:srgbClr>
              </a:solidFill>
              <a:ln>
                <a:noFill/>
              </a:ln>
            </p:spPr>
          </p:sp>
          <p:sp>
            <p:nvSpPr>
              <p:cNvPr id="22" name="TextBox 22"/>
              <p:cNvSpPr txBox="1"/>
              <p:nvPr/>
            </p:nvSpPr>
            <p:spPr>
              <a:xfrm>
                <a:off x="7971701" y="2541270"/>
                <a:ext cx="325298" cy="182880"/>
              </a:xfrm>
              <a:prstGeom prst="rect">
                <a:avLst/>
              </a:prstGeom>
              <a:noFill/>
              <a:ln>
                <a:noFill/>
              </a:ln>
            </p:spPr>
            <p:txBody>
              <a:bodyPr wrap="none" lIns="0" tIns="0" rIns="0" bIns="0" anchor="t" anchorCtr="0">
                <a:spAutoFit/>
              </a:bodyPr>
              <a:lstStyle/>
              <a:p>
                <a:pPr algn="ctr"/>
                <a:r>
                  <a:rPr lang="zh-CN" sz="900" b="1" dirty="0">
                    <a:solidFill>
                      <a:srgbClr val="0E9F6E"/>
                    </a:solidFill>
                    <a:latin typeface="Arial"/>
                    <a:ea typeface="Microsoft YaHei"/>
                    <a:cs typeface="Arial"/>
                  </a:rPr>
                  <a:t>HOLD</a:t>
                </a:r>
              </a:p>
            </p:txBody>
          </p:sp>
          <p:sp>
            <p:nvSpPr>
              <p:cNvPr id="23" name="Rectangle 23"/>
              <p:cNvSpPr/>
              <p:nvPr/>
            </p:nvSpPr>
            <p:spPr>
              <a:xfrm>
                <a:off x="9810750" y="2514600"/>
                <a:ext cx="1143000" cy="95250"/>
              </a:xfrm>
              <a:prstGeom prst="roundRect">
                <a:avLst>
                  <a:gd name="adj" fmla="val 50000"/>
                </a:avLst>
              </a:prstGeom>
              <a:solidFill>
                <a:srgbClr val="E8EEF5"/>
              </a:solidFill>
              <a:ln>
                <a:noFill/>
              </a:ln>
            </p:spPr>
          </p:sp>
          <p:sp>
            <p:nvSpPr>
              <p:cNvPr id="24" name="Rectangle 24"/>
              <p:cNvSpPr/>
              <p:nvPr/>
            </p:nvSpPr>
            <p:spPr>
              <a:xfrm>
                <a:off x="9810750" y="2514600"/>
                <a:ext cx="904875" cy="95250"/>
              </a:xfrm>
              <a:prstGeom prst="roundRect">
                <a:avLst>
                  <a:gd name="adj" fmla="val 50000"/>
                </a:avLst>
              </a:prstGeom>
              <a:solidFill>
                <a:srgbClr val="243B53"/>
              </a:solidFill>
              <a:ln>
                <a:noFill/>
              </a:ln>
            </p:spPr>
          </p:sp>
          <p:sp>
            <p:nvSpPr>
              <p:cNvPr id="25" name="Rectangle 25"/>
              <p:cNvSpPr/>
              <p:nvPr/>
            </p:nvSpPr>
            <p:spPr>
              <a:xfrm>
                <a:off x="9810750" y="2724150"/>
                <a:ext cx="1143000" cy="95250"/>
              </a:xfrm>
              <a:prstGeom prst="roundRect">
                <a:avLst>
                  <a:gd name="adj" fmla="val 50000"/>
                </a:avLst>
              </a:prstGeom>
              <a:solidFill>
                <a:srgbClr val="E8EEF5"/>
              </a:solidFill>
              <a:ln>
                <a:noFill/>
              </a:ln>
            </p:spPr>
          </p:sp>
          <p:sp>
            <p:nvSpPr>
              <p:cNvPr id="26" name="Rectangle 26"/>
              <p:cNvSpPr/>
              <p:nvPr/>
            </p:nvSpPr>
            <p:spPr>
              <a:xfrm>
                <a:off x="9810750" y="2724150"/>
                <a:ext cx="885825" cy="95250"/>
              </a:xfrm>
              <a:prstGeom prst="roundRect">
                <a:avLst>
                  <a:gd name="adj" fmla="val 50000"/>
                </a:avLst>
              </a:prstGeom>
              <a:solidFill>
                <a:srgbClr val="00A6A6"/>
              </a:solidFill>
              <a:ln>
                <a:noFill/>
              </a:ln>
            </p:spPr>
          </p:sp>
        </p:grpSp>
        <p:grpSp>
          <p:nvGrpSpPr>
            <p:cNvPr id="39" name="Group 39"/>
            <p:cNvGrpSpPr/>
            <p:nvPr/>
          </p:nvGrpSpPr>
          <p:grpSpPr>
            <a:xfrm>
              <a:off x="974408" y="3205639"/>
              <a:ext cx="9979342" cy="442436"/>
              <a:chOff x="974408" y="3205639"/>
              <a:chExt cx="9979342" cy="442436"/>
            </a:xfrm>
          </p:grpSpPr>
          <p:sp>
            <p:nvSpPr>
              <p:cNvPr id="28" name="TextBox 28"/>
              <p:cNvSpPr txBox="1"/>
              <p:nvPr/>
            </p:nvSpPr>
            <p:spPr>
              <a:xfrm>
                <a:off x="974408" y="3205639"/>
                <a:ext cx="1808682" cy="259080"/>
              </a:xfrm>
              <a:prstGeom prst="rect">
                <a:avLst/>
              </a:prstGeom>
              <a:noFill/>
              <a:ln>
                <a:noFill/>
              </a:ln>
            </p:spPr>
            <p:txBody>
              <a:bodyPr wrap="none" lIns="0" tIns="0" rIns="0" bIns="0" anchor="t" anchorCtr="0">
                <a:spAutoFit/>
              </a:bodyPr>
              <a:lstStyle/>
              <a:p>
                <a:pPr algn="l"/>
                <a:r>
                  <a:rPr lang="zh-CN" sz="1275" b="1" dirty="0">
                    <a:solidFill>
                      <a:srgbClr val="182230"/>
                    </a:solidFill>
                    <a:latin typeface="Arial"/>
                    <a:ea typeface="Microsoft YaHei"/>
                    <a:cs typeface="Arial"/>
                  </a:rPr>
                  <a:t>Support-ticket rate</a:t>
                </a:r>
              </a:p>
            </p:txBody>
          </p:sp>
          <p:sp>
            <p:nvSpPr>
              <p:cNvPr id="29" name="TextBox 29"/>
              <p:cNvSpPr txBox="1"/>
              <p:nvPr/>
            </p:nvSpPr>
            <p:spPr>
              <a:xfrm>
                <a:off x="979170" y="3465195"/>
                <a:ext cx="1187005"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tickets / purchases</a:t>
                </a:r>
              </a:p>
            </p:txBody>
          </p:sp>
          <p:sp>
            <p:nvSpPr>
              <p:cNvPr id="30" name="TextBox 30"/>
              <p:cNvSpPr txBox="1"/>
              <p:nvPr/>
            </p:nvSpPr>
            <p:spPr>
              <a:xfrm>
                <a:off x="3120935" y="3311842"/>
                <a:ext cx="591910" cy="274320"/>
              </a:xfrm>
              <a:prstGeom prst="rect">
                <a:avLst/>
              </a:prstGeom>
              <a:noFill/>
              <a:ln>
                <a:noFill/>
              </a:ln>
            </p:spPr>
            <p:txBody>
              <a:bodyPr wrap="none" lIns="0" tIns="0" rIns="0" bIns="0" anchor="t" anchorCtr="0">
                <a:spAutoFit/>
              </a:bodyPr>
              <a:lstStyle/>
              <a:p>
                <a:pPr algn="r"/>
                <a:r>
                  <a:rPr lang="zh-CN" sz="1350" b="1" dirty="0">
                    <a:solidFill>
                      <a:srgbClr val="182230"/>
                    </a:solidFill>
                    <a:latin typeface="Arial"/>
                    <a:ea typeface="Microsoft YaHei"/>
                    <a:cs typeface="Arial"/>
                  </a:rPr>
                  <a:t>5.25%</a:t>
                </a:r>
              </a:p>
            </p:txBody>
          </p:sp>
          <p:sp>
            <p:nvSpPr>
              <p:cNvPr id="31" name="TextBox 31"/>
              <p:cNvSpPr txBox="1"/>
              <p:nvPr/>
            </p:nvSpPr>
            <p:spPr>
              <a:xfrm>
                <a:off x="4492535" y="3311842"/>
                <a:ext cx="591910" cy="274320"/>
              </a:xfrm>
              <a:prstGeom prst="rect">
                <a:avLst/>
              </a:prstGeom>
              <a:noFill/>
              <a:ln>
                <a:noFill/>
              </a:ln>
            </p:spPr>
            <p:txBody>
              <a:bodyPr wrap="none" lIns="0" tIns="0" rIns="0" bIns="0" anchor="t" anchorCtr="0">
                <a:spAutoFit/>
              </a:bodyPr>
              <a:lstStyle/>
              <a:p>
                <a:pPr algn="r"/>
                <a:r>
                  <a:rPr lang="zh-CN" sz="1350" b="1" dirty="0">
                    <a:solidFill>
                      <a:srgbClr val="00A6A6"/>
                    </a:solidFill>
                    <a:latin typeface="Arial"/>
                    <a:ea typeface="Microsoft YaHei"/>
                    <a:cs typeface="Arial"/>
                  </a:rPr>
                  <a:t>5.09%</a:t>
                </a:r>
              </a:p>
            </p:txBody>
          </p:sp>
          <p:sp>
            <p:nvSpPr>
              <p:cNvPr id="32" name="TextBox 32"/>
              <p:cNvSpPr txBox="1"/>
              <p:nvPr/>
            </p:nvSpPr>
            <p:spPr>
              <a:xfrm>
                <a:off x="6085961" y="3328035"/>
                <a:ext cx="820179" cy="243840"/>
              </a:xfrm>
              <a:prstGeom prst="rect">
                <a:avLst/>
              </a:prstGeom>
              <a:noFill/>
              <a:ln>
                <a:noFill/>
              </a:ln>
            </p:spPr>
            <p:txBody>
              <a:bodyPr wrap="none" lIns="0" tIns="0" rIns="0" bIns="0" anchor="t" anchorCtr="0">
                <a:spAutoFit/>
              </a:bodyPr>
              <a:lstStyle/>
              <a:p>
                <a:pPr algn="ctr"/>
                <a:r>
                  <a:rPr lang="zh-CN" sz="1200" b="1" dirty="0">
                    <a:solidFill>
                      <a:srgbClr val="0E9F6E"/>
                    </a:solidFill>
                    <a:latin typeface="Arial"/>
                    <a:ea typeface="Microsoft YaHei"/>
                    <a:cs typeface="Arial"/>
                  </a:rPr>
                  <a:t>-0.16 pts</a:t>
                </a:r>
              </a:p>
            </p:txBody>
          </p:sp>
          <p:sp>
            <p:nvSpPr>
              <p:cNvPr id="33" name="Rectangle 33"/>
              <p:cNvSpPr/>
              <p:nvPr/>
            </p:nvSpPr>
            <p:spPr>
              <a:xfrm>
                <a:off x="7734300" y="3238500"/>
                <a:ext cx="800100" cy="228600"/>
              </a:xfrm>
              <a:prstGeom prst="roundRect">
                <a:avLst>
                  <a:gd name="adj" fmla="val 50000"/>
                </a:avLst>
              </a:prstGeom>
              <a:solidFill>
                <a:srgbClr val="0E9F6E">
                  <a:alpha val="12000"/>
                </a:srgbClr>
              </a:solidFill>
              <a:ln>
                <a:noFill/>
              </a:ln>
            </p:spPr>
          </p:sp>
          <p:sp>
            <p:nvSpPr>
              <p:cNvPr id="34" name="TextBox 34"/>
              <p:cNvSpPr txBox="1"/>
              <p:nvPr/>
            </p:nvSpPr>
            <p:spPr>
              <a:xfrm>
                <a:off x="7971701" y="3303270"/>
                <a:ext cx="325298" cy="182880"/>
              </a:xfrm>
              <a:prstGeom prst="rect">
                <a:avLst/>
              </a:prstGeom>
              <a:noFill/>
              <a:ln>
                <a:noFill/>
              </a:ln>
            </p:spPr>
            <p:txBody>
              <a:bodyPr wrap="none" lIns="0" tIns="0" rIns="0" bIns="0" anchor="t" anchorCtr="0">
                <a:spAutoFit/>
              </a:bodyPr>
              <a:lstStyle/>
              <a:p>
                <a:pPr algn="ctr"/>
                <a:r>
                  <a:rPr lang="zh-CN" sz="900" b="1" dirty="0">
                    <a:solidFill>
                      <a:srgbClr val="0E9F6E"/>
                    </a:solidFill>
                    <a:latin typeface="Arial"/>
                    <a:ea typeface="Microsoft YaHei"/>
                    <a:cs typeface="Arial"/>
                  </a:rPr>
                  <a:t>HOLD</a:t>
                </a:r>
              </a:p>
            </p:txBody>
          </p:sp>
          <p:sp>
            <p:nvSpPr>
              <p:cNvPr id="35" name="Rectangle 35"/>
              <p:cNvSpPr/>
              <p:nvPr/>
            </p:nvSpPr>
            <p:spPr>
              <a:xfrm>
                <a:off x="9810750" y="3276600"/>
                <a:ext cx="1143000" cy="95250"/>
              </a:xfrm>
              <a:prstGeom prst="roundRect">
                <a:avLst>
                  <a:gd name="adj" fmla="val 50000"/>
                </a:avLst>
              </a:prstGeom>
              <a:solidFill>
                <a:srgbClr val="E8EEF5"/>
              </a:solidFill>
              <a:ln>
                <a:noFill/>
              </a:ln>
            </p:spPr>
          </p:sp>
          <p:sp>
            <p:nvSpPr>
              <p:cNvPr id="36" name="Rectangle 36"/>
              <p:cNvSpPr/>
              <p:nvPr/>
            </p:nvSpPr>
            <p:spPr>
              <a:xfrm>
                <a:off x="9810750" y="3276600"/>
                <a:ext cx="1000125" cy="95250"/>
              </a:xfrm>
              <a:prstGeom prst="roundRect">
                <a:avLst>
                  <a:gd name="adj" fmla="val 50000"/>
                </a:avLst>
              </a:prstGeom>
              <a:solidFill>
                <a:srgbClr val="243B53"/>
              </a:solidFill>
              <a:ln>
                <a:noFill/>
              </a:ln>
            </p:spPr>
          </p:sp>
          <p:sp>
            <p:nvSpPr>
              <p:cNvPr id="37" name="Rectangle 37"/>
              <p:cNvSpPr/>
              <p:nvPr/>
            </p:nvSpPr>
            <p:spPr>
              <a:xfrm>
                <a:off x="9810750" y="3486150"/>
                <a:ext cx="1143000" cy="95250"/>
              </a:xfrm>
              <a:prstGeom prst="roundRect">
                <a:avLst>
                  <a:gd name="adj" fmla="val 50000"/>
                </a:avLst>
              </a:prstGeom>
              <a:solidFill>
                <a:srgbClr val="E8EEF5"/>
              </a:solidFill>
              <a:ln>
                <a:noFill/>
              </a:ln>
            </p:spPr>
          </p:sp>
          <p:sp>
            <p:nvSpPr>
              <p:cNvPr id="38" name="Rectangle 38"/>
              <p:cNvSpPr/>
              <p:nvPr/>
            </p:nvSpPr>
            <p:spPr>
              <a:xfrm>
                <a:off x="9810750" y="3486150"/>
                <a:ext cx="971550" cy="95250"/>
              </a:xfrm>
              <a:prstGeom prst="roundRect">
                <a:avLst>
                  <a:gd name="adj" fmla="val 50000"/>
                </a:avLst>
              </a:prstGeom>
              <a:solidFill>
                <a:srgbClr val="00A6A6"/>
              </a:solidFill>
              <a:ln>
                <a:noFill/>
              </a:ln>
            </p:spPr>
          </p:sp>
        </p:grpSp>
        <p:grpSp>
          <p:nvGrpSpPr>
            <p:cNvPr id="52" name="Group 52"/>
            <p:cNvGrpSpPr/>
            <p:nvPr/>
          </p:nvGrpSpPr>
          <p:grpSpPr>
            <a:xfrm>
              <a:off x="762000" y="3810000"/>
              <a:ext cx="10668000" cy="685800"/>
              <a:chOff x="762000" y="3810000"/>
              <a:chExt cx="10668000" cy="685800"/>
            </a:xfrm>
          </p:grpSpPr>
          <p:sp>
            <p:nvSpPr>
              <p:cNvPr id="40" name="Rectangle 40"/>
              <p:cNvSpPr/>
              <p:nvPr/>
            </p:nvSpPr>
            <p:spPr>
              <a:xfrm>
                <a:off x="762000" y="3810000"/>
                <a:ext cx="10668000" cy="685800"/>
              </a:xfrm>
              <a:prstGeom prst="roundRect">
                <a:avLst>
                  <a:gd name="adj" fmla="val 8333"/>
                </a:avLst>
              </a:prstGeom>
              <a:solidFill>
                <a:srgbClr val="F7F8FA"/>
              </a:solidFill>
              <a:ln>
                <a:noFill/>
              </a:ln>
            </p:spPr>
          </p:sp>
          <p:sp>
            <p:nvSpPr>
              <p:cNvPr id="41" name="TextBox 41"/>
              <p:cNvSpPr txBox="1"/>
              <p:nvPr/>
            </p:nvSpPr>
            <p:spPr>
              <a:xfrm>
                <a:off x="974408" y="3967639"/>
                <a:ext cx="1844386" cy="259080"/>
              </a:xfrm>
              <a:prstGeom prst="rect">
                <a:avLst/>
              </a:prstGeom>
              <a:noFill/>
              <a:ln>
                <a:noFill/>
              </a:ln>
            </p:spPr>
            <p:txBody>
              <a:bodyPr wrap="none" lIns="0" tIns="0" rIns="0" bIns="0" anchor="t" anchorCtr="0">
                <a:spAutoFit/>
              </a:bodyPr>
              <a:lstStyle/>
              <a:p>
                <a:pPr algn="l"/>
                <a:r>
                  <a:rPr lang="zh-CN" sz="1275" b="1" dirty="0">
                    <a:solidFill>
                      <a:srgbClr val="182230"/>
                    </a:solidFill>
                    <a:latin typeface="Arial"/>
                    <a:ea typeface="Microsoft YaHei"/>
                    <a:cs typeface="Arial"/>
                  </a:rPr>
                  <a:t>Weighted median load</a:t>
                </a:r>
              </a:p>
            </p:txBody>
          </p:sp>
          <p:sp>
            <p:nvSpPr>
              <p:cNvPr id="42" name="TextBox 42"/>
              <p:cNvSpPr txBox="1"/>
              <p:nvPr/>
            </p:nvSpPr>
            <p:spPr>
              <a:xfrm>
                <a:off x="979170" y="4227195"/>
                <a:ext cx="1247013"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weighted by sessions</a:t>
                </a:r>
              </a:p>
            </p:txBody>
          </p:sp>
          <p:sp>
            <p:nvSpPr>
              <p:cNvPr id="43" name="TextBox 43"/>
              <p:cNvSpPr txBox="1"/>
              <p:nvPr/>
            </p:nvSpPr>
            <p:spPr>
              <a:xfrm>
                <a:off x="2960265" y="4073842"/>
                <a:ext cx="752580" cy="274320"/>
              </a:xfrm>
              <a:prstGeom prst="rect">
                <a:avLst/>
              </a:prstGeom>
              <a:noFill/>
              <a:ln>
                <a:noFill/>
              </a:ln>
            </p:spPr>
            <p:txBody>
              <a:bodyPr wrap="none" lIns="0" tIns="0" rIns="0" bIns="0" anchor="t" anchorCtr="0">
                <a:spAutoFit/>
              </a:bodyPr>
              <a:lstStyle/>
              <a:p>
                <a:pPr algn="r"/>
                <a:r>
                  <a:rPr lang="zh-CN" sz="1350" b="1" dirty="0">
                    <a:solidFill>
                      <a:srgbClr val="182230"/>
                    </a:solidFill>
                    <a:latin typeface="Arial"/>
                    <a:ea typeface="Microsoft YaHei"/>
                    <a:cs typeface="Arial"/>
                  </a:rPr>
                  <a:t>1702 ms</a:t>
                </a:r>
              </a:p>
            </p:txBody>
          </p:sp>
          <p:sp>
            <p:nvSpPr>
              <p:cNvPr id="44" name="TextBox 44"/>
              <p:cNvSpPr txBox="1"/>
              <p:nvPr/>
            </p:nvSpPr>
            <p:spPr>
              <a:xfrm>
                <a:off x="4331865" y="4073842"/>
                <a:ext cx="752580" cy="274320"/>
              </a:xfrm>
              <a:prstGeom prst="rect">
                <a:avLst/>
              </a:prstGeom>
              <a:noFill/>
              <a:ln>
                <a:noFill/>
              </a:ln>
            </p:spPr>
            <p:txBody>
              <a:bodyPr wrap="none" lIns="0" tIns="0" rIns="0" bIns="0" anchor="t" anchorCtr="0">
                <a:spAutoFit/>
              </a:bodyPr>
              <a:lstStyle/>
              <a:p>
                <a:pPr algn="r"/>
                <a:r>
                  <a:rPr lang="zh-CN" sz="1350" b="1" dirty="0">
                    <a:solidFill>
                      <a:srgbClr val="00A6A6"/>
                    </a:solidFill>
                    <a:latin typeface="Arial"/>
                    <a:ea typeface="Microsoft YaHei"/>
                    <a:cs typeface="Arial"/>
                  </a:rPr>
                  <a:t>1803 ms</a:t>
                </a:r>
              </a:p>
            </p:txBody>
          </p:sp>
          <p:sp>
            <p:nvSpPr>
              <p:cNvPr id="45" name="TextBox 45"/>
              <p:cNvSpPr txBox="1"/>
              <p:nvPr/>
            </p:nvSpPr>
            <p:spPr>
              <a:xfrm>
                <a:off x="6161570" y="4090035"/>
                <a:ext cx="668960" cy="243840"/>
              </a:xfrm>
              <a:prstGeom prst="rect">
                <a:avLst/>
              </a:prstGeom>
              <a:noFill/>
              <a:ln>
                <a:noFill/>
              </a:ln>
            </p:spPr>
            <p:txBody>
              <a:bodyPr wrap="none" lIns="0" tIns="0" rIns="0" bIns="0" anchor="t" anchorCtr="0">
                <a:spAutoFit/>
              </a:bodyPr>
              <a:lstStyle/>
              <a:p>
                <a:pPr algn="ctr"/>
                <a:r>
                  <a:rPr lang="zh-CN" sz="1200" b="1" dirty="0">
                    <a:solidFill>
                      <a:srgbClr val="D64545"/>
                    </a:solidFill>
                    <a:latin typeface="Arial"/>
                    <a:ea typeface="Microsoft YaHei"/>
                    <a:cs typeface="Arial"/>
                  </a:rPr>
                  <a:t>+101 ms</a:t>
                </a:r>
              </a:p>
            </p:txBody>
          </p:sp>
          <p:sp>
            <p:nvSpPr>
              <p:cNvPr id="46" name="Rectangle 46"/>
              <p:cNvSpPr/>
              <p:nvPr/>
            </p:nvSpPr>
            <p:spPr>
              <a:xfrm>
                <a:off x="7734300" y="4000500"/>
                <a:ext cx="800100" cy="228600"/>
              </a:xfrm>
              <a:prstGeom prst="roundRect">
                <a:avLst>
                  <a:gd name="adj" fmla="val 50000"/>
                </a:avLst>
              </a:prstGeom>
              <a:solidFill>
                <a:srgbClr val="D64545">
                  <a:alpha val="12000"/>
                </a:srgbClr>
              </a:solidFill>
              <a:ln>
                <a:noFill/>
              </a:ln>
            </p:spPr>
          </p:sp>
          <p:sp>
            <p:nvSpPr>
              <p:cNvPr id="47" name="TextBox 47"/>
              <p:cNvSpPr txBox="1"/>
              <p:nvPr/>
            </p:nvSpPr>
            <p:spPr>
              <a:xfrm>
                <a:off x="7937047" y="4065270"/>
                <a:ext cx="394606" cy="182880"/>
              </a:xfrm>
              <a:prstGeom prst="rect">
                <a:avLst/>
              </a:prstGeom>
              <a:noFill/>
              <a:ln>
                <a:noFill/>
              </a:ln>
            </p:spPr>
            <p:txBody>
              <a:bodyPr wrap="none" lIns="0" tIns="0" rIns="0" bIns="0" anchor="t" anchorCtr="0">
                <a:spAutoFit/>
              </a:bodyPr>
              <a:lstStyle/>
              <a:p>
                <a:pPr algn="ctr"/>
                <a:r>
                  <a:rPr lang="zh-CN" sz="900" b="1" dirty="0">
                    <a:solidFill>
                      <a:srgbClr val="D64545"/>
                    </a:solidFill>
                    <a:latin typeface="Arial"/>
                    <a:ea typeface="Microsoft YaHei"/>
                    <a:cs typeface="Arial"/>
                  </a:rPr>
                  <a:t>WATCH</a:t>
                </a:r>
              </a:p>
            </p:txBody>
          </p:sp>
          <p:sp>
            <p:nvSpPr>
              <p:cNvPr id="48" name="Rectangle 48"/>
              <p:cNvSpPr/>
              <p:nvPr/>
            </p:nvSpPr>
            <p:spPr>
              <a:xfrm>
                <a:off x="9810750" y="4038600"/>
                <a:ext cx="1143000" cy="95250"/>
              </a:xfrm>
              <a:prstGeom prst="roundRect">
                <a:avLst>
                  <a:gd name="adj" fmla="val 50000"/>
                </a:avLst>
              </a:prstGeom>
              <a:solidFill>
                <a:srgbClr val="E8EEF5"/>
              </a:solidFill>
              <a:ln>
                <a:noFill/>
              </a:ln>
            </p:spPr>
          </p:sp>
          <p:sp>
            <p:nvSpPr>
              <p:cNvPr id="49" name="Rectangle 49"/>
              <p:cNvSpPr/>
              <p:nvPr/>
            </p:nvSpPr>
            <p:spPr>
              <a:xfrm>
                <a:off x="9810750" y="4038600"/>
                <a:ext cx="1076325" cy="95250"/>
              </a:xfrm>
              <a:prstGeom prst="roundRect">
                <a:avLst>
                  <a:gd name="adj" fmla="val 50000"/>
                </a:avLst>
              </a:prstGeom>
              <a:solidFill>
                <a:srgbClr val="243B53"/>
              </a:solidFill>
              <a:ln>
                <a:noFill/>
              </a:ln>
            </p:spPr>
          </p:sp>
          <p:sp>
            <p:nvSpPr>
              <p:cNvPr id="50" name="Rectangle 50"/>
              <p:cNvSpPr/>
              <p:nvPr/>
            </p:nvSpPr>
            <p:spPr>
              <a:xfrm>
                <a:off x="9810750" y="4248150"/>
                <a:ext cx="1143000" cy="95250"/>
              </a:xfrm>
              <a:prstGeom prst="roundRect">
                <a:avLst>
                  <a:gd name="adj" fmla="val 50000"/>
                </a:avLst>
              </a:prstGeom>
              <a:solidFill>
                <a:srgbClr val="E8EEF5"/>
              </a:solidFill>
              <a:ln>
                <a:noFill/>
              </a:ln>
            </p:spPr>
          </p:sp>
          <p:sp>
            <p:nvSpPr>
              <p:cNvPr id="51" name="Rectangle 51"/>
              <p:cNvSpPr/>
              <p:nvPr/>
            </p:nvSpPr>
            <p:spPr>
              <a:xfrm>
                <a:off x="9810750" y="4248150"/>
                <a:ext cx="1143000" cy="95250"/>
              </a:xfrm>
              <a:prstGeom prst="roundRect">
                <a:avLst>
                  <a:gd name="adj" fmla="val 50000"/>
                </a:avLst>
              </a:prstGeom>
              <a:solidFill>
                <a:srgbClr val="F59E0B"/>
              </a:solidFill>
              <a:ln>
                <a:noFill/>
              </a:ln>
            </p:spPr>
          </p:sp>
        </p:grpSp>
        <p:grpSp>
          <p:nvGrpSpPr>
            <p:cNvPr id="64" name="Group 64"/>
            <p:cNvGrpSpPr/>
            <p:nvPr/>
          </p:nvGrpSpPr>
          <p:grpSpPr>
            <a:xfrm>
              <a:off x="974408" y="4729639"/>
              <a:ext cx="9979342" cy="442436"/>
              <a:chOff x="974408" y="4729639"/>
              <a:chExt cx="9979342" cy="442436"/>
            </a:xfrm>
          </p:grpSpPr>
          <p:sp>
            <p:nvSpPr>
              <p:cNvPr id="53" name="TextBox 53"/>
              <p:cNvSpPr txBox="1"/>
              <p:nvPr/>
            </p:nvSpPr>
            <p:spPr>
              <a:xfrm>
                <a:off x="974408" y="4729639"/>
                <a:ext cx="1353450" cy="259080"/>
              </a:xfrm>
              <a:prstGeom prst="rect">
                <a:avLst/>
              </a:prstGeom>
              <a:noFill/>
              <a:ln>
                <a:noFill/>
              </a:ln>
            </p:spPr>
            <p:txBody>
              <a:bodyPr wrap="none" lIns="0" tIns="0" rIns="0" bIns="0" anchor="t" anchorCtr="0">
                <a:spAutoFit/>
              </a:bodyPr>
              <a:lstStyle/>
              <a:p>
                <a:pPr algn="l"/>
                <a:r>
                  <a:rPr lang="zh-CN" sz="1275" b="1" dirty="0">
                    <a:solidFill>
                      <a:srgbClr val="182230"/>
                    </a:solidFill>
                    <a:latin typeface="Arial"/>
                    <a:ea typeface="Microsoft YaHei"/>
                    <a:cs typeface="Arial"/>
                  </a:rPr>
                  <a:t>Mobile New load</a:t>
                </a:r>
              </a:p>
            </p:txBody>
          </p:sp>
          <p:sp>
            <p:nvSpPr>
              <p:cNvPr id="54" name="TextBox 54"/>
              <p:cNvSpPr txBox="1"/>
              <p:nvPr/>
            </p:nvSpPr>
            <p:spPr>
              <a:xfrm>
                <a:off x="979170" y="4989195"/>
                <a:ext cx="2093119"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highest-friction acquisition cohort</a:t>
                </a:r>
              </a:p>
            </p:txBody>
          </p:sp>
          <p:sp>
            <p:nvSpPr>
              <p:cNvPr id="55" name="TextBox 55"/>
              <p:cNvSpPr txBox="1"/>
              <p:nvPr/>
            </p:nvSpPr>
            <p:spPr>
              <a:xfrm>
                <a:off x="2960265" y="4835842"/>
                <a:ext cx="752580" cy="274320"/>
              </a:xfrm>
              <a:prstGeom prst="rect">
                <a:avLst/>
              </a:prstGeom>
              <a:noFill/>
              <a:ln>
                <a:noFill/>
              </a:ln>
            </p:spPr>
            <p:txBody>
              <a:bodyPr wrap="none" lIns="0" tIns="0" rIns="0" bIns="0" anchor="t" anchorCtr="0">
                <a:spAutoFit/>
              </a:bodyPr>
              <a:lstStyle/>
              <a:p>
                <a:pPr algn="r"/>
                <a:r>
                  <a:rPr lang="zh-CN" sz="1350" b="1" dirty="0">
                    <a:solidFill>
                      <a:srgbClr val="182230"/>
                    </a:solidFill>
                    <a:latin typeface="Arial"/>
                    <a:ea typeface="Microsoft YaHei"/>
                    <a:cs typeface="Arial"/>
                  </a:rPr>
                  <a:t>1980 ms</a:t>
                </a:r>
              </a:p>
            </p:txBody>
          </p:sp>
          <p:sp>
            <p:nvSpPr>
              <p:cNvPr id="56" name="TextBox 56"/>
              <p:cNvSpPr txBox="1"/>
              <p:nvPr/>
            </p:nvSpPr>
            <p:spPr>
              <a:xfrm>
                <a:off x="4331865" y="4835842"/>
                <a:ext cx="752580" cy="274320"/>
              </a:xfrm>
              <a:prstGeom prst="rect">
                <a:avLst/>
              </a:prstGeom>
              <a:noFill/>
              <a:ln>
                <a:noFill/>
              </a:ln>
            </p:spPr>
            <p:txBody>
              <a:bodyPr wrap="none" lIns="0" tIns="0" rIns="0" bIns="0" anchor="t" anchorCtr="0">
                <a:spAutoFit/>
              </a:bodyPr>
              <a:lstStyle/>
              <a:p>
                <a:pPr algn="r"/>
                <a:r>
                  <a:rPr lang="zh-CN" sz="1350" b="1" dirty="0">
                    <a:solidFill>
                      <a:srgbClr val="00A6A6"/>
                    </a:solidFill>
                    <a:latin typeface="Arial"/>
                    <a:ea typeface="Microsoft YaHei"/>
                    <a:cs typeface="Arial"/>
                  </a:rPr>
                  <a:t>2110 ms</a:t>
                </a:r>
              </a:p>
            </p:txBody>
          </p:sp>
          <p:sp>
            <p:nvSpPr>
              <p:cNvPr id="57" name="TextBox 57"/>
              <p:cNvSpPr txBox="1"/>
              <p:nvPr/>
            </p:nvSpPr>
            <p:spPr>
              <a:xfrm>
                <a:off x="6161570" y="4852035"/>
                <a:ext cx="668960" cy="243840"/>
              </a:xfrm>
              <a:prstGeom prst="rect">
                <a:avLst/>
              </a:prstGeom>
              <a:noFill/>
              <a:ln>
                <a:noFill/>
              </a:ln>
            </p:spPr>
            <p:txBody>
              <a:bodyPr wrap="none" lIns="0" tIns="0" rIns="0" bIns="0" anchor="t" anchorCtr="0">
                <a:spAutoFit/>
              </a:bodyPr>
              <a:lstStyle/>
              <a:p>
                <a:pPr algn="ctr"/>
                <a:r>
                  <a:rPr lang="zh-CN" sz="1200" b="1" dirty="0">
                    <a:solidFill>
                      <a:srgbClr val="D64545"/>
                    </a:solidFill>
                    <a:latin typeface="Arial"/>
                    <a:ea typeface="Microsoft YaHei"/>
                    <a:cs typeface="Arial"/>
                  </a:rPr>
                  <a:t>+130 ms</a:t>
                </a:r>
              </a:p>
            </p:txBody>
          </p:sp>
          <p:sp>
            <p:nvSpPr>
              <p:cNvPr id="58" name="Rectangle 58"/>
              <p:cNvSpPr/>
              <p:nvPr/>
            </p:nvSpPr>
            <p:spPr>
              <a:xfrm>
                <a:off x="7734300" y="4762500"/>
                <a:ext cx="800100" cy="228600"/>
              </a:xfrm>
              <a:prstGeom prst="roundRect">
                <a:avLst>
                  <a:gd name="adj" fmla="val 50000"/>
                </a:avLst>
              </a:prstGeom>
              <a:solidFill>
                <a:srgbClr val="D64545">
                  <a:alpha val="12000"/>
                </a:srgbClr>
              </a:solidFill>
              <a:ln>
                <a:noFill/>
              </a:ln>
            </p:spPr>
          </p:sp>
          <p:sp>
            <p:nvSpPr>
              <p:cNvPr id="59" name="TextBox 59"/>
              <p:cNvSpPr txBox="1"/>
              <p:nvPr/>
            </p:nvSpPr>
            <p:spPr>
              <a:xfrm>
                <a:off x="7937047" y="4827270"/>
                <a:ext cx="394606" cy="182880"/>
              </a:xfrm>
              <a:prstGeom prst="rect">
                <a:avLst/>
              </a:prstGeom>
              <a:noFill/>
              <a:ln>
                <a:noFill/>
              </a:ln>
            </p:spPr>
            <p:txBody>
              <a:bodyPr wrap="none" lIns="0" tIns="0" rIns="0" bIns="0" anchor="t" anchorCtr="0">
                <a:spAutoFit/>
              </a:bodyPr>
              <a:lstStyle/>
              <a:p>
                <a:pPr algn="ctr"/>
                <a:r>
                  <a:rPr lang="zh-CN" sz="900" b="1" dirty="0">
                    <a:solidFill>
                      <a:srgbClr val="D64545"/>
                    </a:solidFill>
                    <a:latin typeface="Arial"/>
                    <a:ea typeface="Microsoft YaHei"/>
                    <a:cs typeface="Arial"/>
                  </a:rPr>
                  <a:t>WATCH</a:t>
                </a:r>
              </a:p>
            </p:txBody>
          </p:sp>
          <p:sp>
            <p:nvSpPr>
              <p:cNvPr id="60" name="Rectangle 60"/>
              <p:cNvSpPr/>
              <p:nvPr/>
            </p:nvSpPr>
            <p:spPr>
              <a:xfrm>
                <a:off x="9810750" y="4800600"/>
                <a:ext cx="1143000" cy="95250"/>
              </a:xfrm>
              <a:prstGeom prst="roundRect">
                <a:avLst>
                  <a:gd name="adj" fmla="val 50000"/>
                </a:avLst>
              </a:prstGeom>
              <a:solidFill>
                <a:srgbClr val="E8EEF5"/>
              </a:solidFill>
              <a:ln>
                <a:noFill/>
              </a:ln>
            </p:spPr>
          </p:sp>
          <p:sp>
            <p:nvSpPr>
              <p:cNvPr id="61" name="Rectangle 61"/>
              <p:cNvSpPr/>
              <p:nvPr/>
            </p:nvSpPr>
            <p:spPr>
              <a:xfrm>
                <a:off x="9810750" y="4800600"/>
                <a:ext cx="1076325" cy="95250"/>
              </a:xfrm>
              <a:prstGeom prst="roundRect">
                <a:avLst>
                  <a:gd name="adj" fmla="val 50000"/>
                </a:avLst>
              </a:prstGeom>
              <a:solidFill>
                <a:srgbClr val="243B53"/>
              </a:solidFill>
              <a:ln>
                <a:noFill/>
              </a:ln>
            </p:spPr>
          </p:sp>
          <p:sp>
            <p:nvSpPr>
              <p:cNvPr id="62" name="Rectangle 62"/>
              <p:cNvSpPr/>
              <p:nvPr/>
            </p:nvSpPr>
            <p:spPr>
              <a:xfrm>
                <a:off x="9810750" y="5010150"/>
                <a:ext cx="1143000" cy="95250"/>
              </a:xfrm>
              <a:prstGeom prst="roundRect">
                <a:avLst>
                  <a:gd name="adj" fmla="val 50000"/>
                </a:avLst>
              </a:prstGeom>
              <a:solidFill>
                <a:srgbClr val="E8EEF5"/>
              </a:solidFill>
              <a:ln>
                <a:noFill/>
              </a:ln>
            </p:spPr>
          </p:sp>
          <p:sp>
            <p:nvSpPr>
              <p:cNvPr id="63" name="Rectangle 63"/>
              <p:cNvSpPr/>
              <p:nvPr/>
            </p:nvSpPr>
            <p:spPr>
              <a:xfrm>
                <a:off x="9810750" y="5010150"/>
                <a:ext cx="1143000" cy="95250"/>
              </a:xfrm>
              <a:prstGeom prst="roundRect">
                <a:avLst>
                  <a:gd name="adj" fmla="val 50000"/>
                </a:avLst>
              </a:prstGeom>
              <a:solidFill>
                <a:srgbClr val="F59E0B"/>
              </a:solidFill>
              <a:ln>
                <a:noFill/>
              </a:ln>
            </p:spPr>
          </p:sp>
        </p:grpSp>
      </p:grpSp>
      <p:grpSp>
        <p:nvGrpSpPr>
          <p:cNvPr id="68" name="Group 68"/>
          <p:cNvGrpSpPr/>
          <p:nvPr/>
        </p:nvGrpSpPr>
        <p:grpSpPr>
          <a:xfrm>
            <a:off x="500062" y="5898356"/>
            <a:ext cx="4919186" cy="457200"/>
            <a:chOff x="500062" y="5898356"/>
            <a:chExt cx="4919186" cy="457200"/>
          </a:xfrm>
        </p:grpSpPr>
        <p:sp>
          <p:nvSpPr>
            <p:cNvPr id="66" name="TextBox 66"/>
            <p:cNvSpPr txBox="1"/>
            <p:nvPr/>
          </p:nvSpPr>
          <p:spPr>
            <a:xfrm>
              <a:off x="500062" y="5898356"/>
              <a:ext cx="4919186" cy="228600"/>
            </a:xfrm>
            <a:prstGeom prst="rect">
              <a:avLst/>
            </a:prstGeom>
            <a:noFill/>
            <a:ln>
              <a:noFill/>
            </a:ln>
          </p:spPr>
          <p:txBody>
            <a:bodyPr wrap="none" lIns="0" tIns="0" rIns="0" bIns="0" anchor="t" anchorCtr="0">
              <a:spAutoFit/>
            </a:bodyPr>
            <a:lstStyle/>
            <a:p>
              <a:pPr algn="l"/>
              <a:r>
                <a:rPr lang="zh-CN" sz="1125" b="1" dirty="0">
                  <a:solidFill>
                    <a:srgbClr val="F59E0B"/>
                  </a:solidFill>
                  <a:latin typeface="Arial"/>
                  <a:ea typeface="Microsoft YaHei"/>
                  <a:cs typeface="Arial"/>
                </a:rPr>
                <a:t>Launch condition:</a:t>
              </a:r>
              <a:r>
                <a:rPr lang="zh-CN" sz="1125" dirty="0">
                  <a:solidFill>
                    <a:srgbClr val="182230"/>
                  </a:solidFill>
                  <a:latin typeface="Arial"/>
                  <a:ea typeface="Microsoft YaHei"/>
                  <a:cs typeface="Arial"/>
                </a:rPr>
                <a:t xml:space="preserve"> </a:t>
              </a:r>
              <a:r>
                <a:rPr lang="zh-CN" sz="1125" dirty="0">
                  <a:solidFill>
                    <a:srgbClr val="182230"/>
                  </a:solidFill>
                  <a:latin typeface="Arial"/>
                  <a:ea typeface="Microsoft YaHei"/>
                  <a:cs typeface="Arial"/>
                </a:rPr>
                <a:t xml:space="preserve"> performance monitoring should be mobile-first;</a:t>
              </a:r>
            </a:p>
          </p:txBody>
        </p:sp>
        <p:sp>
          <p:nvSpPr>
            <p:cNvPr id="67" name="TextBox 67"/>
            <p:cNvSpPr txBox="1"/>
            <p:nvPr/>
          </p:nvSpPr>
          <p:spPr>
            <a:xfrm>
              <a:off x="500062" y="6126956"/>
              <a:ext cx="3854053" cy="228600"/>
            </a:xfrm>
            <a:prstGeom prst="rect">
              <a:avLst/>
            </a:prstGeom>
            <a:noFill/>
            <a:ln>
              <a:noFill/>
            </a:ln>
          </p:spPr>
          <p:txBody>
            <a:bodyPr wrap="none" lIns="0" tIns="0" rIns="0" bIns="0" anchor="t" anchorCtr="0">
              <a:spAutoFit/>
            </a:bodyPr>
            <a:lstStyle/>
            <a:p>
              <a:pPr algn="l"/>
              <a:r>
                <a:rPr lang="zh-CN" sz="1125" dirty="0">
                  <a:solidFill>
                    <a:srgbClr val="182230"/>
                  </a:solidFill>
                  <a:latin typeface="Arial"/>
                  <a:ea typeface="Microsoft YaHei"/>
                  <a:cs typeface="Arial"/>
                </a:rPr>
                <a:t>refund and support rates are secondary guardrails.</a:t>
              </a:r>
            </a:p>
          </p:txBody>
        </p:sp>
      </p:grpSp>
      <p:grpSp>
        <p:nvGrpSpPr>
          <p:cNvPr id="71" name="Group 71"/>
          <p:cNvGrpSpPr/>
          <p:nvPr/>
        </p:nvGrpSpPr>
        <p:grpSpPr>
          <a:xfrm>
            <a:off x="502920" y="6265545"/>
            <a:ext cx="11186160" cy="335280"/>
            <a:chOff x="502920" y="6265545"/>
            <a:chExt cx="11186160" cy="335280"/>
          </a:xfrm>
        </p:grpSpPr>
        <p:sp>
          <p:nvSpPr>
            <p:cNvPr id="69" name="TextBox 69"/>
            <p:cNvSpPr txBox="1"/>
            <p:nvPr/>
          </p:nvSpPr>
          <p:spPr>
            <a:xfrm>
              <a:off x="502920" y="6265545"/>
              <a:ext cx="3811905"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All guardrails are directly calculated from the CSV. </a:t>
              </a:r>
              <a:r>
                <a:rPr lang="zh-CN" sz="900" dirty="0">
                  <a:solidFill>
                    <a:srgbClr val="8A94A6"/>
                  </a:solidFill>
                  <a:latin typeface="Arial"/>
                  <a:ea typeface="Microsoft YaHei"/>
                  <a:cs typeface="Arial"/>
                </a:rPr>
                <a:t>Lower refund/support rates are better; lower page load is better.</a:t>
              </a:r>
            </a:p>
          </p:txBody>
        </p:sp>
        <p:sp>
          <p:nvSpPr>
            <p:cNvPr id="70" name="TextBox 70"/>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5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400"/>
                                        <p:tgtEl>
                                          <p:spTgt spid="6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fade">
                                      <p:cBhvr>
                                        <p:cTn id="11"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8FA"/>
          </a:solidFill>
          <a:ln>
            <a:noFill/>
          </a:ln>
        </p:spPr>
      </p:sp>
      <p:grpSp>
        <p:nvGrpSpPr>
          <p:cNvPr id="6" name="Group 6"/>
          <p:cNvGrpSpPr/>
          <p:nvPr/>
        </p:nvGrpSpPr>
        <p:grpSpPr>
          <a:xfrm>
            <a:off x="476250" y="447199"/>
            <a:ext cx="8857298" cy="1305401"/>
            <a:chOff x="476250" y="447199"/>
            <a:chExt cx="8857298" cy="1305401"/>
          </a:xfrm>
        </p:grpSpPr>
        <p:sp>
          <p:nvSpPr>
            <p:cNvPr id="3" name="TextBox 3"/>
            <p:cNvSpPr txBox="1"/>
            <p:nvPr/>
          </p:nvSpPr>
          <p:spPr>
            <a:xfrm>
              <a:off x="501968" y="447199"/>
              <a:ext cx="1151031"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a:ea typeface="Microsoft YaHei"/>
                  <a:cs typeface="Arial"/>
                </a:rPr>
                <a:t>RECOMMENDATION</a:t>
              </a:r>
            </a:p>
          </p:txBody>
        </p:sp>
        <p:sp>
          <p:nvSpPr>
            <p:cNvPr id="4" name="TextBox 4"/>
            <p:cNvSpPr txBox="1"/>
            <p:nvPr/>
          </p:nvSpPr>
          <p:spPr>
            <a:xfrm>
              <a:off x="476250" y="609600"/>
              <a:ext cx="8857298" cy="1066800"/>
            </a:xfrm>
            <a:prstGeom prst="rect">
              <a:avLst/>
            </a:prstGeom>
            <a:noFill/>
            <a:ln>
              <a:noFill/>
            </a:ln>
          </p:spPr>
          <p:txBody>
            <a:bodyPr wrap="square" lIns="0" tIns="0" rIns="0" bIns="0" anchor="t" anchorCtr="0"/>
            <a:lstStyle/>
            <a:p>
              <a:pPr algn="l">
                <a:lnSpc>
                  <a:spcPts val="3600"/>
                </a:lnSpc>
              </a:pPr>
              <a:r>
                <a:rPr lang="zh-CN" sz="3000" b="1" dirty="0">
                  <a:solidFill>
                    <a:srgbClr val="182230"/>
                  </a:solidFill>
                  <a:latin typeface="Georgia"/>
                  <a:ea typeface="Microsoft YaHei"/>
                  <a:cs typeface="Georgia"/>
                </a:rPr>
                <a:t xml:space="preserve">Launch the redesign, but ship it with latency </a:t>
              </a:r>
              <a:r>
                <a:rPr lang="zh-CN" sz="3000" b="1" dirty="0">
                  <a:solidFill>
                    <a:srgbClr val="182230"/>
                  </a:solidFill>
                  <a:latin typeface="Georgia"/>
                  <a:ea typeface="Microsoft YaHei"/>
                  <a:cs typeface="Georgia"/>
                </a:rPr>
                <a:t>and service guardrails</a:t>
              </a:r>
            </a:p>
          </p:txBody>
        </p:sp>
        <p:sp>
          <p:nvSpPr>
            <p:cNvPr id="5" name="TextBox 5"/>
            <p:cNvSpPr txBox="1"/>
            <p:nvPr/>
          </p:nvSpPr>
          <p:spPr>
            <a:xfrm>
              <a:off x="499110" y="1508760"/>
              <a:ext cx="6855333" cy="243840"/>
            </a:xfrm>
            <a:prstGeom prst="rect">
              <a:avLst/>
            </a:prstGeom>
            <a:noFill/>
            <a:ln>
              <a:noFill/>
            </a:ln>
          </p:spPr>
          <p:txBody>
            <a:bodyPr wrap="none" lIns="0" tIns="0" rIns="0" bIns="0" anchor="t" anchorCtr="0">
              <a:spAutoFit/>
            </a:bodyPr>
            <a:lstStyle/>
            <a:p>
              <a:pPr algn="l"/>
              <a:r>
                <a:rPr lang="zh-CN" sz="1200" dirty="0">
                  <a:solidFill>
                    <a:srgbClr val="5B677A"/>
                  </a:solidFill>
                  <a:latin typeface="Arial"/>
                  <a:ea typeface="Microsoft YaHei"/>
                  <a:cs typeface="Arial"/>
                </a:rPr>
                <a:t>The business upside is broad; the implementation risk is concentrated and monitorable.</a:t>
              </a:r>
            </a:p>
          </p:txBody>
        </p:sp>
      </p:grpSp>
      <p:grpSp>
        <p:nvGrpSpPr>
          <p:cNvPr id="36" name="Group 36"/>
          <p:cNvGrpSpPr/>
          <p:nvPr/>
        </p:nvGrpSpPr>
        <p:grpSpPr>
          <a:xfrm>
            <a:off x="1314450" y="1866900"/>
            <a:ext cx="10115550" cy="3810000"/>
            <a:chOff x="1314450" y="1866900"/>
            <a:chExt cx="10115550" cy="3810000"/>
          </a:xfrm>
        </p:grpSpPr>
        <p:sp>
          <p:nvSpPr>
            <p:cNvPr id="7" name="Line 7"/>
            <p:cNvSpPr/>
            <p:nvPr/>
          </p:nvSpPr>
          <p:spPr>
            <a:xfrm>
              <a:off x="1581150" y="2076450"/>
              <a:ext cx="9525" cy="3257550"/>
            </a:xfrm>
            <a:custGeom>
              <a:avLst/>
              <a:gdLst/>
              <a:ahLst/>
              <a:cxnLst/>
              <a:rect l="l" t="t" r="r" b="b"/>
              <a:pathLst>
                <a:path w="9525" h="3257550">
                  <a:moveTo>
                    <a:pt x="0" y="0"/>
                  </a:moveTo>
                  <a:lnTo>
                    <a:pt x="0" y="3257550"/>
                  </a:lnTo>
                </a:path>
              </a:pathLst>
            </a:custGeom>
            <a:noFill/>
            <a:ln w="28575">
              <a:solidFill>
                <a:srgbClr val="D9E1EA"/>
              </a:solidFill>
            </a:ln>
          </p:spPr>
        </p:sp>
        <p:grpSp>
          <p:nvGrpSpPr>
            <p:cNvPr id="14" name="Group 14"/>
            <p:cNvGrpSpPr/>
            <p:nvPr/>
          </p:nvGrpSpPr>
          <p:grpSpPr>
            <a:xfrm>
              <a:off x="1314450" y="1866900"/>
              <a:ext cx="10115550" cy="947737"/>
              <a:chOff x="1314450" y="1866900"/>
              <a:chExt cx="10115550" cy="947737"/>
            </a:xfrm>
          </p:grpSpPr>
          <p:sp>
            <p:nvSpPr>
              <p:cNvPr id="8" name="Ellipse 8"/>
              <p:cNvSpPr/>
              <p:nvPr/>
            </p:nvSpPr>
            <p:spPr>
              <a:xfrm>
                <a:off x="1314450" y="2038350"/>
                <a:ext cx="533400" cy="533400"/>
              </a:xfrm>
              <a:prstGeom prst="ellipse">
                <a:avLst/>
              </a:prstGeom>
              <a:solidFill>
                <a:srgbClr val="00A6A6"/>
              </a:solidFill>
              <a:ln>
                <a:noFill/>
              </a:ln>
            </p:spPr>
          </p:sp>
          <p:sp>
            <p:nvSpPr>
              <p:cNvPr id="9" name="TextBox 9"/>
              <p:cNvSpPr txBox="1"/>
              <p:nvPr/>
            </p:nvSpPr>
            <p:spPr>
              <a:xfrm>
                <a:off x="1480227" y="225028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01</a:t>
                </a:r>
              </a:p>
            </p:txBody>
          </p:sp>
          <p:sp>
            <p:nvSpPr>
              <p:cNvPr id="10" name="Rectangle 10"/>
              <p:cNvSpPr/>
              <p:nvPr/>
            </p:nvSpPr>
            <p:spPr>
              <a:xfrm>
                <a:off x="2095500" y="1866900"/>
                <a:ext cx="9334500" cy="876300"/>
              </a:xfrm>
              <a:prstGeom prst="roundRect">
                <a:avLst>
                  <a:gd name="adj" fmla="val 6522"/>
                </a:avLst>
              </a:prstGeom>
              <a:solidFill>
                <a:srgbClr val="243B53"/>
              </a:solidFill>
              <a:ln>
                <a:noFill/>
              </a:ln>
            </p:spPr>
          </p:sp>
          <p:sp>
            <p:nvSpPr>
              <p:cNvPr id="11" name="TextBox 11"/>
              <p:cNvSpPr txBox="1"/>
              <p:nvPr/>
            </p:nvSpPr>
            <p:spPr>
              <a:xfrm>
                <a:off x="2354580" y="2021205"/>
                <a:ext cx="10236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Georgia"/>
                    <a:ea typeface="Microsoft YaHei"/>
                    <a:cs typeface="Georgia"/>
                  </a:rPr>
                  <a:t>Launch</a:t>
                </a:r>
              </a:p>
            </p:txBody>
          </p:sp>
          <p:sp>
            <p:nvSpPr>
              <p:cNvPr id="12" name="TextBox 12"/>
              <p:cNvSpPr txBox="1"/>
              <p:nvPr/>
            </p:nvSpPr>
            <p:spPr>
              <a:xfrm>
                <a:off x="3792855" y="2102168"/>
                <a:ext cx="5155930" cy="274320"/>
              </a:xfrm>
              <a:prstGeom prst="rect">
                <a:avLst/>
              </a:prstGeom>
              <a:noFill/>
              <a:ln>
                <a:noFill/>
              </a:ln>
            </p:spPr>
            <p:txBody>
              <a:bodyPr wrap="none" lIns="0" tIns="0" rIns="0" bIns="0" anchor="t" anchorCtr="0">
                <a:spAutoFit/>
              </a:bodyPr>
              <a:lstStyle/>
              <a:p>
                <a:pPr algn="l"/>
                <a:r>
                  <a:rPr lang="zh-CN" sz="1350" dirty="0">
                    <a:solidFill>
                      <a:srgbClr val="D9E1EA"/>
                    </a:solidFill>
                    <a:latin typeface="Arial"/>
                    <a:ea typeface="Microsoft YaHei"/>
                    <a:cs typeface="Arial"/>
                  </a:rPr>
                  <a:t>Conversion and revenue improve across all four segments.</a:t>
                </a:r>
              </a:p>
            </p:txBody>
          </p:sp>
          <p:sp>
            <p:nvSpPr>
              <p:cNvPr id="13" name="TextBox 13"/>
              <p:cNvSpPr txBox="1"/>
              <p:nvPr/>
            </p:nvSpPr>
            <p:spPr>
              <a:xfrm>
                <a:off x="2367915" y="2420302"/>
                <a:ext cx="4693920" cy="394335"/>
              </a:xfrm>
              <a:prstGeom prst="rect">
                <a:avLst/>
              </a:prstGeom>
              <a:noFill/>
              <a:ln>
                <a:noFill/>
              </a:ln>
            </p:spPr>
            <p:txBody>
              <a:bodyPr wrap="square" lIns="0" tIns="0" rIns="0" bIns="0" anchor="t" anchorCtr="0"/>
              <a:lstStyle/>
              <a:p>
                <a:pPr algn="l">
                  <a:lnSpc>
                    <a:spcPts val="1425"/>
                  </a:lnSpc>
                </a:pPr>
                <a:r>
                  <a:rPr lang="zh-CN" sz="1050" dirty="0">
                    <a:solidFill>
                      <a:srgbClr val="D9E1EA"/>
                    </a:solidFill>
                    <a:latin typeface="Arial"/>
                    <a:ea typeface="Microsoft YaHei"/>
                    <a:cs typeface="Arial"/>
                  </a:rPr>
                  <a:t xml:space="preserve">Decision confidence comes from consistency, not from any unsupported </a:t>
                </a:r>
                <a:r>
                  <a:rPr lang="zh-CN" sz="1050" dirty="0">
                    <a:solidFill>
                      <a:srgbClr val="D9E1EA"/>
                    </a:solidFill>
                    <a:latin typeface="Arial"/>
                    <a:ea typeface="Microsoft YaHei"/>
                    <a:cs typeface="Arial"/>
                  </a:rPr>
                  <a:t>statistical-significance claim.</a:t>
                </a:r>
              </a:p>
            </p:txBody>
          </p:sp>
        </p:grpSp>
        <p:grpSp>
          <p:nvGrpSpPr>
            <p:cNvPr id="21" name="Group 21"/>
            <p:cNvGrpSpPr/>
            <p:nvPr/>
          </p:nvGrpSpPr>
          <p:grpSpPr>
            <a:xfrm>
              <a:off x="1352550" y="2876550"/>
              <a:ext cx="10077450" cy="816769"/>
              <a:chOff x="1352550" y="2876550"/>
              <a:chExt cx="10077450" cy="816769"/>
            </a:xfrm>
          </p:grpSpPr>
          <p:sp>
            <p:nvSpPr>
              <p:cNvPr id="15" name="Ellipse 15"/>
              <p:cNvSpPr/>
              <p:nvPr/>
            </p:nvSpPr>
            <p:spPr>
              <a:xfrm>
                <a:off x="1352550" y="2990850"/>
                <a:ext cx="457200" cy="457200"/>
              </a:xfrm>
              <a:prstGeom prst="ellipse">
                <a:avLst/>
              </a:prstGeom>
              <a:solidFill>
                <a:srgbClr val="F59E0B"/>
              </a:solidFill>
              <a:ln>
                <a:noFill/>
              </a:ln>
            </p:spPr>
          </p:sp>
          <p:sp>
            <p:nvSpPr>
              <p:cNvPr id="16" name="TextBox 16"/>
              <p:cNvSpPr txBox="1"/>
              <p:nvPr/>
            </p:nvSpPr>
            <p:spPr>
              <a:xfrm>
                <a:off x="1486955" y="31632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02</a:t>
                </a:r>
              </a:p>
            </p:txBody>
          </p:sp>
          <p:sp>
            <p:nvSpPr>
              <p:cNvPr id="17" name="Rectangle 17"/>
              <p:cNvSpPr/>
              <p:nvPr/>
            </p:nvSpPr>
            <p:spPr>
              <a:xfrm>
                <a:off x="2095500" y="2876550"/>
                <a:ext cx="9334500" cy="704850"/>
              </a:xfrm>
              <a:prstGeom prst="roundRect">
                <a:avLst>
                  <a:gd name="adj" fmla="val 8108"/>
                </a:avLst>
              </a:prstGeom>
              <a:solidFill>
                <a:srgbClr val="FFFFFF"/>
              </a:solidFill>
              <a:ln w="9525">
                <a:solidFill>
                  <a:srgbClr val="D9E1EA"/>
                </a:solidFill>
              </a:ln>
            </p:spPr>
          </p:sp>
          <p:sp>
            <p:nvSpPr>
              <p:cNvPr id="18" name="TextBox 18"/>
              <p:cNvSpPr txBox="1"/>
              <p:nvPr/>
            </p:nvSpPr>
            <p:spPr>
              <a:xfrm>
                <a:off x="2364105" y="3035618"/>
                <a:ext cx="658068" cy="274320"/>
              </a:xfrm>
              <a:prstGeom prst="rect">
                <a:avLst/>
              </a:prstGeom>
              <a:noFill/>
              <a:ln>
                <a:noFill/>
              </a:ln>
            </p:spPr>
            <p:txBody>
              <a:bodyPr wrap="none" lIns="0" tIns="0" rIns="0" bIns="0" anchor="t" anchorCtr="0">
                <a:spAutoFit/>
              </a:bodyPr>
              <a:lstStyle/>
              <a:p>
                <a:pPr algn="l"/>
                <a:r>
                  <a:rPr lang="zh-CN" sz="1350" b="1" dirty="0">
                    <a:solidFill>
                      <a:srgbClr val="182230"/>
                    </a:solidFill>
                    <a:latin typeface="Arial"/>
                    <a:ea typeface="Microsoft YaHei"/>
                    <a:cs typeface="Arial"/>
                  </a:rPr>
                  <a:t>Caveat</a:t>
                </a:r>
              </a:p>
            </p:txBody>
          </p:sp>
          <p:sp>
            <p:nvSpPr>
              <p:cNvPr id="19" name="TextBox 19"/>
              <p:cNvSpPr txBox="1"/>
              <p:nvPr/>
            </p:nvSpPr>
            <p:spPr>
              <a:xfrm>
                <a:off x="3793808" y="3043714"/>
                <a:ext cx="5838611" cy="259080"/>
              </a:xfrm>
              <a:prstGeom prst="rect">
                <a:avLst/>
              </a:prstGeom>
              <a:noFill/>
              <a:ln>
                <a:noFill/>
              </a:ln>
            </p:spPr>
            <p:txBody>
              <a:bodyPr wrap="none" lIns="0" tIns="0" rIns="0" bIns="0" anchor="t" anchorCtr="0">
                <a:spAutoFit/>
              </a:bodyPr>
              <a:lstStyle/>
              <a:p>
                <a:pPr algn="l"/>
                <a:r>
                  <a:rPr lang="zh-CN" sz="1275" dirty="0">
                    <a:solidFill>
                      <a:srgbClr val="5B677A"/>
                    </a:solidFill>
                    <a:latin typeface="Arial"/>
                    <a:ea typeface="Microsoft YaHei"/>
                    <a:cs typeface="Arial"/>
                  </a:rPr>
                  <a:t>Do not claim statistical significance from the provided dataset alone.</a:t>
                </a:r>
              </a:p>
            </p:txBody>
          </p:sp>
          <p:sp>
            <p:nvSpPr>
              <p:cNvPr id="20" name="TextBox 20"/>
              <p:cNvSpPr txBox="1"/>
              <p:nvPr/>
            </p:nvSpPr>
            <p:spPr>
              <a:xfrm>
                <a:off x="3797618" y="3323749"/>
                <a:ext cx="4507230" cy="369570"/>
              </a:xfrm>
              <a:prstGeom prst="rect">
                <a:avLst/>
              </a:prstGeom>
              <a:noFill/>
              <a:ln>
                <a:noFill/>
              </a:ln>
            </p:spPr>
            <p:txBody>
              <a:bodyPr wrap="square" lIns="0" tIns="0" rIns="0" bIns="0" anchor="t" anchorCtr="0"/>
              <a:lstStyle/>
              <a:p>
                <a:pPr algn="l">
                  <a:lnSpc>
                    <a:spcPts val="1350"/>
                  </a:lnSpc>
                </a:pPr>
                <a:r>
                  <a:rPr lang="zh-CN" sz="975" dirty="0">
                    <a:solidFill>
                      <a:srgbClr val="8A94A6"/>
                    </a:solidFill>
                    <a:latin typeface="Arial"/>
                    <a:ea typeface="Microsoft YaHei"/>
                    <a:cs typeface="Arial"/>
                  </a:rPr>
                  <a:t xml:space="preserve">The prompt source includes counts and revenue, but no test methodology, </a:t>
                </a:r>
                <a:r>
                  <a:rPr lang="zh-CN" sz="975" dirty="0">
                    <a:solidFill>
                      <a:srgbClr val="8A94A6"/>
                    </a:solidFill>
                    <a:latin typeface="Arial"/>
                    <a:ea typeface="Microsoft YaHei"/>
                    <a:cs typeface="Arial"/>
                  </a:rPr>
                  <a:t>confidence interval, or p-value.</a:t>
                </a:r>
              </a:p>
            </p:txBody>
          </p:sp>
        </p:grpSp>
        <p:grpSp>
          <p:nvGrpSpPr>
            <p:cNvPr id="28" name="Group 28"/>
            <p:cNvGrpSpPr/>
            <p:nvPr/>
          </p:nvGrpSpPr>
          <p:grpSpPr>
            <a:xfrm>
              <a:off x="1352550" y="3924300"/>
              <a:ext cx="10077450" cy="704850"/>
              <a:chOff x="1352550" y="3924300"/>
              <a:chExt cx="10077450" cy="704850"/>
            </a:xfrm>
          </p:grpSpPr>
          <p:sp>
            <p:nvSpPr>
              <p:cNvPr id="22" name="Ellipse 22"/>
              <p:cNvSpPr/>
              <p:nvPr/>
            </p:nvSpPr>
            <p:spPr>
              <a:xfrm>
                <a:off x="1352550" y="4038600"/>
                <a:ext cx="457200" cy="457200"/>
              </a:xfrm>
              <a:prstGeom prst="ellipse">
                <a:avLst/>
              </a:prstGeom>
              <a:solidFill>
                <a:srgbClr val="D64545"/>
              </a:solidFill>
              <a:ln>
                <a:noFill/>
              </a:ln>
            </p:spPr>
          </p:sp>
          <p:sp>
            <p:nvSpPr>
              <p:cNvPr id="23" name="TextBox 23"/>
              <p:cNvSpPr txBox="1"/>
              <p:nvPr/>
            </p:nvSpPr>
            <p:spPr>
              <a:xfrm>
                <a:off x="1486955" y="42110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03</a:t>
                </a:r>
              </a:p>
            </p:txBody>
          </p:sp>
          <p:sp>
            <p:nvSpPr>
              <p:cNvPr id="24" name="Rectangle 24"/>
              <p:cNvSpPr/>
              <p:nvPr/>
            </p:nvSpPr>
            <p:spPr>
              <a:xfrm>
                <a:off x="2095500" y="3924300"/>
                <a:ext cx="9334500" cy="704850"/>
              </a:xfrm>
              <a:prstGeom prst="roundRect">
                <a:avLst>
                  <a:gd name="adj" fmla="val 8108"/>
                </a:avLst>
              </a:prstGeom>
              <a:solidFill>
                <a:srgbClr val="FFFFFF"/>
              </a:solidFill>
              <a:ln w="9525">
                <a:solidFill>
                  <a:srgbClr val="D9E1EA"/>
                </a:solidFill>
              </a:ln>
            </p:spPr>
          </p:sp>
          <p:sp>
            <p:nvSpPr>
              <p:cNvPr id="25" name="TextBox 25"/>
              <p:cNvSpPr txBox="1"/>
              <p:nvPr/>
            </p:nvSpPr>
            <p:spPr>
              <a:xfrm>
                <a:off x="2364105" y="4083368"/>
                <a:ext cx="591910" cy="274320"/>
              </a:xfrm>
              <a:prstGeom prst="rect">
                <a:avLst/>
              </a:prstGeom>
              <a:noFill/>
              <a:ln>
                <a:noFill/>
              </a:ln>
            </p:spPr>
            <p:txBody>
              <a:bodyPr wrap="none" lIns="0" tIns="0" rIns="0" bIns="0" anchor="t" anchorCtr="0">
                <a:spAutoFit/>
              </a:bodyPr>
              <a:lstStyle/>
              <a:p>
                <a:pPr algn="l"/>
                <a:r>
                  <a:rPr lang="zh-CN" sz="1350" b="1" dirty="0">
                    <a:solidFill>
                      <a:srgbClr val="182230"/>
                    </a:solidFill>
                    <a:latin typeface="Arial"/>
                    <a:ea typeface="Microsoft YaHei"/>
                    <a:cs typeface="Arial"/>
                  </a:rPr>
                  <a:t>Watch</a:t>
                </a:r>
              </a:p>
            </p:txBody>
          </p:sp>
          <p:sp>
            <p:nvSpPr>
              <p:cNvPr id="26" name="TextBox 26"/>
              <p:cNvSpPr txBox="1"/>
              <p:nvPr/>
            </p:nvSpPr>
            <p:spPr>
              <a:xfrm>
                <a:off x="3793808" y="4091464"/>
                <a:ext cx="5685592" cy="259080"/>
              </a:xfrm>
              <a:prstGeom prst="rect">
                <a:avLst/>
              </a:prstGeom>
              <a:noFill/>
              <a:ln>
                <a:noFill/>
              </a:ln>
            </p:spPr>
            <p:txBody>
              <a:bodyPr wrap="none" lIns="0" tIns="0" rIns="0" bIns="0" anchor="t" anchorCtr="0">
                <a:spAutoFit/>
              </a:bodyPr>
              <a:lstStyle/>
              <a:p>
                <a:pPr algn="l"/>
                <a:r>
                  <a:rPr lang="zh-CN" sz="1275" dirty="0">
                    <a:solidFill>
                      <a:srgbClr val="5B677A"/>
                    </a:solidFill>
                    <a:latin typeface="Arial"/>
                    <a:ea typeface="Microsoft YaHei"/>
                    <a:cs typeface="Arial"/>
                  </a:rPr>
                  <a:t>Mobile latency, refund rate, and support-ticket rate after launch.</a:t>
                </a:r>
              </a:p>
            </p:txBody>
          </p:sp>
          <p:sp>
            <p:nvSpPr>
              <p:cNvPr id="27" name="TextBox 27"/>
              <p:cNvSpPr txBox="1"/>
              <p:nvPr/>
            </p:nvSpPr>
            <p:spPr>
              <a:xfrm>
                <a:off x="3797618" y="4371499"/>
                <a:ext cx="4315301" cy="198120"/>
              </a:xfrm>
              <a:prstGeom prst="rect">
                <a:avLst/>
              </a:prstGeom>
              <a:noFill/>
              <a:ln>
                <a:noFill/>
              </a:ln>
            </p:spPr>
            <p:txBody>
              <a:bodyPr wrap="none" lIns="0" tIns="0" rIns="0" bIns="0" anchor="t" anchorCtr="0">
                <a:spAutoFit/>
              </a:bodyPr>
              <a:lstStyle/>
              <a:p>
                <a:pPr algn="l"/>
                <a:r>
                  <a:rPr lang="zh-CN" sz="975" dirty="0">
                    <a:solidFill>
                      <a:srgbClr val="8A94A6"/>
                    </a:solidFill>
                    <a:latin typeface="Arial"/>
                    <a:ea typeface="Microsoft YaHei"/>
                    <a:cs typeface="Arial"/>
                  </a:rPr>
                  <a:t>Latency is the only metric that clearly worsens in the source data.</a:t>
                </a:r>
              </a:p>
            </p:txBody>
          </p:sp>
        </p:grpSp>
        <p:grpSp>
          <p:nvGrpSpPr>
            <p:cNvPr id="35" name="Group 35"/>
            <p:cNvGrpSpPr/>
            <p:nvPr/>
          </p:nvGrpSpPr>
          <p:grpSpPr>
            <a:xfrm>
              <a:off x="1352550" y="4972050"/>
              <a:ext cx="10077450" cy="704850"/>
              <a:chOff x="1352550" y="4972050"/>
              <a:chExt cx="10077450" cy="704850"/>
            </a:xfrm>
          </p:grpSpPr>
          <p:sp>
            <p:nvSpPr>
              <p:cNvPr id="29" name="Ellipse 29"/>
              <p:cNvSpPr/>
              <p:nvPr/>
            </p:nvSpPr>
            <p:spPr>
              <a:xfrm>
                <a:off x="1352550" y="5086350"/>
                <a:ext cx="457200" cy="457200"/>
              </a:xfrm>
              <a:prstGeom prst="ellipse">
                <a:avLst/>
              </a:prstGeom>
              <a:solidFill>
                <a:srgbClr val="00A6A6"/>
              </a:solidFill>
              <a:ln>
                <a:noFill/>
              </a:ln>
            </p:spPr>
          </p:sp>
          <p:sp>
            <p:nvSpPr>
              <p:cNvPr id="30" name="TextBox 30"/>
              <p:cNvSpPr txBox="1"/>
              <p:nvPr/>
            </p:nvSpPr>
            <p:spPr>
              <a:xfrm>
                <a:off x="1486955" y="52587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04</a:t>
                </a:r>
              </a:p>
            </p:txBody>
          </p:sp>
          <p:sp>
            <p:nvSpPr>
              <p:cNvPr id="31" name="Rectangle 31"/>
              <p:cNvSpPr/>
              <p:nvPr/>
            </p:nvSpPr>
            <p:spPr>
              <a:xfrm>
                <a:off x="2095500" y="4972050"/>
                <a:ext cx="9334500" cy="704850"/>
              </a:xfrm>
              <a:prstGeom prst="roundRect">
                <a:avLst>
                  <a:gd name="adj" fmla="val 8108"/>
                </a:avLst>
              </a:prstGeom>
              <a:solidFill>
                <a:srgbClr val="FFFFFF"/>
              </a:solidFill>
              <a:ln w="9525">
                <a:solidFill>
                  <a:srgbClr val="D9E1EA"/>
                </a:solidFill>
              </a:ln>
            </p:spPr>
          </p:sp>
          <p:sp>
            <p:nvSpPr>
              <p:cNvPr id="32" name="TextBox 32"/>
              <p:cNvSpPr txBox="1"/>
              <p:nvPr/>
            </p:nvSpPr>
            <p:spPr>
              <a:xfrm>
                <a:off x="2364105" y="5131118"/>
                <a:ext cx="714775" cy="274320"/>
              </a:xfrm>
              <a:prstGeom prst="rect">
                <a:avLst/>
              </a:prstGeom>
              <a:noFill/>
              <a:ln>
                <a:noFill/>
              </a:ln>
            </p:spPr>
            <p:txBody>
              <a:bodyPr wrap="none" lIns="0" tIns="0" rIns="0" bIns="0" anchor="t" anchorCtr="0">
                <a:spAutoFit/>
              </a:bodyPr>
              <a:lstStyle/>
              <a:p>
                <a:pPr algn="l"/>
                <a:r>
                  <a:rPr lang="zh-CN" sz="1350" b="1" dirty="0">
                    <a:solidFill>
                      <a:srgbClr val="182230"/>
                    </a:solidFill>
                    <a:latin typeface="Arial"/>
                    <a:ea typeface="Microsoft YaHei"/>
                    <a:cs typeface="Arial"/>
                  </a:rPr>
                  <a:t>Iterate</a:t>
                </a:r>
              </a:p>
            </p:txBody>
          </p:sp>
          <p:sp>
            <p:nvSpPr>
              <p:cNvPr id="33" name="TextBox 33"/>
              <p:cNvSpPr txBox="1"/>
              <p:nvPr/>
            </p:nvSpPr>
            <p:spPr>
              <a:xfrm>
                <a:off x="3793808" y="5139214"/>
                <a:ext cx="6569702" cy="259080"/>
              </a:xfrm>
              <a:prstGeom prst="rect">
                <a:avLst/>
              </a:prstGeom>
              <a:noFill/>
              <a:ln>
                <a:noFill/>
              </a:ln>
            </p:spPr>
            <p:txBody>
              <a:bodyPr wrap="none" lIns="0" tIns="0" rIns="0" bIns="0" anchor="t" anchorCtr="0">
                <a:spAutoFit/>
              </a:bodyPr>
              <a:lstStyle/>
              <a:p>
                <a:pPr algn="l"/>
                <a:r>
                  <a:rPr lang="zh-CN" sz="1275" dirty="0">
                    <a:solidFill>
                      <a:srgbClr val="5B677A"/>
                    </a:solidFill>
                    <a:latin typeface="Arial"/>
                    <a:ea typeface="Microsoft YaHei"/>
                    <a:cs typeface="Arial"/>
                  </a:rPr>
                  <a:t>Optimize mobile load path after launch before expanding the redesign further.</a:t>
                </a:r>
              </a:p>
            </p:txBody>
          </p:sp>
          <p:sp>
            <p:nvSpPr>
              <p:cNvPr id="34" name="TextBox 34"/>
              <p:cNvSpPr txBox="1"/>
              <p:nvPr/>
            </p:nvSpPr>
            <p:spPr>
              <a:xfrm>
                <a:off x="3797618" y="5419249"/>
                <a:ext cx="4113776" cy="198120"/>
              </a:xfrm>
              <a:prstGeom prst="rect">
                <a:avLst/>
              </a:prstGeom>
              <a:noFill/>
              <a:ln>
                <a:noFill/>
              </a:ln>
            </p:spPr>
            <p:txBody>
              <a:bodyPr wrap="none" lIns="0" tIns="0" rIns="0" bIns="0" anchor="t" anchorCtr="0">
                <a:spAutoFit/>
              </a:bodyPr>
              <a:lstStyle/>
              <a:p>
                <a:pPr algn="l"/>
                <a:r>
                  <a:rPr lang="zh-CN" sz="975" dirty="0">
                    <a:solidFill>
                      <a:srgbClr val="8A94A6"/>
                    </a:solidFill>
                    <a:latin typeface="Arial"/>
                    <a:ea typeface="Microsoft YaHei"/>
                    <a:cs typeface="Arial"/>
                  </a:rPr>
                  <a:t>Prioritize Mobile New, where the median load increase is 130 ms.</a:t>
                </a:r>
              </a:p>
            </p:txBody>
          </p:sp>
        </p:grpSp>
      </p:grpSp>
      <p:grpSp>
        <p:nvGrpSpPr>
          <p:cNvPr id="39" name="Group 39"/>
          <p:cNvGrpSpPr/>
          <p:nvPr/>
        </p:nvGrpSpPr>
        <p:grpSpPr>
          <a:xfrm>
            <a:off x="502920" y="6341745"/>
            <a:ext cx="11186160" cy="182880"/>
            <a:chOff x="502920" y="6341745"/>
            <a:chExt cx="11186160" cy="182880"/>
          </a:xfrm>
        </p:grpSpPr>
        <p:sp>
          <p:nvSpPr>
            <p:cNvPr id="37" name="TextBox 37"/>
            <p:cNvSpPr txBox="1"/>
            <p:nvPr/>
          </p:nvSpPr>
          <p:spPr>
            <a:xfrm>
              <a:off x="502920" y="6341745"/>
              <a:ext cx="485346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Recommendation uses source-provided rows and metrics from data_viz_notes.md.</a:t>
              </a:r>
            </a:p>
          </p:txBody>
        </p:sp>
        <p:sp>
          <p:nvSpPr>
            <p:cNvPr id="38" name="TextBox 38"/>
            <p:cNvSpPr txBox="1"/>
            <p:nvPr/>
          </p:nvSpPr>
          <p:spPr>
            <a:xfrm>
              <a:off x="11396186" y="6341745"/>
              <a:ext cx="292894"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6 / 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2026-07-03T03:29:48Z</dcterms:created>
  <dcterms:modified xsi:type="dcterms:W3CDTF">2026-07-03T03:29:48Z</dcterms:modified>
  <cp:category/>
  <cp:contentStatus/>
</cp:coreProperties>
</file>
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3864"/>
                </a:solidFill>
                <a:latin typeface="Calibri"/>
              </a:rPr>
              <a:t>Concave Mirrors: Ray Optics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49808"/>
            <a:ext cx="113385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808080"/>
                </a:solidFill>
                <a:latin typeface="Calibri"/>
              </a:rPr>
              <a:t>A diagram-led explainer for high-school / early undergraduate physics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78992"/>
            <a:ext cx="113842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371600"/>
            <a:ext cx="5120640" cy="23774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F3864"/>
                </a:solidFill>
                <a:latin typeface="Calibri"/>
              </a:rPr>
              <a:t>What is a concave mirror?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</a:rPr>
              <a:t>A concave mirror curves inward toward the reflective side, so parallel incoming light converges after reflection.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2222"/>
                </a:solidFill>
                <a:latin typeface="Calibri"/>
              </a:rPr>
              <a:t>Key reference elements:</a:t>
            </a:r>
          </a:p>
          <a:p>
            <a:pPr algn="l" lvl="1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Principal axis — straight line through the center of curvature C and the vertex V.</a:t>
            </a:r>
          </a:p>
          <a:p>
            <a:pPr algn="l" lvl="1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Vertex V — where the axis meets the mirror surface.</a:t>
            </a:r>
          </a:p>
          <a:p>
            <a:pPr algn="l" lvl="1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Center of curvature C — center of the sphere of which the mirror is part; C = 2f from V.</a:t>
            </a:r>
          </a:p>
          <a:p>
            <a:pPr algn="l" lvl="1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Focal point F — halfway between V and C, at distance f (focal length) from V.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977639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404040"/>
                </a:solidFill>
                <a:latin typeface="Calibri"/>
              </a:rPr>
              <a:t>Sign convention: f is positive for a concave mirror.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0" y="4023360"/>
            <a:ext cx="5303520" cy="0"/>
          </a:xfrm>
          <a:prstGeom prst="line">
            <a:avLst/>
          </a:prstGeom>
          <a:ln w="15875">
            <a:solidFill>
              <a:srgbClr val="22222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reeform 8"/>
          <p:cNvSpPr/>
          <p:nvPr/>
        </p:nvSpPr>
        <p:spPr>
          <a:xfrm>
            <a:off x="8229600" y="36576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0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noFill/>
          <a:ln w="2857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715588" y="3440429"/>
            <a:ext cx="146304" cy="146305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750573" y="3634739"/>
            <a:ext cx="146304" cy="146305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771349" y="3829050"/>
            <a:ext cx="146304" cy="146304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778240" y="4023360"/>
            <a:ext cx="146304" cy="146304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1349" y="4217670"/>
            <a:ext cx="146304" cy="146304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750573" y="4411980"/>
            <a:ext cx="146304" cy="146304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715588" y="4606290"/>
            <a:ext cx="146304" cy="146304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78240" y="3931920"/>
            <a:ext cx="0" cy="182880"/>
          </a:xfrm>
          <a:prstGeom prst="line">
            <a:avLst/>
          </a:prstGeom>
          <a:ln w="1587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406640" y="3931920"/>
            <a:ext cx="0" cy="182880"/>
          </a:xfrm>
          <a:prstGeom prst="line">
            <a:avLst/>
          </a:prstGeom>
          <a:ln w="1587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35040" y="3931920"/>
            <a:ext cx="0" cy="182880"/>
          </a:xfrm>
          <a:prstGeom prst="line">
            <a:avLst/>
          </a:prstGeom>
          <a:ln w="1587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613648" y="4096512"/>
            <a:ext cx="82296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22222"/>
                </a:solidFill>
                <a:latin typeface="Calibri"/>
              </a:rPr>
              <a:t>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42048" y="4096512"/>
            <a:ext cx="82296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4B5"/>
                </a:solidFill>
                <a:latin typeface="Calibri"/>
              </a:rPr>
              <a:t>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70448" y="4096512"/>
            <a:ext cx="82296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7030A0"/>
                </a:solidFill>
                <a:latin typeface="Calibri"/>
              </a:rPr>
              <a:t>C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35040" y="5257800"/>
            <a:ext cx="274320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35040" y="5166360"/>
            <a:ext cx="0" cy="18288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778240" y="5166360"/>
            <a:ext cx="0" cy="18288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406640" y="5212080"/>
            <a:ext cx="0" cy="91440"/>
          </a:xfrm>
          <a:prstGeom prst="line">
            <a:avLst/>
          </a:prstGeom>
          <a:ln w="15875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126480" y="5394960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Calibri"/>
              </a:rPr>
              <a:t>F is the midpoint of VC  →  f = R/2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3520440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404040"/>
                </a:solidFill>
                <a:latin typeface="Calibri"/>
              </a:rPr>
              <a:t>mirror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3858768"/>
            <a:ext cx="73152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08080"/>
                </a:solidFill>
                <a:latin typeface="Calibri"/>
              </a:rPr>
              <a:t>axis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283464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404040"/>
                </a:solidFill>
                <a:latin typeface="Calibri"/>
              </a:rPr>
              <a:t>◀ reflective (concave) side faces the object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08080"/>
                </a:solidFill>
                <a:latin typeface="Calibri"/>
              </a:rPr>
              <a:t>Concave Mirrors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3864"/>
                </a:solidFill>
                <a:latin typeface="Calibri"/>
              </a:rPr>
              <a:t>The Three Principal Ray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49808"/>
            <a:ext cx="113385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808080"/>
                </a:solidFill>
                <a:latin typeface="Calibri"/>
              </a:rPr>
              <a:t>Any two of these rays locate the image; the third is a check.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78992"/>
            <a:ext cx="113842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02920" y="1325880"/>
            <a:ext cx="3703320" cy="4572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Rule 1 — Parallel ray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11530" y="3040379"/>
            <a:ext cx="3000375" cy="0"/>
          </a:xfrm>
          <a:prstGeom prst="line">
            <a:avLst/>
          </a:prstGeom>
          <a:ln w="12700">
            <a:solidFill>
              <a:srgbClr val="808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reeform 7"/>
          <p:cNvSpPr/>
          <p:nvPr/>
        </p:nvSpPr>
        <p:spPr>
          <a:xfrm>
            <a:off x="3657600" y="2743200"/>
            <a:ext cx="0" cy="914400"/>
          </a:xfrm>
          <a:custGeom>
            <a:avLst/>
            <a:gdLst/>
            <a:ahLst/>
            <a:cxnLst/>
            <a:rect l="l" t="t" r="r" b="b"/>
            <a:pathLst>
              <a:path w="0" h="1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</a:path>
            </a:pathLst>
          </a:custGeom>
          <a:noFill/>
          <a:ln w="254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3439326" y="2739199"/>
            <a:ext cx="146304" cy="146304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459063" y="2865501"/>
            <a:ext cx="146304" cy="146304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468240" y="2991802"/>
            <a:ext cx="146304" cy="146304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467046" y="3118103"/>
            <a:ext cx="146304" cy="146305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455457" y="3244405"/>
            <a:ext cx="146304" cy="146304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433233" y="3370706"/>
            <a:ext cx="146304" cy="146304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399893" y="3497008"/>
            <a:ext cx="146304" cy="146304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54430" y="2768346"/>
            <a:ext cx="0" cy="272033"/>
          </a:xfrm>
          <a:prstGeom prst="line">
            <a:avLst/>
          </a:prstGeom>
          <a:ln w="25400">
            <a:solidFill>
              <a:srgbClr val="C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81278" y="3040379"/>
            <a:ext cx="146304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322701" y="3113532"/>
            <a:ext cx="82296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22222"/>
                </a:solidFill>
                <a:latin typeface="Calibri"/>
              </a:rPr>
              <a:t>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51176" y="3113532"/>
            <a:ext cx="82296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74B5"/>
                </a:solidFill>
                <a:latin typeface="Calibri"/>
              </a:rPr>
              <a:t>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79651" y="3113532"/>
            <a:ext cx="82296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7030A0"/>
                </a:solidFill>
                <a:latin typeface="Calibri"/>
              </a:rPr>
              <a:t>C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54430" y="2768346"/>
            <a:ext cx="2314575" cy="0"/>
          </a:xfrm>
          <a:prstGeom prst="line">
            <a:avLst/>
          </a:prstGeom>
          <a:ln w="25400">
            <a:solidFill>
              <a:srgbClr val="2E74B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668780" y="2768346"/>
            <a:ext cx="1800225" cy="634745"/>
          </a:xfrm>
          <a:prstGeom prst="line">
            <a:avLst/>
          </a:prstGeom>
          <a:ln w="25400">
            <a:solidFill>
              <a:srgbClr val="2E74B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94360" y="4297680"/>
            <a:ext cx="3520439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</a:rPr>
              <a:t>A ray parallel to the axis reflects through F.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1325880"/>
            <a:ext cx="3703320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Rule 2 — Focal ray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743450" y="3040379"/>
            <a:ext cx="3000375" cy="0"/>
          </a:xfrm>
          <a:prstGeom prst="line">
            <a:avLst/>
          </a:prstGeom>
          <a:ln w="12700">
            <a:solidFill>
              <a:srgbClr val="808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reeform 25"/>
          <p:cNvSpPr/>
          <p:nvPr/>
        </p:nvSpPr>
        <p:spPr>
          <a:xfrm>
            <a:off x="7315200" y="2743200"/>
            <a:ext cx="0" cy="914400"/>
          </a:xfrm>
          <a:custGeom>
            <a:avLst/>
            <a:gdLst/>
            <a:ahLst/>
            <a:cxnLst/>
            <a:rect l="l" t="t" r="r" b="b"/>
            <a:pathLst>
              <a:path w="0" h="1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</a:path>
            </a:pathLst>
          </a:custGeom>
          <a:noFill/>
          <a:ln w="254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7371246" y="2739199"/>
            <a:ext cx="146304" cy="146304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390983" y="2865501"/>
            <a:ext cx="146304" cy="146304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400160" y="2991802"/>
            <a:ext cx="146304" cy="146304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398966" y="3118103"/>
            <a:ext cx="146304" cy="146305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387377" y="3244405"/>
            <a:ext cx="146304" cy="146304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365153" y="3370706"/>
            <a:ext cx="146304" cy="146304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331813" y="3497008"/>
            <a:ext cx="146304" cy="146304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086350" y="2768346"/>
            <a:ext cx="0" cy="272033"/>
          </a:xfrm>
          <a:prstGeom prst="line">
            <a:avLst/>
          </a:prstGeom>
          <a:ln w="25400">
            <a:solidFill>
              <a:srgbClr val="C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013198" y="3040379"/>
            <a:ext cx="146304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254621" y="3113532"/>
            <a:ext cx="82296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22222"/>
                </a:solidFill>
                <a:latin typeface="Calibri"/>
              </a:rPr>
              <a:t>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83096" y="3113532"/>
            <a:ext cx="82296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74B5"/>
                </a:solidFill>
                <a:latin typeface="Calibri"/>
              </a:rPr>
              <a:t>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11571" y="3113532"/>
            <a:ext cx="82296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7030A0"/>
                </a:solidFill>
                <a:latin typeface="Calibri"/>
              </a:rPr>
              <a:t>C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086350" y="2768346"/>
            <a:ext cx="2314575" cy="408051"/>
          </a:xfrm>
          <a:prstGeom prst="line">
            <a:avLst/>
          </a:prstGeom>
          <a:ln w="25400">
            <a:solidFill>
              <a:srgbClr val="ED7D3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4829175" y="3176397"/>
            <a:ext cx="2571750" cy="0"/>
          </a:xfrm>
          <a:prstGeom prst="line">
            <a:avLst/>
          </a:prstGeom>
          <a:ln w="25400">
            <a:solidFill>
              <a:srgbClr val="ED7D3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526279" y="4297680"/>
            <a:ext cx="3520439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</a:rPr>
              <a:t>A ray through F reflects parallel to the axis.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66760" y="1325880"/>
            <a:ext cx="3703320" cy="4572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Rule 3 — Center ray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675370" y="3040379"/>
            <a:ext cx="3000375" cy="0"/>
          </a:xfrm>
          <a:prstGeom prst="line">
            <a:avLst/>
          </a:prstGeom>
          <a:ln w="12700">
            <a:solidFill>
              <a:srgbClr val="808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reeform 43"/>
          <p:cNvSpPr/>
          <p:nvPr/>
        </p:nvSpPr>
        <p:spPr>
          <a:xfrm>
            <a:off x="10972800" y="2743200"/>
            <a:ext cx="0" cy="914400"/>
          </a:xfrm>
          <a:custGeom>
            <a:avLst/>
            <a:gdLst/>
            <a:ahLst/>
            <a:cxnLst/>
            <a:rect l="l" t="t" r="r" b="b"/>
            <a:pathLst>
              <a:path w="0" h="1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</a:path>
            </a:pathLst>
          </a:custGeom>
          <a:noFill/>
          <a:ln w="254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11303166" y="2739199"/>
            <a:ext cx="146304" cy="146304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322903" y="2865501"/>
            <a:ext cx="146304" cy="146304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1332080" y="2991802"/>
            <a:ext cx="146304" cy="146304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1330886" y="3118103"/>
            <a:ext cx="146304" cy="146305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1319297" y="3244405"/>
            <a:ext cx="146304" cy="146304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1297073" y="3370706"/>
            <a:ext cx="146304" cy="146304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1263733" y="3497008"/>
            <a:ext cx="146304" cy="146304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9018270" y="2768346"/>
            <a:ext cx="0" cy="272033"/>
          </a:xfrm>
          <a:prstGeom prst="line">
            <a:avLst/>
          </a:prstGeom>
          <a:ln w="25400">
            <a:solidFill>
              <a:srgbClr val="C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945118" y="3040379"/>
            <a:ext cx="146304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1186541" y="3113532"/>
            <a:ext cx="82296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22222"/>
                </a:solidFill>
                <a:latin typeface="Calibri"/>
              </a:rPr>
              <a:t>V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15016" y="3113532"/>
            <a:ext cx="82296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74B5"/>
                </a:solidFill>
                <a:latin typeface="Calibri"/>
              </a:rPr>
              <a:t>F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43491" y="3113532"/>
            <a:ext cx="82296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7030A0"/>
                </a:solidFill>
                <a:latin typeface="Calibri"/>
              </a:rPr>
              <a:t>C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018270" y="2768346"/>
            <a:ext cx="2314575" cy="816101"/>
          </a:xfrm>
          <a:prstGeom prst="line">
            <a:avLst/>
          </a:prstGeom>
          <a:ln w="25400">
            <a:solidFill>
              <a:srgbClr val="7030A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 flipV="1">
            <a:off x="9789795" y="3040379"/>
            <a:ext cx="1543050" cy="544068"/>
          </a:xfrm>
          <a:prstGeom prst="line">
            <a:avLst/>
          </a:prstGeom>
          <a:ln w="22225">
            <a:solidFill>
              <a:srgbClr val="7030A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8458200" y="4297680"/>
            <a:ext cx="3520439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</a:rPr>
              <a:t>A ray through C reflects back on itself.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2920" y="5212080"/>
            <a:ext cx="11201400" cy="1097280"/>
          </a:xfrm>
          <a:prstGeom prst="roundRect">
            <a:avLst/>
          </a:prstGeom>
          <a:solidFill>
            <a:srgbClr val="D6E4F0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5800" y="5285232"/>
            <a:ext cx="1088136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F3864"/>
                </a:solidFill>
                <a:latin typeface="Calibri"/>
              </a:rPr>
              <a:t>How to use the rules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</a:rPr>
              <a:t>Draw the object as an upright arrow on the axis. Pick any two principal rays from the tip of the arrow.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Calibri"/>
              </a:rPr>
              <a:t>The point where the two reflected rays cross is the tip of the image. The third ray should pass through the same point — a built-in check.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08080"/>
                </a:solidFill>
                <a:latin typeface="Calibri"/>
              </a:rPr>
              <a:t>Concave Mirrors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3864"/>
                </a:solidFill>
                <a:latin typeface="Calibri"/>
              </a:rPr>
              <a:t>Mirror Equation &amp; Magnification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49808"/>
            <a:ext cx="113385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808080"/>
                </a:solidFill>
                <a:latin typeface="Calibri"/>
              </a:rPr>
              <a:t>The geometry of the ray diagram distilled into two formulas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78992"/>
            <a:ext cx="113842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31520" y="1463040"/>
            <a:ext cx="10698480" cy="1920240"/>
          </a:xfrm>
          <a:prstGeom prst="roundRect">
            <a:avLst/>
          </a:prstGeom>
          <a:solidFill>
            <a:srgbClr val="D6E4F0"/>
          </a:solidFill>
          <a:ln w="15875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27632"/>
            <a:ext cx="1014984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1F3864"/>
                </a:solidFill>
                <a:latin typeface="Cambria Math"/>
              </a:rPr>
              <a:t>1 / f  =  1 / d₀  +  1 / dᵢ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1014984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2E7D32"/>
                </a:solidFill>
                <a:latin typeface="Cambria Math"/>
              </a:rPr>
              <a:t>m  =  hᵢ / h₀  =  − dᵢ / d₀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5669280" cy="2651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3864"/>
                </a:solidFill>
                <a:latin typeface="Calibri"/>
              </a:rPr>
              <a:t>What each symbol means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f   — focal length (V to F). Positive for a concave mirror.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d₀  — object distance (object to V). Positive for real objects.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dᵢ  — image distance (image to V). Positive = real (in front); negative = virtual (behind).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h₀  — object height (upright taken as positive).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hᵢ  — image height. Sign gives orientation: negative = inverted.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m   — magnification. |m| &gt; 1 enlarged; |m| &lt; 1 reduced; m &lt; 0 inverted.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657600"/>
            <a:ext cx="5120640" cy="2651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3864"/>
                </a:solidFill>
                <a:latin typeface="Calibri"/>
              </a:rPr>
              <a:t>Reading the signs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dᵢ &gt; 0  →  real image, formed by converging reflected light in front of the mirror.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dᵢ &lt; 0  →  virtual image, traced back behind the mirror.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m &lt; 0  →  inverted image (pairs with real images here).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m &gt; 0  →  upright image (the virtual case inside F).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 i="1">
                <a:solidFill>
                  <a:srgbClr val="404040"/>
                </a:solidFill>
                <a:latin typeface="Calibri"/>
              </a:rPr>
              <a:t>R = 2f, so C sits one radius from V.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08080"/>
                </a:solidFill>
                <a:latin typeface="Calibri"/>
              </a:rPr>
              <a:t>Concave Mirrors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3864"/>
                </a:solidFill>
                <a:latin typeface="Calibri"/>
              </a:rPr>
              <a:t>Worked Example: f = 10 cm, d₀ = 30 cm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49808"/>
            <a:ext cx="113385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808080"/>
                </a:solidFill>
                <a:latin typeface="Calibri"/>
              </a:rPr>
              <a:t>Object sits beyond C — expect a real, inverted, reduced image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78992"/>
            <a:ext cx="113842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417320"/>
            <a:ext cx="5852160" cy="4389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Step 1 — Write the mirror equation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222222"/>
                </a:solidFill>
                <a:latin typeface="Cambria Math"/>
              </a:rPr>
              <a:t>1/f = 1/d₀ + 1/dᵢ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Step 2 — Substitute f = 10 cm, d₀ = 30 cm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22222"/>
                </a:solidFill>
                <a:latin typeface="Cambria Math"/>
              </a:rPr>
              <a:t>1/10 = 1/30 + 1/dᵢ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22222"/>
                </a:solidFill>
                <a:latin typeface="Cambria Math"/>
              </a:rPr>
              <a:t>1/dᵢ = 1/10 − 1/30 = 2/30 = 1/15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2E7D32"/>
                </a:solidFill>
                <a:latin typeface="Calibri"/>
              </a:rPr>
              <a:t>dᵢ = 15 cm   (positive → real, in front of the mirror)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Step 3 — Magnification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22222"/>
                </a:solidFill>
                <a:latin typeface="Cambria Math"/>
              </a:rPr>
              <a:t>m = −dᵢ/d₀ = −15/30 = −0.5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2E7D32"/>
                </a:solidFill>
                <a:latin typeface="Calibri"/>
              </a:rPr>
              <a:t>Image is inverted (m &lt; 0) and half the object height (|m| = 0.5).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Step 4 — Locate the image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15 cm is between F (10 cm) and C (20 cm) — exactly the “beyond C” case.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52160" y="4754880"/>
            <a:ext cx="3657600" cy="0"/>
          </a:xfrm>
          <a:prstGeom prst="line">
            <a:avLst/>
          </a:prstGeom>
          <a:ln w="15875">
            <a:solidFill>
              <a:srgbClr val="22222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reeform 7"/>
          <p:cNvSpPr/>
          <p:nvPr/>
        </p:nvSpPr>
        <p:spPr>
          <a:xfrm>
            <a:off x="8229600" y="3657600"/>
            <a:ext cx="0" cy="1828800"/>
          </a:xfrm>
          <a:custGeom>
            <a:avLst/>
            <a:gdLst/>
            <a:ahLst/>
            <a:cxnLst/>
            <a:rect l="l" t="t" r="r" b="b"/>
            <a:pathLst>
              <a:path w="0" h="2">
                <a:moveTo>
                  <a:pt x="0" y="0"/>
                </a:move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2"/>
                </a:lnTo>
                <a:lnTo>
                  <a:pt x="0" y="2"/>
                </a:lnTo>
                <a:lnTo>
                  <a:pt x="0" y="2"/>
                </a:lnTo>
              </a:path>
            </a:pathLst>
          </a:custGeom>
          <a:noFill/>
          <a:ln w="254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338659" y="4240530"/>
            <a:ext cx="146304" cy="146304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80045" y="4411980"/>
            <a:ext cx="146304" cy="146304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404425" y="4583430"/>
            <a:ext cx="146304" cy="146304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80" y="4754880"/>
            <a:ext cx="146304" cy="146304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404425" y="4926330"/>
            <a:ext cx="146304" cy="146304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380045" y="5097780"/>
            <a:ext cx="146304" cy="146304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338659" y="5269230"/>
            <a:ext cx="146304" cy="146304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412480" y="4663440"/>
            <a:ext cx="0" cy="182880"/>
          </a:xfrm>
          <a:prstGeom prst="line">
            <a:avLst/>
          </a:prstGeom>
          <a:ln w="1587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498079" y="4663440"/>
            <a:ext cx="0" cy="182880"/>
          </a:xfrm>
          <a:prstGeom prst="line">
            <a:avLst/>
          </a:prstGeom>
          <a:ln w="1587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583680" y="4663440"/>
            <a:ext cx="0" cy="182880"/>
          </a:xfrm>
          <a:prstGeom prst="line">
            <a:avLst/>
          </a:prstGeom>
          <a:ln w="1587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47888" y="4828032"/>
            <a:ext cx="82296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22222"/>
                </a:solidFill>
                <a:latin typeface="Calibri"/>
              </a:rPr>
              <a:t>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488" y="4828032"/>
            <a:ext cx="82296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4B5"/>
                </a:solidFill>
                <a:latin typeface="Calibri"/>
              </a:rPr>
              <a:t>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828032"/>
            <a:ext cx="82296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7030A0"/>
                </a:solidFill>
                <a:latin typeface="Calibri"/>
              </a:rPr>
              <a:t>C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5669279" y="4023360"/>
            <a:ext cx="0" cy="731520"/>
          </a:xfrm>
          <a:prstGeom prst="line">
            <a:avLst/>
          </a:prstGeom>
          <a:ln w="28575">
            <a:solidFill>
              <a:srgbClr val="C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577840" y="4754880"/>
            <a:ext cx="182879" cy="0"/>
          </a:xfrm>
          <a:prstGeom prst="line">
            <a:avLst/>
          </a:prstGeom>
          <a:ln w="1651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029199" y="3977640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00000"/>
                </a:solidFill>
                <a:latin typeface="Calibri"/>
              </a:rPr>
              <a:t>Object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040879" y="4754880"/>
            <a:ext cx="0" cy="365760"/>
          </a:xfrm>
          <a:prstGeom prst="line">
            <a:avLst/>
          </a:prstGeom>
          <a:ln w="28575">
            <a:solidFill>
              <a:srgbClr val="2E7D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949440" y="4754880"/>
            <a:ext cx="182879" cy="0"/>
          </a:xfrm>
          <a:prstGeom prst="line">
            <a:avLst/>
          </a:prstGeom>
          <a:ln w="1651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675119" y="5138928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2E7D32"/>
                </a:solidFill>
                <a:latin typeface="Calibri"/>
              </a:rPr>
              <a:t>Image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571500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808080"/>
                </a:solidFill>
                <a:latin typeface="Calibri"/>
              </a:rPr>
              <a:t>scale: 1 in ≈ 10 cm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08080"/>
                </a:solidFill>
                <a:latin typeface="Calibri"/>
              </a:rPr>
              <a:t>Concave Mirrors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3864"/>
                </a:solidFill>
                <a:latin typeface="Calibri"/>
              </a:rPr>
              <a:t>Object-Position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49808"/>
            <a:ext cx="113385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808080"/>
                </a:solidFill>
                <a:latin typeface="Calibri"/>
              </a:rPr>
              <a:t>Where the object sits decides where and what the image is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78992"/>
            <a:ext cx="113842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2014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2423160"/>
                <a:gridCol w="2148840"/>
                <a:gridCol w="1920240"/>
                <a:gridCol w="2468880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Object position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Image position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Orientation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Size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Image type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</a:rPr>
                        <a:t>Beyond 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Between F and 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Inverted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Reduced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Real</a:t>
                      </a:r>
                    </a:p>
                  </a:txBody>
                  <a:tcPr marL="73152" marR="73152" marT="27432" marB="27432" anchor="ctr">
                    <a:solidFill>
                      <a:srgbClr val="E2EFD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</a:rPr>
                        <a:t>At C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At C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Inverted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Same size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Real</a:t>
                      </a:r>
                    </a:p>
                  </a:txBody>
                  <a:tcPr marL="73152" marR="73152" marT="27432" marB="27432" anchor="ctr">
                    <a:solidFill>
                      <a:srgbClr val="E2EFD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</a:rPr>
                        <a:t>Between F and 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Beyond 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Inverted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Enlarged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Real</a:t>
                      </a:r>
                    </a:p>
                  </a:txBody>
                  <a:tcPr marL="73152" marR="73152" marT="27432" marB="27432" anchor="ctr">
                    <a:solidFill>
                      <a:srgbClr val="E2EFD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</a:rPr>
                        <a:t>At F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No finite image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— (rays leave parallel)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No image</a:t>
                      </a:r>
                    </a:p>
                  </a:txBody>
                  <a:tcPr marL="73152" marR="73152" marT="27432" marB="27432" anchor="ctr">
                    <a:solidFill>
                      <a:srgbClr val="FFF2C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</a:rPr>
                        <a:t>Inside F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Behind the mirror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Upright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Enlarged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Virtual</a:t>
                      </a:r>
                    </a:p>
                  </a:txBody>
                  <a:tcPr marL="73152" marR="73152" marT="27432" marB="27432" anchor="ctr">
                    <a:solidFill>
                      <a:srgbClr val="FCE4D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486400"/>
            <a:ext cx="112014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F3864"/>
                </a:solidFill>
                <a:latin typeface="Calibri"/>
              </a:rPr>
              <a:t>Reading the table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222"/>
                </a:solidFill>
                <a:latin typeface="Calibri"/>
              </a:rPr>
              <a:t>Moving the object from beyond C toward F: the real image grows from reduced to enlarged and slides from F toward beyond C. At F the reflected rays are parallel, so no image forms. Inside F the rays diverge → a virtual, upright, enlarged image behind the mirror.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08080"/>
                </a:solidFill>
                <a:latin typeface="Calibri"/>
              </a:rPr>
              <a:t>Concave Mirrors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3864"/>
                </a:solidFill>
                <a:latin typeface="Calibri"/>
              </a:rPr>
              <a:t>Step-by-Step Ray Diagram (Object Beyond 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49808"/>
            <a:ext cx="113385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808080"/>
                </a:solidFill>
                <a:latin typeface="Calibri"/>
              </a:rPr>
              <a:t>All three principal rays converge on the image — editable construction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78992"/>
            <a:ext cx="113842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4297680"/>
            <a:ext cx="6126480" cy="0"/>
          </a:xfrm>
          <a:prstGeom prst="line">
            <a:avLst/>
          </a:prstGeom>
          <a:ln w="15875">
            <a:solidFill>
              <a:srgbClr val="808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 6"/>
          <p:cNvSpPr/>
          <p:nvPr/>
        </p:nvSpPr>
        <p:spPr>
          <a:xfrm>
            <a:off x="8229600" y="3657600"/>
            <a:ext cx="0" cy="1828800"/>
          </a:xfrm>
          <a:custGeom>
            <a:avLst/>
            <a:gdLst/>
            <a:ahLst/>
            <a:cxnLst/>
            <a:rect l="l" t="t" r="r" b="b"/>
            <a:pathLst>
              <a:path w="0" h="2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1"/>
                </a:lnTo>
                <a:lnTo>
                  <a:pt x="0" y="2"/>
                </a:lnTo>
              </a:path>
            </a:pathLst>
          </a:custGeom>
          <a:noFill/>
          <a:ln w="317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8166948" y="3714750"/>
            <a:ext cx="146304" cy="146304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201933" y="3909060"/>
            <a:ext cx="146304" cy="146304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222709" y="4103370"/>
            <a:ext cx="146304" cy="146304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29600" y="4297680"/>
            <a:ext cx="146304" cy="146304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22709" y="4491990"/>
            <a:ext cx="146304" cy="146304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201933" y="4686300"/>
            <a:ext cx="146304" cy="146304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166948" y="4880610"/>
            <a:ext cx="146304" cy="146304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229600" y="4187952"/>
            <a:ext cx="0" cy="219456"/>
          </a:xfrm>
          <a:prstGeom prst="line">
            <a:avLst/>
          </a:prstGeom>
          <a:ln w="1587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58000" y="4187952"/>
            <a:ext cx="0" cy="219456"/>
          </a:xfrm>
          <a:prstGeom prst="line">
            <a:avLst/>
          </a:prstGeom>
          <a:ln w="1587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486400" y="4187952"/>
            <a:ext cx="0" cy="219456"/>
          </a:xfrm>
          <a:prstGeom prst="line">
            <a:avLst/>
          </a:prstGeom>
          <a:ln w="1587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065008" y="4370832"/>
            <a:ext cx="82296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2222"/>
                </a:solidFill>
                <a:latin typeface="Calibri"/>
              </a:rPr>
              <a:t>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3408" y="4370832"/>
            <a:ext cx="82296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E74B5"/>
                </a:solidFill>
                <a:latin typeface="Calibri"/>
              </a:rPr>
              <a:t>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1808" y="4370832"/>
            <a:ext cx="82296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7030A0"/>
                </a:solidFill>
                <a:latin typeface="Calibri"/>
              </a:rPr>
              <a:t>C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4114800" y="3840480"/>
            <a:ext cx="0" cy="457200"/>
          </a:xfrm>
          <a:prstGeom prst="line">
            <a:avLst/>
          </a:prstGeom>
          <a:ln w="31750">
            <a:solidFill>
              <a:srgbClr val="C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005072" y="4297680"/>
            <a:ext cx="219456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37560" y="3767328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0000"/>
                </a:solidFill>
                <a:latin typeface="Calibri"/>
              </a:rPr>
              <a:t>Object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172200" y="4297680"/>
            <a:ext cx="0" cy="228600"/>
          </a:xfrm>
          <a:prstGeom prst="line">
            <a:avLst/>
          </a:prstGeom>
          <a:ln w="31750">
            <a:solidFill>
              <a:srgbClr val="2E7D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062472" y="4297680"/>
            <a:ext cx="219456" cy="0"/>
          </a:xfrm>
          <a:prstGeom prst="line">
            <a:avLst/>
          </a:prstGeom>
          <a:ln w="1905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281928" y="4544568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7D32"/>
                </a:solidFill>
                <a:latin typeface="Calibri"/>
              </a:rPr>
              <a:t>Image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114800" y="3840480"/>
            <a:ext cx="4114800" cy="0"/>
          </a:xfrm>
          <a:prstGeom prst="line">
            <a:avLst/>
          </a:prstGeom>
          <a:ln w="22225">
            <a:solidFill>
              <a:srgbClr val="2E74B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108960" y="3840480"/>
            <a:ext cx="5120640" cy="1706880"/>
          </a:xfrm>
          <a:prstGeom prst="line">
            <a:avLst/>
          </a:prstGeom>
          <a:ln w="22225">
            <a:solidFill>
              <a:srgbClr val="2E74B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12280" y="4251960"/>
            <a:ext cx="91440" cy="91440"/>
          </a:xfrm>
          <a:prstGeom prst="line">
            <a:avLst/>
          </a:prstGeom>
          <a:ln w="1270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114800" y="3840480"/>
            <a:ext cx="4114800" cy="685800"/>
          </a:xfrm>
          <a:prstGeom prst="line">
            <a:avLst/>
          </a:prstGeom>
          <a:ln w="22225">
            <a:solidFill>
              <a:srgbClr val="ED7D3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3108960" y="4526280"/>
            <a:ext cx="5120640" cy="0"/>
          </a:xfrm>
          <a:prstGeom prst="line">
            <a:avLst/>
          </a:prstGeom>
          <a:ln w="22225">
            <a:solidFill>
              <a:srgbClr val="ED7D3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114800" y="3840480"/>
            <a:ext cx="4114800" cy="1371600"/>
          </a:xfrm>
          <a:prstGeom prst="line">
            <a:avLst/>
          </a:prstGeom>
          <a:ln w="22225">
            <a:solidFill>
              <a:srgbClr val="7030A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5486400" y="4297680"/>
            <a:ext cx="2743200" cy="914400"/>
          </a:xfrm>
          <a:prstGeom prst="line">
            <a:avLst/>
          </a:prstGeom>
          <a:ln w="19050">
            <a:solidFill>
              <a:srgbClr val="7030A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6108192" y="4462272"/>
            <a:ext cx="128016" cy="128016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0" y="1371600"/>
            <a:ext cx="2606040" cy="4206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Construction steps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E74B5"/>
                </a:solidFill>
                <a:latin typeface="Calibri"/>
              </a:rPr>
              <a:t>1  Parallel ray (blue)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From the tip, draw a ray parallel to the axis. After reflection it passes through F.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D7D31"/>
                </a:solidFill>
                <a:latin typeface="Calibri"/>
              </a:rPr>
              <a:t>2  Focal ray (orange)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From the tip, draw a ray through F. After reflection it travels parallel to the axis.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030A0"/>
                </a:solidFill>
                <a:latin typeface="Calibri"/>
              </a:rPr>
              <a:t>3  Center ray (purple)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From the tip, draw a ray through C. It hits the mirror normal to the surface and reflects straight back.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All three reflected rays meet at the image tip → real, inverted, reduced.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5806440"/>
            <a:ext cx="6126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404040"/>
                </a:solidFill>
                <a:latin typeface="Calibri"/>
              </a:rPr>
              <a:t>Check: dᵢ = 2.25 in, m = −0.5  →  image height = ½ × object height, inverted. (Here 1 in plays the role of the scale unit.)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08080"/>
                </a:solidFill>
                <a:latin typeface="Calibri"/>
              </a:rPr>
              <a:t>Concave Mirrors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3864"/>
                </a:solidFill>
                <a:latin typeface="Calibri"/>
              </a:rPr>
              <a:t>Common Misconceptions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49808"/>
            <a:ext cx="113385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808080"/>
                </a:solidFill>
                <a:latin typeface="Calibri"/>
              </a:rPr>
              <a:t>Catch these before they cost you marks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78992"/>
            <a:ext cx="113842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1417320"/>
            <a:ext cx="1828800" cy="411480"/>
          </a:xfrm>
          <a:prstGeom prst="roundRect">
            <a:avLst/>
          </a:prstGeom>
          <a:solidFill>
            <a:srgbClr val="F4CCCC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b="1" sz="1200">
                <a:solidFill>
                  <a:srgbClr val="C00000"/>
                </a:solidFill>
                <a:latin typeface="Calibri"/>
              </a:rPr>
              <a:t>MYTH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56232"/>
            <a:ext cx="54864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1">
                <a:solidFill>
                  <a:srgbClr val="C00000"/>
                </a:solidFill>
                <a:latin typeface="Calibri"/>
              </a:rPr>
              <a:t>“The image always forms at the focal point.”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417320"/>
            <a:ext cx="5852160" cy="11704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222"/>
                </a:solidFill>
                <a:latin typeface="Calibri"/>
              </a:rPr>
              <a:t>Wrong. Only an object at infinity sends parallel rays through F. For any finite d₀ the image distance follows 1/dᵢ = 1/f − 1/d₀, so the image moves as the object moves.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417320"/>
            <a:ext cx="3246120" cy="1170432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b="1" sz="1200">
                <a:solidFill>
                  <a:srgbClr val="2E7D32"/>
                </a:solidFill>
                <a:latin typeface="Calibri"/>
              </a:rPr>
              <a:t>FIX:  </a:t>
            </a:r>
            <a:r>
              <a:rPr sz="1200">
                <a:solidFill>
                  <a:srgbClr val="222222"/>
                </a:solidFill>
                <a:latin typeface="Calibri"/>
              </a:rPr>
              <a:t>F is a reference point, not a fixed image slot.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60904"/>
            <a:ext cx="1828800" cy="411480"/>
          </a:xfrm>
          <a:prstGeom prst="roundRect">
            <a:avLst/>
          </a:prstGeom>
          <a:solidFill>
            <a:srgbClr val="F4CCCC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b="1" sz="1200">
                <a:solidFill>
                  <a:srgbClr val="C00000"/>
                </a:solidFill>
                <a:latin typeface="Calibri"/>
              </a:rPr>
              <a:t>MYTH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99816"/>
            <a:ext cx="54864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1">
                <a:solidFill>
                  <a:srgbClr val="C00000"/>
                </a:solidFill>
                <a:latin typeface="Calibri"/>
              </a:rPr>
              <a:t>“Real images are always enlarged.”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660904"/>
            <a:ext cx="5852160" cy="11704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222"/>
                </a:solidFill>
                <a:latin typeface="Calibri"/>
              </a:rPr>
              <a:t>Wrong. Real images can be reduced, same-size, or enlarged. Beyond C the image is reduced; at C it is the same size; between F and C it is enlarged.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2660904"/>
            <a:ext cx="3246120" cy="1170432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b="1" sz="1200">
                <a:solidFill>
                  <a:srgbClr val="2E7D32"/>
                </a:solidFill>
                <a:latin typeface="Calibri"/>
              </a:rPr>
              <a:t>FIX:  </a:t>
            </a:r>
            <a:r>
              <a:rPr sz="1200">
                <a:solidFill>
                  <a:srgbClr val="222222"/>
                </a:solidFill>
                <a:latin typeface="Calibri"/>
              </a:rPr>
              <a:t>Size depends on object position.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04488"/>
            <a:ext cx="1828800" cy="411480"/>
          </a:xfrm>
          <a:prstGeom prst="roundRect">
            <a:avLst/>
          </a:prstGeom>
          <a:solidFill>
            <a:srgbClr val="F4CCCC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b="1" sz="1200">
                <a:solidFill>
                  <a:srgbClr val="C00000"/>
                </a:solidFill>
                <a:latin typeface="Calibri"/>
              </a:rPr>
              <a:t>MYTH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343400"/>
            <a:ext cx="54864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1">
                <a:solidFill>
                  <a:srgbClr val="C00000"/>
                </a:solidFill>
                <a:latin typeface="Calibri"/>
              </a:rPr>
              <a:t>“A ray diagram is just decoration.”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904488"/>
            <a:ext cx="5852160" cy="11704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222"/>
                </a:solidFill>
                <a:latin typeface="Calibri"/>
              </a:rPr>
              <a:t>Wrong. The ray diagram encodes the image location, orientation, and size. The formulas are a shortcut for what the diagram shows.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3904488"/>
            <a:ext cx="3246120" cy="1170432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b="1" sz="1200">
                <a:solidFill>
                  <a:srgbClr val="2E7D32"/>
                </a:solidFill>
                <a:latin typeface="Calibri"/>
              </a:rPr>
              <a:t>FIX:  </a:t>
            </a:r>
            <a:r>
              <a:rPr sz="1200">
                <a:solidFill>
                  <a:srgbClr val="222222"/>
                </a:solidFill>
                <a:latin typeface="Calibri"/>
              </a:rPr>
              <a:t>Draw it to believe 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148072"/>
            <a:ext cx="1828800" cy="411480"/>
          </a:xfrm>
          <a:prstGeom prst="roundRect">
            <a:avLst/>
          </a:prstGeom>
          <a:solidFill>
            <a:srgbClr val="F4CCCC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b="1" sz="1200">
                <a:solidFill>
                  <a:srgbClr val="C00000"/>
                </a:solidFill>
                <a:latin typeface="Calibri"/>
              </a:rPr>
              <a:t>MYTH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586984"/>
            <a:ext cx="54864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1">
                <a:solidFill>
                  <a:srgbClr val="C00000"/>
                </a:solidFill>
                <a:latin typeface="Calibri"/>
              </a:rPr>
              <a:t>“Resizing or rotating a diagram is fine as long as it looks nice.”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5148072"/>
            <a:ext cx="5852160" cy="11704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222"/>
                </a:solidFill>
                <a:latin typeface="Calibri"/>
              </a:rPr>
              <a:t>Wrong. Ray directions and labels must stay physically meaningful. A rotated arrow or a misplaced F breaks the geometry the diagram is meant to convey.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58200" y="5148072"/>
            <a:ext cx="3246120" cy="1170432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b="1" sz="1200">
                <a:solidFill>
                  <a:srgbClr val="2E7D32"/>
                </a:solidFill>
                <a:latin typeface="Calibri"/>
              </a:rPr>
              <a:t>FIX:  </a:t>
            </a:r>
            <a:r>
              <a:rPr sz="1200">
                <a:solidFill>
                  <a:srgbClr val="222222"/>
                </a:solidFill>
                <a:latin typeface="Calibri"/>
              </a:rPr>
              <a:t>Keep rays and labels correct, not decorative.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08080"/>
                </a:solidFill>
                <a:latin typeface="Calibri"/>
              </a:rPr>
              <a:t>Concave Mirrors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3864"/>
                </a:solidFill>
                <a:latin typeface="Calibri"/>
              </a:rPr>
              <a:t>Recap &amp; 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49808"/>
            <a:ext cx="113385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808080"/>
                </a:solidFill>
                <a:latin typeface="Calibri"/>
              </a:rPr>
              <a:t>Five facts to remember, three questions to try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78992"/>
            <a:ext cx="11384280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1371600"/>
            <a:ext cx="5486400" cy="4937760"/>
          </a:xfrm>
          <a:prstGeom prst="roundRect">
            <a:avLst/>
          </a:prstGeom>
          <a:solidFill>
            <a:srgbClr val="D6E4F0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5029200" cy="46634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</a:rPr>
              <a:t>Five facts to remember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1.  F sits halfway between V and C; f = R/2 and f is positive for a concave mirror.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2.  Three principal rays: parallel→F, through F→parallel, through C→back on itself.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3.  1/f = 1/d₀ + 1/dᵢ  and  m = −dᵢ/d₀. Signs carry the physics.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4.  Beyond C → real, inverted, reduced. At C → same size. Between F and C → enlarged. Inside F → virtual, upright, enlarged.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5.  At F the reflected rays are parallel: no finite image forms.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1" i="1">
                <a:solidFill>
                  <a:srgbClr val="1F3864"/>
                </a:solidFill>
                <a:latin typeface="Calibri"/>
              </a:rPr>
              <a:t>Ray diagrams are predictions, not decoration — keep them correct.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493776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08760"/>
            <a:ext cx="5029200" cy="46634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C65911"/>
                </a:solidFill>
                <a:latin typeface="Calibri"/>
              </a:rPr>
              <a:t>Check your understanding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Q1.  An object is placed 25 cm in front of a concave mirror of f = 10 cm. Find dᵢ and m. Is the image real or virtual?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Q2.  For the same mirror, the object is moved to 5 cm from V. What changes about the image, and why?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Q3.  A student draws a ray from the tip that hits the mirror and reflects “roughly toward F.” Why is that not good enough?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1" i="0">
                <a:solidFill>
                  <a:srgbClr val="404040"/>
                </a:solidFill>
                <a:latin typeface="Calibri"/>
              </a:rPr>
              <a:t>Answers (upside-down thinking):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222"/>
                </a:solidFill>
                <a:latin typeface="Calibri"/>
              </a:rPr>
              <a:t>A1. dᵢ = 16.7 cm, m = −0.67 → real, inverted, reduced.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222222"/>
                </a:solidFill>
                <a:latin typeface="Calibri"/>
              </a:rPr>
              <a:t>A2. Inside F → virtual, upright, enlarged (dᵢ &lt; 0, m &gt; 0).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222"/>
                </a:solidFill>
                <a:latin typeface="Calibri"/>
              </a:rPr>
              <a:t>A3. The reflected ray must pass exactly through F (Rule 1); an approximate path locates the image wrong.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08080"/>
                </a:solidFill>
                <a:latin typeface="Calibri"/>
              </a:rPr>
              <a:t>Concave Mirrors  |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
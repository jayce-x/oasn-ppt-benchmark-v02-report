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 snapToObjects="1">
      <p:cViewPr varScale="1">
        <p:scale>
          <a:sx n="120" d="100"/>
          <a:sy n="120" d="100"/>
        </p:scale>
        <p:origin x="1944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400" b="1"/>
            </a:pPr>
            <a:r>
              <a:t>Global Average Temperature (°C)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spPr>
            <a:solidFill>
              <a:srgbClr val="1F77B4"/>
            </a:solidFill>
          </c:spPr>
          <c:idx val="0"/>
          <c:order val="0"/>
          <c:tx>
            <c:strRef>
              <c:f>Sheet1!$B$1</c:f>
              <c:strCache>
                <c:ptCount val="1"/>
                <c:pt idx="0">
                  <c:v>Temperature (°C)</c:v>
                </c:pt>
              </c:strCache>
            </c:strRef>
          </c:tx>
          <c:cat>
            <c:strRef>
              <c:f>Sheet1!$A$2:$A$4</c:f>
              <c:strCache>
                <c:ptCount val="3"/>
                <c:pt idx="0">
                  <c:v>1991-2020 Avg</c:v>
                </c:pt>
                <c:pt idx="1">
                  <c:v>2023</c:v>
                </c:pt>
                <c:pt idx="2">
                  <c:v>2024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14.2</c:v>
                </c:pt>
                <c:pt idx="1">
                  <c:v>14.8</c:v>
                </c:pt>
                <c:pt idx="2">
                  <c:v>15.1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inVal val="0"/>
          <c:maxVal val="16"/>
        </c:scaling>
        <c:majorUnit val="2"/>
        <c:delete val="0"/>
        <c:axPos val="l"/>
        <c:majorGridlines/>
        <c:title>
          <c:tx>
            <c:rich>
              <a:bodyPr/>
              <a:lstStyle/>
              <a:p>
                <a:r>
                  <a:t>Temperature (°C)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10/6/25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limate.copernicus.eu/copernicus-2024-first-year-exceed-15degc-above-pre-industrial-level#:~:text=2024%20is%20confirmed%20by%20the,temperatures%20observed%20during%20the%20year" TargetMode="Externa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limate.copernicus.eu/copernicus-2024-first-year-exceed-15degc-above-pre-industrial-level#:~:text=Global%20surface%20air%20temperature%20highlights%3A" TargetMode="Externa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3" Type="http://schemas.openxmlformats.org/officeDocument/2006/relationships/hyperlink" Target="https://climate.copernicus.eu/copernicus-2024-first-year-exceed-15degc-above-pre-industrial-level#:~:text=According%20to%20ERA5%20,industrial%20level" TargetMode="External"/><Relationship Id="rId4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hyperlink" Target="https://climate.copernicus.eu/copernicus-2024-first-year-exceed-15degc-above-pre-industrial-level#:~:text=,DOWNLOAD%20DATA" TargetMode="Externa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limate.copernicus.eu/copernicus-2024-first-year-exceed-15degc-above-pre-industrial-level#:~:text=Carlo%20Buontempo%2C%20Director%20of%20the,%E2%80%9D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hyperlink" Target="https://climate.copernicus.e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>
                <a:solidFill>
                  <a:srgbClr val="002B5C"/>
                </a:solidFill>
              </a:rPr>
              <a:t>2024 Global Climate Highlights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>
                <a:solidFill>
                  <a:srgbClr val="002B5C"/>
                </a:solidFill>
              </a:rPr>
              <a:t>Copernicus Climate Change Service Report</a:t>
            </a:r>
          </a:p>
        </p:txBody>
      </p:sp>
      <p:sp>
        <p:nvSpPr>
          <p:cNvPr id="0" name="Progress Bar Background"/>
          <p:cNvSpPr>
            <a:spLocks noGrp="1" noSelect="1"/>
          </p:cNvSpPr>
          <p:nvPr/>
        </p:nvSpPr>
        <p:spPr>
          <a:xfrm>
            <a:off x="0" y="6798000"/>
            <a:ext cx="9144000" cy="6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Progress Bar Fill"/>
          <p:cNvSpPr>
            <a:spLocks noGrp="1" noSelect="1"/>
          </p:cNvSpPr>
          <p:nvPr/>
        </p:nvSpPr>
        <p:spPr>
          <a:xfrm>
            <a:off x="0" y="6798000"/>
            <a:ext cx="1306285" cy="6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B5C"/>
                </a:solidFill>
              </a:rPr>
              <a:t>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400"/>
            </a:pPr>
            <a:r>
              <a:rPr>
                <a:solidFill>
                  <a:srgbClr val="333333"/>
                </a:solidFill>
              </a:rPr>
              <a:t>In 2024, global surface temperatures reached unprecedented levels, exceeding 1.5°C above the pre-industrial baseline. The Copernicus Climate Change Service reported that 2024 was not only the warmest year on record but also the first calendar year to surpass the 1.5°C threshold. Human-induced climate change is the primary driver of these extreme temperatures, with phenomena like El Niño adding variability.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/>
            </a:pPr>
            <a:endParaRPr/>
          </a:p>
          <a:p>
            <a:r>
              <a:rPr>
                <a:solidFill>
                  <a:srgbClr val="333333"/>
                </a:solidFill>
                <a:hlinkClick r:id="rId2"/>
              </a:rPr>
              <a:t>[1]</a:t>
            </a:r>
          </a:p>
        </p:txBody>
      </p:sp>
      <p:sp>
        <p:nvSpPr>
          <p:cNvPr id="0" name="Progress Bar Background"/>
          <p:cNvSpPr>
            <a:spLocks noGrp="1" noSelect="1"/>
          </p:cNvSpPr>
          <p:nvPr/>
        </p:nvSpPr>
        <p:spPr>
          <a:xfrm>
            <a:off x="0" y="6798000"/>
            <a:ext cx="9144000" cy="6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Progress Bar Fill"/>
          <p:cNvSpPr>
            <a:spLocks noGrp="1" noSelect="1"/>
          </p:cNvSpPr>
          <p:nvPr/>
        </p:nvSpPr>
        <p:spPr>
          <a:xfrm>
            <a:off x="0" y="6798000"/>
            <a:ext cx="2612571" cy="6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B5C"/>
                </a:solidFill>
              </a:rPr>
              <a:t>2024 Climate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rPr>
                <a:solidFill>
                  <a:srgbClr val="333333"/>
                </a:solidFill>
              </a:rPr>
              <a:t>2024 recorded a global average temperature of 15.10°C, which is 0.72°C above the 1991–2020 average and 0.12°C warmer than 2023.</a:t>
            </a:r>
          </a:p>
          <a:p>
            <a:pPr>
              <a:defRPr sz="1400"/>
            </a:pPr>
            <a:r>
              <a:rPr>
                <a:solidFill>
                  <a:srgbClr val="333333"/>
                </a:solidFill>
              </a:rPr>
              <a:t>2024 is the first calendar year to exceed 1.5°C above pre-industrial levels.</a:t>
            </a:r>
          </a:p>
          <a:p>
            <a:pPr>
              <a:defRPr sz="1400"/>
            </a:pPr>
            <a:r>
              <a:rPr>
                <a:solidFill>
                  <a:srgbClr val="333333"/>
                </a:solidFill>
              </a:rPr>
              <a:t>Each year from 2015 to 2024 ranks among the ten warmest years on record.</a:t>
            </a:r>
          </a:p>
          <a:p>
            <a:pPr>
              <a:defRPr sz="1400"/>
            </a:pPr>
            <a:r>
              <a:rPr>
                <a:solidFill>
                  <a:srgbClr val="333333"/>
                </a:solidFill>
              </a:rPr>
              <a:t>Monthly global temperatures exceeded 1.5°C for 11 months, with a record daily high of 17.16°C on July 22, 2024.</a:t>
            </a:r>
          </a:p>
          <a:p>
            <a:pPr>
              <a:defRPr sz="1400"/>
            </a:pPr>
            <a:r>
              <a:rPr>
                <a:solidFill>
                  <a:srgbClr val="333333"/>
                </a:solidFill>
              </a:rPr>
              <a:t>2024 was the warmest year for almost all continental regions, except Antarctica and Australasia.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800"/>
            </a:pPr>
            <a:r>
              <a:rPr>
                <a:solidFill>
                  <a:srgbClr val="333333"/>
                </a:solidFill>
                <a:hlinkClick r:id="rId2"/>
              </a:rPr>
              <a:t>[2] [3]</a:t>
            </a:r>
          </a:p>
        </p:txBody>
      </p:sp>
      <p:sp>
        <p:nvSpPr>
          <p:cNvPr id="0" name="Progress Bar Background"/>
          <p:cNvSpPr>
            <a:spLocks noGrp="1" noSelect="1"/>
          </p:cNvSpPr>
          <p:nvPr/>
        </p:nvSpPr>
        <p:spPr>
          <a:xfrm>
            <a:off x="0" y="6798000"/>
            <a:ext cx="9144000" cy="6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Progress Bar Fill"/>
          <p:cNvSpPr>
            <a:spLocks noGrp="1" noSelect="1"/>
          </p:cNvSpPr>
          <p:nvPr/>
        </p:nvSpPr>
        <p:spPr>
          <a:xfrm>
            <a:off x="0" y="6798000"/>
            <a:ext cx="3918857" cy="6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B5C"/>
                </a:solidFill>
              </a:rPr>
              <a:t>Global Average Temperature Comparison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1371600"/>
            <a:ext cx="2743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200"/>
            </a:pPr>
            <a:r>
              <a:rPr>
                <a:solidFill>
                  <a:srgbClr val="333333"/>
                </a:solidFill>
              </a:rPr>
              <a:t>This bar chart compares the 1991–2020 average global surface temperature with the record-breaking years 2023 and 2024. The 2024 bar stands tallest, highlighting the unprecedented warming that exceeded the 1.5°C threshold above pre-industrial levels.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800"/>
            </a:pPr>
            <a:r>
              <a:rPr>
                <a:solidFill>
                  <a:srgbClr val="333333"/>
                </a:solidFill>
                <a:hlinkClick r:id="rId3"/>
              </a:rPr>
              <a:t>[4]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1371600" y="1371600"/>
          <a:ext cx="4572000" cy="3429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0" name="Progress Bar Background"/>
          <p:cNvSpPr>
            <a:spLocks noGrp="1" noSelect="1"/>
          </p:cNvSpPr>
          <p:nvPr/>
        </p:nvSpPr>
        <p:spPr>
          <a:xfrm>
            <a:off x="0" y="6798000"/>
            <a:ext cx="9144000" cy="6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Progress Bar Fill"/>
          <p:cNvSpPr>
            <a:spLocks noGrp="1" noSelect="1"/>
          </p:cNvSpPr>
          <p:nvPr/>
        </p:nvSpPr>
        <p:spPr>
          <a:xfrm>
            <a:off x="0" y="6798000"/>
            <a:ext cx="5225142" cy="6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B5C"/>
                </a:solidFill>
              </a:rPr>
              <a:t>Temperature Trends &amp; Anomalies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</p:txBody>
      </p:sp>
      <p:pic>
        <p:nvPicPr>
          <p:cNvPr id="4" name="Picture 3" descr="fig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886200" cy="274320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57200" y="4206240"/>
            <a:ext cx="3886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333333"/>
                </a:solidFill>
              </a:rPr>
              <a:t>Global surface temperature increase above pre-industrial (ERA5 &amp; other sources).</a:t>
            </a:r>
          </a:p>
        </p:txBody>
      </p:sp>
      <p:pic>
        <p:nvPicPr>
          <p:cNvPr id="6" name="Picture 5" descr="fig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0600" y="1371600"/>
            <a:ext cx="3886200" cy="2743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800600" y="4206240"/>
            <a:ext cx="3886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>
                <a:solidFill>
                  <a:srgbClr val="333333"/>
                </a:solidFill>
              </a:rPr>
              <a:t>Surface air temperature anomalies in 2024 relative to 1991–2020.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800"/>
            </a:pPr>
            <a:r>
              <a:rPr>
                <a:solidFill>
                  <a:srgbClr val="333333"/>
                </a:solidFill>
                <a:hlinkClick r:id="rId4"/>
              </a:rPr>
              <a:t>[5]</a:t>
            </a:r>
          </a:p>
        </p:txBody>
      </p:sp>
      <p:sp>
        <p:nvSpPr>
          <p:cNvPr id="0" name="Progress Bar Background"/>
          <p:cNvSpPr>
            <a:spLocks noGrp="1" noSelect="1"/>
          </p:cNvSpPr>
          <p:nvPr/>
        </p:nvSpPr>
        <p:spPr>
          <a:xfrm>
            <a:off x="0" y="6798000"/>
            <a:ext cx="9144000" cy="6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Progress Bar Fill"/>
          <p:cNvSpPr>
            <a:spLocks noGrp="1" noSelect="1"/>
          </p:cNvSpPr>
          <p:nvPr/>
        </p:nvSpPr>
        <p:spPr>
          <a:xfrm>
            <a:off x="0" y="6798000"/>
            <a:ext cx="6531428" cy="6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B5C"/>
                </a:solidFill>
              </a:rPr>
              <a:t>Conclusions &amp; Outlook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1400"/>
            </a:pPr>
            <a:r>
              <a:rPr>
                <a:solidFill>
                  <a:srgbClr val="333333"/>
                </a:solidFill>
              </a:rPr>
              <a:t>Leading climate scientists warn that the unprecedented warmth of 2024 underscores an urgent need for evidence-based responses. According to Carlo Buontempo, the future is in our hands, and decisive action can alter the trajectory of our climate.</a:t>
            </a:r>
          </a:p>
          <a:p>
            <a:pPr>
              <a:defRPr sz="1400"/>
            </a:pPr>
            <a:r>
              <a:rPr>
                <a:solidFill>
                  <a:srgbClr val="333333"/>
                </a:solidFill>
              </a:rPr>
              <a:t>Strategic Lead Samantha Burgess notes that every year in the last decade ranks among the warmest on record, and global temperatures are already above the 1.5°C threshold set by the Paris Agreement.</a:t>
            </a:r>
          </a:p>
          <a:p>
            <a:pPr>
              <a:defRPr sz="1400"/>
            </a:pPr>
            <a:r>
              <a:rPr>
                <a:solidFill>
                  <a:srgbClr val="333333"/>
                </a:solidFill>
              </a:rPr>
              <a:t>High temperatures coupled with record atmospheric water vapour have led to more frequent heatwaves and heavy rainfall, causing adverse impacts on human societies and ecosystems.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0"/>
            <a:ext cx="82296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800"/>
            </a:pPr>
            <a:r>
              <a:rPr>
                <a:solidFill>
                  <a:srgbClr val="333333"/>
                </a:solidFill>
                <a:hlinkClick r:id="rId2"/>
              </a:rPr>
              <a:t>[6]</a:t>
            </a:r>
          </a:p>
        </p:txBody>
      </p:sp>
      <p:sp>
        <p:nvSpPr>
          <p:cNvPr id="0" name="Progress Bar Background"/>
          <p:cNvSpPr>
            <a:spLocks noGrp="1" noSelect="1"/>
          </p:cNvSpPr>
          <p:nvPr/>
        </p:nvSpPr>
        <p:spPr>
          <a:xfrm>
            <a:off x="0" y="6798000"/>
            <a:ext cx="9144000" cy="6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Progress Bar Fill"/>
          <p:cNvSpPr>
            <a:spLocks noGrp="1" noSelect="1"/>
          </p:cNvSpPr>
          <p:nvPr/>
        </p:nvSpPr>
        <p:spPr>
          <a:xfrm>
            <a:off x="0" y="6798000"/>
            <a:ext cx="7837714" cy="6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002B5C"/>
                </a:solidFill>
              </a:rPr>
              <a:t>Bibliography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400">
                <a:solidFill>
                  <a:srgbClr val="333333"/>
                </a:solidFill>
              </a:rPr>
              <a:t>Source: </a:t>
            </a:r>
            <a:r>
              <a:rPr sz="1400">
                <a:solidFill>
                  <a:srgbClr val="333333"/>
                </a:solidFill>
                <a:hlinkClick r:id="rId2"/>
              </a:rPr>
              <a:t>climate.copernicus.eu</a:t>
            </a:r>
          </a:p>
          <a:p>
            <a:r>
              <a:rPr sz="1400">
                <a:solidFill>
                  <a:srgbClr val="333333"/>
                </a:solidFill>
                <a:hlinkClick r:id="rId2"/>
              </a:rPr>
              <a:t>https://climate.copernicus.eu</a:t>
            </a:r>
          </a:p>
        </p:txBody>
      </p:sp>
      <p:sp>
        <p:nvSpPr>
          <p:cNvPr id="0" name="Progress Bar Background"/>
          <p:cNvSpPr>
            <a:spLocks noGrp="1" noSelect="1"/>
          </p:cNvSpPr>
          <p:nvPr/>
        </p:nvSpPr>
        <p:spPr>
          <a:xfrm>
            <a:off x="0" y="6798000"/>
            <a:ext cx="9144000" cy="60000"/>
          </a:xfrm>
          <a:prstGeom prst="rect">
            <a:avLst/>
          </a:prstGeom>
          <a:solidFill>
            <a:srgbClr val="D9D9D9"/>
          </a:solidFill>
          <a:ln>
            <a:noFill/>
          </a:ln>
        </p:spPr>
        <p:txBody>
          <a:bodyPr/>
          <a:lstStyle/>
          <a:p>
            <a:endParaRPr/>
          </a:p>
        </p:txBody>
      </p:sp>
      <p:sp>
        <p:nvSpPr>
          <p:cNvPr id="0" name="Progress Bar Fill"/>
          <p:cNvSpPr>
            <a:spLocks noGrp="1" noSelect="1"/>
          </p:cNvSpPr>
          <p:nvPr/>
        </p:nvSpPr>
        <p:spPr>
          <a:xfrm>
            <a:off x="0" y="6798000"/>
            <a:ext cx="9144000" cy="60000"/>
          </a:xfrm>
          <a:prstGeom prst="rect">
            <a:avLst/>
          </a:prstGeom>
          <a:solidFill>
            <a:srgbClr val="002B5C"/>
          </a:solidFill>
          <a:ln>
            <a:noFill/>
          </a:ln>
        </p:spPr>
        <p:txBody>
          <a:bodyPr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376</Words>
  <Application>Microsoft Macintosh PowerPoint</Application>
  <PresentationFormat>On-screen Show (4:3)</PresentationFormat>
  <Paragraphs>32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2024 Global Climate Highlights</vt:lpstr>
      <vt:lpstr>Overview</vt:lpstr>
      <vt:lpstr>2024 Climate Highlights</vt:lpstr>
      <vt:lpstr>Global Average Temperature Comparison</vt:lpstr>
      <vt:lpstr>Temperature Trends &amp; Anomalies</vt:lpstr>
      <vt:lpstr>Conclusions &amp; Outlook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Michael Ofengenden</cp:lastModifiedBy>
  <cp:revision>1</cp:revision>
  <dcterms:created xsi:type="dcterms:W3CDTF">2013-01-27T09:14:16Z</dcterms:created>
  <dcterms:modified xsi:type="dcterms:W3CDTF">2025-10-07T04:39:46Z</dcterms:modified>
  <cp:category/>
</cp:coreProperties>
</file>
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0" y="1800141"/>
            <a:ext cx="571500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2D2D2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Fancy's Foods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714500" y="2703100"/>
            <a:ext cx="5715000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C3A2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Redefining the Dessert Experience with Gourmet Flavored Whipped Cream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714500" y="3335322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Presented by Marianne &amp; Keith Bean, Founders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5000625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D2D2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Opportunity in the $268B Dairy Market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885825" y="1468710"/>
            <a:ext cx="39719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Market Stagnation:</a:t>
            </a:r>
            <a:r>
              <a:rPr lang="en-US" sz="12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$268B U.S. dairy market is </a:t>
            </a:r>
            <a:r>
              <a:rPr lang="en-US" sz="12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growing at only 1.5-2% annually.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85825" y="2163049"/>
            <a:ext cx="39719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Gourmet Growth:</a:t>
            </a:r>
            <a:r>
              <a:rPr lang="en-US" sz="12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$39B specialty food sector seeing </a:t>
            </a:r>
            <a:r>
              <a:rPr lang="en-US" sz="12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explosive double-digit growth.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85825" y="2857388"/>
            <a:ext cx="39719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Product Gap:</a:t>
            </a:r>
            <a:r>
              <a:rPr lang="en-US" sz="12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Mainstream leaders (Kraft, Sara Lee) </a:t>
            </a:r>
            <a:r>
              <a:rPr lang="en-US" sz="12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lack variety and gourmet flavors.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85825" y="3551727"/>
            <a:ext cx="39719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Consumer Need:</a:t>
            </a:r>
            <a:r>
              <a:rPr lang="en-US" sz="12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High demand for authentic, dairy-</a:t>
            </a:r>
            <a:r>
              <a:rPr lang="en-US" sz="12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based specialty toppings.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93531" y="1468710"/>
            <a:ext cx="3214688" cy="3214688"/>
          </a:xfrm>
          <a:prstGeom prst="ellipse">
            <a:avLst/>
          </a:prstGeom>
          <a:solidFill>
            <a:srgbClr val="5C3A21"/>
          </a:solidFill>
          <a:ln/>
        </p:spPr>
      </p:sp>
      <p:sp>
        <p:nvSpPr>
          <p:cNvPr id="9" name="Text 6"/>
          <p:cNvSpPr/>
          <p:nvPr/>
        </p:nvSpPr>
        <p:spPr>
          <a:xfrm>
            <a:off x="6228457" y="2476872"/>
            <a:ext cx="1544836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150" b="1" dirty="0">
                <a:solidFill>
                  <a:srgbClr val="FFF0F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$39B</a:t>
            </a:r>
            <a:endParaRPr lang="en-US" sz="4150" dirty="0"/>
          </a:p>
        </p:txBody>
      </p:sp>
      <p:sp>
        <p:nvSpPr>
          <p:cNvPr id="10" name="Text 7"/>
          <p:cNvSpPr/>
          <p:nvPr/>
        </p:nvSpPr>
        <p:spPr>
          <a:xfrm>
            <a:off x="5748040" y="3173388"/>
            <a:ext cx="2505670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0F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Gourmet/Specialty Food Industry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40984" y="3521646"/>
            <a:ext cx="111978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0F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Doubled since 1992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D2D2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Whipped Dream: Gourmet Flavored Topping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926009" y="1781808"/>
            <a:ext cx="86260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3A2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Chocolate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777133" y="1781808"/>
            <a:ext cx="87510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3A2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Raspberry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42950" y="3572210"/>
            <a:ext cx="1228725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3A2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Cinnamon Almond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39628" y="3667758"/>
            <a:ext cx="95011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3A2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Strawberry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00625" y="1091543"/>
            <a:ext cx="2857500" cy="2857500"/>
          </a:xfrm>
          <a:prstGeom prst="ellipse">
            <a:avLst/>
          </a:prstGeom>
          <a:solidFill>
            <a:srgbClr val="5C3A21"/>
          </a:solidFill>
          <a:ln/>
        </p:spPr>
      </p:sp>
      <p:sp>
        <p:nvSpPr>
          <p:cNvPr id="9" name="Text 6"/>
          <p:cNvSpPr/>
          <p:nvPr/>
        </p:nvSpPr>
        <p:spPr>
          <a:xfrm>
            <a:off x="5286375" y="1988083"/>
            <a:ext cx="22860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0F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Dairy-Based Differentiation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286375" y="2652452"/>
            <a:ext cx="2286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0F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Authentic cream-based recipe vs. oil-based substitutes.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864894" y="4163355"/>
            <a:ext cx="30432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Shelf Life:</a:t>
            </a:r>
            <a:r>
              <a:rPr lang="en-US" sz="10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21 days refrigerated / 6 months frozen.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64894" y="4549118"/>
            <a:ext cx="32629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Premium Formats:</a:t>
            </a:r>
            <a:r>
              <a:rPr lang="en-US" sz="10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Frozen tubs and pressurized cans.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D2D2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18 Years of Proven Restaurant Success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242901"/>
            <a:ext cx="3000375" cy="3000375"/>
          </a:xfrm>
          <a:prstGeom prst="ellipse">
            <a:avLst/>
          </a:prstGeom>
          <a:solidFill>
            <a:srgbClr val="5C3A21"/>
          </a:solidFill>
          <a:ln/>
        </p:spPr>
      </p:sp>
      <p:sp>
        <p:nvSpPr>
          <p:cNvPr id="5" name="Text 2"/>
          <p:cNvSpPr/>
          <p:nvPr/>
        </p:nvSpPr>
        <p:spPr>
          <a:xfrm>
            <a:off x="1680567" y="2109081"/>
            <a:ext cx="782241" cy="7143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5200" b="1" dirty="0">
                <a:solidFill>
                  <a:srgbClr val="FFF0F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18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857250" y="2894893"/>
            <a:ext cx="2428875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0F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Years of Culinary Excellence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600575" y="1234418"/>
            <a:ext cx="3971925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5C3A2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Deep Roots:</a:t>
            </a:r>
            <a:r>
              <a:rPr lang="en-US" sz="12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Marianne and Keith Bean opened their </a:t>
            </a:r>
            <a:r>
              <a:rPr lang="en-US" sz="12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first restaurant in 1981 (Antlers) and second in 1988 </a:t>
            </a:r>
            <a:r>
              <a:rPr lang="en-US" sz="12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(Hugo).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600575" y="2240207"/>
            <a:ext cx="3971925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5C3A2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Market Demand:</a:t>
            </a:r>
            <a:r>
              <a:rPr lang="en-US" sz="12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Attained "special notoriety" for </a:t>
            </a:r>
            <a:r>
              <a:rPr lang="en-US" sz="12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desserts, leading to constant requests for their </a:t>
            </a:r>
            <a:r>
              <a:rPr lang="en-US" sz="12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flavored whipped cream.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00575" y="3245997"/>
            <a:ext cx="3971925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5C3A2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Expert Validation:</a:t>
            </a:r>
            <a:r>
              <a:rPr lang="en-US" sz="12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Focus group study at Oklahoma </a:t>
            </a:r>
            <a:r>
              <a:rPr lang="en-US" sz="12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State University confirmed strong appeal for labeling </a:t>
            </a:r>
            <a:r>
              <a:rPr lang="en-US" sz="12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and packaging.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D2D2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Strategic Phased Market Expansion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1619231" y="1020105"/>
            <a:ext cx="571500" cy="571500"/>
          </a:xfrm>
          <a:prstGeom prst="ellipse">
            <a:avLst/>
          </a:prstGeom>
          <a:solidFill>
            <a:srgbClr val="5C3A21"/>
          </a:solidFill>
          <a:ln/>
        </p:spPr>
      </p:sp>
      <p:sp>
        <p:nvSpPr>
          <p:cNvPr id="5" name="Text 2"/>
          <p:cNvSpPr/>
          <p:nvPr/>
        </p:nvSpPr>
        <p:spPr>
          <a:xfrm>
            <a:off x="1619231" y="1020105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0F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33419" y="1698761"/>
            <a:ext cx="21431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3A2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LOCAL DOMINANCE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33419" y="1907716"/>
            <a:ext cx="214312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Establish core in Antlers and Hugo (Southeastern OK).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286222" y="1020105"/>
            <a:ext cx="571500" cy="571500"/>
          </a:xfrm>
          <a:prstGeom prst="ellipse">
            <a:avLst/>
          </a:prstGeom>
          <a:solidFill>
            <a:srgbClr val="5C3A21"/>
          </a:solidFill>
          <a:ln/>
        </p:spPr>
      </p:sp>
      <p:sp>
        <p:nvSpPr>
          <p:cNvPr id="9" name="Text 6"/>
          <p:cNvSpPr/>
          <p:nvPr/>
        </p:nvSpPr>
        <p:spPr>
          <a:xfrm>
            <a:off x="4286222" y="1020105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0F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500410" y="1698761"/>
            <a:ext cx="21431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3A2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METRO ENTRY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500410" y="1907716"/>
            <a:ext cx="214312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Oklahoma City via "Made in Oklahoma" Program.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953213" y="1020105"/>
            <a:ext cx="571500" cy="571500"/>
          </a:xfrm>
          <a:prstGeom prst="ellipse">
            <a:avLst/>
          </a:prstGeom>
          <a:solidFill>
            <a:srgbClr val="5C3A21"/>
          </a:solidFill>
          <a:ln/>
        </p:spPr>
      </p:sp>
      <p:sp>
        <p:nvSpPr>
          <p:cNvPr id="13" name="Text 10"/>
          <p:cNvSpPr/>
          <p:nvPr/>
        </p:nvSpPr>
        <p:spPr>
          <a:xfrm>
            <a:off x="6953213" y="1020105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0F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167400" y="1698761"/>
            <a:ext cx="21431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3A2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REGIONAL SCALE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67400" y="1907716"/>
            <a:ext cx="214312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Expansion into Tulsa grocery and specialty markets.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71500" y="2591730"/>
            <a:ext cx="8001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3A2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Unit Sales Projections by Market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71500" y="2800685"/>
            <a:ext cx="2033485" cy="400050"/>
          </a:xfrm>
          <a:prstGeom prst="rect">
            <a:avLst/>
          </a:prstGeom>
          <a:solidFill>
            <a:srgbClr val="5C3A21"/>
          </a:solidFill>
          <a:ln/>
        </p:spPr>
      </p:sp>
      <p:sp>
        <p:nvSpPr>
          <p:cNvPr id="18" name="Text 15"/>
          <p:cNvSpPr/>
          <p:nvPr/>
        </p:nvSpPr>
        <p:spPr>
          <a:xfrm>
            <a:off x="571500" y="2800685"/>
            <a:ext cx="2033485" cy="400050"/>
          </a:xfrm>
          <a:prstGeom prst="rect">
            <a:avLst/>
          </a:prstGeom>
          <a:noFill/>
          <a:ln/>
        </p:spPr>
        <p:txBody>
          <a:bodyPr wrap="square" lIns="127508" tIns="1275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0F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Market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604985" y="2800685"/>
            <a:ext cx="1953676" cy="400050"/>
          </a:xfrm>
          <a:prstGeom prst="rect">
            <a:avLst/>
          </a:prstGeom>
          <a:solidFill>
            <a:srgbClr val="5C3A21"/>
          </a:solidFill>
          <a:ln/>
        </p:spPr>
      </p:sp>
      <p:sp>
        <p:nvSpPr>
          <p:cNvPr id="20" name="Text 17"/>
          <p:cNvSpPr/>
          <p:nvPr/>
        </p:nvSpPr>
        <p:spPr>
          <a:xfrm>
            <a:off x="2604985" y="2800685"/>
            <a:ext cx="1953676" cy="400050"/>
          </a:xfrm>
          <a:prstGeom prst="rect">
            <a:avLst/>
          </a:prstGeom>
          <a:noFill/>
          <a:ln/>
        </p:spPr>
        <p:txBody>
          <a:bodyPr wrap="square" lIns="127508" tIns="1275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0F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Year 1 Units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58661" y="2800685"/>
            <a:ext cx="2006891" cy="400050"/>
          </a:xfrm>
          <a:prstGeom prst="rect">
            <a:avLst/>
          </a:prstGeom>
          <a:solidFill>
            <a:srgbClr val="5C3A21"/>
          </a:solidFill>
          <a:ln/>
        </p:spPr>
      </p:sp>
      <p:sp>
        <p:nvSpPr>
          <p:cNvPr id="22" name="Text 19"/>
          <p:cNvSpPr/>
          <p:nvPr/>
        </p:nvSpPr>
        <p:spPr>
          <a:xfrm>
            <a:off x="4558661" y="2800685"/>
            <a:ext cx="2006891" cy="400050"/>
          </a:xfrm>
          <a:prstGeom prst="rect">
            <a:avLst/>
          </a:prstGeom>
          <a:noFill/>
          <a:ln/>
        </p:spPr>
        <p:txBody>
          <a:bodyPr wrap="square" lIns="127508" tIns="1275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0F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Year 2 Units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565553" y="2800685"/>
            <a:ext cx="2006947" cy="400050"/>
          </a:xfrm>
          <a:prstGeom prst="rect">
            <a:avLst/>
          </a:prstGeom>
          <a:solidFill>
            <a:srgbClr val="5C3A21"/>
          </a:solidFill>
          <a:ln/>
        </p:spPr>
      </p:sp>
      <p:sp>
        <p:nvSpPr>
          <p:cNvPr id="24" name="Text 21"/>
          <p:cNvSpPr/>
          <p:nvPr/>
        </p:nvSpPr>
        <p:spPr>
          <a:xfrm>
            <a:off x="6565553" y="2800685"/>
            <a:ext cx="2006947" cy="400050"/>
          </a:xfrm>
          <a:prstGeom prst="rect">
            <a:avLst/>
          </a:prstGeom>
          <a:noFill/>
          <a:ln/>
        </p:spPr>
        <p:txBody>
          <a:bodyPr wrap="square" lIns="127508" tIns="1275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0F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Year 3 Units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71500" y="3200735"/>
            <a:ext cx="2033485" cy="382191"/>
          </a:xfrm>
          <a:prstGeom prst="rect">
            <a:avLst/>
          </a:prstGeom>
          <a:noFill/>
          <a:ln/>
        </p:spPr>
        <p:txBody>
          <a:bodyPr wrap="square" lIns="127508" tIns="1021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Antlers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2604985" y="3200735"/>
            <a:ext cx="1953676" cy="382191"/>
          </a:xfrm>
          <a:prstGeom prst="rect">
            <a:avLst/>
          </a:prstGeom>
          <a:noFill/>
          <a:ln/>
        </p:spPr>
        <p:txBody>
          <a:bodyPr wrap="square" lIns="127508" tIns="1021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24,000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558661" y="3200735"/>
            <a:ext cx="2006891" cy="382191"/>
          </a:xfrm>
          <a:prstGeom prst="rect">
            <a:avLst/>
          </a:prstGeom>
          <a:noFill/>
          <a:ln/>
        </p:spPr>
        <p:txBody>
          <a:bodyPr wrap="square" lIns="127508" tIns="1021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26,400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565553" y="3200735"/>
            <a:ext cx="2006947" cy="382191"/>
          </a:xfrm>
          <a:prstGeom prst="rect">
            <a:avLst/>
          </a:prstGeom>
          <a:noFill/>
          <a:ln/>
        </p:spPr>
        <p:txBody>
          <a:bodyPr wrap="square" lIns="127508" tIns="1021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29,040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71500" y="3582925"/>
            <a:ext cx="2033485" cy="385763"/>
          </a:xfrm>
          <a:prstGeom prst="rect">
            <a:avLst/>
          </a:prstGeom>
          <a:noFill/>
          <a:ln/>
        </p:spPr>
        <p:txBody>
          <a:bodyPr wrap="square" lIns="127508" tIns="1021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Hugo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2604985" y="3582925"/>
            <a:ext cx="1953676" cy="385763"/>
          </a:xfrm>
          <a:prstGeom prst="rect">
            <a:avLst/>
          </a:prstGeom>
          <a:noFill/>
          <a:ln/>
        </p:spPr>
        <p:txBody>
          <a:bodyPr wrap="square" lIns="127508" tIns="1021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36,000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558661" y="3582925"/>
            <a:ext cx="2006891" cy="385763"/>
          </a:xfrm>
          <a:prstGeom prst="rect">
            <a:avLst/>
          </a:prstGeom>
          <a:noFill/>
          <a:ln/>
        </p:spPr>
        <p:txBody>
          <a:bodyPr wrap="square" lIns="127508" tIns="1021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39,600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565553" y="3582925"/>
            <a:ext cx="2006947" cy="385763"/>
          </a:xfrm>
          <a:prstGeom prst="rect">
            <a:avLst/>
          </a:prstGeom>
          <a:noFill/>
          <a:ln/>
        </p:spPr>
        <p:txBody>
          <a:bodyPr wrap="square" lIns="127508" tIns="1021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43,560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71500" y="3968688"/>
            <a:ext cx="2033485" cy="385763"/>
          </a:xfrm>
          <a:prstGeom prst="rect">
            <a:avLst/>
          </a:prstGeom>
          <a:noFill/>
          <a:ln/>
        </p:spPr>
        <p:txBody>
          <a:bodyPr wrap="square" lIns="127508" tIns="1021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Oklahoma City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2604985" y="3968688"/>
            <a:ext cx="1953676" cy="385763"/>
          </a:xfrm>
          <a:prstGeom prst="rect">
            <a:avLst/>
          </a:prstGeom>
          <a:noFill/>
          <a:ln/>
        </p:spPr>
        <p:txBody>
          <a:bodyPr wrap="square" lIns="127508" tIns="1021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45,000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558661" y="3968688"/>
            <a:ext cx="2006891" cy="385763"/>
          </a:xfrm>
          <a:prstGeom prst="rect">
            <a:avLst/>
          </a:prstGeom>
          <a:noFill/>
          <a:ln/>
        </p:spPr>
        <p:txBody>
          <a:bodyPr wrap="square" lIns="127508" tIns="1021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120,000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565553" y="3968688"/>
            <a:ext cx="2006947" cy="385763"/>
          </a:xfrm>
          <a:prstGeom prst="rect">
            <a:avLst/>
          </a:prstGeom>
          <a:noFill/>
          <a:ln/>
        </p:spPr>
        <p:txBody>
          <a:bodyPr wrap="square" lIns="127508" tIns="1021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132,000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71500" y="4354450"/>
            <a:ext cx="2033485" cy="385763"/>
          </a:xfrm>
          <a:prstGeom prst="rect">
            <a:avLst/>
          </a:prstGeom>
          <a:noFill/>
          <a:ln/>
        </p:spPr>
        <p:txBody>
          <a:bodyPr wrap="square" lIns="127508" tIns="1021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Tulsa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2604985" y="4354450"/>
            <a:ext cx="1953676" cy="385763"/>
          </a:xfrm>
          <a:prstGeom prst="rect">
            <a:avLst/>
          </a:prstGeom>
          <a:noFill/>
          <a:ln/>
        </p:spPr>
        <p:txBody>
          <a:bodyPr wrap="square" lIns="127508" tIns="1021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4558661" y="4354450"/>
            <a:ext cx="2006891" cy="385763"/>
          </a:xfrm>
          <a:prstGeom prst="rect">
            <a:avLst/>
          </a:prstGeom>
          <a:noFill/>
          <a:ln/>
        </p:spPr>
        <p:txBody>
          <a:bodyPr wrap="square" lIns="127508" tIns="1021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565553" y="4354450"/>
            <a:ext cx="2006947" cy="385763"/>
          </a:xfrm>
          <a:prstGeom prst="rect">
            <a:avLst/>
          </a:prstGeom>
          <a:noFill/>
          <a:ln/>
        </p:spPr>
        <p:txBody>
          <a:bodyPr wrap="square" lIns="127508" tIns="1021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54,000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71500" y="4740213"/>
            <a:ext cx="8001000" cy="385763"/>
          </a:xfrm>
          <a:prstGeom prst="rect">
            <a:avLst/>
          </a:prstGeom>
          <a:solidFill>
            <a:srgbClr val="5C3A21">
              <a:alpha val="10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571500" y="4740213"/>
            <a:ext cx="2033485" cy="385763"/>
          </a:xfrm>
          <a:prstGeom prst="rect">
            <a:avLst/>
          </a:prstGeom>
          <a:noFill/>
          <a:ln/>
        </p:spPr>
        <p:txBody>
          <a:bodyPr wrap="square" lIns="127508" tIns="1021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TOTAL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2604985" y="4740213"/>
            <a:ext cx="1953676" cy="385763"/>
          </a:xfrm>
          <a:prstGeom prst="rect">
            <a:avLst/>
          </a:prstGeom>
          <a:noFill/>
          <a:ln/>
        </p:spPr>
        <p:txBody>
          <a:bodyPr wrap="square" lIns="127508" tIns="1021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105,000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558661" y="4740213"/>
            <a:ext cx="2006891" cy="385763"/>
          </a:xfrm>
          <a:prstGeom prst="rect">
            <a:avLst/>
          </a:prstGeom>
          <a:noFill/>
          <a:ln/>
        </p:spPr>
        <p:txBody>
          <a:bodyPr wrap="square" lIns="127508" tIns="1021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186,000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565553" y="4740213"/>
            <a:ext cx="2006947" cy="385763"/>
          </a:xfrm>
          <a:prstGeom prst="rect">
            <a:avLst/>
          </a:prstGeom>
          <a:noFill/>
          <a:ln/>
        </p:spPr>
        <p:txBody>
          <a:bodyPr wrap="square" lIns="127508" tIns="102108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258,600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D2D2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Dual-Format Distribution Strategy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234418"/>
            <a:ext cx="3214688" cy="3214688"/>
          </a:xfrm>
          <a:prstGeom prst="ellipse">
            <a:avLst/>
          </a:prstGeom>
          <a:solidFill>
            <a:srgbClr val="5C3A21"/>
          </a:solidFill>
          <a:ln/>
        </p:spPr>
      </p:sp>
      <p:sp>
        <p:nvSpPr>
          <p:cNvPr id="5" name="Text 2"/>
          <p:cNvSpPr/>
          <p:nvPr/>
        </p:nvSpPr>
        <p:spPr>
          <a:xfrm>
            <a:off x="955477" y="2060972"/>
            <a:ext cx="244673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0F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65% / 35%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57250" y="2689622"/>
            <a:ext cx="26431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FFF0F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Frozen Tubs vs. Pressurized Cans Market Split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57250" y="3315370"/>
            <a:ext cx="2643188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0F5">
                    <a:alpha val="8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Fancy's Foods offers both to capture 100% of consumer preference.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600575" y="1234418"/>
            <a:ext cx="39719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3A2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Secured Retail Partners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600575" y="1548743"/>
            <a:ext cx="39719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Initial commitments from Pruett’s IGA and Gardiner’s Grocery in Antlers and Hugo.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600575" y="2234543"/>
            <a:ext cx="39719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3A2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Seasonal Demo Strategy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00575" y="2548868"/>
            <a:ext cx="39719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In-store demos with fresh fruit (Summer) and gourmet coffee/cocoa (Winter).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600575" y="3234668"/>
            <a:ext cx="39719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3A2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Premium Pricing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600575" y="3548993"/>
            <a:ext cx="39719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Positioned at $2.29/unit, reflecting gourmet quality vs. $1.29-$1.89 mainstream options.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5715000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D2D2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Superior Quality and Unique Flavors Create a Defensible Market Gap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971550" y="2389696"/>
            <a:ext cx="38862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Flavor Innovation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71550" y="2655801"/>
            <a:ext cx="3886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only regional player offering a diverse portfolio of gourmet flavored toppings.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971550" y="3341601"/>
            <a:ext cx="38862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Authentic Dairy Base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71550" y="3607705"/>
            <a:ext cx="3886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 cream ingredients provide a superior mouthfeel compared to oil-based national brands.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71550" y="4293505"/>
            <a:ext cx="38862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Established Brand Equity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71550" y="4559610"/>
            <a:ext cx="3886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Leveraging 18 years of trust and "special notoriety" from the Bean family restaurants.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00625" y="1924459"/>
            <a:ext cx="3214688" cy="3214688"/>
          </a:xfrm>
          <a:prstGeom prst="ellipse">
            <a:avLst/>
          </a:prstGeom>
          <a:solidFill>
            <a:srgbClr val="5C3A21"/>
          </a:solidFill>
          <a:ln/>
        </p:spPr>
      </p:sp>
      <p:sp>
        <p:nvSpPr>
          <p:cNvPr id="11" name="Text 8"/>
          <p:cNvSpPr/>
          <p:nvPr/>
        </p:nvSpPr>
        <p:spPr>
          <a:xfrm>
            <a:off x="5286375" y="2841371"/>
            <a:ext cx="2643188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0F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Competitive Edge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286375" y="3609324"/>
            <a:ext cx="2643188" cy="612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0F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Filling the gap left by national brands who lack variety and authentic dairy composition.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72413" y="1710147"/>
            <a:ext cx="914400" cy="914400"/>
          </a:xfrm>
          <a:prstGeom prst="ellipse">
            <a:avLst/>
          </a:prstGeom>
          <a:solidFill>
            <a:srgbClr val="FFF0F5"/>
          </a:solidFill>
          <a:ln w="27432">
            <a:solidFill>
              <a:srgbClr val="5C3A2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78663" y="2034294"/>
            <a:ext cx="46434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3A2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100%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43007" y="2034294"/>
            <a:ext cx="49470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3A2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Dairy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D2D2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Scalable Production &amp; Strategic Partnerships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1214438" y="1234418"/>
            <a:ext cx="2286000" cy="2286000"/>
          </a:xfrm>
          <a:prstGeom prst="ellipse">
            <a:avLst/>
          </a:prstGeom>
          <a:solidFill>
            <a:srgbClr val="5C3A21"/>
          </a:solidFill>
          <a:ln/>
        </p:spPr>
      </p:sp>
      <p:sp>
        <p:nvSpPr>
          <p:cNvPr id="5" name="Text 2"/>
          <p:cNvSpPr/>
          <p:nvPr/>
        </p:nvSpPr>
        <p:spPr>
          <a:xfrm>
            <a:off x="1482328" y="2143460"/>
            <a:ext cx="175021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0F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In-House Agility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691283" y="2457785"/>
            <a:ext cx="1332309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0F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Frozen Tubs Production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07244" y="3877605"/>
            <a:ext cx="33289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Utilizing existing restaurant facilities during off-hours.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7244" y="4220505"/>
            <a:ext cx="33361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50-gallon high-speed mixer and walk-in freezer capacity.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70389" y="2143460"/>
            <a:ext cx="1632347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Strategic Scale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58780" y="2457785"/>
            <a:ext cx="1655564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Pressurized Cans Partnership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236369" y="3877605"/>
            <a:ext cx="33361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Contracted co-packing with </a:t>
            </a:r>
            <a:r>
              <a:rPr lang="en-US" sz="1000" b="1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Farm Fresh</a:t>
            </a:r>
            <a:r>
              <a:rPr lang="en-US" sz="10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(Oklahoma </a:t>
            </a:r>
            <a:r>
              <a:rPr lang="en-US" sz="10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dairy processor).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236369" y="4420530"/>
            <a:ext cx="33361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Hybrid model enables low-CAPEX entry with high-volume potential.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798814" y="4720233"/>
            <a:ext cx="377368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C3A2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* Non-competition and non-disclosure agreements in place with all partners.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D2D2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Profitability and 10.88% ROE in Year One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805793"/>
            <a:ext cx="1071563" cy="1071563"/>
          </a:xfrm>
          <a:prstGeom prst="ellipse">
            <a:avLst/>
          </a:prstGeom>
          <a:solidFill>
            <a:srgbClr val="5C3A21"/>
          </a:solidFill>
          <a:ln/>
        </p:spPr>
      </p:sp>
      <p:sp>
        <p:nvSpPr>
          <p:cNvPr id="5" name="Text 2"/>
          <p:cNvSpPr/>
          <p:nvPr/>
        </p:nvSpPr>
        <p:spPr>
          <a:xfrm>
            <a:off x="634008" y="1029928"/>
            <a:ext cx="94654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0F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10.88%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57225" y="1378186"/>
            <a:ext cx="900113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0F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Return on Equity (Year 1)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85950" y="961169"/>
            <a:ext cx="55364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2.73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85950" y="1309427"/>
            <a:ext cx="553641" cy="4125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Current Ratio (Liquidity)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682478" y="805793"/>
            <a:ext cx="1071563" cy="1071563"/>
          </a:xfrm>
          <a:prstGeom prst="ellipse">
            <a:avLst/>
          </a:prstGeom>
          <a:solidFill>
            <a:srgbClr val="5C3A21"/>
          </a:solidFill>
          <a:ln/>
        </p:spPr>
      </p:sp>
      <p:sp>
        <p:nvSpPr>
          <p:cNvPr id="10" name="Text 7"/>
          <p:cNvSpPr/>
          <p:nvPr/>
        </p:nvSpPr>
        <p:spPr>
          <a:xfrm>
            <a:off x="2707481" y="1029928"/>
            <a:ext cx="102155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0F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$15,085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768203" y="1378186"/>
            <a:ext cx="900113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0F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Net Income (After Tax)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857625" y="848655"/>
            <a:ext cx="4714875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3A2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 Forma Income Statement Summary (Year 1)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857625" y="1082613"/>
            <a:ext cx="2159505" cy="400050"/>
          </a:xfrm>
          <a:prstGeom prst="rect">
            <a:avLst/>
          </a:prstGeom>
          <a:solidFill>
            <a:srgbClr val="5C3A21"/>
          </a:solidFill>
          <a:ln/>
        </p:spPr>
      </p:sp>
      <p:sp>
        <p:nvSpPr>
          <p:cNvPr id="14" name="Text 11"/>
          <p:cNvSpPr/>
          <p:nvPr/>
        </p:nvSpPr>
        <p:spPr>
          <a:xfrm>
            <a:off x="3857625" y="1082613"/>
            <a:ext cx="2159505" cy="400050"/>
          </a:xfrm>
          <a:prstGeom prst="rect">
            <a:avLst/>
          </a:prstGeom>
          <a:noFill/>
          <a:ln/>
        </p:spPr>
        <p:txBody>
          <a:bodyPr wrap="square" lIns="127508" tIns="68072" rIns="1275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0F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Financial Metric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017130" y="1082613"/>
            <a:ext cx="1351452" cy="400050"/>
          </a:xfrm>
          <a:prstGeom prst="rect">
            <a:avLst/>
          </a:prstGeom>
          <a:solidFill>
            <a:srgbClr val="5C3A21"/>
          </a:solidFill>
          <a:ln/>
        </p:spPr>
      </p:sp>
      <p:sp>
        <p:nvSpPr>
          <p:cNvPr id="16" name="Text 13"/>
          <p:cNvSpPr/>
          <p:nvPr/>
        </p:nvSpPr>
        <p:spPr>
          <a:xfrm>
            <a:off x="6017130" y="1082613"/>
            <a:ext cx="1351452" cy="400050"/>
          </a:xfrm>
          <a:prstGeom prst="rect">
            <a:avLst/>
          </a:prstGeom>
          <a:noFill/>
          <a:ln/>
        </p:spPr>
        <p:txBody>
          <a:bodyPr wrap="square" lIns="127508" tIns="68072" rIns="1275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0F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Value (USD)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368583" y="1082613"/>
            <a:ext cx="1203917" cy="400050"/>
          </a:xfrm>
          <a:prstGeom prst="rect">
            <a:avLst/>
          </a:prstGeom>
          <a:solidFill>
            <a:srgbClr val="5C3A21"/>
          </a:solidFill>
          <a:ln/>
        </p:spPr>
      </p:sp>
      <p:sp>
        <p:nvSpPr>
          <p:cNvPr id="18" name="Text 15"/>
          <p:cNvSpPr/>
          <p:nvPr/>
        </p:nvSpPr>
        <p:spPr>
          <a:xfrm>
            <a:off x="7368583" y="1082613"/>
            <a:ext cx="1203917" cy="400050"/>
          </a:xfrm>
          <a:prstGeom prst="rect">
            <a:avLst/>
          </a:prstGeom>
          <a:noFill/>
          <a:ln/>
        </p:spPr>
        <p:txBody>
          <a:bodyPr wrap="none" lIns="127508" tIns="68072" rIns="1275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0F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% of Sales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57625" y="1482663"/>
            <a:ext cx="2159505" cy="346472"/>
          </a:xfrm>
          <a:prstGeom prst="rect">
            <a:avLst/>
          </a:prstGeom>
          <a:noFill/>
          <a:ln/>
        </p:spPr>
        <p:txBody>
          <a:bodyPr wrap="square" lIns="127508" tIns="51054" rIns="127508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Net Sales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017130" y="1482663"/>
            <a:ext cx="1351452" cy="346472"/>
          </a:xfrm>
          <a:prstGeom prst="rect">
            <a:avLst/>
          </a:prstGeom>
          <a:noFill/>
          <a:ln/>
        </p:spPr>
        <p:txBody>
          <a:bodyPr wrap="square" lIns="127508" tIns="51054" rIns="127508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$240,450.00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368583" y="1482663"/>
            <a:ext cx="1203917" cy="346472"/>
          </a:xfrm>
          <a:prstGeom prst="rect">
            <a:avLst/>
          </a:prstGeom>
          <a:noFill/>
          <a:ln/>
        </p:spPr>
        <p:txBody>
          <a:bodyPr wrap="none" lIns="127508" tIns="51054" rIns="127508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100.0%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857625" y="1829135"/>
            <a:ext cx="2159505" cy="350044"/>
          </a:xfrm>
          <a:prstGeom prst="rect">
            <a:avLst/>
          </a:prstGeom>
          <a:noFill/>
          <a:ln/>
        </p:spPr>
        <p:txBody>
          <a:bodyPr wrap="square" lIns="127508" tIns="51054" rIns="127508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Cost of Goods Sold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017130" y="1829135"/>
            <a:ext cx="1351452" cy="350044"/>
          </a:xfrm>
          <a:prstGeom prst="rect">
            <a:avLst/>
          </a:prstGeom>
          <a:noFill/>
          <a:ln/>
        </p:spPr>
        <p:txBody>
          <a:bodyPr wrap="square" lIns="127508" tIns="51054" rIns="127508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$182,000.00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368583" y="1829135"/>
            <a:ext cx="1203917" cy="350044"/>
          </a:xfrm>
          <a:prstGeom prst="rect">
            <a:avLst/>
          </a:prstGeom>
          <a:noFill/>
          <a:ln/>
        </p:spPr>
        <p:txBody>
          <a:bodyPr wrap="none" lIns="127508" tIns="51054" rIns="127508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75.7%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857625" y="2179179"/>
            <a:ext cx="4714875" cy="350044"/>
          </a:xfrm>
          <a:prstGeom prst="rect">
            <a:avLst/>
          </a:prstGeom>
          <a:solidFill>
            <a:srgbClr val="5C3A21">
              <a:alpha val="5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3857625" y="2179179"/>
            <a:ext cx="2159505" cy="350044"/>
          </a:xfrm>
          <a:prstGeom prst="rect">
            <a:avLst/>
          </a:prstGeom>
          <a:noFill/>
          <a:ln/>
        </p:spPr>
        <p:txBody>
          <a:bodyPr wrap="square" lIns="127508" tIns="51054" rIns="127508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Gross Income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017130" y="2179179"/>
            <a:ext cx="1351452" cy="350044"/>
          </a:xfrm>
          <a:prstGeom prst="rect">
            <a:avLst/>
          </a:prstGeom>
          <a:noFill/>
          <a:ln/>
        </p:spPr>
        <p:txBody>
          <a:bodyPr wrap="square" lIns="127508" tIns="51054" rIns="127508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$58,450.00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368583" y="2179179"/>
            <a:ext cx="1203917" cy="350044"/>
          </a:xfrm>
          <a:prstGeom prst="rect">
            <a:avLst/>
          </a:prstGeom>
          <a:noFill/>
          <a:ln/>
        </p:spPr>
        <p:txBody>
          <a:bodyPr wrap="none" lIns="127508" tIns="51054" rIns="127508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24.3%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857625" y="2529222"/>
            <a:ext cx="2159505" cy="350044"/>
          </a:xfrm>
          <a:prstGeom prst="rect">
            <a:avLst/>
          </a:prstGeom>
          <a:noFill/>
          <a:ln/>
        </p:spPr>
        <p:txBody>
          <a:bodyPr wrap="square" lIns="127508" tIns="51054" rIns="127508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Total Operating Expenses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017130" y="2529222"/>
            <a:ext cx="1351452" cy="350044"/>
          </a:xfrm>
          <a:prstGeom prst="rect">
            <a:avLst/>
          </a:prstGeom>
          <a:noFill/>
          <a:ln/>
        </p:spPr>
        <p:txBody>
          <a:bodyPr wrap="square" lIns="127508" tIns="51054" rIns="127508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$36,900.00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368583" y="2529222"/>
            <a:ext cx="1203917" cy="350044"/>
          </a:xfrm>
          <a:prstGeom prst="rect">
            <a:avLst/>
          </a:prstGeom>
          <a:noFill/>
          <a:ln/>
        </p:spPr>
        <p:txBody>
          <a:bodyPr wrap="none" lIns="127508" tIns="51054" rIns="127508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15.3%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857625" y="2879266"/>
            <a:ext cx="4714875" cy="350044"/>
          </a:xfrm>
          <a:prstGeom prst="rect">
            <a:avLst/>
          </a:prstGeom>
          <a:solidFill>
            <a:srgbClr val="5C3A21">
              <a:alpha val="5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3857625" y="2879266"/>
            <a:ext cx="2159505" cy="350044"/>
          </a:xfrm>
          <a:prstGeom prst="rect">
            <a:avLst/>
          </a:prstGeom>
          <a:noFill/>
          <a:ln/>
        </p:spPr>
        <p:txBody>
          <a:bodyPr wrap="square" lIns="127508" tIns="51054" rIns="127508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Net Income After Taxes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017130" y="2879266"/>
            <a:ext cx="1351452" cy="350044"/>
          </a:xfrm>
          <a:prstGeom prst="rect">
            <a:avLst/>
          </a:prstGeom>
          <a:noFill/>
          <a:ln/>
        </p:spPr>
        <p:txBody>
          <a:bodyPr wrap="square" lIns="127508" tIns="51054" rIns="127508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$15,085.00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368583" y="2879266"/>
            <a:ext cx="1203917" cy="350044"/>
          </a:xfrm>
          <a:prstGeom prst="rect">
            <a:avLst/>
          </a:prstGeom>
          <a:noFill/>
          <a:ln/>
        </p:spPr>
        <p:txBody>
          <a:bodyPr wrap="none" lIns="127508" tIns="51054" rIns="127508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6.3%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0" y="3232882"/>
            <a:ext cx="9144000" cy="205383"/>
          </a:xfrm>
          <a:prstGeom prst="rect">
            <a:avLst/>
          </a:prstGeom>
          <a:noFill/>
          <a:ln/>
        </p:spPr>
        <p:txBody>
          <a:bodyPr wrap="square" lIns="680339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C3A2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* Assumptions: Price of $2.29/unit; 105,000 units sold; No owner salary drawn in Year 1.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dirty="0">
                <a:solidFill>
                  <a:srgbClr val="2D2D2D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Mitigated Risk Profile &amp; Investment Ask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885825" y="1234418"/>
            <a:ext cx="397192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3A2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Zone of Acceptability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85825" y="1518382"/>
            <a:ext cx="3971925" cy="380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Defined threshold at 90% of projections; immediate triggers for increased promotion if sales lag.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85825" y="2148427"/>
            <a:ext cx="397192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3A2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Operational Stability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85825" y="2432391"/>
            <a:ext cx="3971925" cy="380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Strong 2.73 current ratio ensures liquidity and resilience against market fluctuations.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85825" y="3062436"/>
            <a:ext cx="3971925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3A2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Contingency Triggers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85825" y="3346400"/>
            <a:ext cx="3971925" cy="380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Phased evaluation in metro markets with pre-set commission-based marketing specialist contracts.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00625" y="1234418"/>
            <a:ext cx="3214688" cy="3214688"/>
          </a:xfrm>
          <a:prstGeom prst="ellipse">
            <a:avLst/>
          </a:prstGeom>
          <a:solidFill>
            <a:srgbClr val="5C3A21"/>
          </a:solidFill>
          <a:ln/>
        </p:spPr>
      </p:sp>
      <p:sp>
        <p:nvSpPr>
          <p:cNvPr id="11" name="Text 8"/>
          <p:cNvSpPr/>
          <p:nvPr/>
        </p:nvSpPr>
        <p:spPr>
          <a:xfrm>
            <a:off x="6045398" y="2174044"/>
            <a:ext cx="112514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0F5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Ask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286375" y="2629458"/>
            <a:ext cx="2643188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0F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Seeking strategic investment to accelerate Tulsa market entry and expand co-packing capacity with Farm Fresh.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71500" y="4718447"/>
            <a:ext cx="5689997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C3A2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VISION: To become the premier gourmet dairy topping brand in the Southern United States.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2026-07-02T14:08:48Z</dcterms:created>
  <dcterms:modified xsi:type="dcterms:W3CDTF">2026-07-02T14:08:48Z</dcterms:modified>
</cp:coreProperties>
</file>
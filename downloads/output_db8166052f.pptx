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ee36299d0474b" /><Relationship Type="http://schemas.openxmlformats.org/officeDocument/2006/relationships/extended-properties" Target="/docProps/app.xml" Id="Ref28a9cc771340e2" /><Relationship Type="http://schemas.openxmlformats.org/officeDocument/2006/relationships/officeDocument" Target="/ppt/presentation.xml" Id="R4c860ab34880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8fe80f0724b82"/>
  </p:sldMasterIdLst>
  <p:notesMasterIdLst>
    <p:notesMasterId xmlns:r="http://schemas.openxmlformats.org/officeDocument/2006/relationships" r:id="R5506fb9529e44afa"/>
  </p:notesMasterIdLst>
  <p:sldIdLst>
    <p:sldId xmlns:r="http://schemas.openxmlformats.org/officeDocument/2006/relationships" id="256" r:id="R9a3a8eb0c983449b"/>
    <p:sldId xmlns:r="http://schemas.openxmlformats.org/officeDocument/2006/relationships" id="257" r:id="R1883e31d529d4928"/>
    <p:sldId xmlns:r="http://schemas.openxmlformats.org/officeDocument/2006/relationships" id="258" r:id="R1ffd8f0241474e45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0d3684c00a483f" /><Relationship Type="http://schemas.openxmlformats.org/officeDocument/2006/relationships/slideMaster" Target="/ppt/slideMasters/slideMaster1.xml" Id="R9d88fe80f0724b82" /><Relationship Type="http://schemas.openxmlformats.org/officeDocument/2006/relationships/notesMaster" Target="/ppt/notesMasters/notesMaster1.xml" Id="R5506fb9529e44afa" /><Relationship Type="http://schemas.openxmlformats.org/officeDocument/2006/relationships/presProps" Target="/ppt/presProps.xml" Id="Rb16f074317cd4d97" /><Relationship Type="http://schemas.openxmlformats.org/officeDocument/2006/relationships/tableStyles" Target="/ppt/tableStyles.xml" Id="R997b302d253b4c61" /><Relationship Type="http://schemas.openxmlformats.org/officeDocument/2006/relationships/slide" Target="/ppt/slides/slide1.xml" Id="R9a3a8eb0c983449b" /><Relationship Type="http://schemas.openxmlformats.org/officeDocument/2006/relationships/slide" Target="/ppt/slides/slide2.xml" Id="R1883e31d529d4928" /><Relationship Type="http://schemas.openxmlformats.org/officeDocument/2006/relationships/slide" Target="/ppt/slides/slide3.xml" Id="R1ffd8f024147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7524e89ba9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1d39ac48ff4c22" /><Relationship Type="http://schemas.openxmlformats.org/officeDocument/2006/relationships/notesMaster" Target="/ppt/notesMasters/notesMaster1.xml" Id="R725edf97969a4a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a1177695c3430a" /><Relationship Type="http://schemas.openxmlformats.org/officeDocument/2006/relationships/notesMaster" Target="/ppt/notesMasters/notesMaster1.xml" Id="R7ed5868971dc4b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3998b78584254" /><Relationship Type="http://schemas.openxmlformats.org/officeDocument/2006/relationships/notesMaster" Target="/ppt/notesMasters/notesMaster1.xml" Id="Re6b6bbb1af7c4a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ce4e1c8a648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46ab3e0aad4b0b" /><Relationship Type="http://schemas.openxmlformats.org/officeDocument/2006/relationships/slideLayout" Target="/ppt/slideLayouts/slideLayout1.xml" Id="R13692f523ee341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692f523ee341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46313547148d2" /><Relationship Type="http://schemas.openxmlformats.org/officeDocument/2006/relationships/image" Target="/ppt/media/image.jpeg" Id="R5a29679ad31341df" /><Relationship Type="http://schemas.openxmlformats.org/officeDocument/2006/relationships/image" Target="/ppt/media/image2.jpeg" Id="R765430c5d41a4668" /><Relationship Type="http://schemas.openxmlformats.org/officeDocument/2006/relationships/image" Target="/ppt/media/image3.jpeg" Id="Rdd92473d829f473b" /><Relationship Type="http://schemas.openxmlformats.org/officeDocument/2006/relationships/notesSlide" Target="/ppt/notesSlides/notesSlide1.xml" Id="R0320113c349a47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4f376a6394400" /><Relationship Type="http://schemas.openxmlformats.org/officeDocument/2006/relationships/image" Target="/ppt/media/image4.jpeg" Id="Rb27a63ea60b24f67" /><Relationship Type="http://schemas.openxmlformats.org/officeDocument/2006/relationships/image" Target="/ppt/media/image5.jpeg" Id="Reefaecf99b7f4806" /><Relationship Type="http://schemas.openxmlformats.org/officeDocument/2006/relationships/image" Target="/ppt/media/image6.jpeg" Id="R9b4c5d20b3ea4e58" /><Relationship Type="http://schemas.openxmlformats.org/officeDocument/2006/relationships/notesSlide" Target="/ppt/notesSlides/notesSlide2.xml" Id="R6e59ec3002bf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62b6a127444c4" /><Relationship Type="http://schemas.openxmlformats.org/officeDocument/2006/relationships/notesSlide" Target="/ppt/notesSlides/notesSlide3.xml" Id="R8d305f60c5554b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30399E-7CDD-4C33-AD5E-67E6130F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8"/>
          </a:solidFill>
          <a:ln xmlns:a="http://schemas.openxmlformats.org/drawingml/2006/main" w="0">
            <a:solidFill>
              <a:srgbClr val="2F6F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F137A-A20F-4AA7-85EE-7A9E5E1D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5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F5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8"/>
                </a:solidFill>
                <a:latin typeface="Aptos"/>
                <a:ea typeface="Aptos"/>
                <a:cs typeface="Aptos"/>
              </a:rPr>
              <a:t>EARTH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0B446-FB54-49B2-9BF1-589FECC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810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0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Recognizing the Rock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9506-E6AC-4CEB-BE2B-8716090B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A study of igneous, sedimentary, and metamorphic rocks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FE4FD-E217-4E42-87B6-A5756B36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1050"/>
            <a:ext cx="3543300" cy="45910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9679ad31341df"/>
          <a:srcRect xmlns:a="http://schemas.openxmlformats.org/drawingml/2006/main" l="8390" t="0" r="8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1028700"/>
            <a:ext cx="3086100" cy="2781300"/>
          </a:xfrm>
          <a:prstGeom xmlns:a="http://schemas.openxmlformats.org/drawingml/2006/main" prst="roundRect">
            <a:avLst>
              <a:gd name="adj" fmla="val 7534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430c5d41a4668"/>
          <a:srcRect xmlns:a="http://schemas.openxmlformats.org/drawingml/2006/main" l="0" t="5080" r="0" b="5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4038600"/>
            <a:ext cx="1295400" cy="933450"/>
          </a:xfrm>
          <a:prstGeom xmlns:a="http://schemas.openxmlformats.org/drawingml/2006/main" prst="roundRect">
            <a:avLst>
              <a:gd name="adj" fmla="val 22449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2473d829f473b"/>
          <a:srcRect xmlns:a="http://schemas.openxmlformats.org/drawingml/2006/main" l="0" t="1961" r="0" b="1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4038600"/>
            <a:ext cx="1295400" cy="933450"/>
          </a:xfrm>
          <a:prstGeom xmlns:a="http://schemas.openxmlformats.org/drawingml/2006/main" prst="roundRect">
            <a:avLst>
              <a:gd name="adj" fmla="val 2244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58FF1-12AC-4A25-ACAE-9B3C08BF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62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Observe texture, layering, and mineral patterns to classify rock types.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B739E-AB22-4D7E-AC64-4863427E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24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24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F564ED-2DBA-4B7F-9BA5-7FB84472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Recognize rock types by how they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121EE-1E3F-40B8-A80C-F688E7F7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Compare origin clues: cooling from melt, layers of sediment, or transformation under heat and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A541-73CC-4A55-9445-E4823DC1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552700" cy="42291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5F452-91DD-4538-A39C-61389393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B3A"/>
          </a:solidFill>
          <a:ln xmlns:a="http://schemas.openxmlformats.org/drawingml/2006/main" w="0">
            <a:solidFill>
              <a:srgbClr val="303B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B2E36-F964-4176-9E4B-8C01E07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Igneous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a63ea60b24f67"/>
          <a:srcRect xmlns:a="http://schemas.openxmlformats.org/drawingml/2006/main" l="0" t="3803" r="0" b="3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66950"/>
            <a:ext cx="2133600" cy="1581150"/>
          </a:xfrm>
          <a:prstGeom xmlns:a="http://schemas.openxmlformats.org/drawingml/2006/main" prst="roundRect">
            <a:avLst>
              <a:gd name="adj" fmla="val 132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0DDE8-1FB9-4CE4-B2C3-74B76DD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F25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522"/>
                </a:solidFill>
                <a:latin typeface="Aptos"/>
                <a:ea typeface="Aptos"/>
                <a:cs typeface="Aptos"/>
              </a:rPr>
              <a:t>Forms when melted rock cools and solidifies, often from magma or lava.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253DF-CE63-401E-8E4F-2DDF516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95500" cy="285750"/>
          </a:xfrm>
          <a:prstGeom xmlns:a="http://schemas.openxmlformats.org/drawingml/2006/main" prst="roundRect">
            <a:avLst>
              <a:gd name="adj" fmla="val 36667"/>
            </a:avLst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F25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522"/>
                </a:solidFill>
                <a:latin typeface="Aptos"/>
                <a:ea typeface="Aptos"/>
                <a:cs typeface="Aptos"/>
              </a:rPr>
              <a:t>cooled melt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3314F-9733-4FFC-B3EA-9C3F6EC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552700" cy="42291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6BFDD-5558-42D4-A116-864F19E7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B"/>
          </a:solidFill>
          <a:ln xmlns:a="http://schemas.openxmlformats.org/drawingml/2006/main" w="0">
            <a:solidFill>
              <a:srgbClr val="B879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1F139-72A8-4D3E-8602-F1215966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Sedimentary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aecf99b7f4806"/>
          <a:srcRect xmlns:a="http://schemas.openxmlformats.org/drawingml/2006/main" l="0" t="595" r="0" b="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0" y="2266950"/>
            <a:ext cx="2133600" cy="1581150"/>
          </a:xfrm>
          <a:prstGeom xmlns:a="http://schemas.openxmlformats.org/drawingml/2006/main" prst="roundRect">
            <a:avLst>
              <a:gd name="adj" fmla="val 1325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7F6CE-96DB-4071-AC3F-C1C65A8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F25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522"/>
                </a:solidFill>
                <a:latin typeface="Aptos"/>
                <a:ea typeface="Aptos"/>
                <a:cs typeface="Aptos"/>
              </a:rPr>
              <a:t>Builds from layers of sand, silt, plant material, and animal remains compacted over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12FDD-F561-4293-9CDF-5BDB555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57800"/>
            <a:ext cx="2095500" cy="285750"/>
          </a:xfrm>
          <a:prstGeom xmlns:a="http://schemas.openxmlformats.org/drawingml/2006/main" prst="roundRect">
            <a:avLst>
              <a:gd name="adj" fmla="val 36667"/>
            </a:avLst>
          </a:prstGeom>
          <a:solidFill xmlns:a="http://schemas.openxmlformats.org/drawingml/2006/main">
            <a:srgbClr val="EFE1C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F25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522"/>
                </a:solidFill>
                <a:latin typeface="Aptos"/>
                <a:ea typeface="Aptos"/>
                <a:cs typeface="Aptos"/>
              </a:rPr>
              <a:t>layered sediment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42C56-6C8B-4493-A45C-4C41EB1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66850"/>
            <a:ext cx="2552700" cy="42291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CF2EE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ED474-74E4-45C5-8826-5C0A5C8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D35"/>
          </a:solidFill>
          <a:ln xmlns:a="http://schemas.openxmlformats.org/drawingml/2006/main" w="0">
            <a:solidFill>
              <a:srgbClr val="8E4D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D9F7E-09F8-4B42-8A95-8623F56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Metamorphic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c5d20b3ea4e58"/>
          <a:srcRect xmlns:a="http://schemas.openxmlformats.org/drawingml/2006/main" l="0" t="595" r="0" b="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266950"/>
            <a:ext cx="2133600" cy="1581150"/>
          </a:xfrm>
          <a:prstGeom xmlns:a="http://schemas.openxmlformats.org/drawingml/2006/main" prst="roundRect">
            <a:avLst>
              <a:gd name="adj" fmla="val 13253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0BD3D-EC5E-40A4-BBA6-12E3F80F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F25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522"/>
                </a:solidFill>
                <a:latin typeface="Aptos"/>
                <a:ea typeface="Aptos"/>
                <a:cs typeface="Aptos"/>
              </a:rPr>
              <a:t>Starts as existing rock and changes underground under intense heat and pressure.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26196-FCFD-4A16-A5D5-7568B107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57800"/>
            <a:ext cx="2095500" cy="285750"/>
          </a:xfrm>
          <a:prstGeom xmlns:a="http://schemas.openxmlformats.org/drawingml/2006/main" prst="roundRect">
            <a:avLst>
              <a:gd name="adj" fmla="val 36667"/>
            </a:avLst>
          </a:prstGeom>
          <a:solidFill xmlns:a="http://schemas.openxmlformats.org/drawingml/2006/main">
            <a:srgbClr val="E9D8C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F25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522"/>
                </a:solidFill>
                <a:latin typeface="Aptos"/>
                <a:ea typeface="Aptos"/>
                <a:cs typeface="Aptos"/>
              </a:rPr>
              <a:t>changed by 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B4A0F-503A-4FE5-91C0-35076B1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24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0948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075DD-F456-49A8-8E2F-A415D3ED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The rock cycle shows how rock types transform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092F5-9A00-41BE-8940-C8D4EB2D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38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Rocks are created, transformed, and recycled through repeated geologic processes.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A964F-A839-46EB-B5F2-46DCEF44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848600" cy="4229100"/>
          </a:xfrm>
          <a:prstGeom xmlns:a="http://schemas.openxmlformats.org/drawingml/2006/main" prst="roundRect">
            <a:avLst>
              <a:gd name="adj" fmla="val 5856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Igneous">
            <a:extLst xmlns:a="http://schemas.openxmlformats.org/drawingml/2006/main">
              <a:ext uri="{FF2B5EF4-FFF2-40B4-BE49-F238E27FC236}">
                <a16:creationId xmlns:a16="http://schemas.microsoft.com/office/drawing/2014/main" id="{9CF08ED2-5517-4A12-8889-72DF06F7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600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CEBDF"/>
          </a:solidFill>
          <a:ln xmlns:a="http://schemas.openxmlformats.org/drawingml/2006/main" w="19050">
            <a:solidFill>
              <a:srgbClr val="2F6F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Igneous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900">
                <a:solidFill>
                  <a:srgbClr val="5F6862"/>
                </a:solidFill>
                <a:latin typeface="Aptos"/>
                <a:ea typeface="Aptos"/>
                <a:cs typeface="Aptos"/>
              </a:rPr>
              <a:t>melted rock cools</a:t>
            </a:r>
          </a:p>
        </p:txBody>
      </p:sp>
      <p:sp>
        <p:nvSpPr>
          <p:cNvPr id="5" name="Sediments">
            <a:extLst xmlns:a="http://schemas.openxmlformats.org/drawingml/2006/main">
              <a:ext uri="{FF2B5EF4-FFF2-40B4-BE49-F238E27FC236}">
                <a16:creationId xmlns:a16="http://schemas.microsoft.com/office/drawing/2014/main" id="{EEA9D84F-099E-4B48-92F1-C223161F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15811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3EEE3"/>
          </a:solidFill>
          <a:ln xmlns:a="http://schemas.openxmlformats.org/drawingml/2006/main" w="19050">
            <a:solidFill>
              <a:srgbClr val="B879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Sediments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900">
                <a:solidFill>
                  <a:srgbClr val="5F6862"/>
                </a:solidFill>
                <a:latin typeface="Aptos"/>
                <a:ea typeface="Aptos"/>
                <a:cs typeface="Aptos"/>
              </a:rPr>
              <a:t>small rock pieces</a:t>
            </a:r>
          </a:p>
        </p:txBody>
      </p:sp>
      <p:sp>
        <p:nvSpPr>
          <p:cNvPr id="6" name="Sedimentary">
            <a:extLst xmlns:a="http://schemas.openxmlformats.org/drawingml/2006/main">
              <a:ext uri="{FF2B5EF4-FFF2-40B4-BE49-F238E27FC236}">
                <a16:creationId xmlns:a16="http://schemas.microsoft.com/office/drawing/2014/main" id="{1BFEFA6E-A38A-45B6-B9F7-EA8C0D4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1600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FE1C8"/>
          </a:solidFill>
          <a:ln xmlns:a="http://schemas.openxmlformats.org/drawingml/2006/main" w="19050">
            <a:solidFill>
              <a:srgbClr val="B879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Sedimentary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900">
                <a:solidFill>
                  <a:srgbClr val="5F6862"/>
                </a:solidFill>
                <a:latin typeface="Aptos"/>
                <a:ea typeface="Aptos"/>
                <a:cs typeface="Aptos"/>
              </a:rPr>
              <a:t>layers compact</a:t>
            </a:r>
          </a:p>
        </p:txBody>
      </p:sp>
      <p:sp>
        <p:nvSpPr>
          <p:cNvPr id="7" name="Metamorphic">
            <a:extLst xmlns:a="http://schemas.openxmlformats.org/drawingml/2006/main">
              <a:ext uri="{FF2B5EF4-FFF2-40B4-BE49-F238E27FC236}">
                <a16:creationId xmlns:a16="http://schemas.microsoft.com/office/drawing/2014/main" id="{6446AF6C-7AF5-4796-9BB7-4FC10BB4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91050"/>
            <a:ext cx="16954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D8CF"/>
          </a:solidFill>
          <a:ln xmlns:a="http://schemas.openxmlformats.org/drawingml/2006/main" w="19050">
            <a:solidFill>
              <a:srgbClr val="8E4D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Metamorphic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900">
                <a:solidFill>
                  <a:srgbClr val="5F6862"/>
                </a:solidFill>
                <a:latin typeface="Aptos"/>
                <a:ea typeface="Aptos"/>
                <a:cs typeface="Aptos"/>
              </a:rPr>
              <a:t>heat + pressure</a:t>
            </a:r>
          </a:p>
        </p:txBody>
      </p:sp>
      <p:sp>
        <p:nvSpPr>
          <p:cNvPr id="8" name="Magma">
            <a:extLst xmlns:a="http://schemas.openxmlformats.org/drawingml/2006/main">
              <a:ext uri="{FF2B5EF4-FFF2-40B4-BE49-F238E27FC236}">
                <a16:creationId xmlns:a16="http://schemas.microsoft.com/office/drawing/2014/main" id="{D8602A85-EA32-4E0C-8FFA-FA346530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14287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9E4E8"/>
          </a:solidFill>
          <a:ln xmlns:a="http://schemas.openxmlformats.org/drawingml/2006/main" w="19050">
            <a:solidFill>
              <a:srgbClr val="315F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50" b="1">
                <a:solidFill>
                  <a:srgbClr val="1F2522"/>
                </a:solidFill>
                <a:latin typeface="Aptos Display"/>
                <a:ea typeface="Aptos Display"/>
                <a:cs typeface="Aptos Display"/>
              </a:rPr>
              <a:t>Magma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900">
                <a:solidFill>
                  <a:srgbClr val="5F6862"/>
                </a:solidFill>
                <a:latin typeface="Aptos"/>
                <a:ea typeface="Aptos"/>
                <a:cs typeface="Aptos"/>
              </a:rPr>
              <a:t>melted rock</a:t>
            </a:r>
          </a:p>
        </p:txBody>
      </p:sp>
      <p:cxnSp>
        <p:nvCxnSpPr>
          <p:cNvPr id="29" name=""/>
          <p:cNvCxnSpPr>
            <a:stCxn xmlns:a="http://schemas.openxmlformats.org/drawingml/2006/main" id="4" idx="0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714500" y="2133600"/>
            <a:ext cx="1924050" cy="7048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1908" cap="rnd">
            <a:solidFill>
              <a:srgbClr val="2F6F58"/>
            </a:solidFill>
            <a:prstDash val="solid"/>
            <a:round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219700" y="2133600"/>
            <a:ext cx="2152650" cy="704850"/>
          </a:xfrm>
          <a:prstGeom xmlns:a="http://schemas.openxmlformats.org/drawingml/2006/main" prst="bentConnector2">
            <a:avLst/>
          </a:prstGeom>
          <a:ln xmlns:a="http://schemas.openxmlformats.org/drawingml/2006/main" w="21908" cap="rnd">
            <a:solidFill>
              <a:srgbClr val="B8792B"/>
            </a:solidFill>
            <a:prstDash val="solid"/>
            <a:round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6048375" y="3581400"/>
            <a:ext cx="1323975" cy="1009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 cap="rnd">
            <a:solidFill>
              <a:srgbClr val="8E4D35"/>
            </a:solidFill>
            <a:prstDash val="solid"/>
            <a:round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3619500" y="4914900"/>
            <a:ext cx="158115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 cap="rnd">
            <a:solidFill>
              <a:srgbClr val="315F73"/>
            </a:solidFill>
            <a:prstDash val="solid"/>
            <a:round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14500" y="3581400"/>
            <a:ext cx="476250" cy="1333500"/>
          </a:xfrm>
          <a:prstGeom xmlns:a="http://schemas.openxmlformats.org/drawingml/2006/main" prst="bentConnector2">
            <a:avLst/>
          </a:prstGeom>
          <a:ln xmlns:a="http://schemas.openxmlformats.org/drawingml/2006/main" w="21908" cap="rnd">
            <a:solidFill>
              <a:srgbClr val="2F6F58"/>
            </a:solidFill>
            <a:prstDash val="solid"/>
            <a:round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AB4A7-9CE6-4DA4-BC05-476D204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95500"/>
            <a:ext cx="11049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2F6F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58"/>
                </a:solidFill>
                <a:latin typeface="Aptos"/>
                <a:ea typeface="Aptos"/>
                <a:cs typeface="Aptos"/>
              </a:rPr>
              <a:t>Weathering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2F6F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58"/>
                </a:solidFill>
                <a:latin typeface="Aptos"/>
                <a:ea typeface="Aptos"/>
                <a:cs typeface="Aptos"/>
              </a:rPr>
              <a:t>&amp; Erosion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62CC6-CA5C-4396-B3E9-B0F1210C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20015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FE1C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B879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92B"/>
                </a:solidFill>
                <a:latin typeface="Aptos"/>
                <a:ea typeface="Aptos"/>
                <a:cs typeface="Aptos"/>
              </a:rPr>
              <a:t>Deposition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B879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92B"/>
                </a:solidFill>
                <a:latin typeface="Aptos"/>
                <a:ea typeface="Aptos"/>
                <a:cs typeface="Aptos"/>
              </a:rPr>
              <a:t>&amp; Compaction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A056D-D54B-42E6-A1F9-BA686292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9906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9D8C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8E4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4D35"/>
                </a:solidFill>
                <a:latin typeface="Aptos"/>
                <a:ea typeface="Aptos"/>
                <a:cs typeface="Aptos"/>
              </a:rPr>
              <a:t>Heat &amp;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8E4D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4D35"/>
                </a:solidFill>
                <a:latin typeface="Aptos"/>
                <a:ea typeface="Aptos"/>
                <a:cs typeface="Aptos"/>
              </a:rPr>
              <a:t>Pressure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8B211-F266-490D-9A0D-CCB2C39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29200"/>
            <a:ext cx="895350" cy="3048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315F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F73"/>
                </a:solidFill>
                <a:latin typeface="Aptos"/>
                <a:ea typeface="Aptos"/>
                <a:cs typeface="Aptos"/>
              </a:rPr>
              <a:t>Melting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43FCE-D538-487C-A023-B41B6AB8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876300" cy="3048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2F6F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58"/>
                </a:solidFill>
                <a:latin typeface="Aptos"/>
                <a:ea typeface="Aptos"/>
                <a:cs typeface="Aptos"/>
              </a:rPr>
              <a:t>Cooling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9F21B-8CBC-42C0-8402-C8D02BB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0550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Each arrow names the process that changes one material into the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B5900-B74B-4A60-8D95-8EE4D4BD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24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F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8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9788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2026-07-02T07:41:20.3950000Z</dcterms:created>
  <dcterms:modified xsi:type="dcterms:W3CDTF">2026-07-02T07:41:20.3950000Z</dcterms:modified>
</coreProperties>
</file>
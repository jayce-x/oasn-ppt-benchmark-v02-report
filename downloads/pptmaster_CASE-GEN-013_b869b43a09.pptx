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mini-lesson is about using ray diagrams as a predictive tool. A concave mirror is not just a curved shape on the page: once we mark V, F, C, and the principal axis, the geometry tells us where the image forms. We will build the model, apply the ray rules, check the result with equations, and then compare the major object-position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Before drawing any ray, we need the coordinate map. V is the vertex of the mirror, C is the center of curvature, and F sits halfway between them. In this source convention the focal length of a concave mirror is positive, so the diagram and the equation use the same physical setup.</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Now that the geometry is fixed, three principal rays give us reliable paths. A ray parallel to the axis reflects through F, a ray through F reflects parallel to the axis, and a ray through C returns along itself. A fourth vertex ray can also be useful, but these three are enough to locate most images cleanly.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Here the object is beyond C, so we expect a real image between C and F. First draw the parallel ray and reflect it through F. Then draw the ray through C, which reflects back along the same path; where those reflected rays meet gives the image point, inverted and reduced.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equation gives a numerical check on the same geometry. With f equal to 10 centimeters and object distance equal to 30 centimeters, solving the mirror equation gives image distance equal to 15 centimeters. The magnification is negative one half, which means the image is inverted and half the object height.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table shows why object position matters. Beyond C, at C, and between F and C all produce real inverted images, but with different size and location. At F the reflected rays leave parallel, and inside F the image is virtual, upright, enlarged, and behind the mirror.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These are the mistakes students often make when the diagram is treated like decoration. The image is not always at F, real images are not always enlarged, and ray directions cannot be arbitrary. A well-drawn ray diagram is a piece of geometry: labels, directions, and intersections all carry meaning.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 finish, apply the same frame to a new object position. Name the geometry first, place the object relative to F and C, choose two principal rays, and locate their reflected intersection. For the shown case, the object is between C and F, so the prediction is a real, inverted, enlarged image.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220"/>
            </a:solidFill>
            <a:ln>
              <a:noFill/>
            </a:ln>
          </p:spPr>
        </p:sp>
        <p:sp>
          <p:nvSpPr>
            <p:cNvPr id="3" name="Freeform 3"/>
            <p:cNvSpPr/>
            <p:nvPr/>
          </p:nvSpPr>
          <p:spPr>
            <a:xfrm>
              <a:off x="0" y="0"/>
              <a:ext cx="12192000" cy="6858000"/>
            </a:xfrm>
            <a:custGeom>
              <a:avLst/>
              <a:gdLst/>
              <a:ahLst/>
              <a:cxnLst/>
              <a:rect l="l" t="t" r="r" b="b"/>
              <a:pathLst>
                <a:path w="12192000" h="6858000">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moveTo>
                    <a:pt x="11430000" y="0"/>
                  </a:moveTo>
                  <a:lnTo>
                    <a:pt x="11430000" y="685800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path>
              </a:pathLst>
            </a:custGeom>
            <a:noFill/>
            <a:ln w="9525">
              <a:solidFill>
                <a:srgbClr val="1B2E4A"/>
              </a:solidFill>
            </a:ln>
          </p:spPr>
        </p:sp>
        <p:sp>
          <p:nvSpPr>
            <p:cNvPr id="4" name="Rectangle 4"/>
            <p:cNvSpPr/>
            <p:nvPr/>
          </p:nvSpPr>
          <p:spPr>
            <a:xfrm>
              <a:off x="266700" y="266700"/>
              <a:ext cx="11658600" cy="6324600"/>
            </a:xfrm>
            <a:prstGeom prst="rect">
              <a:avLst/>
            </a:prstGeom>
            <a:noFill/>
            <a:ln w="14288">
              <a:solidFill>
                <a:srgbClr val="31506E"/>
              </a:solidFill>
            </a:ln>
          </p:spPr>
        </p:sp>
      </p:grpSp>
      <p:grpSp>
        <p:nvGrpSpPr>
          <p:cNvPr id="9" name="Group 9"/>
          <p:cNvGrpSpPr/>
          <p:nvPr/>
        </p:nvGrpSpPr>
        <p:grpSpPr>
          <a:xfrm>
            <a:off x="641985" y="818198"/>
            <a:ext cx="8329755" cy="2725102"/>
            <a:chOff x="641985" y="818198"/>
            <a:chExt cx="8329755" cy="2725102"/>
          </a:xfrm>
        </p:grpSpPr>
        <p:sp>
          <p:nvSpPr>
            <p:cNvPr id="6" name="TextBox 6"/>
            <p:cNvSpPr txBox="1"/>
            <p:nvPr/>
          </p:nvSpPr>
          <p:spPr>
            <a:xfrm>
              <a:off x="641985" y="818198"/>
              <a:ext cx="5373386" cy="1729740"/>
            </a:xfrm>
            <a:prstGeom prst="rect">
              <a:avLst/>
            </a:prstGeom>
            <a:noFill/>
            <a:ln>
              <a:noFill/>
            </a:ln>
          </p:spPr>
          <p:txBody>
            <a:bodyPr wrap="square" lIns="0" tIns="0" rIns="0" bIns="0" anchor="t" anchorCtr="0"/>
            <a:lstStyle/>
            <a:p>
              <a:pPr algn="l">
                <a:lnSpc>
                  <a:spcPts val="5700"/>
                </a:lnSpc>
              </a:pPr>
              <a:r>
                <a:rPr lang="zh-CN" sz="4950" b="1" dirty="0">
                  <a:solidFill>
                    <a:srgbClr val="F5FBFF"/>
                  </a:solidFill>
                  <a:latin typeface="Arial"/>
                  <a:ea typeface="Microsoft YaHei"/>
                  <a:cs typeface="Arial"/>
                </a:rPr>
                <a:t xml:space="preserve">Concave Mirrors </a:t>
              </a:r>
              <a:r>
                <a:rPr lang="zh-CN" sz="4950" b="1" dirty="0">
                  <a:solidFill>
                    <a:srgbClr val="F5FBFF"/>
                  </a:solidFill>
                  <a:latin typeface="Arial"/>
                  <a:ea typeface="Microsoft YaHei"/>
                  <a:cs typeface="Arial"/>
                </a:rPr>
                <a:t>Ray Optics</a:t>
              </a:r>
            </a:p>
          </p:txBody>
        </p:sp>
        <p:sp>
          <p:nvSpPr>
            <p:cNvPr id="7" name="TextBox 7"/>
            <p:cNvSpPr txBox="1"/>
            <p:nvPr/>
          </p:nvSpPr>
          <p:spPr>
            <a:xfrm>
              <a:off x="718185" y="2742248"/>
              <a:ext cx="8253555" cy="396240"/>
            </a:xfrm>
            <a:prstGeom prst="rect">
              <a:avLst/>
            </a:prstGeom>
            <a:noFill/>
            <a:ln>
              <a:noFill/>
            </a:ln>
          </p:spPr>
          <p:txBody>
            <a:bodyPr wrap="none" lIns="0" tIns="0" rIns="0" bIns="0" anchor="t" anchorCtr="0">
              <a:spAutoFit/>
            </a:bodyPr>
            <a:lstStyle/>
            <a:p>
              <a:pPr algn="l"/>
              <a:r>
                <a:rPr lang="zh-CN" sz="1950" dirty="0">
                  <a:solidFill>
                    <a:srgbClr val="A9D6E5"/>
                  </a:solidFill>
                  <a:latin typeface="Arial"/>
                  <a:ea typeface="Microsoft YaHei"/>
                  <a:cs typeface="Arial"/>
                </a:rPr>
                <a:t>How editable ray diagrams predict image location and orientation</a:t>
              </a:r>
            </a:p>
          </p:txBody>
        </p:sp>
        <p:sp>
          <p:nvSpPr>
            <p:cNvPr id="8" name="TextBox 8"/>
            <p:cNvSpPr txBox="1"/>
            <p:nvPr/>
          </p:nvSpPr>
          <p:spPr>
            <a:xfrm>
              <a:off x="746760" y="3299460"/>
              <a:ext cx="3910965" cy="243840"/>
            </a:xfrm>
            <a:prstGeom prst="rect">
              <a:avLst/>
            </a:prstGeom>
            <a:noFill/>
            <a:ln>
              <a:noFill/>
            </a:ln>
          </p:spPr>
          <p:txBody>
            <a:bodyPr wrap="none" lIns="0" tIns="0" rIns="0" bIns="0" anchor="t" anchorCtr="0">
              <a:spAutoFit/>
            </a:bodyPr>
            <a:lstStyle/>
            <a:p>
              <a:pPr algn="l"/>
              <a:r>
                <a:rPr lang="zh-CN" sz="1200" dirty="0">
                  <a:solidFill>
                    <a:srgbClr val="92A9B8"/>
                  </a:solidFill>
                  <a:latin typeface="Consolas"/>
                  <a:ea typeface="Microsoft YaHei"/>
                  <a:cs typeface="Consolas"/>
                </a:rPr>
                <a:t>V = vertex F = focal point C = center of curvature</a:t>
              </a:r>
            </a:p>
          </p:txBody>
        </p:sp>
      </p:grpSp>
      <p:grpSp>
        <p:nvGrpSpPr>
          <p:cNvPr id="24" name="Group 24"/>
          <p:cNvGrpSpPr/>
          <p:nvPr/>
        </p:nvGrpSpPr>
        <p:grpSpPr>
          <a:xfrm>
            <a:off x="6191250" y="1219200"/>
            <a:ext cx="4591050" cy="4419600"/>
            <a:chOff x="6191250" y="1219200"/>
            <a:chExt cx="4591050" cy="4419600"/>
          </a:xfrm>
        </p:grpSpPr>
        <p:sp>
          <p:nvSpPr>
            <p:cNvPr id="10" name="Line 10"/>
            <p:cNvSpPr/>
            <p:nvPr/>
          </p:nvSpPr>
          <p:spPr>
            <a:xfrm>
              <a:off x="6191250" y="3429000"/>
              <a:ext cx="4381500" cy="9525"/>
            </a:xfrm>
            <a:custGeom>
              <a:avLst/>
              <a:gdLst/>
              <a:ahLst/>
              <a:cxnLst/>
              <a:rect l="l" t="t" r="r" b="b"/>
              <a:pathLst>
                <a:path w="4381500" h="9525">
                  <a:moveTo>
                    <a:pt x="0" y="0"/>
                  </a:moveTo>
                  <a:lnTo>
                    <a:pt x="4381500" y="0"/>
                  </a:lnTo>
                </a:path>
              </a:pathLst>
            </a:custGeom>
            <a:noFill/>
            <a:ln w="19050">
              <a:solidFill>
                <a:srgbClr val="A9D6E5"/>
              </a:solidFill>
              <a:prstDash val="lgDash"/>
            </a:ln>
          </p:spPr>
        </p:sp>
        <p:sp>
          <p:nvSpPr>
            <p:cNvPr id="11" name="Freeform 11"/>
            <p:cNvSpPr/>
            <p:nvPr/>
          </p:nvSpPr>
          <p:spPr>
            <a:xfrm>
              <a:off x="9620250" y="1219200"/>
              <a:ext cx="1162050" cy="4419600"/>
            </a:xfrm>
            <a:custGeom>
              <a:avLst/>
              <a:gdLst/>
              <a:ahLst/>
              <a:cxnLst/>
              <a:rect l="l" t="t" r="r" b="b"/>
              <a:pathLst>
                <a:path w="1162050" h="4419600">
                  <a:moveTo>
                    <a:pt x="0" y="0"/>
                  </a:moveTo>
                  <a:cubicBezTo>
                    <a:pt x="1162050" y="828675"/>
                    <a:pt x="1162050" y="3590925"/>
                    <a:pt x="0" y="4419600"/>
                  </a:cubicBezTo>
                </a:path>
              </a:pathLst>
            </a:custGeom>
            <a:noFill/>
            <a:ln w="47625">
              <a:solidFill>
                <a:srgbClr val="F5FBFF"/>
              </a:solidFill>
            </a:ln>
          </p:spPr>
        </p:sp>
        <p:sp>
          <p:nvSpPr>
            <p:cNvPr id="12" name="Freeform 12"/>
            <p:cNvSpPr/>
            <p:nvPr/>
          </p:nvSpPr>
          <p:spPr>
            <a:xfrm>
              <a:off x="9753600" y="1409700"/>
              <a:ext cx="895350" cy="4038600"/>
            </a:xfrm>
            <a:custGeom>
              <a:avLst/>
              <a:gdLst/>
              <a:ahLst/>
              <a:cxnLst/>
              <a:rect l="l" t="t" r="r" b="b"/>
              <a:pathLst>
                <a:path w="895350" h="4038600">
                  <a:moveTo>
                    <a:pt x="0" y="0"/>
                  </a:moveTo>
                  <a:cubicBezTo>
                    <a:pt x="895350" y="762000"/>
                    <a:pt x="895350" y="3276600"/>
                    <a:pt x="0" y="4038600"/>
                  </a:cubicBezTo>
                </a:path>
              </a:pathLst>
            </a:custGeom>
            <a:noFill/>
            <a:ln w="19050">
              <a:solidFill>
                <a:srgbClr val="A9D6E5"/>
              </a:solidFill>
              <a:custDash>
                <a:ds d="300000" sp="300000"/>
              </a:custDash>
            </a:ln>
          </p:spPr>
        </p:sp>
        <p:sp>
          <p:nvSpPr>
            <p:cNvPr id="13" name="Line 13"/>
            <p:cNvSpPr/>
            <p:nvPr/>
          </p:nvSpPr>
          <p:spPr>
            <a:xfrm>
              <a:off x="7239000" y="2000250"/>
              <a:ext cx="2457450" cy="1"/>
            </a:xfrm>
            <a:prstGeom prst="line">
              <a:avLst/>
            </a:prstGeom>
            <a:noFill/>
            <a:ln w="28575">
              <a:solidFill>
                <a:srgbClr val="FFD166"/>
              </a:solidFill>
              <a:tailEnd type="triangle" w="lg" len="lg"/>
            </a:ln>
          </p:spPr>
        </p:sp>
        <p:sp>
          <p:nvSpPr>
            <p:cNvPr id="14" name="Line 14"/>
            <p:cNvSpPr/>
            <p:nvPr/>
          </p:nvSpPr>
          <p:spPr>
            <a:xfrm flipH="1">
              <a:off x="8191500" y="2000250"/>
              <a:ext cx="1504950" cy="1428750"/>
            </a:xfrm>
            <a:prstGeom prst="line">
              <a:avLst/>
            </a:prstGeom>
            <a:noFill/>
            <a:ln w="28575">
              <a:solidFill>
                <a:srgbClr val="FFD166"/>
              </a:solidFill>
              <a:tailEnd type="triangle" w="lg" len="lg"/>
            </a:ln>
          </p:spPr>
        </p:sp>
        <p:sp>
          <p:nvSpPr>
            <p:cNvPr id="15" name="Line 15"/>
            <p:cNvSpPr/>
            <p:nvPr/>
          </p:nvSpPr>
          <p:spPr>
            <a:xfrm>
              <a:off x="7239000" y="4857750"/>
              <a:ext cx="2457450" cy="1"/>
            </a:xfrm>
            <a:prstGeom prst="line">
              <a:avLst/>
            </a:prstGeom>
            <a:noFill/>
            <a:ln w="28575">
              <a:solidFill>
                <a:srgbClr val="A9D6E5"/>
              </a:solidFill>
              <a:tailEnd type="triangle" w="lg" len="lg"/>
            </a:ln>
          </p:spPr>
        </p:sp>
        <p:sp>
          <p:nvSpPr>
            <p:cNvPr id="16" name="Line 16"/>
            <p:cNvSpPr/>
            <p:nvPr/>
          </p:nvSpPr>
          <p:spPr>
            <a:xfrm flipH="1" flipV="1">
              <a:off x="8191500" y="3429000"/>
              <a:ext cx="1504950" cy="1428750"/>
            </a:xfrm>
            <a:prstGeom prst="line">
              <a:avLst/>
            </a:prstGeom>
            <a:noFill/>
            <a:ln w="28575">
              <a:solidFill>
                <a:srgbClr val="A9D6E5"/>
              </a:solidFill>
              <a:tailEnd type="triangle" w="lg" len="lg"/>
            </a:ln>
          </p:spPr>
        </p:sp>
        <p:sp>
          <p:nvSpPr>
            <p:cNvPr id="17" name="Ellipse 17"/>
            <p:cNvSpPr/>
            <p:nvPr/>
          </p:nvSpPr>
          <p:spPr>
            <a:xfrm>
              <a:off x="9553575" y="3362325"/>
              <a:ext cx="133350" cy="133350"/>
            </a:xfrm>
            <a:prstGeom prst="ellipse">
              <a:avLst/>
            </a:prstGeom>
            <a:solidFill>
              <a:srgbClr val="F5FBFF"/>
            </a:solidFill>
            <a:ln>
              <a:noFill/>
            </a:ln>
          </p:spPr>
        </p:sp>
        <p:sp>
          <p:nvSpPr>
            <p:cNvPr id="18" name="Ellipse 18"/>
            <p:cNvSpPr/>
            <p:nvPr/>
          </p:nvSpPr>
          <p:spPr>
            <a:xfrm>
              <a:off x="8124825" y="3362325"/>
              <a:ext cx="133350" cy="133350"/>
            </a:xfrm>
            <a:prstGeom prst="ellipse">
              <a:avLst/>
            </a:prstGeom>
            <a:solidFill>
              <a:srgbClr val="FFD166"/>
            </a:solidFill>
            <a:ln>
              <a:noFill/>
            </a:ln>
          </p:spPr>
        </p:sp>
        <p:sp>
          <p:nvSpPr>
            <p:cNvPr id="19" name="Ellipse 19"/>
            <p:cNvSpPr/>
            <p:nvPr/>
          </p:nvSpPr>
          <p:spPr>
            <a:xfrm>
              <a:off x="6696075" y="3362325"/>
              <a:ext cx="133350" cy="133350"/>
            </a:xfrm>
            <a:prstGeom prst="ellipse">
              <a:avLst/>
            </a:prstGeom>
            <a:solidFill>
              <a:srgbClr val="EF476F"/>
            </a:solidFill>
            <a:ln>
              <a:noFill/>
            </a:ln>
          </p:spPr>
        </p:sp>
        <p:sp>
          <p:nvSpPr>
            <p:cNvPr id="20" name="TextBox 20"/>
            <p:cNvSpPr txBox="1"/>
            <p:nvPr/>
          </p:nvSpPr>
          <p:spPr>
            <a:xfrm>
              <a:off x="9547860" y="3585210"/>
              <a:ext cx="118491"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Consolas"/>
                  <a:ea typeface="Microsoft YaHei"/>
                  <a:cs typeface="Consolas"/>
                </a:rPr>
                <a:t>V</a:t>
              </a:r>
            </a:p>
          </p:txBody>
        </p:sp>
        <p:sp>
          <p:nvSpPr>
            <p:cNvPr id="21" name="TextBox 21"/>
            <p:cNvSpPr txBox="1"/>
            <p:nvPr/>
          </p:nvSpPr>
          <p:spPr>
            <a:xfrm>
              <a:off x="8100060" y="3585210"/>
              <a:ext cx="118491" cy="243840"/>
            </a:xfrm>
            <a:prstGeom prst="rect">
              <a:avLst/>
            </a:prstGeom>
            <a:noFill/>
            <a:ln>
              <a:noFill/>
            </a:ln>
          </p:spPr>
          <p:txBody>
            <a:bodyPr wrap="none" lIns="0" tIns="0" rIns="0" bIns="0" anchor="t" anchorCtr="0">
              <a:spAutoFit/>
            </a:bodyPr>
            <a:lstStyle/>
            <a:p>
              <a:pPr algn="l"/>
              <a:r>
                <a:rPr lang="zh-CN" sz="1200" dirty="0">
                  <a:solidFill>
                    <a:srgbClr val="FFD166"/>
                  </a:solidFill>
                  <a:latin typeface="Consolas"/>
                  <a:ea typeface="Microsoft YaHei"/>
                  <a:cs typeface="Consolas"/>
                </a:rPr>
                <a:t>F</a:t>
              </a:r>
            </a:p>
          </p:txBody>
        </p:sp>
        <p:sp>
          <p:nvSpPr>
            <p:cNvPr id="22" name="TextBox 22"/>
            <p:cNvSpPr txBox="1"/>
            <p:nvPr/>
          </p:nvSpPr>
          <p:spPr>
            <a:xfrm>
              <a:off x="6671310" y="3585210"/>
              <a:ext cx="118491" cy="243840"/>
            </a:xfrm>
            <a:prstGeom prst="rect">
              <a:avLst/>
            </a:prstGeom>
            <a:noFill/>
            <a:ln>
              <a:noFill/>
            </a:ln>
          </p:spPr>
          <p:txBody>
            <a:bodyPr wrap="none" lIns="0" tIns="0" rIns="0" bIns="0" anchor="t" anchorCtr="0">
              <a:spAutoFit/>
            </a:bodyPr>
            <a:lstStyle/>
            <a:p>
              <a:pPr algn="l"/>
              <a:r>
                <a:rPr lang="zh-CN" sz="1200" dirty="0">
                  <a:solidFill>
                    <a:srgbClr val="EF476F"/>
                  </a:solidFill>
                  <a:latin typeface="Consolas"/>
                  <a:ea typeface="Microsoft YaHei"/>
                  <a:cs typeface="Consolas"/>
                </a:rPr>
                <a:t>C</a:t>
              </a:r>
            </a:p>
          </p:txBody>
        </p:sp>
        <p:sp>
          <p:nvSpPr>
            <p:cNvPr id="23" name="TextBox 23"/>
            <p:cNvSpPr txBox="1"/>
            <p:nvPr/>
          </p:nvSpPr>
          <p:spPr>
            <a:xfrm>
              <a:off x="6320790" y="3068002"/>
              <a:ext cx="929783" cy="213360"/>
            </a:xfrm>
            <a:prstGeom prst="rect">
              <a:avLst/>
            </a:prstGeom>
            <a:noFill/>
            <a:ln>
              <a:noFill/>
            </a:ln>
          </p:spPr>
          <p:txBody>
            <a:bodyPr wrap="none" lIns="0" tIns="0" rIns="0" bIns="0" anchor="t" anchorCtr="0">
              <a:spAutoFit/>
            </a:bodyPr>
            <a:lstStyle/>
            <a:p>
              <a:pPr algn="l"/>
              <a:r>
                <a:rPr lang="zh-CN" sz="1050" dirty="0">
                  <a:solidFill>
                    <a:srgbClr val="92A9B8"/>
                  </a:solidFill>
                  <a:latin typeface="Arial"/>
                  <a:ea typeface="Microsoft YaHei"/>
                  <a:cs typeface="Arial"/>
                </a:rPr>
                <a:t>principal axis</a:t>
              </a:r>
            </a:p>
          </p:txBody>
        </p:sp>
      </p:grpSp>
      <p:grpSp>
        <p:nvGrpSpPr>
          <p:cNvPr id="27" name="Group 27"/>
          <p:cNvGrpSpPr/>
          <p:nvPr/>
        </p:nvGrpSpPr>
        <p:grpSpPr>
          <a:xfrm>
            <a:off x="693420" y="6151245"/>
            <a:ext cx="10940510" cy="182880"/>
            <a:chOff x="693420" y="6151245"/>
            <a:chExt cx="10940510" cy="182880"/>
          </a:xfrm>
        </p:grpSpPr>
        <p:sp>
          <p:nvSpPr>
            <p:cNvPr id="25" name="TextBox 25"/>
            <p:cNvSpPr txBox="1"/>
            <p:nvPr/>
          </p:nvSpPr>
          <p:spPr>
            <a:xfrm>
              <a:off x="693420" y="6151245"/>
              <a:ext cx="3185255" cy="182880"/>
            </a:xfrm>
            <a:prstGeom prst="rect">
              <a:avLst/>
            </a:prstGeom>
            <a:noFill/>
            <a:ln>
              <a:noFill/>
            </a:ln>
          </p:spPr>
          <p:txBody>
            <a:bodyPr wrap="none" lIns="0" tIns="0" rIns="0" bIns="0" anchor="t" anchorCtr="0">
              <a:spAutoFit/>
            </a:bodyPr>
            <a:lstStyle/>
            <a:p>
              <a:pPr algn="l"/>
              <a:r>
                <a:rPr lang="zh-CN" sz="900" dirty="0">
                  <a:solidFill>
                    <a:srgbClr val="92A9B8"/>
                  </a:solidFill>
                  <a:latin typeface="Arial"/>
                  <a:ea typeface="Microsoft YaHei"/>
                  <a:cs typeface="Arial"/>
                </a:rPr>
                <a:t>CASE-GEN-013 source: concave_mirror_ray_optics.md</a:t>
              </a:r>
            </a:p>
          </p:txBody>
        </p:sp>
        <p:sp>
          <p:nvSpPr>
            <p:cNvPr id="26" name="TextBox 26"/>
            <p:cNvSpPr txBox="1"/>
            <p:nvPr/>
          </p:nvSpPr>
          <p:spPr>
            <a:xfrm>
              <a:off x="11209020" y="6151245"/>
              <a:ext cx="424910" cy="182880"/>
            </a:xfrm>
            <a:prstGeom prst="rect">
              <a:avLst/>
            </a:prstGeom>
            <a:noFill/>
            <a:ln>
              <a:noFill/>
            </a:ln>
          </p:spPr>
          <p:txBody>
            <a:bodyPr wrap="none" lIns="0" tIns="0" rIns="0" bIns="0" anchor="t" anchorCtr="0">
              <a:spAutoFit/>
            </a:bodyPr>
            <a:lstStyle/>
            <a:p>
              <a:pPr algn="l"/>
              <a:r>
                <a:rPr lang="zh-CN" sz="900" dirty="0">
                  <a:solidFill>
                    <a:srgbClr val="92A9B8"/>
                  </a:solidFill>
                  <a:latin typeface="Consolas"/>
                  <a:ea typeface="Microsoft YaHei"/>
                  <a:cs typeface="Consolas"/>
                </a:rPr>
                <a:t>01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dissolve">
                                      <p:cBhvr>
                                        <p:cTn id="11"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220"/>
            </a:solidFill>
            <a:ln>
              <a:noFill/>
            </a:ln>
          </p:spPr>
        </p:sp>
        <p:sp>
          <p:nvSpPr>
            <p:cNvPr id="3" name="Freeform 3"/>
            <p:cNvSpPr/>
            <p:nvPr/>
          </p:nvSpPr>
          <p:spPr>
            <a:xfrm>
              <a:off x="0" y="0"/>
              <a:ext cx="12192000" cy="6858000"/>
            </a:xfrm>
            <a:custGeom>
              <a:avLst/>
              <a:gdLst/>
              <a:ahLst/>
              <a:cxnLst/>
              <a:rect l="l" t="t" r="r" b="b"/>
              <a:pathLst>
                <a:path w="12192000" h="6858000">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moveTo>
                    <a:pt x="11430000" y="0"/>
                  </a:moveTo>
                  <a:lnTo>
                    <a:pt x="11430000" y="685800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path>
              </a:pathLst>
            </a:custGeom>
            <a:noFill/>
            <a:ln w="9525">
              <a:solidFill>
                <a:srgbClr val="1B2E4A"/>
              </a:solidFill>
            </a:ln>
          </p:spPr>
        </p:sp>
      </p:grpSp>
      <p:grpSp>
        <p:nvGrpSpPr>
          <p:cNvPr id="8" name="Group 8"/>
          <p:cNvGrpSpPr/>
          <p:nvPr/>
        </p:nvGrpSpPr>
        <p:grpSpPr>
          <a:xfrm>
            <a:off x="499110" y="394335"/>
            <a:ext cx="11159490" cy="796290"/>
            <a:chOff x="499110" y="394335"/>
            <a:chExt cx="11159490" cy="796290"/>
          </a:xfrm>
        </p:grpSpPr>
        <p:sp>
          <p:nvSpPr>
            <p:cNvPr id="5" name="TextBox 5"/>
            <p:cNvSpPr txBox="1"/>
            <p:nvPr/>
          </p:nvSpPr>
          <p:spPr>
            <a:xfrm>
              <a:off x="499110" y="394335"/>
              <a:ext cx="7138064" cy="548640"/>
            </a:xfrm>
            <a:prstGeom prst="rect">
              <a:avLst/>
            </a:prstGeom>
            <a:noFill/>
            <a:ln>
              <a:noFill/>
            </a:ln>
          </p:spPr>
          <p:txBody>
            <a:bodyPr wrap="none" lIns="0" tIns="0" rIns="0" bIns="0" anchor="t" anchorCtr="0">
              <a:spAutoFit/>
            </a:bodyPr>
            <a:lstStyle/>
            <a:p>
              <a:pPr algn="l"/>
              <a:r>
                <a:rPr lang="zh-CN" sz="2700" b="1" dirty="0">
                  <a:solidFill>
                    <a:srgbClr val="F5FBFF"/>
                  </a:solidFill>
                  <a:latin typeface="Arial"/>
                  <a:ea typeface="Microsoft YaHei"/>
                  <a:cs typeface="Arial"/>
                </a:rPr>
                <a:t>The geometry every ray diagram needs</a:t>
              </a:r>
            </a:p>
          </p:txBody>
        </p:sp>
        <p:sp>
          <p:nvSpPr>
            <p:cNvPr id="6" name="TextBox 6"/>
            <p:cNvSpPr txBox="1"/>
            <p:nvPr/>
          </p:nvSpPr>
          <p:spPr>
            <a:xfrm>
              <a:off x="537210" y="899160"/>
              <a:ext cx="4711065" cy="243840"/>
            </a:xfrm>
            <a:prstGeom prst="rect">
              <a:avLst/>
            </a:prstGeom>
            <a:noFill/>
            <a:ln>
              <a:noFill/>
            </a:ln>
          </p:spPr>
          <p:txBody>
            <a:bodyPr wrap="none" lIns="0" tIns="0" rIns="0" bIns="0" anchor="t" anchorCtr="0">
              <a:spAutoFit/>
            </a:bodyPr>
            <a:lstStyle/>
            <a:p>
              <a:pPr algn="l"/>
              <a:r>
                <a:rPr lang="zh-CN" sz="1200" dirty="0">
                  <a:solidFill>
                    <a:srgbClr val="92A9B8"/>
                  </a:solidFill>
                  <a:latin typeface="Arial"/>
                  <a:ea typeface="Microsoft YaHei"/>
                  <a:cs typeface="Arial"/>
                </a:rPr>
                <a:t>A concave mirror curves inward toward the reflective side.</a:t>
              </a:r>
            </a:p>
          </p:txBody>
        </p:sp>
        <p:sp>
          <p:nvSpPr>
            <p:cNvPr id="7" name="Line 7"/>
            <p:cNvSpPr/>
            <p:nvPr/>
          </p:nvSpPr>
          <p:spPr>
            <a:xfrm>
              <a:off x="533400" y="1181100"/>
              <a:ext cx="11125200" cy="9525"/>
            </a:xfrm>
            <a:custGeom>
              <a:avLst/>
              <a:gdLst/>
              <a:ahLst/>
              <a:cxnLst/>
              <a:rect l="l" t="t" r="r" b="b"/>
              <a:pathLst>
                <a:path w="11125200" h="9525">
                  <a:moveTo>
                    <a:pt x="0" y="0"/>
                  </a:moveTo>
                  <a:lnTo>
                    <a:pt x="11125200" y="0"/>
                  </a:lnTo>
                </a:path>
              </a:pathLst>
            </a:custGeom>
            <a:noFill/>
            <a:ln w="14288">
              <a:solidFill>
                <a:srgbClr val="31506E"/>
              </a:solidFill>
            </a:ln>
          </p:spPr>
        </p:sp>
      </p:grpSp>
      <p:grpSp>
        <p:nvGrpSpPr>
          <p:cNvPr id="28" name="Group 28"/>
          <p:cNvGrpSpPr/>
          <p:nvPr/>
        </p:nvGrpSpPr>
        <p:grpSpPr>
          <a:xfrm>
            <a:off x="533400" y="1485900"/>
            <a:ext cx="8115300" cy="4457700"/>
            <a:chOff x="533400" y="1485900"/>
            <a:chExt cx="8115300" cy="4457700"/>
          </a:xfrm>
        </p:grpSpPr>
        <p:sp>
          <p:nvSpPr>
            <p:cNvPr id="9" name="Rectangle 9"/>
            <p:cNvSpPr/>
            <p:nvPr/>
          </p:nvSpPr>
          <p:spPr>
            <a:xfrm>
              <a:off x="533400" y="1485900"/>
              <a:ext cx="7810500" cy="4457700"/>
            </a:xfrm>
            <a:prstGeom prst="roundRect">
              <a:avLst>
                <a:gd name="adj" fmla="val 1709"/>
              </a:avLst>
            </a:prstGeom>
            <a:solidFill>
              <a:srgbClr val="102036"/>
            </a:solidFill>
            <a:ln w="14288">
              <a:solidFill>
                <a:srgbClr val="31506E"/>
              </a:solidFill>
            </a:ln>
          </p:spPr>
        </p:sp>
        <p:sp>
          <p:nvSpPr>
            <p:cNvPr id="10" name="Line 10"/>
            <p:cNvSpPr/>
            <p:nvPr/>
          </p:nvSpPr>
          <p:spPr>
            <a:xfrm>
              <a:off x="1143000" y="3676650"/>
              <a:ext cx="6705600" cy="1"/>
            </a:xfrm>
            <a:prstGeom prst="line">
              <a:avLst/>
            </a:prstGeom>
            <a:noFill/>
            <a:ln w="23812">
              <a:solidFill>
                <a:srgbClr val="A9D6E5"/>
              </a:solidFill>
              <a:tailEnd type="triangle" w="lg" len="lg"/>
            </a:ln>
          </p:spPr>
        </p:sp>
        <p:sp>
          <p:nvSpPr>
            <p:cNvPr id="11" name="TextBox 11"/>
            <p:cNvSpPr txBox="1"/>
            <p:nvPr/>
          </p:nvSpPr>
          <p:spPr>
            <a:xfrm>
              <a:off x="1167765" y="3363278"/>
              <a:ext cx="929783" cy="213360"/>
            </a:xfrm>
            <a:prstGeom prst="rect">
              <a:avLst/>
            </a:prstGeom>
            <a:noFill/>
            <a:ln>
              <a:noFill/>
            </a:ln>
          </p:spPr>
          <p:txBody>
            <a:bodyPr wrap="none" lIns="0" tIns="0" rIns="0" bIns="0" anchor="t" anchorCtr="0">
              <a:spAutoFit/>
            </a:bodyPr>
            <a:lstStyle/>
            <a:p>
              <a:pPr algn="l"/>
              <a:r>
                <a:rPr lang="zh-CN" sz="1050" dirty="0">
                  <a:solidFill>
                    <a:srgbClr val="92A9B8"/>
                  </a:solidFill>
                  <a:latin typeface="Arial"/>
                  <a:ea typeface="Microsoft YaHei"/>
                  <a:cs typeface="Arial"/>
                </a:rPr>
                <a:t>principal axis</a:t>
              </a:r>
            </a:p>
          </p:txBody>
        </p:sp>
        <p:sp>
          <p:nvSpPr>
            <p:cNvPr id="12" name="Freeform 12"/>
            <p:cNvSpPr/>
            <p:nvPr/>
          </p:nvSpPr>
          <p:spPr>
            <a:xfrm>
              <a:off x="7239000" y="1828800"/>
              <a:ext cx="1409700" cy="3695700"/>
            </a:xfrm>
            <a:custGeom>
              <a:avLst/>
              <a:gdLst/>
              <a:ahLst/>
              <a:cxnLst/>
              <a:rect l="l" t="t" r="r" b="b"/>
              <a:pathLst>
                <a:path w="1409700" h="3695700">
                  <a:moveTo>
                    <a:pt x="0" y="0"/>
                  </a:moveTo>
                  <a:cubicBezTo>
                    <a:pt x="1409700" y="762000"/>
                    <a:pt x="1409700" y="2933700"/>
                    <a:pt x="0" y="3695700"/>
                  </a:cubicBezTo>
                </a:path>
              </a:pathLst>
            </a:custGeom>
            <a:noFill/>
            <a:ln w="47625">
              <a:solidFill>
                <a:srgbClr val="F5FBFF"/>
              </a:solidFill>
            </a:ln>
          </p:spPr>
        </p:sp>
        <p:sp>
          <p:nvSpPr>
            <p:cNvPr id="13" name="Freeform 13"/>
            <p:cNvSpPr/>
            <p:nvPr/>
          </p:nvSpPr>
          <p:spPr>
            <a:xfrm>
              <a:off x="7410450" y="2038350"/>
              <a:ext cx="1009650" cy="3276600"/>
            </a:xfrm>
            <a:custGeom>
              <a:avLst/>
              <a:gdLst/>
              <a:ahLst/>
              <a:cxnLst/>
              <a:rect l="l" t="t" r="r" b="b"/>
              <a:pathLst>
                <a:path w="1009650" h="3276600">
                  <a:moveTo>
                    <a:pt x="0" y="0"/>
                  </a:moveTo>
                  <a:cubicBezTo>
                    <a:pt x="1009650" y="685800"/>
                    <a:pt x="1009650" y="2590800"/>
                    <a:pt x="0" y="3276600"/>
                  </a:cubicBezTo>
                </a:path>
              </a:pathLst>
            </a:custGeom>
            <a:noFill/>
            <a:ln w="19050">
              <a:solidFill>
                <a:srgbClr val="A9D6E5"/>
              </a:solidFill>
              <a:prstDash val="lgDash"/>
            </a:ln>
          </p:spPr>
        </p:sp>
        <p:sp>
          <p:nvSpPr>
            <p:cNvPr id="14" name="Line 14"/>
            <p:cNvSpPr/>
            <p:nvPr/>
          </p:nvSpPr>
          <p:spPr>
            <a:xfrm>
              <a:off x="1524000" y="3676650"/>
              <a:ext cx="5715000" cy="9525"/>
            </a:xfrm>
            <a:custGeom>
              <a:avLst/>
              <a:gdLst/>
              <a:ahLst/>
              <a:cxnLst/>
              <a:rect l="l" t="t" r="r" b="b"/>
              <a:pathLst>
                <a:path w="5715000" h="9525">
                  <a:moveTo>
                    <a:pt x="5715000" y="0"/>
                  </a:moveTo>
                  <a:lnTo>
                    <a:pt x="0" y="0"/>
                  </a:lnTo>
                </a:path>
              </a:pathLst>
            </a:custGeom>
            <a:noFill/>
            <a:ln w="9525">
              <a:solidFill>
                <a:srgbClr val="31506E"/>
              </a:solidFill>
              <a:prstDash val="dash"/>
            </a:ln>
          </p:spPr>
        </p:sp>
        <p:sp>
          <p:nvSpPr>
            <p:cNvPr id="15" name="Ellipse 15"/>
            <p:cNvSpPr/>
            <p:nvPr/>
          </p:nvSpPr>
          <p:spPr>
            <a:xfrm>
              <a:off x="7162800" y="3600450"/>
              <a:ext cx="152400" cy="152400"/>
            </a:xfrm>
            <a:prstGeom prst="ellipse">
              <a:avLst/>
            </a:prstGeom>
            <a:solidFill>
              <a:srgbClr val="F5FBFF"/>
            </a:solidFill>
            <a:ln>
              <a:noFill/>
            </a:ln>
          </p:spPr>
        </p:sp>
        <p:sp>
          <p:nvSpPr>
            <p:cNvPr id="16" name="Ellipse 16"/>
            <p:cNvSpPr/>
            <p:nvPr/>
          </p:nvSpPr>
          <p:spPr>
            <a:xfrm>
              <a:off x="5257800" y="3600450"/>
              <a:ext cx="152400" cy="152400"/>
            </a:xfrm>
            <a:prstGeom prst="ellipse">
              <a:avLst/>
            </a:prstGeom>
            <a:solidFill>
              <a:srgbClr val="FFD166"/>
            </a:solidFill>
            <a:ln>
              <a:noFill/>
            </a:ln>
          </p:spPr>
        </p:sp>
        <p:sp>
          <p:nvSpPr>
            <p:cNvPr id="17" name="Ellipse 17"/>
            <p:cNvSpPr/>
            <p:nvPr/>
          </p:nvSpPr>
          <p:spPr>
            <a:xfrm>
              <a:off x="3352800" y="3600450"/>
              <a:ext cx="152400" cy="152400"/>
            </a:xfrm>
            <a:prstGeom prst="ellipse">
              <a:avLst/>
            </a:prstGeom>
            <a:solidFill>
              <a:srgbClr val="EF476F"/>
            </a:solidFill>
            <a:ln>
              <a:noFill/>
            </a:ln>
          </p:spPr>
        </p:sp>
        <p:sp>
          <p:nvSpPr>
            <p:cNvPr id="18" name="TextBox 18"/>
            <p:cNvSpPr txBox="1"/>
            <p:nvPr/>
          </p:nvSpPr>
          <p:spPr>
            <a:xfrm>
              <a:off x="7128510" y="3870960"/>
              <a:ext cx="122892" cy="243840"/>
            </a:xfrm>
            <a:prstGeom prst="rect">
              <a:avLst/>
            </a:prstGeom>
            <a:noFill/>
            <a:ln>
              <a:noFill/>
            </a:ln>
          </p:spPr>
          <p:txBody>
            <a:bodyPr wrap="none" lIns="0" tIns="0" rIns="0" bIns="0" anchor="t" anchorCtr="0">
              <a:spAutoFit/>
            </a:bodyPr>
            <a:lstStyle/>
            <a:p>
              <a:pPr algn="l"/>
              <a:r>
                <a:rPr lang="zh-CN" sz="1200" b="1" dirty="0">
                  <a:solidFill>
                    <a:srgbClr val="F5FBFF"/>
                  </a:solidFill>
                  <a:latin typeface="Consolas"/>
                  <a:ea typeface="Microsoft YaHei"/>
                  <a:cs typeface="Consolas"/>
                </a:rPr>
                <a:t>V</a:t>
              </a:r>
            </a:p>
          </p:txBody>
        </p:sp>
        <p:sp>
          <p:nvSpPr>
            <p:cNvPr id="19" name="TextBox 19"/>
            <p:cNvSpPr txBox="1"/>
            <p:nvPr/>
          </p:nvSpPr>
          <p:spPr>
            <a:xfrm>
              <a:off x="5223510" y="3870960"/>
              <a:ext cx="122892" cy="243840"/>
            </a:xfrm>
            <a:prstGeom prst="rect">
              <a:avLst/>
            </a:prstGeom>
            <a:noFill/>
            <a:ln>
              <a:noFill/>
            </a:ln>
          </p:spPr>
          <p:txBody>
            <a:bodyPr wrap="none" lIns="0" tIns="0" rIns="0" bIns="0" anchor="t" anchorCtr="0">
              <a:spAutoFit/>
            </a:bodyPr>
            <a:lstStyle/>
            <a:p>
              <a:pPr algn="l"/>
              <a:r>
                <a:rPr lang="zh-CN" sz="1200" b="1" dirty="0">
                  <a:solidFill>
                    <a:srgbClr val="FFD166"/>
                  </a:solidFill>
                  <a:latin typeface="Consolas"/>
                  <a:ea typeface="Microsoft YaHei"/>
                  <a:cs typeface="Consolas"/>
                </a:rPr>
                <a:t>F</a:t>
              </a:r>
            </a:p>
          </p:txBody>
        </p:sp>
        <p:sp>
          <p:nvSpPr>
            <p:cNvPr id="20" name="TextBox 20"/>
            <p:cNvSpPr txBox="1"/>
            <p:nvPr/>
          </p:nvSpPr>
          <p:spPr>
            <a:xfrm>
              <a:off x="3318510" y="3870960"/>
              <a:ext cx="122892" cy="243840"/>
            </a:xfrm>
            <a:prstGeom prst="rect">
              <a:avLst/>
            </a:prstGeom>
            <a:noFill/>
            <a:ln>
              <a:noFill/>
            </a:ln>
          </p:spPr>
          <p:txBody>
            <a:bodyPr wrap="none" lIns="0" tIns="0" rIns="0" bIns="0" anchor="t" anchorCtr="0">
              <a:spAutoFit/>
            </a:bodyPr>
            <a:lstStyle/>
            <a:p>
              <a:pPr algn="l"/>
              <a:r>
                <a:rPr lang="zh-CN" sz="1200" b="1" dirty="0">
                  <a:solidFill>
                    <a:srgbClr val="EF476F"/>
                  </a:solidFill>
                  <a:latin typeface="Consolas"/>
                  <a:ea typeface="Microsoft YaHei"/>
                  <a:cs typeface="Consolas"/>
                </a:rPr>
                <a:t>C</a:t>
              </a:r>
            </a:p>
          </p:txBody>
        </p:sp>
        <p:sp>
          <p:nvSpPr>
            <p:cNvPr id="21" name="Line 21"/>
            <p:cNvSpPr/>
            <p:nvPr/>
          </p:nvSpPr>
          <p:spPr>
            <a:xfrm>
              <a:off x="5334000" y="4305300"/>
              <a:ext cx="1905000" cy="1"/>
            </a:xfrm>
            <a:prstGeom prst="line">
              <a:avLst/>
            </a:prstGeom>
            <a:noFill/>
            <a:ln w="19050">
              <a:solidFill>
                <a:srgbClr val="FFD166"/>
              </a:solidFill>
              <a:tailEnd type="triangle" w="lg" len="lg"/>
            </a:ln>
          </p:spPr>
        </p:sp>
        <p:sp>
          <p:nvSpPr>
            <p:cNvPr id="22" name="Line 22"/>
            <p:cNvSpPr/>
            <p:nvPr/>
          </p:nvSpPr>
          <p:spPr>
            <a:xfrm flipH="1">
              <a:off x="5334000" y="4305300"/>
              <a:ext cx="1905000" cy="1"/>
            </a:xfrm>
            <a:prstGeom prst="line">
              <a:avLst/>
            </a:prstGeom>
            <a:noFill/>
            <a:ln w="19050">
              <a:solidFill>
                <a:srgbClr val="FFD166"/>
              </a:solidFill>
              <a:tailEnd type="triangle" w="lg" len="lg"/>
            </a:ln>
          </p:spPr>
        </p:sp>
        <p:sp>
          <p:nvSpPr>
            <p:cNvPr id="23" name="TextBox 23"/>
            <p:cNvSpPr txBox="1"/>
            <p:nvPr/>
          </p:nvSpPr>
          <p:spPr>
            <a:xfrm>
              <a:off x="5928360" y="4461510"/>
              <a:ext cx="118491" cy="243840"/>
            </a:xfrm>
            <a:prstGeom prst="rect">
              <a:avLst/>
            </a:prstGeom>
            <a:noFill/>
            <a:ln>
              <a:noFill/>
            </a:ln>
          </p:spPr>
          <p:txBody>
            <a:bodyPr wrap="none" lIns="0" tIns="0" rIns="0" bIns="0" anchor="t" anchorCtr="0">
              <a:spAutoFit/>
            </a:bodyPr>
            <a:lstStyle/>
            <a:p>
              <a:pPr algn="l"/>
              <a:r>
                <a:rPr lang="zh-CN" sz="1200" dirty="0">
                  <a:solidFill>
                    <a:srgbClr val="FFD166"/>
                  </a:solidFill>
                  <a:latin typeface="Consolas"/>
                  <a:ea typeface="Microsoft YaHei"/>
                  <a:cs typeface="Consolas"/>
                </a:rPr>
                <a:t>f</a:t>
              </a:r>
            </a:p>
          </p:txBody>
        </p:sp>
        <p:sp>
          <p:nvSpPr>
            <p:cNvPr id="24" name="Line 24"/>
            <p:cNvSpPr/>
            <p:nvPr/>
          </p:nvSpPr>
          <p:spPr>
            <a:xfrm>
              <a:off x="3429000" y="4953000"/>
              <a:ext cx="3810000" cy="1"/>
            </a:xfrm>
            <a:prstGeom prst="line">
              <a:avLst/>
            </a:prstGeom>
            <a:noFill/>
            <a:ln w="19050">
              <a:solidFill>
                <a:srgbClr val="A9D6E5"/>
              </a:solidFill>
              <a:tailEnd type="triangle" w="lg" len="lg"/>
            </a:ln>
          </p:spPr>
        </p:sp>
        <p:sp>
          <p:nvSpPr>
            <p:cNvPr id="25" name="Line 25"/>
            <p:cNvSpPr/>
            <p:nvPr/>
          </p:nvSpPr>
          <p:spPr>
            <a:xfrm flipH="1">
              <a:off x="3429000" y="4953000"/>
              <a:ext cx="3810000" cy="1"/>
            </a:xfrm>
            <a:prstGeom prst="line">
              <a:avLst/>
            </a:prstGeom>
            <a:noFill/>
            <a:ln w="19050">
              <a:solidFill>
                <a:srgbClr val="A9D6E5"/>
              </a:solidFill>
              <a:tailEnd type="triangle" w="lg" len="lg"/>
            </a:ln>
          </p:spPr>
        </p:sp>
        <p:sp>
          <p:nvSpPr>
            <p:cNvPr id="26" name="TextBox 26"/>
            <p:cNvSpPr txBox="1"/>
            <p:nvPr/>
          </p:nvSpPr>
          <p:spPr>
            <a:xfrm>
              <a:off x="5109210" y="5109210"/>
              <a:ext cx="206502" cy="243840"/>
            </a:xfrm>
            <a:prstGeom prst="rect">
              <a:avLst/>
            </a:prstGeom>
            <a:noFill/>
            <a:ln>
              <a:noFill/>
            </a:ln>
          </p:spPr>
          <p:txBody>
            <a:bodyPr wrap="none" lIns="0" tIns="0" rIns="0" bIns="0" anchor="t" anchorCtr="0">
              <a:spAutoFit/>
            </a:bodyPr>
            <a:lstStyle/>
            <a:p>
              <a:pPr algn="l"/>
              <a:r>
                <a:rPr lang="zh-CN" sz="1200" dirty="0">
                  <a:solidFill>
                    <a:srgbClr val="A9D6E5"/>
                  </a:solidFill>
                  <a:latin typeface="Consolas"/>
                  <a:ea typeface="Microsoft YaHei"/>
                  <a:cs typeface="Consolas"/>
                </a:rPr>
                <a:t>2f</a:t>
              </a:r>
            </a:p>
          </p:txBody>
        </p:sp>
        <p:sp>
          <p:nvSpPr>
            <p:cNvPr id="27" name="TextBox 27"/>
            <p:cNvSpPr txBox="1"/>
            <p:nvPr/>
          </p:nvSpPr>
          <p:spPr>
            <a:xfrm>
              <a:off x="6825615" y="1582102"/>
              <a:ext cx="1062800" cy="213360"/>
            </a:xfrm>
            <a:prstGeom prst="rect">
              <a:avLst/>
            </a:prstGeom>
            <a:noFill/>
            <a:ln>
              <a:noFill/>
            </a:ln>
          </p:spPr>
          <p:txBody>
            <a:bodyPr wrap="none" lIns="0" tIns="0" rIns="0" bIns="0" anchor="t" anchorCtr="0">
              <a:spAutoFit/>
            </a:bodyPr>
            <a:lstStyle/>
            <a:p>
              <a:pPr algn="l"/>
              <a:r>
                <a:rPr lang="zh-CN" sz="1050" dirty="0">
                  <a:solidFill>
                    <a:srgbClr val="92A9B8"/>
                  </a:solidFill>
                  <a:latin typeface="Arial"/>
                  <a:ea typeface="Microsoft YaHei"/>
                  <a:cs typeface="Arial"/>
                </a:rPr>
                <a:t>concave mirror</a:t>
              </a:r>
            </a:p>
          </p:txBody>
        </p:sp>
      </p:grpSp>
      <p:grpSp>
        <p:nvGrpSpPr>
          <p:cNvPr id="36" name="Group 36"/>
          <p:cNvGrpSpPr/>
          <p:nvPr/>
        </p:nvGrpSpPr>
        <p:grpSpPr>
          <a:xfrm>
            <a:off x="8705850" y="1485900"/>
            <a:ext cx="3306604" cy="4457700"/>
            <a:chOff x="8705850" y="1485900"/>
            <a:chExt cx="3306604" cy="4457700"/>
          </a:xfrm>
        </p:grpSpPr>
        <p:sp>
          <p:nvSpPr>
            <p:cNvPr id="29" name="Rectangle 29"/>
            <p:cNvSpPr/>
            <p:nvPr/>
          </p:nvSpPr>
          <p:spPr>
            <a:xfrm>
              <a:off x="8705850" y="1485900"/>
              <a:ext cx="2952750" cy="4457700"/>
            </a:xfrm>
            <a:prstGeom prst="roundRect">
              <a:avLst>
                <a:gd name="adj" fmla="val 2581"/>
              </a:avLst>
            </a:prstGeom>
            <a:solidFill>
              <a:srgbClr val="152940"/>
            </a:solidFill>
            <a:ln w="14288">
              <a:solidFill>
                <a:srgbClr val="31506E"/>
              </a:solidFill>
            </a:ln>
          </p:spPr>
        </p:sp>
        <p:sp>
          <p:nvSpPr>
            <p:cNvPr id="30" name="TextBox 30"/>
            <p:cNvSpPr txBox="1"/>
            <p:nvPr/>
          </p:nvSpPr>
          <p:spPr>
            <a:xfrm>
              <a:off x="8928735" y="1751648"/>
              <a:ext cx="2069983" cy="396240"/>
            </a:xfrm>
            <a:prstGeom prst="rect">
              <a:avLst/>
            </a:prstGeom>
            <a:noFill/>
            <a:ln>
              <a:noFill/>
            </a:ln>
          </p:spPr>
          <p:txBody>
            <a:bodyPr wrap="none" lIns="0" tIns="0" rIns="0" bIns="0" anchor="t" anchorCtr="0">
              <a:spAutoFit/>
            </a:bodyPr>
            <a:lstStyle/>
            <a:p>
              <a:pPr algn="l"/>
              <a:r>
                <a:rPr lang="zh-CN" sz="1950" b="1" dirty="0">
                  <a:solidFill>
                    <a:srgbClr val="F5FBFF"/>
                  </a:solidFill>
                  <a:latin typeface="Arial"/>
                  <a:ea typeface="Microsoft YaHei"/>
                  <a:cs typeface="Arial"/>
                </a:rPr>
                <a:t>Coordinate map</a:t>
              </a:r>
            </a:p>
          </p:txBody>
        </p:sp>
        <p:sp>
          <p:nvSpPr>
            <p:cNvPr id="31" name="TextBox 31"/>
            <p:cNvSpPr txBox="1"/>
            <p:nvPr/>
          </p:nvSpPr>
          <p:spPr>
            <a:xfrm>
              <a:off x="8934450" y="2295525"/>
              <a:ext cx="2552700" cy="590550"/>
            </a:xfrm>
            <a:prstGeom prst="rect">
              <a:avLst/>
            </a:prstGeom>
            <a:noFill/>
            <a:ln>
              <a:noFill/>
            </a:ln>
          </p:spPr>
          <p:txBody>
            <a:bodyPr wrap="square" lIns="0" tIns="0" rIns="0" bIns="0" anchor="t" anchorCtr="0"/>
            <a:lstStyle/>
            <a:p>
              <a:pPr algn="l">
                <a:lnSpc>
                  <a:spcPts val="2250"/>
                </a:lnSpc>
              </a:pPr>
              <a:r>
                <a:rPr lang="zh-CN" sz="1500" dirty="0">
                  <a:solidFill>
                    <a:srgbClr val="F5FBFF"/>
                  </a:solidFill>
                  <a:latin typeface="Arial"/>
                  <a:ea typeface="Microsoft YaHei"/>
                  <a:cs typeface="Arial"/>
                </a:rPr>
                <a:t xml:space="preserve">V is the vertex, where </a:t>
              </a:r>
              <a:r>
                <a:rPr lang="zh-CN" sz="1500" dirty="0">
                  <a:solidFill>
                    <a:srgbClr val="F5FBFF"/>
                  </a:solidFill>
                  <a:latin typeface="Arial"/>
                  <a:ea typeface="Microsoft YaHei"/>
                  <a:cs typeface="Arial"/>
                </a:rPr>
                <a:t>the axis meets the mirror.</a:t>
              </a:r>
            </a:p>
          </p:txBody>
        </p:sp>
        <p:sp>
          <p:nvSpPr>
            <p:cNvPr id="32" name="TextBox 32"/>
            <p:cNvSpPr txBox="1"/>
            <p:nvPr/>
          </p:nvSpPr>
          <p:spPr>
            <a:xfrm>
              <a:off x="8934450" y="3076575"/>
              <a:ext cx="1971675" cy="590550"/>
            </a:xfrm>
            <a:prstGeom prst="rect">
              <a:avLst/>
            </a:prstGeom>
            <a:noFill/>
            <a:ln>
              <a:noFill/>
            </a:ln>
          </p:spPr>
          <p:txBody>
            <a:bodyPr wrap="square" lIns="0" tIns="0" rIns="0" bIns="0" anchor="t" anchorCtr="0"/>
            <a:lstStyle/>
            <a:p>
              <a:pPr algn="l">
                <a:lnSpc>
                  <a:spcPts val="2250"/>
                </a:lnSpc>
              </a:pPr>
              <a:r>
                <a:rPr lang="zh-CN" sz="1500" dirty="0">
                  <a:solidFill>
                    <a:srgbClr val="F5FBFF"/>
                  </a:solidFill>
                  <a:latin typeface="Arial"/>
                  <a:ea typeface="Microsoft YaHei"/>
                  <a:cs typeface="Arial"/>
                </a:rPr>
                <a:t xml:space="preserve">F is halfway between </a:t>
              </a:r>
              <a:r>
                <a:rPr lang="zh-CN" sz="1500" dirty="0">
                  <a:solidFill>
                    <a:srgbClr val="F5FBFF"/>
                  </a:solidFill>
                  <a:latin typeface="Arial"/>
                  <a:ea typeface="Microsoft YaHei"/>
                  <a:cs typeface="Arial"/>
                </a:rPr>
                <a:t>V and C.</a:t>
              </a:r>
            </a:p>
          </p:txBody>
        </p:sp>
        <p:sp>
          <p:nvSpPr>
            <p:cNvPr id="33" name="TextBox 33"/>
            <p:cNvSpPr txBox="1"/>
            <p:nvPr/>
          </p:nvSpPr>
          <p:spPr>
            <a:xfrm>
              <a:off x="8934450" y="3857625"/>
              <a:ext cx="2057400" cy="590550"/>
            </a:xfrm>
            <a:prstGeom prst="rect">
              <a:avLst/>
            </a:prstGeom>
            <a:noFill/>
            <a:ln>
              <a:noFill/>
            </a:ln>
          </p:spPr>
          <p:txBody>
            <a:bodyPr wrap="square" lIns="0" tIns="0" rIns="0" bIns="0" anchor="t" anchorCtr="0"/>
            <a:lstStyle/>
            <a:p>
              <a:pPr algn="l">
                <a:lnSpc>
                  <a:spcPts val="2250"/>
                </a:lnSpc>
              </a:pPr>
              <a:r>
                <a:rPr lang="zh-CN" sz="1500" dirty="0">
                  <a:solidFill>
                    <a:srgbClr val="F5FBFF"/>
                  </a:solidFill>
                  <a:latin typeface="Arial"/>
                  <a:ea typeface="Microsoft YaHei"/>
                  <a:cs typeface="Arial"/>
                </a:rPr>
                <a:t xml:space="preserve">C is the center of the </a:t>
              </a:r>
              <a:r>
                <a:rPr lang="zh-CN" sz="1500" dirty="0">
                  <a:solidFill>
                    <a:srgbClr val="F5FBFF"/>
                  </a:solidFill>
                  <a:latin typeface="Arial"/>
                  <a:ea typeface="Microsoft YaHei"/>
                  <a:cs typeface="Arial"/>
                </a:rPr>
                <a:t>mirror's curvature.</a:t>
              </a:r>
            </a:p>
          </p:txBody>
        </p:sp>
        <p:sp>
          <p:nvSpPr>
            <p:cNvPr id="34" name="Rectangle 34"/>
            <p:cNvSpPr/>
            <p:nvPr/>
          </p:nvSpPr>
          <p:spPr>
            <a:xfrm>
              <a:off x="8953500" y="4838700"/>
              <a:ext cx="2343150" cy="590550"/>
            </a:xfrm>
            <a:prstGeom prst="roundRect">
              <a:avLst>
                <a:gd name="adj" fmla="val 9677"/>
              </a:avLst>
            </a:prstGeom>
            <a:solidFill>
              <a:srgbClr val="102036"/>
            </a:solidFill>
            <a:ln w="14288">
              <a:solidFill>
                <a:srgbClr val="FFD166"/>
              </a:solidFill>
            </a:ln>
          </p:spPr>
        </p:sp>
        <p:sp>
          <p:nvSpPr>
            <p:cNvPr id="35" name="TextBox 35"/>
            <p:cNvSpPr txBox="1"/>
            <p:nvPr/>
          </p:nvSpPr>
          <p:spPr>
            <a:xfrm>
              <a:off x="9144000" y="5038725"/>
              <a:ext cx="2868454" cy="304800"/>
            </a:xfrm>
            <a:prstGeom prst="rect">
              <a:avLst/>
            </a:prstGeom>
            <a:noFill/>
            <a:ln>
              <a:noFill/>
            </a:ln>
          </p:spPr>
          <p:txBody>
            <a:bodyPr wrap="none" lIns="0" tIns="0" rIns="0" bIns="0" anchor="t" anchorCtr="0">
              <a:spAutoFit/>
            </a:bodyPr>
            <a:lstStyle/>
            <a:p>
              <a:pPr algn="l"/>
              <a:r>
                <a:rPr lang="zh-CN" sz="1500" dirty="0">
                  <a:solidFill>
                    <a:srgbClr val="FFD166"/>
                  </a:solidFill>
                  <a:latin typeface="Arial"/>
                  <a:ea typeface="Microsoft YaHei"/>
                  <a:cs typeface="Arial"/>
                </a:rPr>
                <a:t>Concave mirror: f is positive</a:t>
              </a:r>
            </a:p>
          </p:txBody>
        </p:sp>
      </p:grpSp>
      <p:grpSp>
        <p:nvGrpSpPr>
          <p:cNvPr id="39" name="Group 39"/>
          <p:cNvGrpSpPr/>
          <p:nvPr/>
        </p:nvGrpSpPr>
        <p:grpSpPr>
          <a:xfrm>
            <a:off x="521970" y="6284595"/>
            <a:ext cx="11111960" cy="182880"/>
            <a:chOff x="521970" y="6284595"/>
            <a:chExt cx="11111960" cy="182880"/>
          </a:xfrm>
        </p:grpSpPr>
        <p:sp>
          <p:nvSpPr>
            <p:cNvPr id="37" name="TextBox 37"/>
            <p:cNvSpPr txBox="1"/>
            <p:nvPr/>
          </p:nvSpPr>
          <p:spPr>
            <a:xfrm>
              <a:off x="521970" y="6284595"/>
              <a:ext cx="4073366" cy="182880"/>
            </a:xfrm>
            <a:prstGeom prst="rect">
              <a:avLst/>
            </a:prstGeom>
            <a:noFill/>
            <a:ln>
              <a:noFill/>
            </a:ln>
          </p:spPr>
          <p:txBody>
            <a:bodyPr wrap="none" lIns="0" tIns="0" rIns="0" bIns="0" anchor="t" anchorCtr="0">
              <a:spAutoFit/>
            </a:bodyPr>
            <a:lstStyle/>
            <a:p>
              <a:pPr algn="l"/>
              <a:r>
                <a:rPr lang="zh-CN" sz="900" dirty="0">
                  <a:solidFill>
                    <a:srgbClr val="92A9B8"/>
                  </a:solidFill>
                  <a:latin typeface="Arial"/>
                  <a:ea typeface="Microsoft YaHei"/>
                  <a:cs typeface="Arial"/>
                </a:rPr>
                <a:t>Source-grounded labels: principal axis, V, F, C, positive focal length</a:t>
              </a:r>
            </a:p>
          </p:txBody>
        </p:sp>
        <p:sp>
          <p:nvSpPr>
            <p:cNvPr id="38" name="TextBox 38"/>
            <p:cNvSpPr txBox="1"/>
            <p:nvPr/>
          </p:nvSpPr>
          <p:spPr>
            <a:xfrm>
              <a:off x="11209020" y="6284595"/>
              <a:ext cx="424910" cy="182880"/>
            </a:xfrm>
            <a:prstGeom prst="rect">
              <a:avLst/>
            </a:prstGeom>
            <a:noFill/>
            <a:ln>
              <a:noFill/>
            </a:ln>
          </p:spPr>
          <p:txBody>
            <a:bodyPr wrap="none" lIns="0" tIns="0" rIns="0" bIns="0" anchor="t" anchorCtr="0">
              <a:spAutoFit/>
            </a:bodyPr>
            <a:lstStyle/>
            <a:p>
              <a:pPr algn="l"/>
              <a:r>
                <a:rPr lang="zh-CN" sz="900" dirty="0">
                  <a:solidFill>
                    <a:srgbClr val="92A9B8"/>
                  </a:solidFill>
                  <a:latin typeface="Consolas"/>
                  <a:ea typeface="Microsoft YaHei"/>
                  <a:cs typeface="Consolas"/>
                </a:rPr>
                <a:t>02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slide(fromBottom)">
                                      <p:cBhvr>
                                        <p:cTn id="7" dur="400"/>
                                        <p:tgtEl>
                                          <p:spTgt spid="28"/>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image">
                                      <p:cBhvr>
                                        <p:cTn id="11"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220"/>
            </a:solidFill>
            <a:ln>
              <a:noFill/>
            </a:ln>
          </p:spPr>
        </p:sp>
        <p:sp>
          <p:nvSpPr>
            <p:cNvPr id="3" name="Freeform 3"/>
            <p:cNvSpPr/>
            <p:nvPr/>
          </p:nvSpPr>
          <p:spPr>
            <a:xfrm>
              <a:off x="0" y="0"/>
              <a:ext cx="12192000" cy="6858000"/>
            </a:xfrm>
            <a:custGeom>
              <a:avLst/>
              <a:gdLst/>
              <a:ahLst/>
              <a:cxnLst/>
              <a:rect l="l" t="t" r="r" b="b"/>
              <a:pathLst>
                <a:path w="12192000" h="6858000">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moveTo>
                    <a:pt x="11430000" y="0"/>
                  </a:moveTo>
                  <a:lnTo>
                    <a:pt x="11430000" y="685800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path>
              </a:pathLst>
            </a:custGeom>
            <a:noFill/>
            <a:ln w="9525">
              <a:solidFill>
                <a:srgbClr val="1B2E4A"/>
              </a:solidFill>
            </a:ln>
          </p:spPr>
        </p:sp>
      </p:grpSp>
      <p:grpSp>
        <p:nvGrpSpPr>
          <p:cNvPr id="8" name="Group 8"/>
          <p:cNvGrpSpPr/>
          <p:nvPr/>
        </p:nvGrpSpPr>
        <p:grpSpPr>
          <a:xfrm>
            <a:off x="499110" y="394335"/>
            <a:ext cx="11159490" cy="796290"/>
            <a:chOff x="499110" y="394335"/>
            <a:chExt cx="11159490" cy="796290"/>
          </a:xfrm>
        </p:grpSpPr>
        <p:sp>
          <p:nvSpPr>
            <p:cNvPr id="5" name="TextBox 5"/>
            <p:cNvSpPr txBox="1"/>
            <p:nvPr/>
          </p:nvSpPr>
          <p:spPr>
            <a:xfrm>
              <a:off x="499110" y="394335"/>
              <a:ext cx="5852703" cy="548640"/>
            </a:xfrm>
            <a:prstGeom prst="rect">
              <a:avLst/>
            </a:prstGeom>
            <a:noFill/>
            <a:ln>
              <a:noFill/>
            </a:ln>
          </p:spPr>
          <p:txBody>
            <a:bodyPr wrap="none" lIns="0" tIns="0" rIns="0" bIns="0" anchor="t" anchorCtr="0">
              <a:spAutoFit/>
            </a:bodyPr>
            <a:lstStyle/>
            <a:p>
              <a:pPr algn="l"/>
              <a:r>
                <a:rPr lang="zh-CN" sz="2700" b="1" dirty="0">
                  <a:solidFill>
                    <a:srgbClr val="F5FBFF"/>
                  </a:solidFill>
                  <a:latin typeface="Arial"/>
                  <a:ea typeface="Microsoft YaHei"/>
                  <a:cs typeface="Arial"/>
                </a:rPr>
                <a:t>Three principal rays are enough</a:t>
              </a:r>
            </a:p>
          </p:txBody>
        </p:sp>
        <p:sp>
          <p:nvSpPr>
            <p:cNvPr id="6" name="TextBox 6"/>
            <p:cNvSpPr txBox="1"/>
            <p:nvPr/>
          </p:nvSpPr>
          <p:spPr>
            <a:xfrm>
              <a:off x="537210" y="899160"/>
              <a:ext cx="4951095" cy="243840"/>
            </a:xfrm>
            <a:prstGeom prst="rect">
              <a:avLst/>
            </a:prstGeom>
            <a:noFill/>
            <a:ln>
              <a:noFill/>
            </a:ln>
          </p:spPr>
          <p:txBody>
            <a:bodyPr wrap="none" lIns="0" tIns="0" rIns="0" bIns="0" anchor="t" anchorCtr="0">
              <a:spAutoFit/>
            </a:bodyPr>
            <a:lstStyle/>
            <a:p>
              <a:pPr algn="l"/>
              <a:r>
                <a:rPr lang="zh-CN" sz="1200" dirty="0">
                  <a:solidFill>
                    <a:srgbClr val="92A9B8"/>
                  </a:solidFill>
                  <a:latin typeface="Arial"/>
                  <a:ea typeface="Microsoft YaHei"/>
                  <a:cs typeface="Arial"/>
                </a:rPr>
                <a:t>Each rule fixes one reflected path; two rays locate the image.</a:t>
              </a:r>
            </a:p>
          </p:txBody>
        </p:sp>
        <p:sp>
          <p:nvSpPr>
            <p:cNvPr id="7" name="Line 7"/>
            <p:cNvSpPr/>
            <p:nvPr/>
          </p:nvSpPr>
          <p:spPr>
            <a:xfrm>
              <a:off x="533400" y="1181100"/>
              <a:ext cx="11125200" cy="9525"/>
            </a:xfrm>
            <a:custGeom>
              <a:avLst/>
              <a:gdLst/>
              <a:ahLst/>
              <a:cxnLst/>
              <a:rect l="l" t="t" r="r" b="b"/>
              <a:pathLst>
                <a:path w="11125200" h="9525">
                  <a:moveTo>
                    <a:pt x="0" y="0"/>
                  </a:moveTo>
                  <a:lnTo>
                    <a:pt x="11125200" y="0"/>
                  </a:lnTo>
                </a:path>
              </a:pathLst>
            </a:custGeom>
            <a:noFill/>
            <a:ln w="14288">
              <a:solidFill>
                <a:srgbClr val="31506E"/>
              </a:solidFill>
            </a:ln>
          </p:spPr>
        </p:sp>
      </p:grpSp>
      <p:grpSp>
        <p:nvGrpSpPr>
          <p:cNvPr id="20" name="Group 20"/>
          <p:cNvGrpSpPr/>
          <p:nvPr/>
        </p:nvGrpSpPr>
        <p:grpSpPr>
          <a:xfrm>
            <a:off x="533400" y="1466850"/>
            <a:ext cx="11125200" cy="1352550"/>
            <a:chOff x="533400" y="1466850"/>
            <a:chExt cx="11125200" cy="1352550"/>
          </a:xfrm>
        </p:grpSpPr>
        <p:sp>
          <p:nvSpPr>
            <p:cNvPr id="9" name="Rectangle 9"/>
            <p:cNvSpPr/>
            <p:nvPr/>
          </p:nvSpPr>
          <p:spPr>
            <a:xfrm>
              <a:off x="533400" y="1466850"/>
              <a:ext cx="11125200" cy="1352550"/>
            </a:xfrm>
            <a:prstGeom prst="roundRect">
              <a:avLst>
                <a:gd name="adj" fmla="val 5634"/>
              </a:avLst>
            </a:prstGeom>
            <a:solidFill>
              <a:srgbClr val="102036"/>
            </a:solidFill>
            <a:ln w="14288">
              <a:solidFill>
                <a:srgbClr val="31506E"/>
              </a:solidFill>
            </a:ln>
          </p:spPr>
        </p:sp>
        <p:sp>
          <p:nvSpPr>
            <p:cNvPr id="10" name="TextBox 10"/>
            <p:cNvSpPr txBox="1"/>
            <p:nvPr/>
          </p:nvSpPr>
          <p:spPr>
            <a:xfrm>
              <a:off x="775335" y="1713548"/>
              <a:ext cx="2424927" cy="396240"/>
            </a:xfrm>
            <a:prstGeom prst="rect">
              <a:avLst/>
            </a:prstGeom>
            <a:noFill/>
            <a:ln>
              <a:noFill/>
            </a:ln>
          </p:spPr>
          <p:txBody>
            <a:bodyPr wrap="none" lIns="0" tIns="0" rIns="0" bIns="0" anchor="t" anchorCtr="0">
              <a:spAutoFit/>
            </a:bodyPr>
            <a:lstStyle/>
            <a:p>
              <a:pPr algn="l"/>
              <a:r>
                <a:rPr lang="zh-CN" sz="1950" b="1" dirty="0">
                  <a:solidFill>
                    <a:srgbClr val="F5FBFF"/>
                  </a:solidFill>
                  <a:latin typeface="Arial"/>
                  <a:ea typeface="Microsoft YaHei"/>
                  <a:cs typeface="Arial"/>
                </a:rPr>
                <a:t>1. Parallel to axis</a:t>
              </a:r>
            </a:p>
          </p:txBody>
        </p:sp>
        <p:sp>
          <p:nvSpPr>
            <p:cNvPr id="11" name="TextBox 11"/>
            <p:cNvSpPr txBox="1"/>
            <p:nvPr/>
          </p:nvSpPr>
          <p:spPr>
            <a:xfrm>
              <a:off x="781050" y="2143125"/>
              <a:ext cx="1868329" cy="304800"/>
            </a:xfrm>
            <a:prstGeom prst="rect">
              <a:avLst/>
            </a:prstGeom>
            <a:noFill/>
            <a:ln>
              <a:noFill/>
            </a:ln>
          </p:spPr>
          <p:txBody>
            <a:bodyPr wrap="none" lIns="0" tIns="0" rIns="0" bIns="0" anchor="t" anchorCtr="0">
              <a:spAutoFit/>
            </a:bodyPr>
            <a:lstStyle/>
            <a:p>
              <a:pPr algn="l"/>
              <a:r>
                <a:rPr lang="zh-CN" sz="1500" dirty="0">
                  <a:solidFill>
                    <a:srgbClr val="A9D6E5"/>
                  </a:solidFill>
                  <a:latin typeface="Arial"/>
                  <a:ea typeface="Microsoft YaHei"/>
                  <a:cs typeface="Arial"/>
                </a:rPr>
                <a:t>Reflects through F</a:t>
              </a:r>
            </a:p>
          </p:txBody>
        </p:sp>
        <p:sp>
          <p:nvSpPr>
            <p:cNvPr id="12" name="Line 12"/>
            <p:cNvSpPr/>
            <p:nvPr/>
          </p:nvSpPr>
          <p:spPr>
            <a:xfrm>
              <a:off x="4095750" y="2152650"/>
              <a:ext cx="6000750" cy="9525"/>
            </a:xfrm>
            <a:custGeom>
              <a:avLst/>
              <a:gdLst/>
              <a:ahLst/>
              <a:cxnLst/>
              <a:rect l="l" t="t" r="r" b="b"/>
              <a:pathLst>
                <a:path w="6000750" h="9525">
                  <a:moveTo>
                    <a:pt x="0" y="0"/>
                  </a:moveTo>
                  <a:lnTo>
                    <a:pt x="6000750" y="0"/>
                  </a:lnTo>
                </a:path>
              </a:pathLst>
            </a:custGeom>
            <a:noFill/>
            <a:ln w="19050">
              <a:solidFill>
                <a:srgbClr val="A9D6E5"/>
              </a:solidFill>
              <a:prstDash val="lgDash"/>
            </a:ln>
          </p:spPr>
        </p:sp>
        <p:sp>
          <p:nvSpPr>
            <p:cNvPr id="13" name="Freeform 13"/>
            <p:cNvSpPr/>
            <p:nvPr/>
          </p:nvSpPr>
          <p:spPr>
            <a:xfrm>
              <a:off x="10382250" y="1619250"/>
              <a:ext cx="533400" cy="1066800"/>
            </a:xfrm>
            <a:custGeom>
              <a:avLst/>
              <a:gdLst/>
              <a:ahLst/>
              <a:cxnLst/>
              <a:rect l="l" t="t" r="r" b="b"/>
              <a:pathLst>
                <a:path w="533400" h="1066800">
                  <a:moveTo>
                    <a:pt x="0" y="0"/>
                  </a:moveTo>
                  <a:cubicBezTo>
                    <a:pt x="533400" y="266700"/>
                    <a:pt x="533400" y="800100"/>
                    <a:pt x="0" y="1066800"/>
                  </a:cubicBezTo>
                </a:path>
              </a:pathLst>
            </a:custGeom>
            <a:noFill/>
            <a:ln w="38100">
              <a:solidFill>
                <a:srgbClr val="F5FBFF"/>
              </a:solidFill>
            </a:ln>
          </p:spPr>
        </p:sp>
        <p:sp>
          <p:nvSpPr>
            <p:cNvPr id="14" name="Ellipse 14"/>
            <p:cNvSpPr/>
            <p:nvPr/>
          </p:nvSpPr>
          <p:spPr>
            <a:xfrm>
              <a:off x="8515350" y="2095500"/>
              <a:ext cx="114300" cy="114300"/>
            </a:xfrm>
            <a:prstGeom prst="ellipse">
              <a:avLst/>
            </a:prstGeom>
            <a:solidFill>
              <a:srgbClr val="FFD166"/>
            </a:solidFill>
            <a:ln>
              <a:noFill/>
            </a:ln>
          </p:spPr>
        </p:sp>
        <p:sp>
          <p:nvSpPr>
            <p:cNvPr id="15" name="Ellipse 15"/>
            <p:cNvSpPr/>
            <p:nvPr/>
          </p:nvSpPr>
          <p:spPr>
            <a:xfrm>
              <a:off x="6705600" y="2095500"/>
              <a:ext cx="114300" cy="114300"/>
            </a:xfrm>
            <a:prstGeom prst="ellipse">
              <a:avLst/>
            </a:prstGeom>
            <a:solidFill>
              <a:srgbClr val="EF476F"/>
            </a:solidFill>
            <a:ln>
              <a:noFill/>
            </a:ln>
          </p:spPr>
        </p:sp>
        <p:sp>
          <p:nvSpPr>
            <p:cNvPr id="16" name="TextBox 16"/>
            <p:cNvSpPr txBox="1"/>
            <p:nvPr/>
          </p:nvSpPr>
          <p:spPr>
            <a:xfrm>
              <a:off x="8482965" y="2296478"/>
              <a:ext cx="103680" cy="213360"/>
            </a:xfrm>
            <a:prstGeom prst="rect">
              <a:avLst/>
            </a:prstGeom>
            <a:noFill/>
            <a:ln>
              <a:noFill/>
            </a:ln>
          </p:spPr>
          <p:txBody>
            <a:bodyPr wrap="none" lIns="0" tIns="0" rIns="0" bIns="0" anchor="t" anchorCtr="0">
              <a:spAutoFit/>
            </a:bodyPr>
            <a:lstStyle/>
            <a:p>
              <a:pPr algn="l"/>
              <a:r>
                <a:rPr lang="zh-CN" sz="1050" dirty="0">
                  <a:solidFill>
                    <a:srgbClr val="FFD166"/>
                  </a:solidFill>
                  <a:latin typeface="Consolas"/>
                  <a:ea typeface="Microsoft YaHei"/>
                  <a:cs typeface="Consolas"/>
                </a:rPr>
                <a:t>F</a:t>
              </a:r>
            </a:p>
          </p:txBody>
        </p:sp>
        <p:sp>
          <p:nvSpPr>
            <p:cNvPr id="17" name="TextBox 17"/>
            <p:cNvSpPr txBox="1"/>
            <p:nvPr/>
          </p:nvSpPr>
          <p:spPr>
            <a:xfrm>
              <a:off x="6673215" y="2296478"/>
              <a:ext cx="103680" cy="213360"/>
            </a:xfrm>
            <a:prstGeom prst="rect">
              <a:avLst/>
            </a:prstGeom>
            <a:noFill/>
            <a:ln>
              <a:noFill/>
            </a:ln>
          </p:spPr>
          <p:txBody>
            <a:bodyPr wrap="none" lIns="0" tIns="0" rIns="0" bIns="0" anchor="t" anchorCtr="0">
              <a:spAutoFit/>
            </a:bodyPr>
            <a:lstStyle/>
            <a:p>
              <a:pPr algn="l"/>
              <a:r>
                <a:rPr lang="zh-CN" sz="1050" dirty="0">
                  <a:solidFill>
                    <a:srgbClr val="EF476F"/>
                  </a:solidFill>
                  <a:latin typeface="Consolas"/>
                  <a:ea typeface="Microsoft YaHei"/>
                  <a:cs typeface="Consolas"/>
                </a:rPr>
                <a:t>C</a:t>
              </a:r>
            </a:p>
          </p:txBody>
        </p:sp>
        <p:sp>
          <p:nvSpPr>
            <p:cNvPr id="18" name="Line 18"/>
            <p:cNvSpPr/>
            <p:nvPr/>
          </p:nvSpPr>
          <p:spPr>
            <a:xfrm>
              <a:off x="4095750" y="1752600"/>
              <a:ext cx="6267450" cy="1"/>
            </a:xfrm>
            <a:prstGeom prst="line">
              <a:avLst/>
            </a:prstGeom>
            <a:noFill/>
            <a:ln w="28575">
              <a:solidFill>
                <a:srgbClr val="FFD166"/>
              </a:solidFill>
              <a:tailEnd type="triangle" w="lg" len="lg"/>
            </a:ln>
          </p:spPr>
        </p:sp>
        <p:sp>
          <p:nvSpPr>
            <p:cNvPr id="19" name="Line 19"/>
            <p:cNvSpPr/>
            <p:nvPr/>
          </p:nvSpPr>
          <p:spPr>
            <a:xfrm flipH="1">
              <a:off x="8572500" y="1752600"/>
              <a:ext cx="1790700" cy="400050"/>
            </a:xfrm>
            <a:prstGeom prst="line">
              <a:avLst/>
            </a:prstGeom>
            <a:noFill/>
            <a:ln w="28575">
              <a:solidFill>
                <a:srgbClr val="FFD166"/>
              </a:solidFill>
              <a:tailEnd type="triangle" w="lg" len="lg"/>
            </a:ln>
          </p:spPr>
        </p:sp>
      </p:grpSp>
      <p:grpSp>
        <p:nvGrpSpPr>
          <p:cNvPr id="33" name="Group 33"/>
          <p:cNvGrpSpPr/>
          <p:nvPr/>
        </p:nvGrpSpPr>
        <p:grpSpPr>
          <a:xfrm>
            <a:off x="533400" y="3009900"/>
            <a:ext cx="11125200" cy="1352550"/>
            <a:chOff x="533400" y="3009900"/>
            <a:chExt cx="11125200" cy="1352550"/>
          </a:xfrm>
        </p:grpSpPr>
        <p:sp>
          <p:nvSpPr>
            <p:cNvPr id="21" name="Rectangle 21"/>
            <p:cNvSpPr/>
            <p:nvPr/>
          </p:nvSpPr>
          <p:spPr>
            <a:xfrm>
              <a:off x="533400" y="3009900"/>
              <a:ext cx="11125200" cy="1352550"/>
            </a:xfrm>
            <a:prstGeom prst="roundRect">
              <a:avLst>
                <a:gd name="adj" fmla="val 5634"/>
              </a:avLst>
            </a:prstGeom>
            <a:solidFill>
              <a:srgbClr val="102036"/>
            </a:solidFill>
            <a:ln w="14288">
              <a:solidFill>
                <a:srgbClr val="31506E"/>
              </a:solidFill>
            </a:ln>
          </p:spPr>
        </p:sp>
        <p:sp>
          <p:nvSpPr>
            <p:cNvPr id="22" name="TextBox 22"/>
            <p:cNvSpPr txBox="1"/>
            <p:nvPr/>
          </p:nvSpPr>
          <p:spPr>
            <a:xfrm>
              <a:off x="775335" y="3256598"/>
              <a:ext cx="1715038" cy="396240"/>
            </a:xfrm>
            <a:prstGeom prst="rect">
              <a:avLst/>
            </a:prstGeom>
            <a:noFill/>
            <a:ln>
              <a:noFill/>
            </a:ln>
          </p:spPr>
          <p:txBody>
            <a:bodyPr wrap="none" lIns="0" tIns="0" rIns="0" bIns="0" anchor="t" anchorCtr="0">
              <a:spAutoFit/>
            </a:bodyPr>
            <a:lstStyle/>
            <a:p>
              <a:pPr algn="l"/>
              <a:r>
                <a:rPr lang="zh-CN" sz="1950" b="1" dirty="0">
                  <a:solidFill>
                    <a:srgbClr val="F5FBFF"/>
                  </a:solidFill>
                  <a:latin typeface="Arial"/>
                  <a:ea typeface="Microsoft YaHei"/>
                  <a:cs typeface="Arial"/>
                </a:rPr>
                <a:t>2. Through F</a:t>
              </a:r>
            </a:p>
          </p:txBody>
        </p:sp>
        <p:sp>
          <p:nvSpPr>
            <p:cNvPr id="23" name="TextBox 23"/>
            <p:cNvSpPr txBox="1"/>
            <p:nvPr/>
          </p:nvSpPr>
          <p:spPr>
            <a:xfrm>
              <a:off x="781050" y="3686175"/>
              <a:ext cx="2778442" cy="304800"/>
            </a:xfrm>
            <a:prstGeom prst="rect">
              <a:avLst/>
            </a:prstGeom>
            <a:noFill/>
            <a:ln>
              <a:noFill/>
            </a:ln>
          </p:spPr>
          <p:txBody>
            <a:bodyPr wrap="none" lIns="0" tIns="0" rIns="0" bIns="0" anchor="t" anchorCtr="0">
              <a:spAutoFit/>
            </a:bodyPr>
            <a:lstStyle/>
            <a:p>
              <a:pPr algn="l"/>
              <a:r>
                <a:rPr lang="zh-CN" sz="1500" dirty="0">
                  <a:solidFill>
                    <a:srgbClr val="A9D6E5"/>
                  </a:solidFill>
                  <a:latin typeface="Arial"/>
                  <a:ea typeface="Microsoft YaHei"/>
                  <a:cs typeface="Arial"/>
                </a:rPr>
                <a:t>Reflects parallel to the axis</a:t>
              </a:r>
            </a:p>
          </p:txBody>
        </p:sp>
        <p:sp>
          <p:nvSpPr>
            <p:cNvPr id="24" name="Line 24"/>
            <p:cNvSpPr/>
            <p:nvPr/>
          </p:nvSpPr>
          <p:spPr>
            <a:xfrm>
              <a:off x="4095750" y="3695700"/>
              <a:ext cx="6000750" cy="9525"/>
            </a:xfrm>
            <a:custGeom>
              <a:avLst/>
              <a:gdLst/>
              <a:ahLst/>
              <a:cxnLst/>
              <a:rect l="l" t="t" r="r" b="b"/>
              <a:pathLst>
                <a:path w="6000750" h="9525">
                  <a:moveTo>
                    <a:pt x="0" y="0"/>
                  </a:moveTo>
                  <a:lnTo>
                    <a:pt x="6000750" y="0"/>
                  </a:lnTo>
                </a:path>
              </a:pathLst>
            </a:custGeom>
            <a:noFill/>
            <a:ln w="19050">
              <a:solidFill>
                <a:srgbClr val="A9D6E5"/>
              </a:solidFill>
              <a:prstDash val="lgDash"/>
            </a:ln>
          </p:spPr>
        </p:sp>
        <p:sp>
          <p:nvSpPr>
            <p:cNvPr id="25" name="Freeform 25"/>
            <p:cNvSpPr/>
            <p:nvPr/>
          </p:nvSpPr>
          <p:spPr>
            <a:xfrm>
              <a:off x="10382250" y="3162300"/>
              <a:ext cx="533400" cy="1066800"/>
            </a:xfrm>
            <a:custGeom>
              <a:avLst/>
              <a:gdLst/>
              <a:ahLst/>
              <a:cxnLst/>
              <a:rect l="l" t="t" r="r" b="b"/>
              <a:pathLst>
                <a:path w="533400" h="1066800">
                  <a:moveTo>
                    <a:pt x="0" y="0"/>
                  </a:moveTo>
                  <a:cubicBezTo>
                    <a:pt x="533400" y="266700"/>
                    <a:pt x="533400" y="800100"/>
                    <a:pt x="0" y="1066800"/>
                  </a:cubicBezTo>
                </a:path>
              </a:pathLst>
            </a:custGeom>
            <a:noFill/>
            <a:ln w="38100">
              <a:solidFill>
                <a:srgbClr val="F5FBFF"/>
              </a:solidFill>
            </a:ln>
          </p:spPr>
        </p:sp>
        <p:sp>
          <p:nvSpPr>
            <p:cNvPr id="26" name="Ellipse 26"/>
            <p:cNvSpPr/>
            <p:nvPr/>
          </p:nvSpPr>
          <p:spPr>
            <a:xfrm>
              <a:off x="8515350" y="3638550"/>
              <a:ext cx="114300" cy="114300"/>
            </a:xfrm>
            <a:prstGeom prst="ellipse">
              <a:avLst/>
            </a:prstGeom>
            <a:solidFill>
              <a:srgbClr val="FFD166"/>
            </a:solidFill>
            <a:ln>
              <a:noFill/>
            </a:ln>
          </p:spPr>
        </p:sp>
        <p:sp>
          <p:nvSpPr>
            <p:cNvPr id="27" name="Ellipse 27"/>
            <p:cNvSpPr/>
            <p:nvPr/>
          </p:nvSpPr>
          <p:spPr>
            <a:xfrm>
              <a:off x="6705600" y="3638550"/>
              <a:ext cx="114300" cy="114300"/>
            </a:xfrm>
            <a:prstGeom prst="ellipse">
              <a:avLst/>
            </a:prstGeom>
            <a:solidFill>
              <a:srgbClr val="EF476F"/>
            </a:solidFill>
            <a:ln>
              <a:noFill/>
            </a:ln>
          </p:spPr>
        </p:sp>
        <p:sp>
          <p:nvSpPr>
            <p:cNvPr id="28" name="TextBox 28"/>
            <p:cNvSpPr txBox="1"/>
            <p:nvPr/>
          </p:nvSpPr>
          <p:spPr>
            <a:xfrm>
              <a:off x="8482965" y="3839528"/>
              <a:ext cx="103680" cy="213360"/>
            </a:xfrm>
            <a:prstGeom prst="rect">
              <a:avLst/>
            </a:prstGeom>
            <a:noFill/>
            <a:ln>
              <a:noFill/>
            </a:ln>
          </p:spPr>
          <p:txBody>
            <a:bodyPr wrap="none" lIns="0" tIns="0" rIns="0" bIns="0" anchor="t" anchorCtr="0">
              <a:spAutoFit/>
            </a:bodyPr>
            <a:lstStyle/>
            <a:p>
              <a:pPr algn="l"/>
              <a:r>
                <a:rPr lang="zh-CN" sz="1050" dirty="0">
                  <a:solidFill>
                    <a:srgbClr val="FFD166"/>
                  </a:solidFill>
                  <a:latin typeface="Consolas"/>
                  <a:ea typeface="Microsoft YaHei"/>
                  <a:cs typeface="Consolas"/>
                </a:rPr>
                <a:t>F</a:t>
              </a:r>
            </a:p>
          </p:txBody>
        </p:sp>
        <p:sp>
          <p:nvSpPr>
            <p:cNvPr id="29" name="TextBox 29"/>
            <p:cNvSpPr txBox="1"/>
            <p:nvPr/>
          </p:nvSpPr>
          <p:spPr>
            <a:xfrm>
              <a:off x="6673215" y="3839528"/>
              <a:ext cx="103680" cy="213360"/>
            </a:xfrm>
            <a:prstGeom prst="rect">
              <a:avLst/>
            </a:prstGeom>
            <a:noFill/>
            <a:ln>
              <a:noFill/>
            </a:ln>
          </p:spPr>
          <p:txBody>
            <a:bodyPr wrap="none" lIns="0" tIns="0" rIns="0" bIns="0" anchor="t" anchorCtr="0">
              <a:spAutoFit/>
            </a:bodyPr>
            <a:lstStyle/>
            <a:p>
              <a:pPr algn="l"/>
              <a:r>
                <a:rPr lang="zh-CN" sz="1050" dirty="0">
                  <a:solidFill>
                    <a:srgbClr val="EF476F"/>
                  </a:solidFill>
                  <a:latin typeface="Consolas"/>
                  <a:ea typeface="Microsoft YaHei"/>
                  <a:cs typeface="Consolas"/>
                </a:rPr>
                <a:t>C</a:t>
              </a:r>
            </a:p>
          </p:txBody>
        </p:sp>
        <p:sp>
          <p:nvSpPr>
            <p:cNvPr id="30" name="Line 30"/>
            <p:cNvSpPr/>
            <p:nvPr/>
          </p:nvSpPr>
          <p:spPr>
            <a:xfrm flipV="1">
              <a:off x="4095750" y="3695700"/>
              <a:ext cx="4476750" cy="476250"/>
            </a:xfrm>
            <a:prstGeom prst="line">
              <a:avLst/>
            </a:prstGeom>
            <a:noFill/>
            <a:ln w="28575">
              <a:solidFill>
                <a:srgbClr val="A9D6E5"/>
              </a:solidFill>
              <a:tailEnd type="triangle" w="lg" len="lg"/>
            </a:ln>
          </p:spPr>
        </p:sp>
        <p:sp>
          <p:nvSpPr>
            <p:cNvPr id="31" name="Line 31"/>
            <p:cNvSpPr/>
            <p:nvPr/>
          </p:nvSpPr>
          <p:spPr>
            <a:xfrm flipV="1">
              <a:off x="8572500" y="3314700"/>
              <a:ext cx="1790700" cy="381000"/>
            </a:xfrm>
            <a:prstGeom prst="line">
              <a:avLst/>
            </a:prstGeom>
            <a:noFill/>
            <a:ln w="28575">
              <a:solidFill>
                <a:srgbClr val="A9D6E5"/>
              </a:solidFill>
              <a:tailEnd type="triangle" w="lg" len="lg"/>
            </a:ln>
          </p:spPr>
        </p:sp>
        <p:sp>
          <p:nvSpPr>
            <p:cNvPr id="32" name="Line 32"/>
            <p:cNvSpPr/>
            <p:nvPr/>
          </p:nvSpPr>
          <p:spPr>
            <a:xfrm flipH="1">
              <a:off x="4095750" y="3314700"/>
              <a:ext cx="6267450" cy="1"/>
            </a:xfrm>
            <a:prstGeom prst="line">
              <a:avLst/>
            </a:prstGeom>
            <a:noFill/>
            <a:ln w="28575">
              <a:solidFill>
                <a:srgbClr val="A9D6E5"/>
              </a:solidFill>
              <a:tailEnd type="triangle" w="lg" len="lg"/>
            </a:ln>
          </p:spPr>
        </p:sp>
      </p:grpSp>
      <p:grpSp>
        <p:nvGrpSpPr>
          <p:cNvPr id="46" name="Group 46"/>
          <p:cNvGrpSpPr/>
          <p:nvPr/>
        </p:nvGrpSpPr>
        <p:grpSpPr>
          <a:xfrm>
            <a:off x="533400" y="4552950"/>
            <a:ext cx="11125200" cy="1352550"/>
            <a:chOff x="533400" y="4552950"/>
            <a:chExt cx="11125200" cy="1352550"/>
          </a:xfrm>
        </p:grpSpPr>
        <p:sp>
          <p:nvSpPr>
            <p:cNvPr id="34" name="Rectangle 34"/>
            <p:cNvSpPr/>
            <p:nvPr/>
          </p:nvSpPr>
          <p:spPr>
            <a:xfrm>
              <a:off x="533400" y="4552950"/>
              <a:ext cx="11125200" cy="1352550"/>
            </a:xfrm>
            <a:prstGeom prst="roundRect">
              <a:avLst>
                <a:gd name="adj" fmla="val 5634"/>
              </a:avLst>
            </a:prstGeom>
            <a:solidFill>
              <a:srgbClr val="102036"/>
            </a:solidFill>
            <a:ln w="14288">
              <a:solidFill>
                <a:srgbClr val="31506E"/>
              </a:solidFill>
            </a:ln>
          </p:spPr>
        </p:sp>
        <p:sp>
          <p:nvSpPr>
            <p:cNvPr id="35" name="TextBox 35"/>
            <p:cNvSpPr txBox="1"/>
            <p:nvPr/>
          </p:nvSpPr>
          <p:spPr>
            <a:xfrm>
              <a:off x="775335" y="4799648"/>
              <a:ext cx="1715038" cy="396240"/>
            </a:xfrm>
            <a:prstGeom prst="rect">
              <a:avLst/>
            </a:prstGeom>
            <a:noFill/>
            <a:ln>
              <a:noFill/>
            </a:ln>
          </p:spPr>
          <p:txBody>
            <a:bodyPr wrap="none" lIns="0" tIns="0" rIns="0" bIns="0" anchor="t" anchorCtr="0">
              <a:spAutoFit/>
            </a:bodyPr>
            <a:lstStyle/>
            <a:p>
              <a:pPr algn="l"/>
              <a:r>
                <a:rPr lang="zh-CN" sz="1950" b="1" dirty="0">
                  <a:solidFill>
                    <a:srgbClr val="F5FBFF"/>
                  </a:solidFill>
                  <a:latin typeface="Arial"/>
                  <a:ea typeface="Microsoft YaHei"/>
                  <a:cs typeface="Arial"/>
                </a:rPr>
                <a:t>3. Through C</a:t>
              </a:r>
            </a:p>
          </p:txBody>
        </p:sp>
        <p:sp>
          <p:nvSpPr>
            <p:cNvPr id="36" name="TextBox 36"/>
            <p:cNvSpPr txBox="1"/>
            <p:nvPr/>
          </p:nvSpPr>
          <p:spPr>
            <a:xfrm>
              <a:off x="781050" y="5229225"/>
              <a:ext cx="2548414" cy="304800"/>
            </a:xfrm>
            <a:prstGeom prst="rect">
              <a:avLst/>
            </a:prstGeom>
            <a:noFill/>
            <a:ln>
              <a:noFill/>
            </a:ln>
          </p:spPr>
          <p:txBody>
            <a:bodyPr wrap="none" lIns="0" tIns="0" rIns="0" bIns="0" anchor="t" anchorCtr="0">
              <a:spAutoFit/>
            </a:bodyPr>
            <a:lstStyle/>
            <a:p>
              <a:pPr algn="l"/>
              <a:r>
                <a:rPr lang="zh-CN" sz="1500" dirty="0">
                  <a:solidFill>
                    <a:srgbClr val="A9D6E5"/>
                  </a:solidFill>
                  <a:latin typeface="Arial"/>
                  <a:ea typeface="Microsoft YaHei"/>
                  <a:cs typeface="Arial"/>
                </a:rPr>
                <a:t>Reflects back along itself</a:t>
              </a:r>
            </a:p>
          </p:txBody>
        </p:sp>
        <p:sp>
          <p:nvSpPr>
            <p:cNvPr id="37" name="Line 37"/>
            <p:cNvSpPr/>
            <p:nvPr/>
          </p:nvSpPr>
          <p:spPr>
            <a:xfrm>
              <a:off x="4095750" y="5238750"/>
              <a:ext cx="6000750" cy="9525"/>
            </a:xfrm>
            <a:custGeom>
              <a:avLst/>
              <a:gdLst/>
              <a:ahLst/>
              <a:cxnLst/>
              <a:rect l="l" t="t" r="r" b="b"/>
              <a:pathLst>
                <a:path w="6000750" h="9525">
                  <a:moveTo>
                    <a:pt x="0" y="0"/>
                  </a:moveTo>
                  <a:lnTo>
                    <a:pt x="6000750" y="0"/>
                  </a:lnTo>
                </a:path>
              </a:pathLst>
            </a:custGeom>
            <a:noFill/>
            <a:ln w="19050">
              <a:solidFill>
                <a:srgbClr val="A9D6E5"/>
              </a:solidFill>
              <a:prstDash val="lgDash"/>
            </a:ln>
          </p:spPr>
        </p:sp>
        <p:sp>
          <p:nvSpPr>
            <p:cNvPr id="38" name="Freeform 38"/>
            <p:cNvSpPr/>
            <p:nvPr/>
          </p:nvSpPr>
          <p:spPr>
            <a:xfrm>
              <a:off x="10382250" y="4705350"/>
              <a:ext cx="533400" cy="1066800"/>
            </a:xfrm>
            <a:custGeom>
              <a:avLst/>
              <a:gdLst/>
              <a:ahLst/>
              <a:cxnLst/>
              <a:rect l="l" t="t" r="r" b="b"/>
              <a:pathLst>
                <a:path w="533400" h="1066800">
                  <a:moveTo>
                    <a:pt x="0" y="0"/>
                  </a:moveTo>
                  <a:cubicBezTo>
                    <a:pt x="533400" y="266700"/>
                    <a:pt x="533400" y="800100"/>
                    <a:pt x="0" y="1066800"/>
                  </a:cubicBezTo>
                </a:path>
              </a:pathLst>
            </a:custGeom>
            <a:noFill/>
            <a:ln w="38100">
              <a:solidFill>
                <a:srgbClr val="F5FBFF"/>
              </a:solidFill>
            </a:ln>
          </p:spPr>
        </p:sp>
        <p:sp>
          <p:nvSpPr>
            <p:cNvPr id="39" name="Ellipse 39"/>
            <p:cNvSpPr/>
            <p:nvPr/>
          </p:nvSpPr>
          <p:spPr>
            <a:xfrm>
              <a:off x="8515350" y="5181600"/>
              <a:ext cx="114300" cy="114300"/>
            </a:xfrm>
            <a:prstGeom prst="ellipse">
              <a:avLst/>
            </a:prstGeom>
            <a:solidFill>
              <a:srgbClr val="FFD166"/>
            </a:solidFill>
            <a:ln>
              <a:noFill/>
            </a:ln>
          </p:spPr>
        </p:sp>
        <p:sp>
          <p:nvSpPr>
            <p:cNvPr id="40" name="Ellipse 40"/>
            <p:cNvSpPr/>
            <p:nvPr/>
          </p:nvSpPr>
          <p:spPr>
            <a:xfrm>
              <a:off x="6705600" y="5181600"/>
              <a:ext cx="114300" cy="114300"/>
            </a:xfrm>
            <a:prstGeom prst="ellipse">
              <a:avLst/>
            </a:prstGeom>
            <a:solidFill>
              <a:srgbClr val="EF476F"/>
            </a:solidFill>
            <a:ln>
              <a:noFill/>
            </a:ln>
          </p:spPr>
        </p:sp>
        <p:sp>
          <p:nvSpPr>
            <p:cNvPr id="41" name="TextBox 41"/>
            <p:cNvSpPr txBox="1"/>
            <p:nvPr/>
          </p:nvSpPr>
          <p:spPr>
            <a:xfrm>
              <a:off x="8482965" y="5382578"/>
              <a:ext cx="103680" cy="213360"/>
            </a:xfrm>
            <a:prstGeom prst="rect">
              <a:avLst/>
            </a:prstGeom>
            <a:noFill/>
            <a:ln>
              <a:noFill/>
            </a:ln>
          </p:spPr>
          <p:txBody>
            <a:bodyPr wrap="none" lIns="0" tIns="0" rIns="0" bIns="0" anchor="t" anchorCtr="0">
              <a:spAutoFit/>
            </a:bodyPr>
            <a:lstStyle/>
            <a:p>
              <a:pPr algn="l"/>
              <a:r>
                <a:rPr lang="zh-CN" sz="1050" dirty="0">
                  <a:solidFill>
                    <a:srgbClr val="FFD166"/>
                  </a:solidFill>
                  <a:latin typeface="Consolas"/>
                  <a:ea typeface="Microsoft YaHei"/>
                  <a:cs typeface="Consolas"/>
                </a:rPr>
                <a:t>F</a:t>
              </a:r>
            </a:p>
          </p:txBody>
        </p:sp>
        <p:sp>
          <p:nvSpPr>
            <p:cNvPr id="42" name="TextBox 42"/>
            <p:cNvSpPr txBox="1"/>
            <p:nvPr/>
          </p:nvSpPr>
          <p:spPr>
            <a:xfrm>
              <a:off x="6673215" y="5382578"/>
              <a:ext cx="103680" cy="213360"/>
            </a:xfrm>
            <a:prstGeom prst="rect">
              <a:avLst/>
            </a:prstGeom>
            <a:noFill/>
            <a:ln>
              <a:noFill/>
            </a:ln>
          </p:spPr>
          <p:txBody>
            <a:bodyPr wrap="none" lIns="0" tIns="0" rIns="0" bIns="0" anchor="t" anchorCtr="0">
              <a:spAutoFit/>
            </a:bodyPr>
            <a:lstStyle/>
            <a:p>
              <a:pPr algn="l"/>
              <a:r>
                <a:rPr lang="zh-CN" sz="1050" dirty="0">
                  <a:solidFill>
                    <a:srgbClr val="EF476F"/>
                  </a:solidFill>
                  <a:latin typeface="Consolas"/>
                  <a:ea typeface="Microsoft YaHei"/>
                  <a:cs typeface="Consolas"/>
                </a:rPr>
                <a:t>C</a:t>
              </a:r>
            </a:p>
          </p:txBody>
        </p:sp>
        <p:sp>
          <p:nvSpPr>
            <p:cNvPr id="43" name="Line 43"/>
            <p:cNvSpPr/>
            <p:nvPr/>
          </p:nvSpPr>
          <p:spPr>
            <a:xfrm>
              <a:off x="4095750" y="4762500"/>
              <a:ext cx="2667000" cy="476250"/>
            </a:xfrm>
            <a:prstGeom prst="line">
              <a:avLst/>
            </a:prstGeom>
            <a:noFill/>
            <a:ln w="28575">
              <a:solidFill>
                <a:srgbClr val="EF476F"/>
              </a:solidFill>
              <a:tailEnd type="triangle" w="lg" len="lg"/>
            </a:ln>
          </p:spPr>
        </p:sp>
        <p:sp>
          <p:nvSpPr>
            <p:cNvPr id="44" name="Line 44"/>
            <p:cNvSpPr/>
            <p:nvPr/>
          </p:nvSpPr>
          <p:spPr>
            <a:xfrm>
              <a:off x="6762750" y="5238750"/>
              <a:ext cx="3600450" cy="647700"/>
            </a:xfrm>
            <a:prstGeom prst="line">
              <a:avLst/>
            </a:prstGeom>
            <a:noFill/>
            <a:ln w="28575">
              <a:solidFill>
                <a:srgbClr val="EF476F"/>
              </a:solidFill>
              <a:tailEnd type="triangle" w="lg" len="lg"/>
            </a:ln>
          </p:spPr>
        </p:sp>
        <p:sp>
          <p:nvSpPr>
            <p:cNvPr id="45" name="Line 45"/>
            <p:cNvSpPr/>
            <p:nvPr/>
          </p:nvSpPr>
          <p:spPr>
            <a:xfrm flipH="1" flipV="1">
              <a:off x="6762750" y="5238750"/>
              <a:ext cx="3600450" cy="647700"/>
            </a:xfrm>
            <a:prstGeom prst="line">
              <a:avLst/>
            </a:prstGeom>
            <a:noFill/>
            <a:ln w="19050">
              <a:solidFill>
                <a:srgbClr val="EF476F"/>
              </a:solidFill>
              <a:prstDash val="lgDash"/>
              <a:tailEnd type="triangle" w="lg" len="lg"/>
            </a:ln>
          </p:spPr>
        </p:sp>
      </p:grpSp>
      <p:grpSp>
        <p:nvGrpSpPr>
          <p:cNvPr id="49" name="Group 49"/>
          <p:cNvGrpSpPr/>
          <p:nvPr/>
        </p:nvGrpSpPr>
        <p:grpSpPr>
          <a:xfrm>
            <a:off x="521970" y="6284595"/>
            <a:ext cx="11111960" cy="182880"/>
            <a:chOff x="521970" y="6284595"/>
            <a:chExt cx="11111960" cy="182880"/>
          </a:xfrm>
        </p:grpSpPr>
        <p:sp>
          <p:nvSpPr>
            <p:cNvPr id="47" name="TextBox 47"/>
            <p:cNvSpPr txBox="1"/>
            <p:nvPr/>
          </p:nvSpPr>
          <p:spPr>
            <a:xfrm>
              <a:off x="521970" y="6284595"/>
              <a:ext cx="5099495" cy="182880"/>
            </a:xfrm>
            <a:prstGeom prst="rect">
              <a:avLst/>
            </a:prstGeom>
            <a:noFill/>
            <a:ln>
              <a:noFill/>
            </a:ln>
          </p:spPr>
          <p:txBody>
            <a:bodyPr wrap="none" lIns="0" tIns="0" rIns="0" bIns="0" anchor="t" anchorCtr="0">
              <a:spAutoFit/>
            </a:bodyPr>
            <a:lstStyle/>
            <a:p>
              <a:pPr algn="l"/>
              <a:r>
                <a:rPr lang="zh-CN" sz="900" dirty="0">
                  <a:solidFill>
                    <a:srgbClr val="92A9B8"/>
                  </a:solidFill>
                  <a:latin typeface="Arial"/>
                  <a:ea typeface="Microsoft YaHei"/>
                  <a:cs typeface="Arial"/>
                </a:rPr>
                <a:t>Optional fourth ray: a ray aimed at V reflects symmetrically by the law of reflection.</a:t>
              </a:r>
            </a:p>
          </p:txBody>
        </p:sp>
        <p:sp>
          <p:nvSpPr>
            <p:cNvPr id="48" name="TextBox 48"/>
            <p:cNvSpPr txBox="1"/>
            <p:nvPr/>
          </p:nvSpPr>
          <p:spPr>
            <a:xfrm>
              <a:off x="11209020" y="6284595"/>
              <a:ext cx="424910" cy="182880"/>
            </a:xfrm>
            <a:prstGeom prst="rect">
              <a:avLst/>
            </a:prstGeom>
            <a:noFill/>
            <a:ln>
              <a:noFill/>
            </a:ln>
          </p:spPr>
          <p:txBody>
            <a:bodyPr wrap="none" lIns="0" tIns="0" rIns="0" bIns="0" anchor="t" anchorCtr="0">
              <a:spAutoFit/>
            </a:bodyPr>
            <a:lstStyle/>
            <a:p>
              <a:pPr algn="l"/>
              <a:r>
                <a:rPr lang="zh-CN" sz="900" dirty="0">
                  <a:solidFill>
                    <a:srgbClr val="92A9B8"/>
                  </a:solidFill>
                  <a:latin typeface="Consolas"/>
                  <a:ea typeface="Microsoft YaHei"/>
                  <a:cs typeface="Consolas"/>
                </a:rPr>
                <a:t>03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400"/>
                                        <p:tgtEl>
                                          <p:spTgt spid="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slide(fromBottom)">
                                      <p:cBhvr>
                                        <p:cTn id="15" dur="400"/>
                                        <p:tgtEl>
                                          <p:spTgt spid="20"/>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image">
                                      <p:cBhvr>
                                        <p:cTn id="19" dur="400"/>
                                        <p:tgtEl>
                                          <p:spTgt spid="33"/>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400"/>
                                        <p:tgtEl>
                                          <p:spTgt spid="46"/>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left)">
                                      <p:cBhvr>
                                        <p:cTn id="27"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20" grpId="0"/>
      <p:bldP spid="33" grpId="0"/>
      <p:bldP spid="46" grpId="0"/>
      <p:bldP spid="4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220"/>
            </a:solidFill>
            <a:ln>
              <a:noFill/>
            </a:ln>
          </p:spPr>
        </p:sp>
        <p:sp>
          <p:nvSpPr>
            <p:cNvPr id="3" name="Freeform 3"/>
            <p:cNvSpPr/>
            <p:nvPr/>
          </p:nvSpPr>
          <p:spPr>
            <a:xfrm>
              <a:off x="0" y="0"/>
              <a:ext cx="12192000" cy="6858000"/>
            </a:xfrm>
            <a:custGeom>
              <a:avLst/>
              <a:gdLst/>
              <a:ahLst/>
              <a:cxnLst/>
              <a:rect l="l" t="t" r="r" b="b"/>
              <a:pathLst>
                <a:path w="12192000" h="6858000">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moveTo>
                    <a:pt x="11430000" y="0"/>
                  </a:moveTo>
                  <a:lnTo>
                    <a:pt x="11430000" y="685800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path>
              </a:pathLst>
            </a:custGeom>
            <a:noFill/>
            <a:ln w="9525">
              <a:solidFill>
                <a:srgbClr val="1B2E4A"/>
              </a:solidFill>
            </a:ln>
          </p:spPr>
        </p:sp>
      </p:grpSp>
      <p:grpSp>
        <p:nvGrpSpPr>
          <p:cNvPr id="8" name="Group 8"/>
          <p:cNvGrpSpPr/>
          <p:nvPr/>
        </p:nvGrpSpPr>
        <p:grpSpPr>
          <a:xfrm>
            <a:off x="499110" y="394335"/>
            <a:ext cx="11159490" cy="796290"/>
            <a:chOff x="499110" y="394335"/>
            <a:chExt cx="11159490" cy="796290"/>
          </a:xfrm>
        </p:grpSpPr>
        <p:sp>
          <p:nvSpPr>
            <p:cNvPr id="5" name="TextBox 5"/>
            <p:cNvSpPr txBox="1"/>
            <p:nvPr/>
          </p:nvSpPr>
          <p:spPr>
            <a:xfrm>
              <a:off x="499110" y="394335"/>
              <a:ext cx="5814898" cy="548640"/>
            </a:xfrm>
            <a:prstGeom prst="rect">
              <a:avLst/>
            </a:prstGeom>
            <a:noFill/>
            <a:ln>
              <a:noFill/>
            </a:ln>
          </p:spPr>
          <p:txBody>
            <a:bodyPr wrap="none" lIns="0" tIns="0" rIns="0" bIns="0" anchor="t" anchorCtr="0">
              <a:spAutoFit/>
            </a:bodyPr>
            <a:lstStyle/>
            <a:p>
              <a:pPr algn="l"/>
              <a:r>
                <a:rPr lang="zh-CN" sz="2700" b="1" dirty="0">
                  <a:solidFill>
                    <a:srgbClr val="F5FBFF"/>
                  </a:solidFill>
                  <a:latin typeface="Arial"/>
                  <a:ea typeface="Microsoft YaHei"/>
                  <a:cs typeface="Arial"/>
                </a:rPr>
                <a:t>Step-by-step ray construction</a:t>
              </a:r>
            </a:p>
          </p:txBody>
        </p:sp>
        <p:sp>
          <p:nvSpPr>
            <p:cNvPr id="6" name="TextBox 6"/>
            <p:cNvSpPr txBox="1"/>
            <p:nvPr/>
          </p:nvSpPr>
          <p:spPr>
            <a:xfrm>
              <a:off x="537210" y="899160"/>
              <a:ext cx="5911215" cy="243840"/>
            </a:xfrm>
            <a:prstGeom prst="rect">
              <a:avLst/>
            </a:prstGeom>
            <a:noFill/>
            <a:ln>
              <a:noFill/>
            </a:ln>
          </p:spPr>
          <p:txBody>
            <a:bodyPr wrap="none" lIns="0" tIns="0" rIns="0" bIns="0" anchor="t" anchorCtr="0">
              <a:spAutoFit/>
            </a:bodyPr>
            <a:lstStyle/>
            <a:p>
              <a:pPr algn="l"/>
              <a:r>
                <a:rPr lang="zh-CN" sz="1200" dirty="0">
                  <a:solidFill>
                    <a:srgbClr val="92A9B8"/>
                  </a:solidFill>
                  <a:latin typeface="Arial"/>
                  <a:ea typeface="Microsoft YaHei"/>
                  <a:cs typeface="Arial"/>
                </a:rPr>
                <a:t>Object beyond C produces a real, inverted, reduced image between C and F.</a:t>
              </a:r>
            </a:p>
          </p:txBody>
        </p:sp>
        <p:sp>
          <p:nvSpPr>
            <p:cNvPr id="7" name="Line 7"/>
            <p:cNvSpPr/>
            <p:nvPr/>
          </p:nvSpPr>
          <p:spPr>
            <a:xfrm>
              <a:off x="533400" y="1181100"/>
              <a:ext cx="11125200" cy="9525"/>
            </a:xfrm>
            <a:custGeom>
              <a:avLst/>
              <a:gdLst/>
              <a:ahLst/>
              <a:cxnLst/>
              <a:rect l="l" t="t" r="r" b="b"/>
              <a:pathLst>
                <a:path w="11125200" h="9525">
                  <a:moveTo>
                    <a:pt x="0" y="0"/>
                  </a:moveTo>
                  <a:lnTo>
                    <a:pt x="11125200" y="0"/>
                  </a:lnTo>
                </a:path>
              </a:pathLst>
            </a:custGeom>
            <a:noFill/>
            <a:ln w="14288">
              <a:solidFill>
                <a:srgbClr val="31506E"/>
              </a:solidFill>
            </a:ln>
          </p:spPr>
        </p:sp>
      </p:grpSp>
      <p:grpSp>
        <p:nvGrpSpPr>
          <p:cNvPr id="32" name="Group 32"/>
          <p:cNvGrpSpPr/>
          <p:nvPr/>
        </p:nvGrpSpPr>
        <p:grpSpPr>
          <a:xfrm>
            <a:off x="533400" y="1466850"/>
            <a:ext cx="8191500" cy="4533900"/>
            <a:chOff x="533400" y="1466850"/>
            <a:chExt cx="8191500" cy="4533900"/>
          </a:xfrm>
        </p:grpSpPr>
        <p:sp>
          <p:nvSpPr>
            <p:cNvPr id="9" name="Rectangle 9"/>
            <p:cNvSpPr/>
            <p:nvPr/>
          </p:nvSpPr>
          <p:spPr>
            <a:xfrm>
              <a:off x="533400" y="1466850"/>
              <a:ext cx="7696200" cy="4533900"/>
            </a:xfrm>
            <a:prstGeom prst="roundRect">
              <a:avLst>
                <a:gd name="adj" fmla="val 1681"/>
              </a:avLst>
            </a:prstGeom>
            <a:solidFill>
              <a:srgbClr val="102036"/>
            </a:solidFill>
            <a:ln w="14288">
              <a:solidFill>
                <a:srgbClr val="31506E"/>
              </a:solidFill>
            </a:ln>
          </p:spPr>
        </p:sp>
        <p:sp>
          <p:nvSpPr>
            <p:cNvPr id="10" name="Line 10"/>
            <p:cNvSpPr/>
            <p:nvPr/>
          </p:nvSpPr>
          <p:spPr>
            <a:xfrm>
              <a:off x="1066800" y="3619500"/>
              <a:ext cx="6819900" cy="9525"/>
            </a:xfrm>
            <a:custGeom>
              <a:avLst/>
              <a:gdLst/>
              <a:ahLst/>
              <a:cxnLst/>
              <a:rect l="l" t="t" r="r" b="b"/>
              <a:pathLst>
                <a:path w="6819900" h="9525">
                  <a:moveTo>
                    <a:pt x="0" y="0"/>
                  </a:moveTo>
                  <a:lnTo>
                    <a:pt x="6819900" y="0"/>
                  </a:lnTo>
                </a:path>
              </a:pathLst>
            </a:custGeom>
            <a:noFill/>
            <a:ln w="23812">
              <a:solidFill>
                <a:srgbClr val="A9D6E5"/>
              </a:solidFill>
            </a:ln>
          </p:spPr>
        </p:sp>
        <p:sp>
          <p:nvSpPr>
            <p:cNvPr id="11" name="Freeform 11"/>
            <p:cNvSpPr/>
            <p:nvPr/>
          </p:nvSpPr>
          <p:spPr>
            <a:xfrm>
              <a:off x="7315200" y="1676400"/>
              <a:ext cx="1409700" cy="3886200"/>
            </a:xfrm>
            <a:custGeom>
              <a:avLst/>
              <a:gdLst/>
              <a:ahLst/>
              <a:cxnLst/>
              <a:rect l="l" t="t" r="r" b="b"/>
              <a:pathLst>
                <a:path w="1409700" h="3886200">
                  <a:moveTo>
                    <a:pt x="0" y="0"/>
                  </a:moveTo>
                  <a:cubicBezTo>
                    <a:pt x="1409700" y="762000"/>
                    <a:pt x="1409700" y="3124200"/>
                    <a:pt x="0" y="3886200"/>
                  </a:cubicBezTo>
                </a:path>
              </a:pathLst>
            </a:custGeom>
            <a:noFill/>
            <a:ln w="47625">
              <a:solidFill>
                <a:srgbClr val="F5FBFF"/>
              </a:solidFill>
            </a:ln>
          </p:spPr>
        </p:sp>
        <p:sp>
          <p:nvSpPr>
            <p:cNvPr id="12" name="Freeform 12"/>
            <p:cNvSpPr/>
            <p:nvPr/>
          </p:nvSpPr>
          <p:spPr>
            <a:xfrm>
              <a:off x="7486650" y="1924050"/>
              <a:ext cx="1028700" cy="3390900"/>
            </a:xfrm>
            <a:custGeom>
              <a:avLst/>
              <a:gdLst/>
              <a:ahLst/>
              <a:cxnLst/>
              <a:rect l="l" t="t" r="r" b="b"/>
              <a:pathLst>
                <a:path w="1028700" h="3390900">
                  <a:moveTo>
                    <a:pt x="0" y="0"/>
                  </a:moveTo>
                  <a:cubicBezTo>
                    <a:pt x="1028700" y="685800"/>
                    <a:pt x="1028700" y="2705100"/>
                    <a:pt x="0" y="3390900"/>
                  </a:cubicBezTo>
                </a:path>
              </a:pathLst>
            </a:custGeom>
            <a:noFill/>
            <a:ln w="19050">
              <a:solidFill>
                <a:srgbClr val="A9D6E5"/>
              </a:solidFill>
              <a:prstDash val="lgDash"/>
            </a:ln>
          </p:spPr>
        </p:sp>
        <p:sp>
          <p:nvSpPr>
            <p:cNvPr id="13" name="Ellipse 13"/>
            <p:cNvSpPr/>
            <p:nvPr/>
          </p:nvSpPr>
          <p:spPr>
            <a:xfrm>
              <a:off x="7248525" y="3552825"/>
              <a:ext cx="133350" cy="133350"/>
            </a:xfrm>
            <a:prstGeom prst="ellipse">
              <a:avLst/>
            </a:prstGeom>
            <a:solidFill>
              <a:srgbClr val="F5FBFF"/>
            </a:solidFill>
            <a:ln>
              <a:noFill/>
            </a:ln>
          </p:spPr>
        </p:sp>
        <p:sp>
          <p:nvSpPr>
            <p:cNvPr id="14" name="Ellipse 14"/>
            <p:cNvSpPr/>
            <p:nvPr/>
          </p:nvSpPr>
          <p:spPr>
            <a:xfrm>
              <a:off x="5724525" y="3552825"/>
              <a:ext cx="133350" cy="133350"/>
            </a:xfrm>
            <a:prstGeom prst="ellipse">
              <a:avLst/>
            </a:prstGeom>
            <a:solidFill>
              <a:srgbClr val="FFD166"/>
            </a:solidFill>
            <a:ln>
              <a:noFill/>
            </a:ln>
          </p:spPr>
        </p:sp>
        <p:sp>
          <p:nvSpPr>
            <p:cNvPr id="15" name="Ellipse 15"/>
            <p:cNvSpPr/>
            <p:nvPr/>
          </p:nvSpPr>
          <p:spPr>
            <a:xfrm>
              <a:off x="4200525" y="3552825"/>
              <a:ext cx="133350" cy="133350"/>
            </a:xfrm>
            <a:prstGeom prst="ellipse">
              <a:avLst/>
            </a:prstGeom>
            <a:solidFill>
              <a:srgbClr val="EF476F"/>
            </a:solidFill>
            <a:ln>
              <a:noFill/>
            </a:ln>
          </p:spPr>
        </p:sp>
        <p:sp>
          <p:nvSpPr>
            <p:cNvPr id="16" name="TextBox 16"/>
            <p:cNvSpPr txBox="1"/>
            <p:nvPr/>
          </p:nvSpPr>
          <p:spPr>
            <a:xfrm>
              <a:off x="7223760" y="3775710"/>
              <a:ext cx="118491"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Consolas"/>
                  <a:ea typeface="Microsoft YaHei"/>
                  <a:cs typeface="Consolas"/>
                </a:rPr>
                <a:t>V</a:t>
              </a:r>
            </a:p>
          </p:txBody>
        </p:sp>
        <p:sp>
          <p:nvSpPr>
            <p:cNvPr id="17" name="TextBox 17"/>
            <p:cNvSpPr txBox="1"/>
            <p:nvPr/>
          </p:nvSpPr>
          <p:spPr>
            <a:xfrm>
              <a:off x="5699760" y="3775710"/>
              <a:ext cx="118491" cy="243840"/>
            </a:xfrm>
            <a:prstGeom prst="rect">
              <a:avLst/>
            </a:prstGeom>
            <a:noFill/>
            <a:ln>
              <a:noFill/>
            </a:ln>
          </p:spPr>
          <p:txBody>
            <a:bodyPr wrap="none" lIns="0" tIns="0" rIns="0" bIns="0" anchor="t" anchorCtr="0">
              <a:spAutoFit/>
            </a:bodyPr>
            <a:lstStyle/>
            <a:p>
              <a:pPr algn="l"/>
              <a:r>
                <a:rPr lang="zh-CN" sz="1200" dirty="0">
                  <a:solidFill>
                    <a:srgbClr val="FFD166"/>
                  </a:solidFill>
                  <a:latin typeface="Consolas"/>
                  <a:ea typeface="Microsoft YaHei"/>
                  <a:cs typeface="Consolas"/>
                </a:rPr>
                <a:t>F</a:t>
              </a:r>
            </a:p>
          </p:txBody>
        </p:sp>
        <p:sp>
          <p:nvSpPr>
            <p:cNvPr id="18" name="TextBox 18"/>
            <p:cNvSpPr txBox="1"/>
            <p:nvPr/>
          </p:nvSpPr>
          <p:spPr>
            <a:xfrm>
              <a:off x="4175760" y="3775710"/>
              <a:ext cx="118491" cy="243840"/>
            </a:xfrm>
            <a:prstGeom prst="rect">
              <a:avLst/>
            </a:prstGeom>
            <a:noFill/>
            <a:ln>
              <a:noFill/>
            </a:ln>
          </p:spPr>
          <p:txBody>
            <a:bodyPr wrap="none" lIns="0" tIns="0" rIns="0" bIns="0" anchor="t" anchorCtr="0">
              <a:spAutoFit/>
            </a:bodyPr>
            <a:lstStyle/>
            <a:p>
              <a:pPr algn="l"/>
              <a:r>
                <a:rPr lang="zh-CN" sz="1200" dirty="0">
                  <a:solidFill>
                    <a:srgbClr val="EF476F"/>
                  </a:solidFill>
                  <a:latin typeface="Consolas"/>
                  <a:ea typeface="Microsoft YaHei"/>
                  <a:cs typeface="Consolas"/>
                </a:rPr>
                <a:t>C</a:t>
              </a:r>
            </a:p>
          </p:txBody>
        </p:sp>
        <p:sp>
          <p:nvSpPr>
            <p:cNvPr id="19" name="Line 19"/>
            <p:cNvSpPr/>
            <p:nvPr/>
          </p:nvSpPr>
          <p:spPr>
            <a:xfrm flipV="1">
              <a:off x="2305050" y="2286000"/>
              <a:ext cx="1" cy="1333500"/>
            </a:xfrm>
            <a:prstGeom prst="line">
              <a:avLst/>
            </a:prstGeom>
            <a:noFill/>
            <a:ln w="47625">
              <a:solidFill>
                <a:srgbClr val="EF476F"/>
              </a:solidFill>
              <a:tailEnd type="triangle" w="lg" len="lg"/>
            </a:ln>
          </p:spPr>
        </p:sp>
        <p:sp>
          <p:nvSpPr>
            <p:cNvPr id="20" name="TextBox 20"/>
            <p:cNvSpPr txBox="1"/>
            <p:nvPr/>
          </p:nvSpPr>
          <p:spPr>
            <a:xfrm>
              <a:off x="1910715" y="3887152"/>
              <a:ext cx="1076801" cy="213360"/>
            </a:xfrm>
            <a:prstGeom prst="rect">
              <a:avLst/>
            </a:prstGeom>
            <a:noFill/>
            <a:ln>
              <a:noFill/>
            </a:ln>
          </p:spPr>
          <p:txBody>
            <a:bodyPr wrap="none" lIns="0" tIns="0" rIns="0" bIns="0" anchor="t" anchorCtr="0">
              <a:spAutoFit/>
            </a:bodyPr>
            <a:lstStyle/>
            <a:p>
              <a:pPr algn="l"/>
              <a:r>
                <a:rPr lang="zh-CN" sz="1050" dirty="0">
                  <a:solidFill>
                    <a:srgbClr val="EF476F"/>
                  </a:solidFill>
                  <a:latin typeface="Arial"/>
                  <a:ea typeface="Microsoft YaHei"/>
                  <a:cs typeface="Arial"/>
                </a:rPr>
                <a:t>object beyond C</a:t>
              </a:r>
            </a:p>
          </p:txBody>
        </p:sp>
        <p:sp>
          <p:nvSpPr>
            <p:cNvPr id="21" name="Line 21"/>
            <p:cNvSpPr/>
            <p:nvPr/>
          </p:nvSpPr>
          <p:spPr>
            <a:xfrm>
              <a:off x="2305050" y="2286000"/>
              <a:ext cx="5010150" cy="1"/>
            </a:xfrm>
            <a:prstGeom prst="line">
              <a:avLst/>
            </a:prstGeom>
            <a:noFill/>
            <a:ln w="28575">
              <a:solidFill>
                <a:srgbClr val="FFD166"/>
              </a:solidFill>
              <a:tailEnd type="triangle" w="lg" len="lg"/>
            </a:ln>
          </p:spPr>
        </p:sp>
        <p:sp>
          <p:nvSpPr>
            <p:cNvPr id="22" name="Line 22"/>
            <p:cNvSpPr/>
            <p:nvPr/>
          </p:nvSpPr>
          <p:spPr>
            <a:xfrm flipH="1">
              <a:off x="5791200" y="2286000"/>
              <a:ext cx="1524000" cy="1333500"/>
            </a:xfrm>
            <a:prstGeom prst="line">
              <a:avLst/>
            </a:prstGeom>
            <a:noFill/>
            <a:ln w="28575">
              <a:solidFill>
                <a:srgbClr val="FFD166"/>
              </a:solidFill>
              <a:tailEnd type="triangle" w="lg" len="lg"/>
            </a:ln>
          </p:spPr>
        </p:sp>
        <p:sp>
          <p:nvSpPr>
            <p:cNvPr id="23" name="Line 23"/>
            <p:cNvSpPr/>
            <p:nvPr/>
          </p:nvSpPr>
          <p:spPr>
            <a:xfrm flipH="1">
              <a:off x="5181600" y="3619500"/>
              <a:ext cx="609600" cy="447675"/>
            </a:xfrm>
            <a:prstGeom prst="line">
              <a:avLst/>
            </a:prstGeom>
            <a:noFill/>
            <a:ln w="28575">
              <a:solidFill>
                <a:srgbClr val="FFD166"/>
              </a:solidFill>
              <a:tailEnd type="triangle" w="lg" len="lg"/>
            </a:ln>
          </p:spPr>
        </p:sp>
        <p:sp>
          <p:nvSpPr>
            <p:cNvPr id="24" name="Line 24"/>
            <p:cNvSpPr/>
            <p:nvPr/>
          </p:nvSpPr>
          <p:spPr>
            <a:xfrm>
              <a:off x="2305050" y="2286000"/>
              <a:ext cx="1962150" cy="1333500"/>
            </a:xfrm>
            <a:prstGeom prst="line">
              <a:avLst/>
            </a:prstGeom>
            <a:noFill/>
            <a:ln w="28575">
              <a:solidFill>
                <a:srgbClr val="A9D6E5"/>
              </a:solidFill>
              <a:tailEnd type="triangle" w="lg" len="lg"/>
            </a:ln>
          </p:spPr>
        </p:sp>
        <p:sp>
          <p:nvSpPr>
            <p:cNvPr id="25" name="Line 25"/>
            <p:cNvSpPr/>
            <p:nvPr/>
          </p:nvSpPr>
          <p:spPr>
            <a:xfrm>
              <a:off x="4267200" y="3619500"/>
              <a:ext cx="3048000" cy="2076450"/>
            </a:xfrm>
            <a:prstGeom prst="line">
              <a:avLst/>
            </a:prstGeom>
            <a:noFill/>
            <a:ln w="28575">
              <a:solidFill>
                <a:srgbClr val="A9D6E5"/>
              </a:solidFill>
              <a:tailEnd type="triangle" w="lg" len="lg"/>
            </a:ln>
          </p:spPr>
        </p:sp>
        <p:sp>
          <p:nvSpPr>
            <p:cNvPr id="26" name="Line 26"/>
            <p:cNvSpPr/>
            <p:nvPr/>
          </p:nvSpPr>
          <p:spPr>
            <a:xfrm flipH="1" flipV="1">
              <a:off x="5181600" y="4067175"/>
              <a:ext cx="2133600" cy="1628775"/>
            </a:xfrm>
            <a:prstGeom prst="line">
              <a:avLst/>
            </a:prstGeom>
            <a:noFill/>
            <a:ln w="23812">
              <a:solidFill>
                <a:srgbClr val="A9D6E5"/>
              </a:solidFill>
              <a:prstDash val="lgDash"/>
              <a:tailEnd type="triangle" w="lg" len="lg"/>
            </a:ln>
          </p:spPr>
        </p:sp>
        <p:sp>
          <p:nvSpPr>
            <p:cNvPr id="27" name="Line 27"/>
            <p:cNvSpPr/>
            <p:nvPr/>
          </p:nvSpPr>
          <p:spPr>
            <a:xfrm>
              <a:off x="5181600" y="3619500"/>
              <a:ext cx="1" cy="447675"/>
            </a:xfrm>
            <a:prstGeom prst="line">
              <a:avLst/>
            </a:prstGeom>
            <a:noFill/>
            <a:ln w="47625">
              <a:solidFill>
                <a:srgbClr val="7BD88F"/>
              </a:solidFill>
              <a:tailEnd type="triangle" w="lg" len="lg"/>
            </a:ln>
          </p:spPr>
        </p:sp>
        <p:sp>
          <p:nvSpPr>
            <p:cNvPr id="28" name="Ellipse 28"/>
            <p:cNvSpPr/>
            <p:nvPr/>
          </p:nvSpPr>
          <p:spPr>
            <a:xfrm>
              <a:off x="5124450" y="4010025"/>
              <a:ext cx="114300" cy="114300"/>
            </a:xfrm>
            <a:prstGeom prst="ellipse">
              <a:avLst/>
            </a:prstGeom>
            <a:solidFill>
              <a:srgbClr val="7BD88F"/>
            </a:solidFill>
            <a:ln>
              <a:noFill/>
            </a:ln>
          </p:spPr>
        </p:sp>
        <p:sp>
          <p:nvSpPr>
            <p:cNvPr id="29" name="TextBox 29"/>
            <p:cNvSpPr txBox="1"/>
            <p:nvPr/>
          </p:nvSpPr>
          <p:spPr>
            <a:xfrm>
              <a:off x="4711065" y="4230052"/>
              <a:ext cx="719757" cy="213360"/>
            </a:xfrm>
            <a:prstGeom prst="rect">
              <a:avLst/>
            </a:prstGeom>
            <a:noFill/>
            <a:ln>
              <a:noFill/>
            </a:ln>
          </p:spPr>
          <p:txBody>
            <a:bodyPr wrap="none" lIns="0" tIns="0" rIns="0" bIns="0" anchor="t" anchorCtr="0">
              <a:spAutoFit/>
            </a:bodyPr>
            <a:lstStyle/>
            <a:p>
              <a:pPr algn="l"/>
              <a:r>
                <a:rPr lang="zh-CN" sz="1050" dirty="0">
                  <a:solidFill>
                    <a:srgbClr val="7BD88F"/>
                  </a:solidFill>
                  <a:latin typeface="Arial"/>
                  <a:ea typeface="Microsoft YaHei"/>
                  <a:cs typeface="Arial"/>
                </a:rPr>
                <a:t>real image</a:t>
              </a:r>
            </a:p>
          </p:txBody>
        </p:sp>
        <p:sp>
          <p:nvSpPr>
            <p:cNvPr id="30" name="TextBox 30"/>
            <p:cNvSpPr txBox="1"/>
            <p:nvPr/>
          </p:nvSpPr>
          <p:spPr>
            <a:xfrm>
              <a:off x="6387465" y="2020252"/>
              <a:ext cx="2133933" cy="213360"/>
            </a:xfrm>
            <a:prstGeom prst="rect">
              <a:avLst/>
            </a:prstGeom>
            <a:noFill/>
            <a:ln>
              <a:noFill/>
            </a:ln>
          </p:spPr>
          <p:txBody>
            <a:bodyPr wrap="none" lIns="0" tIns="0" rIns="0" bIns="0" anchor="t" anchorCtr="0">
              <a:spAutoFit/>
            </a:bodyPr>
            <a:lstStyle/>
            <a:p>
              <a:pPr algn="l"/>
              <a:r>
                <a:rPr lang="zh-CN" sz="1050" dirty="0">
                  <a:solidFill>
                    <a:srgbClr val="FFD166"/>
                  </a:solidFill>
                  <a:latin typeface="Arial"/>
                  <a:ea typeface="Microsoft YaHei"/>
                  <a:cs typeface="Arial"/>
                </a:rPr>
                <a:t>parallel ray reflects through F</a:t>
              </a:r>
            </a:p>
          </p:txBody>
        </p:sp>
        <p:sp>
          <p:nvSpPr>
            <p:cNvPr id="31" name="TextBox 31"/>
            <p:cNvSpPr txBox="1"/>
            <p:nvPr/>
          </p:nvSpPr>
          <p:spPr>
            <a:xfrm>
              <a:off x="5149215" y="5354002"/>
              <a:ext cx="2364962" cy="213360"/>
            </a:xfrm>
            <a:prstGeom prst="rect">
              <a:avLst/>
            </a:prstGeom>
            <a:noFill/>
            <a:ln>
              <a:noFill/>
            </a:ln>
          </p:spPr>
          <p:txBody>
            <a:bodyPr wrap="none" lIns="0" tIns="0" rIns="0" bIns="0" anchor="t" anchorCtr="0">
              <a:spAutoFit/>
            </a:bodyPr>
            <a:lstStyle/>
            <a:p>
              <a:pPr algn="l"/>
              <a:r>
                <a:rPr lang="zh-CN" sz="1050" dirty="0">
                  <a:solidFill>
                    <a:srgbClr val="A9D6E5"/>
                  </a:solidFill>
                  <a:latin typeface="Arial"/>
                  <a:ea typeface="Microsoft YaHei"/>
                  <a:cs typeface="Arial"/>
                </a:rPr>
                <a:t>ray through C returns along itself</a:t>
              </a:r>
            </a:p>
          </p:txBody>
        </p:sp>
      </p:grpSp>
      <p:grpSp>
        <p:nvGrpSpPr>
          <p:cNvPr id="47" name="Group 47"/>
          <p:cNvGrpSpPr/>
          <p:nvPr/>
        </p:nvGrpSpPr>
        <p:grpSpPr>
          <a:xfrm>
            <a:off x="8572500" y="1466850"/>
            <a:ext cx="3264218" cy="4533900"/>
            <a:chOff x="8572500" y="1466850"/>
            <a:chExt cx="3264218" cy="4533900"/>
          </a:xfrm>
        </p:grpSpPr>
        <p:sp>
          <p:nvSpPr>
            <p:cNvPr id="33" name="Rectangle 33"/>
            <p:cNvSpPr/>
            <p:nvPr/>
          </p:nvSpPr>
          <p:spPr>
            <a:xfrm>
              <a:off x="8572500" y="1466850"/>
              <a:ext cx="3086100" cy="4533900"/>
            </a:xfrm>
            <a:prstGeom prst="roundRect">
              <a:avLst>
                <a:gd name="adj" fmla="val 2469"/>
              </a:avLst>
            </a:prstGeom>
            <a:solidFill>
              <a:srgbClr val="152940"/>
            </a:solidFill>
            <a:ln w="14288">
              <a:solidFill>
                <a:srgbClr val="31506E"/>
              </a:solidFill>
            </a:ln>
          </p:spPr>
        </p:sp>
        <p:sp>
          <p:nvSpPr>
            <p:cNvPr id="34" name="TextBox 34"/>
            <p:cNvSpPr txBox="1"/>
            <p:nvPr/>
          </p:nvSpPr>
          <p:spPr>
            <a:xfrm>
              <a:off x="8814435" y="1732598"/>
              <a:ext cx="2616051" cy="396240"/>
            </a:xfrm>
            <a:prstGeom prst="rect">
              <a:avLst/>
            </a:prstGeom>
            <a:noFill/>
            <a:ln>
              <a:noFill/>
            </a:ln>
          </p:spPr>
          <p:txBody>
            <a:bodyPr wrap="none" lIns="0" tIns="0" rIns="0" bIns="0" anchor="t" anchorCtr="0">
              <a:spAutoFit/>
            </a:bodyPr>
            <a:lstStyle/>
            <a:p>
              <a:pPr algn="l"/>
              <a:r>
                <a:rPr lang="zh-CN" sz="1950" b="1" dirty="0">
                  <a:solidFill>
                    <a:srgbClr val="F5FBFF"/>
                  </a:solidFill>
                  <a:latin typeface="Arial"/>
                  <a:ea typeface="Microsoft YaHei"/>
                  <a:cs typeface="Arial"/>
                </a:rPr>
                <a:t>Construction steps</a:t>
              </a:r>
            </a:p>
          </p:txBody>
        </p:sp>
        <p:sp>
          <p:nvSpPr>
            <p:cNvPr id="35" name="Ellipse 35"/>
            <p:cNvSpPr/>
            <p:nvPr/>
          </p:nvSpPr>
          <p:spPr>
            <a:xfrm>
              <a:off x="8820150" y="2324100"/>
              <a:ext cx="304800" cy="304800"/>
            </a:xfrm>
            <a:prstGeom prst="ellipse">
              <a:avLst/>
            </a:prstGeom>
            <a:solidFill>
              <a:srgbClr val="FFD166"/>
            </a:solidFill>
            <a:ln>
              <a:noFill/>
            </a:ln>
          </p:spPr>
        </p:sp>
        <p:sp>
          <p:nvSpPr>
            <p:cNvPr id="36" name="TextBox 36"/>
            <p:cNvSpPr txBox="1"/>
            <p:nvPr/>
          </p:nvSpPr>
          <p:spPr>
            <a:xfrm>
              <a:off x="8900160" y="2413635"/>
              <a:ext cx="122892" cy="243840"/>
            </a:xfrm>
            <a:prstGeom prst="rect">
              <a:avLst/>
            </a:prstGeom>
            <a:noFill/>
            <a:ln>
              <a:noFill/>
            </a:ln>
          </p:spPr>
          <p:txBody>
            <a:bodyPr wrap="none" lIns="0" tIns="0" rIns="0" bIns="0" anchor="t" anchorCtr="0">
              <a:spAutoFit/>
            </a:bodyPr>
            <a:lstStyle/>
            <a:p>
              <a:pPr algn="l"/>
              <a:r>
                <a:rPr lang="zh-CN" sz="1200" b="1" dirty="0">
                  <a:solidFill>
                    <a:srgbClr val="0B1220"/>
                  </a:solidFill>
                  <a:latin typeface="Consolas"/>
                  <a:ea typeface="Microsoft YaHei"/>
                  <a:cs typeface="Consolas"/>
                </a:rPr>
                <a:t>1</a:t>
              </a:r>
            </a:p>
          </p:txBody>
        </p:sp>
        <p:sp>
          <p:nvSpPr>
            <p:cNvPr id="37" name="TextBox 37"/>
            <p:cNvSpPr txBox="1"/>
            <p:nvPr/>
          </p:nvSpPr>
          <p:spPr>
            <a:xfrm>
              <a:off x="9258300" y="2381250"/>
              <a:ext cx="2578418" cy="304800"/>
            </a:xfrm>
            <a:prstGeom prst="rect">
              <a:avLst/>
            </a:prstGeom>
            <a:noFill/>
            <a:ln>
              <a:noFill/>
            </a:ln>
          </p:spPr>
          <p:txBody>
            <a:bodyPr wrap="none" lIns="0" tIns="0" rIns="0" bIns="0" anchor="t" anchorCtr="0">
              <a:spAutoFit/>
            </a:bodyPr>
            <a:lstStyle/>
            <a:p>
              <a:pPr algn="l"/>
              <a:r>
                <a:rPr lang="zh-CN" sz="1500" dirty="0">
                  <a:solidFill>
                    <a:srgbClr val="F5FBFF"/>
                  </a:solidFill>
                  <a:latin typeface="Arial"/>
                  <a:ea typeface="Microsoft YaHei"/>
                  <a:cs typeface="Arial"/>
                </a:rPr>
                <a:t>Draw the object beyond C.</a:t>
              </a:r>
            </a:p>
          </p:txBody>
        </p:sp>
        <p:sp>
          <p:nvSpPr>
            <p:cNvPr id="38" name="Ellipse 38"/>
            <p:cNvSpPr/>
            <p:nvPr/>
          </p:nvSpPr>
          <p:spPr>
            <a:xfrm>
              <a:off x="8820150" y="2971800"/>
              <a:ext cx="304800" cy="304800"/>
            </a:xfrm>
            <a:prstGeom prst="ellipse">
              <a:avLst/>
            </a:prstGeom>
            <a:solidFill>
              <a:srgbClr val="FFD166"/>
            </a:solidFill>
            <a:ln>
              <a:noFill/>
            </a:ln>
          </p:spPr>
        </p:sp>
        <p:sp>
          <p:nvSpPr>
            <p:cNvPr id="39" name="TextBox 39"/>
            <p:cNvSpPr txBox="1"/>
            <p:nvPr/>
          </p:nvSpPr>
          <p:spPr>
            <a:xfrm>
              <a:off x="8900160" y="3061335"/>
              <a:ext cx="122892" cy="243840"/>
            </a:xfrm>
            <a:prstGeom prst="rect">
              <a:avLst/>
            </a:prstGeom>
            <a:noFill/>
            <a:ln>
              <a:noFill/>
            </a:ln>
          </p:spPr>
          <p:txBody>
            <a:bodyPr wrap="none" lIns="0" tIns="0" rIns="0" bIns="0" anchor="t" anchorCtr="0">
              <a:spAutoFit/>
            </a:bodyPr>
            <a:lstStyle/>
            <a:p>
              <a:pPr algn="l"/>
              <a:r>
                <a:rPr lang="zh-CN" sz="1200" b="1" dirty="0">
                  <a:solidFill>
                    <a:srgbClr val="0B1220"/>
                  </a:solidFill>
                  <a:latin typeface="Consolas"/>
                  <a:ea typeface="Microsoft YaHei"/>
                  <a:cs typeface="Consolas"/>
                </a:rPr>
                <a:t>2</a:t>
              </a:r>
            </a:p>
          </p:txBody>
        </p:sp>
        <p:sp>
          <p:nvSpPr>
            <p:cNvPr id="40" name="TextBox 40"/>
            <p:cNvSpPr txBox="1"/>
            <p:nvPr/>
          </p:nvSpPr>
          <p:spPr>
            <a:xfrm>
              <a:off x="9258300" y="2905125"/>
              <a:ext cx="2105025" cy="571500"/>
            </a:xfrm>
            <a:prstGeom prst="rect">
              <a:avLst/>
            </a:prstGeom>
            <a:noFill/>
            <a:ln>
              <a:noFill/>
            </a:ln>
          </p:spPr>
          <p:txBody>
            <a:bodyPr wrap="square" lIns="0" tIns="0" rIns="0" bIns="0" anchor="t" anchorCtr="0"/>
            <a:lstStyle/>
            <a:p>
              <a:pPr algn="l">
                <a:lnSpc>
                  <a:spcPts val="2100"/>
                </a:lnSpc>
              </a:pPr>
              <a:r>
                <a:rPr lang="zh-CN" sz="1500" dirty="0">
                  <a:solidFill>
                    <a:srgbClr val="F5FBFF"/>
                  </a:solidFill>
                  <a:latin typeface="Arial"/>
                  <a:ea typeface="Microsoft YaHei"/>
                  <a:cs typeface="Arial"/>
                </a:rPr>
                <a:t xml:space="preserve">Trace a parallel ray; </a:t>
              </a:r>
              <a:r>
                <a:rPr lang="zh-CN" sz="1500" dirty="0">
                  <a:solidFill>
                    <a:srgbClr val="F5FBFF"/>
                  </a:solidFill>
                  <a:latin typeface="Arial"/>
                  <a:ea typeface="Microsoft YaHei"/>
                  <a:cs typeface="Arial"/>
                </a:rPr>
                <a:t>it reflects through F.</a:t>
              </a:r>
            </a:p>
          </p:txBody>
        </p:sp>
        <p:sp>
          <p:nvSpPr>
            <p:cNvPr id="41" name="Ellipse 41"/>
            <p:cNvSpPr/>
            <p:nvPr/>
          </p:nvSpPr>
          <p:spPr>
            <a:xfrm>
              <a:off x="8820150" y="3848100"/>
              <a:ext cx="304800" cy="304800"/>
            </a:xfrm>
            <a:prstGeom prst="ellipse">
              <a:avLst/>
            </a:prstGeom>
            <a:solidFill>
              <a:srgbClr val="FFD166"/>
            </a:solidFill>
            <a:ln>
              <a:noFill/>
            </a:ln>
          </p:spPr>
        </p:sp>
        <p:sp>
          <p:nvSpPr>
            <p:cNvPr id="42" name="TextBox 42"/>
            <p:cNvSpPr txBox="1"/>
            <p:nvPr/>
          </p:nvSpPr>
          <p:spPr>
            <a:xfrm>
              <a:off x="8900160" y="3937635"/>
              <a:ext cx="122892" cy="243840"/>
            </a:xfrm>
            <a:prstGeom prst="rect">
              <a:avLst/>
            </a:prstGeom>
            <a:noFill/>
            <a:ln>
              <a:noFill/>
            </a:ln>
          </p:spPr>
          <p:txBody>
            <a:bodyPr wrap="none" lIns="0" tIns="0" rIns="0" bIns="0" anchor="t" anchorCtr="0">
              <a:spAutoFit/>
            </a:bodyPr>
            <a:lstStyle/>
            <a:p>
              <a:pPr algn="l"/>
              <a:r>
                <a:rPr lang="zh-CN" sz="1200" b="1" dirty="0">
                  <a:solidFill>
                    <a:srgbClr val="0B1220"/>
                  </a:solidFill>
                  <a:latin typeface="Consolas"/>
                  <a:ea typeface="Microsoft YaHei"/>
                  <a:cs typeface="Consolas"/>
                </a:rPr>
                <a:t>3</a:t>
              </a:r>
            </a:p>
          </p:txBody>
        </p:sp>
        <p:sp>
          <p:nvSpPr>
            <p:cNvPr id="43" name="TextBox 43"/>
            <p:cNvSpPr txBox="1"/>
            <p:nvPr/>
          </p:nvSpPr>
          <p:spPr>
            <a:xfrm>
              <a:off x="9258300" y="3781425"/>
              <a:ext cx="1952625" cy="571500"/>
            </a:xfrm>
            <a:prstGeom prst="rect">
              <a:avLst/>
            </a:prstGeom>
            <a:noFill/>
            <a:ln>
              <a:noFill/>
            </a:ln>
          </p:spPr>
          <p:txBody>
            <a:bodyPr wrap="square" lIns="0" tIns="0" rIns="0" bIns="0" anchor="t" anchorCtr="0"/>
            <a:lstStyle/>
            <a:p>
              <a:pPr algn="l">
                <a:lnSpc>
                  <a:spcPts val="2100"/>
                </a:lnSpc>
              </a:pPr>
              <a:r>
                <a:rPr lang="zh-CN" sz="1500" dirty="0">
                  <a:solidFill>
                    <a:srgbClr val="F5FBFF"/>
                  </a:solidFill>
                  <a:latin typeface="Arial"/>
                  <a:ea typeface="Microsoft YaHei"/>
                  <a:cs typeface="Arial"/>
                </a:rPr>
                <a:t xml:space="preserve">Trace a C-ray; </a:t>
              </a:r>
              <a:r>
                <a:rPr lang="zh-CN" sz="1500" dirty="0">
                  <a:solidFill>
                    <a:srgbClr val="F5FBFF"/>
                  </a:solidFill>
                  <a:latin typeface="Arial"/>
                  <a:ea typeface="Microsoft YaHei"/>
                  <a:cs typeface="Arial"/>
                </a:rPr>
                <a:t>it returns on itself.</a:t>
              </a:r>
            </a:p>
          </p:txBody>
        </p:sp>
        <p:sp>
          <p:nvSpPr>
            <p:cNvPr id="44" name="Ellipse 44"/>
            <p:cNvSpPr/>
            <p:nvPr/>
          </p:nvSpPr>
          <p:spPr>
            <a:xfrm>
              <a:off x="8820150" y="4724400"/>
              <a:ext cx="304800" cy="304800"/>
            </a:xfrm>
            <a:prstGeom prst="ellipse">
              <a:avLst/>
            </a:prstGeom>
            <a:solidFill>
              <a:srgbClr val="7BD88F"/>
            </a:solidFill>
            <a:ln>
              <a:noFill/>
            </a:ln>
          </p:spPr>
        </p:sp>
        <p:sp>
          <p:nvSpPr>
            <p:cNvPr id="45" name="TextBox 45"/>
            <p:cNvSpPr txBox="1"/>
            <p:nvPr/>
          </p:nvSpPr>
          <p:spPr>
            <a:xfrm>
              <a:off x="8900160" y="4813935"/>
              <a:ext cx="122892" cy="243840"/>
            </a:xfrm>
            <a:prstGeom prst="rect">
              <a:avLst/>
            </a:prstGeom>
            <a:noFill/>
            <a:ln>
              <a:noFill/>
            </a:ln>
          </p:spPr>
          <p:txBody>
            <a:bodyPr wrap="none" lIns="0" tIns="0" rIns="0" bIns="0" anchor="t" anchorCtr="0">
              <a:spAutoFit/>
            </a:bodyPr>
            <a:lstStyle/>
            <a:p>
              <a:pPr algn="l"/>
              <a:r>
                <a:rPr lang="zh-CN" sz="1200" b="1" dirty="0">
                  <a:solidFill>
                    <a:srgbClr val="0B1220"/>
                  </a:solidFill>
                  <a:latin typeface="Consolas"/>
                  <a:ea typeface="Microsoft YaHei"/>
                  <a:cs typeface="Consolas"/>
                </a:rPr>
                <a:t>4</a:t>
              </a:r>
            </a:p>
          </p:txBody>
        </p:sp>
        <p:sp>
          <p:nvSpPr>
            <p:cNvPr id="46" name="TextBox 46"/>
            <p:cNvSpPr txBox="1"/>
            <p:nvPr/>
          </p:nvSpPr>
          <p:spPr>
            <a:xfrm>
              <a:off x="9258300" y="4657725"/>
              <a:ext cx="2247900" cy="571500"/>
            </a:xfrm>
            <a:prstGeom prst="rect">
              <a:avLst/>
            </a:prstGeom>
            <a:noFill/>
            <a:ln>
              <a:noFill/>
            </a:ln>
          </p:spPr>
          <p:txBody>
            <a:bodyPr wrap="square" lIns="0" tIns="0" rIns="0" bIns="0" anchor="t" anchorCtr="0"/>
            <a:lstStyle/>
            <a:p>
              <a:pPr algn="l">
                <a:lnSpc>
                  <a:spcPts val="2100"/>
                </a:lnSpc>
              </a:pPr>
              <a:r>
                <a:rPr lang="zh-CN" sz="1500" dirty="0">
                  <a:solidFill>
                    <a:srgbClr val="F5FBFF"/>
                  </a:solidFill>
                  <a:latin typeface="Arial"/>
                  <a:ea typeface="Microsoft YaHei"/>
                  <a:cs typeface="Arial"/>
                </a:rPr>
                <a:t xml:space="preserve">The reflected rays </a:t>
              </a:r>
              <a:r>
                <a:rPr lang="zh-CN" sz="1500" dirty="0">
                  <a:solidFill>
                    <a:srgbClr val="F5FBFF"/>
                  </a:solidFill>
                  <a:latin typeface="Arial"/>
                  <a:ea typeface="Microsoft YaHei"/>
                  <a:cs typeface="Arial"/>
                </a:rPr>
                <a:t>intersect at the image.</a:t>
              </a:r>
            </a:p>
          </p:txBody>
        </p:sp>
      </p:grpSp>
      <p:grpSp>
        <p:nvGrpSpPr>
          <p:cNvPr id="50" name="Group 50"/>
          <p:cNvGrpSpPr/>
          <p:nvPr/>
        </p:nvGrpSpPr>
        <p:grpSpPr>
          <a:xfrm>
            <a:off x="521970" y="6284595"/>
            <a:ext cx="11111960" cy="182880"/>
            <a:chOff x="521970" y="6284595"/>
            <a:chExt cx="11111960" cy="182880"/>
          </a:xfrm>
        </p:grpSpPr>
        <p:sp>
          <p:nvSpPr>
            <p:cNvPr id="48" name="TextBox 48"/>
            <p:cNvSpPr txBox="1"/>
            <p:nvPr/>
          </p:nvSpPr>
          <p:spPr>
            <a:xfrm>
              <a:off x="521970" y="6284595"/>
              <a:ext cx="3683318" cy="182880"/>
            </a:xfrm>
            <a:prstGeom prst="rect">
              <a:avLst/>
            </a:prstGeom>
            <a:noFill/>
            <a:ln>
              <a:noFill/>
            </a:ln>
          </p:spPr>
          <p:txBody>
            <a:bodyPr wrap="none" lIns="0" tIns="0" rIns="0" bIns="0" anchor="t" anchorCtr="0">
              <a:spAutoFit/>
            </a:bodyPr>
            <a:lstStyle/>
            <a:p>
              <a:pPr algn="l"/>
              <a:r>
                <a:rPr lang="zh-CN" sz="900" dirty="0">
                  <a:solidFill>
                    <a:srgbClr val="92A9B8"/>
                  </a:solidFill>
                  <a:latin typeface="Arial"/>
                  <a:ea typeface="Microsoft YaHei"/>
                  <a:cs typeface="Arial"/>
                </a:rPr>
                <a:t>Editable rays and labels remain separate vector/text objects.</a:t>
              </a:r>
            </a:p>
          </p:txBody>
        </p:sp>
        <p:sp>
          <p:nvSpPr>
            <p:cNvPr id="49" name="TextBox 49"/>
            <p:cNvSpPr txBox="1"/>
            <p:nvPr/>
          </p:nvSpPr>
          <p:spPr>
            <a:xfrm>
              <a:off x="11209020" y="6284595"/>
              <a:ext cx="424910" cy="182880"/>
            </a:xfrm>
            <a:prstGeom prst="rect">
              <a:avLst/>
            </a:prstGeom>
            <a:noFill/>
            <a:ln>
              <a:noFill/>
            </a:ln>
          </p:spPr>
          <p:txBody>
            <a:bodyPr wrap="none" lIns="0" tIns="0" rIns="0" bIns="0" anchor="t" anchorCtr="0">
              <a:spAutoFit/>
            </a:bodyPr>
            <a:lstStyle/>
            <a:p>
              <a:pPr algn="l"/>
              <a:r>
                <a:rPr lang="zh-CN" sz="900" dirty="0">
                  <a:solidFill>
                    <a:srgbClr val="92A9B8"/>
                  </a:solidFill>
                  <a:latin typeface="Consolas"/>
                  <a:ea typeface="Microsoft YaHei"/>
                  <a:cs typeface="Consolas"/>
                </a:rPr>
                <a:t>04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slide(fromBottom)">
                                      <p:cBhvr>
                                        <p:cTn id="7" dur="400"/>
                                        <p:tgtEl>
                                          <p:spTgt spid="32"/>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image">
                                      <p:cBhvr>
                                        <p:cTn id="11"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220"/>
            </a:solidFill>
            <a:ln>
              <a:noFill/>
            </a:ln>
          </p:spPr>
        </p:sp>
        <p:sp>
          <p:nvSpPr>
            <p:cNvPr id="3" name="Freeform 3"/>
            <p:cNvSpPr/>
            <p:nvPr/>
          </p:nvSpPr>
          <p:spPr>
            <a:xfrm>
              <a:off x="0" y="0"/>
              <a:ext cx="12192000" cy="6858000"/>
            </a:xfrm>
            <a:custGeom>
              <a:avLst/>
              <a:gdLst/>
              <a:ahLst/>
              <a:cxnLst/>
              <a:rect l="l" t="t" r="r" b="b"/>
              <a:pathLst>
                <a:path w="12192000" h="6858000">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moveTo>
                    <a:pt x="11430000" y="0"/>
                  </a:moveTo>
                  <a:lnTo>
                    <a:pt x="11430000" y="685800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path>
              </a:pathLst>
            </a:custGeom>
            <a:noFill/>
            <a:ln w="9525">
              <a:solidFill>
                <a:srgbClr val="1B2E4A"/>
              </a:solidFill>
            </a:ln>
          </p:spPr>
        </p:sp>
      </p:grpSp>
      <p:grpSp>
        <p:nvGrpSpPr>
          <p:cNvPr id="8" name="Group 8"/>
          <p:cNvGrpSpPr/>
          <p:nvPr/>
        </p:nvGrpSpPr>
        <p:grpSpPr>
          <a:xfrm>
            <a:off x="499110" y="394335"/>
            <a:ext cx="11159490" cy="796290"/>
            <a:chOff x="499110" y="394335"/>
            <a:chExt cx="11159490" cy="796290"/>
          </a:xfrm>
        </p:grpSpPr>
        <p:sp>
          <p:nvSpPr>
            <p:cNvPr id="5" name="TextBox 5"/>
            <p:cNvSpPr txBox="1"/>
            <p:nvPr/>
          </p:nvSpPr>
          <p:spPr>
            <a:xfrm>
              <a:off x="499110" y="394335"/>
              <a:ext cx="6022824" cy="548640"/>
            </a:xfrm>
            <a:prstGeom prst="rect">
              <a:avLst/>
            </a:prstGeom>
            <a:noFill/>
            <a:ln>
              <a:noFill/>
            </a:ln>
          </p:spPr>
          <p:txBody>
            <a:bodyPr wrap="none" lIns="0" tIns="0" rIns="0" bIns="0" anchor="t" anchorCtr="0">
              <a:spAutoFit/>
            </a:bodyPr>
            <a:lstStyle/>
            <a:p>
              <a:pPr algn="l"/>
              <a:r>
                <a:rPr lang="zh-CN" sz="2700" b="1" dirty="0">
                  <a:solidFill>
                    <a:srgbClr val="F5FBFF"/>
                  </a:solidFill>
                  <a:latin typeface="Arial"/>
                  <a:ea typeface="Microsoft YaHei"/>
                  <a:cs typeface="Arial"/>
                </a:rPr>
                <a:t>The equations check the drawing</a:t>
              </a:r>
            </a:p>
          </p:txBody>
        </p:sp>
        <p:sp>
          <p:nvSpPr>
            <p:cNvPr id="6" name="TextBox 6"/>
            <p:cNvSpPr txBox="1"/>
            <p:nvPr/>
          </p:nvSpPr>
          <p:spPr>
            <a:xfrm>
              <a:off x="537210" y="899160"/>
              <a:ext cx="4647057" cy="243840"/>
            </a:xfrm>
            <a:prstGeom prst="rect">
              <a:avLst/>
            </a:prstGeom>
            <a:noFill/>
            <a:ln>
              <a:noFill/>
            </a:ln>
          </p:spPr>
          <p:txBody>
            <a:bodyPr wrap="none" lIns="0" tIns="0" rIns="0" bIns="0" anchor="t" anchorCtr="0">
              <a:spAutoFit/>
            </a:bodyPr>
            <a:lstStyle/>
            <a:p>
              <a:pPr algn="l"/>
              <a:r>
                <a:rPr lang="zh-CN" sz="1200" dirty="0">
                  <a:solidFill>
                    <a:srgbClr val="92A9B8"/>
                  </a:solidFill>
                  <a:latin typeface="Arial"/>
                  <a:ea typeface="Microsoft YaHei"/>
                  <a:cs typeface="Arial"/>
                </a:rPr>
                <a:t>Worked example from the source: f = 10 cm and do = 30 cm.</a:t>
              </a:r>
            </a:p>
          </p:txBody>
        </p:sp>
        <p:sp>
          <p:nvSpPr>
            <p:cNvPr id="7" name="Line 7"/>
            <p:cNvSpPr/>
            <p:nvPr/>
          </p:nvSpPr>
          <p:spPr>
            <a:xfrm>
              <a:off x="533400" y="1181100"/>
              <a:ext cx="11125200" cy="9525"/>
            </a:xfrm>
            <a:custGeom>
              <a:avLst/>
              <a:gdLst/>
              <a:ahLst/>
              <a:cxnLst/>
              <a:rect l="l" t="t" r="r" b="b"/>
              <a:pathLst>
                <a:path w="11125200" h="9525">
                  <a:moveTo>
                    <a:pt x="0" y="0"/>
                  </a:moveTo>
                  <a:lnTo>
                    <a:pt x="11125200" y="0"/>
                  </a:lnTo>
                </a:path>
              </a:pathLst>
            </a:custGeom>
            <a:noFill/>
            <a:ln w="14288">
              <a:solidFill>
                <a:srgbClr val="31506E"/>
              </a:solidFill>
            </a:ln>
          </p:spPr>
        </p:sp>
      </p:grpSp>
      <p:grpSp>
        <p:nvGrpSpPr>
          <p:cNvPr id="18" name="Group 18"/>
          <p:cNvGrpSpPr/>
          <p:nvPr/>
        </p:nvGrpSpPr>
        <p:grpSpPr>
          <a:xfrm>
            <a:off x="533400" y="1466850"/>
            <a:ext cx="6721792" cy="4533900"/>
            <a:chOff x="533400" y="1466850"/>
            <a:chExt cx="6721792" cy="4533900"/>
          </a:xfrm>
        </p:grpSpPr>
        <p:sp>
          <p:nvSpPr>
            <p:cNvPr id="9" name="Rectangle 9"/>
            <p:cNvSpPr/>
            <p:nvPr/>
          </p:nvSpPr>
          <p:spPr>
            <a:xfrm>
              <a:off x="533400" y="1466850"/>
              <a:ext cx="6191250" cy="4533900"/>
            </a:xfrm>
            <a:prstGeom prst="roundRect">
              <a:avLst>
                <a:gd name="adj" fmla="val 1681"/>
              </a:avLst>
            </a:prstGeom>
            <a:solidFill>
              <a:srgbClr val="102036"/>
            </a:solidFill>
            <a:ln w="14288">
              <a:solidFill>
                <a:srgbClr val="31506E"/>
              </a:solidFill>
            </a:ln>
          </p:spPr>
        </p:sp>
        <p:sp>
          <p:nvSpPr>
            <p:cNvPr id="10" name="TextBox 10"/>
            <p:cNvSpPr txBox="1"/>
            <p:nvPr/>
          </p:nvSpPr>
          <p:spPr>
            <a:xfrm>
              <a:off x="813435" y="1732598"/>
              <a:ext cx="2151893" cy="396240"/>
            </a:xfrm>
            <a:prstGeom prst="rect">
              <a:avLst/>
            </a:prstGeom>
            <a:noFill/>
            <a:ln>
              <a:noFill/>
            </a:ln>
          </p:spPr>
          <p:txBody>
            <a:bodyPr wrap="none" lIns="0" tIns="0" rIns="0" bIns="0" anchor="t" anchorCtr="0">
              <a:spAutoFit/>
            </a:bodyPr>
            <a:lstStyle/>
            <a:p>
              <a:pPr algn="l"/>
              <a:r>
                <a:rPr lang="zh-CN" sz="1950" b="1" dirty="0">
                  <a:solidFill>
                    <a:srgbClr val="F5FBFF"/>
                  </a:solidFill>
                  <a:latin typeface="Arial"/>
                  <a:ea typeface="Microsoft YaHei"/>
                  <a:cs typeface="Arial"/>
                </a:rPr>
                <a:t>Mirror equation</a:t>
              </a:r>
            </a:p>
          </p:txBody>
        </p:sp>
        <p:sp>
          <p:nvSpPr>
            <p:cNvPr id="11" name="TextBox 11"/>
            <p:cNvSpPr txBox="1"/>
            <p:nvPr/>
          </p:nvSpPr>
          <p:spPr>
            <a:xfrm>
              <a:off x="870585" y="2323148"/>
              <a:ext cx="2155793" cy="396240"/>
            </a:xfrm>
            <a:prstGeom prst="rect">
              <a:avLst/>
            </a:prstGeom>
            <a:noFill/>
            <a:ln>
              <a:noFill/>
            </a:ln>
          </p:spPr>
          <p:txBody>
            <a:bodyPr wrap="none" lIns="0" tIns="0" rIns="0" bIns="0" anchor="t" anchorCtr="0">
              <a:spAutoFit/>
            </a:bodyPr>
            <a:lstStyle/>
            <a:p>
              <a:pPr algn="l"/>
              <a:r>
                <a:rPr lang="zh-CN" sz="1950" dirty="0">
                  <a:solidFill>
                    <a:srgbClr val="A9D6E5"/>
                  </a:solidFill>
                  <a:latin typeface="Consolas"/>
                  <a:ea typeface="Microsoft YaHei"/>
                  <a:cs typeface="Consolas"/>
                </a:rPr>
                <a:t>1/f = 1/do + 1/di</a:t>
              </a:r>
            </a:p>
          </p:txBody>
        </p:sp>
        <p:sp>
          <p:nvSpPr>
            <p:cNvPr id="12" name="Line 12"/>
            <p:cNvSpPr/>
            <p:nvPr/>
          </p:nvSpPr>
          <p:spPr>
            <a:xfrm>
              <a:off x="838200" y="2819400"/>
              <a:ext cx="5581650" cy="9525"/>
            </a:xfrm>
            <a:custGeom>
              <a:avLst/>
              <a:gdLst/>
              <a:ahLst/>
              <a:cxnLst/>
              <a:rect l="l" t="t" r="r" b="b"/>
              <a:pathLst>
                <a:path w="5581650" h="9525">
                  <a:moveTo>
                    <a:pt x="0" y="0"/>
                  </a:moveTo>
                  <a:lnTo>
                    <a:pt x="5581650" y="0"/>
                  </a:lnTo>
                </a:path>
              </a:pathLst>
            </a:custGeom>
            <a:noFill/>
            <a:ln w="9525">
              <a:solidFill>
                <a:srgbClr val="31506E"/>
              </a:solidFill>
            </a:ln>
          </p:spPr>
        </p:sp>
        <p:sp>
          <p:nvSpPr>
            <p:cNvPr id="13" name="TextBox 13"/>
            <p:cNvSpPr txBox="1"/>
            <p:nvPr/>
          </p:nvSpPr>
          <p:spPr>
            <a:xfrm>
              <a:off x="876300" y="3133725"/>
              <a:ext cx="1685925" cy="1504950"/>
            </a:xfrm>
            <a:prstGeom prst="rect">
              <a:avLst/>
            </a:prstGeom>
            <a:noFill/>
            <a:ln>
              <a:noFill/>
            </a:ln>
          </p:spPr>
          <p:txBody>
            <a:bodyPr wrap="square" lIns="0" tIns="0" rIns="0" bIns="0" anchor="t" anchorCtr="0"/>
            <a:lstStyle/>
            <a:p>
              <a:pPr algn="l">
                <a:lnSpc>
                  <a:spcPts val="3150"/>
                </a:lnSpc>
              </a:pPr>
              <a:r>
                <a:rPr lang="zh-CN" sz="1500" dirty="0">
                  <a:solidFill>
                    <a:srgbClr val="F5FBFF"/>
                  </a:solidFill>
                  <a:latin typeface="Consolas"/>
                  <a:ea typeface="Microsoft YaHei"/>
                  <a:cs typeface="Consolas"/>
                </a:rPr>
                <a:t xml:space="preserve">1/10 = 1/30 + 1/di </a:t>
              </a:r>
              <a:r>
                <a:rPr lang="zh-CN" sz="1500" dirty="0">
                  <a:solidFill>
                    <a:srgbClr val="F5FBFF"/>
                  </a:solidFill>
                  <a:latin typeface="Consolas"/>
                  <a:ea typeface="Microsoft YaHei"/>
                  <a:cs typeface="Consolas"/>
                </a:rPr>
                <a:t xml:space="preserve">1/di = 1/10 - 1/30 </a:t>
              </a:r>
              <a:r>
                <a:rPr lang="zh-CN" sz="1500" dirty="0">
                  <a:solidFill>
                    <a:srgbClr val="F5FBFF"/>
                  </a:solidFill>
                  <a:latin typeface="Consolas"/>
                  <a:ea typeface="Microsoft YaHei"/>
                  <a:cs typeface="Consolas"/>
                </a:rPr>
                <a:t xml:space="preserve">1/di = 2/30 = 1/15 </a:t>
              </a:r>
              <a:r>
                <a:rPr lang="zh-CN" sz="1500" dirty="0">
                  <a:solidFill>
                    <a:srgbClr val="F5FBFF"/>
                  </a:solidFill>
                  <a:latin typeface="Consolas"/>
                  <a:ea typeface="Microsoft YaHei"/>
                  <a:cs typeface="Consolas"/>
                </a:rPr>
                <a:t>di = 15 cm</a:t>
              </a:r>
            </a:p>
          </p:txBody>
        </p:sp>
        <p:sp>
          <p:nvSpPr>
            <p:cNvPr id="14" name="Rectangle 14"/>
            <p:cNvSpPr/>
            <p:nvPr/>
          </p:nvSpPr>
          <p:spPr>
            <a:xfrm>
              <a:off x="3657600" y="4171950"/>
              <a:ext cx="2438400" cy="1066800"/>
            </a:xfrm>
            <a:prstGeom prst="roundRect">
              <a:avLst>
                <a:gd name="adj" fmla="val 7143"/>
              </a:avLst>
            </a:prstGeom>
            <a:solidFill>
              <a:srgbClr val="152940"/>
            </a:solidFill>
            <a:ln w="19050">
              <a:solidFill>
                <a:srgbClr val="FFD166"/>
              </a:solidFill>
            </a:ln>
          </p:spPr>
        </p:sp>
        <p:sp>
          <p:nvSpPr>
            <p:cNvPr id="15" name="TextBox 15"/>
            <p:cNvSpPr txBox="1"/>
            <p:nvPr/>
          </p:nvSpPr>
          <p:spPr>
            <a:xfrm>
              <a:off x="3905250" y="4410075"/>
              <a:ext cx="1358265" cy="304800"/>
            </a:xfrm>
            <a:prstGeom prst="rect">
              <a:avLst/>
            </a:prstGeom>
            <a:noFill/>
            <a:ln>
              <a:noFill/>
            </a:ln>
          </p:spPr>
          <p:txBody>
            <a:bodyPr wrap="none" lIns="0" tIns="0" rIns="0" bIns="0" anchor="t" anchorCtr="0">
              <a:spAutoFit/>
            </a:bodyPr>
            <a:lstStyle/>
            <a:p>
              <a:pPr algn="l"/>
              <a:r>
                <a:rPr lang="zh-CN" sz="1500" dirty="0">
                  <a:solidFill>
                    <a:srgbClr val="F5FBFF"/>
                  </a:solidFill>
                  <a:latin typeface="Arial"/>
                  <a:ea typeface="Microsoft YaHei"/>
                  <a:cs typeface="Arial"/>
                </a:rPr>
                <a:t>Magnification</a:t>
              </a:r>
            </a:p>
          </p:txBody>
        </p:sp>
        <p:sp>
          <p:nvSpPr>
            <p:cNvPr id="16" name="TextBox 16"/>
            <p:cNvSpPr txBox="1"/>
            <p:nvPr/>
          </p:nvSpPr>
          <p:spPr>
            <a:xfrm>
              <a:off x="3899535" y="4761548"/>
              <a:ext cx="2272808" cy="396240"/>
            </a:xfrm>
            <a:prstGeom prst="rect">
              <a:avLst/>
            </a:prstGeom>
            <a:noFill/>
            <a:ln>
              <a:noFill/>
            </a:ln>
          </p:spPr>
          <p:txBody>
            <a:bodyPr wrap="none" lIns="0" tIns="0" rIns="0" bIns="0" anchor="t" anchorCtr="0">
              <a:spAutoFit/>
            </a:bodyPr>
            <a:lstStyle/>
            <a:p>
              <a:pPr algn="l"/>
              <a:r>
                <a:rPr lang="zh-CN" sz="1950" dirty="0">
                  <a:solidFill>
                    <a:srgbClr val="FFD166"/>
                  </a:solidFill>
                  <a:latin typeface="Consolas"/>
                  <a:ea typeface="Microsoft YaHei"/>
                  <a:cs typeface="Consolas"/>
                </a:rPr>
                <a:t>m = -15/30 = -0.5</a:t>
              </a:r>
            </a:p>
          </p:txBody>
        </p:sp>
        <p:sp>
          <p:nvSpPr>
            <p:cNvPr id="17" name="TextBox 17"/>
            <p:cNvSpPr txBox="1"/>
            <p:nvPr/>
          </p:nvSpPr>
          <p:spPr>
            <a:xfrm>
              <a:off x="876300" y="5419725"/>
              <a:ext cx="6378892" cy="304800"/>
            </a:xfrm>
            <a:prstGeom prst="rect">
              <a:avLst/>
            </a:prstGeom>
            <a:noFill/>
            <a:ln>
              <a:noFill/>
            </a:ln>
          </p:spPr>
          <p:txBody>
            <a:bodyPr wrap="none" lIns="0" tIns="0" rIns="0" bIns="0" anchor="t" anchorCtr="0">
              <a:spAutoFit/>
            </a:bodyPr>
            <a:lstStyle/>
            <a:p>
              <a:pPr algn="l"/>
              <a:r>
                <a:rPr lang="zh-CN" sz="1500" dirty="0">
                  <a:solidFill>
                    <a:srgbClr val="7BD88F"/>
                  </a:solidFill>
                  <a:latin typeface="Arial"/>
                  <a:ea typeface="Microsoft YaHei"/>
                  <a:cs typeface="Arial"/>
                </a:rPr>
                <a:t>Interpretation: the image is inverted and half the object height.</a:t>
              </a:r>
            </a:p>
          </p:txBody>
        </p:sp>
      </p:grpSp>
      <p:grpSp>
        <p:nvGrpSpPr>
          <p:cNvPr id="36" name="Group 36"/>
          <p:cNvGrpSpPr/>
          <p:nvPr/>
        </p:nvGrpSpPr>
        <p:grpSpPr>
          <a:xfrm>
            <a:off x="6324600" y="1466850"/>
            <a:ext cx="5334000" cy="4533900"/>
            <a:chOff x="6324600" y="1466850"/>
            <a:chExt cx="5334000" cy="4533900"/>
          </a:xfrm>
        </p:grpSpPr>
        <p:sp>
          <p:nvSpPr>
            <p:cNvPr id="19" name="Rectangle 19"/>
            <p:cNvSpPr/>
            <p:nvPr/>
          </p:nvSpPr>
          <p:spPr>
            <a:xfrm>
              <a:off x="7086600" y="1466850"/>
              <a:ext cx="4572000" cy="4533900"/>
            </a:xfrm>
            <a:prstGeom prst="roundRect">
              <a:avLst>
                <a:gd name="adj" fmla="val 1681"/>
              </a:avLst>
            </a:prstGeom>
            <a:solidFill>
              <a:srgbClr val="152940"/>
            </a:solidFill>
            <a:ln w="14288">
              <a:solidFill>
                <a:srgbClr val="31506E"/>
              </a:solidFill>
            </a:ln>
          </p:spPr>
        </p:sp>
        <p:sp>
          <p:nvSpPr>
            <p:cNvPr id="20" name="TextBox 20"/>
            <p:cNvSpPr txBox="1"/>
            <p:nvPr/>
          </p:nvSpPr>
          <p:spPr>
            <a:xfrm>
              <a:off x="7366635" y="1732598"/>
              <a:ext cx="1769645" cy="396240"/>
            </a:xfrm>
            <a:prstGeom prst="rect">
              <a:avLst/>
            </a:prstGeom>
            <a:noFill/>
            <a:ln>
              <a:noFill/>
            </a:ln>
          </p:spPr>
          <p:txBody>
            <a:bodyPr wrap="none" lIns="0" tIns="0" rIns="0" bIns="0" anchor="t" anchorCtr="0">
              <a:spAutoFit/>
            </a:bodyPr>
            <a:lstStyle/>
            <a:p>
              <a:pPr algn="l"/>
              <a:r>
                <a:rPr lang="zh-CN" sz="1950" b="1" dirty="0">
                  <a:solidFill>
                    <a:srgbClr val="F5FBFF"/>
                  </a:solidFill>
                  <a:latin typeface="Arial"/>
                  <a:ea typeface="Microsoft YaHei"/>
                  <a:cs typeface="Arial"/>
                </a:rPr>
                <a:t>Distance map</a:t>
              </a:r>
            </a:p>
          </p:txBody>
        </p:sp>
        <p:sp>
          <p:nvSpPr>
            <p:cNvPr id="21" name="Line 21"/>
            <p:cNvSpPr/>
            <p:nvPr/>
          </p:nvSpPr>
          <p:spPr>
            <a:xfrm>
              <a:off x="7734300" y="3676650"/>
              <a:ext cx="3314700" cy="1"/>
            </a:xfrm>
            <a:prstGeom prst="line">
              <a:avLst/>
            </a:prstGeom>
            <a:noFill/>
            <a:ln w="23812">
              <a:solidFill>
                <a:srgbClr val="A9D6E5"/>
              </a:solidFill>
              <a:tailEnd type="triangle" w="lg" len="lg"/>
            </a:ln>
          </p:spPr>
        </p:sp>
        <p:sp>
          <p:nvSpPr>
            <p:cNvPr id="22" name="Freeform 22"/>
            <p:cNvSpPr/>
            <p:nvPr/>
          </p:nvSpPr>
          <p:spPr>
            <a:xfrm>
              <a:off x="10744200" y="2476500"/>
              <a:ext cx="685800" cy="2400300"/>
            </a:xfrm>
            <a:custGeom>
              <a:avLst/>
              <a:gdLst/>
              <a:ahLst/>
              <a:cxnLst/>
              <a:rect l="l" t="t" r="r" b="b"/>
              <a:pathLst>
                <a:path w="685800" h="2400300">
                  <a:moveTo>
                    <a:pt x="0" y="0"/>
                  </a:moveTo>
                  <a:cubicBezTo>
                    <a:pt x="685800" y="476250"/>
                    <a:pt x="685800" y="1924050"/>
                    <a:pt x="0" y="2400300"/>
                  </a:cubicBezTo>
                </a:path>
              </a:pathLst>
            </a:custGeom>
            <a:noFill/>
            <a:ln w="38100">
              <a:solidFill>
                <a:srgbClr val="F5FBFF"/>
              </a:solidFill>
            </a:ln>
          </p:spPr>
        </p:sp>
        <p:sp>
          <p:nvSpPr>
            <p:cNvPr id="23" name="Ellipse 23"/>
            <p:cNvSpPr/>
            <p:nvPr/>
          </p:nvSpPr>
          <p:spPr>
            <a:xfrm>
              <a:off x="10677525" y="3609975"/>
              <a:ext cx="133350" cy="133350"/>
            </a:xfrm>
            <a:prstGeom prst="ellipse">
              <a:avLst/>
            </a:prstGeom>
            <a:solidFill>
              <a:srgbClr val="F5FBFF"/>
            </a:solidFill>
            <a:ln>
              <a:noFill/>
            </a:ln>
          </p:spPr>
        </p:sp>
        <p:sp>
          <p:nvSpPr>
            <p:cNvPr id="24" name="Ellipse 24"/>
            <p:cNvSpPr/>
            <p:nvPr/>
          </p:nvSpPr>
          <p:spPr>
            <a:xfrm>
              <a:off x="9572625" y="3609975"/>
              <a:ext cx="133350" cy="133350"/>
            </a:xfrm>
            <a:prstGeom prst="ellipse">
              <a:avLst/>
            </a:prstGeom>
            <a:solidFill>
              <a:srgbClr val="FFD166"/>
            </a:solidFill>
            <a:ln>
              <a:noFill/>
            </a:ln>
          </p:spPr>
        </p:sp>
        <p:sp>
          <p:nvSpPr>
            <p:cNvPr id="25" name="Ellipse 25"/>
            <p:cNvSpPr/>
            <p:nvPr/>
          </p:nvSpPr>
          <p:spPr>
            <a:xfrm>
              <a:off x="8467725" y="3609975"/>
              <a:ext cx="133350" cy="133350"/>
            </a:xfrm>
            <a:prstGeom prst="ellipse">
              <a:avLst/>
            </a:prstGeom>
            <a:solidFill>
              <a:srgbClr val="EF476F"/>
            </a:solidFill>
            <a:ln>
              <a:noFill/>
            </a:ln>
          </p:spPr>
        </p:sp>
        <p:sp>
          <p:nvSpPr>
            <p:cNvPr id="26" name="Ellipse 26"/>
            <p:cNvSpPr/>
            <p:nvPr/>
          </p:nvSpPr>
          <p:spPr>
            <a:xfrm>
              <a:off x="7362825" y="3609975"/>
              <a:ext cx="133350" cy="133350"/>
            </a:xfrm>
            <a:prstGeom prst="ellipse">
              <a:avLst/>
            </a:prstGeom>
            <a:solidFill>
              <a:srgbClr val="7BD88F"/>
            </a:solidFill>
            <a:ln>
              <a:noFill/>
            </a:ln>
          </p:spPr>
        </p:sp>
        <p:sp>
          <p:nvSpPr>
            <p:cNvPr id="27" name="TextBox 27"/>
            <p:cNvSpPr txBox="1"/>
            <p:nvPr/>
          </p:nvSpPr>
          <p:spPr>
            <a:xfrm>
              <a:off x="10652760" y="3832860"/>
              <a:ext cx="118491"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Consolas"/>
                  <a:ea typeface="Microsoft YaHei"/>
                  <a:cs typeface="Consolas"/>
                </a:rPr>
                <a:t>V</a:t>
              </a:r>
            </a:p>
          </p:txBody>
        </p:sp>
        <p:sp>
          <p:nvSpPr>
            <p:cNvPr id="28" name="TextBox 28"/>
            <p:cNvSpPr txBox="1"/>
            <p:nvPr/>
          </p:nvSpPr>
          <p:spPr>
            <a:xfrm>
              <a:off x="9547860" y="3832860"/>
              <a:ext cx="118491" cy="243840"/>
            </a:xfrm>
            <a:prstGeom prst="rect">
              <a:avLst/>
            </a:prstGeom>
            <a:noFill/>
            <a:ln>
              <a:noFill/>
            </a:ln>
          </p:spPr>
          <p:txBody>
            <a:bodyPr wrap="none" lIns="0" tIns="0" rIns="0" bIns="0" anchor="t" anchorCtr="0">
              <a:spAutoFit/>
            </a:bodyPr>
            <a:lstStyle/>
            <a:p>
              <a:pPr algn="l"/>
              <a:r>
                <a:rPr lang="zh-CN" sz="1200" dirty="0">
                  <a:solidFill>
                    <a:srgbClr val="FFD166"/>
                  </a:solidFill>
                  <a:latin typeface="Consolas"/>
                  <a:ea typeface="Microsoft YaHei"/>
                  <a:cs typeface="Consolas"/>
                </a:rPr>
                <a:t>F</a:t>
              </a:r>
            </a:p>
          </p:txBody>
        </p:sp>
        <p:sp>
          <p:nvSpPr>
            <p:cNvPr id="29" name="TextBox 29"/>
            <p:cNvSpPr txBox="1"/>
            <p:nvPr/>
          </p:nvSpPr>
          <p:spPr>
            <a:xfrm>
              <a:off x="8442960" y="3832860"/>
              <a:ext cx="118491" cy="243840"/>
            </a:xfrm>
            <a:prstGeom prst="rect">
              <a:avLst/>
            </a:prstGeom>
            <a:noFill/>
            <a:ln>
              <a:noFill/>
            </a:ln>
          </p:spPr>
          <p:txBody>
            <a:bodyPr wrap="none" lIns="0" tIns="0" rIns="0" bIns="0" anchor="t" anchorCtr="0">
              <a:spAutoFit/>
            </a:bodyPr>
            <a:lstStyle/>
            <a:p>
              <a:pPr algn="l"/>
              <a:r>
                <a:rPr lang="zh-CN" sz="1200" dirty="0">
                  <a:solidFill>
                    <a:srgbClr val="EF476F"/>
                  </a:solidFill>
                  <a:latin typeface="Consolas"/>
                  <a:ea typeface="Microsoft YaHei"/>
                  <a:cs typeface="Consolas"/>
                </a:rPr>
                <a:t>C</a:t>
              </a:r>
            </a:p>
          </p:txBody>
        </p:sp>
        <p:sp>
          <p:nvSpPr>
            <p:cNvPr id="30" name="TextBox 30"/>
            <p:cNvSpPr txBox="1"/>
            <p:nvPr/>
          </p:nvSpPr>
          <p:spPr>
            <a:xfrm>
              <a:off x="7223760" y="3832860"/>
              <a:ext cx="462534" cy="243840"/>
            </a:xfrm>
            <a:prstGeom prst="rect">
              <a:avLst/>
            </a:prstGeom>
            <a:noFill/>
            <a:ln>
              <a:noFill/>
            </a:ln>
          </p:spPr>
          <p:txBody>
            <a:bodyPr wrap="none" lIns="0" tIns="0" rIns="0" bIns="0" anchor="t" anchorCtr="0">
              <a:spAutoFit/>
            </a:bodyPr>
            <a:lstStyle/>
            <a:p>
              <a:pPr algn="l"/>
              <a:r>
                <a:rPr lang="zh-CN" sz="1200" dirty="0">
                  <a:solidFill>
                    <a:srgbClr val="7BD88F"/>
                  </a:solidFill>
                  <a:latin typeface="Consolas"/>
                  <a:ea typeface="Microsoft YaHei"/>
                  <a:cs typeface="Consolas"/>
                </a:rPr>
                <a:t>image</a:t>
              </a:r>
            </a:p>
          </p:txBody>
        </p:sp>
        <p:sp>
          <p:nvSpPr>
            <p:cNvPr id="31" name="Line 31"/>
            <p:cNvSpPr/>
            <p:nvPr/>
          </p:nvSpPr>
          <p:spPr>
            <a:xfrm>
              <a:off x="7429500" y="3257550"/>
              <a:ext cx="3314700" cy="1"/>
            </a:xfrm>
            <a:prstGeom prst="line">
              <a:avLst/>
            </a:prstGeom>
            <a:noFill/>
            <a:ln w="19050">
              <a:solidFill>
                <a:srgbClr val="7BD88F"/>
              </a:solidFill>
              <a:tailEnd type="triangle" w="lg" len="lg"/>
            </a:ln>
          </p:spPr>
        </p:sp>
        <p:sp>
          <p:nvSpPr>
            <p:cNvPr id="32" name="TextBox 32"/>
            <p:cNvSpPr txBox="1"/>
            <p:nvPr/>
          </p:nvSpPr>
          <p:spPr>
            <a:xfrm>
              <a:off x="8728710" y="2975610"/>
              <a:ext cx="782574" cy="243840"/>
            </a:xfrm>
            <a:prstGeom prst="rect">
              <a:avLst/>
            </a:prstGeom>
            <a:noFill/>
            <a:ln>
              <a:noFill/>
            </a:ln>
          </p:spPr>
          <p:txBody>
            <a:bodyPr wrap="none" lIns="0" tIns="0" rIns="0" bIns="0" anchor="t" anchorCtr="0">
              <a:spAutoFit/>
            </a:bodyPr>
            <a:lstStyle/>
            <a:p>
              <a:pPr algn="l"/>
              <a:r>
                <a:rPr lang="zh-CN" sz="1200" dirty="0">
                  <a:solidFill>
                    <a:srgbClr val="7BD88F"/>
                  </a:solidFill>
                  <a:latin typeface="Consolas"/>
                  <a:ea typeface="Microsoft YaHei"/>
                  <a:cs typeface="Consolas"/>
                </a:rPr>
                <a:t>di = 15 cm</a:t>
              </a:r>
            </a:p>
          </p:txBody>
        </p:sp>
        <p:sp>
          <p:nvSpPr>
            <p:cNvPr id="33" name="Line 33"/>
            <p:cNvSpPr/>
            <p:nvPr/>
          </p:nvSpPr>
          <p:spPr>
            <a:xfrm>
              <a:off x="6324600" y="4572000"/>
              <a:ext cx="4419600" cy="1"/>
            </a:xfrm>
            <a:prstGeom prst="line">
              <a:avLst/>
            </a:prstGeom>
            <a:noFill/>
            <a:ln w="19050">
              <a:solidFill>
                <a:srgbClr val="FFD166"/>
              </a:solidFill>
              <a:tailEnd type="triangle" w="lg" len="lg"/>
            </a:ln>
          </p:spPr>
        </p:sp>
        <p:sp>
          <p:nvSpPr>
            <p:cNvPr id="34" name="TextBox 34"/>
            <p:cNvSpPr txBox="1"/>
            <p:nvPr/>
          </p:nvSpPr>
          <p:spPr>
            <a:xfrm>
              <a:off x="8290560" y="4728210"/>
              <a:ext cx="822579" cy="243840"/>
            </a:xfrm>
            <a:prstGeom prst="rect">
              <a:avLst/>
            </a:prstGeom>
            <a:noFill/>
            <a:ln>
              <a:noFill/>
            </a:ln>
          </p:spPr>
          <p:txBody>
            <a:bodyPr wrap="none" lIns="0" tIns="0" rIns="0" bIns="0" anchor="t" anchorCtr="0">
              <a:spAutoFit/>
            </a:bodyPr>
            <a:lstStyle/>
            <a:p>
              <a:pPr algn="l"/>
              <a:r>
                <a:rPr lang="zh-CN" sz="1200" dirty="0">
                  <a:solidFill>
                    <a:srgbClr val="FFD166"/>
                  </a:solidFill>
                  <a:latin typeface="Consolas"/>
                  <a:ea typeface="Microsoft YaHei"/>
                  <a:cs typeface="Consolas"/>
                </a:rPr>
                <a:t>do = 30 cm</a:t>
              </a:r>
            </a:p>
          </p:txBody>
        </p:sp>
        <p:sp>
          <p:nvSpPr>
            <p:cNvPr id="35" name="TextBox 35"/>
            <p:cNvSpPr txBox="1"/>
            <p:nvPr/>
          </p:nvSpPr>
          <p:spPr>
            <a:xfrm>
              <a:off x="7372350" y="5286375"/>
              <a:ext cx="2781300" cy="590550"/>
            </a:xfrm>
            <a:prstGeom prst="rect">
              <a:avLst/>
            </a:prstGeom>
            <a:noFill/>
            <a:ln>
              <a:noFill/>
            </a:ln>
          </p:spPr>
          <p:txBody>
            <a:bodyPr wrap="square" lIns="0" tIns="0" rIns="0" bIns="0" anchor="t" anchorCtr="0"/>
            <a:lstStyle/>
            <a:p>
              <a:pPr algn="l">
                <a:lnSpc>
                  <a:spcPts val="2250"/>
                </a:lnSpc>
              </a:pPr>
              <a:r>
                <a:rPr lang="zh-CN" sz="1500" dirty="0">
                  <a:solidFill>
                    <a:srgbClr val="F5FBFF"/>
                  </a:solidFill>
                  <a:latin typeface="Arial"/>
                  <a:ea typeface="Microsoft YaHei"/>
                  <a:cs typeface="Arial"/>
                </a:rPr>
                <a:t xml:space="preserve">The equation places the image </a:t>
              </a:r>
              <a:r>
                <a:rPr lang="zh-CN" sz="1500" dirty="0">
                  <a:solidFill>
                    <a:srgbClr val="F5FBFF"/>
                  </a:solidFill>
                  <a:latin typeface="Arial"/>
                  <a:ea typeface="Microsoft YaHei"/>
                  <a:cs typeface="Arial"/>
                </a:rPr>
                <a:t>15 cm in front of the mirror.</a:t>
              </a:r>
            </a:p>
          </p:txBody>
        </p:sp>
      </p:grpSp>
      <p:grpSp>
        <p:nvGrpSpPr>
          <p:cNvPr id="39" name="Group 39"/>
          <p:cNvGrpSpPr/>
          <p:nvPr/>
        </p:nvGrpSpPr>
        <p:grpSpPr>
          <a:xfrm>
            <a:off x="521970" y="6284595"/>
            <a:ext cx="11111960" cy="182880"/>
            <a:chOff x="521970" y="6284595"/>
            <a:chExt cx="11111960" cy="182880"/>
          </a:xfrm>
        </p:grpSpPr>
        <p:sp>
          <p:nvSpPr>
            <p:cNvPr id="37" name="TextBox 37"/>
            <p:cNvSpPr txBox="1"/>
            <p:nvPr/>
          </p:nvSpPr>
          <p:spPr>
            <a:xfrm>
              <a:off x="521970" y="6284595"/>
              <a:ext cx="3617309" cy="182880"/>
            </a:xfrm>
            <a:prstGeom prst="rect">
              <a:avLst/>
            </a:prstGeom>
            <a:noFill/>
            <a:ln>
              <a:noFill/>
            </a:ln>
          </p:spPr>
          <p:txBody>
            <a:bodyPr wrap="none" lIns="0" tIns="0" rIns="0" bIns="0" anchor="t" anchorCtr="0">
              <a:spAutoFit/>
            </a:bodyPr>
            <a:lstStyle/>
            <a:p>
              <a:pPr algn="l"/>
              <a:r>
                <a:rPr lang="zh-CN" sz="900" dirty="0">
                  <a:solidFill>
                    <a:srgbClr val="92A9B8"/>
                  </a:solidFill>
                  <a:latin typeface="Arial"/>
                  <a:ea typeface="Microsoft YaHei"/>
                  <a:cs typeface="Arial"/>
                </a:rPr>
                <a:t>Source truth: di = 15 cm, m = -0.5, inverted and half height.</a:t>
              </a:r>
            </a:p>
          </p:txBody>
        </p:sp>
        <p:sp>
          <p:nvSpPr>
            <p:cNvPr id="38" name="TextBox 38"/>
            <p:cNvSpPr txBox="1"/>
            <p:nvPr/>
          </p:nvSpPr>
          <p:spPr>
            <a:xfrm>
              <a:off x="11209020" y="6284595"/>
              <a:ext cx="424910" cy="182880"/>
            </a:xfrm>
            <a:prstGeom prst="rect">
              <a:avLst/>
            </a:prstGeom>
            <a:noFill/>
            <a:ln>
              <a:noFill/>
            </a:ln>
          </p:spPr>
          <p:txBody>
            <a:bodyPr wrap="none" lIns="0" tIns="0" rIns="0" bIns="0" anchor="t" anchorCtr="0">
              <a:spAutoFit/>
            </a:bodyPr>
            <a:lstStyle/>
            <a:p>
              <a:pPr algn="l"/>
              <a:r>
                <a:rPr lang="zh-CN" sz="900" dirty="0">
                  <a:solidFill>
                    <a:srgbClr val="92A9B8"/>
                  </a:solidFill>
                  <a:latin typeface="Consolas"/>
                  <a:ea typeface="Microsoft YaHei"/>
                  <a:cs typeface="Consolas"/>
                </a:rPr>
                <a:t>05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left)">
                                      <p:cBhvr>
                                        <p:cTn id="11"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220"/>
            </a:solidFill>
            <a:ln>
              <a:noFill/>
            </a:ln>
          </p:spPr>
        </p:sp>
        <p:sp>
          <p:nvSpPr>
            <p:cNvPr id="3" name="Freeform 3"/>
            <p:cNvSpPr/>
            <p:nvPr/>
          </p:nvSpPr>
          <p:spPr>
            <a:xfrm>
              <a:off x="0" y="0"/>
              <a:ext cx="12192000" cy="6858000"/>
            </a:xfrm>
            <a:custGeom>
              <a:avLst/>
              <a:gdLst/>
              <a:ahLst/>
              <a:cxnLst/>
              <a:rect l="l" t="t" r="r" b="b"/>
              <a:pathLst>
                <a:path w="12192000" h="6858000">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moveTo>
                    <a:pt x="11430000" y="0"/>
                  </a:moveTo>
                  <a:lnTo>
                    <a:pt x="11430000" y="685800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path>
              </a:pathLst>
            </a:custGeom>
            <a:noFill/>
            <a:ln w="9525">
              <a:solidFill>
                <a:srgbClr val="1B2E4A"/>
              </a:solidFill>
            </a:ln>
          </p:spPr>
        </p:sp>
      </p:grpSp>
      <p:grpSp>
        <p:nvGrpSpPr>
          <p:cNvPr id="8" name="Group 8"/>
          <p:cNvGrpSpPr/>
          <p:nvPr/>
        </p:nvGrpSpPr>
        <p:grpSpPr>
          <a:xfrm>
            <a:off x="499110" y="394335"/>
            <a:ext cx="11159490" cy="796290"/>
            <a:chOff x="499110" y="394335"/>
            <a:chExt cx="11159490" cy="796290"/>
          </a:xfrm>
        </p:grpSpPr>
        <p:sp>
          <p:nvSpPr>
            <p:cNvPr id="5" name="TextBox 5"/>
            <p:cNvSpPr txBox="1"/>
            <p:nvPr/>
          </p:nvSpPr>
          <p:spPr>
            <a:xfrm>
              <a:off x="499110" y="394335"/>
              <a:ext cx="6325262" cy="548640"/>
            </a:xfrm>
            <a:prstGeom prst="rect">
              <a:avLst/>
            </a:prstGeom>
            <a:noFill/>
            <a:ln>
              <a:noFill/>
            </a:ln>
          </p:spPr>
          <p:txBody>
            <a:bodyPr wrap="none" lIns="0" tIns="0" rIns="0" bIns="0" anchor="t" anchorCtr="0">
              <a:spAutoFit/>
            </a:bodyPr>
            <a:lstStyle/>
            <a:p>
              <a:pPr algn="l"/>
              <a:r>
                <a:rPr lang="zh-CN" sz="2700" b="1" dirty="0">
                  <a:solidFill>
                    <a:srgbClr val="F5FBFF"/>
                  </a:solidFill>
                  <a:latin typeface="Arial"/>
                  <a:ea typeface="Microsoft YaHei"/>
                  <a:cs typeface="Arial"/>
                </a:rPr>
                <a:t>Object position changes the image</a:t>
              </a:r>
            </a:p>
          </p:txBody>
        </p:sp>
        <p:sp>
          <p:nvSpPr>
            <p:cNvPr id="6" name="TextBox 6"/>
            <p:cNvSpPr txBox="1"/>
            <p:nvPr/>
          </p:nvSpPr>
          <p:spPr>
            <a:xfrm>
              <a:off x="537210" y="899160"/>
              <a:ext cx="6047232" cy="243840"/>
            </a:xfrm>
            <a:prstGeom prst="rect">
              <a:avLst/>
            </a:prstGeom>
            <a:noFill/>
            <a:ln>
              <a:noFill/>
            </a:ln>
          </p:spPr>
          <p:txBody>
            <a:bodyPr wrap="none" lIns="0" tIns="0" rIns="0" bIns="0" anchor="t" anchorCtr="0">
              <a:spAutoFit/>
            </a:bodyPr>
            <a:lstStyle/>
            <a:p>
              <a:pPr algn="l"/>
              <a:r>
                <a:rPr lang="zh-CN" sz="1200" dirty="0">
                  <a:solidFill>
                    <a:srgbClr val="92A9B8"/>
                  </a:solidFill>
                  <a:latin typeface="Arial"/>
                  <a:ea typeface="Microsoft YaHei"/>
                  <a:cs typeface="Arial"/>
                </a:rPr>
                <a:t>Concave mirror outcomes depend on object distance, not a fixed image point.</a:t>
              </a:r>
            </a:p>
          </p:txBody>
        </p:sp>
        <p:sp>
          <p:nvSpPr>
            <p:cNvPr id="7" name="Line 7"/>
            <p:cNvSpPr/>
            <p:nvPr/>
          </p:nvSpPr>
          <p:spPr>
            <a:xfrm>
              <a:off x="533400" y="1181100"/>
              <a:ext cx="11125200" cy="9525"/>
            </a:xfrm>
            <a:custGeom>
              <a:avLst/>
              <a:gdLst/>
              <a:ahLst/>
              <a:cxnLst/>
              <a:rect l="l" t="t" r="r" b="b"/>
              <a:pathLst>
                <a:path w="11125200" h="9525">
                  <a:moveTo>
                    <a:pt x="0" y="0"/>
                  </a:moveTo>
                  <a:lnTo>
                    <a:pt x="11125200" y="0"/>
                  </a:lnTo>
                </a:path>
              </a:pathLst>
            </a:custGeom>
            <a:noFill/>
            <a:ln w="14288">
              <a:solidFill>
                <a:srgbClr val="31506E"/>
              </a:solidFill>
            </a:ln>
          </p:spPr>
        </p:sp>
      </p:grpSp>
      <p:grpSp>
        <p:nvGrpSpPr>
          <p:cNvPr id="65" name="Group 65"/>
          <p:cNvGrpSpPr/>
          <p:nvPr/>
        </p:nvGrpSpPr>
        <p:grpSpPr>
          <a:xfrm>
            <a:off x="533400" y="1485900"/>
            <a:ext cx="11125200" cy="4362450"/>
            <a:chOff x="533400" y="1485900"/>
            <a:chExt cx="11125200" cy="4362450"/>
          </a:xfrm>
        </p:grpSpPr>
        <p:sp>
          <p:nvSpPr>
            <p:cNvPr id="9" name="Rectangle 9"/>
            <p:cNvSpPr/>
            <p:nvPr/>
          </p:nvSpPr>
          <p:spPr>
            <a:xfrm>
              <a:off x="533400" y="1485900"/>
              <a:ext cx="11125200" cy="4362450"/>
            </a:xfrm>
            <a:prstGeom prst="roundRect">
              <a:avLst>
                <a:gd name="adj" fmla="val 1747"/>
              </a:avLst>
            </a:prstGeom>
            <a:solidFill>
              <a:srgbClr val="102036"/>
            </a:solidFill>
            <a:ln w="14288">
              <a:solidFill>
                <a:srgbClr val="31506E"/>
              </a:solidFill>
            </a:ln>
          </p:spPr>
        </p:sp>
        <p:sp>
          <p:nvSpPr>
            <p:cNvPr id="10" name="Rectangle 10"/>
            <p:cNvSpPr/>
            <p:nvPr/>
          </p:nvSpPr>
          <p:spPr>
            <a:xfrm>
              <a:off x="533400" y="1485900"/>
              <a:ext cx="11125200" cy="533400"/>
            </a:xfrm>
            <a:prstGeom prst="roundRect">
              <a:avLst>
                <a:gd name="adj" fmla="val 14286"/>
              </a:avLst>
            </a:prstGeom>
            <a:solidFill>
              <a:srgbClr val="152940"/>
            </a:solidFill>
            <a:ln>
              <a:noFill/>
            </a:ln>
          </p:spPr>
        </p:sp>
        <p:sp>
          <p:nvSpPr>
            <p:cNvPr id="11" name="Line 11"/>
            <p:cNvSpPr/>
            <p:nvPr/>
          </p:nvSpPr>
          <p:spPr>
            <a:xfrm>
              <a:off x="533400" y="2019300"/>
              <a:ext cx="11125200" cy="9525"/>
            </a:xfrm>
            <a:custGeom>
              <a:avLst/>
              <a:gdLst/>
              <a:ahLst/>
              <a:cxnLst/>
              <a:rect l="l" t="t" r="r" b="b"/>
              <a:pathLst>
                <a:path w="11125200" h="9525">
                  <a:moveTo>
                    <a:pt x="0" y="0"/>
                  </a:moveTo>
                  <a:lnTo>
                    <a:pt x="11125200" y="0"/>
                  </a:lnTo>
                </a:path>
              </a:pathLst>
            </a:custGeom>
            <a:noFill/>
            <a:ln w="14288">
              <a:solidFill>
                <a:srgbClr val="31506E"/>
              </a:solidFill>
            </a:ln>
          </p:spPr>
        </p:sp>
        <p:sp>
          <p:nvSpPr>
            <p:cNvPr id="12" name="Line 12"/>
            <p:cNvSpPr/>
            <p:nvPr/>
          </p:nvSpPr>
          <p:spPr>
            <a:xfrm>
              <a:off x="2724150" y="1485900"/>
              <a:ext cx="9525" cy="4362450"/>
            </a:xfrm>
            <a:custGeom>
              <a:avLst/>
              <a:gdLst/>
              <a:ahLst/>
              <a:cxnLst/>
              <a:rect l="l" t="t" r="r" b="b"/>
              <a:pathLst>
                <a:path w="9525" h="4362450">
                  <a:moveTo>
                    <a:pt x="0" y="0"/>
                  </a:moveTo>
                  <a:lnTo>
                    <a:pt x="0" y="4362450"/>
                  </a:lnTo>
                </a:path>
              </a:pathLst>
            </a:custGeom>
            <a:noFill/>
            <a:ln w="9525">
              <a:solidFill>
                <a:srgbClr val="31506E"/>
              </a:solidFill>
            </a:ln>
          </p:spPr>
        </p:sp>
        <p:sp>
          <p:nvSpPr>
            <p:cNvPr id="13" name="Line 13"/>
            <p:cNvSpPr/>
            <p:nvPr/>
          </p:nvSpPr>
          <p:spPr>
            <a:xfrm>
              <a:off x="5219700" y="1485900"/>
              <a:ext cx="9525" cy="4362450"/>
            </a:xfrm>
            <a:custGeom>
              <a:avLst/>
              <a:gdLst/>
              <a:ahLst/>
              <a:cxnLst/>
              <a:rect l="l" t="t" r="r" b="b"/>
              <a:pathLst>
                <a:path w="9525" h="4362450">
                  <a:moveTo>
                    <a:pt x="0" y="0"/>
                  </a:moveTo>
                  <a:lnTo>
                    <a:pt x="0" y="4362450"/>
                  </a:lnTo>
                </a:path>
              </a:pathLst>
            </a:custGeom>
            <a:noFill/>
            <a:ln w="9525">
              <a:solidFill>
                <a:srgbClr val="31506E"/>
              </a:solidFill>
            </a:ln>
          </p:spPr>
        </p:sp>
        <p:sp>
          <p:nvSpPr>
            <p:cNvPr id="14" name="Line 14"/>
            <p:cNvSpPr/>
            <p:nvPr/>
          </p:nvSpPr>
          <p:spPr>
            <a:xfrm>
              <a:off x="7143750" y="1485900"/>
              <a:ext cx="9525" cy="4362450"/>
            </a:xfrm>
            <a:custGeom>
              <a:avLst/>
              <a:gdLst/>
              <a:ahLst/>
              <a:cxnLst/>
              <a:rect l="l" t="t" r="r" b="b"/>
              <a:pathLst>
                <a:path w="9525" h="4362450">
                  <a:moveTo>
                    <a:pt x="0" y="0"/>
                  </a:moveTo>
                  <a:lnTo>
                    <a:pt x="0" y="4362450"/>
                  </a:lnTo>
                </a:path>
              </a:pathLst>
            </a:custGeom>
            <a:noFill/>
            <a:ln w="9525">
              <a:solidFill>
                <a:srgbClr val="31506E"/>
              </a:solidFill>
            </a:ln>
          </p:spPr>
        </p:sp>
        <p:sp>
          <p:nvSpPr>
            <p:cNvPr id="15" name="Line 15"/>
            <p:cNvSpPr/>
            <p:nvPr/>
          </p:nvSpPr>
          <p:spPr>
            <a:xfrm>
              <a:off x="8782050" y="1485900"/>
              <a:ext cx="9525" cy="4362450"/>
            </a:xfrm>
            <a:custGeom>
              <a:avLst/>
              <a:gdLst/>
              <a:ahLst/>
              <a:cxnLst/>
              <a:rect l="l" t="t" r="r" b="b"/>
              <a:pathLst>
                <a:path w="9525" h="4362450">
                  <a:moveTo>
                    <a:pt x="0" y="0"/>
                  </a:moveTo>
                  <a:lnTo>
                    <a:pt x="0" y="4362450"/>
                  </a:lnTo>
                </a:path>
              </a:pathLst>
            </a:custGeom>
            <a:noFill/>
            <a:ln w="9525">
              <a:solidFill>
                <a:srgbClr val="31506E"/>
              </a:solidFill>
            </a:ln>
          </p:spPr>
        </p:sp>
        <p:sp>
          <p:nvSpPr>
            <p:cNvPr id="16" name="Line 16"/>
            <p:cNvSpPr/>
            <p:nvPr/>
          </p:nvSpPr>
          <p:spPr>
            <a:xfrm>
              <a:off x="10306050" y="1485900"/>
              <a:ext cx="9525" cy="4362450"/>
            </a:xfrm>
            <a:custGeom>
              <a:avLst/>
              <a:gdLst/>
              <a:ahLst/>
              <a:cxnLst/>
              <a:rect l="l" t="t" r="r" b="b"/>
              <a:pathLst>
                <a:path w="9525" h="4362450">
                  <a:moveTo>
                    <a:pt x="0" y="0"/>
                  </a:moveTo>
                  <a:lnTo>
                    <a:pt x="0" y="4362450"/>
                  </a:lnTo>
                </a:path>
              </a:pathLst>
            </a:custGeom>
            <a:noFill/>
            <a:ln w="9525">
              <a:solidFill>
                <a:srgbClr val="31506E"/>
              </a:solidFill>
            </a:ln>
          </p:spPr>
        </p:sp>
        <p:sp>
          <p:nvSpPr>
            <p:cNvPr id="17" name="TextBox 17"/>
            <p:cNvSpPr txBox="1"/>
            <p:nvPr/>
          </p:nvSpPr>
          <p:spPr>
            <a:xfrm>
              <a:off x="765810" y="1689735"/>
              <a:ext cx="1282236" cy="243840"/>
            </a:xfrm>
            <a:prstGeom prst="rect">
              <a:avLst/>
            </a:prstGeom>
            <a:noFill/>
            <a:ln>
              <a:noFill/>
            </a:ln>
          </p:spPr>
          <p:txBody>
            <a:bodyPr wrap="none" lIns="0" tIns="0" rIns="0" bIns="0" anchor="t" anchorCtr="0">
              <a:spAutoFit/>
            </a:bodyPr>
            <a:lstStyle/>
            <a:p>
              <a:pPr algn="l"/>
              <a:r>
                <a:rPr lang="zh-CN" sz="1200" b="1" dirty="0">
                  <a:solidFill>
                    <a:srgbClr val="A9D6E5"/>
                  </a:solidFill>
                  <a:latin typeface="Arial"/>
                  <a:ea typeface="Microsoft YaHei"/>
                  <a:cs typeface="Arial"/>
                </a:rPr>
                <a:t>Object position</a:t>
              </a:r>
            </a:p>
          </p:txBody>
        </p:sp>
        <p:sp>
          <p:nvSpPr>
            <p:cNvPr id="18" name="TextBox 18"/>
            <p:cNvSpPr txBox="1"/>
            <p:nvPr/>
          </p:nvSpPr>
          <p:spPr>
            <a:xfrm>
              <a:off x="2956560" y="1689735"/>
              <a:ext cx="1189825" cy="243840"/>
            </a:xfrm>
            <a:prstGeom prst="rect">
              <a:avLst/>
            </a:prstGeom>
            <a:noFill/>
            <a:ln>
              <a:noFill/>
            </a:ln>
          </p:spPr>
          <p:txBody>
            <a:bodyPr wrap="none" lIns="0" tIns="0" rIns="0" bIns="0" anchor="t" anchorCtr="0">
              <a:spAutoFit/>
            </a:bodyPr>
            <a:lstStyle/>
            <a:p>
              <a:pPr algn="l"/>
              <a:r>
                <a:rPr lang="zh-CN" sz="1200" b="1" dirty="0">
                  <a:solidFill>
                    <a:srgbClr val="A9D6E5"/>
                  </a:solidFill>
                  <a:latin typeface="Arial"/>
                  <a:ea typeface="Microsoft YaHei"/>
                  <a:cs typeface="Arial"/>
                </a:rPr>
                <a:t>Image position</a:t>
              </a:r>
            </a:p>
          </p:txBody>
        </p:sp>
        <p:sp>
          <p:nvSpPr>
            <p:cNvPr id="19" name="TextBox 19"/>
            <p:cNvSpPr txBox="1"/>
            <p:nvPr/>
          </p:nvSpPr>
          <p:spPr>
            <a:xfrm>
              <a:off x="5452110" y="1689735"/>
              <a:ext cx="996601" cy="243840"/>
            </a:xfrm>
            <a:prstGeom prst="rect">
              <a:avLst/>
            </a:prstGeom>
            <a:noFill/>
            <a:ln>
              <a:noFill/>
            </a:ln>
          </p:spPr>
          <p:txBody>
            <a:bodyPr wrap="none" lIns="0" tIns="0" rIns="0" bIns="0" anchor="t" anchorCtr="0">
              <a:spAutoFit/>
            </a:bodyPr>
            <a:lstStyle/>
            <a:p>
              <a:pPr algn="l"/>
              <a:r>
                <a:rPr lang="zh-CN" sz="1200" b="1" dirty="0">
                  <a:solidFill>
                    <a:srgbClr val="A9D6E5"/>
                  </a:solidFill>
                  <a:latin typeface="Arial"/>
                  <a:ea typeface="Microsoft YaHei"/>
                  <a:cs typeface="Arial"/>
                </a:rPr>
                <a:t>Orientation</a:t>
              </a:r>
            </a:p>
          </p:txBody>
        </p:sp>
        <p:sp>
          <p:nvSpPr>
            <p:cNvPr id="20" name="TextBox 20"/>
            <p:cNvSpPr txBox="1"/>
            <p:nvPr/>
          </p:nvSpPr>
          <p:spPr>
            <a:xfrm>
              <a:off x="7376160" y="1689735"/>
              <a:ext cx="358121" cy="243840"/>
            </a:xfrm>
            <a:prstGeom prst="rect">
              <a:avLst/>
            </a:prstGeom>
            <a:noFill/>
            <a:ln>
              <a:noFill/>
            </a:ln>
          </p:spPr>
          <p:txBody>
            <a:bodyPr wrap="none" lIns="0" tIns="0" rIns="0" bIns="0" anchor="t" anchorCtr="0">
              <a:spAutoFit/>
            </a:bodyPr>
            <a:lstStyle/>
            <a:p>
              <a:pPr algn="l"/>
              <a:r>
                <a:rPr lang="zh-CN" sz="1200" b="1" dirty="0">
                  <a:solidFill>
                    <a:srgbClr val="A9D6E5"/>
                  </a:solidFill>
                  <a:latin typeface="Arial"/>
                  <a:ea typeface="Microsoft YaHei"/>
                  <a:cs typeface="Arial"/>
                </a:rPr>
                <a:t>Size</a:t>
              </a:r>
            </a:p>
          </p:txBody>
        </p:sp>
        <p:sp>
          <p:nvSpPr>
            <p:cNvPr id="21" name="TextBox 21"/>
            <p:cNvSpPr txBox="1"/>
            <p:nvPr/>
          </p:nvSpPr>
          <p:spPr>
            <a:xfrm>
              <a:off x="9014460" y="1689735"/>
              <a:ext cx="904189" cy="243840"/>
            </a:xfrm>
            <a:prstGeom prst="rect">
              <a:avLst/>
            </a:prstGeom>
            <a:noFill/>
            <a:ln>
              <a:noFill/>
            </a:ln>
          </p:spPr>
          <p:txBody>
            <a:bodyPr wrap="none" lIns="0" tIns="0" rIns="0" bIns="0" anchor="t" anchorCtr="0">
              <a:spAutoFit/>
            </a:bodyPr>
            <a:lstStyle/>
            <a:p>
              <a:pPr algn="l"/>
              <a:r>
                <a:rPr lang="zh-CN" sz="1200" b="1" dirty="0">
                  <a:solidFill>
                    <a:srgbClr val="A9D6E5"/>
                  </a:solidFill>
                  <a:latin typeface="Arial"/>
                  <a:ea typeface="Microsoft YaHei"/>
                  <a:cs typeface="Arial"/>
                </a:rPr>
                <a:t>Image type</a:t>
              </a:r>
            </a:p>
          </p:txBody>
        </p:sp>
        <p:sp>
          <p:nvSpPr>
            <p:cNvPr id="22" name="TextBox 22"/>
            <p:cNvSpPr txBox="1"/>
            <p:nvPr/>
          </p:nvSpPr>
          <p:spPr>
            <a:xfrm>
              <a:off x="10500360" y="1689735"/>
              <a:ext cx="307715" cy="243840"/>
            </a:xfrm>
            <a:prstGeom prst="rect">
              <a:avLst/>
            </a:prstGeom>
            <a:noFill/>
            <a:ln>
              <a:noFill/>
            </a:ln>
          </p:spPr>
          <p:txBody>
            <a:bodyPr wrap="none" lIns="0" tIns="0" rIns="0" bIns="0" anchor="t" anchorCtr="0">
              <a:spAutoFit/>
            </a:bodyPr>
            <a:lstStyle/>
            <a:p>
              <a:pPr algn="l"/>
              <a:r>
                <a:rPr lang="zh-CN" sz="1200" b="1" dirty="0">
                  <a:solidFill>
                    <a:srgbClr val="A9D6E5"/>
                  </a:solidFill>
                  <a:latin typeface="Arial"/>
                  <a:ea typeface="Microsoft YaHei"/>
                  <a:cs typeface="Arial"/>
                </a:rPr>
                <a:t>Cue</a:t>
              </a:r>
            </a:p>
          </p:txBody>
        </p:sp>
        <p:sp>
          <p:nvSpPr>
            <p:cNvPr id="23" name="Rectangle 23"/>
            <p:cNvSpPr/>
            <p:nvPr/>
          </p:nvSpPr>
          <p:spPr>
            <a:xfrm>
              <a:off x="533400" y="2019300"/>
              <a:ext cx="11125200" cy="762000"/>
            </a:xfrm>
            <a:prstGeom prst="rect">
              <a:avLst/>
            </a:prstGeom>
            <a:solidFill>
              <a:srgbClr val="0B1220">
                <a:alpha val="22000"/>
              </a:srgbClr>
            </a:solidFill>
            <a:ln>
              <a:noFill/>
            </a:ln>
          </p:spPr>
        </p:sp>
        <p:sp>
          <p:nvSpPr>
            <p:cNvPr id="24" name="Line 24"/>
            <p:cNvSpPr/>
            <p:nvPr/>
          </p:nvSpPr>
          <p:spPr>
            <a:xfrm>
              <a:off x="533400" y="2781300"/>
              <a:ext cx="11125200" cy="9525"/>
            </a:xfrm>
            <a:custGeom>
              <a:avLst/>
              <a:gdLst/>
              <a:ahLst/>
              <a:cxnLst/>
              <a:rect l="l" t="t" r="r" b="b"/>
              <a:pathLst>
                <a:path w="11125200" h="9525">
                  <a:moveTo>
                    <a:pt x="0" y="0"/>
                  </a:moveTo>
                  <a:lnTo>
                    <a:pt x="11125200" y="0"/>
                  </a:lnTo>
                </a:path>
              </a:pathLst>
            </a:custGeom>
            <a:noFill/>
            <a:ln w="9525">
              <a:solidFill>
                <a:srgbClr val="31506E"/>
              </a:solidFill>
            </a:ln>
          </p:spPr>
        </p:sp>
        <p:sp>
          <p:nvSpPr>
            <p:cNvPr id="25" name="TextBox 25"/>
            <p:cNvSpPr txBox="1"/>
            <p:nvPr/>
          </p:nvSpPr>
          <p:spPr>
            <a:xfrm>
              <a:off x="765810" y="2346960"/>
              <a:ext cx="694563"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Arial"/>
                  <a:ea typeface="Microsoft YaHei"/>
                  <a:cs typeface="Arial"/>
                </a:rPr>
                <a:t>Beyond C</a:t>
              </a:r>
            </a:p>
          </p:txBody>
        </p:sp>
        <p:sp>
          <p:nvSpPr>
            <p:cNvPr id="26" name="TextBox 26"/>
            <p:cNvSpPr txBox="1"/>
            <p:nvPr/>
          </p:nvSpPr>
          <p:spPr>
            <a:xfrm>
              <a:off x="2956560" y="2346960"/>
              <a:ext cx="1262634"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Arial"/>
                  <a:ea typeface="Microsoft YaHei"/>
                  <a:cs typeface="Arial"/>
                </a:rPr>
                <a:t>Between F and C</a:t>
              </a:r>
            </a:p>
          </p:txBody>
        </p:sp>
        <p:sp>
          <p:nvSpPr>
            <p:cNvPr id="27" name="TextBox 27"/>
            <p:cNvSpPr txBox="1"/>
            <p:nvPr/>
          </p:nvSpPr>
          <p:spPr>
            <a:xfrm>
              <a:off x="5452110" y="2346960"/>
              <a:ext cx="694563" cy="243840"/>
            </a:xfrm>
            <a:prstGeom prst="rect">
              <a:avLst/>
            </a:prstGeom>
            <a:noFill/>
            <a:ln>
              <a:noFill/>
            </a:ln>
          </p:spPr>
          <p:txBody>
            <a:bodyPr wrap="none" lIns="0" tIns="0" rIns="0" bIns="0" anchor="t" anchorCtr="0">
              <a:spAutoFit/>
            </a:bodyPr>
            <a:lstStyle/>
            <a:p>
              <a:pPr algn="l"/>
              <a:r>
                <a:rPr lang="zh-CN" sz="1200" dirty="0">
                  <a:solidFill>
                    <a:srgbClr val="EF476F"/>
                  </a:solidFill>
                  <a:latin typeface="Arial"/>
                  <a:ea typeface="Microsoft YaHei"/>
                  <a:cs typeface="Arial"/>
                </a:rPr>
                <a:t>Inverted</a:t>
              </a:r>
            </a:p>
          </p:txBody>
        </p:sp>
        <p:sp>
          <p:nvSpPr>
            <p:cNvPr id="28" name="TextBox 28"/>
            <p:cNvSpPr txBox="1"/>
            <p:nvPr/>
          </p:nvSpPr>
          <p:spPr>
            <a:xfrm>
              <a:off x="7376160" y="2346960"/>
              <a:ext cx="646557"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Arial"/>
                  <a:ea typeface="Microsoft YaHei"/>
                  <a:cs typeface="Arial"/>
                </a:rPr>
                <a:t>Reduced</a:t>
              </a:r>
            </a:p>
          </p:txBody>
        </p:sp>
        <p:sp>
          <p:nvSpPr>
            <p:cNvPr id="29" name="TextBox 29"/>
            <p:cNvSpPr txBox="1"/>
            <p:nvPr/>
          </p:nvSpPr>
          <p:spPr>
            <a:xfrm>
              <a:off x="9014460" y="2346960"/>
              <a:ext cx="342519" cy="243840"/>
            </a:xfrm>
            <a:prstGeom prst="rect">
              <a:avLst/>
            </a:prstGeom>
            <a:noFill/>
            <a:ln>
              <a:noFill/>
            </a:ln>
          </p:spPr>
          <p:txBody>
            <a:bodyPr wrap="none" lIns="0" tIns="0" rIns="0" bIns="0" anchor="t" anchorCtr="0">
              <a:spAutoFit/>
            </a:bodyPr>
            <a:lstStyle/>
            <a:p>
              <a:pPr algn="l"/>
              <a:r>
                <a:rPr lang="zh-CN" sz="1200" dirty="0">
                  <a:solidFill>
                    <a:srgbClr val="7BD88F"/>
                  </a:solidFill>
                  <a:latin typeface="Arial"/>
                  <a:ea typeface="Microsoft YaHei"/>
                  <a:cs typeface="Arial"/>
                </a:rPr>
                <a:t>Real</a:t>
              </a:r>
            </a:p>
          </p:txBody>
        </p:sp>
        <p:sp>
          <p:nvSpPr>
            <p:cNvPr id="30" name="Line 30"/>
            <p:cNvSpPr/>
            <p:nvPr/>
          </p:nvSpPr>
          <p:spPr>
            <a:xfrm>
              <a:off x="10763250" y="2286000"/>
              <a:ext cx="9525" cy="285750"/>
            </a:xfrm>
            <a:custGeom>
              <a:avLst/>
              <a:gdLst/>
              <a:ahLst/>
              <a:cxnLst/>
              <a:rect l="l" t="t" r="r" b="b"/>
              <a:pathLst>
                <a:path w="9525" h="285750">
                  <a:moveTo>
                    <a:pt x="0" y="0"/>
                  </a:moveTo>
                  <a:lnTo>
                    <a:pt x="0" y="285750"/>
                  </a:lnTo>
                </a:path>
              </a:pathLst>
            </a:custGeom>
            <a:noFill/>
            <a:ln w="38100">
              <a:solidFill>
                <a:srgbClr val="EF476F"/>
              </a:solidFill>
            </a:ln>
          </p:spPr>
        </p:sp>
        <p:sp>
          <p:nvSpPr>
            <p:cNvPr id="31" name="Line 31"/>
            <p:cNvSpPr/>
            <p:nvPr/>
          </p:nvSpPr>
          <p:spPr>
            <a:xfrm>
              <a:off x="10953750" y="2400300"/>
              <a:ext cx="9525" cy="171450"/>
            </a:xfrm>
            <a:custGeom>
              <a:avLst/>
              <a:gdLst/>
              <a:ahLst/>
              <a:cxnLst/>
              <a:rect l="l" t="t" r="r" b="b"/>
              <a:pathLst>
                <a:path w="9525" h="171450">
                  <a:moveTo>
                    <a:pt x="0" y="171450"/>
                  </a:moveTo>
                  <a:lnTo>
                    <a:pt x="0" y="0"/>
                  </a:lnTo>
                </a:path>
              </a:pathLst>
            </a:custGeom>
            <a:noFill/>
            <a:ln w="38100">
              <a:solidFill>
                <a:srgbClr val="7BD88F"/>
              </a:solidFill>
            </a:ln>
          </p:spPr>
        </p:sp>
        <p:sp>
          <p:nvSpPr>
            <p:cNvPr id="32" name="Line 32"/>
            <p:cNvSpPr/>
            <p:nvPr/>
          </p:nvSpPr>
          <p:spPr>
            <a:xfrm>
              <a:off x="533400" y="3543300"/>
              <a:ext cx="11125200" cy="9525"/>
            </a:xfrm>
            <a:custGeom>
              <a:avLst/>
              <a:gdLst/>
              <a:ahLst/>
              <a:cxnLst/>
              <a:rect l="l" t="t" r="r" b="b"/>
              <a:pathLst>
                <a:path w="11125200" h="9525">
                  <a:moveTo>
                    <a:pt x="0" y="0"/>
                  </a:moveTo>
                  <a:lnTo>
                    <a:pt x="11125200" y="0"/>
                  </a:lnTo>
                </a:path>
              </a:pathLst>
            </a:custGeom>
            <a:noFill/>
            <a:ln w="9525">
              <a:solidFill>
                <a:srgbClr val="31506E"/>
              </a:solidFill>
            </a:ln>
          </p:spPr>
        </p:sp>
        <p:sp>
          <p:nvSpPr>
            <p:cNvPr id="33" name="TextBox 33"/>
            <p:cNvSpPr txBox="1"/>
            <p:nvPr/>
          </p:nvSpPr>
          <p:spPr>
            <a:xfrm>
              <a:off x="765810" y="3108960"/>
              <a:ext cx="342519"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Arial"/>
                  <a:ea typeface="Microsoft YaHei"/>
                  <a:cs typeface="Arial"/>
                </a:rPr>
                <a:t>At C</a:t>
              </a:r>
            </a:p>
          </p:txBody>
        </p:sp>
        <p:sp>
          <p:nvSpPr>
            <p:cNvPr id="34" name="TextBox 34"/>
            <p:cNvSpPr txBox="1"/>
            <p:nvPr/>
          </p:nvSpPr>
          <p:spPr>
            <a:xfrm>
              <a:off x="2956560" y="3108960"/>
              <a:ext cx="342519"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Arial"/>
                  <a:ea typeface="Microsoft YaHei"/>
                  <a:cs typeface="Arial"/>
                </a:rPr>
                <a:t>At C</a:t>
              </a:r>
            </a:p>
          </p:txBody>
        </p:sp>
        <p:sp>
          <p:nvSpPr>
            <p:cNvPr id="35" name="TextBox 35"/>
            <p:cNvSpPr txBox="1"/>
            <p:nvPr/>
          </p:nvSpPr>
          <p:spPr>
            <a:xfrm>
              <a:off x="5452110" y="3108960"/>
              <a:ext cx="694563" cy="243840"/>
            </a:xfrm>
            <a:prstGeom prst="rect">
              <a:avLst/>
            </a:prstGeom>
            <a:noFill/>
            <a:ln>
              <a:noFill/>
            </a:ln>
          </p:spPr>
          <p:txBody>
            <a:bodyPr wrap="none" lIns="0" tIns="0" rIns="0" bIns="0" anchor="t" anchorCtr="0">
              <a:spAutoFit/>
            </a:bodyPr>
            <a:lstStyle/>
            <a:p>
              <a:pPr algn="l"/>
              <a:r>
                <a:rPr lang="zh-CN" sz="1200" dirty="0">
                  <a:solidFill>
                    <a:srgbClr val="EF476F"/>
                  </a:solidFill>
                  <a:latin typeface="Arial"/>
                  <a:ea typeface="Microsoft YaHei"/>
                  <a:cs typeface="Arial"/>
                </a:rPr>
                <a:t>Inverted</a:t>
              </a:r>
            </a:p>
          </p:txBody>
        </p:sp>
        <p:sp>
          <p:nvSpPr>
            <p:cNvPr id="36" name="TextBox 36"/>
            <p:cNvSpPr txBox="1"/>
            <p:nvPr/>
          </p:nvSpPr>
          <p:spPr>
            <a:xfrm>
              <a:off x="7376160" y="3108960"/>
              <a:ext cx="774573"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Arial"/>
                  <a:ea typeface="Microsoft YaHei"/>
                  <a:cs typeface="Arial"/>
                </a:rPr>
                <a:t>Same size</a:t>
              </a:r>
            </a:p>
          </p:txBody>
        </p:sp>
        <p:sp>
          <p:nvSpPr>
            <p:cNvPr id="37" name="TextBox 37"/>
            <p:cNvSpPr txBox="1"/>
            <p:nvPr/>
          </p:nvSpPr>
          <p:spPr>
            <a:xfrm>
              <a:off x="9014460" y="3108960"/>
              <a:ext cx="342519" cy="243840"/>
            </a:xfrm>
            <a:prstGeom prst="rect">
              <a:avLst/>
            </a:prstGeom>
            <a:noFill/>
            <a:ln>
              <a:noFill/>
            </a:ln>
          </p:spPr>
          <p:txBody>
            <a:bodyPr wrap="none" lIns="0" tIns="0" rIns="0" bIns="0" anchor="t" anchorCtr="0">
              <a:spAutoFit/>
            </a:bodyPr>
            <a:lstStyle/>
            <a:p>
              <a:pPr algn="l"/>
              <a:r>
                <a:rPr lang="zh-CN" sz="1200" dirty="0">
                  <a:solidFill>
                    <a:srgbClr val="7BD88F"/>
                  </a:solidFill>
                  <a:latin typeface="Arial"/>
                  <a:ea typeface="Microsoft YaHei"/>
                  <a:cs typeface="Arial"/>
                </a:rPr>
                <a:t>Real</a:t>
              </a:r>
            </a:p>
          </p:txBody>
        </p:sp>
        <p:sp>
          <p:nvSpPr>
            <p:cNvPr id="38" name="Line 38"/>
            <p:cNvSpPr/>
            <p:nvPr/>
          </p:nvSpPr>
          <p:spPr>
            <a:xfrm>
              <a:off x="10763250" y="3048000"/>
              <a:ext cx="9525" cy="304800"/>
            </a:xfrm>
            <a:custGeom>
              <a:avLst/>
              <a:gdLst/>
              <a:ahLst/>
              <a:cxnLst/>
              <a:rect l="l" t="t" r="r" b="b"/>
              <a:pathLst>
                <a:path w="9525" h="304800">
                  <a:moveTo>
                    <a:pt x="0" y="0"/>
                  </a:moveTo>
                  <a:lnTo>
                    <a:pt x="0" y="304800"/>
                  </a:lnTo>
                </a:path>
              </a:pathLst>
            </a:custGeom>
            <a:noFill/>
            <a:ln w="38100">
              <a:solidFill>
                <a:srgbClr val="EF476F"/>
              </a:solidFill>
            </a:ln>
          </p:spPr>
        </p:sp>
        <p:sp>
          <p:nvSpPr>
            <p:cNvPr id="39" name="Line 39"/>
            <p:cNvSpPr/>
            <p:nvPr/>
          </p:nvSpPr>
          <p:spPr>
            <a:xfrm>
              <a:off x="10953750" y="3048000"/>
              <a:ext cx="9525" cy="304800"/>
            </a:xfrm>
            <a:custGeom>
              <a:avLst/>
              <a:gdLst/>
              <a:ahLst/>
              <a:cxnLst/>
              <a:rect l="l" t="t" r="r" b="b"/>
              <a:pathLst>
                <a:path w="9525" h="304800">
                  <a:moveTo>
                    <a:pt x="0" y="304800"/>
                  </a:moveTo>
                  <a:lnTo>
                    <a:pt x="0" y="0"/>
                  </a:lnTo>
                </a:path>
              </a:pathLst>
            </a:custGeom>
            <a:noFill/>
            <a:ln w="38100">
              <a:solidFill>
                <a:srgbClr val="7BD88F"/>
              </a:solidFill>
            </a:ln>
          </p:spPr>
        </p:sp>
        <p:sp>
          <p:nvSpPr>
            <p:cNvPr id="40" name="Rectangle 40"/>
            <p:cNvSpPr/>
            <p:nvPr/>
          </p:nvSpPr>
          <p:spPr>
            <a:xfrm>
              <a:off x="533400" y="3543300"/>
              <a:ext cx="11125200" cy="762000"/>
            </a:xfrm>
            <a:prstGeom prst="rect">
              <a:avLst/>
            </a:prstGeom>
            <a:solidFill>
              <a:srgbClr val="0B1220">
                <a:alpha val="22000"/>
              </a:srgbClr>
            </a:solidFill>
            <a:ln>
              <a:noFill/>
            </a:ln>
          </p:spPr>
        </p:sp>
        <p:sp>
          <p:nvSpPr>
            <p:cNvPr id="41" name="Line 41"/>
            <p:cNvSpPr/>
            <p:nvPr/>
          </p:nvSpPr>
          <p:spPr>
            <a:xfrm>
              <a:off x="533400" y="4305300"/>
              <a:ext cx="11125200" cy="9525"/>
            </a:xfrm>
            <a:custGeom>
              <a:avLst/>
              <a:gdLst/>
              <a:ahLst/>
              <a:cxnLst/>
              <a:rect l="l" t="t" r="r" b="b"/>
              <a:pathLst>
                <a:path w="11125200" h="9525">
                  <a:moveTo>
                    <a:pt x="0" y="0"/>
                  </a:moveTo>
                  <a:lnTo>
                    <a:pt x="11125200" y="0"/>
                  </a:lnTo>
                </a:path>
              </a:pathLst>
            </a:custGeom>
            <a:noFill/>
            <a:ln w="9525">
              <a:solidFill>
                <a:srgbClr val="31506E"/>
              </a:solidFill>
            </a:ln>
          </p:spPr>
        </p:sp>
        <p:sp>
          <p:nvSpPr>
            <p:cNvPr id="42" name="TextBox 42"/>
            <p:cNvSpPr txBox="1"/>
            <p:nvPr/>
          </p:nvSpPr>
          <p:spPr>
            <a:xfrm>
              <a:off x="765810" y="3870960"/>
              <a:ext cx="1262634"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Arial"/>
                  <a:ea typeface="Microsoft YaHei"/>
                  <a:cs typeface="Arial"/>
                </a:rPr>
                <a:t>Between F and C</a:t>
              </a:r>
            </a:p>
          </p:txBody>
        </p:sp>
        <p:sp>
          <p:nvSpPr>
            <p:cNvPr id="43" name="TextBox 43"/>
            <p:cNvSpPr txBox="1"/>
            <p:nvPr/>
          </p:nvSpPr>
          <p:spPr>
            <a:xfrm>
              <a:off x="2956560" y="3870960"/>
              <a:ext cx="694563"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Arial"/>
                  <a:ea typeface="Microsoft YaHei"/>
                  <a:cs typeface="Arial"/>
                </a:rPr>
                <a:t>Beyond C</a:t>
              </a:r>
            </a:p>
          </p:txBody>
        </p:sp>
        <p:sp>
          <p:nvSpPr>
            <p:cNvPr id="44" name="TextBox 44"/>
            <p:cNvSpPr txBox="1"/>
            <p:nvPr/>
          </p:nvSpPr>
          <p:spPr>
            <a:xfrm>
              <a:off x="5452110" y="3870960"/>
              <a:ext cx="694563" cy="243840"/>
            </a:xfrm>
            <a:prstGeom prst="rect">
              <a:avLst/>
            </a:prstGeom>
            <a:noFill/>
            <a:ln>
              <a:noFill/>
            </a:ln>
          </p:spPr>
          <p:txBody>
            <a:bodyPr wrap="none" lIns="0" tIns="0" rIns="0" bIns="0" anchor="t" anchorCtr="0">
              <a:spAutoFit/>
            </a:bodyPr>
            <a:lstStyle/>
            <a:p>
              <a:pPr algn="l"/>
              <a:r>
                <a:rPr lang="zh-CN" sz="1200" dirty="0">
                  <a:solidFill>
                    <a:srgbClr val="EF476F"/>
                  </a:solidFill>
                  <a:latin typeface="Arial"/>
                  <a:ea typeface="Microsoft YaHei"/>
                  <a:cs typeface="Arial"/>
                </a:rPr>
                <a:t>Inverted</a:t>
              </a:r>
            </a:p>
          </p:txBody>
        </p:sp>
        <p:sp>
          <p:nvSpPr>
            <p:cNvPr id="45" name="TextBox 45"/>
            <p:cNvSpPr txBox="1"/>
            <p:nvPr/>
          </p:nvSpPr>
          <p:spPr>
            <a:xfrm>
              <a:off x="7376160" y="3870960"/>
              <a:ext cx="694563"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Arial"/>
                  <a:ea typeface="Microsoft YaHei"/>
                  <a:cs typeface="Arial"/>
                </a:rPr>
                <a:t>Enlarged</a:t>
              </a:r>
            </a:p>
          </p:txBody>
        </p:sp>
        <p:sp>
          <p:nvSpPr>
            <p:cNvPr id="46" name="TextBox 46"/>
            <p:cNvSpPr txBox="1"/>
            <p:nvPr/>
          </p:nvSpPr>
          <p:spPr>
            <a:xfrm>
              <a:off x="9014460" y="3870960"/>
              <a:ext cx="342519" cy="243840"/>
            </a:xfrm>
            <a:prstGeom prst="rect">
              <a:avLst/>
            </a:prstGeom>
            <a:noFill/>
            <a:ln>
              <a:noFill/>
            </a:ln>
          </p:spPr>
          <p:txBody>
            <a:bodyPr wrap="none" lIns="0" tIns="0" rIns="0" bIns="0" anchor="t" anchorCtr="0">
              <a:spAutoFit/>
            </a:bodyPr>
            <a:lstStyle/>
            <a:p>
              <a:pPr algn="l"/>
              <a:r>
                <a:rPr lang="zh-CN" sz="1200" dirty="0">
                  <a:solidFill>
                    <a:srgbClr val="7BD88F"/>
                  </a:solidFill>
                  <a:latin typeface="Arial"/>
                  <a:ea typeface="Microsoft YaHei"/>
                  <a:cs typeface="Arial"/>
                </a:rPr>
                <a:t>Real</a:t>
              </a:r>
            </a:p>
          </p:txBody>
        </p:sp>
        <p:sp>
          <p:nvSpPr>
            <p:cNvPr id="47" name="Line 47"/>
            <p:cNvSpPr/>
            <p:nvPr/>
          </p:nvSpPr>
          <p:spPr>
            <a:xfrm>
              <a:off x="10763250" y="3752850"/>
              <a:ext cx="9525" cy="285750"/>
            </a:xfrm>
            <a:custGeom>
              <a:avLst/>
              <a:gdLst/>
              <a:ahLst/>
              <a:cxnLst/>
              <a:rect l="l" t="t" r="r" b="b"/>
              <a:pathLst>
                <a:path w="9525" h="285750">
                  <a:moveTo>
                    <a:pt x="0" y="0"/>
                  </a:moveTo>
                  <a:lnTo>
                    <a:pt x="0" y="285750"/>
                  </a:lnTo>
                </a:path>
              </a:pathLst>
            </a:custGeom>
            <a:noFill/>
            <a:ln w="38100">
              <a:solidFill>
                <a:srgbClr val="EF476F"/>
              </a:solidFill>
            </a:ln>
          </p:spPr>
        </p:sp>
        <p:sp>
          <p:nvSpPr>
            <p:cNvPr id="48" name="Line 48"/>
            <p:cNvSpPr/>
            <p:nvPr/>
          </p:nvSpPr>
          <p:spPr>
            <a:xfrm>
              <a:off x="10953750" y="3790950"/>
              <a:ext cx="9525" cy="381000"/>
            </a:xfrm>
            <a:custGeom>
              <a:avLst/>
              <a:gdLst/>
              <a:ahLst/>
              <a:cxnLst/>
              <a:rect l="l" t="t" r="r" b="b"/>
              <a:pathLst>
                <a:path w="9525" h="381000">
                  <a:moveTo>
                    <a:pt x="0" y="381000"/>
                  </a:moveTo>
                  <a:lnTo>
                    <a:pt x="0" y="0"/>
                  </a:lnTo>
                </a:path>
              </a:pathLst>
            </a:custGeom>
            <a:noFill/>
            <a:ln w="38100">
              <a:solidFill>
                <a:srgbClr val="7BD88F"/>
              </a:solidFill>
            </a:ln>
          </p:spPr>
        </p:sp>
        <p:sp>
          <p:nvSpPr>
            <p:cNvPr id="49" name="Line 49"/>
            <p:cNvSpPr/>
            <p:nvPr/>
          </p:nvSpPr>
          <p:spPr>
            <a:xfrm>
              <a:off x="533400" y="5067300"/>
              <a:ext cx="11125200" cy="9525"/>
            </a:xfrm>
            <a:custGeom>
              <a:avLst/>
              <a:gdLst/>
              <a:ahLst/>
              <a:cxnLst/>
              <a:rect l="l" t="t" r="r" b="b"/>
              <a:pathLst>
                <a:path w="11125200" h="9525">
                  <a:moveTo>
                    <a:pt x="0" y="0"/>
                  </a:moveTo>
                  <a:lnTo>
                    <a:pt x="11125200" y="0"/>
                  </a:lnTo>
                </a:path>
              </a:pathLst>
            </a:custGeom>
            <a:noFill/>
            <a:ln w="9525">
              <a:solidFill>
                <a:srgbClr val="31506E"/>
              </a:solidFill>
            </a:ln>
          </p:spPr>
        </p:sp>
        <p:sp>
          <p:nvSpPr>
            <p:cNvPr id="50" name="TextBox 50"/>
            <p:cNvSpPr txBox="1"/>
            <p:nvPr/>
          </p:nvSpPr>
          <p:spPr>
            <a:xfrm>
              <a:off x="765810" y="4632960"/>
              <a:ext cx="342519"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Arial"/>
                  <a:ea typeface="Microsoft YaHei"/>
                  <a:cs typeface="Arial"/>
                </a:rPr>
                <a:t>At F</a:t>
              </a:r>
            </a:p>
          </p:txBody>
        </p:sp>
        <p:sp>
          <p:nvSpPr>
            <p:cNvPr id="51" name="TextBox 51"/>
            <p:cNvSpPr txBox="1"/>
            <p:nvPr/>
          </p:nvSpPr>
          <p:spPr>
            <a:xfrm>
              <a:off x="2956560" y="4632960"/>
              <a:ext cx="1182624"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Arial"/>
                  <a:ea typeface="Microsoft YaHei"/>
                  <a:cs typeface="Arial"/>
                </a:rPr>
                <a:t>No finite image</a:t>
              </a:r>
            </a:p>
          </p:txBody>
        </p:sp>
        <p:sp>
          <p:nvSpPr>
            <p:cNvPr id="52" name="TextBox 52"/>
            <p:cNvSpPr txBox="1"/>
            <p:nvPr/>
          </p:nvSpPr>
          <p:spPr>
            <a:xfrm>
              <a:off x="5452110" y="4632960"/>
              <a:ext cx="1102614" cy="243840"/>
            </a:xfrm>
            <a:prstGeom prst="rect">
              <a:avLst/>
            </a:prstGeom>
            <a:noFill/>
            <a:ln>
              <a:noFill/>
            </a:ln>
          </p:spPr>
          <p:txBody>
            <a:bodyPr wrap="none" lIns="0" tIns="0" rIns="0" bIns="0" anchor="t" anchorCtr="0">
              <a:spAutoFit/>
            </a:bodyPr>
            <a:lstStyle/>
            <a:p>
              <a:pPr algn="l"/>
              <a:r>
                <a:rPr lang="zh-CN" sz="1200" dirty="0">
                  <a:solidFill>
                    <a:srgbClr val="92A9B8"/>
                  </a:solidFill>
                  <a:latin typeface="Arial"/>
                  <a:ea typeface="Microsoft YaHei"/>
                  <a:cs typeface="Arial"/>
                </a:rPr>
                <a:t>Not applicable</a:t>
              </a:r>
            </a:p>
          </p:txBody>
        </p:sp>
        <p:sp>
          <p:nvSpPr>
            <p:cNvPr id="53" name="TextBox 53"/>
            <p:cNvSpPr txBox="1"/>
            <p:nvPr/>
          </p:nvSpPr>
          <p:spPr>
            <a:xfrm>
              <a:off x="7376160" y="4632960"/>
              <a:ext cx="1102614" cy="243840"/>
            </a:xfrm>
            <a:prstGeom prst="rect">
              <a:avLst/>
            </a:prstGeom>
            <a:noFill/>
            <a:ln>
              <a:noFill/>
            </a:ln>
          </p:spPr>
          <p:txBody>
            <a:bodyPr wrap="none" lIns="0" tIns="0" rIns="0" bIns="0" anchor="t" anchorCtr="0">
              <a:spAutoFit/>
            </a:bodyPr>
            <a:lstStyle/>
            <a:p>
              <a:pPr algn="l"/>
              <a:r>
                <a:rPr lang="zh-CN" sz="1200" dirty="0">
                  <a:solidFill>
                    <a:srgbClr val="92A9B8"/>
                  </a:solidFill>
                  <a:latin typeface="Arial"/>
                  <a:ea typeface="Microsoft YaHei"/>
                  <a:cs typeface="Arial"/>
                </a:rPr>
                <a:t>Not applicable</a:t>
              </a:r>
            </a:p>
          </p:txBody>
        </p:sp>
        <p:sp>
          <p:nvSpPr>
            <p:cNvPr id="54" name="TextBox 54"/>
            <p:cNvSpPr txBox="1"/>
            <p:nvPr/>
          </p:nvSpPr>
          <p:spPr>
            <a:xfrm>
              <a:off x="9014460" y="4632960"/>
              <a:ext cx="1014603" cy="243840"/>
            </a:xfrm>
            <a:prstGeom prst="rect">
              <a:avLst/>
            </a:prstGeom>
            <a:noFill/>
            <a:ln>
              <a:noFill/>
            </a:ln>
          </p:spPr>
          <p:txBody>
            <a:bodyPr wrap="none" lIns="0" tIns="0" rIns="0" bIns="0" anchor="t" anchorCtr="0">
              <a:spAutoFit/>
            </a:bodyPr>
            <a:lstStyle/>
            <a:p>
              <a:pPr algn="l"/>
              <a:r>
                <a:rPr lang="zh-CN" sz="1200" dirty="0">
                  <a:solidFill>
                    <a:srgbClr val="FFD166"/>
                  </a:solidFill>
                  <a:latin typeface="Arial"/>
                  <a:ea typeface="Microsoft YaHei"/>
                  <a:cs typeface="Arial"/>
                </a:rPr>
                <a:t>Rays parallel</a:t>
              </a:r>
            </a:p>
          </p:txBody>
        </p:sp>
        <p:sp>
          <p:nvSpPr>
            <p:cNvPr id="55" name="Line 55"/>
            <p:cNvSpPr/>
            <p:nvPr/>
          </p:nvSpPr>
          <p:spPr>
            <a:xfrm>
              <a:off x="10763250" y="4610100"/>
              <a:ext cx="381000" cy="9525"/>
            </a:xfrm>
            <a:custGeom>
              <a:avLst/>
              <a:gdLst/>
              <a:ahLst/>
              <a:cxnLst/>
              <a:rect l="l" t="t" r="r" b="b"/>
              <a:pathLst>
                <a:path w="381000" h="9525">
                  <a:moveTo>
                    <a:pt x="0" y="0"/>
                  </a:moveTo>
                  <a:lnTo>
                    <a:pt x="381000" y="0"/>
                  </a:lnTo>
                </a:path>
              </a:pathLst>
            </a:custGeom>
            <a:noFill/>
            <a:ln w="28575">
              <a:solidFill>
                <a:srgbClr val="FFD166"/>
              </a:solidFill>
            </a:ln>
          </p:spPr>
        </p:sp>
        <p:sp>
          <p:nvSpPr>
            <p:cNvPr id="56" name="Line 56"/>
            <p:cNvSpPr/>
            <p:nvPr/>
          </p:nvSpPr>
          <p:spPr>
            <a:xfrm>
              <a:off x="10763250" y="4800600"/>
              <a:ext cx="381000" cy="9525"/>
            </a:xfrm>
            <a:custGeom>
              <a:avLst/>
              <a:gdLst/>
              <a:ahLst/>
              <a:cxnLst/>
              <a:rect l="l" t="t" r="r" b="b"/>
              <a:pathLst>
                <a:path w="381000" h="9525">
                  <a:moveTo>
                    <a:pt x="0" y="0"/>
                  </a:moveTo>
                  <a:lnTo>
                    <a:pt x="381000" y="0"/>
                  </a:lnTo>
                </a:path>
              </a:pathLst>
            </a:custGeom>
            <a:noFill/>
            <a:ln w="28575">
              <a:solidFill>
                <a:srgbClr val="FFD166"/>
              </a:solidFill>
            </a:ln>
          </p:spPr>
        </p:sp>
        <p:sp>
          <p:nvSpPr>
            <p:cNvPr id="57" name="Rectangle 57"/>
            <p:cNvSpPr/>
            <p:nvPr/>
          </p:nvSpPr>
          <p:spPr>
            <a:xfrm>
              <a:off x="533400" y="5067300"/>
              <a:ext cx="11125200" cy="781050"/>
            </a:xfrm>
            <a:prstGeom prst="rect">
              <a:avLst/>
            </a:prstGeom>
            <a:solidFill>
              <a:srgbClr val="0B1220">
                <a:alpha val="22000"/>
              </a:srgbClr>
            </a:solidFill>
            <a:ln>
              <a:noFill/>
            </a:ln>
          </p:spPr>
        </p:sp>
        <p:sp>
          <p:nvSpPr>
            <p:cNvPr id="58" name="TextBox 58"/>
            <p:cNvSpPr txBox="1"/>
            <p:nvPr/>
          </p:nvSpPr>
          <p:spPr>
            <a:xfrm>
              <a:off x="765810" y="5394960"/>
              <a:ext cx="614553"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Arial"/>
                  <a:ea typeface="Microsoft YaHei"/>
                  <a:cs typeface="Arial"/>
                </a:rPr>
                <a:t>Inside F</a:t>
              </a:r>
            </a:p>
          </p:txBody>
        </p:sp>
        <p:sp>
          <p:nvSpPr>
            <p:cNvPr id="59" name="TextBox 59"/>
            <p:cNvSpPr txBox="1"/>
            <p:nvPr/>
          </p:nvSpPr>
          <p:spPr>
            <a:xfrm>
              <a:off x="2956560" y="5394960"/>
              <a:ext cx="1398651"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Arial"/>
                  <a:ea typeface="Microsoft YaHei"/>
                  <a:cs typeface="Arial"/>
                </a:rPr>
                <a:t>Behind the mirror</a:t>
              </a:r>
            </a:p>
          </p:txBody>
        </p:sp>
        <p:sp>
          <p:nvSpPr>
            <p:cNvPr id="60" name="TextBox 60"/>
            <p:cNvSpPr txBox="1"/>
            <p:nvPr/>
          </p:nvSpPr>
          <p:spPr>
            <a:xfrm>
              <a:off x="5452110" y="5394960"/>
              <a:ext cx="606552" cy="243840"/>
            </a:xfrm>
            <a:prstGeom prst="rect">
              <a:avLst/>
            </a:prstGeom>
            <a:noFill/>
            <a:ln>
              <a:noFill/>
            </a:ln>
          </p:spPr>
          <p:txBody>
            <a:bodyPr wrap="none" lIns="0" tIns="0" rIns="0" bIns="0" anchor="t" anchorCtr="0">
              <a:spAutoFit/>
            </a:bodyPr>
            <a:lstStyle/>
            <a:p>
              <a:pPr algn="l"/>
              <a:r>
                <a:rPr lang="zh-CN" sz="1200" dirty="0">
                  <a:solidFill>
                    <a:srgbClr val="7BD88F"/>
                  </a:solidFill>
                  <a:latin typeface="Arial"/>
                  <a:ea typeface="Microsoft YaHei"/>
                  <a:cs typeface="Arial"/>
                </a:rPr>
                <a:t>Upright</a:t>
              </a:r>
            </a:p>
          </p:txBody>
        </p:sp>
        <p:sp>
          <p:nvSpPr>
            <p:cNvPr id="61" name="TextBox 61"/>
            <p:cNvSpPr txBox="1"/>
            <p:nvPr/>
          </p:nvSpPr>
          <p:spPr>
            <a:xfrm>
              <a:off x="7376160" y="5394960"/>
              <a:ext cx="694563"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Arial"/>
                  <a:ea typeface="Microsoft YaHei"/>
                  <a:cs typeface="Arial"/>
                </a:rPr>
                <a:t>Enlarged</a:t>
              </a:r>
            </a:p>
          </p:txBody>
        </p:sp>
        <p:sp>
          <p:nvSpPr>
            <p:cNvPr id="62" name="TextBox 62"/>
            <p:cNvSpPr txBox="1"/>
            <p:nvPr/>
          </p:nvSpPr>
          <p:spPr>
            <a:xfrm>
              <a:off x="9014460" y="5394960"/>
              <a:ext cx="566547" cy="243840"/>
            </a:xfrm>
            <a:prstGeom prst="rect">
              <a:avLst/>
            </a:prstGeom>
            <a:noFill/>
            <a:ln>
              <a:noFill/>
            </a:ln>
          </p:spPr>
          <p:txBody>
            <a:bodyPr wrap="none" lIns="0" tIns="0" rIns="0" bIns="0" anchor="t" anchorCtr="0">
              <a:spAutoFit/>
            </a:bodyPr>
            <a:lstStyle/>
            <a:p>
              <a:pPr algn="l"/>
              <a:r>
                <a:rPr lang="zh-CN" sz="1200" dirty="0">
                  <a:solidFill>
                    <a:srgbClr val="FFD166"/>
                  </a:solidFill>
                  <a:latin typeface="Arial"/>
                  <a:ea typeface="Microsoft YaHei"/>
                  <a:cs typeface="Arial"/>
                </a:rPr>
                <a:t>Virtual</a:t>
              </a:r>
            </a:p>
          </p:txBody>
        </p:sp>
        <p:sp>
          <p:nvSpPr>
            <p:cNvPr id="63" name="Line 63"/>
            <p:cNvSpPr/>
            <p:nvPr/>
          </p:nvSpPr>
          <p:spPr>
            <a:xfrm>
              <a:off x="10763250" y="5219700"/>
              <a:ext cx="9525" cy="400050"/>
            </a:xfrm>
            <a:custGeom>
              <a:avLst/>
              <a:gdLst/>
              <a:ahLst/>
              <a:cxnLst/>
              <a:rect l="l" t="t" r="r" b="b"/>
              <a:pathLst>
                <a:path w="9525" h="400050">
                  <a:moveTo>
                    <a:pt x="0" y="400050"/>
                  </a:moveTo>
                  <a:lnTo>
                    <a:pt x="0" y="0"/>
                  </a:lnTo>
                </a:path>
              </a:pathLst>
            </a:custGeom>
            <a:noFill/>
            <a:ln w="38100">
              <a:solidFill>
                <a:srgbClr val="EF476F"/>
              </a:solidFill>
            </a:ln>
          </p:spPr>
        </p:sp>
        <p:sp>
          <p:nvSpPr>
            <p:cNvPr id="64" name="Line 64"/>
            <p:cNvSpPr/>
            <p:nvPr/>
          </p:nvSpPr>
          <p:spPr>
            <a:xfrm>
              <a:off x="10953750" y="5124450"/>
              <a:ext cx="9525" cy="514350"/>
            </a:xfrm>
            <a:custGeom>
              <a:avLst/>
              <a:gdLst/>
              <a:ahLst/>
              <a:cxnLst/>
              <a:rect l="l" t="t" r="r" b="b"/>
              <a:pathLst>
                <a:path w="9525" h="514350">
                  <a:moveTo>
                    <a:pt x="0" y="514350"/>
                  </a:moveTo>
                  <a:lnTo>
                    <a:pt x="0" y="0"/>
                  </a:lnTo>
                </a:path>
              </a:pathLst>
            </a:custGeom>
            <a:noFill/>
            <a:ln w="38100">
              <a:solidFill>
                <a:srgbClr val="7BD88F"/>
              </a:solidFill>
            </a:ln>
          </p:spPr>
        </p:sp>
      </p:grpSp>
      <p:grpSp>
        <p:nvGrpSpPr>
          <p:cNvPr id="69" name="Group 69"/>
          <p:cNvGrpSpPr/>
          <p:nvPr/>
        </p:nvGrpSpPr>
        <p:grpSpPr>
          <a:xfrm>
            <a:off x="533400" y="6019800"/>
            <a:ext cx="11100530" cy="333375"/>
            <a:chOff x="533400" y="6019800"/>
            <a:chExt cx="11100530" cy="333375"/>
          </a:xfrm>
        </p:grpSpPr>
        <p:sp>
          <p:nvSpPr>
            <p:cNvPr id="66" name="Rectangle 66"/>
            <p:cNvSpPr/>
            <p:nvPr/>
          </p:nvSpPr>
          <p:spPr>
            <a:xfrm>
              <a:off x="533400" y="6019800"/>
              <a:ext cx="7429500" cy="323850"/>
            </a:xfrm>
            <a:prstGeom prst="roundRect">
              <a:avLst>
                <a:gd name="adj" fmla="val 17647"/>
              </a:avLst>
            </a:prstGeom>
            <a:solidFill>
              <a:srgbClr val="152940"/>
            </a:solidFill>
            <a:ln w="9525">
              <a:solidFill>
                <a:srgbClr val="31506E"/>
              </a:solidFill>
            </a:ln>
          </p:spPr>
        </p:sp>
        <p:sp>
          <p:nvSpPr>
            <p:cNvPr id="67" name="TextBox 67"/>
            <p:cNvSpPr txBox="1"/>
            <p:nvPr/>
          </p:nvSpPr>
          <p:spPr>
            <a:xfrm>
              <a:off x="727710" y="6109335"/>
              <a:ext cx="6767322" cy="243840"/>
            </a:xfrm>
            <a:prstGeom prst="rect">
              <a:avLst/>
            </a:prstGeom>
            <a:noFill/>
            <a:ln>
              <a:noFill/>
            </a:ln>
          </p:spPr>
          <p:txBody>
            <a:bodyPr wrap="none" lIns="0" tIns="0" rIns="0" bIns="0" anchor="t" anchorCtr="0">
              <a:spAutoFit/>
            </a:bodyPr>
            <a:lstStyle/>
            <a:p>
              <a:pPr algn="l"/>
              <a:r>
                <a:rPr lang="zh-CN" sz="1200" dirty="0">
                  <a:solidFill>
                    <a:srgbClr val="FFD166"/>
                  </a:solidFill>
                  <a:latin typeface="Arial"/>
                  <a:ea typeface="Microsoft YaHei"/>
                  <a:cs typeface="Arial"/>
                </a:rPr>
                <a:t>Pattern: moving the object inward shifts image position, size, orientation, and type.</a:t>
              </a:r>
            </a:p>
          </p:txBody>
        </p:sp>
        <p:sp>
          <p:nvSpPr>
            <p:cNvPr id="68" name="TextBox 68"/>
            <p:cNvSpPr txBox="1"/>
            <p:nvPr/>
          </p:nvSpPr>
          <p:spPr>
            <a:xfrm>
              <a:off x="11209020" y="6151245"/>
              <a:ext cx="424910" cy="182880"/>
            </a:xfrm>
            <a:prstGeom prst="rect">
              <a:avLst/>
            </a:prstGeom>
            <a:noFill/>
            <a:ln>
              <a:noFill/>
            </a:ln>
          </p:spPr>
          <p:txBody>
            <a:bodyPr wrap="none" lIns="0" tIns="0" rIns="0" bIns="0" anchor="t" anchorCtr="0">
              <a:spAutoFit/>
            </a:bodyPr>
            <a:lstStyle/>
            <a:p>
              <a:pPr algn="l"/>
              <a:r>
                <a:rPr lang="zh-CN" sz="900" dirty="0">
                  <a:solidFill>
                    <a:srgbClr val="92A9B8"/>
                  </a:solidFill>
                  <a:latin typeface="Consolas"/>
                  <a:ea typeface="Microsoft YaHei"/>
                  <a:cs typeface="Consolas"/>
                </a:rPr>
                <a:t>06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ipe(left)">
                                      <p:cBhvr>
                                        <p:cTn id="7" dur="400"/>
                                        <p:tgtEl>
                                          <p:spTgt spid="65"/>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fade">
                                      <p:cBhvr>
                                        <p:cTn id="11"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220"/>
            </a:solidFill>
            <a:ln>
              <a:noFill/>
            </a:ln>
          </p:spPr>
        </p:sp>
        <p:sp>
          <p:nvSpPr>
            <p:cNvPr id="3" name="Freeform 3"/>
            <p:cNvSpPr/>
            <p:nvPr/>
          </p:nvSpPr>
          <p:spPr>
            <a:xfrm>
              <a:off x="0" y="0"/>
              <a:ext cx="12192000" cy="6858000"/>
            </a:xfrm>
            <a:custGeom>
              <a:avLst/>
              <a:gdLst/>
              <a:ahLst/>
              <a:cxnLst/>
              <a:rect l="l" t="t" r="r" b="b"/>
              <a:pathLst>
                <a:path w="12192000" h="6858000">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moveTo>
                    <a:pt x="11430000" y="0"/>
                  </a:moveTo>
                  <a:lnTo>
                    <a:pt x="11430000" y="685800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path>
              </a:pathLst>
            </a:custGeom>
            <a:noFill/>
            <a:ln w="9525">
              <a:solidFill>
                <a:srgbClr val="1B2E4A"/>
              </a:solidFill>
            </a:ln>
          </p:spPr>
        </p:sp>
      </p:grpSp>
      <p:grpSp>
        <p:nvGrpSpPr>
          <p:cNvPr id="8" name="Group 8"/>
          <p:cNvGrpSpPr/>
          <p:nvPr/>
        </p:nvGrpSpPr>
        <p:grpSpPr>
          <a:xfrm>
            <a:off x="499110" y="394335"/>
            <a:ext cx="11159490" cy="796290"/>
            <a:chOff x="499110" y="394335"/>
            <a:chExt cx="11159490" cy="796290"/>
          </a:xfrm>
        </p:grpSpPr>
        <p:sp>
          <p:nvSpPr>
            <p:cNvPr id="5" name="TextBox 5"/>
            <p:cNvSpPr txBox="1"/>
            <p:nvPr/>
          </p:nvSpPr>
          <p:spPr>
            <a:xfrm>
              <a:off x="499110" y="394335"/>
              <a:ext cx="4548440" cy="548640"/>
            </a:xfrm>
            <a:prstGeom prst="rect">
              <a:avLst/>
            </a:prstGeom>
            <a:noFill/>
            <a:ln>
              <a:noFill/>
            </a:ln>
          </p:spPr>
          <p:txBody>
            <a:bodyPr wrap="none" lIns="0" tIns="0" rIns="0" bIns="0" anchor="t" anchorCtr="0">
              <a:spAutoFit/>
            </a:bodyPr>
            <a:lstStyle/>
            <a:p>
              <a:pPr algn="l"/>
              <a:r>
                <a:rPr lang="zh-CN" sz="2700" b="1" dirty="0">
                  <a:solidFill>
                    <a:srgbClr val="F5FBFF"/>
                  </a:solidFill>
                  <a:latin typeface="Arial"/>
                  <a:ea typeface="Microsoft YaHei"/>
                  <a:cs typeface="Arial"/>
                </a:rPr>
                <a:t>Misconceptions to debug</a:t>
              </a:r>
            </a:p>
          </p:txBody>
        </p:sp>
        <p:sp>
          <p:nvSpPr>
            <p:cNvPr id="6" name="TextBox 6"/>
            <p:cNvSpPr txBox="1"/>
            <p:nvPr/>
          </p:nvSpPr>
          <p:spPr>
            <a:xfrm>
              <a:off x="537210" y="899160"/>
              <a:ext cx="6367272" cy="243840"/>
            </a:xfrm>
            <a:prstGeom prst="rect">
              <a:avLst/>
            </a:prstGeom>
            <a:noFill/>
            <a:ln>
              <a:noFill/>
            </a:ln>
          </p:spPr>
          <p:txBody>
            <a:bodyPr wrap="none" lIns="0" tIns="0" rIns="0" bIns="0" anchor="t" anchorCtr="0">
              <a:spAutoFit/>
            </a:bodyPr>
            <a:lstStyle/>
            <a:p>
              <a:pPr algn="l"/>
              <a:r>
                <a:rPr lang="zh-CN" sz="1200" dirty="0">
                  <a:solidFill>
                    <a:srgbClr val="92A9B8"/>
                  </a:solidFill>
                  <a:latin typeface="Arial"/>
                  <a:ea typeface="Microsoft YaHei"/>
                  <a:cs typeface="Arial"/>
                </a:rPr>
                <a:t>Most errors come from treating the diagram as decoration instead of geometry.</a:t>
              </a:r>
            </a:p>
          </p:txBody>
        </p:sp>
        <p:sp>
          <p:nvSpPr>
            <p:cNvPr id="7" name="Line 7"/>
            <p:cNvSpPr/>
            <p:nvPr/>
          </p:nvSpPr>
          <p:spPr>
            <a:xfrm>
              <a:off x="533400" y="1181100"/>
              <a:ext cx="11125200" cy="9525"/>
            </a:xfrm>
            <a:custGeom>
              <a:avLst/>
              <a:gdLst/>
              <a:ahLst/>
              <a:cxnLst/>
              <a:rect l="l" t="t" r="r" b="b"/>
              <a:pathLst>
                <a:path w="11125200" h="9525">
                  <a:moveTo>
                    <a:pt x="0" y="0"/>
                  </a:moveTo>
                  <a:lnTo>
                    <a:pt x="11125200" y="0"/>
                  </a:lnTo>
                </a:path>
              </a:pathLst>
            </a:custGeom>
            <a:noFill/>
            <a:ln w="14288">
              <a:solidFill>
                <a:srgbClr val="31506E"/>
              </a:solidFill>
            </a:ln>
          </p:spPr>
        </p:sp>
      </p:grpSp>
      <p:grpSp>
        <p:nvGrpSpPr>
          <p:cNvPr id="17" name="Group 17"/>
          <p:cNvGrpSpPr/>
          <p:nvPr/>
        </p:nvGrpSpPr>
        <p:grpSpPr>
          <a:xfrm>
            <a:off x="533400" y="1466850"/>
            <a:ext cx="5334000" cy="1981200"/>
            <a:chOff x="533400" y="1466850"/>
            <a:chExt cx="5334000" cy="1981200"/>
          </a:xfrm>
        </p:grpSpPr>
        <p:sp>
          <p:nvSpPr>
            <p:cNvPr id="9" name="Rectangle 9"/>
            <p:cNvSpPr/>
            <p:nvPr/>
          </p:nvSpPr>
          <p:spPr>
            <a:xfrm>
              <a:off x="533400" y="1466850"/>
              <a:ext cx="5334000" cy="1981200"/>
            </a:xfrm>
            <a:prstGeom prst="roundRect">
              <a:avLst>
                <a:gd name="adj" fmla="val 3846"/>
              </a:avLst>
            </a:prstGeom>
            <a:solidFill>
              <a:srgbClr val="102036"/>
            </a:solidFill>
            <a:ln w="14288">
              <a:solidFill>
                <a:srgbClr val="31506E"/>
              </a:solidFill>
            </a:ln>
          </p:spPr>
        </p:sp>
        <p:sp>
          <p:nvSpPr>
            <p:cNvPr id="10" name="TextBox 10"/>
            <p:cNvSpPr txBox="1"/>
            <p:nvPr/>
          </p:nvSpPr>
          <p:spPr>
            <a:xfrm>
              <a:off x="800100" y="1724025"/>
              <a:ext cx="3272504" cy="304800"/>
            </a:xfrm>
            <a:prstGeom prst="rect">
              <a:avLst/>
            </a:prstGeom>
            <a:noFill/>
            <a:ln>
              <a:noFill/>
            </a:ln>
          </p:spPr>
          <p:txBody>
            <a:bodyPr wrap="none" lIns="0" tIns="0" rIns="0" bIns="0" anchor="t" anchorCtr="0">
              <a:spAutoFit/>
            </a:bodyPr>
            <a:lstStyle/>
            <a:p>
              <a:pPr algn="l"/>
              <a:r>
                <a:rPr lang="zh-CN" sz="1500" b="1" dirty="0">
                  <a:solidFill>
                    <a:srgbClr val="FF8A80"/>
                  </a:solidFill>
                  <a:latin typeface="Arial"/>
                  <a:ea typeface="Microsoft YaHei"/>
                  <a:cs typeface="Arial"/>
                </a:rPr>
                <a:t>Wrong: the image is always at F</a:t>
              </a:r>
            </a:p>
          </p:txBody>
        </p:sp>
        <p:sp>
          <p:nvSpPr>
            <p:cNvPr id="11" name="TextBox 11"/>
            <p:cNvSpPr txBox="1"/>
            <p:nvPr/>
          </p:nvSpPr>
          <p:spPr>
            <a:xfrm>
              <a:off x="800100" y="2162175"/>
              <a:ext cx="3524250" cy="590550"/>
            </a:xfrm>
            <a:prstGeom prst="rect">
              <a:avLst/>
            </a:prstGeom>
            <a:noFill/>
            <a:ln>
              <a:noFill/>
            </a:ln>
          </p:spPr>
          <p:txBody>
            <a:bodyPr wrap="square" lIns="0" tIns="0" rIns="0" bIns="0" anchor="t" anchorCtr="0"/>
            <a:lstStyle/>
            <a:p>
              <a:pPr algn="l">
                <a:lnSpc>
                  <a:spcPts val="2250"/>
                </a:lnSpc>
              </a:pPr>
              <a:r>
                <a:rPr lang="zh-CN" sz="1500" dirty="0">
                  <a:solidFill>
                    <a:srgbClr val="F5FBFF"/>
                  </a:solidFill>
                  <a:latin typeface="Arial"/>
                  <a:ea typeface="Microsoft YaHei"/>
                  <a:cs typeface="Arial"/>
                </a:rPr>
                <a:t xml:space="preserve">Fix: F controls one reflected ray, </a:t>
              </a:r>
              <a:r>
                <a:rPr lang="zh-CN" sz="1500" dirty="0">
                  <a:solidFill>
                    <a:srgbClr val="F5FBFF"/>
                  </a:solidFill>
                  <a:latin typeface="Arial"/>
                  <a:ea typeface="Microsoft YaHei"/>
                  <a:cs typeface="Arial"/>
                </a:rPr>
                <a:t>but the image location depends on do.</a:t>
              </a:r>
            </a:p>
          </p:txBody>
        </p:sp>
        <p:sp>
          <p:nvSpPr>
            <p:cNvPr id="12" name="Line 12"/>
            <p:cNvSpPr/>
            <p:nvPr/>
          </p:nvSpPr>
          <p:spPr>
            <a:xfrm>
              <a:off x="3829050" y="2857500"/>
              <a:ext cx="1428750" cy="9525"/>
            </a:xfrm>
            <a:custGeom>
              <a:avLst/>
              <a:gdLst/>
              <a:ahLst/>
              <a:cxnLst/>
              <a:rect l="l" t="t" r="r" b="b"/>
              <a:pathLst>
                <a:path w="1428750" h="9525">
                  <a:moveTo>
                    <a:pt x="0" y="0"/>
                  </a:moveTo>
                  <a:lnTo>
                    <a:pt x="1428750" y="0"/>
                  </a:lnTo>
                </a:path>
              </a:pathLst>
            </a:custGeom>
            <a:noFill/>
            <a:ln w="19050">
              <a:solidFill>
                <a:srgbClr val="A9D6E5"/>
              </a:solidFill>
            </a:ln>
          </p:spPr>
        </p:sp>
        <p:sp>
          <p:nvSpPr>
            <p:cNvPr id="13" name="Ellipse 13"/>
            <p:cNvSpPr/>
            <p:nvPr/>
          </p:nvSpPr>
          <p:spPr>
            <a:xfrm>
              <a:off x="4695825" y="2809875"/>
              <a:ext cx="95250" cy="95250"/>
            </a:xfrm>
            <a:prstGeom prst="ellipse">
              <a:avLst/>
            </a:prstGeom>
            <a:solidFill>
              <a:srgbClr val="FFD166"/>
            </a:solidFill>
            <a:ln>
              <a:noFill/>
            </a:ln>
          </p:spPr>
        </p:sp>
        <p:sp>
          <p:nvSpPr>
            <p:cNvPr id="14" name="Ellipse 14"/>
            <p:cNvSpPr/>
            <p:nvPr/>
          </p:nvSpPr>
          <p:spPr>
            <a:xfrm>
              <a:off x="4238625" y="2809875"/>
              <a:ext cx="95250" cy="95250"/>
            </a:xfrm>
            <a:prstGeom prst="ellipse">
              <a:avLst/>
            </a:prstGeom>
            <a:solidFill>
              <a:srgbClr val="7BD88F"/>
            </a:solidFill>
            <a:ln>
              <a:noFill/>
            </a:ln>
          </p:spPr>
        </p:sp>
        <p:sp>
          <p:nvSpPr>
            <p:cNvPr id="15" name="TextBox 15"/>
            <p:cNvSpPr txBox="1"/>
            <p:nvPr/>
          </p:nvSpPr>
          <p:spPr>
            <a:xfrm>
              <a:off x="4672965" y="2991802"/>
              <a:ext cx="103680" cy="213360"/>
            </a:xfrm>
            <a:prstGeom prst="rect">
              <a:avLst/>
            </a:prstGeom>
            <a:noFill/>
            <a:ln>
              <a:noFill/>
            </a:ln>
          </p:spPr>
          <p:txBody>
            <a:bodyPr wrap="none" lIns="0" tIns="0" rIns="0" bIns="0" anchor="t" anchorCtr="0">
              <a:spAutoFit/>
            </a:bodyPr>
            <a:lstStyle/>
            <a:p>
              <a:pPr algn="l"/>
              <a:r>
                <a:rPr lang="zh-CN" sz="1050" dirty="0">
                  <a:solidFill>
                    <a:srgbClr val="FFD166"/>
                  </a:solidFill>
                  <a:latin typeface="Consolas"/>
                  <a:ea typeface="Microsoft YaHei"/>
                  <a:cs typeface="Consolas"/>
                </a:rPr>
                <a:t>F</a:t>
              </a:r>
            </a:p>
          </p:txBody>
        </p:sp>
        <p:sp>
          <p:nvSpPr>
            <p:cNvPr id="16" name="TextBox 16"/>
            <p:cNvSpPr txBox="1"/>
            <p:nvPr/>
          </p:nvSpPr>
          <p:spPr>
            <a:xfrm>
              <a:off x="4082415" y="2991802"/>
              <a:ext cx="873776" cy="213360"/>
            </a:xfrm>
            <a:prstGeom prst="rect">
              <a:avLst/>
            </a:prstGeom>
            <a:noFill/>
            <a:ln>
              <a:noFill/>
            </a:ln>
          </p:spPr>
          <p:txBody>
            <a:bodyPr wrap="none" lIns="0" tIns="0" rIns="0" bIns="0" anchor="t" anchorCtr="0">
              <a:spAutoFit/>
            </a:bodyPr>
            <a:lstStyle/>
            <a:p>
              <a:pPr algn="l"/>
              <a:r>
                <a:rPr lang="zh-CN" sz="1050" dirty="0">
                  <a:solidFill>
                    <a:srgbClr val="7BD88F"/>
                  </a:solidFill>
                  <a:latin typeface="Consolas"/>
                  <a:ea typeface="Microsoft YaHei"/>
                  <a:cs typeface="Consolas"/>
                </a:rPr>
                <a:t>image varies</a:t>
              </a:r>
            </a:p>
          </p:txBody>
        </p:sp>
      </p:grpSp>
      <p:grpSp>
        <p:nvGrpSpPr>
          <p:cNvPr id="25" name="Group 25"/>
          <p:cNvGrpSpPr/>
          <p:nvPr/>
        </p:nvGrpSpPr>
        <p:grpSpPr>
          <a:xfrm>
            <a:off x="6324600" y="1466850"/>
            <a:ext cx="5334000" cy="1981200"/>
            <a:chOff x="6324600" y="1466850"/>
            <a:chExt cx="5334000" cy="1981200"/>
          </a:xfrm>
        </p:grpSpPr>
        <p:sp>
          <p:nvSpPr>
            <p:cNvPr id="18" name="Rectangle 18"/>
            <p:cNvSpPr/>
            <p:nvPr/>
          </p:nvSpPr>
          <p:spPr>
            <a:xfrm>
              <a:off x="6324600" y="1466850"/>
              <a:ext cx="5334000" cy="1981200"/>
            </a:xfrm>
            <a:prstGeom prst="roundRect">
              <a:avLst>
                <a:gd name="adj" fmla="val 3846"/>
              </a:avLst>
            </a:prstGeom>
            <a:solidFill>
              <a:srgbClr val="102036"/>
            </a:solidFill>
            <a:ln w="14288">
              <a:solidFill>
                <a:srgbClr val="31506E"/>
              </a:solidFill>
            </a:ln>
          </p:spPr>
        </p:sp>
        <p:sp>
          <p:nvSpPr>
            <p:cNvPr id="19" name="TextBox 19"/>
            <p:cNvSpPr txBox="1"/>
            <p:nvPr/>
          </p:nvSpPr>
          <p:spPr>
            <a:xfrm>
              <a:off x="6591300" y="1724025"/>
              <a:ext cx="4081105" cy="304800"/>
            </a:xfrm>
            <a:prstGeom prst="rect">
              <a:avLst/>
            </a:prstGeom>
            <a:noFill/>
            <a:ln>
              <a:noFill/>
            </a:ln>
          </p:spPr>
          <p:txBody>
            <a:bodyPr wrap="none" lIns="0" tIns="0" rIns="0" bIns="0" anchor="t" anchorCtr="0">
              <a:spAutoFit/>
            </a:bodyPr>
            <a:lstStyle/>
            <a:p>
              <a:pPr algn="l"/>
              <a:r>
                <a:rPr lang="zh-CN" sz="1500" b="1" dirty="0">
                  <a:solidFill>
                    <a:srgbClr val="FF8A80"/>
                  </a:solidFill>
                  <a:latin typeface="Arial"/>
                  <a:ea typeface="Microsoft YaHei"/>
                  <a:cs typeface="Arial"/>
                </a:rPr>
                <a:t>Wrong: real images are always enlarged</a:t>
              </a:r>
            </a:p>
          </p:txBody>
        </p:sp>
        <p:sp>
          <p:nvSpPr>
            <p:cNvPr id="20" name="TextBox 20"/>
            <p:cNvSpPr txBox="1"/>
            <p:nvPr/>
          </p:nvSpPr>
          <p:spPr>
            <a:xfrm>
              <a:off x="6591300" y="2162175"/>
              <a:ext cx="3048000" cy="590550"/>
            </a:xfrm>
            <a:prstGeom prst="rect">
              <a:avLst/>
            </a:prstGeom>
            <a:noFill/>
            <a:ln>
              <a:noFill/>
            </a:ln>
          </p:spPr>
          <p:txBody>
            <a:bodyPr wrap="square" lIns="0" tIns="0" rIns="0" bIns="0" anchor="t" anchorCtr="0"/>
            <a:lstStyle/>
            <a:p>
              <a:pPr algn="l">
                <a:lnSpc>
                  <a:spcPts val="2250"/>
                </a:lnSpc>
              </a:pPr>
              <a:r>
                <a:rPr lang="zh-CN" sz="1500" dirty="0">
                  <a:solidFill>
                    <a:srgbClr val="F5FBFF"/>
                  </a:solidFill>
                  <a:latin typeface="Arial"/>
                  <a:ea typeface="Microsoft YaHei"/>
                  <a:cs typeface="Arial"/>
                </a:rPr>
                <a:t xml:space="preserve">Fix: real images can be reduced, </a:t>
              </a:r>
              <a:r>
                <a:rPr lang="zh-CN" sz="1500" dirty="0">
                  <a:solidFill>
                    <a:srgbClr val="F5FBFF"/>
                  </a:solidFill>
                  <a:latin typeface="Arial"/>
                  <a:ea typeface="Microsoft YaHei"/>
                  <a:cs typeface="Arial"/>
                </a:rPr>
                <a:t>same size, or enlarged.</a:t>
              </a:r>
            </a:p>
          </p:txBody>
        </p:sp>
        <p:sp>
          <p:nvSpPr>
            <p:cNvPr id="21" name="Line 21"/>
            <p:cNvSpPr/>
            <p:nvPr/>
          </p:nvSpPr>
          <p:spPr>
            <a:xfrm>
              <a:off x="9124950" y="2590800"/>
              <a:ext cx="9525" cy="457200"/>
            </a:xfrm>
            <a:custGeom>
              <a:avLst/>
              <a:gdLst/>
              <a:ahLst/>
              <a:cxnLst/>
              <a:rect l="l" t="t" r="r" b="b"/>
              <a:pathLst>
                <a:path w="9525" h="457200">
                  <a:moveTo>
                    <a:pt x="0" y="457200"/>
                  </a:moveTo>
                  <a:lnTo>
                    <a:pt x="0" y="0"/>
                  </a:lnTo>
                </a:path>
              </a:pathLst>
            </a:custGeom>
            <a:noFill/>
            <a:ln w="38100">
              <a:solidFill>
                <a:srgbClr val="EF476F"/>
              </a:solidFill>
            </a:ln>
          </p:spPr>
        </p:sp>
        <p:sp>
          <p:nvSpPr>
            <p:cNvPr id="22" name="Line 22"/>
            <p:cNvSpPr/>
            <p:nvPr/>
          </p:nvSpPr>
          <p:spPr>
            <a:xfrm>
              <a:off x="9429750" y="2781300"/>
              <a:ext cx="9525" cy="266700"/>
            </a:xfrm>
            <a:custGeom>
              <a:avLst/>
              <a:gdLst/>
              <a:ahLst/>
              <a:cxnLst/>
              <a:rect l="l" t="t" r="r" b="b"/>
              <a:pathLst>
                <a:path w="9525" h="266700">
                  <a:moveTo>
                    <a:pt x="0" y="266700"/>
                  </a:moveTo>
                  <a:lnTo>
                    <a:pt x="0" y="0"/>
                  </a:lnTo>
                </a:path>
              </a:pathLst>
            </a:custGeom>
            <a:noFill/>
            <a:ln w="38100">
              <a:solidFill>
                <a:srgbClr val="7BD88F"/>
              </a:solidFill>
            </a:ln>
          </p:spPr>
        </p:sp>
        <p:sp>
          <p:nvSpPr>
            <p:cNvPr id="23" name="Line 23"/>
            <p:cNvSpPr/>
            <p:nvPr/>
          </p:nvSpPr>
          <p:spPr>
            <a:xfrm>
              <a:off x="9734550" y="2476500"/>
              <a:ext cx="9525" cy="571500"/>
            </a:xfrm>
            <a:custGeom>
              <a:avLst/>
              <a:gdLst/>
              <a:ahLst/>
              <a:cxnLst/>
              <a:rect l="l" t="t" r="r" b="b"/>
              <a:pathLst>
                <a:path w="9525" h="571500">
                  <a:moveTo>
                    <a:pt x="0" y="571500"/>
                  </a:moveTo>
                  <a:lnTo>
                    <a:pt x="0" y="0"/>
                  </a:lnTo>
                </a:path>
              </a:pathLst>
            </a:custGeom>
            <a:noFill/>
            <a:ln w="38100">
              <a:solidFill>
                <a:srgbClr val="7BD88F"/>
              </a:solidFill>
            </a:ln>
          </p:spPr>
        </p:sp>
        <p:sp>
          <p:nvSpPr>
            <p:cNvPr id="24" name="TextBox 24"/>
            <p:cNvSpPr txBox="1"/>
            <p:nvPr/>
          </p:nvSpPr>
          <p:spPr>
            <a:xfrm>
              <a:off x="8940165" y="3163252"/>
              <a:ext cx="2084927" cy="213360"/>
            </a:xfrm>
            <a:prstGeom prst="rect">
              <a:avLst/>
            </a:prstGeom>
            <a:noFill/>
            <a:ln>
              <a:noFill/>
            </a:ln>
          </p:spPr>
          <p:txBody>
            <a:bodyPr wrap="none" lIns="0" tIns="0" rIns="0" bIns="0" anchor="t" anchorCtr="0">
              <a:spAutoFit/>
            </a:bodyPr>
            <a:lstStyle/>
            <a:p>
              <a:pPr algn="l"/>
              <a:r>
                <a:rPr lang="zh-CN" sz="1050" dirty="0">
                  <a:solidFill>
                    <a:srgbClr val="92A9B8"/>
                  </a:solidFill>
                  <a:latin typeface="Arial"/>
                  <a:ea typeface="Microsoft YaHei"/>
                  <a:cs typeface="Arial"/>
                </a:rPr>
                <a:t>reduced / enlarged both occur</a:t>
              </a:r>
            </a:p>
          </p:txBody>
        </p:sp>
      </p:grpSp>
      <p:grpSp>
        <p:nvGrpSpPr>
          <p:cNvPr id="32" name="Group 32"/>
          <p:cNvGrpSpPr/>
          <p:nvPr/>
        </p:nvGrpSpPr>
        <p:grpSpPr>
          <a:xfrm>
            <a:off x="533400" y="3771900"/>
            <a:ext cx="5334000" cy="1981200"/>
            <a:chOff x="533400" y="3771900"/>
            <a:chExt cx="5334000" cy="1981200"/>
          </a:xfrm>
        </p:grpSpPr>
        <p:sp>
          <p:nvSpPr>
            <p:cNvPr id="26" name="Rectangle 26"/>
            <p:cNvSpPr/>
            <p:nvPr/>
          </p:nvSpPr>
          <p:spPr>
            <a:xfrm>
              <a:off x="533400" y="3771900"/>
              <a:ext cx="5334000" cy="1981200"/>
            </a:xfrm>
            <a:prstGeom prst="roundRect">
              <a:avLst>
                <a:gd name="adj" fmla="val 3846"/>
              </a:avLst>
            </a:prstGeom>
            <a:solidFill>
              <a:srgbClr val="102036"/>
            </a:solidFill>
            <a:ln w="14288">
              <a:solidFill>
                <a:srgbClr val="31506E"/>
              </a:solidFill>
            </a:ln>
          </p:spPr>
        </p:sp>
        <p:sp>
          <p:nvSpPr>
            <p:cNvPr id="27" name="TextBox 27"/>
            <p:cNvSpPr txBox="1"/>
            <p:nvPr/>
          </p:nvSpPr>
          <p:spPr>
            <a:xfrm>
              <a:off x="800100" y="4029075"/>
              <a:ext cx="3755565" cy="304800"/>
            </a:xfrm>
            <a:prstGeom prst="rect">
              <a:avLst/>
            </a:prstGeom>
            <a:noFill/>
            <a:ln>
              <a:noFill/>
            </a:ln>
          </p:spPr>
          <p:txBody>
            <a:bodyPr wrap="none" lIns="0" tIns="0" rIns="0" bIns="0" anchor="t" anchorCtr="0">
              <a:spAutoFit/>
            </a:bodyPr>
            <a:lstStyle/>
            <a:p>
              <a:pPr algn="l"/>
              <a:r>
                <a:rPr lang="zh-CN" sz="1500" b="1" dirty="0">
                  <a:solidFill>
                    <a:srgbClr val="FF8A80"/>
                  </a:solidFill>
                  <a:latin typeface="Arial"/>
                  <a:ea typeface="Microsoft YaHei"/>
                  <a:cs typeface="Arial"/>
                </a:rPr>
                <a:t>Wrong: ray directions are arbitrary</a:t>
              </a:r>
            </a:p>
          </p:txBody>
        </p:sp>
        <p:sp>
          <p:nvSpPr>
            <p:cNvPr id="28" name="TextBox 28"/>
            <p:cNvSpPr txBox="1"/>
            <p:nvPr/>
          </p:nvSpPr>
          <p:spPr>
            <a:xfrm>
              <a:off x="800100" y="4467225"/>
              <a:ext cx="3362325" cy="590550"/>
            </a:xfrm>
            <a:prstGeom prst="rect">
              <a:avLst/>
            </a:prstGeom>
            <a:noFill/>
            <a:ln>
              <a:noFill/>
            </a:ln>
          </p:spPr>
          <p:txBody>
            <a:bodyPr wrap="square" lIns="0" tIns="0" rIns="0" bIns="0" anchor="t" anchorCtr="0"/>
            <a:lstStyle/>
            <a:p>
              <a:pPr algn="l">
                <a:lnSpc>
                  <a:spcPts val="2250"/>
                </a:lnSpc>
              </a:pPr>
              <a:r>
                <a:rPr lang="zh-CN" sz="1500" dirty="0">
                  <a:solidFill>
                    <a:srgbClr val="F5FBFF"/>
                  </a:solidFill>
                  <a:latin typeface="Arial"/>
                  <a:ea typeface="Microsoft YaHei"/>
                  <a:cs typeface="Arial"/>
                </a:rPr>
                <a:t xml:space="preserve">Fix: every arrow encodes a physical </a:t>
              </a:r>
              <a:r>
                <a:rPr lang="zh-CN" sz="1500" dirty="0">
                  <a:solidFill>
                    <a:srgbClr val="F5FBFF"/>
                  </a:solidFill>
                  <a:latin typeface="Arial"/>
                  <a:ea typeface="Microsoft YaHei"/>
                  <a:cs typeface="Arial"/>
                </a:rPr>
                <a:t>incoming or reflected path.</a:t>
              </a:r>
            </a:p>
          </p:txBody>
        </p:sp>
        <p:sp>
          <p:nvSpPr>
            <p:cNvPr id="29" name="Line 29"/>
            <p:cNvSpPr/>
            <p:nvPr/>
          </p:nvSpPr>
          <p:spPr>
            <a:xfrm>
              <a:off x="3638550" y="5143500"/>
              <a:ext cx="1581150" cy="1"/>
            </a:xfrm>
            <a:prstGeom prst="line">
              <a:avLst/>
            </a:prstGeom>
            <a:noFill/>
            <a:ln w="28575">
              <a:solidFill>
                <a:srgbClr val="FFD166"/>
              </a:solidFill>
              <a:tailEnd type="triangle" w="lg" len="lg"/>
            </a:ln>
          </p:spPr>
        </p:sp>
        <p:sp>
          <p:nvSpPr>
            <p:cNvPr id="30" name="Line 30"/>
            <p:cNvSpPr/>
            <p:nvPr/>
          </p:nvSpPr>
          <p:spPr>
            <a:xfrm flipH="1">
              <a:off x="4324350" y="5143500"/>
              <a:ext cx="895350" cy="419100"/>
            </a:xfrm>
            <a:prstGeom prst="line">
              <a:avLst/>
            </a:prstGeom>
            <a:noFill/>
            <a:ln w="28575">
              <a:solidFill>
                <a:srgbClr val="FFD166"/>
              </a:solidFill>
              <a:tailEnd type="triangle" w="lg" len="lg"/>
            </a:ln>
          </p:spPr>
        </p:sp>
        <p:sp>
          <p:nvSpPr>
            <p:cNvPr id="31" name="TextBox 31"/>
            <p:cNvSpPr txBox="1"/>
            <p:nvPr/>
          </p:nvSpPr>
          <p:spPr>
            <a:xfrm>
              <a:off x="3606165" y="5334952"/>
              <a:ext cx="1258824" cy="213360"/>
            </a:xfrm>
            <a:prstGeom prst="rect">
              <a:avLst/>
            </a:prstGeom>
            <a:noFill/>
            <a:ln>
              <a:noFill/>
            </a:ln>
          </p:spPr>
          <p:txBody>
            <a:bodyPr wrap="none" lIns="0" tIns="0" rIns="0" bIns="0" anchor="t" anchorCtr="0">
              <a:spAutoFit/>
            </a:bodyPr>
            <a:lstStyle/>
            <a:p>
              <a:pPr algn="l"/>
              <a:r>
                <a:rPr lang="zh-CN" sz="1050" dirty="0">
                  <a:solidFill>
                    <a:srgbClr val="FFD166"/>
                  </a:solidFill>
                  <a:latin typeface="Arial"/>
                  <a:ea typeface="Microsoft YaHei"/>
                  <a:cs typeface="Arial"/>
                </a:rPr>
                <a:t>direction matters</a:t>
              </a:r>
            </a:p>
          </p:txBody>
        </p:sp>
      </p:grpSp>
      <p:grpSp>
        <p:nvGrpSpPr>
          <p:cNvPr id="40" name="Group 40"/>
          <p:cNvGrpSpPr/>
          <p:nvPr/>
        </p:nvGrpSpPr>
        <p:grpSpPr>
          <a:xfrm>
            <a:off x="6324600" y="3771900"/>
            <a:ext cx="5334000" cy="2057400"/>
            <a:chOff x="6324600" y="3771900"/>
            <a:chExt cx="5334000" cy="2057400"/>
          </a:xfrm>
        </p:grpSpPr>
        <p:sp>
          <p:nvSpPr>
            <p:cNvPr id="33" name="Rectangle 33"/>
            <p:cNvSpPr/>
            <p:nvPr/>
          </p:nvSpPr>
          <p:spPr>
            <a:xfrm>
              <a:off x="6324600" y="3771900"/>
              <a:ext cx="5334000" cy="1981200"/>
            </a:xfrm>
            <a:prstGeom prst="roundRect">
              <a:avLst>
                <a:gd name="adj" fmla="val 3846"/>
              </a:avLst>
            </a:prstGeom>
            <a:solidFill>
              <a:srgbClr val="102036"/>
            </a:solidFill>
            <a:ln w="14288">
              <a:solidFill>
                <a:srgbClr val="31506E"/>
              </a:solidFill>
            </a:ln>
          </p:spPr>
        </p:sp>
        <p:sp>
          <p:nvSpPr>
            <p:cNvPr id="34" name="TextBox 34"/>
            <p:cNvSpPr txBox="1"/>
            <p:nvPr/>
          </p:nvSpPr>
          <p:spPr>
            <a:xfrm>
              <a:off x="6591300" y="4029075"/>
              <a:ext cx="4102108" cy="304800"/>
            </a:xfrm>
            <a:prstGeom prst="rect">
              <a:avLst/>
            </a:prstGeom>
            <a:noFill/>
            <a:ln>
              <a:noFill/>
            </a:ln>
          </p:spPr>
          <p:txBody>
            <a:bodyPr wrap="none" lIns="0" tIns="0" rIns="0" bIns="0" anchor="t" anchorCtr="0">
              <a:spAutoFit/>
            </a:bodyPr>
            <a:lstStyle/>
            <a:p>
              <a:pPr algn="l"/>
              <a:r>
                <a:rPr lang="zh-CN" sz="1500" b="1" dirty="0">
                  <a:solidFill>
                    <a:srgbClr val="FF8A80"/>
                  </a:solidFill>
                  <a:latin typeface="Arial"/>
                  <a:ea typeface="Microsoft YaHei"/>
                  <a:cs typeface="Arial"/>
                </a:rPr>
                <a:t>Wrong: styling can replace correctness</a:t>
              </a:r>
            </a:p>
          </p:txBody>
        </p:sp>
        <p:sp>
          <p:nvSpPr>
            <p:cNvPr id="35" name="TextBox 35"/>
            <p:cNvSpPr txBox="1"/>
            <p:nvPr/>
          </p:nvSpPr>
          <p:spPr>
            <a:xfrm>
              <a:off x="6591300" y="4467225"/>
              <a:ext cx="3686175" cy="590550"/>
            </a:xfrm>
            <a:prstGeom prst="rect">
              <a:avLst/>
            </a:prstGeom>
            <a:noFill/>
            <a:ln>
              <a:noFill/>
            </a:ln>
          </p:spPr>
          <p:txBody>
            <a:bodyPr wrap="square" lIns="0" tIns="0" rIns="0" bIns="0" anchor="t" anchorCtr="0"/>
            <a:lstStyle/>
            <a:p>
              <a:pPr algn="l">
                <a:lnSpc>
                  <a:spcPts val="2250"/>
                </a:lnSpc>
              </a:pPr>
              <a:r>
                <a:rPr lang="zh-CN" sz="1500" dirty="0">
                  <a:solidFill>
                    <a:srgbClr val="F5FBFF"/>
                  </a:solidFill>
                  <a:latin typeface="Arial"/>
                  <a:ea typeface="Microsoft YaHei"/>
                  <a:cs typeface="Arial"/>
                </a:rPr>
                <a:t xml:space="preserve">Fix: rotate or restyle the diagram only </a:t>
              </a:r>
              <a:r>
                <a:rPr lang="zh-CN" sz="1500" dirty="0">
                  <a:solidFill>
                    <a:srgbClr val="F5FBFF"/>
                  </a:solidFill>
                  <a:latin typeface="Arial"/>
                  <a:ea typeface="Microsoft YaHei"/>
                  <a:cs typeface="Arial"/>
                </a:rPr>
                <a:t>if labels and ray rules remain valid.</a:t>
              </a:r>
            </a:p>
          </p:txBody>
        </p:sp>
        <p:sp>
          <p:nvSpPr>
            <p:cNvPr id="36" name="Freeform 36"/>
            <p:cNvSpPr/>
            <p:nvPr/>
          </p:nvSpPr>
          <p:spPr>
            <a:xfrm>
              <a:off x="9810750" y="4762500"/>
              <a:ext cx="666750" cy="1066800"/>
            </a:xfrm>
            <a:custGeom>
              <a:avLst/>
              <a:gdLst/>
              <a:ahLst/>
              <a:cxnLst/>
              <a:rect l="l" t="t" r="r" b="b"/>
              <a:pathLst>
                <a:path w="666750" h="1066800">
                  <a:moveTo>
                    <a:pt x="0" y="0"/>
                  </a:moveTo>
                  <a:cubicBezTo>
                    <a:pt x="666750" y="304800"/>
                    <a:pt x="666750" y="762000"/>
                    <a:pt x="0" y="1066800"/>
                  </a:cubicBezTo>
                </a:path>
              </a:pathLst>
            </a:custGeom>
            <a:noFill/>
            <a:ln w="38100">
              <a:solidFill>
                <a:srgbClr val="F5FBFF"/>
              </a:solidFill>
            </a:ln>
          </p:spPr>
        </p:sp>
        <p:sp>
          <p:nvSpPr>
            <p:cNvPr id="37" name="Line 37"/>
            <p:cNvSpPr/>
            <p:nvPr/>
          </p:nvSpPr>
          <p:spPr>
            <a:xfrm>
              <a:off x="7886700" y="5181600"/>
              <a:ext cx="1924050" cy="1"/>
            </a:xfrm>
            <a:prstGeom prst="line">
              <a:avLst/>
            </a:prstGeom>
            <a:noFill/>
            <a:ln w="28575">
              <a:solidFill>
                <a:srgbClr val="A9D6E5"/>
              </a:solidFill>
              <a:tailEnd type="triangle" w="lg" len="lg"/>
            </a:ln>
          </p:spPr>
        </p:sp>
        <p:sp>
          <p:nvSpPr>
            <p:cNvPr id="38" name="Line 38"/>
            <p:cNvSpPr/>
            <p:nvPr/>
          </p:nvSpPr>
          <p:spPr>
            <a:xfrm flipH="1">
              <a:off x="8858250" y="5181600"/>
              <a:ext cx="952500" cy="381000"/>
            </a:xfrm>
            <a:prstGeom prst="line">
              <a:avLst/>
            </a:prstGeom>
            <a:noFill/>
            <a:ln w="28575">
              <a:solidFill>
                <a:srgbClr val="A9D6E5"/>
              </a:solidFill>
              <a:tailEnd type="triangle" w="lg" len="lg"/>
            </a:ln>
          </p:spPr>
        </p:sp>
        <p:sp>
          <p:nvSpPr>
            <p:cNvPr id="39" name="TextBox 39"/>
            <p:cNvSpPr txBox="1"/>
            <p:nvPr/>
          </p:nvSpPr>
          <p:spPr>
            <a:xfrm>
              <a:off x="7835265" y="5449252"/>
              <a:ext cx="1566863" cy="213360"/>
            </a:xfrm>
            <a:prstGeom prst="rect">
              <a:avLst/>
            </a:prstGeom>
            <a:noFill/>
            <a:ln>
              <a:noFill/>
            </a:ln>
          </p:spPr>
          <p:txBody>
            <a:bodyPr wrap="none" lIns="0" tIns="0" rIns="0" bIns="0" anchor="t" anchorCtr="0">
              <a:spAutoFit/>
            </a:bodyPr>
            <a:lstStyle/>
            <a:p>
              <a:pPr algn="l"/>
              <a:r>
                <a:rPr lang="zh-CN" sz="1050" dirty="0">
                  <a:solidFill>
                    <a:srgbClr val="92A9B8"/>
                  </a:solidFill>
                  <a:latin typeface="Arial"/>
                  <a:ea typeface="Microsoft YaHei"/>
                  <a:cs typeface="Arial"/>
                </a:rPr>
                <a:t>geometry before style</a:t>
              </a:r>
            </a:p>
          </p:txBody>
        </p:sp>
      </p:grpSp>
      <p:grpSp>
        <p:nvGrpSpPr>
          <p:cNvPr id="43" name="Group 43"/>
          <p:cNvGrpSpPr/>
          <p:nvPr/>
        </p:nvGrpSpPr>
        <p:grpSpPr>
          <a:xfrm>
            <a:off x="521970" y="6284595"/>
            <a:ext cx="11111960" cy="182880"/>
            <a:chOff x="521970" y="6284595"/>
            <a:chExt cx="11111960" cy="182880"/>
          </a:xfrm>
        </p:grpSpPr>
        <p:sp>
          <p:nvSpPr>
            <p:cNvPr id="41" name="TextBox 41"/>
            <p:cNvSpPr txBox="1"/>
            <p:nvPr/>
          </p:nvSpPr>
          <p:spPr>
            <a:xfrm>
              <a:off x="521970" y="6284595"/>
              <a:ext cx="5537549" cy="182880"/>
            </a:xfrm>
            <a:prstGeom prst="rect">
              <a:avLst/>
            </a:prstGeom>
            <a:noFill/>
            <a:ln>
              <a:noFill/>
            </a:ln>
          </p:spPr>
          <p:txBody>
            <a:bodyPr wrap="none" lIns="0" tIns="0" rIns="0" bIns="0" anchor="t" anchorCtr="0">
              <a:spAutoFit/>
            </a:bodyPr>
            <a:lstStyle/>
            <a:p>
              <a:pPr algn="l"/>
              <a:r>
                <a:rPr lang="zh-CN" sz="900" dirty="0">
                  <a:solidFill>
                    <a:srgbClr val="92A9B8"/>
                  </a:solidFill>
                  <a:latin typeface="Arial"/>
                  <a:ea typeface="Microsoft YaHei"/>
                  <a:cs typeface="Arial"/>
                </a:rPr>
                <a:t>Debug rule: name the geometry, choose real ray rules, then infer image type and orientation.</a:t>
              </a:r>
            </a:p>
          </p:txBody>
        </p:sp>
        <p:sp>
          <p:nvSpPr>
            <p:cNvPr id="42" name="TextBox 42"/>
            <p:cNvSpPr txBox="1"/>
            <p:nvPr/>
          </p:nvSpPr>
          <p:spPr>
            <a:xfrm>
              <a:off x="11209020" y="6284595"/>
              <a:ext cx="424910" cy="182880"/>
            </a:xfrm>
            <a:prstGeom prst="rect">
              <a:avLst/>
            </a:prstGeom>
            <a:noFill/>
            <a:ln>
              <a:noFill/>
            </a:ln>
          </p:spPr>
          <p:txBody>
            <a:bodyPr wrap="none" lIns="0" tIns="0" rIns="0" bIns="0" anchor="t" anchorCtr="0">
              <a:spAutoFit/>
            </a:bodyPr>
            <a:lstStyle/>
            <a:p>
              <a:pPr algn="l"/>
              <a:r>
                <a:rPr lang="zh-CN" sz="900" dirty="0">
                  <a:solidFill>
                    <a:srgbClr val="92A9B8"/>
                  </a:solidFill>
                  <a:latin typeface="Consolas"/>
                  <a:ea typeface="Microsoft YaHei"/>
                  <a:cs typeface="Consolas"/>
                </a:rPr>
                <a:t>07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400"/>
                                        <p:tgtEl>
                                          <p:spTgt spid="2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slide(fromBottom)">
                                      <p:cBhvr>
                                        <p:cTn id="15" dur="400"/>
                                        <p:tgtEl>
                                          <p:spTgt spid="32"/>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image">
                                      <p:cBhvr>
                                        <p:cTn id="19"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32" grpId="0"/>
      <p:bldP spid="4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1220"/>
            </a:solidFill>
            <a:ln>
              <a:noFill/>
            </a:ln>
          </p:spPr>
        </p:sp>
        <p:sp>
          <p:nvSpPr>
            <p:cNvPr id="3" name="Freeform 3"/>
            <p:cNvSpPr/>
            <p:nvPr/>
          </p:nvSpPr>
          <p:spPr>
            <a:xfrm>
              <a:off x="0" y="0"/>
              <a:ext cx="12192000" cy="6858000"/>
            </a:xfrm>
            <a:custGeom>
              <a:avLst/>
              <a:gdLst/>
              <a:ahLst/>
              <a:cxnLst/>
              <a:rect l="l" t="t" r="r" b="b"/>
              <a:pathLst>
                <a:path w="12192000" h="6858000">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moveTo>
                    <a:pt x="11430000" y="0"/>
                  </a:moveTo>
                  <a:lnTo>
                    <a:pt x="11430000" y="685800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moveTo>
                    <a:pt x="0" y="6096000"/>
                  </a:moveTo>
                  <a:lnTo>
                    <a:pt x="12192000" y="6096000"/>
                  </a:lnTo>
                </a:path>
              </a:pathLst>
            </a:custGeom>
            <a:noFill/>
            <a:ln w="9525">
              <a:solidFill>
                <a:srgbClr val="1B2E4A"/>
              </a:solidFill>
            </a:ln>
          </p:spPr>
        </p:sp>
        <p:sp>
          <p:nvSpPr>
            <p:cNvPr id="4" name="Rectangle 4"/>
            <p:cNvSpPr/>
            <p:nvPr/>
          </p:nvSpPr>
          <p:spPr>
            <a:xfrm>
              <a:off x="266700" y="266700"/>
              <a:ext cx="11658600" cy="6324600"/>
            </a:xfrm>
            <a:prstGeom prst="rect">
              <a:avLst/>
            </a:prstGeom>
            <a:noFill/>
            <a:ln w="14288">
              <a:solidFill>
                <a:srgbClr val="31506E"/>
              </a:solidFill>
            </a:ln>
          </p:spPr>
        </p:sp>
      </p:grpSp>
      <p:grpSp>
        <p:nvGrpSpPr>
          <p:cNvPr id="8" name="Group 8"/>
          <p:cNvGrpSpPr/>
          <p:nvPr/>
        </p:nvGrpSpPr>
        <p:grpSpPr>
          <a:xfrm>
            <a:off x="575310" y="603885"/>
            <a:ext cx="4775268" cy="815340"/>
            <a:chOff x="575310" y="603885"/>
            <a:chExt cx="4775268" cy="815340"/>
          </a:xfrm>
        </p:grpSpPr>
        <p:sp>
          <p:nvSpPr>
            <p:cNvPr id="6" name="TextBox 6"/>
            <p:cNvSpPr txBox="1"/>
            <p:nvPr/>
          </p:nvSpPr>
          <p:spPr>
            <a:xfrm>
              <a:off x="575310" y="603885"/>
              <a:ext cx="4775268" cy="548640"/>
            </a:xfrm>
            <a:prstGeom prst="rect">
              <a:avLst/>
            </a:prstGeom>
            <a:noFill/>
            <a:ln>
              <a:noFill/>
            </a:ln>
          </p:spPr>
          <p:txBody>
            <a:bodyPr wrap="none" lIns="0" tIns="0" rIns="0" bIns="0" anchor="t" anchorCtr="0">
              <a:spAutoFit/>
            </a:bodyPr>
            <a:lstStyle/>
            <a:p>
              <a:pPr algn="l"/>
              <a:r>
                <a:rPr lang="zh-CN" sz="2700" b="1" dirty="0">
                  <a:solidFill>
                    <a:srgbClr val="F5FBFF"/>
                  </a:solidFill>
                  <a:latin typeface="Arial"/>
                  <a:ea typeface="Microsoft YaHei"/>
                  <a:cs typeface="Arial"/>
                </a:rPr>
                <a:t>Check your understanding</a:t>
              </a:r>
            </a:p>
          </p:txBody>
        </p:sp>
        <p:sp>
          <p:nvSpPr>
            <p:cNvPr id="7" name="TextBox 7"/>
            <p:cNvSpPr txBox="1"/>
            <p:nvPr/>
          </p:nvSpPr>
          <p:spPr>
            <a:xfrm>
              <a:off x="609600" y="1114425"/>
              <a:ext cx="4478655" cy="304800"/>
            </a:xfrm>
            <a:prstGeom prst="rect">
              <a:avLst/>
            </a:prstGeom>
            <a:noFill/>
            <a:ln>
              <a:noFill/>
            </a:ln>
          </p:spPr>
          <p:txBody>
            <a:bodyPr wrap="none" lIns="0" tIns="0" rIns="0" bIns="0" anchor="t" anchorCtr="0">
              <a:spAutoFit/>
            </a:bodyPr>
            <a:lstStyle/>
            <a:p>
              <a:pPr algn="l"/>
              <a:r>
                <a:rPr lang="zh-CN" sz="1500" dirty="0">
                  <a:solidFill>
                    <a:srgbClr val="A9D6E5"/>
                  </a:solidFill>
                  <a:latin typeface="Arial"/>
                  <a:ea typeface="Microsoft YaHei"/>
                  <a:cs typeface="Arial"/>
                </a:rPr>
                <a:t>Can you predict the image before calculating?</a:t>
              </a:r>
            </a:p>
          </p:txBody>
        </p:sp>
      </p:grpSp>
      <p:grpSp>
        <p:nvGrpSpPr>
          <p:cNvPr id="25" name="Group 25"/>
          <p:cNvGrpSpPr/>
          <p:nvPr/>
        </p:nvGrpSpPr>
        <p:grpSpPr>
          <a:xfrm>
            <a:off x="609600" y="1676400"/>
            <a:ext cx="6781800" cy="4000500"/>
            <a:chOff x="609600" y="1676400"/>
            <a:chExt cx="6781800" cy="4000500"/>
          </a:xfrm>
        </p:grpSpPr>
        <p:sp>
          <p:nvSpPr>
            <p:cNvPr id="9" name="Rectangle 9"/>
            <p:cNvSpPr/>
            <p:nvPr/>
          </p:nvSpPr>
          <p:spPr>
            <a:xfrm>
              <a:off x="609600" y="1676400"/>
              <a:ext cx="6515100" cy="4000500"/>
            </a:xfrm>
            <a:prstGeom prst="roundRect">
              <a:avLst>
                <a:gd name="adj" fmla="val 1905"/>
              </a:avLst>
            </a:prstGeom>
            <a:solidFill>
              <a:srgbClr val="102036"/>
            </a:solidFill>
            <a:ln w="14288">
              <a:solidFill>
                <a:srgbClr val="31506E"/>
              </a:solidFill>
            </a:ln>
          </p:spPr>
        </p:sp>
        <p:sp>
          <p:nvSpPr>
            <p:cNvPr id="10" name="Line 10"/>
            <p:cNvSpPr/>
            <p:nvPr/>
          </p:nvSpPr>
          <p:spPr>
            <a:xfrm>
              <a:off x="1123950" y="3829050"/>
              <a:ext cx="5581650" cy="9525"/>
            </a:xfrm>
            <a:custGeom>
              <a:avLst/>
              <a:gdLst/>
              <a:ahLst/>
              <a:cxnLst/>
              <a:rect l="l" t="t" r="r" b="b"/>
              <a:pathLst>
                <a:path w="5581650" h="9525">
                  <a:moveTo>
                    <a:pt x="0" y="0"/>
                  </a:moveTo>
                  <a:lnTo>
                    <a:pt x="5581650" y="0"/>
                  </a:lnTo>
                </a:path>
              </a:pathLst>
            </a:custGeom>
            <a:noFill/>
            <a:ln w="23812">
              <a:solidFill>
                <a:srgbClr val="A9D6E5"/>
              </a:solidFill>
            </a:ln>
          </p:spPr>
        </p:sp>
        <p:sp>
          <p:nvSpPr>
            <p:cNvPr id="11" name="Freeform 11"/>
            <p:cNvSpPr/>
            <p:nvPr/>
          </p:nvSpPr>
          <p:spPr>
            <a:xfrm>
              <a:off x="6324600" y="2343150"/>
              <a:ext cx="1066800" cy="2971800"/>
            </a:xfrm>
            <a:custGeom>
              <a:avLst/>
              <a:gdLst/>
              <a:ahLst/>
              <a:cxnLst/>
              <a:rect l="l" t="t" r="r" b="b"/>
              <a:pathLst>
                <a:path w="1066800" h="2971800">
                  <a:moveTo>
                    <a:pt x="0" y="0"/>
                  </a:moveTo>
                  <a:cubicBezTo>
                    <a:pt x="1066800" y="666750"/>
                    <a:pt x="1066800" y="2305050"/>
                    <a:pt x="0" y="2971800"/>
                  </a:cubicBezTo>
                </a:path>
              </a:pathLst>
            </a:custGeom>
            <a:noFill/>
            <a:ln w="47625">
              <a:solidFill>
                <a:srgbClr val="F5FBFF"/>
              </a:solidFill>
            </a:ln>
          </p:spPr>
        </p:sp>
        <p:sp>
          <p:nvSpPr>
            <p:cNvPr id="12" name="Ellipse 12"/>
            <p:cNvSpPr/>
            <p:nvPr/>
          </p:nvSpPr>
          <p:spPr>
            <a:xfrm>
              <a:off x="6257925" y="3762375"/>
              <a:ext cx="133350" cy="133350"/>
            </a:xfrm>
            <a:prstGeom prst="ellipse">
              <a:avLst/>
            </a:prstGeom>
            <a:solidFill>
              <a:srgbClr val="F5FBFF"/>
            </a:solidFill>
            <a:ln>
              <a:noFill/>
            </a:ln>
          </p:spPr>
        </p:sp>
        <p:sp>
          <p:nvSpPr>
            <p:cNvPr id="13" name="Ellipse 13"/>
            <p:cNvSpPr/>
            <p:nvPr/>
          </p:nvSpPr>
          <p:spPr>
            <a:xfrm>
              <a:off x="4829175" y="3762375"/>
              <a:ext cx="133350" cy="133350"/>
            </a:xfrm>
            <a:prstGeom prst="ellipse">
              <a:avLst/>
            </a:prstGeom>
            <a:solidFill>
              <a:srgbClr val="FFD166"/>
            </a:solidFill>
            <a:ln>
              <a:noFill/>
            </a:ln>
          </p:spPr>
        </p:sp>
        <p:sp>
          <p:nvSpPr>
            <p:cNvPr id="14" name="Ellipse 14"/>
            <p:cNvSpPr/>
            <p:nvPr/>
          </p:nvSpPr>
          <p:spPr>
            <a:xfrm>
              <a:off x="3400425" y="3762375"/>
              <a:ext cx="133350" cy="133350"/>
            </a:xfrm>
            <a:prstGeom prst="ellipse">
              <a:avLst/>
            </a:prstGeom>
            <a:solidFill>
              <a:srgbClr val="EF476F"/>
            </a:solidFill>
            <a:ln>
              <a:noFill/>
            </a:ln>
          </p:spPr>
        </p:sp>
        <p:sp>
          <p:nvSpPr>
            <p:cNvPr id="15" name="TextBox 15"/>
            <p:cNvSpPr txBox="1"/>
            <p:nvPr/>
          </p:nvSpPr>
          <p:spPr>
            <a:xfrm>
              <a:off x="6233160" y="3985260"/>
              <a:ext cx="118491" cy="243840"/>
            </a:xfrm>
            <a:prstGeom prst="rect">
              <a:avLst/>
            </a:prstGeom>
            <a:noFill/>
            <a:ln>
              <a:noFill/>
            </a:ln>
          </p:spPr>
          <p:txBody>
            <a:bodyPr wrap="none" lIns="0" tIns="0" rIns="0" bIns="0" anchor="t" anchorCtr="0">
              <a:spAutoFit/>
            </a:bodyPr>
            <a:lstStyle/>
            <a:p>
              <a:pPr algn="l"/>
              <a:r>
                <a:rPr lang="zh-CN" sz="1200" dirty="0">
                  <a:solidFill>
                    <a:srgbClr val="F5FBFF"/>
                  </a:solidFill>
                  <a:latin typeface="Consolas"/>
                  <a:ea typeface="Microsoft YaHei"/>
                  <a:cs typeface="Consolas"/>
                </a:rPr>
                <a:t>V</a:t>
              </a:r>
            </a:p>
          </p:txBody>
        </p:sp>
        <p:sp>
          <p:nvSpPr>
            <p:cNvPr id="16" name="TextBox 16"/>
            <p:cNvSpPr txBox="1"/>
            <p:nvPr/>
          </p:nvSpPr>
          <p:spPr>
            <a:xfrm>
              <a:off x="4804410" y="3985260"/>
              <a:ext cx="118491" cy="243840"/>
            </a:xfrm>
            <a:prstGeom prst="rect">
              <a:avLst/>
            </a:prstGeom>
            <a:noFill/>
            <a:ln>
              <a:noFill/>
            </a:ln>
          </p:spPr>
          <p:txBody>
            <a:bodyPr wrap="none" lIns="0" tIns="0" rIns="0" bIns="0" anchor="t" anchorCtr="0">
              <a:spAutoFit/>
            </a:bodyPr>
            <a:lstStyle/>
            <a:p>
              <a:pPr algn="l"/>
              <a:r>
                <a:rPr lang="zh-CN" sz="1200" dirty="0">
                  <a:solidFill>
                    <a:srgbClr val="FFD166"/>
                  </a:solidFill>
                  <a:latin typeface="Consolas"/>
                  <a:ea typeface="Microsoft YaHei"/>
                  <a:cs typeface="Consolas"/>
                </a:rPr>
                <a:t>F</a:t>
              </a:r>
            </a:p>
          </p:txBody>
        </p:sp>
        <p:sp>
          <p:nvSpPr>
            <p:cNvPr id="17" name="TextBox 17"/>
            <p:cNvSpPr txBox="1"/>
            <p:nvPr/>
          </p:nvSpPr>
          <p:spPr>
            <a:xfrm>
              <a:off x="3375660" y="3985260"/>
              <a:ext cx="118491" cy="243840"/>
            </a:xfrm>
            <a:prstGeom prst="rect">
              <a:avLst/>
            </a:prstGeom>
            <a:noFill/>
            <a:ln>
              <a:noFill/>
            </a:ln>
          </p:spPr>
          <p:txBody>
            <a:bodyPr wrap="none" lIns="0" tIns="0" rIns="0" bIns="0" anchor="t" anchorCtr="0">
              <a:spAutoFit/>
            </a:bodyPr>
            <a:lstStyle/>
            <a:p>
              <a:pPr algn="l"/>
              <a:r>
                <a:rPr lang="zh-CN" sz="1200" dirty="0">
                  <a:solidFill>
                    <a:srgbClr val="EF476F"/>
                  </a:solidFill>
                  <a:latin typeface="Consolas"/>
                  <a:ea typeface="Microsoft YaHei"/>
                  <a:cs typeface="Consolas"/>
                </a:rPr>
                <a:t>C</a:t>
              </a:r>
            </a:p>
          </p:txBody>
        </p:sp>
        <p:sp>
          <p:nvSpPr>
            <p:cNvPr id="18" name="Line 18"/>
            <p:cNvSpPr/>
            <p:nvPr/>
          </p:nvSpPr>
          <p:spPr>
            <a:xfrm flipV="1">
              <a:off x="4171950" y="2686050"/>
              <a:ext cx="1" cy="1143000"/>
            </a:xfrm>
            <a:prstGeom prst="line">
              <a:avLst/>
            </a:prstGeom>
            <a:noFill/>
            <a:ln w="47625">
              <a:solidFill>
                <a:srgbClr val="EF476F"/>
              </a:solidFill>
              <a:tailEnd type="triangle" w="lg" len="lg"/>
            </a:ln>
          </p:spPr>
        </p:sp>
        <p:sp>
          <p:nvSpPr>
            <p:cNvPr id="19" name="TextBox 19"/>
            <p:cNvSpPr txBox="1"/>
            <p:nvPr/>
          </p:nvSpPr>
          <p:spPr>
            <a:xfrm>
              <a:off x="3777615" y="4249102"/>
              <a:ext cx="1573863" cy="213360"/>
            </a:xfrm>
            <a:prstGeom prst="rect">
              <a:avLst/>
            </a:prstGeom>
            <a:noFill/>
            <a:ln>
              <a:noFill/>
            </a:ln>
          </p:spPr>
          <p:txBody>
            <a:bodyPr wrap="none" lIns="0" tIns="0" rIns="0" bIns="0" anchor="t" anchorCtr="0">
              <a:spAutoFit/>
            </a:bodyPr>
            <a:lstStyle/>
            <a:p>
              <a:pPr algn="l"/>
              <a:r>
                <a:rPr lang="zh-CN" sz="1050" dirty="0">
                  <a:solidFill>
                    <a:srgbClr val="EF476F"/>
                  </a:solidFill>
                  <a:latin typeface="Arial"/>
                  <a:ea typeface="Microsoft YaHei"/>
                  <a:cs typeface="Arial"/>
                </a:rPr>
                <a:t>object between C and F</a:t>
              </a:r>
            </a:p>
          </p:txBody>
        </p:sp>
        <p:sp>
          <p:nvSpPr>
            <p:cNvPr id="20" name="Line 20"/>
            <p:cNvSpPr/>
            <p:nvPr/>
          </p:nvSpPr>
          <p:spPr>
            <a:xfrm>
              <a:off x="4171950" y="2686050"/>
              <a:ext cx="2152650" cy="1"/>
            </a:xfrm>
            <a:prstGeom prst="line">
              <a:avLst/>
            </a:prstGeom>
            <a:noFill/>
            <a:ln w="28575">
              <a:solidFill>
                <a:srgbClr val="FFD166"/>
              </a:solidFill>
              <a:tailEnd type="triangle" w="lg" len="lg"/>
            </a:ln>
          </p:spPr>
        </p:sp>
        <p:sp>
          <p:nvSpPr>
            <p:cNvPr id="21" name="Line 21"/>
            <p:cNvSpPr/>
            <p:nvPr/>
          </p:nvSpPr>
          <p:spPr>
            <a:xfrm flipH="1">
              <a:off x="4895850" y="2686050"/>
              <a:ext cx="1428750" cy="1143000"/>
            </a:xfrm>
            <a:prstGeom prst="line">
              <a:avLst/>
            </a:prstGeom>
            <a:noFill/>
            <a:ln w="28575">
              <a:solidFill>
                <a:srgbClr val="FFD166"/>
              </a:solidFill>
              <a:tailEnd type="triangle" w="lg" len="lg"/>
            </a:ln>
          </p:spPr>
        </p:sp>
        <p:sp>
          <p:nvSpPr>
            <p:cNvPr id="22" name="Line 22"/>
            <p:cNvSpPr/>
            <p:nvPr/>
          </p:nvSpPr>
          <p:spPr>
            <a:xfrm flipH="1">
              <a:off x="3467100" y="2686050"/>
              <a:ext cx="704850" cy="1143000"/>
            </a:xfrm>
            <a:prstGeom prst="line">
              <a:avLst/>
            </a:prstGeom>
            <a:noFill/>
            <a:ln w="28575">
              <a:solidFill>
                <a:srgbClr val="A9D6E5"/>
              </a:solidFill>
              <a:tailEnd type="triangle" w="lg" len="lg"/>
            </a:ln>
          </p:spPr>
        </p:sp>
        <p:sp>
          <p:nvSpPr>
            <p:cNvPr id="23" name="Line 23"/>
            <p:cNvSpPr/>
            <p:nvPr/>
          </p:nvSpPr>
          <p:spPr>
            <a:xfrm>
              <a:off x="3467100" y="3829050"/>
              <a:ext cx="2857500" cy="1390650"/>
            </a:xfrm>
            <a:prstGeom prst="line">
              <a:avLst/>
            </a:prstGeom>
            <a:noFill/>
            <a:ln w="28575">
              <a:solidFill>
                <a:srgbClr val="A9D6E5"/>
              </a:solidFill>
              <a:tailEnd type="triangle" w="lg" len="lg"/>
            </a:ln>
          </p:spPr>
        </p:sp>
        <p:sp>
          <p:nvSpPr>
            <p:cNvPr id="24" name="TextBox 24"/>
            <p:cNvSpPr txBox="1"/>
            <p:nvPr/>
          </p:nvSpPr>
          <p:spPr>
            <a:xfrm>
              <a:off x="971550" y="4981575"/>
              <a:ext cx="5028724" cy="304800"/>
            </a:xfrm>
            <a:prstGeom prst="rect">
              <a:avLst/>
            </a:prstGeom>
            <a:noFill/>
            <a:ln>
              <a:noFill/>
            </a:ln>
          </p:spPr>
          <p:txBody>
            <a:bodyPr wrap="none" lIns="0" tIns="0" rIns="0" bIns="0" anchor="t" anchorCtr="0">
              <a:spAutoFit/>
            </a:bodyPr>
            <a:lstStyle/>
            <a:p>
              <a:pPr algn="l"/>
              <a:r>
                <a:rPr lang="zh-CN" sz="1500" dirty="0">
                  <a:solidFill>
                    <a:srgbClr val="F5FBFF"/>
                  </a:solidFill>
                  <a:latin typeface="Arial"/>
                  <a:ea typeface="Microsoft YaHei"/>
                  <a:cs typeface="Arial"/>
                </a:rPr>
                <a:t>Question: where will the two reflected rays meet?</a:t>
              </a:r>
            </a:p>
          </p:txBody>
        </p:sp>
      </p:grpSp>
      <p:grpSp>
        <p:nvGrpSpPr>
          <p:cNvPr id="32" name="Group 32"/>
          <p:cNvGrpSpPr/>
          <p:nvPr/>
        </p:nvGrpSpPr>
        <p:grpSpPr>
          <a:xfrm>
            <a:off x="7562850" y="1676400"/>
            <a:ext cx="4343400" cy="4000500"/>
            <a:chOff x="7562850" y="1676400"/>
            <a:chExt cx="4343400" cy="4000500"/>
          </a:xfrm>
        </p:grpSpPr>
        <p:sp>
          <p:nvSpPr>
            <p:cNvPr id="26" name="Rectangle 26"/>
            <p:cNvSpPr/>
            <p:nvPr/>
          </p:nvSpPr>
          <p:spPr>
            <a:xfrm>
              <a:off x="7562850" y="1676400"/>
              <a:ext cx="4019550" cy="4000500"/>
            </a:xfrm>
            <a:prstGeom prst="roundRect">
              <a:avLst>
                <a:gd name="adj" fmla="val 1905"/>
              </a:avLst>
            </a:prstGeom>
            <a:solidFill>
              <a:srgbClr val="152940"/>
            </a:solidFill>
            <a:ln w="14288">
              <a:solidFill>
                <a:srgbClr val="31506E"/>
              </a:solidFill>
            </a:ln>
          </p:spPr>
        </p:sp>
        <p:sp>
          <p:nvSpPr>
            <p:cNvPr id="27" name="TextBox 27"/>
            <p:cNvSpPr txBox="1"/>
            <p:nvPr/>
          </p:nvSpPr>
          <p:spPr>
            <a:xfrm>
              <a:off x="7823835" y="1942148"/>
              <a:ext cx="3257681" cy="396240"/>
            </a:xfrm>
            <a:prstGeom prst="rect">
              <a:avLst/>
            </a:prstGeom>
            <a:noFill/>
            <a:ln>
              <a:noFill/>
            </a:ln>
          </p:spPr>
          <p:txBody>
            <a:bodyPr wrap="none" lIns="0" tIns="0" rIns="0" bIns="0" anchor="t" anchorCtr="0">
              <a:spAutoFit/>
            </a:bodyPr>
            <a:lstStyle/>
            <a:p>
              <a:pPr algn="l"/>
              <a:r>
                <a:rPr lang="zh-CN" sz="1950" b="1" dirty="0">
                  <a:solidFill>
                    <a:srgbClr val="F5FBFF"/>
                  </a:solidFill>
                  <a:latin typeface="Arial"/>
                  <a:ea typeface="Microsoft YaHei"/>
                  <a:cs typeface="Arial"/>
                </a:rPr>
                <a:t>Five-step answer frame</a:t>
              </a:r>
            </a:p>
          </p:txBody>
        </p:sp>
        <p:sp>
          <p:nvSpPr>
            <p:cNvPr id="28" name="TextBox 28"/>
            <p:cNvSpPr txBox="1"/>
            <p:nvPr/>
          </p:nvSpPr>
          <p:spPr>
            <a:xfrm>
              <a:off x="7905750" y="2562225"/>
              <a:ext cx="4000500" cy="1981200"/>
            </a:xfrm>
            <a:prstGeom prst="rect">
              <a:avLst/>
            </a:prstGeom>
            <a:noFill/>
            <a:ln>
              <a:noFill/>
            </a:ln>
          </p:spPr>
          <p:txBody>
            <a:bodyPr wrap="square" lIns="0" tIns="0" rIns="0" bIns="0" anchor="t" anchorCtr="0"/>
            <a:lstStyle/>
            <a:p>
              <a:pPr algn="l">
                <a:lnSpc>
                  <a:spcPts val="3300"/>
                </a:lnSpc>
              </a:pPr>
              <a:r>
                <a:rPr lang="zh-CN" sz="1500" dirty="0">
                  <a:solidFill>
                    <a:srgbClr val="F5FBFF"/>
                  </a:solidFill>
                  <a:latin typeface="Arial"/>
                  <a:ea typeface="Microsoft YaHei"/>
                  <a:cs typeface="Arial"/>
                </a:rPr>
                <a:t xml:space="preserve">1. Name V, F, C, and the axis. </a:t>
              </a:r>
              <a:r>
                <a:rPr lang="zh-CN" sz="1500" dirty="0">
                  <a:solidFill>
                    <a:srgbClr val="F5FBFF"/>
                  </a:solidFill>
                  <a:latin typeface="Arial"/>
                  <a:ea typeface="Microsoft YaHei"/>
                  <a:cs typeface="Arial"/>
                </a:rPr>
                <a:t xml:space="preserve">2. Place the object relative to F and C. </a:t>
              </a:r>
              <a:r>
                <a:rPr lang="zh-CN" sz="1500" dirty="0">
                  <a:solidFill>
                    <a:srgbClr val="F5FBFF"/>
                  </a:solidFill>
                  <a:latin typeface="Arial"/>
                  <a:ea typeface="Microsoft YaHei"/>
                  <a:cs typeface="Arial"/>
                </a:rPr>
                <a:t xml:space="preserve">3. Choose two principal rays. </a:t>
              </a:r>
              <a:r>
                <a:rPr lang="zh-CN" sz="1500" dirty="0">
                  <a:solidFill>
                    <a:srgbClr val="F5FBFF"/>
                  </a:solidFill>
                  <a:latin typeface="Arial"/>
                  <a:ea typeface="Microsoft YaHei"/>
                  <a:cs typeface="Arial"/>
                </a:rPr>
                <a:t xml:space="preserve">4. Locate the reflected-ray intersection. </a:t>
              </a:r>
              <a:r>
                <a:rPr lang="zh-CN" sz="1500" dirty="0">
                  <a:solidFill>
                    <a:srgbClr val="F5FBFF"/>
                  </a:solidFill>
                  <a:latin typeface="Arial"/>
                  <a:ea typeface="Microsoft YaHei"/>
                  <a:cs typeface="Arial"/>
                </a:rPr>
                <a:t>5. State type, orientation, and size.</a:t>
              </a:r>
            </a:p>
          </p:txBody>
        </p:sp>
        <p:sp>
          <p:nvSpPr>
            <p:cNvPr id="29" name="Rectangle 29"/>
            <p:cNvSpPr/>
            <p:nvPr/>
          </p:nvSpPr>
          <p:spPr>
            <a:xfrm>
              <a:off x="7848600" y="4857750"/>
              <a:ext cx="3200400" cy="647700"/>
            </a:xfrm>
            <a:prstGeom prst="roundRect">
              <a:avLst>
                <a:gd name="adj" fmla="val 8824"/>
              </a:avLst>
            </a:prstGeom>
            <a:solidFill>
              <a:srgbClr val="102036"/>
            </a:solidFill>
            <a:ln w="14288">
              <a:solidFill>
                <a:srgbClr val="FFD166"/>
              </a:solidFill>
            </a:ln>
          </p:spPr>
        </p:sp>
        <p:sp>
          <p:nvSpPr>
            <p:cNvPr id="30" name="TextBox 30"/>
            <p:cNvSpPr txBox="1"/>
            <p:nvPr/>
          </p:nvSpPr>
          <p:spPr>
            <a:xfrm>
              <a:off x="8061960" y="4994910"/>
              <a:ext cx="2198751" cy="243840"/>
            </a:xfrm>
            <a:prstGeom prst="rect">
              <a:avLst/>
            </a:prstGeom>
            <a:noFill/>
            <a:ln>
              <a:noFill/>
            </a:ln>
          </p:spPr>
          <p:txBody>
            <a:bodyPr wrap="none" lIns="0" tIns="0" rIns="0" bIns="0" anchor="t" anchorCtr="0">
              <a:spAutoFit/>
            </a:bodyPr>
            <a:lstStyle/>
            <a:p>
              <a:pPr algn="l"/>
              <a:r>
                <a:rPr lang="zh-CN" sz="1200" dirty="0">
                  <a:solidFill>
                    <a:srgbClr val="FFD166"/>
                  </a:solidFill>
                  <a:latin typeface="Arial"/>
                  <a:ea typeface="Microsoft YaHei"/>
                  <a:cs typeface="Arial"/>
                </a:rPr>
                <a:t>Prediction for this prompt:</a:t>
              </a:r>
            </a:p>
          </p:txBody>
        </p:sp>
        <p:sp>
          <p:nvSpPr>
            <p:cNvPr id="31" name="TextBox 31"/>
            <p:cNvSpPr txBox="1"/>
            <p:nvPr/>
          </p:nvSpPr>
          <p:spPr>
            <a:xfrm>
              <a:off x="8061960" y="5223510"/>
              <a:ext cx="2030730" cy="243840"/>
            </a:xfrm>
            <a:prstGeom prst="rect">
              <a:avLst/>
            </a:prstGeom>
            <a:noFill/>
            <a:ln>
              <a:noFill/>
            </a:ln>
          </p:spPr>
          <p:txBody>
            <a:bodyPr wrap="none" lIns="0" tIns="0" rIns="0" bIns="0" anchor="t" anchorCtr="0">
              <a:spAutoFit/>
            </a:bodyPr>
            <a:lstStyle/>
            <a:p>
              <a:pPr algn="l"/>
              <a:r>
                <a:rPr lang="zh-CN" sz="1200" dirty="0">
                  <a:solidFill>
                    <a:srgbClr val="FFD166"/>
                  </a:solidFill>
                  <a:latin typeface="Arial"/>
                  <a:ea typeface="Microsoft YaHei"/>
                  <a:cs typeface="Arial"/>
                </a:rPr>
                <a:t>real, inverted, enlarged.</a:t>
              </a:r>
            </a:p>
          </p:txBody>
        </p:sp>
      </p:grpSp>
      <p:grpSp>
        <p:nvGrpSpPr>
          <p:cNvPr id="35" name="Group 35"/>
          <p:cNvGrpSpPr/>
          <p:nvPr/>
        </p:nvGrpSpPr>
        <p:grpSpPr>
          <a:xfrm>
            <a:off x="598170" y="6151245"/>
            <a:ext cx="11035760" cy="182880"/>
            <a:chOff x="598170" y="6151245"/>
            <a:chExt cx="11035760" cy="182880"/>
          </a:xfrm>
        </p:grpSpPr>
        <p:sp>
          <p:nvSpPr>
            <p:cNvPr id="33" name="TextBox 33"/>
            <p:cNvSpPr txBox="1"/>
            <p:nvPr/>
          </p:nvSpPr>
          <p:spPr>
            <a:xfrm>
              <a:off x="598170" y="6151245"/>
              <a:ext cx="4373404" cy="182880"/>
            </a:xfrm>
            <a:prstGeom prst="rect">
              <a:avLst/>
            </a:prstGeom>
            <a:noFill/>
            <a:ln>
              <a:noFill/>
            </a:ln>
          </p:spPr>
          <p:txBody>
            <a:bodyPr wrap="none" lIns="0" tIns="0" rIns="0" bIns="0" anchor="t" anchorCtr="0">
              <a:spAutoFit/>
            </a:bodyPr>
            <a:lstStyle/>
            <a:p>
              <a:pPr algn="l"/>
              <a:r>
                <a:rPr lang="zh-CN" sz="900" dirty="0">
                  <a:solidFill>
                    <a:srgbClr val="92A9B8"/>
                  </a:solidFill>
                  <a:latin typeface="Arial"/>
                  <a:ea typeface="Microsoft YaHei"/>
                  <a:cs typeface="Arial"/>
                </a:rPr>
                <a:t>Recap: diagram first, equation check second, interpretation always last.</a:t>
              </a:r>
            </a:p>
          </p:txBody>
        </p:sp>
        <p:sp>
          <p:nvSpPr>
            <p:cNvPr id="34" name="TextBox 34"/>
            <p:cNvSpPr txBox="1"/>
            <p:nvPr/>
          </p:nvSpPr>
          <p:spPr>
            <a:xfrm>
              <a:off x="11209020" y="6151245"/>
              <a:ext cx="424910" cy="182880"/>
            </a:xfrm>
            <a:prstGeom prst="rect">
              <a:avLst/>
            </a:prstGeom>
            <a:noFill/>
            <a:ln>
              <a:noFill/>
            </a:ln>
          </p:spPr>
          <p:txBody>
            <a:bodyPr wrap="none" lIns="0" tIns="0" rIns="0" bIns="0" anchor="t" anchorCtr="0">
              <a:spAutoFit/>
            </a:bodyPr>
            <a:lstStyle/>
            <a:p>
              <a:pPr algn="l"/>
              <a:r>
                <a:rPr lang="zh-CN" sz="900" dirty="0">
                  <a:solidFill>
                    <a:srgbClr val="92A9B8"/>
                  </a:solidFill>
                  <a:latin typeface="Consolas"/>
                  <a:ea typeface="Microsoft YaHei"/>
                  <a:cs typeface="Consolas"/>
                </a:rPr>
                <a:t>08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400"/>
                                        <p:tgtEl>
                                          <p:spTgt spid="25"/>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slide(fromBottom)">
                                      <p:cBhvr>
                                        <p:cTn id="15"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5" grpId="0"/>
      <p:bldP spid="3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2026-07-03T04:09:57Z</dcterms:created>
  <dcterms:modified xsi:type="dcterms:W3CDTF">2026-07-03T04:09:57Z</dcterms:modified>
  <cp:category/>
  <cp:contentStatus/>
</cp:coreProperties>
</file>
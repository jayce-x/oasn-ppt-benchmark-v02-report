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22334"/>
                </a:solidFill>
              </a:rPr>
              <a:t>Monthly Revenue · Apr–Jun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122334"/>
            </a:solidFill>
          </c:spPr>
          <c:cat>
            <c:strRef>
              <c:f>Sheet1!$A$2:$A$4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205450</c:v>
                </c:pt>
                <c:pt idx="1">
                  <c:v>271600</c:v>
                </c:pt>
                <c:pt idx="2">
                  <c:v>349675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>
                  <a:solidFill>
                    <a:srgbClr val="3E48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1E6"/>
            </a:solidFill>
          </a:ln>
        </c:spPr>
        <c:txPr>
          <a:bodyPr/>
          <a:lstStyle/>
          <a:p>
            <a:pPr>
              <a:defRPr sz="1050" b="1">
                <a:solidFill>
                  <a:srgbClr val="3E485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F1F4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788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Q2 Growth Review — 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02920"/>
            <a:ext cx="105156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CFD8E0"/>
                </a:solidFill>
              </a:rPr>
              <a:t>Apr–Jun 2026  ·  Source: slide 1 table &amp; growth-meeting notes  ·  All values derived from slide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32688"/>
            <a:ext cx="3703320" cy="932688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32688"/>
            <a:ext cx="82296" cy="932688"/>
          </a:xfrm>
          <a:prstGeom prst="rect">
            <a:avLst/>
          </a:prstGeom>
          <a:solidFill>
            <a:srgbClr val="12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024128"/>
            <a:ext cx="3337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E7882"/>
                </a:solidFill>
              </a:rPr>
              <a:t>TOTAL Q2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07008"/>
            <a:ext cx="3337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22334"/>
                </a:solidFill>
              </a:rPr>
              <a:t>$826,725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27632"/>
            <a:ext cx="3337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882"/>
                </a:solidFill>
              </a:rPr>
              <a:t>Sum of Apr + May + Jun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932688"/>
            <a:ext cx="3703320" cy="932688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932688"/>
            <a:ext cx="82296" cy="932688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024128"/>
            <a:ext cx="3337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E7882"/>
                </a:solidFill>
              </a:rPr>
              <a:t>TOTAL PAID CONVERSIONS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207008"/>
            <a:ext cx="3337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22334"/>
                </a:solidFill>
              </a:rPr>
              <a:t>4,020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627632"/>
            <a:ext cx="3337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882"/>
                </a:solidFill>
              </a:rPr>
              <a:t>Sum of Apr–Jun paid conversions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932688"/>
            <a:ext cx="3703320" cy="932688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932688"/>
            <a:ext cx="82296" cy="932688"/>
          </a:xfrm>
          <a:prstGeom prst="rect">
            <a:avLst/>
          </a:prstGeom>
          <a:solidFill>
            <a:srgbClr val="EE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024128"/>
            <a:ext cx="3337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E7882"/>
                </a:solidFill>
              </a:rPr>
              <a:t>BLENDED CAC / PAID CONV.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207008"/>
            <a:ext cx="3337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122334"/>
                </a:solidFill>
              </a:rPr>
              <a:t>$29.60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627632"/>
            <a:ext cx="3337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882"/>
                </a:solidFill>
              </a:rPr>
              <a:t>$119,000 ad spend ÷ 4,020 conv.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011680"/>
            <a:ext cx="5623559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11480" y="2057400"/>
          <a:ext cx="55321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126480" y="2057400"/>
            <a:ext cx="566928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130552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22334"/>
                </a:solidFill>
              </a:rPr>
              <a:t>Channel Efficiency · Q2 Totals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368296"/>
            <a:ext cx="530352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>
                <a:solidFill>
                  <a:srgbClr val="6E7882"/>
                </a:solidFill>
              </a:rPr>
              <a:t>Lower CAC is better  ·  Higher M30 retention is better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62432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22334"/>
                </a:solidFill>
              </a:rPr>
              <a:t>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624328"/>
            <a:ext cx="11887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22334"/>
                </a:solidFill>
              </a:rPr>
              <a:t>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62432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22334"/>
                </a:solidFill>
              </a:rPr>
              <a:t>Paid Conv.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62432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22334"/>
                </a:solidFill>
              </a:rPr>
              <a:t>CAC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262432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122334"/>
                </a:solidFill>
              </a:rPr>
              <a:t>M30 Ret.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25496"/>
            <a:ext cx="5303520" cy="10972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89864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122334"/>
                </a:solidFill>
              </a:rPr>
              <a:t>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898648"/>
            <a:ext cx="11887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$247,925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086100"/>
            <a:ext cx="11521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33488" y="3086100"/>
            <a:ext cx="1152144" cy="77724"/>
          </a:xfrm>
          <a:prstGeom prst="rect">
            <a:avLst/>
          </a:prstGeom>
          <a:solidFill>
            <a:srgbClr val="12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289864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1,295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67928" y="308610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67928" y="3086100"/>
            <a:ext cx="923544" cy="77724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289864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$27.49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73767" y="308610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73767" y="3086100"/>
            <a:ext cx="397221" cy="77724"/>
          </a:xfrm>
          <a:prstGeom prst="rect">
            <a:avLst/>
          </a:prstGeom>
          <a:solidFill>
            <a:srgbClr val="EE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61320" y="289864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83%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79608" y="308610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79608" y="3086100"/>
            <a:ext cx="766541" cy="77724"/>
          </a:xfrm>
          <a:prstGeom prst="rect">
            <a:avLst/>
          </a:prstGeom>
          <a:solidFill>
            <a:srgbClr val="EE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26440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CD4949"/>
                </a:solidFill>
              </a:rPr>
              <a:t>Paid Social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264408"/>
            <a:ext cx="11887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$180,550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3488" y="3451860"/>
            <a:ext cx="11521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33488" y="3451860"/>
            <a:ext cx="839042" cy="77724"/>
          </a:xfrm>
          <a:prstGeom prst="rect">
            <a:avLst/>
          </a:prstGeom>
          <a:solidFill>
            <a:srgbClr val="12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326440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945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67928" y="345186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67928" y="3451860"/>
            <a:ext cx="673937" cy="77724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326440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$63.92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73767" y="345186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73767" y="3451860"/>
            <a:ext cx="923544" cy="77724"/>
          </a:xfrm>
          <a:prstGeom prst="rect">
            <a:avLst/>
          </a:prstGeom>
          <a:solidFill>
            <a:srgbClr val="CD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61320" y="326440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74%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79608" y="345186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579608" y="3451860"/>
            <a:ext cx="683422" cy="77724"/>
          </a:xfrm>
          <a:prstGeom prst="rect">
            <a:avLst/>
          </a:prstGeom>
          <a:solidFill>
            <a:srgbClr val="CD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363016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0847D"/>
                </a:solidFill>
              </a:rPr>
              <a:t>Referral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3630168"/>
            <a:ext cx="11887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$239,150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33488" y="3817620"/>
            <a:ext cx="11521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33488" y="3817620"/>
            <a:ext cx="1111365" cy="77724"/>
          </a:xfrm>
          <a:prstGeom prst="rect">
            <a:avLst/>
          </a:prstGeom>
          <a:solidFill>
            <a:srgbClr val="12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9640" y="363016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1,085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67928" y="381762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67928" y="3817620"/>
            <a:ext cx="773780" cy="77724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363016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$8.11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73767" y="381762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73767" y="3817620"/>
            <a:ext cx="117194" cy="77724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61320" y="363016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90%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79608" y="381762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79608" y="3817620"/>
            <a:ext cx="831189" cy="77724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09360" y="3995928"/>
            <a:ext cx="960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EEA836"/>
                </a:solidFill>
              </a:rPr>
              <a:t>Partner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3995928"/>
            <a:ext cx="11887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$159,100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33488" y="4183380"/>
            <a:ext cx="11521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33488" y="4183380"/>
            <a:ext cx="739361" cy="77724"/>
          </a:xfrm>
          <a:prstGeom prst="rect">
            <a:avLst/>
          </a:prstGeom>
          <a:solidFill>
            <a:srgbClr val="12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9640" y="399592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695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67928" y="418338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67928" y="4183380"/>
            <a:ext cx="495647" cy="77724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55480" y="399592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$20.43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73767" y="418338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73767" y="4183380"/>
            <a:ext cx="295226" cy="77724"/>
          </a:xfrm>
          <a:prstGeom prst="rect">
            <a:avLst/>
          </a:prstGeom>
          <a:solidFill>
            <a:srgbClr val="EE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1320" y="3995928"/>
            <a:ext cx="9601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3E4854"/>
                </a:solidFill>
              </a:rPr>
              <a:t>88%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79608" y="4183380"/>
            <a:ext cx="923544" cy="77724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79608" y="4183380"/>
            <a:ext cx="812718" cy="77724"/>
          </a:xfrm>
          <a:prstGeom prst="rect">
            <a:avLst/>
          </a:prstGeom>
          <a:solidFill>
            <a:srgbClr val="EE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11480" y="4498848"/>
            <a:ext cx="11384280" cy="16276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1480" y="4498848"/>
            <a:ext cx="91440" cy="1627632"/>
          </a:xfrm>
          <a:prstGeom prst="rect">
            <a:avLst/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7512" y="4590288"/>
            <a:ext cx="10927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847D"/>
                </a:solidFill>
              </a:rPr>
              <a:t>Recommendation:  </a:t>
            </a:r>
            <a:r>
              <a:rPr sz="1300" b="1">
                <a:solidFill>
                  <a:srgbClr val="122334"/>
                </a:solidFill>
              </a:rPr>
              <a:t>Reallocate spend toward efficient, high-retention channels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4400" y="493776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00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4400" y="4956048"/>
            <a:ext cx="141732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REFERRAL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5230368"/>
            <a:ext cx="26974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E4854"/>
                </a:solidFill>
              </a:rPr>
              <a:t>Scale up — lowest CAC ($8.11) and best M30 retention (90%); strongest revenue efficiency.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566160" y="493776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22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66160" y="4956048"/>
            <a:ext cx="141732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66160" y="5230368"/>
            <a:ext cx="26974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E4854"/>
                </a:solidFill>
              </a:rPr>
              <a:t>Sustain — top Q2 revenue ($247.9K) with healthy 83% retention; core growth engine.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217920" y="493776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CD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17920" y="4956048"/>
            <a:ext cx="141732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PAID SOCIAL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17920" y="5230368"/>
            <a:ext cx="26974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E4854"/>
                </a:solidFill>
              </a:rPr>
              <a:t>Restructure — highest CAC ($63.92) and lowest retention (74%); trim or reallocate spend.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869680" y="493776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EE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69680" y="4956048"/>
            <a:ext cx="141732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PARTNER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9680" y="5230368"/>
            <a:ext cx="26974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3E4854"/>
                </a:solidFill>
              </a:rPr>
              <a:t>Sustain June momentum — Jun revenue +29% MoM; efficient CAC ($20.43), 88% retention.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1480" y="6199632"/>
            <a:ext cx="113842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E7882"/>
                </a:solidFill>
              </a:rPr>
              <a:t>Source: slide 1 table &amp; growth-meeting notes  ·  Apr–Jun 2026 by channel  ·  No values invented outside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Brand / dashboard style guardrail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463040" cy="777240"/>
          </a:xfrm>
          <a:prstGeom prst="roundRect">
            <a:avLst/>
          </a:prstGeom>
          <a:solidFill>
            <a:srgbClr val="122334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Navy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00200"/>
            <a:ext cx="1463040" cy="777240"/>
          </a:xfrm>
          <a:prstGeom prst="roundRect">
            <a:avLst/>
          </a:prstGeom>
          <a:solidFill>
            <a:srgbClr val="00847D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Teal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600200"/>
            <a:ext cx="1463040" cy="777240"/>
          </a:xfrm>
          <a:prstGeom prst="roundRect">
            <a:avLst/>
          </a:prstGeom>
          <a:solidFill>
            <a:srgbClr val="EEA83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Amber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600200"/>
            <a:ext cx="1463040" cy="777240"/>
          </a:xfrm>
          <a:prstGeom prst="roundRect">
            <a:avLst/>
          </a:prstGeom>
          <a:solidFill>
            <a:srgbClr val="CD494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Risk 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600200"/>
            <a:ext cx="1463040" cy="777240"/>
          </a:xfrm>
          <a:prstGeom prst="roundRect">
            <a:avLst/>
          </a:prstGeom>
          <a:solidFill>
            <a:srgbClr val="F2F5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3E4854"/>
                </a:solidFill>
              </a:rPr>
              <a:t>Canvas Gray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10789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22334"/>
                </a:solidFill>
              </a:defRPr>
            </a:pPr>
            <a:r>
              <a:t>Use a clean SaaS executive-review style: compact KPI cards, readable native charts, visible units, clear channel colors, and concise takeaway annotations. Avoid decorative gradients, tiny labels, and screenshot-only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334"/>
                </a:solidFill>
              </a:rPr>
              <a:t>Appendix: definitions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Revenue: </a:t>
            </a:r>
            <a:r>
              <a:rPr sz="1300">
                <a:solidFill>
                  <a:srgbClr val="3E4854"/>
                </a:solidFill>
              </a:rPr>
              <a:t>Recognized revenue from paid conversions in the month.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Ad Spend: </a:t>
            </a:r>
            <a:r>
              <a:rPr sz="1300">
                <a:solidFill>
                  <a:srgbClr val="3E4854"/>
                </a:solidFill>
              </a:rPr>
              <a:t>Channel-specific acquisition spend for the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Paid Conv.: </a:t>
            </a:r>
            <a:r>
              <a:rPr sz="1300">
                <a:solidFill>
                  <a:srgbClr val="3E4854"/>
                </a:solidFill>
              </a:rPr>
              <a:t>Number of paid conversions attributed to the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698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891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847D"/>
                </a:solidFill>
              </a:rPr>
              <a:t>M30 Ret.: </a:t>
            </a:r>
            <a:r>
              <a:rPr sz="1300">
                <a:solidFill>
                  <a:srgbClr val="3E4854"/>
                </a:solidFill>
              </a:rPr>
              <a:t>Percent of paid customers retained 30 days after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
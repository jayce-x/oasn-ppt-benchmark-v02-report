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Open by framing self-attention as an algorithmic sublayer. The pipeline shows the path from tokens to embeddings, Q/K/V projections, attention weights, and contextualized output. Emphasize that this is not the whole transformer; it is one mechanism inside a transformer block.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Explain the shape convention. The toy sequence has four tokens, so X has four rows. The model dimension is six, so X has six columns. This gives X shape [4,6]. The rest of the deck keeps this toy shape so engineers can track the dimensions.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Walk through the three formulas. Q equals X times W_Q, K equals X times W_K, and V equals X times W_V. For one head in the toy example, each projection has shape [4,3]. Queries are what a token is looking for, keys are what tokens offer as matches, and values are the information mixed once weights are known.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Read the formula pipeline from left to right. Queries and keys are compared through Q K transpose, scaled by square root of d_k. That gives a [4,4] score matrix. A row-wise softmax turns scores into weights. Those weights multiply V to produce the head output.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Use the heatmap as an editable matrix visualization. Rows are query tokens and columns are key tokens. A row shows where that query token attends. The example row for "model" puts most weight on "predicts". Each row sums to one after softmax, but columns do not need to sum to one.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Explain that attention weights are not the final representation by themselves. Each query row weights the value vectors. The weighted sum creates one contextualized output vector for that query token. In matrix form, weights [4,4] times V [4,3] produces a [4,3] head output.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Describe multi-head attention as parallel attention computations. With two heads and d_k equal to three, each head produces a [4,3] output. The two outputs are concatenated back to [4,6], then an output projection W_O returns the result to the model dimension. Avoid implying any performance claim; the point is the structure.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Show the lower-triangular mask. A token can attend to itself and earlier tokens, but positions to the right are blocked. The mask is applied before softmax by making forbidden future scores extremely negative. After softmax, those future positions receive near-zero probability.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Place self-attention inside the broader transformer block context. The attention sublayer output is combined with a residual connection and layer normalization before moving onward. The diagram intentionally stays high level because the case asks for self-attention, not the full transformer architecture.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Close with the checklist. A correct explanation keeps X shape, Q/K/V projections, scaled score computation, row-wise softmax, weighted values, multi-head concat, causal masking, and the scope boundary straight. Self-attention is a sublayer, not the whole transformer.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C1020"/>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73149"/>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73149"/>
            </a:solidFill>
          </a:ln>
        </p:spPr>
      </p:sp>
      <p:grpSp>
        <p:nvGrpSpPr>
          <p:cNvPr id="9" name="Group 9"/>
          <p:cNvGrpSpPr/>
          <p:nvPr/>
        </p:nvGrpSpPr>
        <p:grpSpPr>
          <a:xfrm>
            <a:off x="499110" y="697706"/>
            <a:ext cx="8121396" cy="2088356"/>
            <a:chOff x="499110" y="697706"/>
            <a:chExt cx="8121396" cy="2088356"/>
          </a:xfrm>
        </p:grpSpPr>
        <p:sp>
          <p:nvSpPr>
            <p:cNvPr id="5" name="TextBox 5"/>
            <p:cNvSpPr txBox="1"/>
            <p:nvPr/>
          </p:nvSpPr>
          <p:spPr>
            <a:xfrm>
              <a:off x="538162" y="697706"/>
              <a:ext cx="3588520" cy="228600"/>
            </a:xfrm>
            <a:prstGeom prst="rect">
              <a:avLst/>
            </a:prstGeom>
            <a:noFill/>
            <a:ln>
              <a:noFill/>
            </a:ln>
          </p:spPr>
          <p:txBody>
            <a:bodyPr wrap="none" lIns="0" tIns="0" rIns="0" bIns="0" anchor="t" anchorCtr="0">
              <a:spAutoFit/>
            </a:bodyPr>
            <a:lstStyle/>
            <a:p>
              <a:pPr algn="l"/>
              <a:r>
                <a:rPr lang="zh-CN" sz="1125" b="1" dirty="0">
                  <a:solidFill>
                    <a:srgbClr val="AAB6D3"/>
                  </a:solidFill>
                  <a:latin typeface="Arial"/>
                  <a:ea typeface="Microsoft YaHei"/>
                  <a:cs typeface="Arial"/>
                </a:rPr>
                <a:t>CASE-GEN-015 | TECHNICAL ALGORITHM EXPLAINER</a:t>
              </a:r>
            </a:p>
          </p:txBody>
        </p:sp>
        <p:sp>
          <p:nvSpPr>
            <p:cNvPr id="6" name="TextBox 6"/>
            <p:cNvSpPr txBox="1"/>
            <p:nvPr/>
          </p:nvSpPr>
          <p:spPr>
            <a:xfrm>
              <a:off x="499110" y="1089660"/>
              <a:ext cx="3782139" cy="853440"/>
            </a:xfrm>
            <a:prstGeom prst="rect">
              <a:avLst/>
            </a:prstGeom>
            <a:noFill/>
            <a:ln>
              <a:noFill/>
            </a:ln>
          </p:spPr>
          <p:txBody>
            <a:bodyPr wrap="none" lIns="0" tIns="0" rIns="0" bIns="0" anchor="t" anchorCtr="0">
              <a:spAutoFit/>
            </a:bodyPr>
            <a:lstStyle/>
            <a:p>
              <a:pPr algn="l"/>
              <a:r>
                <a:rPr lang="zh-CN" sz="4200" b="1" dirty="0">
                  <a:solidFill>
                    <a:srgbClr val="F7F8FA"/>
                  </a:solidFill>
                  <a:latin typeface="Arial"/>
                  <a:ea typeface="Microsoft YaHei"/>
                  <a:cs typeface="Arial"/>
                </a:rPr>
                <a:t>Transformer</a:t>
              </a:r>
            </a:p>
          </p:txBody>
        </p:sp>
        <p:sp>
          <p:nvSpPr>
            <p:cNvPr id="7" name="TextBox 7"/>
            <p:cNvSpPr txBox="1"/>
            <p:nvPr/>
          </p:nvSpPr>
          <p:spPr>
            <a:xfrm>
              <a:off x="499110" y="1680210"/>
              <a:ext cx="4340809" cy="853440"/>
            </a:xfrm>
            <a:prstGeom prst="rect">
              <a:avLst/>
            </a:prstGeom>
            <a:noFill/>
            <a:ln>
              <a:noFill/>
            </a:ln>
          </p:spPr>
          <p:txBody>
            <a:bodyPr wrap="none" lIns="0" tIns="0" rIns="0" bIns="0" anchor="t" anchorCtr="0">
              <a:spAutoFit/>
            </a:bodyPr>
            <a:lstStyle/>
            <a:p>
              <a:pPr algn="l"/>
              <a:r>
                <a:rPr lang="zh-CN" sz="4200" b="1" dirty="0">
                  <a:solidFill>
                    <a:srgbClr val="F7F8FA"/>
                  </a:solidFill>
                  <a:latin typeface="Arial"/>
                  <a:ea typeface="Microsoft YaHei"/>
                  <a:cs typeface="Arial"/>
                </a:rPr>
                <a:t>Self-Attention</a:t>
              </a:r>
            </a:p>
          </p:txBody>
        </p:sp>
        <p:sp>
          <p:nvSpPr>
            <p:cNvPr id="8" name="TextBox 8"/>
            <p:cNvSpPr txBox="1"/>
            <p:nvPr/>
          </p:nvSpPr>
          <p:spPr>
            <a:xfrm>
              <a:off x="569595" y="2450782"/>
              <a:ext cx="8050911" cy="335280"/>
            </a:xfrm>
            <a:prstGeom prst="rect">
              <a:avLst/>
            </a:prstGeom>
            <a:noFill/>
            <a:ln>
              <a:noFill/>
            </a:ln>
          </p:spPr>
          <p:txBody>
            <a:bodyPr wrap="none" lIns="0" tIns="0" rIns="0" bIns="0" anchor="t" anchorCtr="0">
              <a:spAutoFit/>
            </a:bodyPr>
            <a:lstStyle/>
            <a:p>
              <a:pPr algn="l"/>
              <a:r>
                <a:rPr lang="zh-CN" sz="1650" dirty="0">
                  <a:solidFill>
                    <a:srgbClr val="AAB6D3"/>
                  </a:solidFill>
                  <a:latin typeface="Arial"/>
                  <a:ea typeface="Microsoft YaHei"/>
                  <a:cs typeface="Arial"/>
                </a:rPr>
                <a:t>How tokens use learned projections to mix information from other tokens.</a:t>
              </a:r>
            </a:p>
          </p:txBody>
        </p:sp>
      </p:grpSp>
      <p:grpSp>
        <p:nvGrpSpPr>
          <p:cNvPr id="28" name="Group 28"/>
          <p:cNvGrpSpPr/>
          <p:nvPr/>
        </p:nvGrpSpPr>
        <p:grpSpPr>
          <a:xfrm>
            <a:off x="876300" y="3524250"/>
            <a:ext cx="10001250" cy="685800"/>
            <a:chOff x="876300" y="3524250"/>
            <a:chExt cx="10001250" cy="685800"/>
          </a:xfrm>
        </p:grpSpPr>
        <p:sp>
          <p:nvSpPr>
            <p:cNvPr id="10" name="Rectangle 10"/>
            <p:cNvSpPr/>
            <p:nvPr/>
          </p:nvSpPr>
          <p:spPr>
            <a:xfrm>
              <a:off x="876300" y="3524250"/>
              <a:ext cx="1428750" cy="685800"/>
            </a:xfrm>
            <a:prstGeom prst="roundRect">
              <a:avLst>
                <a:gd name="adj" fmla="val 16667"/>
              </a:avLst>
            </a:prstGeom>
            <a:solidFill>
              <a:srgbClr val="141A2E"/>
            </a:solidFill>
            <a:ln w="28575">
              <a:solidFill>
                <a:srgbClr val="8AB4FF"/>
              </a:solidFill>
            </a:ln>
          </p:spPr>
        </p:sp>
        <p:sp>
          <p:nvSpPr>
            <p:cNvPr id="11" name="TextBox 11"/>
            <p:cNvSpPr txBox="1"/>
            <p:nvPr/>
          </p:nvSpPr>
          <p:spPr>
            <a:xfrm>
              <a:off x="1225082" y="3781425"/>
              <a:ext cx="731187" cy="304800"/>
            </a:xfrm>
            <a:prstGeom prst="rect">
              <a:avLst/>
            </a:prstGeom>
            <a:noFill/>
            <a:ln>
              <a:noFill/>
            </a:ln>
          </p:spPr>
          <p:txBody>
            <a:bodyPr wrap="none" lIns="0" tIns="0" rIns="0" bIns="0" anchor="t" anchorCtr="0">
              <a:spAutoFit/>
            </a:bodyPr>
            <a:lstStyle/>
            <a:p>
              <a:pPr algn="ctr"/>
              <a:r>
                <a:rPr lang="zh-CN" sz="1500" b="1" dirty="0">
                  <a:solidFill>
                    <a:srgbClr val="F7F8FA"/>
                  </a:solidFill>
                  <a:latin typeface="Arial"/>
                  <a:ea typeface="Microsoft YaHei"/>
                  <a:cs typeface="Arial"/>
                </a:rPr>
                <a:t>Tokens</a:t>
              </a:r>
            </a:p>
          </p:txBody>
        </p:sp>
        <p:sp>
          <p:nvSpPr>
            <p:cNvPr id="12" name="Rectangle 12"/>
            <p:cNvSpPr/>
            <p:nvPr/>
          </p:nvSpPr>
          <p:spPr>
            <a:xfrm>
              <a:off x="2971800" y="3524250"/>
              <a:ext cx="1428750" cy="685800"/>
            </a:xfrm>
            <a:prstGeom prst="roundRect">
              <a:avLst>
                <a:gd name="adj" fmla="val 16667"/>
              </a:avLst>
            </a:prstGeom>
            <a:solidFill>
              <a:srgbClr val="141A2E"/>
            </a:solidFill>
            <a:ln w="28575">
              <a:solidFill>
                <a:srgbClr val="8AB4FF"/>
              </a:solidFill>
            </a:ln>
          </p:spPr>
        </p:sp>
        <p:sp>
          <p:nvSpPr>
            <p:cNvPr id="13" name="TextBox 13"/>
            <p:cNvSpPr txBox="1"/>
            <p:nvPr/>
          </p:nvSpPr>
          <p:spPr>
            <a:xfrm>
              <a:off x="3094803" y="3676650"/>
              <a:ext cx="1182743" cy="304800"/>
            </a:xfrm>
            <a:prstGeom prst="rect">
              <a:avLst/>
            </a:prstGeom>
            <a:noFill/>
            <a:ln>
              <a:noFill/>
            </a:ln>
          </p:spPr>
          <p:txBody>
            <a:bodyPr wrap="none" lIns="0" tIns="0" rIns="0" bIns="0" anchor="t" anchorCtr="0">
              <a:spAutoFit/>
            </a:bodyPr>
            <a:lstStyle/>
            <a:p>
              <a:pPr algn="ctr"/>
              <a:r>
                <a:rPr lang="zh-CN" sz="1500" b="1" dirty="0">
                  <a:solidFill>
                    <a:srgbClr val="F7F8FA"/>
                  </a:solidFill>
                  <a:latin typeface="Arial"/>
                  <a:ea typeface="Microsoft YaHei"/>
                  <a:cs typeface="Arial"/>
                </a:rPr>
                <a:t>Embeddings</a:t>
              </a:r>
            </a:p>
          </p:txBody>
        </p:sp>
        <p:sp>
          <p:nvSpPr>
            <p:cNvPr id="14" name="TextBox 14"/>
            <p:cNvSpPr txBox="1"/>
            <p:nvPr/>
          </p:nvSpPr>
          <p:spPr>
            <a:xfrm>
              <a:off x="3158073" y="3955256"/>
              <a:ext cx="1056203"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X [n,d_model]</a:t>
              </a:r>
            </a:p>
          </p:txBody>
        </p:sp>
        <p:sp>
          <p:nvSpPr>
            <p:cNvPr id="15" name="Rectangle 15"/>
            <p:cNvSpPr/>
            <p:nvPr/>
          </p:nvSpPr>
          <p:spPr>
            <a:xfrm>
              <a:off x="5067300" y="3524250"/>
              <a:ext cx="1428750" cy="685800"/>
            </a:xfrm>
            <a:prstGeom prst="roundRect">
              <a:avLst>
                <a:gd name="adj" fmla="val 16667"/>
              </a:avLst>
            </a:prstGeom>
            <a:solidFill>
              <a:srgbClr val="141A2E"/>
            </a:solidFill>
            <a:ln w="28575">
              <a:solidFill>
                <a:srgbClr val="FFCB6B"/>
              </a:solidFill>
            </a:ln>
          </p:spPr>
        </p:sp>
        <p:sp>
          <p:nvSpPr>
            <p:cNvPr id="16" name="TextBox 16"/>
            <p:cNvSpPr txBox="1"/>
            <p:nvPr/>
          </p:nvSpPr>
          <p:spPr>
            <a:xfrm>
              <a:off x="5505343" y="3676650"/>
              <a:ext cx="552664" cy="304800"/>
            </a:xfrm>
            <a:prstGeom prst="rect">
              <a:avLst/>
            </a:prstGeom>
            <a:noFill/>
            <a:ln>
              <a:noFill/>
            </a:ln>
          </p:spPr>
          <p:txBody>
            <a:bodyPr wrap="none" lIns="0" tIns="0" rIns="0" bIns="0" anchor="t" anchorCtr="0">
              <a:spAutoFit/>
            </a:bodyPr>
            <a:lstStyle/>
            <a:p>
              <a:pPr algn="ctr"/>
              <a:r>
                <a:rPr lang="zh-CN" sz="1500" b="1" dirty="0">
                  <a:solidFill>
                    <a:srgbClr val="F7F8FA"/>
                  </a:solidFill>
                  <a:latin typeface="Arial"/>
                  <a:ea typeface="Microsoft YaHei"/>
                  <a:cs typeface="Arial"/>
                </a:rPr>
                <a:t>Q K V</a:t>
              </a:r>
            </a:p>
          </p:txBody>
        </p:sp>
        <p:sp>
          <p:nvSpPr>
            <p:cNvPr id="17" name="TextBox 17"/>
            <p:cNvSpPr txBox="1"/>
            <p:nvPr/>
          </p:nvSpPr>
          <p:spPr>
            <a:xfrm>
              <a:off x="5058549" y="3955256"/>
              <a:ext cx="1446252"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learned projections</a:t>
              </a:r>
            </a:p>
          </p:txBody>
        </p:sp>
        <p:sp>
          <p:nvSpPr>
            <p:cNvPr id="18" name="Rectangle 18"/>
            <p:cNvSpPr/>
            <p:nvPr/>
          </p:nvSpPr>
          <p:spPr>
            <a:xfrm>
              <a:off x="7162800" y="3524250"/>
              <a:ext cx="1428750" cy="685800"/>
            </a:xfrm>
            <a:prstGeom prst="roundRect">
              <a:avLst>
                <a:gd name="adj" fmla="val 16667"/>
              </a:avLst>
            </a:prstGeom>
            <a:solidFill>
              <a:srgbClr val="141A2E"/>
            </a:solidFill>
            <a:ln w="28575">
              <a:solidFill>
                <a:srgbClr val="C792EA"/>
              </a:solidFill>
            </a:ln>
          </p:spPr>
        </p:sp>
        <p:sp>
          <p:nvSpPr>
            <p:cNvPr id="19" name="TextBox 19"/>
            <p:cNvSpPr txBox="1"/>
            <p:nvPr/>
          </p:nvSpPr>
          <p:spPr>
            <a:xfrm>
              <a:off x="7459075" y="3676650"/>
              <a:ext cx="836200" cy="304800"/>
            </a:xfrm>
            <a:prstGeom prst="rect">
              <a:avLst/>
            </a:prstGeom>
            <a:noFill/>
            <a:ln>
              <a:noFill/>
            </a:ln>
          </p:spPr>
          <p:txBody>
            <a:bodyPr wrap="none" lIns="0" tIns="0" rIns="0" bIns="0" anchor="t" anchorCtr="0">
              <a:spAutoFit/>
            </a:bodyPr>
            <a:lstStyle/>
            <a:p>
              <a:pPr algn="ctr"/>
              <a:r>
                <a:rPr lang="zh-CN" sz="1500" b="1" dirty="0">
                  <a:solidFill>
                    <a:srgbClr val="F7F8FA"/>
                  </a:solidFill>
                  <a:latin typeface="Arial"/>
                  <a:ea typeface="Microsoft YaHei"/>
                  <a:cs typeface="Arial"/>
                </a:rPr>
                <a:t>Weights</a:t>
              </a:r>
            </a:p>
          </p:txBody>
        </p:sp>
        <p:sp>
          <p:nvSpPr>
            <p:cNvPr id="20" name="TextBox 20"/>
            <p:cNvSpPr txBox="1"/>
            <p:nvPr/>
          </p:nvSpPr>
          <p:spPr>
            <a:xfrm>
              <a:off x="7356574" y="3955256"/>
              <a:ext cx="1041202"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softmax rows</a:t>
              </a:r>
            </a:p>
          </p:txBody>
        </p:sp>
        <p:sp>
          <p:nvSpPr>
            <p:cNvPr id="21" name="Rectangle 21"/>
            <p:cNvSpPr/>
            <p:nvPr/>
          </p:nvSpPr>
          <p:spPr>
            <a:xfrm>
              <a:off x="9258300" y="3524250"/>
              <a:ext cx="1619250" cy="685800"/>
            </a:xfrm>
            <a:prstGeom prst="roundRect">
              <a:avLst>
                <a:gd name="adj" fmla="val 16667"/>
              </a:avLst>
            </a:prstGeom>
            <a:solidFill>
              <a:srgbClr val="141A2E"/>
            </a:solidFill>
            <a:ln w="28575">
              <a:solidFill>
                <a:srgbClr val="7CFFB2"/>
              </a:solidFill>
            </a:ln>
          </p:spPr>
        </p:sp>
        <p:sp>
          <p:nvSpPr>
            <p:cNvPr id="22" name="TextBox 22"/>
            <p:cNvSpPr txBox="1"/>
            <p:nvPr/>
          </p:nvSpPr>
          <p:spPr>
            <a:xfrm>
              <a:off x="9266527" y="3676650"/>
              <a:ext cx="1602796" cy="304800"/>
            </a:xfrm>
            <a:prstGeom prst="rect">
              <a:avLst/>
            </a:prstGeom>
            <a:noFill/>
            <a:ln>
              <a:noFill/>
            </a:ln>
          </p:spPr>
          <p:txBody>
            <a:bodyPr wrap="none" lIns="0" tIns="0" rIns="0" bIns="0" anchor="t" anchorCtr="0">
              <a:spAutoFit/>
            </a:bodyPr>
            <a:lstStyle/>
            <a:p>
              <a:pPr algn="ctr"/>
              <a:r>
                <a:rPr lang="zh-CN" sz="1500" b="1" dirty="0">
                  <a:solidFill>
                    <a:srgbClr val="F7F8FA"/>
                  </a:solidFill>
                  <a:latin typeface="Arial"/>
                  <a:ea typeface="Microsoft YaHei"/>
                  <a:cs typeface="Arial"/>
                </a:rPr>
                <a:t>Context output</a:t>
              </a:r>
            </a:p>
          </p:txBody>
        </p:sp>
        <p:sp>
          <p:nvSpPr>
            <p:cNvPr id="23" name="TextBox 23"/>
            <p:cNvSpPr txBox="1"/>
            <p:nvPr/>
          </p:nvSpPr>
          <p:spPr>
            <a:xfrm>
              <a:off x="9704844" y="3955256"/>
              <a:ext cx="726162"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weights V</a:t>
              </a:r>
            </a:p>
          </p:txBody>
        </p:sp>
        <p:sp>
          <p:nvSpPr>
            <p:cNvPr id="24" name="Freeform 24"/>
            <p:cNvSpPr/>
            <p:nvPr/>
          </p:nvSpPr>
          <p:spPr>
            <a:xfrm>
              <a:off x="2362200" y="3867150"/>
              <a:ext cx="533400" cy="9525"/>
            </a:xfrm>
            <a:custGeom>
              <a:avLst/>
              <a:gdLst/>
              <a:ahLst/>
              <a:cxnLst/>
              <a:rect l="l" t="t" r="r" b="b"/>
              <a:pathLst>
                <a:path w="533400" h="9525">
                  <a:moveTo>
                    <a:pt x="0" y="0"/>
                  </a:moveTo>
                  <a:lnTo>
                    <a:pt x="533400" y="0"/>
                  </a:lnTo>
                </a:path>
              </a:pathLst>
            </a:custGeom>
            <a:noFill/>
            <a:ln w="47625">
              <a:solidFill>
                <a:srgbClr val="7CFFB2"/>
              </a:solidFill>
              <a:tailEnd type="triangle" w="lg" len="lg"/>
            </a:ln>
          </p:spPr>
        </p:sp>
        <p:sp>
          <p:nvSpPr>
            <p:cNvPr id="25" name="Freeform 25"/>
            <p:cNvSpPr/>
            <p:nvPr/>
          </p:nvSpPr>
          <p:spPr>
            <a:xfrm>
              <a:off x="4457700" y="3867150"/>
              <a:ext cx="533400" cy="9525"/>
            </a:xfrm>
            <a:custGeom>
              <a:avLst/>
              <a:gdLst/>
              <a:ahLst/>
              <a:cxnLst/>
              <a:rect l="l" t="t" r="r" b="b"/>
              <a:pathLst>
                <a:path w="533400" h="9525">
                  <a:moveTo>
                    <a:pt x="0" y="0"/>
                  </a:moveTo>
                  <a:lnTo>
                    <a:pt x="533400" y="0"/>
                  </a:lnTo>
                </a:path>
              </a:pathLst>
            </a:custGeom>
            <a:noFill/>
            <a:ln w="47625">
              <a:solidFill>
                <a:srgbClr val="7CFFB2"/>
              </a:solidFill>
              <a:tailEnd type="triangle" w="lg" len="lg"/>
            </a:ln>
          </p:spPr>
        </p:sp>
        <p:sp>
          <p:nvSpPr>
            <p:cNvPr id="26" name="Freeform 26"/>
            <p:cNvSpPr/>
            <p:nvPr/>
          </p:nvSpPr>
          <p:spPr>
            <a:xfrm>
              <a:off x="6553200" y="3867150"/>
              <a:ext cx="533400" cy="9525"/>
            </a:xfrm>
            <a:custGeom>
              <a:avLst/>
              <a:gdLst/>
              <a:ahLst/>
              <a:cxnLst/>
              <a:rect l="l" t="t" r="r" b="b"/>
              <a:pathLst>
                <a:path w="533400" h="9525">
                  <a:moveTo>
                    <a:pt x="0" y="0"/>
                  </a:moveTo>
                  <a:lnTo>
                    <a:pt x="533400" y="0"/>
                  </a:lnTo>
                </a:path>
              </a:pathLst>
            </a:custGeom>
            <a:noFill/>
            <a:ln w="47625">
              <a:solidFill>
                <a:srgbClr val="7CFFB2"/>
              </a:solidFill>
              <a:tailEnd type="triangle" w="lg" len="lg"/>
            </a:ln>
          </p:spPr>
        </p:sp>
        <p:sp>
          <p:nvSpPr>
            <p:cNvPr id="27" name="Freeform 27"/>
            <p:cNvSpPr/>
            <p:nvPr/>
          </p:nvSpPr>
          <p:spPr>
            <a:xfrm>
              <a:off x="8648700" y="3867150"/>
              <a:ext cx="533400" cy="9525"/>
            </a:xfrm>
            <a:custGeom>
              <a:avLst/>
              <a:gdLst/>
              <a:ahLst/>
              <a:cxnLst/>
              <a:rect l="l" t="t" r="r" b="b"/>
              <a:pathLst>
                <a:path w="533400" h="9525">
                  <a:moveTo>
                    <a:pt x="0" y="0"/>
                  </a:moveTo>
                  <a:lnTo>
                    <a:pt x="533400" y="0"/>
                  </a:lnTo>
                </a:path>
              </a:pathLst>
            </a:custGeom>
            <a:noFill/>
            <a:ln w="47625">
              <a:solidFill>
                <a:srgbClr val="7CFFB2"/>
              </a:solidFill>
              <a:tailEnd type="triangle" w="lg" len="lg"/>
            </a:ln>
          </p:spPr>
        </p:sp>
      </p:grpSp>
      <p:grpSp>
        <p:nvGrpSpPr>
          <p:cNvPr id="33" name="Group 33"/>
          <p:cNvGrpSpPr/>
          <p:nvPr/>
        </p:nvGrpSpPr>
        <p:grpSpPr>
          <a:xfrm>
            <a:off x="6667500" y="1123950"/>
            <a:ext cx="4893016" cy="1409700"/>
            <a:chOff x="6667500" y="1123950"/>
            <a:chExt cx="4893016" cy="1409700"/>
          </a:xfrm>
        </p:grpSpPr>
        <p:sp>
          <p:nvSpPr>
            <p:cNvPr id="29" name="Rectangle 29"/>
            <p:cNvSpPr/>
            <p:nvPr/>
          </p:nvSpPr>
          <p:spPr>
            <a:xfrm>
              <a:off x="6667500" y="1123950"/>
              <a:ext cx="4591050" cy="1409700"/>
            </a:xfrm>
            <a:prstGeom prst="roundRect">
              <a:avLst>
                <a:gd name="adj" fmla="val 12162"/>
              </a:avLst>
            </a:prstGeom>
            <a:solidFill>
              <a:srgbClr val="141A2E"/>
            </a:solidFill>
            <a:ln w="19050">
              <a:solidFill>
                <a:srgbClr val="FF6B6B"/>
              </a:solidFill>
            </a:ln>
          </p:spPr>
        </p:sp>
        <p:sp>
          <p:nvSpPr>
            <p:cNvPr id="30" name="TextBox 30"/>
            <p:cNvSpPr txBox="1"/>
            <p:nvPr/>
          </p:nvSpPr>
          <p:spPr>
            <a:xfrm>
              <a:off x="6968490" y="1329690"/>
              <a:ext cx="1923355" cy="365760"/>
            </a:xfrm>
            <a:prstGeom prst="rect">
              <a:avLst/>
            </a:prstGeom>
            <a:noFill/>
            <a:ln>
              <a:noFill/>
            </a:ln>
          </p:spPr>
          <p:txBody>
            <a:bodyPr wrap="none" lIns="0" tIns="0" rIns="0" bIns="0" anchor="t" anchorCtr="0">
              <a:spAutoFit/>
            </a:bodyPr>
            <a:lstStyle/>
            <a:p>
              <a:pPr algn="l"/>
              <a:r>
                <a:rPr lang="zh-CN" sz="1800" b="1" dirty="0">
                  <a:solidFill>
                    <a:srgbClr val="FF6B6B"/>
                  </a:solidFill>
                  <a:latin typeface="Arial"/>
                  <a:ea typeface="Microsoft YaHei"/>
                  <a:cs typeface="Arial"/>
                </a:rPr>
                <a:t>Scope boundary</a:t>
              </a:r>
            </a:p>
          </p:txBody>
        </p:sp>
        <p:sp>
          <p:nvSpPr>
            <p:cNvPr id="31" name="TextBox 31"/>
            <p:cNvSpPr txBox="1"/>
            <p:nvPr/>
          </p:nvSpPr>
          <p:spPr>
            <a:xfrm>
              <a:off x="6973252" y="1770221"/>
              <a:ext cx="3589639" cy="289560"/>
            </a:xfrm>
            <a:prstGeom prst="rect">
              <a:avLst/>
            </a:prstGeom>
            <a:noFill/>
            <a:ln>
              <a:noFill/>
            </a:ln>
          </p:spPr>
          <p:txBody>
            <a:bodyPr wrap="none" lIns="0" tIns="0" rIns="0" bIns="0" anchor="t" anchorCtr="0">
              <a:spAutoFit/>
            </a:bodyPr>
            <a:lstStyle/>
            <a:p>
              <a:pPr algn="l"/>
              <a:r>
                <a:rPr lang="zh-CN" sz="1425" dirty="0">
                  <a:solidFill>
                    <a:srgbClr val="F7F8FA"/>
                  </a:solidFill>
                  <a:latin typeface="Arial"/>
                  <a:ea typeface="Microsoft YaHei"/>
                  <a:cs typeface="Arial"/>
                </a:rPr>
                <a:t>Self-attention is one sublayer inside a</a:t>
              </a:r>
            </a:p>
          </p:txBody>
        </p:sp>
        <p:sp>
          <p:nvSpPr>
            <p:cNvPr id="32" name="TextBox 32"/>
            <p:cNvSpPr txBox="1"/>
            <p:nvPr/>
          </p:nvSpPr>
          <p:spPr>
            <a:xfrm>
              <a:off x="6973252" y="2036921"/>
              <a:ext cx="4587264" cy="289560"/>
            </a:xfrm>
            <a:prstGeom prst="rect">
              <a:avLst/>
            </a:prstGeom>
            <a:noFill/>
            <a:ln>
              <a:noFill/>
            </a:ln>
          </p:spPr>
          <p:txBody>
            <a:bodyPr wrap="none" lIns="0" tIns="0" rIns="0" bIns="0" anchor="t" anchorCtr="0">
              <a:spAutoFit/>
            </a:bodyPr>
            <a:lstStyle/>
            <a:p>
              <a:pPr algn="l"/>
              <a:r>
                <a:rPr lang="zh-CN" sz="1425" dirty="0">
                  <a:solidFill>
                    <a:srgbClr val="F7F8FA"/>
                  </a:solidFill>
                  <a:latin typeface="Arial"/>
                  <a:ea typeface="Microsoft YaHei"/>
                  <a:cs typeface="Arial"/>
                </a:rPr>
                <a:t>transformer block, not the entire transformer.</a:t>
              </a:r>
            </a:p>
          </p:txBody>
        </p:sp>
      </p:grpSp>
      <p:grpSp>
        <p:nvGrpSpPr>
          <p:cNvPr id="37" name="Group 37"/>
          <p:cNvGrpSpPr/>
          <p:nvPr/>
        </p:nvGrpSpPr>
        <p:grpSpPr>
          <a:xfrm>
            <a:off x="2359485" y="4838700"/>
            <a:ext cx="7473029" cy="685800"/>
            <a:chOff x="2359485" y="4838700"/>
            <a:chExt cx="7473029" cy="685800"/>
          </a:xfrm>
        </p:grpSpPr>
        <p:sp>
          <p:nvSpPr>
            <p:cNvPr id="34" name="Rectangle 34"/>
            <p:cNvSpPr/>
            <p:nvPr/>
          </p:nvSpPr>
          <p:spPr>
            <a:xfrm>
              <a:off x="2457450" y="4838700"/>
              <a:ext cx="7277100" cy="685800"/>
            </a:xfrm>
            <a:prstGeom prst="roundRect">
              <a:avLst>
                <a:gd name="adj" fmla="val 19444"/>
              </a:avLst>
            </a:prstGeom>
            <a:solidFill>
              <a:srgbClr val="1D2740"/>
            </a:solidFill>
            <a:ln w="19050">
              <a:solidFill>
                <a:srgbClr val="3A4668"/>
              </a:solidFill>
            </a:ln>
          </p:spPr>
        </p:sp>
        <p:sp>
          <p:nvSpPr>
            <p:cNvPr id="35" name="TextBox 35"/>
            <p:cNvSpPr txBox="1"/>
            <p:nvPr/>
          </p:nvSpPr>
          <p:spPr>
            <a:xfrm>
              <a:off x="2359485" y="4962525"/>
              <a:ext cx="7473029" cy="304800"/>
            </a:xfrm>
            <a:prstGeom prst="rect">
              <a:avLst/>
            </a:prstGeom>
            <a:noFill/>
            <a:ln>
              <a:noFill/>
            </a:ln>
          </p:spPr>
          <p:txBody>
            <a:bodyPr wrap="none" lIns="0" tIns="0" rIns="0" bIns="0" anchor="t" anchorCtr="0">
              <a:spAutoFit/>
            </a:bodyPr>
            <a:lstStyle/>
            <a:p>
              <a:pPr algn="ctr"/>
              <a:r>
                <a:rPr lang="zh-CN" sz="1500" b="1" dirty="0">
                  <a:solidFill>
                    <a:srgbClr val="F7F8FA"/>
                  </a:solidFill>
                  <a:latin typeface="Consolas"/>
                  <a:ea typeface="Microsoft YaHei"/>
                  <a:cs typeface="Consolas"/>
                </a:rPr>
                <a:t>Toy example used throughout: n = 4, d_model = 6, num_heads = 2, d_k = 3</a:t>
              </a:r>
            </a:p>
          </p:txBody>
        </p:sp>
        <p:sp>
          <p:nvSpPr>
            <p:cNvPr id="36" name="TextBox 36"/>
            <p:cNvSpPr txBox="1"/>
            <p:nvPr/>
          </p:nvSpPr>
          <p:spPr>
            <a:xfrm>
              <a:off x="3620452" y="5261610"/>
              <a:ext cx="4951095" cy="243840"/>
            </a:xfrm>
            <a:prstGeom prst="rect">
              <a:avLst/>
            </a:prstGeom>
            <a:noFill/>
            <a:ln>
              <a:noFill/>
            </a:ln>
          </p:spPr>
          <p:txBody>
            <a:bodyPr wrap="none" lIns="0" tIns="0" rIns="0" bIns="0" anchor="t" anchorCtr="0">
              <a:spAutoFit/>
            </a:bodyPr>
            <a:lstStyle/>
            <a:p>
              <a:pPr algn="ctr"/>
              <a:r>
                <a:rPr lang="zh-CN" sz="1200" dirty="0">
                  <a:solidFill>
                    <a:srgbClr val="AAB6D3"/>
                  </a:solidFill>
                  <a:latin typeface="Arial"/>
                  <a:ea typeface="Microsoft YaHei"/>
                  <a:cs typeface="Arial"/>
                </a:rPr>
                <a:t>Small enough to inspect, large enough to show the real shapes.</a:t>
              </a:r>
            </a:p>
          </p:txBody>
        </p:sp>
      </p:grpSp>
      <p:sp>
        <p:nvSpPr>
          <p:cNvPr id="38" name="TextBox 38"/>
          <p:cNvSpPr txBox="1"/>
          <p:nvPr/>
        </p:nvSpPr>
        <p:spPr>
          <a:xfrm>
            <a:off x="540068" y="6238399"/>
            <a:ext cx="5212413" cy="198120"/>
          </a:xfrm>
          <a:prstGeom prst="rect">
            <a:avLst/>
          </a:prstGeom>
          <a:noFill/>
          <a:ln>
            <a:noFill/>
          </a:ln>
        </p:spPr>
        <p:txBody>
          <a:bodyPr wrap="none" lIns="0" tIns="0" rIns="0" bIns="0" anchor="t" anchorCtr="0">
            <a:spAutoFit/>
          </a:bodyPr>
          <a:lstStyle/>
          <a:p>
            <a:pPr algn="l"/>
            <a:r>
              <a:rPr lang="zh-CN" sz="975" dirty="0">
                <a:solidFill>
                  <a:srgbClr val="AAB6D3"/>
                </a:solidFill>
                <a:latin typeface="Arial"/>
                <a:ea typeface="Microsoft YaHei"/>
                <a:cs typeface="Arial"/>
              </a:rPr>
              <a:t>Source: transformer self-attention notes | editable pipeline, matrices, and text</a:t>
            </a:r>
          </a:p>
        </p:txBody>
      </p:sp>
      <p:sp>
        <p:nvSpPr>
          <p:cNvPr id="39" name="TextBox 39"/>
          <p:cNvSpPr txBox="1"/>
          <p:nvPr/>
        </p:nvSpPr>
        <p:spPr>
          <a:xfrm>
            <a:off x="11398568" y="6238399"/>
            <a:ext cx="460319"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01 / 10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400"/>
                                        <p:tgtEl>
                                          <p:spTgt spid="2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400"/>
                                        <p:tgtEl>
                                          <p:spTgt spid="33"/>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image">
                                      <p:cBhvr>
                                        <p:cTn id="19"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8" grpId="0"/>
      <p:bldP spid="33" grpId="0"/>
      <p:bldP spid="3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C1020"/>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73149"/>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73149"/>
            </a:solidFill>
          </a:ln>
        </p:spPr>
      </p:sp>
      <p:grpSp>
        <p:nvGrpSpPr>
          <p:cNvPr id="8" name="Group 8"/>
          <p:cNvGrpSpPr/>
          <p:nvPr/>
        </p:nvGrpSpPr>
        <p:grpSpPr>
          <a:xfrm>
            <a:off x="482918" y="342424"/>
            <a:ext cx="11194732" cy="772001"/>
            <a:chOff x="482918" y="342424"/>
            <a:chExt cx="11194732" cy="772001"/>
          </a:xfrm>
        </p:grpSpPr>
        <p:sp>
          <p:nvSpPr>
            <p:cNvPr id="5" name="TextBox 5"/>
            <p:cNvSpPr txBox="1"/>
            <p:nvPr/>
          </p:nvSpPr>
          <p:spPr>
            <a:xfrm>
              <a:off x="482918" y="342424"/>
              <a:ext cx="5503595" cy="502920"/>
            </a:xfrm>
            <a:prstGeom prst="rect">
              <a:avLst/>
            </a:prstGeom>
            <a:noFill/>
            <a:ln>
              <a:noFill/>
            </a:ln>
          </p:spPr>
          <p:txBody>
            <a:bodyPr wrap="none" lIns="0" tIns="0" rIns="0" bIns="0" anchor="t" anchorCtr="0">
              <a:spAutoFit/>
            </a:bodyPr>
            <a:lstStyle/>
            <a:p>
              <a:pPr algn="l"/>
              <a:r>
                <a:rPr lang="zh-CN" sz="2475" b="1" dirty="0">
                  <a:solidFill>
                    <a:srgbClr val="F7F8FA"/>
                  </a:solidFill>
                  <a:latin typeface="Arial"/>
                  <a:ea typeface="Microsoft YaHei"/>
                  <a:cs typeface="Arial"/>
                </a:rPr>
                <a:t>Tokens Become an Input Matrix X</a:t>
              </a:r>
            </a:p>
          </p:txBody>
        </p:sp>
        <p:sp>
          <p:nvSpPr>
            <p:cNvPr id="6" name="TextBox 6"/>
            <p:cNvSpPr txBox="1"/>
            <p:nvPr/>
          </p:nvSpPr>
          <p:spPr>
            <a:xfrm>
              <a:off x="497205" y="768668"/>
              <a:ext cx="4696873" cy="274320"/>
            </a:xfrm>
            <a:prstGeom prst="rect">
              <a:avLst/>
            </a:prstGeom>
            <a:noFill/>
            <a:ln>
              <a:noFill/>
            </a:ln>
          </p:spPr>
          <p:txBody>
            <a:bodyPr wrap="none" lIns="0" tIns="0" rIns="0" bIns="0" anchor="t" anchorCtr="0">
              <a:spAutoFit/>
            </a:bodyPr>
            <a:lstStyle/>
            <a:p>
              <a:pPr algn="l"/>
              <a:r>
                <a:rPr lang="zh-CN" sz="1350" dirty="0">
                  <a:solidFill>
                    <a:srgbClr val="AAB6D3"/>
                  </a:solidFill>
                  <a:latin typeface="Arial"/>
                  <a:ea typeface="Microsoft YaHei"/>
                  <a:cs typeface="Arial"/>
                </a:rPr>
                <a:t>Sequence length is rows; model dimension is columns.</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A4668"/>
              </a:solidFill>
            </a:ln>
          </p:spPr>
        </p:sp>
      </p:grpSp>
      <p:grpSp>
        <p:nvGrpSpPr>
          <p:cNvPr id="19" name="Group 19"/>
          <p:cNvGrpSpPr/>
          <p:nvPr/>
        </p:nvGrpSpPr>
        <p:grpSpPr>
          <a:xfrm>
            <a:off x="819150" y="1676400"/>
            <a:ext cx="2095500" cy="3429000"/>
            <a:chOff x="819150" y="1676400"/>
            <a:chExt cx="2095500" cy="3429000"/>
          </a:xfrm>
        </p:grpSpPr>
        <p:sp>
          <p:nvSpPr>
            <p:cNvPr id="9" name="Rectangle 9"/>
            <p:cNvSpPr/>
            <p:nvPr/>
          </p:nvSpPr>
          <p:spPr>
            <a:xfrm>
              <a:off x="819150" y="1676400"/>
              <a:ext cx="2095500" cy="3429000"/>
            </a:xfrm>
            <a:prstGeom prst="roundRect">
              <a:avLst>
                <a:gd name="adj" fmla="val 8182"/>
              </a:avLst>
            </a:prstGeom>
            <a:solidFill>
              <a:srgbClr val="141A2E"/>
            </a:solidFill>
            <a:ln w="19050">
              <a:solidFill>
                <a:srgbClr val="3A4668"/>
              </a:solidFill>
            </a:ln>
          </p:spPr>
        </p:sp>
        <p:sp>
          <p:nvSpPr>
            <p:cNvPr id="10" name="TextBox 10"/>
            <p:cNvSpPr txBox="1"/>
            <p:nvPr/>
          </p:nvSpPr>
          <p:spPr>
            <a:xfrm>
              <a:off x="1121092" y="1909286"/>
              <a:ext cx="1046165" cy="350520"/>
            </a:xfrm>
            <a:prstGeom prst="rect">
              <a:avLst/>
            </a:prstGeom>
            <a:noFill/>
            <a:ln>
              <a:noFill/>
            </a:ln>
          </p:spPr>
          <p:txBody>
            <a:bodyPr wrap="none" lIns="0" tIns="0" rIns="0" bIns="0" anchor="t" anchorCtr="0">
              <a:spAutoFit/>
            </a:bodyPr>
            <a:lstStyle/>
            <a:p>
              <a:pPr algn="l"/>
              <a:r>
                <a:rPr lang="zh-CN" sz="1725" b="1" dirty="0">
                  <a:solidFill>
                    <a:srgbClr val="F7F8FA"/>
                  </a:solidFill>
                  <a:latin typeface="Arial"/>
                  <a:ea typeface="Microsoft YaHei"/>
                  <a:cs typeface="Arial"/>
                </a:rPr>
                <a:t>4 tokens</a:t>
              </a:r>
            </a:p>
          </p:txBody>
        </p:sp>
        <p:sp>
          <p:nvSpPr>
            <p:cNvPr id="11" name="Rectangle 11"/>
            <p:cNvSpPr/>
            <p:nvPr/>
          </p:nvSpPr>
          <p:spPr>
            <a:xfrm>
              <a:off x="1162050" y="2476500"/>
              <a:ext cx="1409700" cy="438150"/>
            </a:xfrm>
            <a:prstGeom prst="roundRect">
              <a:avLst>
                <a:gd name="adj" fmla="val 21739"/>
              </a:avLst>
            </a:prstGeom>
            <a:solidFill>
              <a:srgbClr val="1D2740"/>
            </a:solidFill>
            <a:ln w="19050">
              <a:solidFill>
                <a:srgbClr val="8AB4FF"/>
              </a:solidFill>
            </a:ln>
          </p:spPr>
        </p:sp>
        <p:sp>
          <p:nvSpPr>
            <p:cNvPr id="12" name="TextBox 12"/>
            <p:cNvSpPr txBox="1"/>
            <p:nvPr/>
          </p:nvSpPr>
          <p:spPr>
            <a:xfrm>
              <a:off x="1563624" y="2623185"/>
              <a:ext cx="606552" cy="243840"/>
            </a:xfrm>
            <a:prstGeom prst="rect">
              <a:avLst/>
            </a:prstGeom>
            <a:noFill/>
            <a:ln>
              <a:noFill/>
            </a:ln>
          </p:spPr>
          <p:txBody>
            <a:bodyPr wrap="none" lIns="0" tIns="0" rIns="0" bIns="0" anchor="t" anchorCtr="0">
              <a:spAutoFit/>
            </a:bodyPr>
            <a:lstStyle/>
            <a:p>
              <a:pPr algn="ctr"/>
              <a:r>
                <a:rPr lang="zh-CN" sz="1200" dirty="0">
                  <a:solidFill>
                    <a:srgbClr val="F7F8FA"/>
                  </a:solidFill>
                  <a:latin typeface="Consolas"/>
                  <a:ea typeface="Microsoft YaHei"/>
                  <a:cs typeface="Consolas"/>
                </a:rPr>
                <a:t>t1: The</a:t>
              </a:r>
            </a:p>
          </p:txBody>
        </p:sp>
        <p:sp>
          <p:nvSpPr>
            <p:cNvPr id="13" name="Rectangle 13"/>
            <p:cNvSpPr/>
            <p:nvPr/>
          </p:nvSpPr>
          <p:spPr>
            <a:xfrm>
              <a:off x="1162050" y="3086100"/>
              <a:ext cx="1409700" cy="438150"/>
            </a:xfrm>
            <a:prstGeom prst="roundRect">
              <a:avLst>
                <a:gd name="adj" fmla="val 21739"/>
              </a:avLst>
            </a:prstGeom>
            <a:solidFill>
              <a:srgbClr val="1D2740"/>
            </a:solidFill>
            <a:ln w="19050">
              <a:solidFill>
                <a:srgbClr val="8AB4FF"/>
              </a:solidFill>
            </a:ln>
          </p:spPr>
        </p:sp>
        <p:sp>
          <p:nvSpPr>
            <p:cNvPr id="14" name="TextBox 14"/>
            <p:cNvSpPr txBox="1"/>
            <p:nvPr/>
          </p:nvSpPr>
          <p:spPr>
            <a:xfrm>
              <a:off x="1479614" y="3232785"/>
              <a:ext cx="774573" cy="243840"/>
            </a:xfrm>
            <a:prstGeom prst="rect">
              <a:avLst/>
            </a:prstGeom>
            <a:noFill/>
            <a:ln>
              <a:noFill/>
            </a:ln>
          </p:spPr>
          <p:txBody>
            <a:bodyPr wrap="none" lIns="0" tIns="0" rIns="0" bIns="0" anchor="t" anchorCtr="0">
              <a:spAutoFit/>
            </a:bodyPr>
            <a:lstStyle/>
            <a:p>
              <a:pPr algn="ctr"/>
              <a:r>
                <a:rPr lang="zh-CN" sz="1200" dirty="0">
                  <a:solidFill>
                    <a:srgbClr val="F7F8FA"/>
                  </a:solidFill>
                  <a:latin typeface="Consolas"/>
                  <a:ea typeface="Microsoft YaHei"/>
                  <a:cs typeface="Consolas"/>
                </a:rPr>
                <a:t>t2: model</a:t>
              </a:r>
            </a:p>
          </p:txBody>
        </p:sp>
        <p:sp>
          <p:nvSpPr>
            <p:cNvPr id="15" name="Rectangle 15"/>
            <p:cNvSpPr/>
            <p:nvPr/>
          </p:nvSpPr>
          <p:spPr>
            <a:xfrm>
              <a:off x="1162050" y="3695700"/>
              <a:ext cx="1409700" cy="438150"/>
            </a:xfrm>
            <a:prstGeom prst="roundRect">
              <a:avLst>
                <a:gd name="adj" fmla="val 21739"/>
              </a:avLst>
            </a:prstGeom>
            <a:solidFill>
              <a:srgbClr val="1D2740"/>
            </a:solidFill>
            <a:ln w="19050">
              <a:solidFill>
                <a:srgbClr val="8AB4FF"/>
              </a:solidFill>
            </a:ln>
          </p:spPr>
        </p:sp>
        <p:sp>
          <p:nvSpPr>
            <p:cNvPr id="16" name="TextBox 16"/>
            <p:cNvSpPr txBox="1"/>
            <p:nvPr/>
          </p:nvSpPr>
          <p:spPr>
            <a:xfrm>
              <a:off x="1363599" y="3842385"/>
              <a:ext cx="1006602" cy="243840"/>
            </a:xfrm>
            <a:prstGeom prst="rect">
              <a:avLst/>
            </a:prstGeom>
            <a:noFill/>
            <a:ln>
              <a:noFill/>
            </a:ln>
          </p:spPr>
          <p:txBody>
            <a:bodyPr wrap="none" lIns="0" tIns="0" rIns="0" bIns="0" anchor="t" anchorCtr="0">
              <a:spAutoFit/>
            </a:bodyPr>
            <a:lstStyle/>
            <a:p>
              <a:pPr algn="ctr"/>
              <a:r>
                <a:rPr lang="zh-CN" sz="1200" dirty="0">
                  <a:solidFill>
                    <a:srgbClr val="F7F8FA"/>
                  </a:solidFill>
                  <a:latin typeface="Consolas"/>
                  <a:ea typeface="Microsoft YaHei"/>
                  <a:cs typeface="Consolas"/>
                </a:rPr>
                <a:t>t3: predicts</a:t>
              </a:r>
            </a:p>
          </p:txBody>
        </p:sp>
        <p:sp>
          <p:nvSpPr>
            <p:cNvPr id="17" name="Rectangle 17"/>
            <p:cNvSpPr/>
            <p:nvPr/>
          </p:nvSpPr>
          <p:spPr>
            <a:xfrm>
              <a:off x="1162050" y="4305300"/>
              <a:ext cx="1409700" cy="438150"/>
            </a:xfrm>
            <a:prstGeom prst="roundRect">
              <a:avLst>
                <a:gd name="adj" fmla="val 21739"/>
              </a:avLst>
            </a:prstGeom>
            <a:solidFill>
              <a:srgbClr val="1D2740"/>
            </a:solidFill>
            <a:ln w="19050">
              <a:solidFill>
                <a:srgbClr val="8AB4FF"/>
              </a:solidFill>
            </a:ln>
          </p:spPr>
        </p:sp>
        <p:sp>
          <p:nvSpPr>
            <p:cNvPr id="18" name="TextBox 18"/>
            <p:cNvSpPr txBox="1"/>
            <p:nvPr/>
          </p:nvSpPr>
          <p:spPr>
            <a:xfrm>
              <a:off x="1431608" y="4451985"/>
              <a:ext cx="870585" cy="243840"/>
            </a:xfrm>
            <a:prstGeom prst="rect">
              <a:avLst/>
            </a:prstGeom>
            <a:noFill/>
            <a:ln>
              <a:noFill/>
            </a:ln>
          </p:spPr>
          <p:txBody>
            <a:bodyPr wrap="none" lIns="0" tIns="0" rIns="0" bIns="0" anchor="t" anchorCtr="0">
              <a:spAutoFit/>
            </a:bodyPr>
            <a:lstStyle/>
            <a:p>
              <a:pPr algn="ctr"/>
              <a:r>
                <a:rPr lang="zh-CN" sz="1200" dirty="0">
                  <a:solidFill>
                    <a:srgbClr val="F7F8FA"/>
                  </a:solidFill>
                  <a:latin typeface="Consolas"/>
                  <a:ea typeface="Microsoft YaHei"/>
                  <a:cs typeface="Consolas"/>
                </a:rPr>
                <a:t>t4: tokens</a:t>
              </a:r>
            </a:p>
          </p:txBody>
        </p:sp>
      </p:grpSp>
      <p:sp>
        <p:nvSpPr>
          <p:cNvPr id="20" name="Freeform 20"/>
          <p:cNvSpPr/>
          <p:nvPr/>
        </p:nvSpPr>
        <p:spPr>
          <a:xfrm>
            <a:off x="3009900" y="3390900"/>
            <a:ext cx="685800" cy="9525"/>
          </a:xfrm>
          <a:custGeom>
            <a:avLst/>
            <a:gdLst/>
            <a:ahLst/>
            <a:cxnLst/>
            <a:rect l="l" t="t" r="r" b="b"/>
            <a:pathLst>
              <a:path w="685800" h="9525">
                <a:moveTo>
                  <a:pt x="0" y="0"/>
                </a:moveTo>
                <a:lnTo>
                  <a:pt x="685800" y="0"/>
                </a:lnTo>
              </a:path>
            </a:pathLst>
          </a:custGeom>
          <a:noFill/>
          <a:ln w="47625">
            <a:solidFill>
              <a:srgbClr val="7CFFB2"/>
            </a:solidFill>
            <a:tailEnd type="triangle" w="lg" len="lg"/>
          </a:ln>
        </p:spPr>
      </p:sp>
      <p:grpSp>
        <p:nvGrpSpPr>
          <p:cNvPr id="58" name="Group 58"/>
          <p:cNvGrpSpPr/>
          <p:nvPr/>
        </p:nvGrpSpPr>
        <p:grpSpPr>
          <a:xfrm>
            <a:off x="3905250" y="1562100"/>
            <a:ext cx="4648200" cy="3695700"/>
            <a:chOff x="3905250" y="1562100"/>
            <a:chExt cx="4648200" cy="3695700"/>
          </a:xfrm>
        </p:grpSpPr>
        <p:sp>
          <p:nvSpPr>
            <p:cNvPr id="21" name="Rectangle 21"/>
            <p:cNvSpPr/>
            <p:nvPr/>
          </p:nvSpPr>
          <p:spPr>
            <a:xfrm>
              <a:off x="3905250" y="1562100"/>
              <a:ext cx="4648200" cy="3695700"/>
            </a:xfrm>
            <a:prstGeom prst="roundRect">
              <a:avLst>
                <a:gd name="adj" fmla="val 4639"/>
              </a:avLst>
            </a:prstGeom>
            <a:solidFill>
              <a:srgbClr val="141A2E"/>
            </a:solidFill>
            <a:ln w="19050">
              <a:solidFill>
                <a:srgbClr val="3A4668"/>
              </a:solidFill>
            </a:ln>
          </p:spPr>
        </p:sp>
        <p:sp>
          <p:nvSpPr>
            <p:cNvPr id="22" name="TextBox 22"/>
            <p:cNvSpPr txBox="1"/>
            <p:nvPr/>
          </p:nvSpPr>
          <p:spPr>
            <a:xfrm>
              <a:off x="4207192" y="1775936"/>
              <a:ext cx="2290046" cy="350520"/>
            </a:xfrm>
            <a:prstGeom prst="rect">
              <a:avLst/>
            </a:prstGeom>
            <a:noFill/>
            <a:ln>
              <a:noFill/>
            </a:ln>
          </p:spPr>
          <p:txBody>
            <a:bodyPr wrap="none" lIns="0" tIns="0" rIns="0" bIns="0" anchor="t" anchorCtr="0">
              <a:spAutoFit/>
            </a:bodyPr>
            <a:lstStyle/>
            <a:p>
              <a:pPr algn="l"/>
              <a:r>
                <a:rPr lang="zh-CN" sz="1725" b="1" dirty="0">
                  <a:solidFill>
                    <a:srgbClr val="F7F8FA"/>
                  </a:solidFill>
                  <a:latin typeface="Arial"/>
                  <a:ea typeface="Microsoft YaHei"/>
                  <a:cs typeface="Arial"/>
                </a:rPr>
                <a:t>Embedding matrix X</a:t>
              </a:r>
            </a:p>
          </p:txBody>
        </p:sp>
        <p:sp>
          <p:nvSpPr>
            <p:cNvPr id="23" name="TextBox 23"/>
            <p:cNvSpPr txBox="1"/>
            <p:nvPr/>
          </p:nvSpPr>
          <p:spPr>
            <a:xfrm>
              <a:off x="4211002" y="2075021"/>
              <a:ext cx="3078950" cy="289560"/>
            </a:xfrm>
            <a:prstGeom prst="rect">
              <a:avLst/>
            </a:prstGeom>
            <a:noFill/>
            <a:ln>
              <a:noFill/>
            </a:ln>
          </p:spPr>
          <p:txBody>
            <a:bodyPr wrap="none" lIns="0" tIns="0" rIns="0" bIns="0" anchor="t" anchorCtr="0">
              <a:spAutoFit/>
            </a:bodyPr>
            <a:lstStyle/>
            <a:p>
              <a:pPr algn="l"/>
              <a:r>
                <a:rPr lang="zh-CN" sz="1425" b="1" dirty="0">
                  <a:solidFill>
                    <a:srgbClr val="FFCB6B"/>
                  </a:solidFill>
                  <a:latin typeface="Consolas"/>
                  <a:ea typeface="Microsoft YaHei"/>
                  <a:cs typeface="Consolas"/>
                </a:rPr>
                <a:t>X shape = [n, d_model] = [4, 6]</a:t>
              </a:r>
            </a:p>
          </p:txBody>
        </p:sp>
        <p:sp>
          <p:nvSpPr>
            <p:cNvPr id="24" name="TextBox 24"/>
            <p:cNvSpPr txBox="1"/>
            <p:nvPr/>
          </p:nvSpPr>
          <p:spPr>
            <a:xfrm>
              <a:off x="4864418" y="2542699"/>
              <a:ext cx="167783"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d1</a:t>
              </a:r>
            </a:p>
          </p:txBody>
        </p:sp>
        <p:sp>
          <p:nvSpPr>
            <p:cNvPr id="25" name="TextBox 25"/>
            <p:cNvSpPr txBox="1"/>
            <p:nvPr/>
          </p:nvSpPr>
          <p:spPr>
            <a:xfrm>
              <a:off x="5435918" y="2542699"/>
              <a:ext cx="167783"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d2</a:t>
              </a:r>
            </a:p>
          </p:txBody>
        </p:sp>
        <p:sp>
          <p:nvSpPr>
            <p:cNvPr id="26" name="TextBox 26"/>
            <p:cNvSpPr txBox="1"/>
            <p:nvPr/>
          </p:nvSpPr>
          <p:spPr>
            <a:xfrm>
              <a:off x="6007418" y="2542699"/>
              <a:ext cx="167783"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d3</a:t>
              </a:r>
            </a:p>
          </p:txBody>
        </p:sp>
        <p:sp>
          <p:nvSpPr>
            <p:cNvPr id="27" name="TextBox 27"/>
            <p:cNvSpPr txBox="1"/>
            <p:nvPr/>
          </p:nvSpPr>
          <p:spPr>
            <a:xfrm>
              <a:off x="6578918" y="2542699"/>
              <a:ext cx="167783"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d4</a:t>
              </a:r>
            </a:p>
          </p:txBody>
        </p:sp>
        <p:sp>
          <p:nvSpPr>
            <p:cNvPr id="28" name="TextBox 28"/>
            <p:cNvSpPr txBox="1"/>
            <p:nvPr/>
          </p:nvSpPr>
          <p:spPr>
            <a:xfrm>
              <a:off x="7150418" y="2542699"/>
              <a:ext cx="167783"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d5</a:t>
              </a:r>
            </a:p>
          </p:txBody>
        </p:sp>
        <p:sp>
          <p:nvSpPr>
            <p:cNvPr id="29" name="TextBox 29"/>
            <p:cNvSpPr txBox="1"/>
            <p:nvPr/>
          </p:nvSpPr>
          <p:spPr>
            <a:xfrm>
              <a:off x="7721918" y="2542699"/>
              <a:ext cx="167783"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d6</a:t>
              </a:r>
            </a:p>
          </p:txBody>
        </p:sp>
        <p:sp>
          <p:nvSpPr>
            <p:cNvPr id="30" name="TextBox 30"/>
            <p:cNvSpPr txBox="1"/>
            <p:nvPr/>
          </p:nvSpPr>
          <p:spPr>
            <a:xfrm>
              <a:off x="4292918" y="2961799"/>
              <a:ext cx="167783"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t1</a:t>
              </a:r>
            </a:p>
          </p:txBody>
        </p:sp>
        <p:sp>
          <p:nvSpPr>
            <p:cNvPr id="31" name="TextBox 31"/>
            <p:cNvSpPr txBox="1"/>
            <p:nvPr/>
          </p:nvSpPr>
          <p:spPr>
            <a:xfrm>
              <a:off x="4292918" y="3438049"/>
              <a:ext cx="167783"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t2</a:t>
              </a:r>
            </a:p>
          </p:txBody>
        </p:sp>
        <p:sp>
          <p:nvSpPr>
            <p:cNvPr id="32" name="TextBox 32"/>
            <p:cNvSpPr txBox="1"/>
            <p:nvPr/>
          </p:nvSpPr>
          <p:spPr>
            <a:xfrm>
              <a:off x="4292918" y="3914299"/>
              <a:ext cx="167783"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t3</a:t>
              </a:r>
            </a:p>
          </p:txBody>
        </p:sp>
        <p:sp>
          <p:nvSpPr>
            <p:cNvPr id="33" name="TextBox 33"/>
            <p:cNvSpPr txBox="1"/>
            <p:nvPr/>
          </p:nvSpPr>
          <p:spPr>
            <a:xfrm>
              <a:off x="4292918" y="4390549"/>
              <a:ext cx="167783"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t4</a:t>
              </a:r>
            </a:p>
          </p:txBody>
        </p:sp>
        <p:sp>
          <p:nvSpPr>
            <p:cNvPr id="34" name="Rectangle 34"/>
            <p:cNvSpPr/>
            <p:nvPr/>
          </p:nvSpPr>
          <p:spPr>
            <a:xfrm>
              <a:off x="4724400" y="2781300"/>
              <a:ext cx="552450" cy="361950"/>
            </a:xfrm>
            <a:prstGeom prst="rect">
              <a:avLst/>
            </a:prstGeom>
            <a:solidFill>
              <a:srgbClr val="1D2740"/>
            </a:solidFill>
            <a:ln w="9525">
              <a:solidFill>
                <a:srgbClr val="8AB4FF"/>
              </a:solidFill>
            </a:ln>
          </p:spPr>
        </p:sp>
        <p:sp>
          <p:nvSpPr>
            <p:cNvPr id="35" name="Rectangle 35"/>
            <p:cNvSpPr/>
            <p:nvPr/>
          </p:nvSpPr>
          <p:spPr>
            <a:xfrm>
              <a:off x="5276850" y="2781300"/>
              <a:ext cx="552450" cy="361950"/>
            </a:xfrm>
            <a:prstGeom prst="rect">
              <a:avLst/>
            </a:prstGeom>
            <a:solidFill>
              <a:srgbClr val="1D2740"/>
            </a:solidFill>
            <a:ln w="9525">
              <a:solidFill>
                <a:srgbClr val="8AB4FF"/>
              </a:solidFill>
            </a:ln>
          </p:spPr>
        </p:sp>
        <p:sp>
          <p:nvSpPr>
            <p:cNvPr id="36" name="Rectangle 36"/>
            <p:cNvSpPr/>
            <p:nvPr/>
          </p:nvSpPr>
          <p:spPr>
            <a:xfrm>
              <a:off x="5829300" y="2781300"/>
              <a:ext cx="552450" cy="361950"/>
            </a:xfrm>
            <a:prstGeom prst="rect">
              <a:avLst/>
            </a:prstGeom>
            <a:solidFill>
              <a:srgbClr val="1D2740"/>
            </a:solidFill>
            <a:ln w="9525">
              <a:solidFill>
                <a:srgbClr val="8AB4FF"/>
              </a:solidFill>
            </a:ln>
          </p:spPr>
        </p:sp>
        <p:sp>
          <p:nvSpPr>
            <p:cNvPr id="37" name="Rectangle 37"/>
            <p:cNvSpPr/>
            <p:nvPr/>
          </p:nvSpPr>
          <p:spPr>
            <a:xfrm>
              <a:off x="6381750" y="2781300"/>
              <a:ext cx="552450" cy="361950"/>
            </a:xfrm>
            <a:prstGeom prst="rect">
              <a:avLst/>
            </a:prstGeom>
            <a:solidFill>
              <a:srgbClr val="1D2740"/>
            </a:solidFill>
            <a:ln w="9525">
              <a:solidFill>
                <a:srgbClr val="8AB4FF"/>
              </a:solidFill>
            </a:ln>
          </p:spPr>
        </p:sp>
        <p:sp>
          <p:nvSpPr>
            <p:cNvPr id="38" name="Rectangle 38"/>
            <p:cNvSpPr/>
            <p:nvPr/>
          </p:nvSpPr>
          <p:spPr>
            <a:xfrm>
              <a:off x="6934200" y="2781300"/>
              <a:ext cx="552450" cy="361950"/>
            </a:xfrm>
            <a:prstGeom prst="rect">
              <a:avLst/>
            </a:prstGeom>
            <a:solidFill>
              <a:srgbClr val="1D2740"/>
            </a:solidFill>
            <a:ln w="9525">
              <a:solidFill>
                <a:srgbClr val="8AB4FF"/>
              </a:solidFill>
            </a:ln>
          </p:spPr>
        </p:sp>
        <p:sp>
          <p:nvSpPr>
            <p:cNvPr id="39" name="Rectangle 39"/>
            <p:cNvSpPr/>
            <p:nvPr/>
          </p:nvSpPr>
          <p:spPr>
            <a:xfrm>
              <a:off x="7486650" y="2781300"/>
              <a:ext cx="552450" cy="361950"/>
            </a:xfrm>
            <a:prstGeom prst="rect">
              <a:avLst/>
            </a:prstGeom>
            <a:solidFill>
              <a:srgbClr val="1D2740"/>
            </a:solidFill>
            <a:ln w="9525">
              <a:solidFill>
                <a:srgbClr val="8AB4FF"/>
              </a:solidFill>
            </a:ln>
          </p:spPr>
        </p:sp>
        <p:sp>
          <p:nvSpPr>
            <p:cNvPr id="40" name="Rectangle 40"/>
            <p:cNvSpPr/>
            <p:nvPr/>
          </p:nvSpPr>
          <p:spPr>
            <a:xfrm>
              <a:off x="4724400" y="3257550"/>
              <a:ext cx="552450" cy="361950"/>
            </a:xfrm>
            <a:prstGeom prst="rect">
              <a:avLst/>
            </a:prstGeom>
            <a:solidFill>
              <a:srgbClr val="1D2740"/>
            </a:solidFill>
            <a:ln w="9525">
              <a:solidFill>
                <a:srgbClr val="8AB4FF"/>
              </a:solidFill>
            </a:ln>
          </p:spPr>
        </p:sp>
        <p:sp>
          <p:nvSpPr>
            <p:cNvPr id="41" name="Rectangle 41"/>
            <p:cNvSpPr/>
            <p:nvPr/>
          </p:nvSpPr>
          <p:spPr>
            <a:xfrm>
              <a:off x="5276850" y="3257550"/>
              <a:ext cx="552450" cy="361950"/>
            </a:xfrm>
            <a:prstGeom prst="rect">
              <a:avLst/>
            </a:prstGeom>
            <a:solidFill>
              <a:srgbClr val="1D2740"/>
            </a:solidFill>
            <a:ln w="9525">
              <a:solidFill>
                <a:srgbClr val="8AB4FF"/>
              </a:solidFill>
            </a:ln>
          </p:spPr>
        </p:sp>
        <p:sp>
          <p:nvSpPr>
            <p:cNvPr id="42" name="Rectangle 42"/>
            <p:cNvSpPr/>
            <p:nvPr/>
          </p:nvSpPr>
          <p:spPr>
            <a:xfrm>
              <a:off x="5829300" y="3257550"/>
              <a:ext cx="552450" cy="361950"/>
            </a:xfrm>
            <a:prstGeom prst="rect">
              <a:avLst/>
            </a:prstGeom>
            <a:solidFill>
              <a:srgbClr val="1D2740"/>
            </a:solidFill>
            <a:ln w="9525">
              <a:solidFill>
                <a:srgbClr val="8AB4FF"/>
              </a:solidFill>
            </a:ln>
          </p:spPr>
        </p:sp>
        <p:sp>
          <p:nvSpPr>
            <p:cNvPr id="43" name="Rectangle 43"/>
            <p:cNvSpPr/>
            <p:nvPr/>
          </p:nvSpPr>
          <p:spPr>
            <a:xfrm>
              <a:off x="6381750" y="3257550"/>
              <a:ext cx="552450" cy="361950"/>
            </a:xfrm>
            <a:prstGeom prst="rect">
              <a:avLst/>
            </a:prstGeom>
            <a:solidFill>
              <a:srgbClr val="1D2740"/>
            </a:solidFill>
            <a:ln w="9525">
              <a:solidFill>
                <a:srgbClr val="8AB4FF"/>
              </a:solidFill>
            </a:ln>
          </p:spPr>
        </p:sp>
        <p:sp>
          <p:nvSpPr>
            <p:cNvPr id="44" name="Rectangle 44"/>
            <p:cNvSpPr/>
            <p:nvPr/>
          </p:nvSpPr>
          <p:spPr>
            <a:xfrm>
              <a:off x="6934200" y="3257550"/>
              <a:ext cx="552450" cy="361950"/>
            </a:xfrm>
            <a:prstGeom prst="rect">
              <a:avLst/>
            </a:prstGeom>
            <a:solidFill>
              <a:srgbClr val="1D2740"/>
            </a:solidFill>
            <a:ln w="9525">
              <a:solidFill>
                <a:srgbClr val="8AB4FF"/>
              </a:solidFill>
            </a:ln>
          </p:spPr>
        </p:sp>
        <p:sp>
          <p:nvSpPr>
            <p:cNvPr id="45" name="Rectangle 45"/>
            <p:cNvSpPr/>
            <p:nvPr/>
          </p:nvSpPr>
          <p:spPr>
            <a:xfrm>
              <a:off x="7486650" y="3257550"/>
              <a:ext cx="552450" cy="361950"/>
            </a:xfrm>
            <a:prstGeom prst="rect">
              <a:avLst/>
            </a:prstGeom>
            <a:solidFill>
              <a:srgbClr val="1D2740"/>
            </a:solidFill>
            <a:ln w="9525">
              <a:solidFill>
                <a:srgbClr val="8AB4FF"/>
              </a:solidFill>
            </a:ln>
          </p:spPr>
        </p:sp>
        <p:sp>
          <p:nvSpPr>
            <p:cNvPr id="46" name="Rectangle 46"/>
            <p:cNvSpPr/>
            <p:nvPr/>
          </p:nvSpPr>
          <p:spPr>
            <a:xfrm>
              <a:off x="4724400" y="3733800"/>
              <a:ext cx="552450" cy="361950"/>
            </a:xfrm>
            <a:prstGeom prst="rect">
              <a:avLst/>
            </a:prstGeom>
            <a:solidFill>
              <a:srgbClr val="1D2740"/>
            </a:solidFill>
            <a:ln w="9525">
              <a:solidFill>
                <a:srgbClr val="8AB4FF"/>
              </a:solidFill>
            </a:ln>
          </p:spPr>
        </p:sp>
        <p:sp>
          <p:nvSpPr>
            <p:cNvPr id="47" name="Rectangle 47"/>
            <p:cNvSpPr/>
            <p:nvPr/>
          </p:nvSpPr>
          <p:spPr>
            <a:xfrm>
              <a:off x="5276850" y="3733800"/>
              <a:ext cx="552450" cy="361950"/>
            </a:xfrm>
            <a:prstGeom prst="rect">
              <a:avLst/>
            </a:prstGeom>
            <a:solidFill>
              <a:srgbClr val="1D2740"/>
            </a:solidFill>
            <a:ln w="9525">
              <a:solidFill>
                <a:srgbClr val="8AB4FF"/>
              </a:solidFill>
            </a:ln>
          </p:spPr>
        </p:sp>
        <p:sp>
          <p:nvSpPr>
            <p:cNvPr id="48" name="Rectangle 48"/>
            <p:cNvSpPr/>
            <p:nvPr/>
          </p:nvSpPr>
          <p:spPr>
            <a:xfrm>
              <a:off x="5829300" y="3733800"/>
              <a:ext cx="552450" cy="361950"/>
            </a:xfrm>
            <a:prstGeom prst="rect">
              <a:avLst/>
            </a:prstGeom>
            <a:solidFill>
              <a:srgbClr val="1D2740"/>
            </a:solidFill>
            <a:ln w="9525">
              <a:solidFill>
                <a:srgbClr val="8AB4FF"/>
              </a:solidFill>
            </a:ln>
          </p:spPr>
        </p:sp>
        <p:sp>
          <p:nvSpPr>
            <p:cNvPr id="49" name="Rectangle 49"/>
            <p:cNvSpPr/>
            <p:nvPr/>
          </p:nvSpPr>
          <p:spPr>
            <a:xfrm>
              <a:off x="6381750" y="3733800"/>
              <a:ext cx="552450" cy="361950"/>
            </a:xfrm>
            <a:prstGeom prst="rect">
              <a:avLst/>
            </a:prstGeom>
            <a:solidFill>
              <a:srgbClr val="1D2740"/>
            </a:solidFill>
            <a:ln w="9525">
              <a:solidFill>
                <a:srgbClr val="8AB4FF"/>
              </a:solidFill>
            </a:ln>
          </p:spPr>
        </p:sp>
        <p:sp>
          <p:nvSpPr>
            <p:cNvPr id="50" name="Rectangle 50"/>
            <p:cNvSpPr/>
            <p:nvPr/>
          </p:nvSpPr>
          <p:spPr>
            <a:xfrm>
              <a:off x="6934200" y="3733800"/>
              <a:ext cx="552450" cy="361950"/>
            </a:xfrm>
            <a:prstGeom prst="rect">
              <a:avLst/>
            </a:prstGeom>
            <a:solidFill>
              <a:srgbClr val="1D2740"/>
            </a:solidFill>
            <a:ln w="9525">
              <a:solidFill>
                <a:srgbClr val="8AB4FF"/>
              </a:solidFill>
            </a:ln>
          </p:spPr>
        </p:sp>
        <p:sp>
          <p:nvSpPr>
            <p:cNvPr id="51" name="Rectangle 51"/>
            <p:cNvSpPr/>
            <p:nvPr/>
          </p:nvSpPr>
          <p:spPr>
            <a:xfrm>
              <a:off x="7486650" y="3733800"/>
              <a:ext cx="552450" cy="361950"/>
            </a:xfrm>
            <a:prstGeom prst="rect">
              <a:avLst/>
            </a:prstGeom>
            <a:solidFill>
              <a:srgbClr val="1D2740"/>
            </a:solidFill>
            <a:ln w="9525">
              <a:solidFill>
                <a:srgbClr val="8AB4FF"/>
              </a:solidFill>
            </a:ln>
          </p:spPr>
        </p:sp>
        <p:sp>
          <p:nvSpPr>
            <p:cNvPr id="52" name="Rectangle 52"/>
            <p:cNvSpPr/>
            <p:nvPr/>
          </p:nvSpPr>
          <p:spPr>
            <a:xfrm>
              <a:off x="4724400" y="4210050"/>
              <a:ext cx="552450" cy="361950"/>
            </a:xfrm>
            <a:prstGeom prst="rect">
              <a:avLst/>
            </a:prstGeom>
            <a:solidFill>
              <a:srgbClr val="1D2740"/>
            </a:solidFill>
            <a:ln w="9525">
              <a:solidFill>
                <a:srgbClr val="8AB4FF"/>
              </a:solidFill>
            </a:ln>
          </p:spPr>
        </p:sp>
        <p:sp>
          <p:nvSpPr>
            <p:cNvPr id="53" name="Rectangle 53"/>
            <p:cNvSpPr/>
            <p:nvPr/>
          </p:nvSpPr>
          <p:spPr>
            <a:xfrm>
              <a:off x="5276850" y="4210050"/>
              <a:ext cx="552450" cy="361950"/>
            </a:xfrm>
            <a:prstGeom prst="rect">
              <a:avLst/>
            </a:prstGeom>
            <a:solidFill>
              <a:srgbClr val="1D2740"/>
            </a:solidFill>
            <a:ln w="9525">
              <a:solidFill>
                <a:srgbClr val="8AB4FF"/>
              </a:solidFill>
            </a:ln>
          </p:spPr>
        </p:sp>
        <p:sp>
          <p:nvSpPr>
            <p:cNvPr id="54" name="Rectangle 54"/>
            <p:cNvSpPr/>
            <p:nvPr/>
          </p:nvSpPr>
          <p:spPr>
            <a:xfrm>
              <a:off x="5829300" y="4210050"/>
              <a:ext cx="552450" cy="361950"/>
            </a:xfrm>
            <a:prstGeom prst="rect">
              <a:avLst/>
            </a:prstGeom>
            <a:solidFill>
              <a:srgbClr val="1D2740"/>
            </a:solidFill>
            <a:ln w="9525">
              <a:solidFill>
                <a:srgbClr val="8AB4FF"/>
              </a:solidFill>
            </a:ln>
          </p:spPr>
        </p:sp>
        <p:sp>
          <p:nvSpPr>
            <p:cNvPr id="55" name="Rectangle 55"/>
            <p:cNvSpPr/>
            <p:nvPr/>
          </p:nvSpPr>
          <p:spPr>
            <a:xfrm>
              <a:off x="6381750" y="4210050"/>
              <a:ext cx="552450" cy="361950"/>
            </a:xfrm>
            <a:prstGeom prst="rect">
              <a:avLst/>
            </a:prstGeom>
            <a:solidFill>
              <a:srgbClr val="1D2740"/>
            </a:solidFill>
            <a:ln w="9525">
              <a:solidFill>
                <a:srgbClr val="8AB4FF"/>
              </a:solidFill>
            </a:ln>
          </p:spPr>
        </p:sp>
        <p:sp>
          <p:nvSpPr>
            <p:cNvPr id="56" name="Rectangle 56"/>
            <p:cNvSpPr/>
            <p:nvPr/>
          </p:nvSpPr>
          <p:spPr>
            <a:xfrm>
              <a:off x="6934200" y="4210050"/>
              <a:ext cx="552450" cy="361950"/>
            </a:xfrm>
            <a:prstGeom prst="rect">
              <a:avLst/>
            </a:prstGeom>
            <a:solidFill>
              <a:srgbClr val="1D2740"/>
            </a:solidFill>
            <a:ln w="9525">
              <a:solidFill>
                <a:srgbClr val="8AB4FF"/>
              </a:solidFill>
            </a:ln>
          </p:spPr>
        </p:sp>
        <p:sp>
          <p:nvSpPr>
            <p:cNvPr id="57" name="Rectangle 57"/>
            <p:cNvSpPr/>
            <p:nvPr/>
          </p:nvSpPr>
          <p:spPr>
            <a:xfrm>
              <a:off x="7486650" y="4210050"/>
              <a:ext cx="552450" cy="361950"/>
            </a:xfrm>
            <a:prstGeom prst="rect">
              <a:avLst/>
            </a:prstGeom>
            <a:solidFill>
              <a:srgbClr val="1D2740"/>
            </a:solidFill>
            <a:ln w="9525">
              <a:solidFill>
                <a:srgbClr val="8AB4FF"/>
              </a:solidFill>
            </a:ln>
          </p:spPr>
        </p:sp>
      </p:grpSp>
      <p:grpSp>
        <p:nvGrpSpPr>
          <p:cNvPr id="65" name="Group 65"/>
          <p:cNvGrpSpPr/>
          <p:nvPr/>
        </p:nvGrpSpPr>
        <p:grpSpPr>
          <a:xfrm>
            <a:off x="8915400" y="2038350"/>
            <a:ext cx="2803303" cy="2724150"/>
            <a:chOff x="8915400" y="2038350"/>
            <a:chExt cx="2803303" cy="2724150"/>
          </a:xfrm>
        </p:grpSpPr>
        <p:sp>
          <p:nvSpPr>
            <p:cNvPr id="59" name="Rectangle 59"/>
            <p:cNvSpPr/>
            <p:nvPr/>
          </p:nvSpPr>
          <p:spPr>
            <a:xfrm>
              <a:off x="8915400" y="2038350"/>
              <a:ext cx="2705100" cy="2724150"/>
            </a:xfrm>
            <a:prstGeom prst="roundRect">
              <a:avLst>
                <a:gd name="adj" fmla="val 6338"/>
              </a:avLst>
            </a:prstGeom>
            <a:solidFill>
              <a:srgbClr val="141A2E"/>
            </a:solidFill>
            <a:ln w="19050">
              <a:solidFill>
                <a:srgbClr val="3A4668"/>
              </a:solidFill>
            </a:ln>
          </p:spPr>
        </p:sp>
        <p:sp>
          <p:nvSpPr>
            <p:cNvPr id="60" name="TextBox 60"/>
            <p:cNvSpPr txBox="1"/>
            <p:nvPr/>
          </p:nvSpPr>
          <p:spPr>
            <a:xfrm>
              <a:off x="9198292" y="2271236"/>
              <a:ext cx="2048516" cy="350520"/>
            </a:xfrm>
            <a:prstGeom prst="rect">
              <a:avLst/>
            </a:prstGeom>
            <a:noFill/>
            <a:ln>
              <a:noFill/>
            </a:ln>
          </p:spPr>
          <p:txBody>
            <a:bodyPr wrap="none" lIns="0" tIns="0" rIns="0" bIns="0" anchor="t" anchorCtr="0">
              <a:spAutoFit/>
            </a:bodyPr>
            <a:lstStyle/>
            <a:p>
              <a:pPr algn="l"/>
              <a:r>
                <a:rPr lang="zh-CN" sz="1725" b="1" dirty="0">
                  <a:solidFill>
                    <a:srgbClr val="F7F8FA"/>
                  </a:solidFill>
                  <a:latin typeface="Arial"/>
                  <a:ea typeface="Microsoft YaHei"/>
                  <a:cs typeface="Arial"/>
                </a:rPr>
                <a:t>Shape convention</a:t>
              </a:r>
            </a:p>
          </p:txBody>
        </p:sp>
        <p:sp>
          <p:nvSpPr>
            <p:cNvPr id="61" name="TextBox 61"/>
            <p:cNvSpPr txBox="1"/>
            <p:nvPr/>
          </p:nvSpPr>
          <p:spPr>
            <a:xfrm>
              <a:off x="9202102" y="2760821"/>
              <a:ext cx="1023843" cy="289560"/>
            </a:xfrm>
            <a:prstGeom prst="rect">
              <a:avLst/>
            </a:prstGeom>
            <a:noFill/>
            <a:ln>
              <a:noFill/>
            </a:ln>
          </p:spPr>
          <p:txBody>
            <a:bodyPr wrap="none" lIns="0" tIns="0" rIns="0" bIns="0" anchor="t" anchorCtr="0">
              <a:spAutoFit/>
            </a:bodyPr>
            <a:lstStyle/>
            <a:p>
              <a:pPr algn="l"/>
              <a:r>
                <a:rPr lang="zh-CN" sz="1425" b="1" dirty="0">
                  <a:solidFill>
                    <a:srgbClr val="8AB4FF"/>
                  </a:solidFill>
                  <a:latin typeface="Consolas"/>
                  <a:ea typeface="Microsoft YaHei"/>
                  <a:cs typeface="Consolas"/>
                </a:rPr>
                <a:t>n = 4 rows</a:t>
              </a:r>
            </a:p>
          </p:txBody>
        </p:sp>
        <p:sp>
          <p:nvSpPr>
            <p:cNvPr id="62" name="TextBox 62"/>
            <p:cNvSpPr txBox="1"/>
            <p:nvPr/>
          </p:nvSpPr>
          <p:spPr>
            <a:xfrm>
              <a:off x="9204008" y="3081814"/>
              <a:ext cx="1528572" cy="259080"/>
            </a:xfrm>
            <a:prstGeom prst="rect">
              <a:avLst/>
            </a:prstGeom>
            <a:noFill/>
            <a:ln>
              <a:noFill/>
            </a:ln>
          </p:spPr>
          <p:txBody>
            <a:bodyPr wrap="none" lIns="0" tIns="0" rIns="0" bIns="0" anchor="t" anchorCtr="0">
              <a:spAutoFit/>
            </a:bodyPr>
            <a:lstStyle/>
            <a:p>
              <a:pPr algn="l"/>
              <a:r>
                <a:rPr lang="zh-CN" sz="1275" dirty="0">
                  <a:solidFill>
                    <a:srgbClr val="AAB6D3"/>
                  </a:solidFill>
                  <a:latin typeface="Arial"/>
                  <a:ea typeface="Microsoft YaHei"/>
                  <a:cs typeface="Arial"/>
                </a:rPr>
                <a:t>one row per token</a:t>
              </a:r>
            </a:p>
          </p:txBody>
        </p:sp>
        <p:sp>
          <p:nvSpPr>
            <p:cNvPr id="63" name="TextBox 63"/>
            <p:cNvSpPr txBox="1"/>
            <p:nvPr/>
          </p:nvSpPr>
          <p:spPr>
            <a:xfrm>
              <a:off x="9202102" y="3599021"/>
              <a:ext cx="1951634" cy="289560"/>
            </a:xfrm>
            <a:prstGeom prst="rect">
              <a:avLst/>
            </a:prstGeom>
            <a:noFill/>
            <a:ln>
              <a:noFill/>
            </a:ln>
          </p:spPr>
          <p:txBody>
            <a:bodyPr wrap="none" lIns="0" tIns="0" rIns="0" bIns="0" anchor="t" anchorCtr="0">
              <a:spAutoFit/>
            </a:bodyPr>
            <a:lstStyle/>
            <a:p>
              <a:pPr algn="l"/>
              <a:r>
                <a:rPr lang="zh-CN" sz="1425" b="1" dirty="0">
                  <a:solidFill>
                    <a:srgbClr val="8AB4FF"/>
                  </a:solidFill>
                  <a:latin typeface="Consolas"/>
                  <a:ea typeface="Microsoft YaHei"/>
                  <a:cs typeface="Consolas"/>
                </a:rPr>
                <a:t>d_model = 6 columns</a:t>
              </a:r>
            </a:p>
          </p:txBody>
        </p:sp>
        <p:sp>
          <p:nvSpPr>
            <p:cNvPr id="64" name="TextBox 64"/>
            <p:cNvSpPr txBox="1"/>
            <p:nvPr/>
          </p:nvSpPr>
          <p:spPr>
            <a:xfrm>
              <a:off x="9204008" y="3920014"/>
              <a:ext cx="2514695" cy="259080"/>
            </a:xfrm>
            <a:prstGeom prst="rect">
              <a:avLst/>
            </a:prstGeom>
            <a:noFill/>
            <a:ln>
              <a:noFill/>
            </a:ln>
          </p:spPr>
          <p:txBody>
            <a:bodyPr wrap="none" lIns="0" tIns="0" rIns="0" bIns="0" anchor="t" anchorCtr="0">
              <a:spAutoFit/>
            </a:bodyPr>
            <a:lstStyle/>
            <a:p>
              <a:pPr algn="l"/>
              <a:r>
                <a:rPr lang="zh-CN" sz="1275" dirty="0">
                  <a:solidFill>
                    <a:srgbClr val="AAB6D3"/>
                  </a:solidFill>
                  <a:latin typeface="Arial"/>
                  <a:ea typeface="Microsoft YaHei"/>
                  <a:cs typeface="Arial"/>
                </a:rPr>
                <a:t>embedding features per token</a:t>
              </a:r>
            </a:p>
          </p:txBody>
        </p:sp>
      </p:grpSp>
      <p:sp>
        <p:nvSpPr>
          <p:cNvPr id="66" name="TextBox 66"/>
          <p:cNvSpPr txBox="1"/>
          <p:nvPr/>
        </p:nvSpPr>
        <p:spPr>
          <a:xfrm>
            <a:off x="501968" y="6238399"/>
            <a:ext cx="4724852" cy="198120"/>
          </a:xfrm>
          <a:prstGeom prst="rect">
            <a:avLst/>
          </a:prstGeom>
          <a:noFill/>
          <a:ln>
            <a:noFill/>
          </a:ln>
        </p:spPr>
        <p:txBody>
          <a:bodyPr wrap="none" lIns="0" tIns="0" rIns="0" bIns="0" anchor="t" anchorCtr="0">
            <a:spAutoFit/>
          </a:bodyPr>
          <a:lstStyle/>
          <a:p>
            <a:pPr algn="l"/>
            <a:r>
              <a:rPr lang="zh-CN" sz="975" dirty="0">
                <a:solidFill>
                  <a:srgbClr val="AAB6D3"/>
                </a:solidFill>
                <a:latin typeface="Arial"/>
                <a:ea typeface="Microsoft YaHei"/>
                <a:cs typeface="Arial"/>
              </a:rPr>
              <a:t>Toy dimensions are source-specified and used consistently in later slides.</a:t>
            </a:r>
          </a:p>
        </p:txBody>
      </p:sp>
      <p:sp>
        <p:nvSpPr>
          <p:cNvPr id="67" name="TextBox 67"/>
          <p:cNvSpPr txBox="1"/>
          <p:nvPr/>
        </p:nvSpPr>
        <p:spPr>
          <a:xfrm>
            <a:off x="11398568" y="6238399"/>
            <a:ext cx="460319"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02 / 10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58"/>
                                        </p:tgtEl>
                                        <p:attrNameLst>
                                          <p:attrName>style.visibility</p:attrName>
                                        </p:attrNameLst>
                                      </p:cBhvr>
                                      <p:to>
                                        <p:strVal val="visible"/>
                                      </p:to>
                                    </p:set>
                                    <p:animEffect transition="in" filter="wipe(left)">
                                      <p:cBhvr>
                                        <p:cTn id="11" dur="400"/>
                                        <p:tgtEl>
                                          <p:spTgt spid="5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65"/>
                                        </p:tgtEl>
                                        <p:attrNameLst>
                                          <p:attrName>style.visibility</p:attrName>
                                        </p:attrNameLst>
                                      </p:cBhvr>
                                      <p:to>
                                        <p:strVal val="visible"/>
                                      </p:to>
                                    </p:set>
                                    <p:animEffect transition="in" filter="fade">
                                      <p:cBhvr>
                                        <p:cTn id="15" dur="4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58" grpId="0"/>
      <p:bldP spid="6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C1020"/>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73149"/>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73149"/>
            </a:solidFill>
          </a:ln>
        </p:spPr>
      </p:sp>
      <p:grpSp>
        <p:nvGrpSpPr>
          <p:cNvPr id="8" name="Group 8"/>
          <p:cNvGrpSpPr/>
          <p:nvPr/>
        </p:nvGrpSpPr>
        <p:grpSpPr>
          <a:xfrm>
            <a:off x="482918" y="342424"/>
            <a:ext cx="11194732" cy="772001"/>
            <a:chOff x="482918" y="342424"/>
            <a:chExt cx="11194732" cy="772001"/>
          </a:xfrm>
        </p:grpSpPr>
        <p:sp>
          <p:nvSpPr>
            <p:cNvPr id="5" name="TextBox 5"/>
            <p:cNvSpPr txBox="1"/>
            <p:nvPr/>
          </p:nvSpPr>
          <p:spPr>
            <a:xfrm>
              <a:off x="482918" y="342424"/>
              <a:ext cx="6214009" cy="502920"/>
            </a:xfrm>
            <a:prstGeom prst="rect">
              <a:avLst/>
            </a:prstGeom>
            <a:noFill/>
            <a:ln>
              <a:noFill/>
            </a:ln>
          </p:spPr>
          <p:txBody>
            <a:bodyPr wrap="none" lIns="0" tIns="0" rIns="0" bIns="0" anchor="t" anchorCtr="0">
              <a:spAutoFit/>
            </a:bodyPr>
            <a:lstStyle/>
            <a:p>
              <a:pPr algn="l"/>
              <a:r>
                <a:rPr lang="zh-CN" sz="2475" b="1" dirty="0">
                  <a:solidFill>
                    <a:srgbClr val="F7F8FA"/>
                  </a:solidFill>
                  <a:latin typeface="Arial"/>
                  <a:ea typeface="Microsoft YaHei"/>
                  <a:cs typeface="Arial"/>
                </a:rPr>
                <a:t>Q, K, V Are Learned Projections of X</a:t>
              </a:r>
            </a:p>
          </p:txBody>
        </p:sp>
        <p:sp>
          <p:nvSpPr>
            <p:cNvPr id="6" name="TextBox 6"/>
            <p:cNvSpPr txBox="1"/>
            <p:nvPr/>
          </p:nvSpPr>
          <p:spPr>
            <a:xfrm>
              <a:off x="497205" y="768668"/>
              <a:ext cx="6389084" cy="274320"/>
            </a:xfrm>
            <a:prstGeom prst="rect">
              <a:avLst/>
            </a:prstGeom>
            <a:noFill/>
            <a:ln>
              <a:noFill/>
            </a:ln>
          </p:spPr>
          <p:txBody>
            <a:bodyPr wrap="none" lIns="0" tIns="0" rIns="0" bIns="0" anchor="t" anchorCtr="0">
              <a:spAutoFit/>
            </a:bodyPr>
            <a:lstStyle/>
            <a:p>
              <a:pPr algn="l"/>
              <a:r>
                <a:rPr lang="zh-CN" sz="1350" dirty="0">
                  <a:solidFill>
                    <a:srgbClr val="AAB6D3"/>
                  </a:solidFill>
                  <a:latin typeface="Arial"/>
                  <a:ea typeface="Microsoft YaHei"/>
                  <a:cs typeface="Arial"/>
                </a:rPr>
                <a:t>Each head creates three different views of the same token embeddings.</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A4668"/>
              </a:solidFill>
            </a:ln>
          </p:spPr>
        </p:sp>
      </p:grpSp>
      <p:grpSp>
        <p:nvGrpSpPr>
          <p:cNvPr id="29" name="Group 29"/>
          <p:cNvGrpSpPr/>
          <p:nvPr/>
        </p:nvGrpSpPr>
        <p:grpSpPr>
          <a:xfrm>
            <a:off x="723900" y="2038350"/>
            <a:ext cx="5943600" cy="2552700"/>
            <a:chOff x="723900" y="2038350"/>
            <a:chExt cx="5943600" cy="2552700"/>
          </a:xfrm>
        </p:grpSpPr>
        <p:sp>
          <p:nvSpPr>
            <p:cNvPr id="9" name="Rectangle 9"/>
            <p:cNvSpPr/>
            <p:nvPr/>
          </p:nvSpPr>
          <p:spPr>
            <a:xfrm>
              <a:off x="723900" y="2095500"/>
              <a:ext cx="1638300" cy="2152650"/>
            </a:xfrm>
            <a:prstGeom prst="roundRect">
              <a:avLst>
                <a:gd name="adj" fmla="val 9302"/>
              </a:avLst>
            </a:prstGeom>
            <a:solidFill>
              <a:srgbClr val="141A2E"/>
            </a:solidFill>
            <a:ln w="28575">
              <a:solidFill>
                <a:srgbClr val="8AB4FF"/>
              </a:solidFill>
            </a:ln>
          </p:spPr>
        </p:sp>
        <p:sp>
          <p:nvSpPr>
            <p:cNvPr id="10" name="TextBox 10"/>
            <p:cNvSpPr txBox="1"/>
            <p:nvPr/>
          </p:nvSpPr>
          <p:spPr>
            <a:xfrm>
              <a:off x="1450881" y="2263140"/>
              <a:ext cx="184337" cy="365760"/>
            </a:xfrm>
            <a:prstGeom prst="rect">
              <a:avLst/>
            </a:prstGeom>
            <a:noFill/>
            <a:ln>
              <a:noFill/>
            </a:ln>
          </p:spPr>
          <p:txBody>
            <a:bodyPr wrap="none" lIns="0" tIns="0" rIns="0" bIns="0" anchor="t" anchorCtr="0">
              <a:spAutoFit/>
            </a:bodyPr>
            <a:lstStyle/>
            <a:p>
              <a:pPr algn="ctr"/>
              <a:r>
                <a:rPr lang="zh-CN" sz="1800" b="1" dirty="0">
                  <a:solidFill>
                    <a:srgbClr val="F7F8FA"/>
                  </a:solidFill>
                  <a:latin typeface="Arial"/>
                  <a:ea typeface="Microsoft YaHei"/>
                  <a:cs typeface="Arial"/>
                </a:rPr>
                <a:t>X</a:t>
              </a:r>
            </a:p>
          </p:txBody>
        </p:sp>
        <p:sp>
          <p:nvSpPr>
            <p:cNvPr id="11" name="TextBox 11"/>
            <p:cNvSpPr txBox="1"/>
            <p:nvPr/>
          </p:nvSpPr>
          <p:spPr>
            <a:xfrm>
              <a:off x="1251371" y="2635568"/>
              <a:ext cx="583359" cy="274320"/>
            </a:xfrm>
            <a:prstGeom prst="rect">
              <a:avLst/>
            </a:prstGeom>
            <a:noFill/>
            <a:ln>
              <a:noFill/>
            </a:ln>
          </p:spPr>
          <p:txBody>
            <a:bodyPr wrap="none" lIns="0" tIns="0" rIns="0" bIns="0" anchor="t" anchorCtr="0">
              <a:spAutoFit/>
            </a:bodyPr>
            <a:lstStyle/>
            <a:p>
              <a:pPr algn="ctr"/>
              <a:r>
                <a:rPr lang="zh-CN" sz="1350" dirty="0">
                  <a:solidFill>
                    <a:srgbClr val="AAB6D3"/>
                  </a:solidFill>
                  <a:latin typeface="Consolas"/>
                  <a:ea typeface="Microsoft YaHei"/>
                  <a:cs typeface="Consolas"/>
                </a:rPr>
                <a:t>[4, 6]</a:t>
              </a:r>
            </a:p>
          </p:txBody>
        </p:sp>
        <p:sp>
          <p:nvSpPr>
            <p:cNvPr id="12" name="TextBox 12"/>
            <p:cNvSpPr txBox="1"/>
            <p:nvPr/>
          </p:nvSpPr>
          <p:spPr>
            <a:xfrm>
              <a:off x="807720" y="3185160"/>
              <a:ext cx="1470660" cy="243840"/>
            </a:xfrm>
            <a:prstGeom prst="rect">
              <a:avLst/>
            </a:prstGeom>
            <a:noFill/>
            <a:ln>
              <a:noFill/>
            </a:ln>
          </p:spPr>
          <p:txBody>
            <a:bodyPr wrap="none" lIns="0" tIns="0" rIns="0" bIns="0" anchor="t" anchorCtr="0">
              <a:spAutoFit/>
            </a:bodyPr>
            <a:lstStyle/>
            <a:p>
              <a:pPr algn="ctr"/>
              <a:r>
                <a:rPr lang="zh-CN" sz="1200" dirty="0">
                  <a:solidFill>
                    <a:srgbClr val="AAB6D3"/>
                  </a:solidFill>
                  <a:latin typeface="Arial"/>
                  <a:ea typeface="Microsoft YaHei"/>
                  <a:cs typeface="Arial"/>
                </a:rPr>
                <a:t>one embedding row</a:t>
              </a:r>
            </a:p>
          </p:txBody>
        </p:sp>
        <p:sp>
          <p:nvSpPr>
            <p:cNvPr id="13" name="TextBox 13"/>
            <p:cNvSpPr txBox="1"/>
            <p:nvPr/>
          </p:nvSpPr>
          <p:spPr>
            <a:xfrm>
              <a:off x="1151763" y="3432810"/>
              <a:ext cx="782574" cy="243840"/>
            </a:xfrm>
            <a:prstGeom prst="rect">
              <a:avLst/>
            </a:prstGeom>
            <a:noFill/>
            <a:ln>
              <a:noFill/>
            </a:ln>
          </p:spPr>
          <p:txBody>
            <a:bodyPr wrap="none" lIns="0" tIns="0" rIns="0" bIns="0" anchor="t" anchorCtr="0">
              <a:spAutoFit/>
            </a:bodyPr>
            <a:lstStyle/>
            <a:p>
              <a:pPr algn="ctr"/>
              <a:r>
                <a:rPr lang="zh-CN" sz="1200" dirty="0">
                  <a:solidFill>
                    <a:srgbClr val="AAB6D3"/>
                  </a:solidFill>
                  <a:latin typeface="Arial"/>
                  <a:ea typeface="Microsoft YaHei"/>
                  <a:cs typeface="Arial"/>
                </a:rPr>
                <a:t>per token</a:t>
              </a:r>
            </a:p>
          </p:txBody>
        </p:sp>
        <p:sp>
          <p:nvSpPr>
            <p:cNvPr id="14" name="Freeform 14"/>
            <p:cNvSpPr/>
            <p:nvPr/>
          </p:nvSpPr>
          <p:spPr>
            <a:xfrm>
              <a:off x="2438400" y="2781300"/>
              <a:ext cx="1219200" cy="9525"/>
            </a:xfrm>
            <a:custGeom>
              <a:avLst/>
              <a:gdLst/>
              <a:ahLst/>
              <a:cxnLst/>
              <a:rect l="l" t="t" r="r" b="b"/>
              <a:pathLst>
                <a:path w="1219200" h="9525">
                  <a:moveTo>
                    <a:pt x="0" y="0"/>
                  </a:moveTo>
                  <a:lnTo>
                    <a:pt x="1219200" y="0"/>
                  </a:lnTo>
                </a:path>
              </a:pathLst>
            </a:custGeom>
            <a:noFill/>
            <a:ln w="47625">
              <a:solidFill>
                <a:srgbClr val="8AB4FF"/>
              </a:solidFill>
              <a:tailEnd type="triangle" w="lg" len="lg"/>
            </a:ln>
          </p:spPr>
        </p:sp>
        <p:sp>
          <p:nvSpPr>
            <p:cNvPr id="15" name="Freeform 15"/>
            <p:cNvSpPr/>
            <p:nvPr/>
          </p:nvSpPr>
          <p:spPr>
            <a:xfrm>
              <a:off x="2438400" y="3162300"/>
              <a:ext cx="1219200" cy="9525"/>
            </a:xfrm>
            <a:custGeom>
              <a:avLst/>
              <a:gdLst/>
              <a:ahLst/>
              <a:cxnLst/>
              <a:rect l="l" t="t" r="r" b="b"/>
              <a:pathLst>
                <a:path w="1219200" h="9525">
                  <a:moveTo>
                    <a:pt x="0" y="0"/>
                  </a:moveTo>
                  <a:lnTo>
                    <a:pt x="1219200" y="0"/>
                  </a:lnTo>
                </a:path>
              </a:pathLst>
            </a:custGeom>
            <a:noFill/>
            <a:ln w="47625">
              <a:solidFill>
                <a:srgbClr val="8AB4FF"/>
              </a:solidFill>
              <a:tailEnd type="triangle" w="lg" len="lg"/>
            </a:ln>
          </p:spPr>
        </p:sp>
        <p:sp>
          <p:nvSpPr>
            <p:cNvPr id="16" name="Freeform 16"/>
            <p:cNvSpPr/>
            <p:nvPr/>
          </p:nvSpPr>
          <p:spPr>
            <a:xfrm>
              <a:off x="2438400" y="3543300"/>
              <a:ext cx="1219200" cy="9525"/>
            </a:xfrm>
            <a:custGeom>
              <a:avLst/>
              <a:gdLst/>
              <a:ahLst/>
              <a:cxnLst/>
              <a:rect l="l" t="t" r="r" b="b"/>
              <a:pathLst>
                <a:path w="1219200" h="9525">
                  <a:moveTo>
                    <a:pt x="0" y="0"/>
                  </a:moveTo>
                  <a:lnTo>
                    <a:pt x="1219200" y="0"/>
                  </a:lnTo>
                </a:path>
              </a:pathLst>
            </a:custGeom>
            <a:noFill/>
            <a:ln w="47625">
              <a:solidFill>
                <a:srgbClr val="8AB4FF"/>
              </a:solidFill>
              <a:tailEnd type="triangle" w="lg" len="lg"/>
            </a:ln>
          </p:spPr>
        </p:sp>
        <p:sp>
          <p:nvSpPr>
            <p:cNvPr id="17" name="Rectangle 17"/>
            <p:cNvSpPr/>
            <p:nvPr/>
          </p:nvSpPr>
          <p:spPr>
            <a:xfrm>
              <a:off x="3790950" y="2038350"/>
              <a:ext cx="1809750" cy="647700"/>
            </a:xfrm>
            <a:prstGeom prst="roundRect">
              <a:avLst>
                <a:gd name="adj" fmla="val 17647"/>
              </a:avLst>
            </a:prstGeom>
            <a:solidFill>
              <a:srgbClr val="141A2E"/>
            </a:solidFill>
            <a:ln w="28575">
              <a:solidFill>
                <a:srgbClr val="FFCB6B"/>
              </a:solidFill>
            </a:ln>
          </p:spPr>
        </p:sp>
        <p:sp>
          <p:nvSpPr>
            <p:cNvPr id="18" name="TextBox 18"/>
            <p:cNvSpPr txBox="1"/>
            <p:nvPr/>
          </p:nvSpPr>
          <p:spPr>
            <a:xfrm>
              <a:off x="4198868" y="2170271"/>
              <a:ext cx="993915" cy="289560"/>
            </a:xfrm>
            <a:prstGeom prst="rect">
              <a:avLst/>
            </a:prstGeom>
            <a:noFill/>
            <a:ln>
              <a:noFill/>
            </a:ln>
          </p:spPr>
          <p:txBody>
            <a:bodyPr wrap="none" lIns="0" tIns="0" rIns="0" bIns="0" anchor="t" anchorCtr="0">
              <a:spAutoFit/>
            </a:bodyPr>
            <a:lstStyle/>
            <a:p>
              <a:pPr algn="ctr"/>
              <a:r>
                <a:rPr lang="zh-CN" sz="1425" b="1" dirty="0">
                  <a:solidFill>
                    <a:srgbClr val="F7F8FA"/>
                  </a:solidFill>
                  <a:latin typeface="Consolas"/>
                  <a:ea typeface="Microsoft YaHei"/>
                  <a:cs typeface="Consolas"/>
                </a:rPr>
                <a:t>Q = X W_Q</a:t>
              </a:r>
            </a:p>
          </p:txBody>
        </p:sp>
        <p:sp>
          <p:nvSpPr>
            <p:cNvPr id="19" name="TextBox 19"/>
            <p:cNvSpPr txBox="1"/>
            <p:nvPr/>
          </p:nvSpPr>
          <p:spPr>
            <a:xfrm>
              <a:off x="4468963" y="2439352"/>
              <a:ext cx="453723" cy="213360"/>
            </a:xfrm>
            <a:prstGeom prst="rect">
              <a:avLst/>
            </a:prstGeom>
            <a:noFill/>
            <a:ln>
              <a:noFill/>
            </a:ln>
          </p:spPr>
          <p:txBody>
            <a:bodyPr wrap="none" lIns="0" tIns="0" rIns="0" bIns="0" anchor="t" anchorCtr="0">
              <a:spAutoFit/>
            </a:bodyPr>
            <a:lstStyle/>
            <a:p>
              <a:pPr algn="ctr"/>
              <a:r>
                <a:rPr lang="zh-CN" sz="1050" dirty="0">
                  <a:solidFill>
                    <a:srgbClr val="AAB6D3"/>
                  </a:solidFill>
                  <a:latin typeface="Consolas"/>
                  <a:ea typeface="Microsoft YaHei"/>
                  <a:cs typeface="Consolas"/>
                </a:rPr>
                <a:t>[4, 3]</a:t>
              </a:r>
            </a:p>
          </p:txBody>
        </p:sp>
        <p:sp>
          <p:nvSpPr>
            <p:cNvPr id="20" name="Rectangle 20"/>
            <p:cNvSpPr/>
            <p:nvPr/>
          </p:nvSpPr>
          <p:spPr>
            <a:xfrm>
              <a:off x="3790950" y="2990850"/>
              <a:ext cx="1809750" cy="647700"/>
            </a:xfrm>
            <a:prstGeom prst="roundRect">
              <a:avLst>
                <a:gd name="adj" fmla="val 17647"/>
              </a:avLst>
            </a:prstGeom>
            <a:solidFill>
              <a:srgbClr val="141A2E"/>
            </a:solidFill>
            <a:ln w="28575">
              <a:solidFill>
                <a:srgbClr val="FFCB6B"/>
              </a:solidFill>
            </a:ln>
          </p:spPr>
        </p:sp>
        <p:sp>
          <p:nvSpPr>
            <p:cNvPr id="21" name="TextBox 21"/>
            <p:cNvSpPr txBox="1"/>
            <p:nvPr/>
          </p:nvSpPr>
          <p:spPr>
            <a:xfrm>
              <a:off x="4238773" y="3122771"/>
              <a:ext cx="914105" cy="289560"/>
            </a:xfrm>
            <a:prstGeom prst="rect">
              <a:avLst/>
            </a:prstGeom>
            <a:noFill/>
            <a:ln>
              <a:noFill/>
            </a:ln>
          </p:spPr>
          <p:txBody>
            <a:bodyPr wrap="none" lIns="0" tIns="0" rIns="0" bIns="0" anchor="t" anchorCtr="0">
              <a:spAutoFit/>
            </a:bodyPr>
            <a:lstStyle/>
            <a:p>
              <a:pPr algn="ctr"/>
              <a:r>
                <a:rPr lang="zh-CN" sz="1425" b="1" dirty="0">
                  <a:solidFill>
                    <a:srgbClr val="F7F8FA"/>
                  </a:solidFill>
                  <a:latin typeface="Consolas"/>
                  <a:ea typeface="Microsoft YaHei"/>
                  <a:cs typeface="Consolas"/>
                </a:rPr>
                <a:t>K = X W_K</a:t>
              </a:r>
            </a:p>
          </p:txBody>
        </p:sp>
        <p:sp>
          <p:nvSpPr>
            <p:cNvPr id="22" name="TextBox 22"/>
            <p:cNvSpPr txBox="1"/>
            <p:nvPr/>
          </p:nvSpPr>
          <p:spPr>
            <a:xfrm>
              <a:off x="4468963" y="3391852"/>
              <a:ext cx="453723" cy="213360"/>
            </a:xfrm>
            <a:prstGeom prst="rect">
              <a:avLst/>
            </a:prstGeom>
            <a:noFill/>
            <a:ln>
              <a:noFill/>
            </a:ln>
          </p:spPr>
          <p:txBody>
            <a:bodyPr wrap="none" lIns="0" tIns="0" rIns="0" bIns="0" anchor="t" anchorCtr="0">
              <a:spAutoFit/>
            </a:bodyPr>
            <a:lstStyle/>
            <a:p>
              <a:pPr algn="ctr"/>
              <a:r>
                <a:rPr lang="zh-CN" sz="1050" dirty="0">
                  <a:solidFill>
                    <a:srgbClr val="AAB6D3"/>
                  </a:solidFill>
                  <a:latin typeface="Consolas"/>
                  <a:ea typeface="Microsoft YaHei"/>
                  <a:cs typeface="Consolas"/>
                </a:rPr>
                <a:t>[4, 3]</a:t>
              </a:r>
            </a:p>
          </p:txBody>
        </p:sp>
        <p:sp>
          <p:nvSpPr>
            <p:cNvPr id="23" name="Rectangle 23"/>
            <p:cNvSpPr/>
            <p:nvPr/>
          </p:nvSpPr>
          <p:spPr>
            <a:xfrm>
              <a:off x="3790950" y="3943350"/>
              <a:ext cx="1809750" cy="647700"/>
            </a:xfrm>
            <a:prstGeom prst="roundRect">
              <a:avLst>
                <a:gd name="adj" fmla="val 17647"/>
              </a:avLst>
            </a:prstGeom>
            <a:solidFill>
              <a:srgbClr val="141A2E"/>
            </a:solidFill>
            <a:ln w="28575">
              <a:solidFill>
                <a:srgbClr val="FFCB6B"/>
              </a:solidFill>
            </a:ln>
          </p:spPr>
        </p:sp>
        <p:sp>
          <p:nvSpPr>
            <p:cNvPr id="24" name="TextBox 24"/>
            <p:cNvSpPr txBox="1"/>
            <p:nvPr/>
          </p:nvSpPr>
          <p:spPr>
            <a:xfrm>
              <a:off x="4238773" y="4075271"/>
              <a:ext cx="914105" cy="289560"/>
            </a:xfrm>
            <a:prstGeom prst="rect">
              <a:avLst/>
            </a:prstGeom>
            <a:noFill/>
            <a:ln>
              <a:noFill/>
            </a:ln>
          </p:spPr>
          <p:txBody>
            <a:bodyPr wrap="none" lIns="0" tIns="0" rIns="0" bIns="0" anchor="t" anchorCtr="0">
              <a:spAutoFit/>
            </a:bodyPr>
            <a:lstStyle/>
            <a:p>
              <a:pPr algn="ctr"/>
              <a:r>
                <a:rPr lang="zh-CN" sz="1425" b="1" dirty="0">
                  <a:solidFill>
                    <a:srgbClr val="F7F8FA"/>
                  </a:solidFill>
                  <a:latin typeface="Consolas"/>
                  <a:ea typeface="Microsoft YaHei"/>
                  <a:cs typeface="Consolas"/>
                </a:rPr>
                <a:t>V = X W_V</a:t>
              </a:r>
            </a:p>
          </p:txBody>
        </p:sp>
        <p:sp>
          <p:nvSpPr>
            <p:cNvPr id="25" name="TextBox 25"/>
            <p:cNvSpPr txBox="1"/>
            <p:nvPr/>
          </p:nvSpPr>
          <p:spPr>
            <a:xfrm>
              <a:off x="4468963" y="4344352"/>
              <a:ext cx="453723" cy="213360"/>
            </a:xfrm>
            <a:prstGeom prst="rect">
              <a:avLst/>
            </a:prstGeom>
            <a:noFill/>
            <a:ln>
              <a:noFill/>
            </a:ln>
          </p:spPr>
          <p:txBody>
            <a:bodyPr wrap="none" lIns="0" tIns="0" rIns="0" bIns="0" anchor="t" anchorCtr="0">
              <a:spAutoFit/>
            </a:bodyPr>
            <a:lstStyle/>
            <a:p>
              <a:pPr algn="ctr"/>
              <a:r>
                <a:rPr lang="zh-CN" sz="1050" dirty="0">
                  <a:solidFill>
                    <a:srgbClr val="AAB6D3"/>
                  </a:solidFill>
                  <a:latin typeface="Consolas"/>
                  <a:ea typeface="Microsoft YaHei"/>
                  <a:cs typeface="Consolas"/>
                </a:rPr>
                <a:t>[4, 3]</a:t>
              </a:r>
            </a:p>
          </p:txBody>
        </p:sp>
        <p:sp>
          <p:nvSpPr>
            <p:cNvPr id="26" name="Freeform 26"/>
            <p:cNvSpPr/>
            <p:nvPr/>
          </p:nvSpPr>
          <p:spPr>
            <a:xfrm>
              <a:off x="5676900" y="2362200"/>
              <a:ext cx="990600" cy="9525"/>
            </a:xfrm>
            <a:custGeom>
              <a:avLst/>
              <a:gdLst/>
              <a:ahLst/>
              <a:cxnLst/>
              <a:rect l="l" t="t" r="r" b="b"/>
              <a:pathLst>
                <a:path w="990600" h="9525">
                  <a:moveTo>
                    <a:pt x="0" y="0"/>
                  </a:moveTo>
                  <a:lnTo>
                    <a:pt x="990600" y="0"/>
                  </a:lnTo>
                </a:path>
              </a:pathLst>
            </a:custGeom>
            <a:noFill/>
            <a:ln w="38100">
              <a:solidFill>
                <a:srgbClr val="7CFFB2"/>
              </a:solidFill>
              <a:tailEnd type="triangle" w="lg" len="lg"/>
            </a:ln>
          </p:spPr>
        </p:sp>
        <p:sp>
          <p:nvSpPr>
            <p:cNvPr id="27" name="Freeform 27"/>
            <p:cNvSpPr/>
            <p:nvPr/>
          </p:nvSpPr>
          <p:spPr>
            <a:xfrm>
              <a:off x="5676900" y="3314700"/>
              <a:ext cx="990600" cy="9525"/>
            </a:xfrm>
            <a:custGeom>
              <a:avLst/>
              <a:gdLst/>
              <a:ahLst/>
              <a:cxnLst/>
              <a:rect l="l" t="t" r="r" b="b"/>
              <a:pathLst>
                <a:path w="990600" h="9525">
                  <a:moveTo>
                    <a:pt x="0" y="0"/>
                  </a:moveTo>
                  <a:lnTo>
                    <a:pt x="990600" y="0"/>
                  </a:lnTo>
                </a:path>
              </a:pathLst>
            </a:custGeom>
            <a:noFill/>
            <a:ln w="38100">
              <a:solidFill>
                <a:srgbClr val="7CFFB2"/>
              </a:solidFill>
              <a:tailEnd type="triangle" w="lg" len="lg"/>
            </a:ln>
          </p:spPr>
        </p:sp>
        <p:sp>
          <p:nvSpPr>
            <p:cNvPr id="28" name="Freeform 28"/>
            <p:cNvSpPr/>
            <p:nvPr/>
          </p:nvSpPr>
          <p:spPr>
            <a:xfrm>
              <a:off x="5676900" y="4267200"/>
              <a:ext cx="990600" cy="9525"/>
            </a:xfrm>
            <a:custGeom>
              <a:avLst/>
              <a:gdLst/>
              <a:ahLst/>
              <a:cxnLst/>
              <a:rect l="l" t="t" r="r" b="b"/>
              <a:pathLst>
                <a:path w="990600" h="9525">
                  <a:moveTo>
                    <a:pt x="0" y="0"/>
                  </a:moveTo>
                  <a:lnTo>
                    <a:pt x="990600" y="0"/>
                  </a:lnTo>
                </a:path>
              </a:pathLst>
            </a:custGeom>
            <a:noFill/>
            <a:ln w="38100">
              <a:solidFill>
                <a:srgbClr val="7CFFB2"/>
              </a:solidFill>
              <a:tailEnd type="triangle" w="lg" len="lg"/>
            </a:ln>
          </p:spPr>
        </p:sp>
      </p:grpSp>
      <p:grpSp>
        <p:nvGrpSpPr>
          <p:cNvPr id="39" name="Group 39"/>
          <p:cNvGrpSpPr/>
          <p:nvPr/>
        </p:nvGrpSpPr>
        <p:grpSpPr>
          <a:xfrm>
            <a:off x="6800850" y="1695450"/>
            <a:ext cx="4629150" cy="3352800"/>
            <a:chOff x="6800850" y="1695450"/>
            <a:chExt cx="4629150" cy="3352800"/>
          </a:xfrm>
        </p:grpSpPr>
        <p:sp>
          <p:nvSpPr>
            <p:cNvPr id="30" name="Rectangle 30"/>
            <p:cNvSpPr/>
            <p:nvPr/>
          </p:nvSpPr>
          <p:spPr>
            <a:xfrm>
              <a:off x="6800850" y="1695450"/>
              <a:ext cx="4629150" cy="3352800"/>
            </a:xfrm>
            <a:prstGeom prst="roundRect">
              <a:avLst>
                <a:gd name="adj" fmla="val 5114"/>
              </a:avLst>
            </a:prstGeom>
            <a:solidFill>
              <a:srgbClr val="141A2E"/>
            </a:solidFill>
            <a:ln w="19050">
              <a:solidFill>
                <a:srgbClr val="3A4668"/>
              </a:solidFill>
            </a:ln>
          </p:spPr>
        </p:sp>
        <p:sp>
          <p:nvSpPr>
            <p:cNvPr id="31" name="TextBox 31"/>
            <p:cNvSpPr txBox="1"/>
            <p:nvPr/>
          </p:nvSpPr>
          <p:spPr>
            <a:xfrm>
              <a:off x="7100888" y="1912144"/>
              <a:ext cx="2318534" cy="381000"/>
            </a:xfrm>
            <a:prstGeom prst="rect">
              <a:avLst/>
            </a:prstGeom>
            <a:noFill/>
            <a:ln>
              <a:noFill/>
            </a:ln>
          </p:spPr>
          <p:txBody>
            <a:bodyPr wrap="none" lIns="0" tIns="0" rIns="0" bIns="0" anchor="t" anchorCtr="0">
              <a:spAutoFit/>
            </a:bodyPr>
            <a:lstStyle/>
            <a:p>
              <a:pPr algn="l"/>
              <a:r>
                <a:rPr lang="zh-CN" sz="1875" b="1" dirty="0">
                  <a:solidFill>
                    <a:srgbClr val="F7F8FA"/>
                  </a:solidFill>
                  <a:latin typeface="Arial"/>
                  <a:ea typeface="Microsoft YaHei"/>
                  <a:cs typeface="Arial"/>
                </a:rPr>
                <a:t>Readable intuition</a:t>
              </a:r>
            </a:p>
          </p:txBody>
        </p:sp>
        <p:sp>
          <p:nvSpPr>
            <p:cNvPr id="32" name="Line 32"/>
            <p:cNvSpPr/>
            <p:nvPr/>
          </p:nvSpPr>
          <p:spPr>
            <a:xfrm>
              <a:off x="7124700" y="2324100"/>
              <a:ext cx="4000500" cy="9525"/>
            </a:xfrm>
            <a:custGeom>
              <a:avLst/>
              <a:gdLst/>
              <a:ahLst/>
              <a:cxnLst/>
              <a:rect l="l" t="t" r="r" b="b"/>
              <a:pathLst>
                <a:path w="4000500" h="9525">
                  <a:moveTo>
                    <a:pt x="0" y="0"/>
                  </a:moveTo>
                  <a:lnTo>
                    <a:pt x="4000500" y="0"/>
                  </a:lnTo>
                </a:path>
              </a:pathLst>
            </a:custGeom>
            <a:noFill/>
            <a:ln w="19050">
              <a:solidFill>
                <a:srgbClr val="3A4668"/>
              </a:solidFill>
            </a:ln>
          </p:spPr>
        </p:sp>
        <p:sp>
          <p:nvSpPr>
            <p:cNvPr id="33" name="TextBox 33"/>
            <p:cNvSpPr txBox="1"/>
            <p:nvPr/>
          </p:nvSpPr>
          <p:spPr>
            <a:xfrm>
              <a:off x="7105650" y="2657475"/>
              <a:ext cx="3871079" cy="304800"/>
            </a:xfrm>
            <a:prstGeom prst="rect">
              <a:avLst/>
            </a:prstGeom>
            <a:noFill/>
            <a:ln>
              <a:noFill/>
            </a:ln>
          </p:spPr>
          <p:txBody>
            <a:bodyPr wrap="none" lIns="0" tIns="0" rIns="0" bIns="0" anchor="t" anchorCtr="0">
              <a:spAutoFit/>
            </a:bodyPr>
            <a:lstStyle/>
            <a:p>
              <a:pPr algn="l"/>
              <a:r>
                <a:rPr lang="zh-CN" sz="1500" b="1" dirty="0">
                  <a:solidFill>
                    <a:srgbClr val="8AB4FF"/>
                  </a:solidFill>
                  <a:latin typeface="Arial"/>
                  <a:ea typeface="Microsoft YaHei"/>
                  <a:cs typeface="Arial"/>
                </a:rPr>
                <a:t>Query: what this token is looking for</a:t>
              </a:r>
            </a:p>
          </p:txBody>
        </p:sp>
        <p:sp>
          <p:nvSpPr>
            <p:cNvPr id="34" name="TextBox 34"/>
            <p:cNvSpPr txBox="1"/>
            <p:nvPr/>
          </p:nvSpPr>
          <p:spPr>
            <a:xfrm>
              <a:off x="7318058" y="2967514"/>
              <a:ext cx="3118271" cy="259080"/>
            </a:xfrm>
            <a:prstGeom prst="rect">
              <a:avLst/>
            </a:prstGeom>
            <a:noFill/>
            <a:ln>
              <a:noFill/>
            </a:ln>
          </p:spPr>
          <p:txBody>
            <a:bodyPr wrap="none" lIns="0" tIns="0" rIns="0" bIns="0" anchor="t" anchorCtr="0">
              <a:spAutoFit/>
            </a:bodyPr>
            <a:lstStyle/>
            <a:p>
              <a:pPr algn="l"/>
              <a:r>
                <a:rPr lang="zh-CN" sz="1275" dirty="0">
                  <a:solidFill>
                    <a:srgbClr val="AAB6D3"/>
                  </a:solidFill>
                  <a:latin typeface="Arial"/>
                  <a:ea typeface="Microsoft YaHei"/>
                  <a:cs typeface="Arial"/>
                </a:rPr>
                <a:t>A row of Q asks a matching question.</a:t>
              </a:r>
            </a:p>
          </p:txBody>
        </p:sp>
        <p:sp>
          <p:nvSpPr>
            <p:cNvPr id="35" name="TextBox 35"/>
            <p:cNvSpPr txBox="1"/>
            <p:nvPr/>
          </p:nvSpPr>
          <p:spPr>
            <a:xfrm>
              <a:off x="7105650" y="3438525"/>
              <a:ext cx="4144113" cy="304800"/>
            </a:xfrm>
            <a:prstGeom prst="rect">
              <a:avLst/>
            </a:prstGeom>
            <a:noFill/>
            <a:ln>
              <a:noFill/>
            </a:ln>
          </p:spPr>
          <p:txBody>
            <a:bodyPr wrap="none" lIns="0" tIns="0" rIns="0" bIns="0" anchor="t" anchorCtr="0">
              <a:spAutoFit/>
            </a:bodyPr>
            <a:lstStyle/>
            <a:p>
              <a:pPr algn="l"/>
              <a:r>
                <a:rPr lang="zh-CN" sz="1500" b="1" dirty="0">
                  <a:solidFill>
                    <a:srgbClr val="FFCB6B"/>
                  </a:solidFill>
                  <a:latin typeface="Arial"/>
                  <a:ea typeface="Microsoft YaHei"/>
                  <a:cs typeface="Arial"/>
                </a:rPr>
                <a:t>Key: what each token offers as a match</a:t>
              </a:r>
            </a:p>
          </p:txBody>
        </p:sp>
        <p:sp>
          <p:nvSpPr>
            <p:cNvPr id="36" name="TextBox 36"/>
            <p:cNvSpPr txBox="1"/>
            <p:nvPr/>
          </p:nvSpPr>
          <p:spPr>
            <a:xfrm>
              <a:off x="7318058" y="3748564"/>
              <a:ext cx="3407307" cy="259080"/>
            </a:xfrm>
            <a:prstGeom prst="rect">
              <a:avLst/>
            </a:prstGeom>
            <a:noFill/>
            <a:ln>
              <a:noFill/>
            </a:ln>
          </p:spPr>
          <p:txBody>
            <a:bodyPr wrap="none" lIns="0" tIns="0" rIns="0" bIns="0" anchor="t" anchorCtr="0">
              <a:spAutoFit/>
            </a:bodyPr>
            <a:lstStyle/>
            <a:p>
              <a:pPr algn="l"/>
              <a:r>
                <a:rPr lang="zh-CN" sz="1275" dirty="0">
                  <a:solidFill>
                    <a:srgbClr val="AAB6D3"/>
                  </a:solidFill>
                  <a:latin typeface="Arial"/>
                  <a:ea typeface="Microsoft YaHei"/>
                  <a:cs typeface="Arial"/>
                </a:rPr>
                <a:t>Rows of K are compared against queries.</a:t>
              </a:r>
            </a:p>
          </p:txBody>
        </p:sp>
        <p:sp>
          <p:nvSpPr>
            <p:cNvPr id="37" name="TextBox 37"/>
            <p:cNvSpPr txBox="1"/>
            <p:nvPr/>
          </p:nvSpPr>
          <p:spPr>
            <a:xfrm>
              <a:off x="7105650" y="4219575"/>
              <a:ext cx="4081105" cy="304800"/>
            </a:xfrm>
            <a:prstGeom prst="rect">
              <a:avLst/>
            </a:prstGeom>
            <a:noFill/>
            <a:ln>
              <a:noFill/>
            </a:ln>
          </p:spPr>
          <p:txBody>
            <a:bodyPr wrap="none" lIns="0" tIns="0" rIns="0" bIns="0" anchor="t" anchorCtr="0">
              <a:spAutoFit/>
            </a:bodyPr>
            <a:lstStyle/>
            <a:p>
              <a:pPr algn="l"/>
              <a:r>
                <a:rPr lang="zh-CN" sz="1500" b="1" dirty="0">
                  <a:solidFill>
                    <a:srgbClr val="7CFFB2"/>
                  </a:solidFill>
                  <a:latin typeface="Arial"/>
                  <a:ea typeface="Microsoft YaHei"/>
                  <a:cs typeface="Arial"/>
                </a:rPr>
                <a:t>Value: information mixed after weights</a:t>
              </a:r>
            </a:p>
          </p:txBody>
        </p:sp>
        <p:sp>
          <p:nvSpPr>
            <p:cNvPr id="38" name="TextBox 38"/>
            <p:cNvSpPr txBox="1"/>
            <p:nvPr/>
          </p:nvSpPr>
          <p:spPr>
            <a:xfrm>
              <a:off x="7318058" y="4529614"/>
              <a:ext cx="3696343" cy="259080"/>
            </a:xfrm>
            <a:prstGeom prst="rect">
              <a:avLst/>
            </a:prstGeom>
            <a:noFill/>
            <a:ln>
              <a:noFill/>
            </a:ln>
          </p:spPr>
          <p:txBody>
            <a:bodyPr wrap="none" lIns="0" tIns="0" rIns="0" bIns="0" anchor="t" anchorCtr="0">
              <a:spAutoFit/>
            </a:bodyPr>
            <a:lstStyle/>
            <a:p>
              <a:pPr algn="l"/>
              <a:r>
                <a:rPr lang="zh-CN" sz="1275" dirty="0">
                  <a:solidFill>
                    <a:srgbClr val="AAB6D3"/>
                  </a:solidFill>
                  <a:latin typeface="Arial"/>
                  <a:ea typeface="Microsoft YaHei"/>
                  <a:cs typeface="Arial"/>
                </a:rPr>
                <a:t>Rows of V are blended by attention weights.</a:t>
              </a:r>
            </a:p>
          </p:txBody>
        </p:sp>
      </p:grpSp>
      <p:grpSp>
        <p:nvGrpSpPr>
          <p:cNvPr id="42" name="Group 42"/>
          <p:cNvGrpSpPr/>
          <p:nvPr/>
        </p:nvGrpSpPr>
        <p:grpSpPr>
          <a:xfrm>
            <a:off x="2437952" y="5562600"/>
            <a:ext cx="7316095" cy="476250"/>
            <a:chOff x="2437952" y="5562600"/>
            <a:chExt cx="7316095" cy="476250"/>
          </a:xfrm>
        </p:grpSpPr>
        <p:sp>
          <p:nvSpPr>
            <p:cNvPr id="40" name="Rectangle 40"/>
            <p:cNvSpPr/>
            <p:nvPr/>
          </p:nvSpPr>
          <p:spPr>
            <a:xfrm>
              <a:off x="2667000" y="5562600"/>
              <a:ext cx="6858000" cy="476250"/>
            </a:xfrm>
            <a:prstGeom prst="roundRect">
              <a:avLst>
                <a:gd name="adj" fmla="val 24000"/>
              </a:avLst>
            </a:prstGeom>
            <a:solidFill>
              <a:srgbClr val="1D2740"/>
            </a:solidFill>
            <a:ln w="19050">
              <a:solidFill>
                <a:srgbClr val="FF6B6B"/>
              </a:solidFill>
            </a:ln>
          </p:spPr>
        </p:sp>
        <p:sp>
          <p:nvSpPr>
            <p:cNvPr id="41" name="TextBox 41"/>
            <p:cNvSpPr txBox="1"/>
            <p:nvPr/>
          </p:nvSpPr>
          <p:spPr>
            <a:xfrm>
              <a:off x="2437952" y="5729764"/>
              <a:ext cx="7316095" cy="259080"/>
            </a:xfrm>
            <a:prstGeom prst="rect">
              <a:avLst/>
            </a:prstGeom>
            <a:noFill/>
            <a:ln>
              <a:noFill/>
            </a:ln>
          </p:spPr>
          <p:txBody>
            <a:bodyPr wrap="none" lIns="0" tIns="0" rIns="0" bIns="0" anchor="t" anchorCtr="0">
              <a:spAutoFit/>
            </a:bodyPr>
            <a:lstStyle/>
            <a:p>
              <a:pPr algn="ctr"/>
              <a:r>
                <a:rPr lang="zh-CN" sz="1275" b="1" dirty="0">
                  <a:solidFill>
                    <a:srgbClr val="FF6B6B"/>
                  </a:solidFill>
                  <a:latin typeface="Arial"/>
                  <a:ea typeface="Microsoft YaHei"/>
                  <a:cs typeface="Arial"/>
                </a:rPr>
                <a:t>Guardrail: Q, K, and V are learned projections, not the original tokens themselves.</a:t>
              </a:r>
            </a:p>
          </p:txBody>
        </p:sp>
      </p:grpSp>
      <p:sp>
        <p:nvSpPr>
          <p:cNvPr id="43" name="TextBox 43"/>
          <p:cNvSpPr txBox="1"/>
          <p:nvPr/>
        </p:nvSpPr>
        <p:spPr>
          <a:xfrm>
            <a:off x="501968" y="6314599"/>
            <a:ext cx="3158157" cy="198120"/>
          </a:xfrm>
          <a:prstGeom prst="rect">
            <a:avLst/>
          </a:prstGeom>
          <a:noFill/>
          <a:ln>
            <a:noFill/>
          </a:ln>
        </p:spPr>
        <p:txBody>
          <a:bodyPr wrap="none" lIns="0" tIns="0" rIns="0" bIns="0" anchor="t" anchorCtr="0">
            <a:spAutoFit/>
          </a:bodyPr>
          <a:lstStyle/>
          <a:p>
            <a:pPr algn="l"/>
            <a:r>
              <a:rPr lang="zh-CN" sz="975" dirty="0">
                <a:solidFill>
                  <a:srgbClr val="AAB6D3"/>
                </a:solidFill>
                <a:latin typeface="Arial"/>
                <a:ea typeface="Microsoft YaHei"/>
                <a:cs typeface="Arial"/>
              </a:rPr>
              <a:t>Per-head toy shape: Q, K, and V are each [4, 3].</a:t>
            </a:r>
          </a:p>
        </p:txBody>
      </p:sp>
      <p:sp>
        <p:nvSpPr>
          <p:cNvPr id="44" name="TextBox 44"/>
          <p:cNvSpPr txBox="1"/>
          <p:nvPr/>
        </p:nvSpPr>
        <p:spPr>
          <a:xfrm>
            <a:off x="11398568" y="6314599"/>
            <a:ext cx="460319"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03 / 10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image">
                                      <p:cBhvr>
                                        <p:cTn id="7" dur="400"/>
                                        <p:tgtEl>
                                          <p:spTgt spid="29"/>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400"/>
                                        <p:tgtEl>
                                          <p:spTgt spid="39"/>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42"/>
                                        </p:tgtEl>
                                        <p:attrNameLst>
                                          <p:attrName>style.visibility</p:attrName>
                                        </p:attrNameLst>
                                      </p:cBhvr>
                                      <p:to>
                                        <p:strVal val="visible"/>
                                      </p:to>
                                    </p:set>
                                    <p:animEffect transition="in" filter="wipe(left)">
                                      <p:cBhvr>
                                        <p:cTn id="15"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9" grpId="0"/>
      <p:bldP spid="4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C1020"/>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73149"/>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73149"/>
            </a:solidFill>
          </a:ln>
        </p:spPr>
      </p:sp>
      <p:grpSp>
        <p:nvGrpSpPr>
          <p:cNvPr id="8" name="Group 8"/>
          <p:cNvGrpSpPr/>
          <p:nvPr/>
        </p:nvGrpSpPr>
        <p:grpSpPr>
          <a:xfrm>
            <a:off x="482918" y="342424"/>
            <a:ext cx="11194732" cy="772001"/>
            <a:chOff x="482918" y="342424"/>
            <a:chExt cx="11194732" cy="772001"/>
          </a:xfrm>
        </p:grpSpPr>
        <p:sp>
          <p:nvSpPr>
            <p:cNvPr id="5" name="TextBox 5"/>
            <p:cNvSpPr txBox="1"/>
            <p:nvPr/>
          </p:nvSpPr>
          <p:spPr>
            <a:xfrm>
              <a:off x="482918" y="342424"/>
              <a:ext cx="5053089" cy="502920"/>
            </a:xfrm>
            <a:prstGeom prst="rect">
              <a:avLst/>
            </a:prstGeom>
            <a:noFill/>
            <a:ln>
              <a:noFill/>
            </a:ln>
          </p:spPr>
          <p:txBody>
            <a:bodyPr wrap="none" lIns="0" tIns="0" rIns="0" bIns="0" anchor="t" anchorCtr="0">
              <a:spAutoFit/>
            </a:bodyPr>
            <a:lstStyle/>
            <a:p>
              <a:pPr algn="l"/>
              <a:r>
                <a:rPr lang="zh-CN" sz="2475" b="1" dirty="0">
                  <a:solidFill>
                    <a:srgbClr val="F7F8FA"/>
                  </a:solidFill>
                  <a:latin typeface="Arial"/>
                  <a:ea typeface="Microsoft YaHei"/>
                  <a:cs typeface="Arial"/>
                </a:rPr>
                <a:t>Scaled Dot-Product Attention</a:t>
              </a:r>
            </a:p>
          </p:txBody>
        </p:sp>
        <p:sp>
          <p:nvSpPr>
            <p:cNvPr id="6" name="TextBox 6"/>
            <p:cNvSpPr txBox="1"/>
            <p:nvPr/>
          </p:nvSpPr>
          <p:spPr>
            <a:xfrm>
              <a:off x="497205" y="768668"/>
              <a:ext cx="5777008" cy="274320"/>
            </a:xfrm>
            <a:prstGeom prst="rect">
              <a:avLst/>
            </a:prstGeom>
            <a:noFill/>
            <a:ln>
              <a:noFill/>
            </a:ln>
          </p:spPr>
          <p:txBody>
            <a:bodyPr wrap="none" lIns="0" tIns="0" rIns="0" bIns="0" anchor="t" anchorCtr="0">
              <a:spAutoFit/>
            </a:bodyPr>
            <a:lstStyle/>
            <a:p>
              <a:pPr algn="l"/>
              <a:r>
                <a:rPr lang="zh-CN" sz="1350" dirty="0">
                  <a:solidFill>
                    <a:srgbClr val="AAB6D3"/>
                  </a:solidFill>
                  <a:latin typeface="Arial"/>
                  <a:ea typeface="Microsoft YaHei"/>
                  <a:cs typeface="Arial"/>
                </a:rPr>
                <a:t>Compare queries to keys, normalize row by row, then mix values.</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A4668"/>
              </a:solidFill>
            </a:ln>
          </p:spPr>
        </p:sp>
      </p:grpSp>
      <p:grpSp>
        <p:nvGrpSpPr>
          <p:cNvPr id="33" name="Group 33"/>
          <p:cNvGrpSpPr/>
          <p:nvPr/>
        </p:nvGrpSpPr>
        <p:grpSpPr>
          <a:xfrm>
            <a:off x="723900" y="2000250"/>
            <a:ext cx="10477500" cy="2724150"/>
            <a:chOff x="723900" y="2000250"/>
            <a:chExt cx="10477500" cy="2724150"/>
          </a:xfrm>
        </p:grpSpPr>
        <p:sp>
          <p:nvSpPr>
            <p:cNvPr id="9" name="Rectangle 9"/>
            <p:cNvSpPr/>
            <p:nvPr/>
          </p:nvSpPr>
          <p:spPr>
            <a:xfrm>
              <a:off x="723900" y="2000250"/>
              <a:ext cx="1619250" cy="1047750"/>
            </a:xfrm>
            <a:prstGeom prst="roundRect">
              <a:avLst>
                <a:gd name="adj" fmla="val 12727"/>
              </a:avLst>
            </a:prstGeom>
            <a:solidFill>
              <a:srgbClr val="141A2E"/>
            </a:solidFill>
            <a:ln w="28575">
              <a:solidFill>
                <a:srgbClr val="8AB4FF"/>
              </a:solidFill>
            </a:ln>
          </p:spPr>
        </p:sp>
        <p:sp>
          <p:nvSpPr>
            <p:cNvPr id="10" name="TextBox 10"/>
            <p:cNvSpPr txBox="1"/>
            <p:nvPr/>
          </p:nvSpPr>
          <p:spPr>
            <a:xfrm>
              <a:off x="1115425" y="2200275"/>
              <a:ext cx="836200" cy="304800"/>
            </a:xfrm>
            <a:prstGeom prst="rect">
              <a:avLst/>
            </a:prstGeom>
            <a:noFill/>
            <a:ln>
              <a:noFill/>
            </a:ln>
          </p:spPr>
          <p:txBody>
            <a:bodyPr wrap="none" lIns="0" tIns="0" rIns="0" bIns="0" anchor="t" anchorCtr="0">
              <a:spAutoFit/>
            </a:bodyPr>
            <a:lstStyle/>
            <a:p>
              <a:pPr algn="ctr"/>
              <a:r>
                <a:rPr lang="zh-CN" sz="1500" b="1" dirty="0">
                  <a:solidFill>
                    <a:srgbClr val="F7F8FA"/>
                  </a:solidFill>
                  <a:latin typeface="Consolas"/>
                  <a:ea typeface="Microsoft YaHei"/>
                  <a:cs typeface="Consolas"/>
                </a:rPr>
                <a:t>Q [4,3]</a:t>
              </a:r>
            </a:p>
          </p:txBody>
        </p:sp>
        <p:sp>
          <p:nvSpPr>
            <p:cNvPr id="11" name="TextBox 11"/>
            <p:cNvSpPr txBox="1"/>
            <p:nvPr/>
          </p:nvSpPr>
          <p:spPr>
            <a:xfrm>
              <a:off x="1230249" y="2575560"/>
              <a:ext cx="606552" cy="243840"/>
            </a:xfrm>
            <a:prstGeom prst="rect">
              <a:avLst/>
            </a:prstGeom>
            <a:noFill/>
            <a:ln>
              <a:noFill/>
            </a:ln>
          </p:spPr>
          <p:txBody>
            <a:bodyPr wrap="none" lIns="0" tIns="0" rIns="0" bIns="0" anchor="t" anchorCtr="0">
              <a:spAutoFit/>
            </a:bodyPr>
            <a:lstStyle/>
            <a:p>
              <a:pPr algn="ctr"/>
              <a:r>
                <a:rPr lang="zh-CN" sz="1200" dirty="0">
                  <a:solidFill>
                    <a:srgbClr val="AAB6D3"/>
                  </a:solidFill>
                  <a:latin typeface="Arial"/>
                  <a:ea typeface="Microsoft YaHei"/>
                  <a:cs typeface="Arial"/>
                </a:rPr>
                <a:t>queries</a:t>
              </a:r>
            </a:p>
          </p:txBody>
        </p:sp>
        <p:sp>
          <p:nvSpPr>
            <p:cNvPr id="12" name="Rectangle 12"/>
            <p:cNvSpPr/>
            <p:nvPr/>
          </p:nvSpPr>
          <p:spPr>
            <a:xfrm>
              <a:off x="723900" y="3676650"/>
              <a:ext cx="1619250" cy="1047750"/>
            </a:xfrm>
            <a:prstGeom prst="roundRect">
              <a:avLst>
                <a:gd name="adj" fmla="val 12727"/>
              </a:avLst>
            </a:prstGeom>
            <a:solidFill>
              <a:srgbClr val="141A2E"/>
            </a:solidFill>
            <a:ln w="28575">
              <a:solidFill>
                <a:srgbClr val="8AB4FF"/>
              </a:solidFill>
            </a:ln>
          </p:spPr>
        </p:sp>
        <p:sp>
          <p:nvSpPr>
            <p:cNvPr id="13" name="TextBox 13"/>
            <p:cNvSpPr txBox="1"/>
            <p:nvPr/>
          </p:nvSpPr>
          <p:spPr>
            <a:xfrm>
              <a:off x="1136428" y="3876675"/>
              <a:ext cx="794195" cy="304800"/>
            </a:xfrm>
            <a:prstGeom prst="rect">
              <a:avLst/>
            </a:prstGeom>
            <a:noFill/>
            <a:ln>
              <a:noFill/>
            </a:ln>
          </p:spPr>
          <p:txBody>
            <a:bodyPr wrap="none" lIns="0" tIns="0" rIns="0" bIns="0" anchor="t" anchorCtr="0">
              <a:spAutoFit/>
            </a:bodyPr>
            <a:lstStyle/>
            <a:p>
              <a:pPr algn="ctr"/>
              <a:r>
                <a:rPr lang="zh-CN" sz="1500" b="1" dirty="0">
                  <a:solidFill>
                    <a:srgbClr val="F7F8FA"/>
                  </a:solidFill>
                  <a:latin typeface="Consolas"/>
                  <a:ea typeface="Microsoft YaHei"/>
                  <a:cs typeface="Consolas"/>
                </a:rPr>
                <a:t>K [4,3]</a:t>
              </a:r>
            </a:p>
          </p:txBody>
        </p:sp>
        <p:sp>
          <p:nvSpPr>
            <p:cNvPr id="14" name="TextBox 14"/>
            <p:cNvSpPr txBox="1"/>
            <p:nvPr/>
          </p:nvSpPr>
          <p:spPr>
            <a:xfrm>
              <a:off x="1342263" y="4251960"/>
              <a:ext cx="382524" cy="243840"/>
            </a:xfrm>
            <a:prstGeom prst="rect">
              <a:avLst/>
            </a:prstGeom>
            <a:noFill/>
            <a:ln>
              <a:noFill/>
            </a:ln>
          </p:spPr>
          <p:txBody>
            <a:bodyPr wrap="none" lIns="0" tIns="0" rIns="0" bIns="0" anchor="t" anchorCtr="0">
              <a:spAutoFit/>
            </a:bodyPr>
            <a:lstStyle/>
            <a:p>
              <a:pPr algn="ctr"/>
              <a:r>
                <a:rPr lang="zh-CN" sz="1200" dirty="0">
                  <a:solidFill>
                    <a:srgbClr val="AAB6D3"/>
                  </a:solidFill>
                  <a:latin typeface="Arial"/>
                  <a:ea typeface="Microsoft YaHei"/>
                  <a:cs typeface="Arial"/>
                </a:rPr>
                <a:t>keys</a:t>
              </a:r>
            </a:p>
          </p:txBody>
        </p:sp>
        <p:sp>
          <p:nvSpPr>
            <p:cNvPr id="15" name="Freeform 15"/>
            <p:cNvSpPr/>
            <p:nvPr/>
          </p:nvSpPr>
          <p:spPr>
            <a:xfrm>
              <a:off x="2419350" y="3371850"/>
              <a:ext cx="723900" cy="9525"/>
            </a:xfrm>
            <a:custGeom>
              <a:avLst/>
              <a:gdLst/>
              <a:ahLst/>
              <a:cxnLst/>
              <a:rect l="l" t="t" r="r" b="b"/>
              <a:pathLst>
                <a:path w="723900" h="9525">
                  <a:moveTo>
                    <a:pt x="0" y="0"/>
                  </a:moveTo>
                  <a:lnTo>
                    <a:pt x="723900" y="0"/>
                  </a:lnTo>
                </a:path>
              </a:pathLst>
            </a:custGeom>
            <a:noFill/>
            <a:ln w="47625">
              <a:solidFill>
                <a:srgbClr val="7CFFB2"/>
              </a:solidFill>
              <a:tailEnd type="triangle" w="lg" len="lg"/>
            </a:ln>
          </p:spPr>
        </p:sp>
        <p:sp>
          <p:nvSpPr>
            <p:cNvPr id="16" name="Rectangle 16"/>
            <p:cNvSpPr/>
            <p:nvPr/>
          </p:nvSpPr>
          <p:spPr>
            <a:xfrm>
              <a:off x="3276600" y="2628900"/>
              <a:ext cx="2190750" cy="1485900"/>
            </a:xfrm>
            <a:prstGeom prst="roundRect">
              <a:avLst>
                <a:gd name="adj" fmla="val 10256"/>
              </a:avLst>
            </a:prstGeom>
            <a:solidFill>
              <a:srgbClr val="141A2E"/>
            </a:solidFill>
            <a:ln w="28575">
              <a:solidFill>
                <a:srgbClr val="FFCB6B"/>
              </a:solidFill>
            </a:ln>
          </p:spPr>
        </p:sp>
        <p:sp>
          <p:nvSpPr>
            <p:cNvPr id="17" name="TextBox 17"/>
            <p:cNvSpPr txBox="1"/>
            <p:nvPr/>
          </p:nvSpPr>
          <p:spPr>
            <a:xfrm>
              <a:off x="3933263" y="2910840"/>
              <a:ext cx="877424" cy="365760"/>
            </a:xfrm>
            <a:prstGeom prst="rect">
              <a:avLst/>
            </a:prstGeom>
            <a:noFill/>
            <a:ln>
              <a:noFill/>
            </a:ln>
          </p:spPr>
          <p:txBody>
            <a:bodyPr wrap="none" lIns="0" tIns="0" rIns="0" bIns="0" anchor="t" anchorCtr="0">
              <a:spAutoFit/>
            </a:bodyPr>
            <a:lstStyle/>
            <a:p>
              <a:pPr algn="ctr"/>
              <a:r>
                <a:rPr lang="zh-CN" sz="1800" b="1" dirty="0">
                  <a:solidFill>
                    <a:srgbClr val="F7F8FA"/>
                  </a:solidFill>
                  <a:latin typeface="Consolas"/>
                  <a:ea typeface="Microsoft YaHei"/>
                  <a:cs typeface="Consolas"/>
                </a:rPr>
                <a:t>scores</a:t>
              </a:r>
            </a:p>
          </p:txBody>
        </p:sp>
        <p:sp>
          <p:nvSpPr>
            <p:cNvPr id="18" name="TextBox 18"/>
            <p:cNvSpPr txBox="1"/>
            <p:nvPr/>
          </p:nvSpPr>
          <p:spPr>
            <a:xfrm>
              <a:off x="3337941" y="3280886"/>
              <a:ext cx="2068068" cy="350520"/>
            </a:xfrm>
            <a:prstGeom prst="rect">
              <a:avLst/>
            </a:prstGeom>
            <a:noFill/>
            <a:ln>
              <a:noFill/>
            </a:ln>
          </p:spPr>
          <p:txBody>
            <a:bodyPr wrap="none" lIns="0" tIns="0" rIns="0" bIns="0" anchor="t" anchorCtr="0">
              <a:spAutoFit/>
            </a:bodyPr>
            <a:lstStyle/>
            <a:p>
              <a:pPr algn="ctr"/>
              <a:r>
                <a:rPr lang="zh-CN" sz="1725" dirty="0">
                  <a:solidFill>
                    <a:srgbClr val="F7F8FA"/>
                  </a:solidFill>
                  <a:latin typeface="Consolas"/>
                  <a:ea typeface="Microsoft YaHei"/>
                  <a:cs typeface="Consolas"/>
                </a:rPr>
                <a:t>Q K^T / sqrt(d_k)</a:t>
              </a:r>
            </a:p>
          </p:txBody>
        </p:sp>
        <p:sp>
          <p:nvSpPr>
            <p:cNvPr id="19" name="TextBox 19"/>
            <p:cNvSpPr txBox="1"/>
            <p:nvPr/>
          </p:nvSpPr>
          <p:spPr>
            <a:xfrm>
              <a:off x="3892677" y="3680460"/>
              <a:ext cx="958596" cy="243840"/>
            </a:xfrm>
            <a:prstGeom prst="rect">
              <a:avLst/>
            </a:prstGeom>
            <a:noFill/>
            <a:ln>
              <a:noFill/>
            </a:ln>
          </p:spPr>
          <p:txBody>
            <a:bodyPr wrap="none" lIns="0" tIns="0" rIns="0" bIns="0" anchor="t" anchorCtr="0">
              <a:spAutoFit/>
            </a:bodyPr>
            <a:lstStyle/>
            <a:p>
              <a:pPr algn="ctr"/>
              <a:r>
                <a:rPr lang="zh-CN" sz="1200" dirty="0">
                  <a:solidFill>
                    <a:srgbClr val="AAB6D3"/>
                  </a:solidFill>
                  <a:latin typeface="Consolas"/>
                  <a:ea typeface="Microsoft YaHei"/>
                  <a:cs typeface="Consolas"/>
                </a:rPr>
                <a:t>shape [4,4]</a:t>
              </a:r>
            </a:p>
          </p:txBody>
        </p:sp>
        <p:sp>
          <p:nvSpPr>
            <p:cNvPr id="20" name="Freeform 20"/>
            <p:cNvSpPr/>
            <p:nvPr/>
          </p:nvSpPr>
          <p:spPr>
            <a:xfrm>
              <a:off x="5543550" y="3371850"/>
              <a:ext cx="800100" cy="9525"/>
            </a:xfrm>
            <a:custGeom>
              <a:avLst/>
              <a:gdLst/>
              <a:ahLst/>
              <a:cxnLst/>
              <a:rect l="l" t="t" r="r" b="b"/>
              <a:pathLst>
                <a:path w="800100" h="9525">
                  <a:moveTo>
                    <a:pt x="0" y="0"/>
                  </a:moveTo>
                  <a:lnTo>
                    <a:pt x="800100" y="0"/>
                  </a:lnTo>
                </a:path>
              </a:pathLst>
            </a:custGeom>
            <a:noFill/>
            <a:ln w="47625">
              <a:solidFill>
                <a:srgbClr val="7CFFB2"/>
              </a:solidFill>
              <a:tailEnd type="triangle" w="lg" len="lg"/>
            </a:ln>
          </p:spPr>
        </p:sp>
        <p:sp>
          <p:nvSpPr>
            <p:cNvPr id="21" name="Rectangle 21"/>
            <p:cNvSpPr/>
            <p:nvPr/>
          </p:nvSpPr>
          <p:spPr>
            <a:xfrm>
              <a:off x="6477000" y="2628900"/>
              <a:ext cx="2000250" cy="1485900"/>
            </a:xfrm>
            <a:prstGeom prst="roundRect">
              <a:avLst>
                <a:gd name="adj" fmla="val 10256"/>
              </a:avLst>
            </a:prstGeom>
            <a:solidFill>
              <a:srgbClr val="141A2E"/>
            </a:solidFill>
            <a:ln w="28575">
              <a:solidFill>
                <a:srgbClr val="C792EA"/>
              </a:solidFill>
            </a:ln>
          </p:spPr>
        </p:sp>
        <p:sp>
          <p:nvSpPr>
            <p:cNvPr id="22" name="TextBox 22"/>
            <p:cNvSpPr txBox="1"/>
            <p:nvPr/>
          </p:nvSpPr>
          <p:spPr>
            <a:xfrm>
              <a:off x="6975405" y="2910840"/>
              <a:ext cx="1003440" cy="365760"/>
            </a:xfrm>
            <a:prstGeom prst="rect">
              <a:avLst/>
            </a:prstGeom>
            <a:noFill/>
            <a:ln>
              <a:noFill/>
            </a:ln>
          </p:spPr>
          <p:txBody>
            <a:bodyPr wrap="none" lIns="0" tIns="0" rIns="0" bIns="0" anchor="t" anchorCtr="0">
              <a:spAutoFit/>
            </a:bodyPr>
            <a:lstStyle/>
            <a:p>
              <a:pPr algn="ctr"/>
              <a:r>
                <a:rPr lang="zh-CN" sz="1800" b="1" dirty="0">
                  <a:solidFill>
                    <a:srgbClr val="F7F8FA"/>
                  </a:solidFill>
                  <a:latin typeface="Consolas"/>
                  <a:ea typeface="Microsoft YaHei"/>
                  <a:cs typeface="Consolas"/>
                </a:rPr>
                <a:t>weights</a:t>
              </a:r>
            </a:p>
          </p:txBody>
        </p:sp>
        <p:sp>
          <p:nvSpPr>
            <p:cNvPr id="23" name="TextBox 23"/>
            <p:cNvSpPr txBox="1"/>
            <p:nvPr/>
          </p:nvSpPr>
          <p:spPr>
            <a:xfrm>
              <a:off x="6526554" y="3288982"/>
              <a:ext cx="1901142" cy="335280"/>
            </a:xfrm>
            <a:prstGeom prst="rect">
              <a:avLst/>
            </a:prstGeom>
            <a:noFill/>
            <a:ln>
              <a:noFill/>
            </a:ln>
          </p:spPr>
          <p:txBody>
            <a:bodyPr wrap="none" lIns="0" tIns="0" rIns="0" bIns="0" anchor="t" anchorCtr="0">
              <a:spAutoFit/>
            </a:bodyPr>
            <a:lstStyle/>
            <a:p>
              <a:pPr algn="ctr"/>
              <a:r>
                <a:rPr lang="zh-CN" sz="1650" dirty="0">
                  <a:solidFill>
                    <a:srgbClr val="F7F8FA"/>
                  </a:solidFill>
                  <a:latin typeface="Consolas"/>
                  <a:ea typeface="Microsoft YaHei"/>
                  <a:cs typeface="Consolas"/>
                </a:rPr>
                <a:t>softmax(scores)</a:t>
              </a:r>
            </a:p>
          </p:txBody>
        </p:sp>
        <p:sp>
          <p:nvSpPr>
            <p:cNvPr id="24" name="TextBox 24"/>
            <p:cNvSpPr txBox="1"/>
            <p:nvPr/>
          </p:nvSpPr>
          <p:spPr>
            <a:xfrm>
              <a:off x="6717792" y="3680460"/>
              <a:ext cx="1518666" cy="243840"/>
            </a:xfrm>
            <a:prstGeom prst="rect">
              <a:avLst/>
            </a:prstGeom>
            <a:noFill/>
            <a:ln>
              <a:noFill/>
            </a:ln>
          </p:spPr>
          <p:txBody>
            <a:bodyPr wrap="none" lIns="0" tIns="0" rIns="0" bIns="0" anchor="t" anchorCtr="0">
              <a:spAutoFit/>
            </a:bodyPr>
            <a:lstStyle/>
            <a:p>
              <a:pPr algn="ctr"/>
              <a:r>
                <a:rPr lang="zh-CN" sz="1200" dirty="0">
                  <a:solidFill>
                    <a:srgbClr val="AAB6D3"/>
                  </a:solidFill>
                  <a:latin typeface="Arial"/>
                  <a:ea typeface="Microsoft YaHei"/>
                  <a:cs typeface="Arial"/>
                </a:rPr>
                <a:t>each row sums to 1</a:t>
              </a:r>
            </a:p>
          </p:txBody>
        </p:sp>
        <p:sp>
          <p:nvSpPr>
            <p:cNvPr id="25" name="Freeform 25"/>
            <p:cNvSpPr/>
            <p:nvPr/>
          </p:nvSpPr>
          <p:spPr>
            <a:xfrm>
              <a:off x="8553450" y="3371850"/>
              <a:ext cx="800100" cy="9525"/>
            </a:xfrm>
            <a:custGeom>
              <a:avLst/>
              <a:gdLst/>
              <a:ahLst/>
              <a:cxnLst/>
              <a:rect l="l" t="t" r="r" b="b"/>
              <a:pathLst>
                <a:path w="800100" h="9525">
                  <a:moveTo>
                    <a:pt x="0" y="0"/>
                  </a:moveTo>
                  <a:lnTo>
                    <a:pt x="800100" y="0"/>
                  </a:lnTo>
                </a:path>
              </a:pathLst>
            </a:custGeom>
            <a:noFill/>
            <a:ln w="47625">
              <a:solidFill>
                <a:srgbClr val="7CFFB2"/>
              </a:solidFill>
              <a:tailEnd type="triangle" w="lg" len="lg"/>
            </a:ln>
          </p:spPr>
        </p:sp>
        <p:sp>
          <p:nvSpPr>
            <p:cNvPr id="26" name="Rectangle 26"/>
            <p:cNvSpPr/>
            <p:nvPr/>
          </p:nvSpPr>
          <p:spPr>
            <a:xfrm>
              <a:off x="9486900" y="2000250"/>
              <a:ext cx="1714500" cy="1047750"/>
            </a:xfrm>
            <a:prstGeom prst="roundRect">
              <a:avLst>
                <a:gd name="adj" fmla="val 12727"/>
              </a:avLst>
            </a:prstGeom>
            <a:solidFill>
              <a:srgbClr val="141A2E"/>
            </a:solidFill>
            <a:ln w="28575">
              <a:solidFill>
                <a:srgbClr val="8AB4FF"/>
              </a:solidFill>
            </a:ln>
          </p:spPr>
        </p:sp>
        <p:sp>
          <p:nvSpPr>
            <p:cNvPr id="27" name="TextBox 27"/>
            <p:cNvSpPr txBox="1"/>
            <p:nvPr/>
          </p:nvSpPr>
          <p:spPr>
            <a:xfrm>
              <a:off x="9947053" y="2200275"/>
              <a:ext cx="794195" cy="304800"/>
            </a:xfrm>
            <a:prstGeom prst="rect">
              <a:avLst/>
            </a:prstGeom>
            <a:noFill/>
            <a:ln>
              <a:noFill/>
            </a:ln>
          </p:spPr>
          <p:txBody>
            <a:bodyPr wrap="none" lIns="0" tIns="0" rIns="0" bIns="0" anchor="t" anchorCtr="0">
              <a:spAutoFit/>
            </a:bodyPr>
            <a:lstStyle/>
            <a:p>
              <a:pPr algn="ctr"/>
              <a:r>
                <a:rPr lang="zh-CN" sz="1500" b="1" dirty="0">
                  <a:solidFill>
                    <a:srgbClr val="F7F8FA"/>
                  </a:solidFill>
                  <a:latin typeface="Consolas"/>
                  <a:ea typeface="Microsoft YaHei"/>
                  <a:cs typeface="Consolas"/>
                </a:rPr>
                <a:t>V [4,3]</a:t>
              </a:r>
            </a:p>
          </p:txBody>
        </p:sp>
        <p:sp>
          <p:nvSpPr>
            <p:cNvPr id="28" name="TextBox 28"/>
            <p:cNvSpPr txBox="1"/>
            <p:nvPr/>
          </p:nvSpPr>
          <p:spPr>
            <a:xfrm>
              <a:off x="10084880" y="2575560"/>
              <a:ext cx="518541" cy="243840"/>
            </a:xfrm>
            <a:prstGeom prst="rect">
              <a:avLst/>
            </a:prstGeom>
            <a:noFill/>
            <a:ln>
              <a:noFill/>
            </a:ln>
          </p:spPr>
          <p:txBody>
            <a:bodyPr wrap="none" lIns="0" tIns="0" rIns="0" bIns="0" anchor="t" anchorCtr="0">
              <a:spAutoFit/>
            </a:bodyPr>
            <a:lstStyle/>
            <a:p>
              <a:pPr algn="ctr"/>
              <a:r>
                <a:rPr lang="zh-CN" sz="1200" dirty="0">
                  <a:solidFill>
                    <a:srgbClr val="AAB6D3"/>
                  </a:solidFill>
                  <a:latin typeface="Arial"/>
                  <a:ea typeface="Microsoft YaHei"/>
                  <a:cs typeface="Arial"/>
                </a:rPr>
                <a:t>values</a:t>
              </a:r>
            </a:p>
          </p:txBody>
        </p:sp>
        <p:sp>
          <p:nvSpPr>
            <p:cNvPr id="29" name="Rectangle 29"/>
            <p:cNvSpPr/>
            <p:nvPr/>
          </p:nvSpPr>
          <p:spPr>
            <a:xfrm>
              <a:off x="9486900" y="3676650"/>
              <a:ext cx="1714500" cy="1047750"/>
            </a:xfrm>
            <a:prstGeom prst="roundRect">
              <a:avLst>
                <a:gd name="adj" fmla="val 12727"/>
              </a:avLst>
            </a:prstGeom>
            <a:solidFill>
              <a:srgbClr val="141A2E"/>
            </a:solidFill>
            <a:ln w="28575">
              <a:solidFill>
                <a:srgbClr val="7CFFB2"/>
              </a:solidFill>
            </a:ln>
          </p:spPr>
        </p:sp>
        <p:sp>
          <p:nvSpPr>
            <p:cNvPr id="30" name="TextBox 30"/>
            <p:cNvSpPr txBox="1"/>
            <p:nvPr/>
          </p:nvSpPr>
          <p:spPr>
            <a:xfrm>
              <a:off x="9836789" y="3876675"/>
              <a:ext cx="1014722" cy="304800"/>
            </a:xfrm>
            <a:prstGeom prst="rect">
              <a:avLst/>
            </a:prstGeom>
            <a:noFill/>
            <a:ln>
              <a:noFill/>
            </a:ln>
          </p:spPr>
          <p:txBody>
            <a:bodyPr wrap="none" lIns="0" tIns="0" rIns="0" bIns="0" anchor="t" anchorCtr="0">
              <a:spAutoFit/>
            </a:bodyPr>
            <a:lstStyle/>
            <a:p>
              <a:pPr algn="ctr"/>
              <a:r>
                <a:rPr lang="zh-CN" sz="1500" b="1" dirty="0">
                  <a:solidFill>
                    <a:srgbClr val="F7F8FA"/>
                  </a:solidFill>
                  <a:latin typeface="Consolas"/>
                  <a:ea typeface="Microsoft YaHei"/>
                  <a:cs typeface="Consolas"/>
                </a:rPr>
                <a:t>weights V</a:t>
              </a:r>
            </a:p>
          </p:txBody>
        </p:sp>
        <p:sp>
          <p:nvSpPr>
            <p:cNvPr id="31" name="TextBox 31"/>
            <p:cNvSpPr txBox="1"/>
            <p:nvPr/>
          </p:nvSpPr>
          <p:spPr>
            <a:xfrm>
              <a:off x="10108883" y="4251960"/>
              <a:ext cx="470535" cy="243840"/>
            </a:xfrm>
            <a:prstGeom prst="rect">
              <a:avLst/>
            </a:prstGeom>
            <a:noFill/>
            <a:ln>
              <a:noFill/>
            </a:ln>
          </p:spPr>
          <p:txBody>
            <a:bodyPr wrap="none" lIns="0" tIns="0" rIns="0" bIns="0" anchor="t" anchorCtr="0">
              <a:spAutoFit/>
            </a:bodyPr>
            <a:lstStyle/>
            <a:p>
              <a:pPr algn="ctr"/>
              <a:r>
                <a:rPr lang="zh-CN" sz="1200" dirty="0">
                  <a:solidFill>
                    <a:srgbClr val="AAB6D3"/>
                  </a:solidFill>
                  <a:latin typeface="Consolas"/>
                  <a:ea typeface="Microsoft YaHei"/>
                  <a:cs typeface="Consolas"/>
                </a:rPr>
                <a:t>[4,3]</a:t>
              </a:r>
            </a:p>
          </p:txBody>
        </p:sp>
        <p:sp>
          <p:nvSpPr>
            <p:cNvPr id="32" name="Freeform 32"/>
            <p:cNvSpPr/>
            <p:nvPr/>
          </p:nvSpPr>
          <p:spPr>
            <a:xfrm>
              <a:off x="10344150" y="3124200"/>
              <a:ext cx="9525" cy="476250"/>
            </a:xfrm>
            <a:custGeom>
              <a:avLst/>
              <a:gdLst/>
              <a:ahLst/>
              <a:cxnLst/>
              <a:rect l="l" t="t" r="r" b="b"/>
              <a:pathLst>
                <a:path w="9525" h="476250">
                  <a:moveTo>
                    <a:pt x="0" y="0"/>
                  </a:moveTo>
                  <a:lnTo>
                    <a:pt x="0" y="476250"/>
                  </a:lnTo>
                </a:path>
              </a:pathLst>
            </a:custGeom>
            <a:noFill/>
            <a:ln w="47625">
              <a:solidFill>
                <a:srgbClr val="7CFFB2"/>
              </a:solidFill>
              <a:tailEnd type="triangle" w="lg" len="lg"/>
            </a:ln>
          </p:spPr>
        </p:sp>
      </p:grpSp>
      <p:grpSp>
        <p:nvGrpSpPr>
          <p:cNvPr id="36" name="Group 36"/>
          <p:cNvGrpSpPr/>
          <p:nvPr/>
        </p:nvGrpSpPr>
        <p:grpSpPr>
          <a:xfrm>
            <a:off x="1885950" y="5353050"/>
            <a:ext cx="8420100" cy="571500"/>
            <a:chOff x="1885950" y="5353050"/>
            <a:chExt cx="8420100" cy="571500"/>
          </a:xfrm>
        </p:grpSpPr>
        <p:sp>
          <p:nvSpPr>
            <p:cNvPr id="34" name="Rectangle 34"/>
            <p:cNvSpPr/>
            <p:nvPr/>
          </p:nvSpPr>
          <p:spPr>
            <a:xfrm>
              <a:off x="1885950" y="5353050"/>
              <a:ext cx="8420100" cy="571500"/>
            </a:xfrm>
            <a:prstGeom prst="roundRect">
              <a:avLst>
                <a:gd name="adj" fmla="val 23333"/>
              </a:avLst>
            </a:prstGeom>
            <a:solidFill>
              <a:srgbClr val="1D2740"/>
            </a:solidFill>
            <a:ln w="19050">
              <a:solidFill>
                <a:srgbClr val="3A4668"/>
              </a:solidFill>
            </a:ln>
          </p:spPr>
        </p:sp>
        <p:sp>
          <p:nvSpPr>
            <p:cNvPr id="35" name="TextBox 35"/>
            <p:cNvSpPr txBox="1"/>
            <p:nvPr/>
          </p:nvSpPr>
          <p:spPr>
            <a:xfrm>
              <a:off x="3300794" y="5511165"/>
              <a:ext cx="5590413" cy="365760"/>
            </a:xfrm>
            <a:prstGeom prst="rect">
              <a:avLst/>
            </a:prstGeom>
            <a:noFill/>
            <a:ln>
              <a:noFill/>
            </a:ln>
          </p:spPr>
          <p:txBody>
            <a:bodyPr wrap="none" lIns="0" tIns="0" rIns="0" bIns="0" anchor="t" anchorCtr="0">
              <a:spAutoFit/>
            </a:bodyPr>
            <a:lstStyle/>
            <a:p>
              <a:pPr algn="ctr"/>
              <a:r>
                <a:rPr lang="zh-CN" sz="1800" b="1" dirty="0">
                  <a:solidFill>
                    <a:srgbClr val="FFCB6B"/>
                  </a:solidFill>
                  <a:latin typeface="Consolas"/>
                  <a:ea typeface="Microsoft YaHei"/>
                  <a:cs typeface="Consolas"/>
                </a:rPr>
                <a:t>head_output = softmax(Q K^T / sqrt(d_k)) V</a:t>
              </a:r>
            </a:p>
          </p:txBody>
        </p:sp>
      </p:grpSp>
      <p:sp>
        <p:nvSpPr>
          <p:cNvPr id="37" name="TextBox 37"/>
          <p:cNvSpPr txBox="1"/>
          <p:nvPr/>
        </p:nvSpPr>
        <p:spPr>
          <a:xfrm>
            <a:off x="501968" y="6314599"/>
            <a:ext cx="5459444" cy="198120"/>
          </a:xfrm>
          <a:prstGeom prst="rect">
            <a:avLst/>
          </a:prstGeom>
          <a:noFill/>
          <a:ln>
            <a:noFill/>
          </a:ln>
        </p:spPr>
        <p:txBody>
          <a:bodyPr wrap="none" lIns="0" tIns="0" rIns="0" bIns="0" anchor="t" anchorCtr="0">
            <a:spAutoFit/>
          </a:bodyPr>
          <a:lstStyle/>
          <a:p>
            <a:pPr algn="l"/>
            <a:r>
              <a:rPr lang="zh-CN" sz="975" dirty="0">
                <a:solidFill>
                  <a:srgbClr val="AAB6D3"/>
                </a:solidFill>
                <a:latin typeface="Arial"/>
                <a:ea typeface="Microsoft YaHei"/>
                <a:cs typeface="Arial"/>
              </a:rPr>
              <a:t>The score matrix is [4,4] because every query token is compared to every key token.</a:t>
            </a:r>
          </a:p>
        </p:txBody>
      </p:sp>
      <p:sp>
        <p:nvSpPr>
          <p:cNvPr id="38" name="TextBox 38"/>
          <p:cNvSpPr txBox="1"/>
          <p:nvPr/>
        </p:nvSpPr>
        <p:spPr>
          <a:xfrm>
            <a:off x="11398568" y="6314599"/>
            <a:ext cx="460319"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04 / 10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slide(fromBottom)">
                                      <p:cBhvr>
                                        <p:cTn id="7" dur="400"/>
                                        <p:tgtEl>
                                          <p:spTgt spid="33"/>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image">
                                      <p:cBhvr>
                                        <p:cTn id="11"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C1020"/>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73149"/>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73149"/>
            </a:solidFill>
          </a:ln>
        </p:spPr>
      </p:sp>
      <p:grpSp>
        <p:nvGrpSpPr>
          <p:cNvPr id="8" name="Group 8"/>
          <p:cNvGrpSpPr/>
          <p:nvPr/>
        </p:nvGrpSpPr>
        <p:grpSpPr>
          <a:xfrm>
            <a:off x="482918" y="342424"/>
            <a:ext cx="11194732" cy="772001"/>
            <a:chOff x="482918" y="342424"/>
            <a:chExt cx="11194732" cy="772001"/>
          </a:xfrm>
        </p:grpSpPr>
        <p:sp>
          <p:nvSpPr>
            <p:cNvPr id="5" name="TextBox 5"/>
            <p:cNvSpPr txBox="1"/>
            <p:nvPr/>
          </p:nvSpPr>
          <p:spPr>
            <a:xfrm>
              <a:off x="482918" y="342424"/>
              <a:ext cx="6110046" cy="502920"/>
            </a:xfrm>
            <a:prstGeom prst="rect">
              <a:avLst/>
            </a:prstGeom>
            <a:noFill/>
            <a:ln>
              <a:noFill/>
            </a:ln>
          </p:spPr>
          <p:txBody>
            <a:bodyPr wrap="none" lIns="0" tIns="0" rIns="0" bIns="0" anchor="t" anchorCtr="0">
              <a:spAutoFit/>
            </a:bodyPr>
            <a:lstStyle/>
            <a:p>
              <a:pPr algn="l"/>
              <a:r>
                <a:rPr lang="zh-CN" sz="2475" b="1" dirty="0">
                  <a:solidFill>
                    <a:srgbClr val="F7F8FA"/>
                  </a:solidFill>
                  <a:latin typeface="Arial"/>
                  <a:ea typeface="Microsoft YaHei"/>
                  <a:cs typeface="Arial"/>
                </a:rPr>
                <a:t>Score Matrix and Row-Wise Softmax</a:t>
              </a:r>
            </a:p>
          </p:txBody>
        </p:sp>
        <p:sp>
          <p:nvSpPr>
            <p:cNvPr id="6" name="TextBox 6"/>
            <p:cNvSpPr txBox="1"/>
            <p:nvPr/>
          </p:nvSpPr>
          <p:spPr>
            <a:xfrm>
              <a:off x="497205" y="768668"/>
              <a:ext cx="7559230" cy="274320"/>
            </a:xfrm>
            <a:prstGeom prst="rect">
              <a:avLst/>
            </a:prstGeom>
            <a:noFill/>
            <a:ln>
              <a:noFill/>
            </a:ln>
          </p:spPr>
          <p:txBody>
            <a:bodyPr wrap="none" lIns="0" tIns="0" rIns="0" bIns="0" anchor="t" anchorCtr="0">
              <a:spAutoFit/>
            </a:bodyPr>
            <a:lstStyle/>
            <a:p>
              <a:pPr algn="l"/>
              <a:r>
                <a:rPr lang="zh-CN" sz="1350" dirty="0">
                  <a:solidFill>
                    <a:srgbClr val="AAB6D3"/>
                  </a:solidFill>
                  <a:latin typeface="Arial"/>
                  <a:ea typeface="Microsoft YaHei"/>
                  <a:cs typeface="Arial"/>
                </a:rPr>
                <a:t>Rows are query tokens; columns are key tokens. After softmax, each row sums to 1.</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A4668"/>
              </a:solidFill>
            </a:ln>
          </p:spPr>
        </p:sp>
      </p:grpSp>
      <p:grpSp>
        <p:nvGrpSpPr>
          <p:cNvPr id="57" name="Group 57"/>
          <p:cNvGrpSpPr/>
          <p:nvPr/>
        </p:nvGrpSpPr>
        <p:grpSpPr>
          <a:xfrm>
            <a:off x="718566" y="1485900"/>
            <a:ext cx="6291834" cy="4514850"/>
            <a:chOff x="718566" y="1485900"/>
            <a:chExt cx="6291834" cy="4514850"/>
          </a:xfrm>
        </p:grpSpPr>
        <p:sp>
          <p:nvSpPr>
            <p:cNvPr id="9" name="Rectangle 9"/>
            <p:cNvSpPr/>
            <p:nvPr/>
          </p:nvSpPr>
          <p:spPr>
            <a:xfrm>
              <a:off x="819150" y="1485900"/>
              <a:ext cx="6191250" cy="4514850"/>
            </a:xfrm>
            <a:prstGeom prst="roundRect">
              <a:avLst>
                <a:gd name="adj" fmla="val 3797"/>
              </a:avLst>
            </a:prstGeom>
            <a:solidFill>
              <a:srgbClr val="141A2E"/>
            </a:solidFill>
            <a:ln w="19050">
              <a:solidFill>
                <a:srgbClr val="3A4668"/>
              </a:solidFill>
            </a:ln>
          </p:spPr>
        </p:sp>
        <p:sp>
          <p:nvSpPr>
            <p:cNvPr id="10" name="TextBox 10"/>
            <p:cNvSpPr txBox="1"/>
            <p:nvPr/>
          </p:nvSpPr>
          <p:spPr>
            <a:xfrm>
              <a:off x="1558290" y="1786890"/>
              <a:ext cx="3170911" cy="365760"/>
            </a:xfrm>
            <a:prstGeom prst="rect">
              <a:avLst/>
            </a:prstGeom>
            <a:noFill/>
            <a:ln>
              <a:noFill/>
            </a:ln>
          </p:spPr>
          <p:txBody>
            <a:bodyPr wrap="none" lIns="0" tIns="0" rIns="0" bIns="0" anchor="t" anchorCtr="0">
              <a:spAutoFit/>
            </a:bodyPr>
            <a:lstStyle/>
            <a:p>
              <a:pPr algn="l"/>
              <a:r>
                <a:rPr lang="zh-CN" sz="1800" b="1" dirty="0">
                  <a:solidFill>
                    <a:srgbClr val="F7F8FA"/>
                  </a:solidFill>
                  <a:latin typeface="Arial"/>
                  <a:ea typeface="Microsoft YaHei"/>
                  <a:cs typeface="Arial"/>
                </a:rPr>
                <a:t>4-by-4 attention weights</a:t>
              </a:r>
            </a:p>
          </p:txBody>
        </p:sp>
        <p:sp>
          <p:nvSpPr>
            <p:cNvPr id="11" name="TextBox 11"/>
            <p:cNvSpPr txBox="1"/>
            <p:nvPr/>
          </p:nvSpPr>
          <p:spPr>
            <a:xfrm>
              <a:off x="1758315" y="2325052"/>
              <a:ext cx="334708"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keys</a:t>
              </a:r>
            </a:p>
          </p:txBody>
        </p:sp>
        <p:sp>
          <p:nvSpPr>
            <p:cNvPr id="12" name="TextBox 12"/>
            <p:cNvSpPr txBox="1"/>
            <p:nvPr/>
          </p:nvSpPr>
          <p:spPr>
            <a:xfrm>
              <a:off x="2863215" y="2325052"/>
              <a:ext cx="257699"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The</a:t>
              </a:r>
            </a:p>
          </p:txBody>
        </p:sp>
        <p:sp>
          <p:nvSpPr>
            <p:cNvPr id="13" name="TextBox 13"/>
            <p:cNvSpPr txBox="1"/>
            <p:nvPr/>
          </p:nvSpPr>
          <p:spPr>
            <a:xfrm>
              <a:off x="3587115" y="2325052"/>
              <a:ext cx="404717"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model</a:t>
              </a:r>
            </a:p>
          </p:txBody>
        </p:sp>
        <p:sp>
          <p:nvSpPr>
            <p:cNvPr id="14" name="TextBox 14"/>
            <p:cNvSpPr txBox="1"/>
            <p:nvPr/>
          </p:nvSpPr>
          <p:spPr>
            <a:xfrm>
              <a:off x="4406265" y="2325052"/>
              <a:ext cx="607743"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predicts</a:t>
              </a:r>
            </a:p>
          </p:txBody>
        </p:sp>
        <p:sp>
          <p:nvSpPr>
            <p:cNvPr id="15" name="TextBox 15"/>
            <p:cNvSpPr txBox="1"/>
            <p:nvPr/>
          </p:nvSpPr>
          <p:spPr>
            <a:xfrm>
              <a:off x="5377815" y="2325052"/>
              <a:ext cx="488728"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tokens</a:t>
              </a:r>
            </a:p>
          </p:txBody>
        </p:sp>
        <p:sp>
          <p:nvSpPr>
            <p:cNvPr id="16" name="TextBox 16"/>
            <p:cNvSpPr txBox="1"/>
            <p:nvPr/>
          </p:nvSpPr>
          <p:spPr>
            <a:xfrm>
              <a:off x="1053465" y="2915602"/>
              <a:ext cx="257699"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The</a:t>
              </a:r>
            </a:p>
          </p:txBody>
        </p:sp>
        <p:sp>
          <p:nvSpPr>
            <p:cNvPr id="17" name="TextBox 17"/>
            <p:cNvSpPr txBox="1"/>
            <p:nvPr/>
          </p:nvSpPr>
          <p:spPr>
            <a:xfrm>
              <a:off x="1053465" y="3582352"/>
              <a:ext cx="404717"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model</a:t>
              </a:r>
            </a:p>
          </p:txBody>
        </p:sp>
        <p:sp>
          <p:nvSpPr>
            <p:cNvPr id="18" name="TextBox 18"/>
            <p:cNvSpPr txBox="1"/>
            <p:nvPr/>
          </p:nvSpPr>
          <p:spPr>
            <a:xfrm>
              <a:off x="1053465" y="4249102"/>
              <a:ext cx="607743"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predicts</a:t>
              </a:r>
            </a:p>
          </p:txBody>
        </p:sp>
        <p:sp>
          <p:nvSpPr>
            <p:cNvPr id="19" name="TextBox 19"/>
            <p:cNvSpPr txBox="1"/>
            <p:nvPr/>
          </p:nvSpPr>
          <p:spPr>
            <a:xfrm>
              <a:off x="1053465" y="4915852"/>
              <a:ext cx="488728"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tokens</a:t>
              </a:r>
            </a:p>
          </p:txBody>
        </p:sp>
        <p:sp>
          <p:nvSpPr>
            <p:cNvPr id="20" name="TextBox 20"/>
            <p:cNvSpPr txBox="1"/>
            <p:nvPr/>
          </p:nvSpPr>
          <p:spPr>
            <a:xfrm rot="-5400000">
              <a:off x="718566" y="1908238"/>
              <a:ext cx="530733"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queries</a:t>
              </a:r>
            </a:p>
          </p:txBody>
        </p:sp>
        <p:sp>
          <p:nvSpPr>
            <p:cNvPr id="21" name="Rectangle 21"/>
            <p:cNvSpPr/>
            <p:nvPr/>
          </p:nvSpPr>
          <p:spPr>
            <a:xfrm>
              <a:off x="2647950" y="2724150"/>
              <a:ext cx="666750" cy="552450"/>
            </a:xfrm>
            <a:prstGeom prst="rect">
              <a:avLst/>
            </a:prstGeom>
            <a:solidFill>
              <a:srgbClr val="1D2740"/>
            </a:solidFill>
            <a:ln w="19050">
              <a:solidFill>
                <a:srgbClr val="3A4668"/>
              </a:solidFill>
            </a:ln>
          </p:spPr>
        </p:sp>
        <p:sp>
          <p:nvSpPr>
            <p:cNvPr id="22" name="Rectangle 22"/>
            <p:cNvSpPr/>
            <p:nvPr/>
          </p:nvSpPr>
          <p:spPr>
            <a:xfrm>
              <a:off x="3314700" y="2724150"/>
              <a:ext cx="666750" cy="552450"/>
            </a:xfrm>
            <a:prstGeom prst="rect">
              <a:avLst/>
            </a:prstGeom>
            <a:solidFill>
              <a:srgbClr val="8AB4FF"/>
            </a:solidFill>
            <a:ln w="19050">
              <a:solidFill>
                <a:srgbClr val="3A4668"/>
              </a:solidFill>
            </a:ln>
          </p:spPr>
        </p:sp>
        <p:sp>
          <p:nvSpPr>
            <p:cNvPr id="23" name="Rectangle 23"/>
            <p:cNvSpPr/>
            <p:nvPr/>
          </p:nvSpPr>
          <p:spPr>
            <a:xfrm>
              <a:off x="3981450" y="2724150"/>
              <a:ext cx="666750" cy="552450"/>
            </a:xfrm>
            <a:prstGeom prst="rect">
              <a:avLst/>
            </a:prstGeom>
            <a:solidFill>
              <a:srgbClr val="1D2740"/>
            </a:solidFill>
            <a:ln w="19050">
              <a:solidFill>
                <a:srgbClr val="3A4668"/>
              </a:solidFill>
            </a:ln>
          </p:spPr>
        </p:sp>
        <p:sp>
          <p:nvSpPr>
            <p:cNvPr id="24" name="Rectangle 24"/>
            <p:cNvSpPr/>
            <p:nvPr/>
          </p:nvSpPr>
          <p:spPr>
            <a:xfrm>
              <a:off x="4648200" y="2724150"/>
              <a:ext cx="666750" cy="552450"/>
            </a:xfrm>
            <a:prstGeom prst="rect">
              <a:avLst/>
            </a:prstGeom>
            <a:solidFill>
              <a:srgbClr val="141A2E"/>
            </a:solidFill>
            <a:ln w="19050">
              <a:solidFill>
                <a:srgbClr val="3A4668"/>
              </a:solidFill>
            </a:ln>
          </p:spPr>
        </p:sp>
        <p:sp>
          <p:nvSpPr>
            <p:cNvPr id="25" name="TextBox 25"/>
            <p:cNvSpPr txBox="1"/>
            <p:nvPr/>
          </p:nvSpPr>
          <p:spPr>
            <a:xfrm>
              <a:off x="2802017" y="293608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0.25</a:t>
              </a:r>
            </a:p>
          </p:txBody>
        </p:sp>
        <p:sp>
          <p:nvSpPr>
            <p:cNvPr id="26" name="TextBox 26"/>
            <p:cNvSpPr txBox="1"/>
            <p:nvPr/>
          </p:nvSpPr>
          <p:spPr>
            <a:xfrm>
              <a:off x="3468767" y="293608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0.55</a:t>
              </a:r>
            </a:p>
          </p:txBody>
        </p:sp>
        <p:sp>
          <p:nvSpPr>
            <p:cNvPr id="27" name="TextBox 27"/>
            <p:cNvSpPr txBox="1"/>
            <p:nvPr/>
          </p:nvSpPr>
          <p:spPr>
            <a:xfrm>
              <a:off x="4135517" y="293608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0.12</a:t>
              </a:r>
            </a:p>
          </p:txBody>
        </p:sp>
        <p:sp>
          <p:nvSpPr>
            <p:cNvPr id="28" name="TextBox 28"/>
            <p:cNvSpPr txBox="1"/>
            <p:nvPr/>
          </p:nvSpPr>
          <p:spPr>
            <a:xfrm>
              <a:off x="4802267" y="293608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0.08</a:t>
              </a:r>
            </a:p>
          </p:txBody>
        </p:sp>
        <p:sp>
          <p:nvSpPr>
            <p:cNvPr id="29" name="Rectangle 29"/>
            <p:cNvSpPr/>
            <p:nvPr/>
          </p:nvSpPr>
          <p:spPr>
            <a:xfrm>
              <a:off x="2647950" y="3390900"/>
              <a:ext cx="666750" cy="552450"/>
            </a:xfrm>
            <a:prstGeom prst="rect">
              <a:avLst/>
            </a:prstGeom>
            <a:solidFill>
              <a:srgbClr val="1D2740"/>
            </a:solidFill>
            <a:ln w="19050">
              <a:solidFill>
                <a:srgbClr val="3A4668"/>
              </a:solidFill>
            </a:ln>
          </p:spPr>
        </p:sp>
        <p:sp>
          <p:nvSpPr>
            <p:cNvPr id="30" name="Rectangle 30"/>
            <p:cNvSpPr/>
            <p:nvPr/>
          </p:nvSpPr>
          <p:spPr>
            <a:xfrm>
              <a:off x="3314700" y="3390900"/>
              <a:ext cx="666750" cy="552450"/>
            </a:xfrm>
            <a:prstGeom prst="rect">
              <a:avLst/>
            </a:prstGeom>
            <a:solidFill>
              <a:srgbClr val="1D2740"/>
            </a:solidFill>
            <a:ln w="19050">
              <a:solidFill>
                <a:srgbClr val="3A4668"/>
              </a:solidFill>
            </a:ln>
          </p:spPr>
        </p:sp>
        <p:sp>
          <p:nvSpPr>
            <p:cNvPr id="31" name="Rectangle 31"/>
            <p:cNvSpPr/>
            <p:nvPr/>
          </p:nvSpPr>
          <p:spPr>
            <a:xfrm>
              <a:off x="3981450" y="3390900"/>
              <a:ext cx="666750" cy="552450"/>
            </a:xfrm>
            <a:prstGeom prst="rect">
              <a:avLst/>
            </a:prstGeom>
            <a:solidFill>
              <a:srgbClr val="8AB4FF"/>
            </a:solidFill>
            <a:ln w="19050">
              <a:solidFill>
                <a:srgbClr val="3A4668"/>
              </a:solidFill>
            </a:ln>
          </p:spPr>
        </p:sp>
        <p:sp>
          <p:nvSpPr>
            <p:cNvPr id="32" name="Rectangle 32"/>
            <p:cNvSpPr/>
            <p:nvPr/>
          </p:nvSpPr>
          <p:spPr>
            <a:xfrm>
              <a:off x="4648200" y="3390900"/>
              <a:ext cx="666750" cy="552450"/>
            </a:xfrm>
            <a:prstGeom prst="rect">
              <a:avLst/>
            </a:prstGeom>
            <a:solidFill>
              <a:srgbClr val="141A2E"/>
            </a:solidFill>
            <a:ln w="19050">
              <a:solidFill>
                <a:srgbClr val="3A4668"/>
              </a:solidFill>
            </a:ln>
          </p:spPr>
        </p:sp>
        <p:sp>
          <p:nvSpPr>
            <p:cNvPr id="33" name="TextBox 33"/>
            <p:cNvSpPr txBox="1"/>
            <p:nvPr/>
          </p:nvSpPr>
          <p:spPr>
            <a:xfrm>
              <a:off x="2802017" y="360283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0.10</a:t>
              </a:r>
            </a:p>
          </p:txBody>
        </p:sp>
        <p:sp>
          <p:nvSpPr>
            <p:cNvPr id="34" name="TextBox 34"/>
            <p:cNvSpPr txBox="1"/>
            <p:nvPr/>
          </p:nvSpPr>
          <p:spPr>
            <a:xfrm>
              <a:off x="3468767" y="360283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0.25</a:t>
              </a:r>
            </a:p>
          </p:txBody>
        </p:sp>
        <p:sp>
          <p:nvSpPr>
            <p:cNvPr id="35" name="TextBox 35"/>
            <p:cNvSpPr txBox="1"/>
            <p:nvPr/>
          </p:nvSpPr>
          <p:spPr>
            <a:xfrm>
              <a:off x="4135517" y="360283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0.58</a:t>
              </a:r>
            </a:p>
          </p:txBody>
        </p:sp>
        <p:sp>
          <p:nvSpPr>
            <p:cNvPr id="36" name="TextBox 36"/>
            <p:cNvSpPr txBox="1"/>
            <p:nvPr/>
          </p:nvSpPr>
          <p:spPr>
            <a:xfrm>
              <a:off x="4802267" y="360283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0.07</a:t>
              </a:r>
            </a:p>
          </p:txBody>
        </p:sp>
        <p:sp>
          <p:nvSpPr>
            <p:cNvPr id="37" name="Rectangle 37"/>
            <p:cNvSpPr/>
            <p:nvPr/>
          </p:nvSpPr>
          <p:spPr>
            <a:xfrm>
              <a:off x="2647950" y="4057650"/>
              <a:ext cx="666750" cy="552450"/>
            </a:xfrm>
            <a:prstGeom prst="rect">
              <a:avLst/>
            </a:prstGeom>
            <a:solidFill>
              <a:srgbClr val="141A2E"/>
            </a:solidFill>
            <a:ln w="19050">
              <a:solidFill>
                <a:srgbClr val="3A4668"/>
              </a:solidFill>
            </a:ln>
          </p:spPr>
        </p:sp>
        <p:sp>
          <p:nvSpPr>
            <p:cNvPr id="38" name="Rectangle 38"/>
            <p:cNvSpPr/>
            <p:nvPr/>
          </p:nvSpPr>
          <p:spPr>
            <a:xfrm>
              <a:off x="3314700" y="4057650"/>
              <a:ext cx="666750" cy="552450"/>
            </a:xfrm>
            <a:prstGeom prst="rect">
              <a:avLst/>
            </a:prstGeom>
            <a:solidFill>
              <a:srgbClr val="1D2740"/>
            </a:solidFill>
            <a:ln w="19050">
              <a:solidFill>
                <a:srgbClr val="3A4668"/>
              </a:solidFill>
            </a:ln>
          </p:spPr>
        </p:sp>
        <p:sp>
          <p:nvSpPr>
            <p:cNvPr id="39" name="Rectangle 39"/>
            <p:cNvSpPr/>
            <p:nvPr/>
          </p:nvSpPr>
          <p:spPr>
            <a:xfrm>
              <a:off x="3981450" y="4057650"/>
              <a:ext cx="666750" cy="552450"/>
            </a:xfrm>
            <a:prstGeom prst="rect">
              <a:avLst/>
            </a:prstGeom>
            <a:solidFill>
              <a:srgbClr val="1D2740"/>
            </a:solidFill>
            <a:ln w="19050">
              <a:solidFill>
                <a:srgbClr val="3A4668"/>
              </a:solidFill>
            </a:ln>
          </p:spPr>
        </p:sp>
        <p:sp>
          <p:nvSpPr>
            <p:cNvPr id="40" name="Rectangle 40"/>
            <p:cNvSpPr/>
            <p:nvPr/>
          </p:nvSpPr>
          <p:spPr>
            <a:xfrm>
              <a:off x="4648200" y="4057650"/>
              <a:ext cx="666750" cy="552450"/>
            </a:xfrm>
            <a:prstGeom prst="rect">
              <a:avLst/>
            </a:prstGeom>
            <a:solidFill>
              <a:srgbClr val="8AB4FF"/>
            </a:solidFill>
            <a:ln w="19050">
              <a:solidFill>
                <a:srgbClr val="3A4668"/>
              </a:solidFill>
            </a:ln>
          </p:spPr>
        </p:sp>
        <p:sp>
          <p:nvSpPr>
            <p:cNvPr id="41" name="TextBox 41"/>
            <p:cNvSpPr txBox="1"/>
            <p:nvPr/>
          </p:nvSpPr>
          <p:spPr>
            <a:xfrm>
              <a:off x="2802017" y="426958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0.08</a:t>
              </a:r>
            </a:p>
          </p:txBody>
        </p:sp>
        <p:sp>
          <p:nvSpPr>
            <p:cNvPr id="42" name="TextBox 42"/>
            <p:cNvSpPr txBox="1"/>
            <p:nvPr/>
          </p:nvSpPr>
          <p:spPr>
            <a:xfrm>
              <a:off x="3468767" y="426958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0.28</a:t>
              </a:r>
            </a:p>
          </p:txBody>
        </p:sp>
        <p:sp>
          <p:nvSpPr>
            <p:cNvPr id="43" name="TextBox 43"/>
            <p:cNvSpPr txBox="1"/>
            <p:nvPr/>
          </p:nvSpPr>
          <p:spPr>
            <a:xfrm>
              <a:off x="4135517" y="426958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0.14</a:t>
              </a:r>
            </a:p>
          </p:txBody>
        </p:sp>
        <p:sp>
          <p:nvSpPr>
            <p:cNvPr id="44" name="TextBox 44"/>
            <p:cNvSpPr txBox="1"/>
            <p:nvPr/>
          </p:nvSpPr>
          <p:spPr>
            <a:xfrm>
              <a:off x="4802267" y="426958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0.50</a:t>
              </a:r>
            </a:p>
          </p:txBody>
        </p:sp>
        <p:sp>
          <p:nvSpPr>
            <p:cNvPr id="45" name="Rectangle 45"/>
            <p:cNvSpPr/>
            <p:nvPr/>
          </p:nvSpPr>
          <p:spPr>
            <a:xfrm>
              <a:off x="2647950" y="4724400"/>
              <a:ext cx="666750" cy="552450"/>
            </a:xfrm>
            <a:prstGeom prst="rect">
              <a:avLst/>
            </a:prstGeom>
            <a:solidFill>
              <a:srgbClr val="141A2E"/>
            </a:solidFill>
            <a:ln w="19050">
              <a:solidFill>
                <a:srgbClr val="3A4668"/>
              </a:solidFill>
            </a:ln>
          </p:spPr>
        </p:sp>
        <p:sp>
          <p:nvSpPr>
            <p:cNvPr id="46" name="Rectangle 46"/>
            <p:cNvSpPr/>
            <p:nvPr/>
          </p:nvSpPr>
          <p:spPr>
            <a:xfrm>
              <a:off x="3314700" y="4724400"/>
              <a:ext cx="666750" cy="552450"/>
            </a:xfrm>
            <a:prstGeom prst="rect">
              <a:avLst/>
            </a:prstGeom>
            <a:solidFill>
              <a:srgbClr val="1D2740"/>
            </a:solidFill>
            <a:ln w="19050">
              <a:solidFill>
                <a:srgbClr val="3A4668"/>
              </a:solidFill>
            </a:ln>
          </p:spPr>
        </p:sp>
        <p:sp>
          <p:nvSpPr>
            <p:cNvPr id="47" name="Rectangle 47"/>
            <p:cNvSpPr/>
            <p:nvPr/>
          </p:nvSpPr>
          <p:spPr>
            <a:xfrm>
              <a:off x="3981450" y="4724400"/>
              <a:ext cx="666750" cy="552450"/>
            </a:xfrm>
            <a:prstGeom prst="rect">
              <a:avLst/>
            </a:prstGeom>
            <a:solidFill>
              <a:srgbClr val="8AB4FF"/>
            </a:solidFill>
            <a:ln w="19050">
              <a:solidFill>
                <a:srgbClr val="3A4668"/>
              </a:solidFill>
            </a:ln>
          </p:spPr>
        </p:sp>
        <p:sp>
          <p:nvSpPr>
            <p:cNvPr id="48" name="Rectangle 48"/>
            <p:cNvSpPr/>
            <p:nvPr/>
          </p:nvSpPr>
          <p:spPr>
            <a:xfrm>
              <a:off x="4648200" y="4724400"/>
              <a:ext cx="666750" cy="552450"/>
            </a:xfrm>
            <a:prstGeom prst="rect">
              <a:avLst/>
            </a:prstGeom>
            <a:solidFill>
              <a:srgbClr val="8AB4FF"/>
            </a:solidFill>
            <a:ln w="19050">
              <a:solidFill>
                <a:srgbClr val="3A4668"/>
              </a:solidFill>
            </a:ln>
          </p:spPr>
        </p:sp>
        <p:sp>
          <p:nvSpPr>
            <p:cNvPr id="49" name="TextBox 49"/>
            <p:cNvSpPr txBox="1"/>
            <p:nvPr/>
          </p:nvSpPr>
          <p:spPr>
            <a:xfrm>
              <a:off x="2802017" y="493633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0.06</a:t>
              </a:r>
            </a:p>
          </p:txBody>
        </p:sp>
        <p:sp>
          <p:nvSpPr>
            <p:cNvPr id="50" name="TextBox 50"/>
            <p:cNvSpPr txBox="1"/>
            <p:nvPr/>
          </p:nvSpPr>
          <p:spPr>
            <a:xfrm>
              <a:off x="3468767" y="493633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0.13</a:t>
              </a:r>
            </a:p>
          </p:txBody>
        </p:sp>
        <p:sp>
          <p:nvSpPr>
            <p:cNvPr id="51" name="TextBox 51"/>
            <p:cNvSpPr txBox="1"/>
            <p:nvPr/>
          </p:nvSpPr>
          <p:spPr>
            <a:xfrm>
              <a:off x="4135517" y="493633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0.49</a:t>
              </a:r>
            </a:p>
          </p:txBody>
        </p:sp>
        <p:sp>
          <p:nvSpPr>
            <p:cNvPr id="52" name="TextBox 52"/>
            <p:cNvSpPr txBox="1"/>
            <p:nvPr/>
          </p:nvSpPr>
          <p:spPr>
            <a:xfrm>
              <a:off x="4802267" y="4936331"/>
              <a:ext cx="358616" cy="228600"/>
            </a:xfrm>
            <a:prstGeom prst="rect">
              <a:avLst/>
            </a:prstGeom>
            <a:noFill/>
            <a:ln>
              <a:noFill/>
            </a:ln>
          </p:spPr>
          <p:txBody>
            <a:bodyPr wrap="none" lIns="0" tIns="0" rIns="0" bIns="0" anchor="t" anchorCtr="0">
              <a:spAutoFit/>
            </a:bodyPr>
            <a:lstStyle/>
            <a:p>
              <a:pPr algn="ctr"/>
              <a:r>
                <a:rPr lang="zh-CN" sz="1125" dirty="0">
                  <a:solidFill>
                    <a:srgbClr val="F7F8FA"/>
                  </a:solidFill>
                  <a:latin typeface="Consolas"/>
                  <a:ea typeface="Microsoft YaHei"/>
                  <a:cs typeface="Consolas"/>
                </a:rPr>
                <a:t>0.32</a:t>
              </a:r>
            </a:p>
          </p:txBody>
        </p:sp>
        <p:sp>
          <p:nvSpPr>
            <p:cNvPr id="53" name="TextBox 53"/>
            <p:cNvSpPr txBox="1"/>
            <p:nvPr/>
          </p:nvSpPr>
          <p:spPr>
            <a:xfrm>
              <a:off x="5719762" y="2936081"/>
              <a:ext cx="808672" cy="228600"/>
            </a:xfrm>
            <a:prstGeom prst="rect">
              <a:avLst/>
            </a:prstGeom>
            <a:noFill/>
            <a:ln>
              <a:noFill/>
            </a:ln>
          </p:spPr>
          <p:txBody>
            <a:bodyPr wrap="none" lIns="0" tIns="0" rIns="0" bIns="0" anchor="t" anchorCtr="0">
              <a:spAutoFit/>
            </a:bodyPr>
            <a:lstStyle/>
            <a:p>
              <a:pPr algn="l"/>
              <a:r>
                <a:rPr lang="zh-CN" sz="1125" dirty="0">
                  <a:solidFill>
                    <a:srgbClr val="7CFFB2"/>
                  </a:solidFill>
                  <a:latin typeface="Consolas"/>
                  <a:ea typeface="Microsoft YaHei"/>
                  <a:cs typeface="Consolas"/>
                </a:rPr>
                <a:t>sum = 1.00</a:t>
              </a:r>
            </a:p>
          </p:txBody>
        </p:sp>
        <p:sp>
          <p:nvSpPr>
            <p:cNvPr id="54" name="TextBox 54"/>
            <p:cNvSpPr txBox="1"/>
            <p:nvPr/>
          </p:nvSpPr>
          <p:spPr>
            <a:xfrm>
              <a:off x="5719762" y="3602831"/>
              <a:ext cx="808672" cy="228600"/>
            </a:xfrm>
            <a:prstGeom prst="rect">
              <a:avLst/>
            </a:prstGeom>
            <a:noFill/>
            <a:ln>
              <a:noFill/>
            </a:ln>
          </p:spPr>
          <p:txBody>
            <a:bodyPr wrap="none" lIns="0" tIns="0" rIns="0" bIns="0" anchor="t" anchorCtr="0">
              <a:spAutoFit/>
            </a:bodyPr>
            <a:lstStyle/>
            <a:p>
              <a:pPr algn="l"/>
              <a:r>
                <a:rPr lang="zh-CN" sz="1125" dirty="0">
                  <a:solidFill>
                    <a:srgbClr val="7CFFB2"/>
                  </a:solidFill>
                  <a:latin typeface="Consolas"/>
                  <a:ea typeface="Microsoft YaHei"/>
                  <a:cs typeface="Consolas"/>
                </a:rPr>
                <a:t>sum = 1.00</a:t>
              </a:r>
            </a:p>
          </p:txBody>
        </p:sp>
        <p:sp>
          <p:nvSpPr>
            <p:cNvPr id="55" name="TextBox 55"/>
            <p:cNvSpPr txBox="1"/>
            <p:nvPr/>
          </p:nvSpPr>
          <p:spPr>
            <a:xfrm>
              <a:off x="5719762" y="4269581"/>
              <a:ext cx="808672" cy="228600"/>
            </a:xfrm>
            <a:prstGeom prst="rect">
              <a:avLst/>
            </a:prstGeom>
            <a:noFill/>
            <a:ln>
              <a:noFill/>
            </a:ln>
          </p:spPr>
          <p:txBody>
            <a:bodyPr wrap="none" lIns="0" tIns="0" rIns="0" bIns="0" anchor="t" anchorCtr="0">
              <a:spAutoFit/>
            </a:bodyPr>
            <a:lstStyle/>
            <a:p>
              <a:pPr algn="l"/>
              <a:r>
                <a:rPr lang="zh-CN" sz="1125" dirty="0">
                  <a:solidFill>
                    <a:srgbClr val="7CFFB2"/>
                  </a:solidFill>
                  <a:latin typeface="Consolas"/>
                  <a:ea typeface="Microsoft YaHei"/>
                  <a:cs typeface="Consolas"/>
                </a:rPr>
                <a:t>sum = 1.00</a:t>
              </a:r>
            </a:p>
          </p:txBody>
        </p:sp>
        <p:sp>
          <p:nvSpPr>
            <p:cNvPr id="56" name="TextBox 56"/>
            <p:cNvSpPr txBox="1"/>
            <p:nvPr/>
          </p:nvSpPr>
          <p:spPr>
            <a:xfrm>
              <a:off x="5719762" y="4936331"/>
              <a:ext cx="808672" cy="228600"/>
            </a:xfrm>
            <a:prstGeom prst="rect">
              <a:avLst/>
            </a:prstGeom>
            <a:noFill/>
            <a:ln>
              <a:noFill/>
            </a:ln>
          </p:spPr>
          <p:txBody>
            <a:bodyPr wrap="none" lIns="0" tIns="0" rIns="0" bIns="0" anchor="t" anchorCtr="0">
              <a:spAutoFit/>
            </a:bodyPr>
            <a:lstStyle/>
            <a:p>
              <a:pPr algn="l"/>
              <a:r>
                <a:rPr lang="zh-CN" sz="1125" dirty="0">
                  <a:solidFill>
                    <a:srgbClr val="7CFFB2"/>
                  </a:solidFill>
                  <a:latin typeface="Consolas"/>
                  <a:ea typeface="Microsoft YaHei"/>
                  <a:cs typeface="Consolas"/>
                </a:rPr>
                <a:t>sum = 1.00</a:t>
              </a:r>
            </a:p>
          </p:txBody>
        </p:sp>
      </p:grpSp>
      <p:grpSp>
        <p:nvGrpSpPr>
          <p:cNvPr id="67" name="Group 67"/>
          <p:cNvGrpSpPr/>
          <p:nvPr/>
        </p:nvGrpSpPr>
        <p:grpSpPr>
          <a:xfrm>
            <a:off x="7429500" y="1676400"/>
            <a:ext cx="4026956" cy="3771900"/>
            <a:chOff x="7429500" y="1676400"/>
            <a:chExt cx="4026956" cy="3771900"/>
          </a:xfrm>
        </p:grpSpPr>
        <p:sp>
          <p:nvSpPr>
            <p:cNvPr id="58" name="Rectangle 58"/>
            <p:cNvSpPr/>
            <p:nvPr/>
          </p:nvSpPr>
          <p:spPr>
            <a:xfrm>
              <a:off x="7429500" y="1676400"/>
              <a:ext cx="4000500" cy="3771900"/>
            </a:xfrm>
            <a:prstGeom prst="roundRect">
              <a:avLst>
                <a:gd name="adj" fmla="val 4545"/>
              </a:avLst>
            </a:prstGeom>
            <a:solidFill>
              <a:srgbClr val="141A2E"/>
            </a:solidFill>
            <a:ln w="19050">
              <a:solidFill>
                <a:srgbClr val="3A4668"/>
              </a:solidFill>
            </a:ln>
          </p:spPr>
        </p:sp>
        <p:sp>
          <p:nvSpPr>
            <p:cNvPr id="59" name="TextBox 59"/>
            <p:cNvSpPr txBox="1"/>
            <p:nvPr/>
          </p:nvSpPr>
          <p:spPr>
            <a:xfrm>
              <a:off x="7729538" y="1893094"/>
              <a:ext cx="2344787" cy="381000"/>
            </a:xfrm>
            <a:prstGeom prst="rect">
              <a:avLst/>
            </a:prstGeom>
            <a:noFill/>
            <a:ln>
              <a:noFill/>
            </a:ln>
          </p:spPr>
          <p:txBody>
            <a:bodyPr wrap="none" lIns="0" tIns="0" rIns="0" bIns="0" anchor="t" anchorCtr="0">
              <a:spAutoFit/>
            </a:bodyPr>
            <a:lstStyle/>
            <a:p>
              <a:pPr algn="l"/>
              <a:r>
                <a:rPr lang="zh-CN" sz="1875" b="1" dirty="0">
                  <a:solidFill>
                    <a:srgbClr val="F7F8FA"/>
                  </a:solidFill>
                  <a:latin typeface="Arial"/>
                  <a:ea typeface="Microsoft YaHei"/>
                  <a:cs typeface="Arial"/>
                </a:rPr>
                <a:t>How to read a row</a:t>
              </a:r>
            </a:p>
          </p:txBody>
        </p:sp>
        <p:sp>
          <p:nvSpPr>
            <p:cNvPr id="60" name="TextBox 60"/>
            <p:cNvSpPr txBox="1"/>
            <p:nvPr/>
          </p:nvSpPr>
          <p:spPr>
            <a:xfrm>
              <a:off x="7735252" y="2398871"/>
              <a:ext cx="2839520" cy="289560"/>
            </a:xfrm>
            <a:prstGeom prst="rect">
              <a:avLst/>
            </a:prstGeom>
            <a:noFill/>
            <a:ln>
              <a:noFill/>
            </a:ln>
          </p:spPr>
          <p:txBody>
            <a:bodyPr wrap="none" lIns="0" tIns="0" rIns="0" bIns="0" anchor="t" anchorCtr="0">
              <a:spAutoFit/>
            </a:bodyPr>
            <a:lstStyle/>
            <a:p>
              <a:pPr algn="l"/>
              <a:r>
                <a:rPr lang="zh-CN" sz="1425" b="1" dirty="0">
                  <a:solidFill>
                    <a:srgbClr val="FFCB6B"/>
                  </a:solidFill>
                  <a:latin typeface="Arial"/>
                  <a:ea typeface="Microsoft YaHei"/>
                  <a:cs typeface="Arial"/>
                </a:rPr>
                <a:t>The query row decides a mix.</a:t>
              </a:r>
            </a:p>
          </p:txBody>
        </p:sp>
        <p:sp>
          <p:nvSpPr>
            <p:cNvPr id="61" name="TextBox 61"/>
            <p:cNvSpPr txBox="1"/>
            <p:nvPr/>
          </p:nvSpPr>
          <p:spPr>
            <a:xfrm>
              <a:off x="7737158" y="2777014"/>
              <a:ext cx="3220283" cy="259080"/>
            </a:xfrm>
            <a:prstGeom prst="rect">
              <a:avLst/>
            </a:prstGeom>
            <a:noFill/>
            <a:ln>
              <a:noFill/>
            </a:ln>
          </p:spPr>
          <p:txBody>
            <a:bodyPr wrap="none" lIns="0" tIns="0" rIns="0" bIns="0" anchor="t" anchorCtr="0">
              <a:spAutoFit/>
            </a:bodyPr>
            <a:lstStyle/>
            <a:p>
              <a:pPr algn="l"/>
              <a:r>
                <a:rPr lang="zh-CN" sz="1275" dirty="0">
                  <a:solidFill>
                    <a:srgbClr val="AAB6D3"/>
                  </a:solidFill>
                  <a:latin typeface="Arial"/>
                  <a:ea typeface="Microsoft YaHei"/>
                  <a:cs typeface="Arial"/>
                </a:rPr>
                <a:t>For token "model", the largest weight</a:t>
              </a:r>
            </a:p>
          </p:txBody>
        </p:sp>
        <p:sp>
          <p:nvSpPr>
            <p:cNvPr id="62" name="TextBox 62"/>
            <p:cNvSpPr txBox="1"/>
            <p:nvPr/>
          </p:nvSpPr>
          <p:spPr>
            <a:xfrm>
              <a:off x="7737158" y="3024664"/>
              <a:ext cx="2676215" cy="259080"/>
            </a:xfrm>
            <a:prstGeom prst="rect">
              <a:avLst/>
            </a:prstGeom>
            <a:noFill/>
            <a:ln>
              <a:noFill/>
            </a:ln>
          </p:spPr>
          <p:txBody>
            <a:bodyPr wrap="none" lIns="0" tIns="0" rIns="0" bIns="0" anchor="t" anchorCtr="0">
              <a:spAutoFit/>
            </a:bodyPr>
            <a:lstStyle/>
            <a:p>
              <a:pPr algn="l"/>
              <a:r>
                <a:rPr lang="zh-CN" sz="1275" dirty="0">
                  <a:solidFill>
                    <a:srgbClr val="AAB6D3"/>
                  </a:solidFill>
                  <a:latin typeface="Arial"/>
                  <a:ea typeface="Microsoft YaHei"/>
                  <a:cs typeface="Arial"/>
                </a:rPr>
                <a:t>points to key token "predicts".</a:t>
              </a:r>
            </a:p>
          </p:txBody>
        </p:sp>
        <p:sp>
          <p:nvSpPr>
            <p:cNvPr id="63" name="Rectangle 63"/>
            <p:cNvSpPr/>
            <p:nvPr/>
          </p:nvSpPr>
          <p:spPr>
            <a:xfrm>
              <a:off x="7753350" y="3562350"/>
              <a:ext cx="3200400" cy="571500"/>
            </a:xfrm>
            <a:prstGeom prst="roundRect">
              <a:avLst>
                <a:gd name="adj" fmla="val 20000"/>
              </a:avLst>
            </a:prstGeom>
            <a:solidFill>
              <a:srgbClr val="1D2740"/>
            </a:solidFill>
            <a:ln w="19050">
              <a:solidFill>
                <a:srgbClr val="8AB4FF"/>
              </a:solidFill>
            </a:ln>
          </p:spPr>
        </p:sp>
        <p:sp>
          <p:nvSpPr>
            <p:cNvPr id="64" name="TextBox 64"/>
            <p:cNvSpPr txBox="1"/>
            <p:nvPr/>
          </p:nvSpPr>
          <p:spPr>
            <a:xfrm>
              <a:off x="8089344" y="3752850"/>
              <a:ext cx="2528411" cy="304800"/>
            </a:xfrm>
            <a:prstGeom prst="rect">
              <a:avLst/>
            </a:prstGeom>
            <a:noFill/>
            <a:ln>
              <a:noFill/>
            </a:ln>
          </p:spPr>
          <p:txBody>
            <a:bodyPr wrap="none" lIns="0" tIns="0" rIns="0" bIns="0" anchor="t" anchorCtr="0">
              <a:spAutoFit/>
            </a:bodyPr>
            <a:lstStyle/>
            <a:p>
              <a:pPr algn="ctr"/>
              <a:r>
                <a:rPr lang="zh-CN" sz="1500" dirty="0">
                  <a:solidFill>
                    <a:srgbClr val="F7F8FA"/>
                  </a:solidFill>
                  <a:latin typeface="Consolas"/>
                  <a:ea typeface="Microsoft YaHei"/>
                  <a:cs typeface="Consolas"/>
                </a:rPr>
                <a:t>[0.10, 0.25, 0.58, 0.07]</a:t>
              </a:r>
            </a:p>
          </p:txBody>
        </p:sp>
        <p:sp>
          <p:nvSpPr>
            <p:cNvPr id="65" name="TextBox 65"/>
            <p:cNvSpPr txBox="1"/>
            <p:nvPr/>
          </p:nvSpPr>
          <p:spPr>
            <a:xfrm>
              <a:off x="7736205" y="4426268"/>
              <a:ext cx="3720251" cy="274320"/>
            </a:xfrm>
            <a:prstGeom prst="rect">
              <a:avLst/>
            </a:prstGeom>
            <a:noFill/>
            <a:ln>
              <a:noFill/>
            </a:ln>
          </p:spPr>
          <p:txBody>
            <a:bodyPr wrap="none" lIns="0" tIns="0" rIns="0" bIns="0" anchor="t" anchorCtr="0">
              <a:spAutoFit/>
            </a:bodyPr>
            <a:lstStyle/>
            <a:p>
              <a:pPr algn="l"/>
              <a:r>
                <a:rPr lang="zh-CN" sz="1350" b="1" dirty="0">
                  <a:solidFill>
                    <a:srgbClr val="7CFFB2"/>
                  </a:solidFill>
                  <a:latin typeface="Arial"/>
                  <a:ea typeface="Microsoft YaHei"/>
                  <a:cs typeface="Arial"/>
                </a:rPr>
                <a:t>After softmax: row-wise probabilities.</a:t>
              </a:r>
            </a:p>
          </p:txBody>
        </p:sp>
        <p:sp>
          <p:nvSpPr>
            <p:cNvPr id="66" name="TextBox 66"/>
            <p:cNvSpPr txBox="1"/>
            <p:nvPr/>
          </p:nvSpPr>
          <p:spPr>
            <a:xfrm>
              <a:off x="7737158" y="4758214"/>
              <a:ext cx="3305294" cy="259080"/>
            </a:xfrm>
            <a:prstGeom prst="rect">
              <a:avLst/>
            </a:prstGeom>
            <a:noFill/>
            <a:ln>
              <a:noFill/>
            </a:ln>
          </p:spPr>
          <p:txBody>
            <a:bodyPr wrap="none" lIns="0" tIns="0" rIns="0" bIns="0" anchor="t" anchorCtr="0">
              <a:spAutoFit/>
            </a:bodyPr>
            <a:lstStyle/>
            <a:p>
              <a:pPr algn="l"/>
              <a:r>
                <a:rPr lang="zh-CN" sz="1275" dirty="0">
                  <a:solidFill>
                    <a:srgbClr val="AAB6D3"/>
                  </a:solidFill>
                  <a:latin typeface="Arial"/>
                  <a:ea typeface="Microsoft YaHei"/>
                  <a:cs typeface="Arial"/>
                </a:rPr>
                <a:t>Rows sum to 1; columns do not have to.</a:t>
              </a:r>
            </a:p>
          </p:txBody>
        </p:sp>
      </p:grpSp>
      <p:sp>
        <p:nvSpPr>
          <p:cNvPr id="68" name="TextBox 68"/>
          <p:cNvSpPr txBox="1"/>
          <p:nvPr/>
        </p:nvSpPr>
        <p:spPr>
          <a:xfrm>
            <a:off x="501968" y="6238399"/>
            <a:ext cx="5277421" cy="198120"/>
          </a:xfrm>
          <a:prstGeom prst="rect">
            <a:avLst/>
          </a:prstGeom>
          <a:noFill/>
          <a:ln>
            <a:noFill/>
          </a:ln>
        </p:spPr>
        <p:txBody>
          <a:bodyPr wrap="none" lIns="0" tIns="0" rIns="0" bIns="0" anchor="t" anchorCtr="0">
            <a:spAutoFit/>
          </a:bodyPr>
          <a:lstStyle/>
          <a:p>
            <a:pPr algn="l"/>
            <a:r>
              <a:rPr lang="zh-CN" sz="975" dirty="0">
                <a:solidFill>
                  <a:srgbClr val="AAB6D3"/>
                </a:solidFill>
                <a:latin typeface="Arial"/>
                <a:ea typeface="Microsoft YaHei"/>
                <a:cs typeface="Arial"/>
              </a:rPr>
              <a:t>Heatmap is editable: each cell, label, and value is a separate shape or text object.</a:t>
            </a:r>
          </a:p>
        </p:txBody>
      </p:sp>
      <p:sp>
        <p:nvSpPr>
          <p:cNvPr id="69" name="TextBox 69"/>
          <p:cNvSpPr txBox="1"/>
          <p:nvPr/>
        </p:nvSpPr>
        <p:spPr>
          <a:xfrm>
            <a:off x="11398568" y="6238399"/>
            <a:ext cx="460319"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05 / 10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400"/>
                                        <p:tgtEl>
                                          <p:spTgt spid="57"/>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67"/>
                                        </p:tgtEl>
                                        <p:attrNameLst>
                                          <p:attrName>style.visibility</p:attrName>
                                        </p:attrNameLst>
                                      </p:cBhvr>
                                      <p:to>
                                        <p:strVal val="visible"/>
                                      </p:to>
                                    </p:set>
                                    <p:animEffect transition="in" filter="wipe(left)">
                                      <p:cBhvr>
                                        <p:cTn id="11"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6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C1020"/>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73149"/>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73149"/>
            </a:solidFill>
          </a:ln>
        </p:spPr>
      </p:sp>
      <p:grpSp>
        <p:nvGrpSpPr>
          <p:cNvPr id="8" name="Group 8"/>
          <p:cNvGrpSpPr/>
          <p:nvPr/>
        </p:nvGrpSpPr>
        <p:grpSpPr>
          <a:xfrm>
            <a:off x="482918" y="342424"/>
            <a:ext cx="11194732" cy="772001"/>
            <a:chOff x="482918" y="342424"/>
            <a:chExt cx="11194732" cy="772001"/>
          </a:xfrm>
        </p:grpSpPr>
        <p:sp>
          <p:nvSpPr>
            <p:cNvPr id="5" name="TextBox 5"/>
            <p:cNvSpPr txBox="1"/>
            <p:nvPr/>
          </p:nvSpPr>
          <p:spPr>
            <a:xfrm>
              <a:off x="482918" y="342424"/>
              <a:ext cx="3961477" cy="502920"/>
            </a:xfrm>
            <a:prstGeom prst="rect">
              <a:avLst/>
            </a:prstGeom>
            <a:noFill/>
            <a:ln>
              <a:noFill/>
            </a:ln>
          </p:spPr>
          <p:txBody>
            <a:bodyPr wrap="none" lIns="0" tIns="0" rIns="0" bIns="0" anchor="t" anchorCtr="0">
              <a:spAutoFit/>
            </a:bodyPr>
            <a:lstStyle/>
            <a:p>
              <a:pPr algn="l"/>
              <a:r>
                <a:rPr lang="zh-CN" sz="2475" b="1" dirty="0">
                  <a:solidFill>
                    <a:srgbClr val="F7F8FA"/>
                  </a:solidFill>
                  <a:latin typeface="Arial"/>
                  <a:ea typeface="Microsoft YaHei"/>
                  <a:cs typeface="Arial"/>
                </a:rPr>
                <a:t>Weighted Sum of Values</a:t>
              </a:r>
            </a:p>
          </p:txBody>
        </p:sp>
        <p:sp>
          <p:nvSpPr>
            <p:cNvPr id="6" name="TextBox 6"/>
            <p:cNvSpPr txBox="1"/>
            <p:nvPr/>
          </p:nvSpPr>
          <p:spPr>
            <a:xfrm>
              <a:off x="497205" y="768668"/>
              <a:ext cx="7019163" cy="274320"/>
            </a:xfrm>
            <a:prstGeom prst="rect">
              <a:avLst/>
            </a:prstGeom>
            <a:noFill/>
            <a:ln>
              <a:noFill/>
            </a:ln>
          </p:spPr>
          <p:txBody>
            <a:bodyPr wrap="none" lIns="0" tIns="0" rIns="0" bIns="0" anchor="t" anchorCtr="0">
              <a:spAutoFit/>
            </a:bodyPr>
            <a:lstStyle/>
            <a:p>
              <a:pPr algn="l"/>
              <a:r>
                <a:rPr lang="zh-CN" sz="1350" dirty="0">
                  <a:solidFill>
                    <a:srgbClr val="AAB6D3"/>
                  </a:solidFill>
                  <a:latin typeface="Arial"/>
                  <a:ea typeface="Microsoft YaHei"/>
                  <a:cs typeface="Arial"/>
                </a:rPr>
                <a:t>Each query row uses its weights to blend value vectors into one output vector.</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A4668"/>
              </a:solidFill>
            </a:ln>
          </p:spPr>
        </p:sp>
      </p:grpSp>
      <p:grpSp>
        <p:nvGrpSpPr>
          <p:cNvPr id="42" name="Group 42"/>
          <p:cNvGrpSpPr/>
          <p:nvPr/>
        </p:nvGrpSpPr>
        <p:grpSpPr>
          <a:xfrm>
            <a:off x="704850" y="1809750"/>
            <a:ext cx="10782300" cy="3371850"/>
            <a:chOff x="704850" y="1809750"/>
            <a:chExt cx="10782300" cy="3371850"/>
          </a:xfrm>
        </p:grpSpPr>
        <p:sp>
          <p:nvSpPr>
            <p:cNvPr id="9" name="Rectangle 9"/>
            <p:cNvSpPr/>
            <p:nvPr/>
          </p:nvSpPr>
          <p:spPr>
            <a:xfrm>
              <a:off x="704850" y="1809750"/>
              <a:ext cx="10782300" cy="3371850"/>
            </a:xfrm>
            <a:prstGeom prst="roundRect">
              <a:avLst>
                <a:gd name="adj" fmla="val 5085"/>
              </a:avLst>
            </a:prstGeom>
            <a:solidFill>
              <a:srgbClr val="141A2E"/>
            </a:solidFill>
            <a:ln w="19050">
              <a:solidFill>
                <a:srgbClr val="3A4668"/>
              </a:solidFill>
            </a:ln>
          </p:spPr>
        </p:sp>
        <p:sp>
          <p:nvSpPr>
            <p:cNvPr id="10" name="TextBox 10"/>
            <p:cNvSpPr txBox="1"/>
            <p:nvPr/>
          </p:nvSpPr>
          <p:spPr>
            <a:xfrm>
              <a:off x="1043940" y="2044065"/>
              <a:ext cx="4342857" cy="365760"/>
            </a:xfrm>
            <a:prstGeom prst="rect">
              <a:avLst/>
            </a:prstGeom>
            <a:noFill/>
            <a:ln>
              <a:noFill/>
            </a:ln>
          </p:spPr>
          <p:txBody>
            <a:bodyPr wrap="none" lIns="0" tIns="0" rIns="0" bIns="0" anchor="t" anchorCtr="0">
              <a:spAutoFit/>
            </a:bodyPr>
            <a:lstStyle/>
            <a:p>
              <a:pPr algn="l"/>
              <a:r>
                <a:rPr lang="zh-CN" sz="1800" b="1" dirty="0">
                  <a:solidFill>
                    <a:srgbClr val="F7F8FA"/>
                  </a:solidFill>
                  <a:latin typeface="Arial"/>
                  <a:ea typeface="Microsoft YaHei"/>
                  <a:cs typeface="Arial"/>
                </a:rPr>
                <a:t>Example: output for token "model"</a:t>
              </a:r>
            </a:p>
          </p:txBody>
        </p:sp>
        <p:sp>
          <p:nvSpPr>
            <p:cNvPr id="11" name="Rectangle 11"/>
            <p:cNvSpPr/>
            <p:nvPr/>
          </p:nvSpPr>
          <p:spPr>
            <a:xfrm>
              <a:off x="1104900" y="2781300"/>
              <a:ext cx="1314450" cy="628650"/>
            </a:xfrm>
            <a:prstGeom prst="roundRect">
              <a:avLst>
                <a:gd name="adj" fmla="val 18182"/>
              </a:avLst>
            </a:prstGeom>
            <a:solidFill>
              <a:srgbClr val="1D2740"/>
            </a:solidFill>
            <a:ln w="28575">
              <a:solidFill>
                <a:srgbClr val="C792EA"/>
              </a:solidFill>
            </a:ln>
          </p:spPr>
        </p:sp>
        <p:sp>
          <p:nvSpPr>
            <p:cNvPr id="12" name="TextBox 12"/>
            <p:cNvSpPr txBox="1"/>
            <p:nvPr/>
          </p:nvSpPr>
          <p:spPr>
            <a:xfrm>
              <a:off x="1240119" y="2910364"/>
              <a:ext cx="1044011" cy="259080"/>
            </a:xfrm>
            <a:prstGeom prst="rect">
              <a:avLst/>
            </a:prstGeom>
            <a:noFill/>
            <a:ln>
              <a:noFill/>
            </a:ln>
          </p:spPr>
          <p:txBody>
            <a:bodyPr wrap="none" lIns="0" tIns="0" rIns="0" bIns="0" anchor="t" anchorCtr="0">
              <a:spAutoFit/>
            </a:bodyPr>
            <a:lstStyle/>
            <a:p>
              <a:pPr algn="ctr"/>
              <a:r>
                <a:rPr lang="zh-CN" sz="1275" dirty="0">
                  <a:solidFill>
                    <a:srgbClr val="F7F8FA"/>
                  </a:solidFill>
                  <a:latin typeface="Consolas"/>
                  <a:ea typeface="Microsoft YaHei"/>
                  <a:cs typeface="Consolas"/>
                </a:rPr>
                <a:t>weights row</a:t>
              </a:r>
            </a:p>
          </p:txBody>
        </p:sp>
        <p:sp>
          <p:nvSpPr>
            <p:cNvPr id="13" name="TextBox 13"/>
            <p:cNvSpPr txBox="1"/>
            <p:nvPr/>
          </p:nvSpPr>
          <p:spPr>
            <a:xfrm>
              <a:off x="1058799" y="3156585"/>
              <a:ext cx="1406652" cy="243840"/>
            </a:xfrm>
            <a:prstGeom prst="rect">
              <a:avLst/>
            </a:prstGeom>
            <a:noFill/>
            <a:ln>
              <a:noFill/>
            </a:ln>
          </p:spPr>
          <p:txBody>
            <a:bodyPr wrap="none" lIns="0" tIns="0" rIns="0" bIns="0" anchor="t" anchorCtr="0">
              <a:spAutoFit/>
            </a:bodyPr>
            <a:lstStyle/>
            <a:p>
              <a:pPr algn="ctr"/>
              <a:r>
                <a:rPr lang="zh-CN" sz="1200" dirty="0">
                  <a:solidFill>
                    <a:srgbClr val="C792EA"/>
                  </a:solidFill>
                  <a:latin typeface="Consolas"/>
                  <a:ea typeface="Microsoft YaHei"/>
                  <a:cs typeface="Consolas"/>
                </a:rPr>
                <a:t>[.10 .25 .58 .07]</a:t>
              </a:r>
            </a:p>
          </p:txBody>
        </p:sp>
        <p:sp>
          <p:nvSpPr>
            <p:cNvPr id="14" name="Freeform 14"/>
            <p:cNvSpPr/>
            <p:nvPr/>
          </p:nvSpPr>
          <p:spPr>
            <a:xfrm>
              <a:off x="2495550" y="3095625"/>
              <a:ext cx="571500" cy="9525"/>
            </a:xfrm>
            <a:custGeom>
              <a:avLst/>
              <a:gdLst/>
              <a:ahLst/>
              <a:cxnLst/>
              <a:rect l="l" t="t" r="r" b="b"/>
              <a:pathLst>
                <a:path w="571500" h="9525">
                  <a:moveTo>
                    <a:pt x="0" y="0"/>
                  </a:moveTo>
                  <a:lnTo>
                    <a:pt x="571500" y="0"/>
                  </a:lnTo>
                </a:path>
              </a:pathLst>
            </a:custGeom>
            <a:noFill/>
            <a:ln w="47625">
              <a:solidFill>
                <a:srgbClr val="7CFFB2"/>
              </a:solidFill>
              <a:tailEnd type="triangle" w="lg" len="lg"/>
            </a:ln>
          </p:spPr>
        </p:sp>
        <p:sp>
          <p:nvSpPr>
            <p:cNvPr id="15" name="Rectangle 15"/>
            <p:cNvSpPr/>
            <p:nvPr/>
          </p:nvSpPr>
          <p:spPr>
            <a:xfrm>
              <a:off x="3238500" y="2400300"/>
              <a:ext cx="1104900" cy="1390650"/>
            </a:xfrm>
            <a:prstGeom prst="roundRect">
              <a:avLst>
                <a:gd name="adj" fmla="val 10345"/>
              </a:avLst>
            </a:prstGeom>
            <a:solidFill>
              <a:srgbClr val="1D2740"/>
            </a:solidFill>
            <a:ln w="28575">
              <a:solidFill>
                <a:srgbClr val="8AB4FF"/>
              </a:solidFill>
            </a:ln>
          </p:spPr>
        </p:sp>
        <p:sp>
          <p:nvSpPr>
            <p:cNvPr id="16" name="TextBox 16"/>
            <p:cNvSpPr txBox="1"/>
            <p:nvPr/>
          </p:nvSpPr>
          <p:spPr>
            <a:xfrm>
              <a:off x="3681246" y="2586514"/>
              <a:ext cx="219408" cy="259080"/>
            </a:xfrm>
            <a:prstGeom prst="rect">
              <a:avLst/>
            </a:prstGeom>
            <a:noFill/>
            <a:ln>
              <a:noFill/>
            </a:ln>
          </p:spPr>
          <p:txBody>
            <a:bodyPr wrap="none" lIns="0" tIns="0" rIns="0" bIns="0" anchor="t" anchorCtr="0">
              <a:spAutoFit/>
            </a:bodyPr>
            <a:lstStyle/>
            <a:p>
              <a:pPr algn="ctr"/>
              <a:r>
                <a:rPr lang="zh-CN" sz="1275" dirty="0">
                  <a:solidFill>
                    <a:srgbClr val="F7F8FA"/>
                  </a:solidFill>
                  <a:latin typeface="Consolas"/>
                  <a:ea typeface="Microsoft YaHei"/>
                  <a:cs typeface="Consolas"/>
                </a:rPr>
                <a:t>V1</a:t>
              </a:r>
            </a:p>
          </p:txBody>
        </p:sp>
        <p:sp>
          <p:nvSpPr>
            <p:cNvPr id="17" name="TextBox 17"/>
            <p:cNvSpPr txBox="1"/>
            <p:nvPr/>
          </p:nvSpPr>
          <p:spPr>
            <a:xfrm>
              <a:off x="3570387" y="2964656"/>
              <a:ext cx="441127"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[v11]</a:t>
              </a:r>
            </a:p>
          </p:txBody>
        </p:sp>
        <p:sp>
          <p:nvSpPr>
            <p:cNvPr id="18" name="TextBox 18"/>
            <p:cNvSpPr txBox="1"/>
            <p:nvPr/>
          </p:nvSpPr>
          <p:spPr>
            <a:xfrm>
              <a:off x="3570387" y="3212306"/>
              <a:ext cx="441127"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[v12]</a:t>
              </a:r>
            </a:p>
          </p:txBody>
        </p:sp>
        <p:sp>
          <p:nvSpPr>
            <p:cNvPr id="19" name="TextBox 19"/>
            <p:cNvSpPr txBox="1"/>
            <p:nvPr/>
          </p:nvSpPr>
          <p:spPr>
            <a:xfrm>
              <a:off x="3570387" y="3459956"/>
              <a:ext cx="441127"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[v13]</a:t>
              </a:r>
            </a:p>
          </p:txBody>
        </p:sp>
        <p:sp>
          <p:nvSpPr>
            <p:cNvPr id="20" name="TextBox 20"/>
            <p:cNvSpPr txBox="1"/>
            <p:nvPr/>
          </p:nvSpPr>
          <p:spPr>
            <a:xfrm>
              <a:off x="4550092" y="2918936"/>
              <a:ext cx="170331" cy="350520"/>
            </a:xfrm>
            <a:prstGeom prst="rect">
              <a:avLst/>
            </a:prstGeom>
            <a:noFill/>
            <a:ln>
              <a:noFill/>
            </a:ln>
          </p:spPr>
          <p:txBody>
            <a:bodyPr wrap="none" lIns="0" tIns="0" rIns="0" bIns="0" anchor="t" anchorCtr="0">
              <a:spAutoFit/>
            </a:bodyPr>
            <a:lstStyle/>
            <a:p>
              <a:pPr algn="l"/>
              <a:r>
                <a:rPr lang="zh-CN" sz="1725" dirty="0">
                  <a:solidFill>
                    <a:srgbClr val="FFCB6B"/>
                  </a:solidFill>
                  <a:latin typeface="Consolas"/>
                  <a:ea typeface="Microsoft YaHei"/>
                  <a:cs typeface="Consolas"/>
                </a:rPr>
                <a:t>+</a:t>
              </a:r>
            </a:p>
          </p:txBody>
        </p:sp>
        <p:sp>
          <p:nvSpPr>
            <p:cNvPr id="21" name="Rectangle 21"/>
            <p:cNvSpPr/>
            <p:nvPr/>
          </p:nvSpPr>
          <p:spPr>
            <a:xfrm>
              <a:off x="4953000" y="2400300"/>
              <a:ext cx="1104900" cy="1390650"/>
            </a:xfrm>
            <a:prstGeom prst="roundRect">
              <a:avLst>
                <a:gd name="adj" fmla="val 10345"/>
              </a:avLst>
            </a:prstGeom>
            <a:solidFill>
              <a:srgbClr val="1D2740"/>
            </a:solidFill>
            <a:ln w="28575">
              <a:solidFill>
                <a:srgbClr val="8AB4FF"/>
              </a:solidFill>
            </a:ln>
          </p:spPr>
        </p:sp>
        <p:sp>
          <p:nvSpPr>
            <p:cNvPr id="22" name="TextBox 22"/>
            <p:cNvSpPr txBox="1"/>
            <p:nvPr/>
          </p:nvSpPr>
          <p:spPr>
            <a:xfrm>
              <a:off x="5395746" y="2586514"/>
              <a:ext cx="219408" cy="259080"/>
            </a:xfrm>
            <a:prstGeom prst="rect">
              <a:avLst/>
            </a:prstGeom>
            <a:noFill/>
            <a:ln>
              <a:noFill/>
            </a:ln>
          </p:spPr>
          <p:txBody>
            <a:bodyPr wrap="none" lIns="0" tIns="0" rIns="0" bIns="0" anchor="t" anchorCtr="0">
              <a:spAutoFit/>
            </a:bodyPr>
            <a:lstStyle/>
            <a:p>
              <a:pPr algn="ctr"/>
              <a:r>
                <a:rPr lang="zh-CN" sz="1275" dirty="0">
                  <a:solidFill>
                    <a:srgbClr val="F7F8FA"/>
                  </a:solidFill>
                  <a:latin typeface="Consolas"/>
                  <a:ea typeface="Microsoft YaHei"/>
                  <a:cs typeface="Consolas"/>
                </a:rPr>
                <a:t>V2</a:t>
              </a:r>
            </a:p>
          </p:txBody>
        </p:sp>
        <p:sp>
          <p:nvSpPr>
            <p:cNvPr id="23" name="TextBox 23"/>
            <p:cNvSpPr txBox="1"/>
            <p:nvPr/>
          </p:nvSpPr>
          <p:spPr>
            <a:xfrm>
              <a:off x="5284887" y="2964656"/>
              <a:ext cx="441127"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[v21]</a:t>
              </a:r>
            </a:p>
          </p:txBody>
        </p:sp>
        <p:sp>
          <p:nvSpPr>
            <p:cNvPr id="24" name="TextBox 24"/>
            <p:cNvSpPr txBox="1"/>
            <p:nvPr/>
          </p:nvSpPr>
          <p:spPr>
            <a:xfrm>
              <a:off x="5284887" y="3212306"/>
              <a:ext cx="441127"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[v22]</a:t>
              </a:r>
            </a:p>
          </p:txBody>
        </p:sp>
        <p:sp>
          <p:nvSpPr>
            <p:cNvPr id="25" name="TextBox 25"/>
            <p:cNvSpPr txBox="1"/>
            <p:nvPr/>
          </p:nvSpPr>
          <p:spPr>
            <a:xfrm>
              <a:off x="5284887" y="3459956"/>
              <a:ext cx="441127"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[v23]</a:t>
              </a:r>
            </a:p>
          </p:txBody>
        </p:sp>
        <p:sp>
          <p:nvSpPr>
            <p:cNvPr id="26" name="TextBox 26"/>
            <p:cNvSpPr txBox="1"/>
            <p:nvPr/>
          </p:nvSpPr>
          <p:spPr>
            <a:xfrm>
              <a:off x="6264592" y="2918936"/>
              <a:ext cx="170331" cy="350520"/>
            </a:xfrm>
            <a:prstGeom prst="rect">
              <a:avLst/>
            </a:prstGeom>
            <a:noFill/>
            <a:ln>
              <a:noFill/>
            </a:ln>
          </p:spPr>
          <p:txBody>
            <a:bodyPr wrap="none" lIns="0" tIns="0" rIns="0" bIns="0" anchor="t" anchorCtr="0">
              <a:spAutoFit/>
            </a:bodyPr>
            <a:lstStyle/>
            <a:p>
              <a:pPr algn="l"/>
              <a:r>
                <a:rPr lang="zh-CN" sz="1725" dirty="0">
                  <a:solidFill>
                    <a:srgbClr val="FFCB6B"/>
                  </a:solidFill>
                  <a:latin typeface="Consolas"/>
                  <a:ea typeface="Microsoft YaHei"/>
                  <a:cs typeface="Consolas"/>
                </a:rPr>
                <a:t>+</a:t>
              </a:r>
            </a:p>
          </p:txBody>
        </p:sp>
        <p:sp>
          <p:nvSpPr>
            <p:cNvPr id="27" name="Rectangle 27"/>
            <p:cNvSpPr/>
            <p:nvPr/>
          </p:nvSpPr>
          <p:spPr>
            <a:xfrm>
              <a:off x="6667500" y="2400300"/>
              <a:ext cx="1104900" cy="1390650"/>
            </a:xfrm>
            <a:prstGeom prst="roundRect">
              <a:avLst>
                <a:gd name="adj" fmla="val 10345"/>
              </a:avLst>
            </a:prstGeom>
            <a:solidFill>
              <a:srgbClr val="1D2740"/>
            </a:solidFill>
            <a:ln w="28575">
              <a:solidFill>
                <a:srgbClr val="8AB4FF"/>
              </a:solidFill>
            </a:ln>
          </p:spPr>
        </p:sp>
        <p:sp>
          <p:nvSpPr>
            <p:cNvPr id="28" name="TextBox 28"/>
            <p:cNvSpPr txBox="1"/>
            <p:nvPr/>
          </p:nvSpPr>
          <p:spPr>
            <a:xfrm>
              <a:off x="7110246" y="2586514"/>
              <a:ext cx="219408" cy="259080"/>
            </a:xfrm>
            <a:prstGeom prst="rect">
              <a:avLst/>
            </a:prstGeom>
            <a:noFill/>
            <a:ln>
              <a:noFill/>
            </a:ln>
          </p:spPr>
          <p:txBody>
            <a:bodyPr wrap="none" lIns="0" tIns="0" rIns="0" bIns="0" anchor="t" anchorCtr="0">
              <a:spAutoFit/>
            </a:bodyPr>
            <a:lstStyle/>
            <a:p>
              <a:pPr algn="ctr"/>
              <a:r>
                <a:rPr lang="zh-CN" sz="1275" dirty="0">
                  <a:solidFill>
                    <a:srgbClr val="F7F8FA"/>
                  </a:solidFill>
                  <a:latin typeface="Consolas"/>
                  <a:ea typeface="Microsoft YaHei"/>
                  <a:cs typeface="Consolas"/>
                </a:rPr>
                <a:t>V3</a:t>
              </a:r>
            </a:p>
          </p:txBody>
        </p:sp>
        <p:sp>
          <p:nvSpPr>
            <p:cNvPr id="29" name="TextBox 29"/>
            <p:cNvSpPr txBox="1"/>
            <p:nvPr/>
          </p:nvSpPr>
          <p:spPr>
            <a:xfrm>
              <a:off x="6999387" y="2964656"/>
              <a:ext cx="441127"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[v31]</a:t>
              </a:r>
            </a:p>
          </p:txBody>
        </p:sp>
        <p:sp>
          <p:nvSpPr>
            <p:cNvPr id="30" name="TextBox 30"/>
            <p:cNvSpPr txBox="1"/>
            <p:nvPr/>
          </p:nvSpPr>
          <p:spPr>
            <a:xfrm>
              <a:off x="6999387" y="3212306"/>
              <a:ext cx="441127"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[v32]</a:t>
              </a:r>
            </a:p>
          </p:txBody>
        </p:sp>
        <p:sp>
          <p:nvSpPr>
            <p:cNvPr id="31" name="TextBox 31"/>
            <p:cNvSpPr txBox="1"/>
            <p:nvPr/>
          </p:nvSpPr>
          <p:spPr>
            <a:xfrm>
              <a:off x="6999387" y="3459956"/>
              <a:ext cx="441127"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[v33]</a:t>
              </a:r>
            </a:p>
          </p:txBody>
        </p:sp>
        <p:sp>
          <p:nvSpPr>
            <p:cNvPr id="32" name="TextBox 32"/>
            <p:cNvSpPr txBox="1"/>
            <p:nvPr/>
          </p:nvSpPr>
          <p:spPr>
            <a:xfrm>
              <a:off x="7979092" y="2918936"/>
              <a:ext cx="170331" cy="350520"/>
            </a:xfrm>
            <a:prstGeom prst="rect">
              <a:avLst/>
            </a:prstGeom>
            <a:noFill/>
            <a:ln>
              <a:noFill/>
            </a:ln>
          </p:spPr>
          <p:txBody>
            <a:bodyPr wrap="none" lIns="0" tIns="0" rIns="0" bIns="0" anchor="t" anchorCtr="0">
              <a:spAutoFit/>
            </a:bodyPr>
            <a:lstStyle/>
            <a:p>
              <a:pPr algn="l"/>
              <a:r>
                <a:rPr lang="zh-CN" sz="1725" dirty="0">
                  <a:solidFill>
                    <a:srgbClr val="FFCB6B"/>
                  </a:solidFill>
                  <a:latin typeface="Consolas"/>
                  <a:ea typeface="Microsoft YaHei"/>
                  <a:cs typeface="Consolas"/>
                </a:rPr>
                <a:t>+</a:t>
              </a:r>
            </a:p>
          </p:txBody>
        </p:sp>
        <p:sp>
          <p:nvSpPr>
            <p:cNvPr id="33" name="Rectangle 33"/>
            <p:cNvSpPr/>
            <p:nvPr/>
          </p:nvSpPr>
          <p:spPr>
            <a:xfrm>
              <a:off x="8382000" y="2400300"/>
              <a:ext cx="1104900" cy="1390650"/>
            </a:xfrm>
            <a:prstGeom prst="roundRect">
              <a:avLst>
                <a:gd name="adj" fmla="val 10345"/>
              </a:avLst>
            </a:prstGeom>
            <a:solidFill>
              <a:srgbClr val="1D2740"/>
            </a:solidFill>
            <a:ln w="28575">
              <a:solidFill>
                <a:srgbClr val="8AB4FF"/>
              </a:solidFill>
            </a:ln>
          </p:spPr>
        </p:sp>
        <p:sp>
          <p:nvSpPr>
            <p:cNvPr id="34" name="TextBox 34"/>
            <p:cNvSpPr txBox="1"/>
            <p:nvPr/>
          </p:nvSpPr>
          <p:spPr>
            <a:xfrm>
              <a:off x="8824746" y="2586514"/>
              <a:ext cx="219408" cy="259080"/>
            </a:xfrm>
            <a:prstGeom prst="rect">
              <a:avLst/>
            </a:prstGeom>
            <a:noFill/>
            <a:ln>
              <a:noFill/>
            </a:ln>
          </p:spPr>
          <p:txBody>
            <a:bodyPr wrap="none" lIns="0" tIns="0" rIns="0" bIns="0" anchor="t" anchorCtr="0">
              <a:spAutoFit/>
            </a:bodyPr>
            <a:lstStyle/>
            <a:p>
              <a:pPr algn="ctr"/>
              <a:r>
                <a:rPr lang="zh-CN" sz="1275" dirty="0">
                  <a:solidFill>
                    <a:srgbClr val="F7F8FA"/>
                  </a:solidFill>
                  <a:latin typeface="Consolas"/>
                  <a:ea typeface="Microsoft YaHei"/>
                  <a:cs typeface="Consolas"/>
                </a:rPr>
                <a:t>V4</a:t>
              </a:r>
            </a:p>
          </p:txBody>
        </p:sp>
        <p:sp>
          <p:nvSpPr>
            <p:cNvPr id="35" name="TextBox 35"/>
            <p:cNvSpPr txBox="1"/>
            <p:nvPr/>
          </p:nvSpPr>
          <p:spPr>
            <a:xfrm>
              <a:off x="8713887" y="2964656"/>
              <a:ext cx="441127"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[v41]</a:t>
              </a:r>
            </a:p>
          </p:txBody>
        </p:sp>
        <p:sp>
          <p:nvSpPr>
            <p:cNvPr id="36" name="TextBox 36"/>
            <p:cNvSpPr txBox="1"/>
            <p:nvPr/>
          </p:nvSpPr>
          <p:spPr>
            <a:xfrm>
              <a:off x="8713887" y="3212306"/>
              <a:ext cx="441127"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[v42]</a:t>
              </a:r>
            </a:p>
          </p:txBody>
        </p:sp>
        <p:sp>
          <p:nvSpPr>
            <p:cNvPr id="37" name="TextBox 37"/>
            <p:cNvSpPr txBox="1"/>
            <p:nvPr/>
          </p:nvSpPr>
          <p:spPr>
            <a:xfrm>
              <a:off x="8713887" y="3459956"/>
              <a:ext cx="441127"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[v43]</a:t>
              </a:r>
            </a:p>
          </p:txBody>
        </p:sp>
        <p:sp>
          <p:nvSpPr>
            <p:cNvPr id="38" name="Freeform 38"/>
            <p:cNvSpPr/>
            <p:nvPr/>
          </p:nvSpPr>
          <p:spPr>
            <a:xfrm>
              <a:off x="9582150" y="3095625"/>
              <a:ext cx="533400" cy="9525"/>
            </a:xfrm>
            <a:custGeom>
              <a:avLst/>
              <a:gdLst/>
              <a:ahLst/>
              <a:cxnLst/>
              <a:rect l="l" t="t" r="r" b="b"/>
              <a:pathLst>
                <a:path w="533400" h="9525">
                  <a:moveTo>
                    <a:pt x="0" y="0"/>
                  </a:moveTo>
                  <a:lnTo>
                    <a:pt x="533400" y="0"/>
                  </a:lnTo>
                </a:path>
              </a:pathLst>
            </a:custGeom>
            <a:noFill/>
            <a:ln w="47625">
              <a:solidFill>
                <a:srgbClr val="7CFFB2"/>
              </a:solidFill>
              <a:tailEnd type="triangle" w="lg" len="lg"/>
            </a:ln>
          </p:spPr>
        </p:sp>
        <p:sp>
          <p:nvSpPr>
            <p:cNvPr id="39" name="Rectangle 39"/>
            <p:cNvSpPr/>
            <p:nvPr/>
          </p:nvSpPr>
          <p:spPr>
            <a:xfrm>
              <a:off x="10248900" y="2571750"/>
              <a:ext cx="933450" cy="1047750"/>
            </a:xfrm>
            <a:prstGeom prst="roundRect">
              <a:avLst>
                <a:gd name="adj" fmla="val 12245"/>
              </a:avLst>
            </a:prstGeom>
            <a:solidFill>
              <a:srgbClr val="1D2740"/>
            </a:solidFill>
            <a:ln w="28575">
              <a:solidFill>
                <a:srgbClr val="7CFFB2"/>
              </a:solidFill>
            </a:ln>
          </p:spPr>
        </p:sp>
        <p:sp>
          <p:nvSpPr>
            <p:cNvPr id="40" name="TextBox 40"/>
            <p:cNvSpPr txBox="1"/>
            <p:nvPr/>
          </p:nvSpPr>
          <p:spPr>
            <a:xfrm>
              <a:off x="10512409" y="2815114"/>
              <a:ext cx="406432" cy="259080"/>
            </a:xfrm>
            <a:prstGeom prst="rect">
              <a:avLst/>
            </a:prstGeom>
            <a:noFill/>
            <a:ln>
              <a:noFill/>
            </a:ln>
          </p:spPr>
          <p:txBody>
            <a:bodyPr wrap="none" lIns="0" tIns="0" rIns="0" bIns="0" anchor="t" anchorCtr="0">
              <a:spAutoFit/>
            </a:bodyPr>
            <a:lstStyle/>
            <a:p>
              <a:pPr algn="ctr"/>
              <a:r>
                <a:rPr lang="zh-CN" sz="1275" dirty="0">
                  <a:solidFill>
                    <a:srgbClr val="F7F8FA"/>
                  </a:solidFill>
                  <a:latin typeface="Consolas"/>
                  <a:ea typeface="Microsoft YaHei"/>
                  <a:cs typeface="Consolas"/>
                </a:rPr>
                <a:t>out2</a:t>
              </a:r>
            </a:p>
          </p:txBody>
        </p:sp>
        <p:sp>
          <p:nvSpPr>
            <p:cNvPr id="41" name="TextBox 41"/>
            <p:cNvSpPr txBox="1"/>
            <p:nvPr/>
          </p:nvSpPr>
          <p:spPr>
            <a:xfrm>
              <a:off x="10495062" y="3136106"/>
              <a:ext cx="441127"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[1,3]</a:t>
              </a:r>
            </a:p>
          </p:txBody>
        </p:sp>
      </p:grpSp>
      <p:grpSp>
        <p:nvGrpSpPr>
          <p:cNvPr id="45" name="Group 45"/>
          <p:cNvGrpSpPr/>
          <p:nvPr/>
        </p:nvGrpSpPr>
        <p:grpSpPr>
          <a:xfrm>
            <a:off x="1771650" y="5524500"/>
            <a:ext cx="8648700" cy="495300"/>
            <a:chOff x="1771650" y="5524500"/>
            <a:chExt cx="8648700" cy="495300"/>
          </a:xfrm>
        </p:grpSpPr>
        <p:sp>
          <p:nvSpPr>
            <p:cNvPr id="43" name="Rectangle 43"/>
            <p:cNvSpPr/>
            <p:nvPr/>
          </p:nvSpPr>
          <p:spPr>
            <a:xfrm>
              <a:off x="1771650" y="5524500"/>
              <a:ext cx="8648700" cy="495300"/>
            </a:xfrm>
            <a:prstGeom prst="roundRect">
              <a:avLst>
                <a:gd name="adj" fmla="val 23077"/>
              </a:avLst>
            </a:prstGeom>
            <a:solidFill>
              <a:srgbClr val="1D2740"/>
            </a:solidFill>
            <a:ln w="19050">
              <a:solidFill>
                <a:srgbClr val="3A4668"/>
              </a:solidFill>
            </a:ln>
          </p:spPr>
        </p:sp>
        <p:sp>
          <p:nvSpPr>
            <p:cNvPr id="44" name="TextBox 44"/>
            <p:cNvSpPr txBox="1"/>
            <p:nvPr/>
          </p:nvSpPr>
          <p:spPr>
            <a:xfrm>
              <a:off x="3164081" y="5651182"/>
              <a:ext cx="5863838" cy="335280"/>
            </a:xfrm>
            <a:prstGeom prst="rect">
              <a:avLst/>
            </a:prstGeom>
            <a:noFill/>
            <a:ln>
              <a:noFill/>
            </a:ln>
          </p:spPr>
          <p:txBody>
            <a:bodyPr wrap="none" lIns="0" tIns="0" rIns="0" bIns="0" anchor="t" anchorCtr="0">
              <a:spAutoFit/>
            </a:bodyPr>
            <a:lstStyle/>
            <a:p>
              <a:pPr algn="ctr"/>
              <a:r>
                <a:rPr lang="zh-CN" sz="1650" b="1" dirty="0">
                  <a:solidFill>
                    <a:srgbClr val="FFCB6B"/>
                  </a:solidFill>
                  <a:latin typeface="Consolas"/>
                  <a:ea typeface="Microsoft YaHei"/>
                  <a:cs typeface="Consolas"/>
                </a:rPr>
                <a:t>head_output = weights V, so [4,4] x [4,3] -&gt; [4,3]</a:t>
              </a:r>
            </a:p>
          </p:txBody>
        </p:sp>
      </p:grpSp>
      <p:sp>
        <p:nvSpPr>
          <p:cNvPr id="46" name="TextBox 46"/>
          <p:cNvSpPr txBox="1"/>
          <p:nvPr/>
        </p:nvSpPr>
        <p:spPr>
          <a:xfrm>
            <a:off x="501968" y="6314599"/>
            <a:ext cx="6070521" cy="198120"/>
          </a:xfrm>
          <a:prstGeom prst="rect">
            <a:avLst/>
          </a:prstGeom>
          <a:noFill/>
          <a:ln>
            <a:noFill/>
          </a:ln>
        </p:spPr>
        <p:txBody>
          <a:bodyPr wrap="none" lIns="0" tIns="0" rIns="0" bIns="0" anchor="t" anchorCtr="0">
            <a:spAutoFit/>
          </a:bodyPr>
          <a:lstStyle/>
          <a:p>
            <a:pPr algn="l"/>
            <a:r>
              <a:rPr lang="zh-CN" sz="975" dirty="0">
                <a:solidFill>
                  <a:srgbClr val="AAB6D3"/>
                </a:solidFill>
                <a:latin typeface="Arial"/>
                <a:ea typeface="Microsoft YaHei"/>
                <a:cs typeface="Arial"/>
              </a:rPr>
              <a:t>One output vector is produced per token; it is contextualized by the row's attention weights.</a:t>
            </a:r>
          </a:p>
        </p:txBody>
      </p:sp>
      <p:sp>
        <p:nvSpPr>
          <p:cNvPr id="47" name="TextBox 47"/>
          <p:cNvSpPr txBox="1"/>
          <p:nvPr/>
        </p:nvSpPr>
        <p:spPr>
          <a:xfrm>
            <a:off x="11398568" y="6314599"/>
            <a:ext cx="460319"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06 / 10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slide(fromBottom)">
                                      <p:cBhvr>
                                        <p:cTn id="7" dur="400"/>
                                        <p:tgtEl>
                                          <p:spTgt spid="4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C1020"/>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73149"/>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73149"/>
            </a:solidFill>
          </a:ln>
        </p:spPr>
      </p:sp>
      <p:grpSp>
        <p:nvGrpSpPr>
          <p:cNvPr id="8" name="Group 8"/>
          <p:cNvGrpSpPr/>
          <p:nvPr/>
        </p:nvGrpSpPr>
        <p:grpSpPr>
          <a:xfrm>
            <a:off x="482918" y="342424"/>
            <a:ext cx="11194732" cy="772001"/>
            <a:chOff x="482918" y="342424"/>
            <a:chExt cx="11194732" cy="772001"/>
          </a:xfrm>
        </p:grpSpPr>
        <p:sp>
          <p:nvSpPr>
            <p:cNvPr id="5" name="TextBox 5"/>
            <p:cNvSpPr txBox="1"/>
            <p:nvPr/>
          </p:nvSpPr>
          <p:spPr>
            <a:xfrm>
              <a:off x="482918" y="342424"/>
              <a:ext cx="7912071" cy="502920"/>
            </a:xfrm>
            <a:prstGeom prst="rect">
              <a:avLst/>
            </a:prstGeom>
            <a:noFill/>
            <a:ln>
              <a:noFill/>
            </a:ln>
          </p:spPr>
          <p:txBody>
            <a:bodyPr wrap="none" lIns="0" tIns="0" rIns="0" bIns="0" anchor="t" anchorCtr="0">
              <a:spAutoFit/>
            </a:bodyPr>
            <a:lstStyle/>
            <a:p>
              <a:pPr algn="l"/>
              <a:r>
                <a:rPr lang="zh-CN" sz="2475" b="1" dirty="0">
                  <a:solidFill>
                    <a:srgbClr val="F7F8FA"/>
                  </a:solidFill>
                  <a:latin typeface="Arial"/>
                  <a:ea typeface="Microsoft YaHei"/>
                  <a:cs typeface="Arial"/>
                </a:rPr>
                <a:t>Multi-Head Attention Splits Work Across Heads</a:t>
              </a:r>
            </a:p>
          </p:txBody>
        </p:sp>
        <p:sp>
          <p:nvSpPr>
            <p:cNvPr id="6" name="TextBox 6"/>
            <p:cNvSpPr txBox="1"/>
            <p:nvPr/>
          </p:nvSpPr>
          <p:spPr>
            <a:xfrm>
              <a:off x="497205" y="768668"/>
              <a:ext cx="5065919" cy="274320"/>
            </a:xfrm>
            <a:prstGeom prst="rect">
              <a:avLst/>
            </a:prstGeom>
            <a:noFill/>
            <a:ln>
              <a:noFill/>
            </a:ln>
          </p:spPr>
          <p:txBody>
            <a:bodyPr wrap="none" lIns="0" tIns="0" rIns="0" bIns="0" anchor="t" anchorCtr="0">
              <a:spAutoFit/>
            </a:bodyPr>
            <a:lstStyle/>
            <a:p>
              <a:pPr algn="l"/>
              <a:r>
                <a:rPr lang="zh-CN" sz="1350" dirty="0">
                  <a:solidFill>
                    <a:srgbClr val="AAB6D3"/>
                  </a:solidFill>
                  <a:latin typeface="Arial"/>
                  <a:ea typeface="Microsoft YaHei"/>
                  <a:cs typeface="Arial"/>
                </a:rPr>
                <a:t>Toy setup: num_heads = 2, d_model = 6, d_k = 3 per head.</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A4668"/>
              </a:solidFill>
            </a:ln>
          </p:spPr>
        </p:sp>
      </p:grpSp>
      <p:grpSp>
        <p:nvGrpSpPr>
          <p:cNvPr id="39" name="Group 39"/>
          <p:cNvGrpSpPr/>
          <p:nvPr/>
        </p:nvGrpSpPr>
        <p:grpSpPr>
          <a:xfrm>
            <a:off x="685800" y="2095500"/>
            <a:ext cx="11087100" cy="2628900"/>
            <a:chOff x="685800" y="2095500"/>
            <a:chExt cx="11087100" cy="2628900"/>
          </a:xfrm>
        </p:grpSpPr>
        <p:sp>
          <p:nvSpPr>
            <p:cNvPr id="9" name="Rectangle 9"/>
            <p:cNvSpPr/>
            <p:nvPr/>
          </p:nvSpPr>
          <p:spPr>
            <a:xfrm>
              <a:off x="685800" y="2609850"/>
              <a:ext cx="1409700" cy="1123950"/>
            </a:xfrm>
            <a:prstGeom prst="roundRect">
              <a:avLst>
                <a:gd name="adj" fmla="val 11864"/>
              </a:avLst>
            </a:prstGeom>
            <a:solidFill>
              <a:srgbClr val="141A2E"/>
            </a:solidFill>
            <a:ln w="28575">
              <a:solidFill>
                <a:srgbClr val="8AB4FF"/>
              </a:solidFill>
            </a:ln>
          </p:spPr>
        </p:sp>
        <p:sp>
          <p:nvSpPr>
            <p:cNvPr id="10" name="TextBox 10"/>
            <p:cNvSpPr txBox="1"/>
            <p:nvPr/>
          </p:nvSpPr>
          <p:spPr>
            <a:xfrm>
              <a:off x="1313843" y="2847975"/>
              <a:ext cx="153614" cy="304800"/>
            </a:xfrm>
            <a:prstGeom prst="rect">
              <a:avLst/>
            </a:prstGeom>
            <a:noFill/>
            <a:ln>
              <a:noFill/>
            </a:ln>
          </p:spPr>
          <p:txBody>
            <a:bodyPr wrap="none" lIns="0" tIns="0" rIns="0" bIns="0" anchor="t" anchorCtr="0">
              <a:spAutoFit/>
            </a:bodyPr>
            <a:lstStyle/>
            <a:p>
              <a:pPr algn="ctr"/>
              <a:r>
                <a:rPr lang="zh-CN" sz="1500" b="1" dirty="0">
                  <a:solidFill>
                    <a:srgbClr val="F7F8FA"/>
                  </a:solidFill>
                  <a:latin typeface="Consolas"/>
                  <a:ea typeface="Microsoft YaHei"/>
                  <a:cs typeface="Consolas"/>
                </a:rPr>
                <a:t>X</a:t>
              </a:r>
            </a:p>
          </p:txBody>
        </p:sp>
        <p:sp>
          <p:nvSpPr>
            <p:cNvPr id="11" name="TextBox 11"/>
            <p:cNvSpPr txBox="1"/>
            <p:nvPr/>
          </p:nvSpPr>
          <p:spPr>
            <a:xfrm>
              <a:off x="1140678" y="3196114"/>
              <a:ext cx="499943" cy="259080"/>
            </a:xfrm>
            <a:prstGeom prst="rect">
              <a:avLst/>
            </a:prstGeom>
            <a:noFill/>
            <a:ln>
              <a:noFill/>
            </a:ln>
          </p:spPr>
          <p:txBody>
            <a:bodyPr wrap="none" lIns="0" tIns="0" rIns="0" bIns="0" anchor="t" anchorCtr="0">
              <a:spAutoFit/>
            </a:bodyPr>
            <a:lstStyle/>
            <a:p>
              <a:pPr algn="ctr"/>
              <a:r>
                <a:rPr lang="zh-CN" sz="1275" dirty="0">
                  <a:solidFill>
                    <a:srgbClr val="AAB6D3"/>
                  </a:solidFill>
                  <a:latin typeface="Consolas"/>
                  <a:ea typeface="Microsoft YaHei"/>
                  <a:cs typeface="Consolas"/>
                </a:rPr>
                <a:t>[4,6]</a:t>
              </a:r>
            </a:p>
          </p:txBody>
        </p:sp>
        <p:sp>
          <p:nvSpPr>
            <p:cNvPr id="12" name="Freeform 12"/>
            <p:cNvSpPr/>
            <p:nvPr/>
          </p:nvSpPr>
          <p:spPr>
            <a:xfrm>
              <a:off x="2171700" y="3171825"/>
              <a:ext cx="723900" cy="9525"/>
            </a:xfrm>
            <a:custGeom>
              <a:avLst/>
              <a:gdLst/>
              <a:ahLst/>
              <a:cxnLst/>
              <a:rect l="l" t="t" r="r" b="b"/>
              <a:pathLst>
                <a:path w="723900" h="9525">
                  <a:moveTo>
                    <a:pt x="0" y="0"/>
                  </a:moveTo>
                  <a:lnTo>
                    <a:pt x="723900" y="0"/>
                  </a:lnTo>
                </a:path>
              </a:pathLst>
            </a:custGeom>
            <a:noFill/>
            <a:ln w="47625">
              <a:solidFill>
                <a:srgbClr val="C792EA"/>
              </a:solidFill>
              <a:tailEnd type="triangle" w="lg" len="lg"/>
            </a:ln>
          </p:spPr>
        </p:sp>
        <p:sp>
          <p:nvSpPr>
            <p:cNvPr id="13" name="Rectangle 13"/>
            <p:cNvSpPr/>
            <p:nvPr/>
          </p:nvSpPr>
          <p:spPr>
            <a:xfrm>
              <a:off x="3028950" y="2095500"/>
              <a:ext cx="2038350" cy="1066800"/>
            </a:xfrm>
            <a:prstGeom prst="roundRect">
              <a:avLst>
                <a:gd name="adj" fmla="val 12500"/>
              </a:avLst>
            </a:prstGeom>
            <a:solidFill>
              <a:srgbClr val="141A2E"/>
            </a:solidFill>
            <a:ln w="28575">
              <a:solidFill>
                <a:srgbClr val="C792EA"/>
              </a:solidFill>
            </a:ln>
          </p:spPr>
        </p:sp>
        <p:sp>
          <p:nvSpPr>
            <p:cNvPr id="14" name="TextBox 14"/>
            <p:cNvSpPr txBox="1"/>
            <p:nvPr/>
          </p:nvSpPr>
          <p:spPr>
            <a:xfrm>
              <a:off x="3674851" y="2279332"/>
              <a:ext cx="746548" cy="335280"/>
            </a:xfrm>
            <a:prstGeom prst="rect">
              <a:avLst/>
            </a:prstGeom>
            <a:noFill/>
            <a:ln>
              <a:noFill/>
            </a:ln>
          </p:spPr>
          <p:txBody>
            <a:bodyPr wrap="none" lIns="0" tIns="0" rIns="0" bIns="0" anchor="t" anchorCtr="0">
              <a:spAutoFit/>
            </a:bodyPr>
            <a:lstStyle/>
            <a:p>
              <a:pPr algn="ctr"/>
              <a:r>
                <a:rPr lang="zh-CN" sz="1650" b="1" dirty="0">
                  <a:solidFill>
                    <a:srgbClr val="F7F8FA"/>
                  </a:solidFill>
                  <a:latin typeface="Arial"/>
                  <a:ea typeface="Microsoft YaHei"/>
                  <a:cs typeface="Arial"/>
                </a:rPr>
                <a:t>Head 1</a:t>
              </a:r>
            </a:p>
          </p:txBody>
        </p:sp>
        <p:sp>
          <p:nvSpPr>
            <p:cNvPr id="15" name="TextBox 15"/>
            <p:cNvSpPr txBox="1"/>
            <p:nvPr/>
          </p:nvSpPr>
          <p:spPr>
            <a:xfrm>
              <a:off x="3396258" y="2640806"/>
              <a:ext cx="1303734"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Q/K/V each [4,3]</a:t>
              </a:r>
            </a:p>
          </p:txBody>
        </p:sp>
        <p:sp>
          <p:nvSpPr>
            <p:cNvPr id="16" name="TextBox 16"/>
            <p:cNvSpPr txBox="1"/>
            <p:nvPr/>
          </p:nvSpPr>
          <p:spPr>
            <a:xfrm>
              <a:off x="3334702" y="2877502"/>
              <a:ext cx="1426845" cy="213360"/>
            </a:xfrm>
            <a:prstGeom prst="rect">
              <a:avLst/>
            </a:prstGeom>
            <a:noFill/>
            <a:ln>
              <a:noFill/>
            </a:ln>
          </p:spPr>
          <p:txBody>
            <a:bodyPr wrap="none" lIns="0" tIns="0" rIns="0" bIns="0" anchor="t" anchorCtr="0">
              <a:spAutoFit/>
            </a:bodyPr>
            <a:lstStyle/>
            <a:p>
              <a:pPr algn="ctr"/>
              <a:r>
                <a:rPr lang="zh-CN" sz="1050" dirty="0">
                  <a:solidFill>
                    <a:srgbClr val="AAB6D3"/>
                  </a:solidFill>
                  <a:latin typeface="Arial"/>
                  <a:ea typeface="Microsoft YaHei"/>
                  <a:cs typeface="Arial"/>
                </a:rPr>
                <a:t>one relation pattern</a:t>
              </a:r>
            </a:p>
          </p:txBody>
        </p:sp>
        <p:sp>
          <p:nvSpPr>
            <p:cNvPr id="17" name="Rectangle 17"/>
            <p:cNvSpPr/>
            <p:nvPr/>
          </p:nvSpPr>
          <p:spPr>
            <a:xfrm>
              <a:off x="3028950" y="3657600"/>
              <a:ext cx="2038350" cy="1066800"/>
            </a:xfrm>
            <a:prstGeom prst="roundRect">
              <a:avLst>
                <a:gd name="adj" fmla="val 12500"/>
              </a:avLst>
            </a:prstGeom>
            <a:solidFill>
              <a:srgbClr val="141A2E"/>
            </a:solidFill>
            <a:ln w="28575">
              <a:solidFill>
                <a:srgbClr val="C792EA"/>
              </a:solidFill>
            </a:ln>
          </p:spPr>
        </p:sp>
        <p:sp>
          <p:nvSpPr>
            <p:cNvPr id="18" name="TextBox 18"/>
            <p:cNvSpPr txBox="1"/>
            <p:nvPr/>
          </p:nvSpPr>
          <p:spPr>
            <a:xfrm>
              <a:off x="3674851" y="3841432"/>
              <a:ext cx="746548" cy="335280"/>
            </a:xfrm>
            <a:prstGeom prst="rect">
              <a:avLst/>
            </a:prstGeom>
            <a:noFill/>
            <a:ln>
              <a:noFill/>
            </a:ln>
          </p:spPr>
          <p:txBody>
            <a:bodyPr wrap="none" lIns="0" tIns="0" rIns="0" bIns="0" anchor="t" anchorCtr="0">
              <a:spAutoFit/>
            </a:bodyPr>
            <a:lstStyle/>
            <a:p>
              <a:pPr algn="ctr"/>
              <a:r>
                <a:rPr lang="zh-CN" sz="1650" b="1" dirty="0">
                  <a:solidFill>
                    <a:srgbClr val="F7F8FA"/>
                  </a:solidFill>
                  <a:latin typeface="Arial"/>
                  <a:ea typeface="Microsoft YaHei"/>
                  <a:cs typeface="Arial"/>
                </a:rPr>
                <a:t>Head 2</a:t>
              </a:r>
            </a:p>
          </p:txBody>
        </p:sp>
        <p:sp>
          <p:nvSpPr>
            <p:cNvPr id="19" name="TextBox 19"/>
            <p:cNvSpPr txBox="1"/>
            <p:nvPr/>
          </p:nvSpPr>
          <p:spPr>
            <a:xfrm>
              <a:off x="3396258" y="4202906"/>
              <a:ext cx="1303734"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Q/K/V each [4,3]</a:t>
              </a:r>
            </a:p>
          </p:txBody>
        </p:sp>
        <p:sp>
          <p:nvSpPr>
            <p:cNvPr id="20" name="TextBox 20"/>
            <p:cNvSpPr txBox="1"/>
            <p:nvPr/>
          </p:nvSpPr>
          <p:spPr>
            <a:xfrm>
              <a:off x="3180683" y="4439602"/>
              <a:ext cx="1734884" cy="213360"/>
            </a:xfrm>
            <a:prstGeom prst="rect">
              <a:avLst/>
            </a:prstGeom>
            <a:noFill/>
            <a:ln>
              <a:noFill/>
            </a:ln>
          </p:spPr>
          <p:txBody>
            <a:bodyPr wrap="none" lIns="0" tIns="0" rIns="0" bIns="0" anchor="t" anchorCtr="0">
              <a:spAutoFit/>
            </a:bodyPr>
            <a:lstStyle/>
            <a:p>
              <a:pPr algn="ctr"/>
              <a:r>
                <a:rPr lang="zh-CN" sz="1050" dirty="0">
                  <a:solidFill>
                    <a:srgbClr val="AAB6D3"/>
                  </a:solidFill>
                  <a:latin typeface="Arial"/>
                  <a:ea typeface="Microsoft YaHei"/>
                  <a:cs typeface="Arial"/>
                </a:rPr>
                <a:t>another relation pattern</a:t>
              </a:r>
            </a:p>
          </p:txBody>
        </p:sp>
        <p:sp>
          <p:nvSpPr>
            <p:cNvPr id="21" name="Freeform 21"/>
            <p:cNvSpPr/>
            <p:nvPr/>
          </p:nvSpPr>
          <p:spPr>
            <a:xfrm>
              <a:off x="5067300" y="2628900"/>
              <a:ext cx="914400" cy="9525"/>
            </a:xfrm>
            <a:custGeom>
              <a:avLst/>
              <a:gdLst/>
              <a:ahLst/>
              <a:cxnLst/>
              <a:rect l="l" t="t" r="r" b="b"/>
              <a:pathLst>
                <a:path w="914400" h="9525">
                  <a:moveTo>
                    <a:pt x="0" y="0"/>
                  </a:moveTo>
                  <a:lnTo>
                    <a:pt x="914400" y="0"/>
                  </a:lnTo>
                </a:path>
              </a:pathLst>
            </a:custGeom>
            <a:noFill/>
            <a:ln w="47625">
              <a:solidFill>
                <a:srgbClr val="7CFFB2"/>
              </a:solidFill>
              <a:tailEnd type="triangle" w="lg" len="lg"/>
            </a:ln>
          </p:spPr>
        </p:sp>
        <p:sp>
          <p:nvSpPr>
            <p:cNvPr id="22" name="Freeform 22"/>
            <p:cNvSpPr/>
            <p:nvPr/>
          </p:nvSpPr>
          <p:spPr>
            <a:xfrm>
              <a:off x="5067300" y="4191000"/>
              <a:ext cx="914400" cy="9525"/>
            </a:xfrm>
            <a:custGeom>
              <a:avLst/>
              <a:gdLst/>
              <a:ahLst/>
              <a:cxnLst/>
              <a:rect l="l" t="t" r="r" b="b"/>
              <a:pathLst>
                <a:path w="914400" h="9525">
                  <a:moveTo>
                    <a:pt x="0" y="0"/>
                  </a:moveTo>
                  <a:lnTo>
                    <a:pt x="914400" y="0"/>
                  </a:lnTo>
                </a:path>
              </a:pathLst>
            </a:custGeom>
            <a:noFill/>
            <a:ln w="47625">
              <a:solidFill>
                <a:srgbClr val="7CFFB2"/>
              </a:solidFill>
              <a:tailEnd type="triangle" w="lg" len="lg"/>
            </a:ln>
          </p:spPr>
        </p:sp>
        <p:sp>
          <p:nvSpPr>
            <p:cNvPr id="23" name="Rectangle 23"/>
            <p:cNvSpPr/>
            <p:nvPr/>
          </p:nvSpPr>
          <p:spPr>
            <a:xfrm>
              <a:off x="6115050" y="2343150"/>
              <a:ext cx="1924050" cy="800100"/>
            </a:xfrm>
            <a:prstGeom prst="roundRect">
              <a:avLst>
                <a:gd name="adj" fmla="val 16667"/>
              </a:avLst>
            </a:prstGeom>
            <a:solidFill>
              <a:srgbClr val="141A2E"/>
            </a:solidFill>
            <a:ln w="28575">
              <a:solidFill>
                <a:srgbClr val="7CFFB2"/>
              </a:solidFill>
            </a:ln>
          </p:spPr>
        </p:sp>
        <p:sp>
          <p:nvSpPr>
            <p:cNvPr id="24" name="TextBox 24"/>
            <p:cNvSpPr txBox="1"/>
            <p:nvPr/>
          </p:nvSpPr>
          <p:spPr>
            <a:xfrm>
              <a:off x="6510284" y="2513171"/>
              <a:ext cx="1133582" cy="289560"/>
            </a:xfrm>
            <a:prstGeom prst="rect">
              <a:avLst/>
            </a:prstGeom>
            <a:noFill/>
            <a:ln>
              <a:noFill/>
            </a:ln>
          </p:spPr>
          <p:txBody>
            <a:bodyPr wrap="none" lIns="0" tIns="0" rIns="0" bIns="0" anchor="t" anchorCtr="0">
              <a:spAutoFit/>
            </a:bodyPr>
            <a:lstStyle/>
            <a:p>
              <a:pPr algn="ctr"/>
              <a:r>
                <a:rPr lang="zh-CN" sz="1425" b="1" dirty="0">
                  <a:solidFill>
                    <a:srgbClr val="F7F8FA"/>
                  </a:solidFill>
                  <a:latin typeface="Consolas"/>
                  <a:ea typeface="Microsoft YaHei"/>
                  <a:cs typeface="Consolas"/>
                </a:rPr>
                <a:t>head_out_1</a:t>
              </a:r>
            </a:p>
          </p:txBody>
        </p:sp>
        <p:sp>
          <p:nvSpPr>
            <p:cNvPr id="25" name="TextBox 25"/>
            <p:cNvSpPr txBox="1"/>
            <p:nvPr/>
          </p:nvSpPr>
          <p:spPr>
            <a:xfrm>
              <a:off x="6856512" y="2793206"/>
              <a:ext cx="441127"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[4,3]</a:t>
              </a:r>
            </a:p>
          </p:txBody>
        </p:sp>
        <p:sp>
          <p:nvSpPr>
            <p:cNvPr id="26" name="Rectangle 26"/>
            <p:cNvSpPr/>
            <p:nvPr/>
          </p:nvSpPr>
          <p:spPr>
            <a:xfrm>
              <a:off x="6115050" y="3905250"/>
              <a:ext cx="1924050" cy="800100"/>
            </a:xfrm>
            <a:prstGeom prst="roundRect">
              <a:avLst>
                <a:gd name="adj" fmla="val 16667"/>
              </a:avLst>
            </a:prstGeom>
            <a:solidFill>
              <a:srgbClr val="141A2E"/>
            </a:solidFill>
            <a:ln w="28575">
              <a:solidFill>
                <a:srgbClr val="7CFFB2"/>
              </a:solidFill>
            </a:ln>
          </p:spPr>
        </p:sp>
        <p:sp>
          <p:nvSpPr>
            <p:cNvPr id="27" name="TextBox 27"/>
            <p:cNvSpPr txBox="1"/>
            <p:nvPr/>
          </p:nvSpPr>
          <p:spPr>
            <a:xfrm>
              <a:off x="6510284" y="4075271"/>
              <a:ext cx="1133582" cy="289560"/>
            </a:xfrm>
            <a:prstGeom prst="rect">
              <a:avLst/>
            </a:prstGeom>
            <a:noFill/>
            <a:ln>
              <a:noFill/>
            </a:ln>
          </p:spPr>
          <p:txBody>
            <a:bodyPr wrap="none" lIns="0" tIns="0" rIns="0" bIns="0" anchor="t" anchorCtr="0">
              <a:spAutoFit/>
            </a:bodyPr>
            <a:lstStyle/>
            <a:p>
              <a:pPr algn="ctr"/>
              <a:r>
                <a:rPr lang="zh-CN" sz="1425" b="1" dirty="0">
                  <a:solidFill>
                    <a:srgbClr val="F7F8FA"/>
                  </a:solidFill>
                  <a:latin typeface="Consolas"/>
                  <a:ea typeface="Microsoft YaHei"/>
                  <a:cs typeface="Consolas"/>
                </a:rPr>
                <a:t>head_out_2</a:t>
              </a:r>
            </a:p>
          </p:txBody>
        </p:sp>
        <p:sp>
          <p:nvSpPr>
            <p:cNvPr id="28" name="TextBox 28"/>
            <p:cNvSpPr txBox="1"/>
            <p:nvPr/>
          </p:nvSpPr>
          <p:spPr>
            <a:xfrm>
              <a:off x="6856512" y="4355306"/>
              <a:ext cx="441127"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Consolas"/>
                  <a:ea typeface="Microsoft YaHei"/>
                  <a:cs typeface="Consolas"/>
                </a:rPr>
                <a:t>[4,3]</a:t>
              </a:r>
            </a:p>
          </p:txBody>
        </p:sp>
        <p:sp>
          <p:nvSpPr>
            <p:cNvPr id="29" name="Freeform 29"/>
            <p:cNvSpPr/>
            <p:nvPr/>
          </p:nvSpPr>
          <p:spPr>
            <a:xfrm>
              <a:off x="8115300" y="2743200"/>
              <a:ext cx="742950" cy="628650"/>
            </a:xfrm>
            <a:custGeom>
              <a:avLst/>
              <a:gdLst/>
              <a:ahLst/>
              <a:cxnLst/>
              <a:rect l="l" t="t" r="r" b="b"/>
              <a:pathLst>
                <a:path w="742950" h="628650">
                  <a:moveTo>
                    <a:pt x="0" y="0"/>
                  </a:moveTo>
                  <a:cubicBezTo>
                    <a:pt x="533400" y="114300"/>
                    <a:pt x="590550" y="381000"/>
                    <a:pt x="742950" y="628650"/>
                  </a:cubicBezTo>
                </a:path>
              </a:pathLst>
            </a:custGeom>
            <a:noFill/>
            <a:ln w="47625">
              <a:solidFill>
                <a:srgbClr val="C792EA"/>
              </a:solidFill>
              <a:tailEnd type="triangle" w="lg" len="lg"/>
            </a:ln>
          </p:spPr>
        </p:sp>
        <p:sp>
          <p:nvSpPr>
            <p:cNvPr id="30" name="Freeform 30"/>
            <p:cNvSpPr/>
            <p:nvPr/>
          </p:nvSpPr>
          <p:spPr>
            <a:xfrm>
              <a:off x="8115300" y="3562350"/>
              <a:ext cx="742950" cy="742950"/>
            </a:xfrm>
            <a:custGeom>
              <a:avLst/>
              <a:gdLst/>
              <a:ahLst/>
              <a:cxnLst/>
              <a:rect l="l" t="t" r="r" b="b"/>
              <a:pathLst>
                <a:path w="742950" h="742950">
                  <a:moveTo>
                    <a:pt x="0" y="742950"/>
                  </a:moveTo>
                  <a:cubicBezTo>
                    <a:pt x="533400" y="609600"/>
                    <a:pt x="590550" y="247650"/>
                    <a:pt x="742950" y="0"/>
                  </a:cubicBezTo>
                </a:path>
              </a:pathLst>
            </a:custGeom>
            <a:noFill/>
            <a:ln w="47625">
              <a:solidFill>
                <a:srgbClr val="C792EA"/>
              </a:solidFill>
              <a:tailEnd type="triangle" w="lg" len="lg"/>
            </a:ln>
          </p:spPr>
        </p:sp>
        <p:sp>
          <p:nvSpPr>
            <p:cNvPr id="31" name="Rectangle 31"/>
            <p:cNvSpPr/>
            <p:nvPr/>
          </p:nvSpPr>
          <p:spPr>
            <a:xfrm>
              <a:off x="8991600" y="2990850"/>
              <a:ext cx="1314450" cy="952500"/>
            </a:xfrm>
            <a:prstGeom prst="roundRect">
              <a:avLst>
                <a:gd name="adj" fmla="val 14000"/>
              </a:avLst>
            </a:prstGeom>
            <a:solidFill>
              <a:srgbClr val="141A2E"/>
            </a:solidFill>
            <a:ln w="28575">
              <a:solidFill>
                <a:srgbClr val="C792EA"/>
              </a:solidFill>
            </a:ln>
          </p:spPr>
        </p:sp>
        <p:sp>
          <p:nvSpPr>
            <p:cNvPr id="32" name="TextBox 32"/>
            <p:cNvSpPr txBox="1"/>
            <p:nvPr/>
          </p:nvSpPr>
          <p:spPr>
            <a:xfrm>
              <a:off x="9264952" y="3182779"/>
              <a:ext cx="767746" cy="320040"/>
            </a:xfrm>
            <a:prstGeom prst="rect">
              <a:avLst/>
            </a:prstGeom>
            <a:noFill/>
            <a:ln>
              <a:noFill/>
            </a:ln>
          </p:spPr>
          <p:txBody>
            <a:bodyPr wrap="none" lIns="0" tIns="0" rIns="0" bIns="0" anchor="t" anchorCtr="0">
              <a:spAutoFit/>
            </a:bodyPr>
            <a:lstStyle/>
            <a:p>
              <a:pPr algn="ctr"/>
              <a:r>
                <a:rPr lang="zh-CN" sz="1575" b="1" dirty="0">
                  <a:solidFill>
                    <a:srgbClr val="F7F8FA"/>
                  </a:solidFill>
                  <a:latin typeface="Arial"/>
                  <a:ea typeface="Microsoft YaHei"/>
                  <a:cs typeface="Arial"/>
                </a:rPr>
                <a:t>Concat</a:t>
              </a:r>
            </a:p>
          </p:txBody>
        </p:sp>
        <p:sp>
          <p:nvSpPr>
            <p:cNvPr id="33" name="TextBox 33"/>
            <p:cNvSpPr txBox="1"/>
            <p:nvPr/>
          </p:nvSpPr>
          <p:spPr>
            <a:xfrm>
              <a:off x="9413558" y="3528060"/>
              <a:ext cx="470535" cy="243840"/>
            </a:xfrm>
            <a:prstGeom prst="rect">
              <a:avLst/>
            </a:prstGeom>
            <a:noFill/>
            <a:ln>
              <a:noFill/>
            </a:ln>
          </p:spPr>
          <p:txBody>
            <a:bodyPr wrap="none" lIns="0" tIns="0" rIns="0" bIns="0" anchor="t" anchorCtr="0">
              <a:spAutoFit/>
            </a:bodyPr>
            <a:lstStyle/>
            <a:p>
              <a:pPr algn="ctr"/>
              <a:r>
                <a:rPr lang="zh-CN" sz="1200" dirty="0">
                  <a:solidFill>
                    <a:srgbClr val="AAB6D3"/>
                  </a:solidFill>
                  <a:latin typeface="Consolas"/>
                  <a:ea typeface="Microsoft YaHei"/>
                  <a:cs typeface="Consolas"/>
                </a:rPr>
                <a:t>[4,6]</a:t>
              </a:r>
            </a:p>
          </p:txBody>
        </p:sp>
        <p:sp>
          <p:nvSpPr>
            <p:cNvPr id="34" name="Freeform 34"/>
            <p:cNvSpPr/>
            <p:nvPr/>
          </p:nvSpPr>
          <p:spPr>
            <a:xfrm>
              <a:off x="10382250" y="3467100"/>
              <a:ext cx="381000" cy="9525"/>
            </a:xfrm>
            <a:custGeom>
              <a:avLst/>
              <a:gdLst/>
              <a:ahLst/>
              <a:cxnLst/>
              <a:rect l="l" t="t" r="r" b="b"/>
              <a:pathLst>
                <a:path w="381000" h="9525">
                  <a:moveTo>
                    <a:pt x="0" y="0"/>
                  </a:moveTo>
                  <a:lnTo>
                    <a:pt x="381000" y="0"/>
                  </a:lnTo>
                </a:path>
              </a:pathLst>
            </a:custGeom>
            <a:noFill/>
            <a:ln w="47625">
              <a:solidFill>
                <a:srgbClr val="7CFFB2"/>
              </a:solidFill>
              <a:tailEnd type="triangle" w="lg" len="lg"/>
            </a:ln>
          </p:spPr>
        </p:sp>
        <p:sp>
          <p:nvSpPr>
            <p:cNvPr id="35" name="Rectangle 35"/>
            <p:cNvSpPr/>
            <p:nvPr/>
          </p:nvSpPr>
          <p:spPr>
            <a:xfrm>
              <a:off x="10896600" y="2857500"/>
              <a:ext cx="876300" cy="1219200"/>
            </a:xfrm>
            <a:prstGeom prst="roundRect">
              <a:avLst>
                <a:gd name="adj" fmla="val 15217"/>
              </a:avLst>
            </a:prstGeom>
            <a:solidFill>
              <a:srgbClr val="141A2E"/>
            </a:solidFill>
            <a:ln w="28575">
              <a:solidFill>
                <a:srgbClr val="FFCB6B"/>
              </a:solidFill>
            </a:ln>
          </p:spPr>
        </p:sp>
        <p:sp>
          <p:nvSpPr>
            <p:cNvPr id="36" name="TextBox 36"/>
            <p:cNvSpPr txBox="1"/>
            <p:nvPr/>
          </p:nvSpPr>
          <p:spPr>
            <a:xfrm>
              <a:off x="11135572" y="3196114"/>
              <a:ext cx="398356" cy="259080"/>
            </a:xfrm>
            <a:prstGeom prst="rect">
              <a:avLst/>
            </a:prstGeom>
            <a:noFill/>
            <a:ln>
              <a:noFill/>
            </a:ln>
          </p:spPr>
          <p:txBody>
            <a:bodyPr wrap="none" lIns="0" tIns="0" rIns="0" bIns="0" anchor="t" anchorCtr="0">
              <a:spAutoFit/>
            </a:bodyPr>
            <a:lstStyle/>
            <a:p>
              <a:pPr algn="ctr"/>
              <a:r>
                <a:rPr lang="zh-CN" sz="1275" b="1" dirty="0">
                  <a:solidFill>
                    <a:srgbClr val="F7F8FA"/>
                  </a:solidFill>
                  <a:latin typeface="Consolas"/>
                  <a:ea typeface="Microsoft YaHei"/>
                  <a:cs typeface="Consolas"/>
                </a:rPr>
                <a:t>W_O</a:t>
              </a:r>
            </a:p>
          </p:txBody>
        </p:sp>
        <p:sp>
          <p:nvSpPr>
            <p:cNvPr id="37" name="TextBox 37"/>
            <p:cNvSpPr txBox="1"/>
            <p:nvPr/>
          </p:nvSpPr>
          <p:spPr>
            <a:xfrm>
              <a:off x="11090386" y="3525202"/>
              <a:ext cx="488728" cy="213360"/>
            </a:xfrm>
            <a:prstGeom prst="rect">
              <a:avLst/>
            </a:prstGeom>
            <a:noFill/>
            <a:ln>
              <a:noFill/>
            </a:ln>
          </p:spPr>
          <p:txBody>
            <a:bodyPr wrap="none" lIns="0" tIns="0" rIns="0" bIns="0" anchor="t" anchorCtr="0">
              <a:spAutoFit/>
            </a:bodyPr>
            <a:lstStyle/>
            <a:p>
              <a:pPr algn="ctr"/>
              <a:r>
                <a:rPr lang="zh-CN" sz="1050" dirty="0">
                  <a:solidFill>
                    <a:srgbClr val="AAB6D3"/>
                  </a:solidFill>
                  <a:latin typeface="Arial"/>
                  <a:ea typeface="Microsoft YaHei"/>
                  <a:cs typeface="Arial"/>
                </a:rPr>
                <a:t>output</a:t>
              </a:r>
            </a:p>
          </p:txBody>
        </p:sp>
        <p:sp>
          <p:nvSpPr>
            <p:cNvPr id="38" name="TextBox 38"/>
            <p:cNvSpPr txBox="1"/>
            <p:nvPr/>
          </p:nvSpPr>
          <p:spPr>
            <a:xfrm>
              <a:off x="10971371" y="3734752"/>
              <a:ext cx="726758" cy="213360"/>
            </a:xfrm>
            <a:prstGeom prst="rect">
              <a:avLst/>
            </a:prstGeom>
            <a:noFill/>
            <a:ln>
              <a:noFill/>
            </a:ln>
          </p:spPr>
          <p:txBody>
            <a:bodyPr wrap="none" lIns="0" tIns="0" rIns="0" bIns="0" anchor="t" anchorCtr="0">
              <a:spAutoFit/>
            </a:bodyPr>
            <a:lstStyle/>
            <a:p>
              <a:pPr algn="ctr"/>
              <a:r>
                <a:rPr lang="zh-CN" sz="1050" dirty="0">
                  <a:solidFill>
                    <a:srgbClr val="AAB6D3"/>
                  </a:solidFill>
                  <a:latin typeface="Arial"/>
                  <a:ea typeface="Microsoft YaHei"/>
                  <a:cs typeface="Arial"/>
                </a:rPr>
                <a:t>projection</a:t>
              </a:r>
            </a:p>
          </p:txBody>
        </p:sp>
      </p:grpSp>
      <p:grpSp>
        <p:nvGrpSpPr>
          <p:cNvPr id="42" name="Group 42"/>
          <p:cNvGrpSpPr/>
          <p:nvPr/>
        </p:nvGrpSpPr>
        <p:grpSpPr>
          <a:xfrm>
            <a:off x="1965341" y="5334000"/>
            <a:ext cx="8261318" cy="552450"/>
            <a:chOff x="1965341" y="5334000"/>
            <a:chExt cx="8261318" cy="552450"/>
          </a:xfrm>
        </p:grpSpPr>
        <p:sp>
          <p:nvSpPr>
            <p:cNvPr id="40" name="Rectangle 40"/>
            <p:cNvSpPr/>
            <p:nvPr/>
          </p:nvSpPr>
          <p:spPr>
            <a:xfrm>
              <a:off x="2095500" y="5334000"/>
              <a:ext cx="8001000" cy="552450"/>
            </a:xfrm>
            <a:prstGeom prst="roundRect">
              <a:avLst>
                <a:gd name="adj" fmla="val 24138"/>
              </a:avLst>
            </a:prstGeom>
            <a:solidFill>
              <a:srgbClr val="1D2740"/>
            </a:solidFill>
            <a:ln w="19050">
              <a:solidFill>
                <a:srgbClr val="3A4668"/>
              </a:solidFill>
            </a:ln>
          </p:spPr>
        </p:sp>
        <p:sp>
          <p:nvSpPr>
            <p:cNvPr id="41" name="TextBox 41"/>
            <p:cNvSpPr txBox="1"/>
            <p:nvPr/>
          </p:nvSpPr>
          <p:spPr>
            <a:xfrm>
              <a:off x="1965341" y="5531168"/>
              <a:ext cx="8261318" cy="274320"/>
            </a:xfrm>
            <a:prstGeom prst="rect">
              <a:avLst/>
            </a:prstGeom>
            <a:noFill/>
            <a:ln>
              <a:noFill/>
            </a:ln>
          </p:spPr>
          <p:txBody>
            <a:bodyPr wrap="none" lIns="0" tIns="0" rIns="0" bIns="0" anchor="t" anchorCtr="0">
              <a:spAutoFit/>
            </a:bodyPr>
            <a:lstStyle/>
            <a:p>
              <a:pPr algn="ctr"/>
              <a:r>
                <a:rPr lang="zh-CN" sz="1350" dirty="0">
                  <a:solidFill>
                    <a:srgbClr val="F7F8FA"/>
                  </a:solidFill>
                  <a:latin typeface="Arial"/>
                  <a:ea typeface="Microsoft YaHei"/>
                  <a:cs typeface="Arial"/>
                </a:rPr>
                <a:t>Heads run in parallel; concat restores the combined width before projecting back to d_model.</a:t>
              </a:r>
            </a:p>
          </p:txBody>
        </p:sp>
      </p:grpSp>
      <p:sp>
        <p:nvSpPr>
          <p:cNvPr id="43" name="TextBox 43"/>
          <p:cNvSpPr txBox="1"/>
          <p:nvPr/>
        </p:nvSpPr>
        <p:spPr>
          <a:xfrm>
            <a:off x="501968" y="6314599"/>
            <a:ext cx="5283922" cy="198120"/>
          </a:xfrm>
          <a:prstGeom prst="rect">
            <a:avLst/>
          </a:prstGeom>
          <a:noFill/>
          <a:ln>
            <a:noFill/>
          </a:ln>
        </p:spPr>
        <p:txBody>
          <a:bodyPr wrap="none" lIns="0" tIns="0" rIns="0" bIns="0" anchor="t" anchorCtr="0">
            <a:spAutoFit/>
          </a:bodyPr>
          <a:lstStyle/>
          <a:p>
            <a:pPr algn="l"/>
            <a:r>
              <a:rPr lang="zh-CN" sz="975" dirty="0">
                <a:solidFill>
                  <a:srgbClr val="AAB6D3"/>
                </a:solidFill>
                <a:latin typeface="Arial"/>
                <a:ea typeface="Microsoft YaHei"/>
                <a:cs typeface="Arial"/>
              </a:rPr>
              <a:t>Examples of relation patterns are illustrative, not performance or scaling claims.</a:t>
            </a:r>
          </a:p>
        </p:txBody>
      </p:sp>
      <p:sp>
        <p:nvSpPr>
          <p:cNvPr id="44" name="TextBox 44"/>
          <p:cNvSpPr txBox="1"/>
          <p:nvPr/>
        </p:nvSpPr>
        <p:spPr>
          <a:xfrm>
            <a:off x="11398568" y="6314599"/>
            <a:ext cx="460319"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07 / 10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400"/>
                                        <p:tgtEl>
                                          <p:spTgt spid="39"/>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left)">
                                      <p:cBhvr>
                                        <p:cTn id="11"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C1020"/>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73149"/>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73149"/>
            </a:solidFill>
          </a:ln>
        </p:spPr>
      </p:sp>
      <p:grpSp>
        <p:nvGrpSpPr>
          <p:cNvPr id="8" name="Group 8"/>
          <p:cNvGrpSpPr/>
          <p:nvPr/>
        </p:nvGrpSpPr>
        <p:grpSpPr>
          <a:xfrm>
            <a:off x="482918" y="342424"/>
            <a:ext cx="11194732" cy="772001"/>
            <a:chOff x="482918" y="342424"/>
            <a:chExt cx="11194732" cy="772001"/>
          </a:xfrm>
        </p:grpSpPr>
        <p:sp>
          <p:nvSpPr>
            <p:cNvPr id="5" name="TextBox 5"/>
            <p:cNvSpPr txBox="1"/>
            <p:nvPr/>
          </p:nvSpPr>
          <p:spPr>
            <a:xfrm>
              <a:off x="482918" y="342424"/>
              <a:ext cx="6196682" cy="502920"/>
            </a:xfrm>
            <a:prstGeom prst="rect">
              <a:avLst/>
            </a:prstGeom>
            <a:noFill/>
            <a:ln>
              <a:noFill/>
            </a:ln>
          </p:spPr>
          <p:txBody>
            <a:bodyPr wrap="none" lIns="0" tIns="0" rIns="0" bIns="0" anchor="t" anchorCtr="0">
              <a:spAutoFit/>
            </a:bodyPr>
            <a:lstStyle/>
            <a:p>
              <a:pPr algn="l"/>
              <a:r>
                <a:rPr lang="zh-CN" sz="2475" b="1" dirty="0">
                  <a:solidFill>
                    <a:srgbClr val="F7F8FA"/>
                  </a:solidFill>
                  <a:latin typeface="Arial"/>
                  <a:ea typeface="Microsoft YaHei"/>
                  <a:cs typeface="Arial"/>
                </a:rPr>
                <a:t>Causal Masking Blocks Future Tokens</a:t>
              </a:r>
            </a:p>
          </p:txBody>
        </p:sp>
        <p:sp>
          <p:nvSpPr>
            <p:cNvPr id="6" name="TextBox 6"/>
            <p:cNvSpPr txBox="1"/>
            <p:nvPr/>
          </p:nvSpPr>
          <p:spPr>
            <a:xfrm>
              <a:off x="497205" y="768668"/>
              <a:ext cx="6713125" cy="274320"/>
            </a:xfrm>
            <a:prstGeom prst="rect">
              <a:avLst/>
            </a:prstGeom>
            <a:noFill/>
            <a:ln>
              <a:noFill/>
            </a:ln>
          </p:spPr>
          <p:txBody>
            <a:bodyPr wrap="none" lIns="0" tIns="0" rIns="0" bIns="0" anchor="t" anchorCtr="0">
              <a:spAutoFit/>
            </a:bodyPr>
            <a:lstStyle/>
            <a:p>
              <a:pPr algn="l"/>
              <a:r>
                <a:rPr lang="zh-CN" sz="1350" dirty="0">
                  <a:solidFill>
                    <a:srgbClr val="AAB6D3"/>
                  </a:solidFill>
                  <a:latin typeface="Arial"/>
                  <a:ea typeface="Microsoft YaHei"/>
                  <a:cs typeface="Arial"/>
                </a:rPr>
                <a:t>In language generation, token i can attend only to itself and earlier tokens.</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A4668"/>
              </a:solidFill>
            </a:ln>
          </p:spPr>
        </p:sp>
      </p:grpSp>
      <p:grpSp>
        <p:nvGrpSpPr>
          <p:cNvPr id="53" name="Group 53"/>
          <p:cNvGrpSpPr/>
          <p:nvPr/>
        </p:nvGrpSpPr>
        <p:grpSpPr>
          <a:xfrm>
            <a:off x="857250" y="1485900"/>
            <a:ext cx="5257800" cy="4629150"/>
            <a:chOff x="857250" y="1485900"/>
            <a:chExt cx="5257800" cy="4629150"/>
          </a:xfrm>
        </p:grpSpPr>
        <p:sp>
          <p:nvSpPr>
            <p:cNvPr id="9" name="Rectangle 9"/>
            <p:cNvSpPr/>
            <p:nvPr/>
          </p:nvSpPr>
          <p:spPr>
            <a:xfrm>
              <a:off x="857250" y="1485900"/>
              <a:ext cx="5257800" cy="4629150"/>
            </a:xfrm>
            <a:prstGeom prst="roundRect">
              <a:avLst>
                <a:gd name="adj" fmla="val 3704"/>
              </a:avLst>
            </a:prstGeom>
            <a:solidFill>
              <a:srgbClr val="141A2E"/>
            </a:solidFill>
            <a:ln w="19050">
              <a:solidFill>
                <a:srgbClr val="3A4668"/>
              </a:solidFill>
            </a:ln>
          </p:spPr>
        </p:sp>
        <p:sp>
          <p:nvSpPr>
            <p:cNvPr id="10" name="TextBox 10"/>
            <p:cNvSpPr txBox="1"/>
            <p:nvPr/>
          </p:nvSpPr>
          <p:spPr>
            <a:xfrm>
              <a:off x="1215390" y="1767840"/>
              <a:ext cx="2654246" cy="365760"/>
            </a:xfrm>
            <a:prstGeom prst="rect">
              <a:avLst/>
            </a:prstGeom>
            <a:noFill/>
            <a:ln>
              <a:noFill/>
            </a:ln>
          </p:spPr>
          <p:txBody>
            <a:bodyPr wrap="none" lIns="0" tIns="0" rIns="0" bIns="0" anchor="t" anchorCtr="0">
              <a:spAutoFit/>
            </a:bodyPr>
            <a:lstStyle/>
            <a:p>
              <a:pPr algn="l"/>
              <a:r>
                <a:rPr lang="zh-CN" sz="1800" b="1" dirty="0">
                  <a:solidFill>
                    <a:srgbClr val="F7F8FA"/>
                  </a:solidFill>
                  <a:latin typeface="Arial"/>
                  <a:ea typeface="Microsoft YaHei"/>
                  <a:cs typeface="Arial"/>
                </a:rPr>
                <a:t>Mask before softmax</a:t>
              </a:r>
            </a:p>
          </p:txBody>
        </p:sp>
        <p:sp>
          <p:nvSpPr>
            <p:cNvPr id="11" name="TextBox 11"/>
            <p:cNvSpPr txBox="1"/>
            <p:nvPr/>
          </p:nvSpPr>
          <p:spPr>
            <a:xfrm>
              <a:off x="1605915" y="2363152"/>
              <a:ext cx="334708"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keys</a:t>
              </a:r>
            </a:p>
          </p:txBody>
        </p:sp>
        <p:sp>
          <p:nvSpPr>
            <p:cNvPr id="12" name="TextBox 12"/>
            <p:cNvSpPr txBox="1"/>
            <p:nvPr/>
          </p:nvSpPr>
          <p:spPr>
            <a:xfrm>
              <a:off x="2787015" y="2363152"/>
              <a:ext cx="180689"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t1</a:t>
              </a:r>
            </a:p>
          </p:txBody>
        </p:sp>
        <p:sp>
          <p:nvSpPr>
            <p:cNvPr id="13" name="TextBox 13"/>
            <p:cNvSpPr txBox="1"/>
            <p:nvPr/>
          </p:nvSpPr>
          <p:spPr>
            <a:xfrm>
              <a:off x="3472815" y="2363152"/>
              <a:ext cx="180689"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t2</a:t>
              </a:r>
            </a:p>
          </p:txBody>
        </p:sp>
        <p:sp>
          <p:nvSpPr>
            <p:cNvPr id="14" name="TextBox 14"/>
            <p:cNvSpPr txBox="1"/>
            <p:nvPr/>
          </p:nvSpPr>
          <p:spPr>
            <a:xfrm>
              <a:off x="4158615" y="2363152"/>
              <a:ext cx="180689"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t3</a:t>
              </a:r>
            </a:p>
          </p:txBody>
        </p:sp>
        <p:sp>
          <p:nvSpPr>
            <p:cNvPr id="15" name="TextBox 15"/>
            <p:cNvSpPr txBox="1"/>
            <p:nvPr/>
          </p:nvSpPr>
          <p:spPr>
            <a:xfrm>
              <a:off x="4844415" y="2363152"/>
              <a:ext cx="180689"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t4</a:t>
              </a:r>
            </a:p>
          </p:txBody>
        </p:sp>
        <p:sp>
          <p:nvSpPr>
            <p:cNvPr id="16" name="TextBox 16"/>
            <p:cNvSpPr txBox="1"/>
            <p:nvPr/>
          </p:nvSpPr>
          <p:spPr>
            <a:xfrm>
              <a:off x="1910715" y="2953702"/>
              <a:ext cx="180689"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t1</a:t>
              </a:r>
            </a:p>
          </p:txBody>
        </p:sp>
        <p:sp>
          <p:nvSpPr>
            <p:cNvPr id="17" name="TextBox 17"/>
            <p:cNvSpPr txBox="1"/>
            <p:nvPr/>
          </p:nvSpPr>
          <p:spPr>
            <a:xfrm>
              <a:off x="1910715" y="3620452"/>
              <a:ext cx="180689"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t2</a:t>
              </a:r>
            </a:p>
          </p:txBody>
        </p:sp>
        <p:sp>
          <p:nvSpPr>
            <p:cNvPr id="18" name="TextBox 18"/>
            <p:cNvSpPr txBox="1"/>
            <p:nvPr/>
          </p:nvSpPr>
          <p:spPr>
            <a:xfrm>
              <a:off x="1910715" y="4287202"/>
              <a:ext cx="180689"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t3</a:t>
              </a:r>
            </a:p>
          </p:txBody>
        </p:sp>
        <p:sp>
          <p:nvSpPr>
            <p:cNvPr id="19" name="TextBox 19"/>
            <p:cNvSpPr txBox="1"/>
            <p:nvPr/>
          </p:nvSpPr>
          <p:spPr>
            <a:xfrm>
              <a:off x="1910715" y="4953952"/>
              <a:ext cx="180689"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t4</a:t>
              </a:r>
            </a:p>
          </p:txBody>
        </p:sp>
        <p:sp>
          <p:nvSpPr>
            <p:cNvPr id="20" name="TextBox 20"/>
            <p:cNvSpPr txBox="1"/>
            <p:nvPr/>
          </p:nvSpPr>
          <p:spPr>
            <a:xfrm rot="-5400000">
              <a:off x="1156716" y="3603688"/>
              <a:ext cx="530733" cy="213360"/>
            </a:xfrm>
            <a:prstGeom prst="rect">
              <a:avLst/>
            </a:prstGeom>
            <a:noFill/>
            <a:ln>
              <a:noFill/>
            </a:ln>
          </p:spPr>
          <p:txBody>
            <a:bodyPr wrap="none" lIns="0" tIns="0" rIns="0" bIns="0" anchor="t" anchorCtr="0">
              <a:spAutoFit/>
            </a:bodyPr>
            <a:lstStyle/>
            <a:p>
              <a:pPr algn="l"/>
              <a:r>
                <a:rPr lang="zh-CN" sz="1050" dirty="0">
                  <a:solidFill>
                    <a:srgbClr val="AAB6D3"/>
                  </a:solidFill>
                  <a:latin typeface="Consolas"/>
                  <a:ea typeface="Microsoft YaHei"/>
                  <a:cs typeface="Consolas"/>
                </a:rPr>
                <a:t>queries</a:t>
              </a:r>
            </a:p>
          </p:txBody>
        </p:sp>
        <p:sp>
          <p:nvSpPr>
            <p:cNvPr id="21" name="Rectangle 21"/>
            <p:cNvSpPr/>
            <p:nvPr/>
          </p:nvSpPr>
          <p:spPr>
            <a:xfrm>
              <a:off x="2571750" y="2724150"/>
              <a:ext cx="590550" cy="552450"/>
            </a:xfrm>
            <a:prstGeom prst="rect">
              <a:avLst/>
            </a:prstGeom>
            <a:solidFill>
              <a:srgbClr val="1D2740"/>
            </a:solidFill>
            <a:ln w="19050">
              <a:solidFill>
                <a:srgbClr val="7CFFB2"/>
              </a:solidFill>
            </a:ln>
          </p:spPr>
        </p:sp>
        <p:sp>
          <p:nvSpPr>
            <p:cNvPr id="22" name="Rectangle 22"/>
            <p:cNvSpPr/>
            <p:nvPr/>
          </p:nvSpPr>
          <p:spPr>
            <a:xfrm>
              <a:off x="3162300" y="2724150"/>
              <a:ext cx="590550" cy="552450"/>
            </a:xfrm>
            <a:prstGeom prst="rect">
              <a:avLst/>
            </a:prstGeom>
            <a:solidFill>
              <a:srgbClr val="1D2740"/>
            </a:solidFill>
            <a:ln w="19050">
              <a:solidFill>
                <a:srgbClr val="FF6B6B"/>
              </a:solidFill>
            </a:ln>
          </p:spPr>
        </p:sp>
        <p:sp>
          <p:nvSpPr>
            <p:cNvPr id="23" name="Rectangle 23"/>
            <p:cNvSpPr/>
            <p:nvPr/>
          </p:nvSpPr>
          <p:spPr>
            <a:xfrm>
              <a:off x="3752850" y="2724150"/>
              <a:ext cx="590550" cy="552450"/>
            </a:xfrm>
            <a:prstGeom prst="rect">
              <a:avLst/>
            </a:prstGeom>
            <a:solidFill>
              <a:srgbClr val="1D2740"/>
            </a:solidFill>
            <a:ln w="19050">
              <a:solidFill>
                <a:srgbClr val="FF6B6B"/>
              </a:solidFill>
            </a:ln>
          </p:spPr>
        </p:sp>
        <p:sp>
          <p:nvSpPr>
            <p:cNvPr id="24" name="Rectangle 24"/>
            <p:cNvSpPr/>
            <p:nvPr/>
          </p:nvSpPr>
          <p:spPr>
            <a:xfrm>
              <a:off x="4343400" y="2724150"/>
              <a:ext cx="590550" cy="552450"/>
            </a:xfrm>
            <a:prstGeom prst="rect">
              <a:avLst/>
            </a:prstGeom>
            <a:solidFill>
              <a:srgbClr val="1D2740"/>
            </a:solidFill>
            <a:ln w="19050">
              <a:solidFill>
                <a:srgbClr val="FF6B6B"/>
              </a:solidFill>
            </a:ln>
          </p:spPr>
        </p:sp>
        <p:sp>
          <p:nvSpPr>
            <p:cNvPr id="25" name="Rectangle 25"/>
            <p:cNvSpPr/>
            <p:nvPr/>
          </p:nvSpPr>
          <p:spPr>
            <a:xfrm>
              <a:off x="2571750" y="3390900"/>
              <a:ext cx="590550" cy="552450"/>
            </a:xfrm>
            <a:prstGeom prst="rect">
              <a:avLst/>
            </a:prstGeom>
            <a:solidFill>
              <a:srgbClr val="1D2740"/>
            </a:solidFill>
            <a:ln w="19050">
              <a:solidFill>
                <a:srgbClr val="7CFFB2"/>
              </a:solidFill>
            </a:ln>
          </p:spPr>
        </p:sp>
        <p:sp>
          <p:nvSpPr>
            <p:cNvPr id="26" name="Rectangle 26"/>
            <p:cNvSpPr/>
            <p:nvPr/>
          </p:nvSpPr>
          <p:spPr>
            <a:xfrm>
              <a:off x="3162300" y="3390900"/>
              <a:ext cx="590550" cy="552450"/>
            </a:xfrm>
            <a:prstGeom prst="rect">
              <a:avLst/>
            </a:prstGeom>
            <a:solidFill>
              <a:srgbClr val="1D2740"/>
            </a:solidFill>
            <a:ln w="19050">
              <a:solidFill>
                <a:srgbClr val="7CFFB2"/>
              </a:solidFill>
            </a:ln>
          </p:spPr>
        </p:sp>
        <p:sp>
          <p:nvSpPr>
            <p:cNvPr id="27" name="Rectangle 27"/>
            <p:cNvSpPr/>
            <p:nvPr/>
          </p:nvSpPr>
          <p:spPr>
            <a:xfrm>
              <a:off x="3752850" y="3390900"/>
              <a:ext cx="590550" cy="552450"/>
            </a:xfrm>
            <a:prstGeom prst="rect">
              <a:avLst/>
            </a:prstGeom>
            <a:solidFill>
              <a:srgbClr val="1D2740"/>
            </a:solidFill>
            <a:ln w="19050">
              <a:solidFill>
                <a:srgbClr val="FF6B6B"/>
              </a:solidFill>
            </a:ln>
          </p:spPr>
        </p:sp>
        <p:sp>
          <p:nvSpPr>
            <p:cNvPr id="28" name="Rectangle 28"/>
            <p:cNvSpPr/>
            <p:nvPr/>
          </p:nvSpPr>
          <p:spPr>
            <a:xfrm>
              <a:off x="4343400" y="3390900"/>
              <a:ext cx="590550" cy="552450"/>
            </a:xfrm>
            <a:prstGeom prst="rect">
              <a:avLst/>
            </a:prstGeom>
            <a:solidFill>
              <a:srgbClr val="1D2740"/>
            </a:solidFill>
            <a:ln w="19050">
              <a:solidFill>
                <a:srgbClr val="FF6B6B"/>
              </a:solidFill>
            </a:ln>
          </p:spPr>
        </p:sp>
        <p:sp>
          <p:nvSpPr>
            <p:cNvPr id="29" name="Rectangle 29"/>
            <p:cNvSpPr/>
            <p:nvPr/>
          </p:nvSpPr>
          <p:spPr>
            <a:xfrm>
              <a:off x="2571750" y="4057650"/>
              <a:ext cx="590550" cy="552450"/>
            </a:xfrm>
            <a:prstGeom prst="rect">
              <a:avLst/>
            </a:prstGeom>
            <a:solidFill>
              <a:srgbClr val="1D2740"/>
            </a:solidFill>
            <a:ln w="19050">
              <a:solidFill>
                <a:srgbClr val="7CFFB2"/>
              </a:solidFill>
            </a:ln>
          </p:spPr>
        </p:sp>
        <p:sp>
          <p:nvSpPr>
            <p:cNvPr id="30" name="Rectangle 30"/>
            <p:cNvSpPr/>
            <p:nvPr/>
          </p:nvSpPr>
          <p:spPr>
            <a:xfrm>
              <a:off x="3162300" y="4057650"/>
              <a:ext cx="590550" cy="552450"/>
            </a:xfrm>
            <a:prstGeom prst="rect">
              <a:avLst/>
            </a:prstGeom>
            <a:solidFill>
              <a:srgbClr val="1D2740"/>
            </a:solidFill>
            <a:ln w="19050">
              <a:solidFill>
                <a:srgbClr val="7CFFB2"/>
              </a:solidFill>
            </a:ln>
          </p:spPr>
        </p:sp>
        <p:sp>
          <p:nvSpPr>
            <p:cNvPr id="31" name="Rectangle 31"/>
            <p:cNvSpPr/>
            <p:nvPr/>
          </p:nvSpPr>
          <p:spPr>
            <a:xfrm>
              <a:off x="3752850" y="4057650"/>
              <a:ext cx="590550" cy="552450"/>
            </a:xfrm>
            <a:prstGeom prst="rect">
              <a:avLst/>
            </a:prstGeom>
            <a:solidFill>
              <a:srgbClr val="1D2740"/>
            </a:solidFill>
            <a:ln w="19050">
              <a:solidFill>
                <a:srgbClr val="7CFFB2"/>
              </a:solidFill>
            </a:ln>
          </p:spPr>
        </p:sp>
        <p:sp>
          <p:nvSpPr>
            <p:cNvPr id="32" name="Rectangle 32"/>
            <p:cNvSpPr/>
            <p:nvPr/>
          </p:nvSpPr>
          <p:spPr>
            <a:xfrm>
              <a:off x="4343400" y="4057650"/>
              <a:ext cx="590550" cy="552450"/>
            </a:xfrm>
            <a:prstGeom prst="rect">
              <a:avLst/>
            </a:prstGeom>
            <a:solidFill>
              <a:srgbClr val="1D2740"/>
            </a:solidFill>
            <a:ln w="19050">
              <a:solidFill>
                <a:srgbClr val="FF6B6B"/>
              </a:solidFill>
            </a:ln>
          </p:spPr>
        </p:sp>
        <p:sp>
          <p:nvSpPr>
            <p:cNvPr id="33" name="Rectangle 33"/>
            <p:cNvSpPr/>
            <p:nvPr/>
          </p:nvSpPr>
          <p:spPr>
            <a:xfrm>
              <a:off x="2571750" y="4724400"/>
              <a:ext cx="590550" cy="552450"/>
            </a:xfrm>
            <a:prstGeom prst="rect">
              <a:avLst/>
            </a:prstGeom>
            <a:solidFill>
              <a:srgbClr val="1D2740"/>
            </a:solidFill>
            <a:ln w="19050">
              <a:solidFill>
                <a:srgbClr val="7CFFB2"/>
              </a:solidFill>
            </a:ln>
          </p:spPr>
        </p:sp>
        <p:sp>
          <p:nvSpPr>
            <p:cNvPr id="34" name="Rectangle 34"/>
            <p:cNvSpPr/>
            <p:nvPr/>
          </p:nvSpPr>
          <p:spPr>
            <a:xfrm>
              <a:off x="3162300" y="4724400"/>
              <a:ext cx="590550" cy="552450"/>
            </a:xfrm>
            <a:prstGeom prst="rect">
              <a:avLst/>
            </a:prstGeom>
            <a:solidFill>
              <a:srgbClr val="1D2740"/>
            </a:solidFill>
            <a:ln w="19050">
              <a:solidFill>
                <a:srgbClr val="7CFFB2"/>
              </a:solidFill>
            </a:ln>
          </p:spPr>
        </p:sp>
        <p:sp>
          <p:nvSpPr>
            <p:cNvPr id="35" name="Rectangle 35"/>
            <p:cNvSpPr/>
            <p:nvPr/>
          </p:nvSpPr>
          <p:spPr>
            <a:xfrm>
              <a:off x="3752850" y="4724400"/>
              <a:ext cx="590550" cy="552450"/>
            </a:xfrm>
            <a:prstGeom prst="rect">
              <a:avLst/>
            </a:prstGeom>
            <a:solidFill>
              <a:srgbClr val="1D2740"/>
            </a:solidFill>
            <a:ln w="19050">
              <a:solidFill>
                <a:srgbClr val="7CFFB2"/>
              </a:solidFill>
            </a:ln>
          </p:spPr>
        </p:sp>
        <p:sp>
          <p:nvSpPr>
            <p:cNvPr id="36" name="Rectangle 36"/>
            <p:cNvSpPr/>
            <p:nvPr/>
          </p:nvSpPr>
          <p:spPr>
            <a:xfrm>
              <a:off x="4343400" y="4724400"/>
              <a:ext cx="590550" cy="552450"/>
            </a:xfrm>
            <a:prstGeom prst="rect">
              <a:avLst/>
            </a:prstGeom>
            <a:solidFill>
              <a:srgbClr val="1D2740"/>
            </a:solidFill>
            <a:ln w="19050">
              <a:solidFill>
                <a:srgbClr val="7CFFB2"/>
              </a:solidFill>
            </a:ln>
          </p:spPr>
        </p:sp>
        <p:sp>
          <p:nvSpPr>
            <p:cNvPr id="37" name="TextBox 37"/>
            <p:cNvSpPr txBox="1"/>
            <p:nvPr/>
          </p:nvSpPr>
          <p:spPr>
            <a:xfrm>
              <a:off x="2745917" y="2921318"/>
              <a:ext cx="242216" cy="274320"/>
            </a:xfrm>
            <a:prstGeom prst="rect">
              <a:avLst/>
            </a:prstGeom>
            <a:noFill/>
            <a:ln>
              <a:noFill/>
            </a:ln>
          </p:spPr>
          <p:txBody>
            <a:bodyPr wrap="none" lIns="0" tIns="0" rIns="0" bIns="0" anchor="t" anchorCtr="0">
              <a:spAutoFit/>
            </a:bodyPr>
            <a:lstStyle/>
            <a:p>
              <a:pPr algn="ctr"/>
              <a:r>
                <a:rPr lang="zh-CN" sz="1350" b="1" dirty="0">
                  <a:solidFill>
                    <a:srgbClr val="7CFFB2"/>
                  </a:solidFill>
                  <a:latin typeface="Arial"/>
                  <a:ea typeface="Microsoft YaHei"/>
                  <a:cs typeface="Arial"/>
                </a:rPr>
                <a:t>ok</a:t>
              </a:r>
            </a:p>
          </p:txBody>
        </p:sp>
        <p:sp>
          <p:nvSpPr>
            <p:cNvPr id="38" name="TextBox 38"/>
            <p:cNvSpPr txBox="1"/>
            <p:nvPr/>
          </p:nvSpPr>
          <p:spPr>
            <a:xfrm>
              <a:off x="3388449" y="2921318"/>
              <a:ext cx="138253" cy="274320"/>
            </a:xfrm>
            <a:prstGeom prst="rect">
              <a:avLst/>
            </a:prstGeom>
            <a:noFill/>
            <a:ln>
              <a:noFill/>
            </a:ln>
          </p:spPr>
          <p:txBody>
            <a:bodyPr wrap="none" lIns="0" tIns="0" rIns="0" bIns="0" anchor="t" anchorCtr="0">
              <a:spAutoFit/>
            </a:bodyPr>
            <a:lstStyle/>
            <a:p>
              <a:pPr algn="ctr"/>
              <a:r>
                <a:rPr lang="zh-CN" sz="1350" b="1" dirty="0">
                  <a:solidFill>
                    <a:srgbClr val="FF6B6B"/>
                  </a:solidFill>
                  <a:latin typeface="Arial"/>
                  <a:ea typeface="Microsoft YaHei"/>
                  <a:cs typeface="Arial"/>
                </a:rPr>
                <a:t>X</a:t>
              </a:r>
            </a:p>
          </p:txBody>
        </p:sp>
        <p:sp>
          <p:nvSpPr>
            <p:cNvPr id="39" name="TextBox 39"/>
            <p:cNvSpPr txBox="1"/>
            <p:nvPr/>
          </p:nvSpPr>
          <p:spPr>
            <a:xfrm>
              <a:off x="3978999" y="2921318"/>
              <a:ext cx="138253" cy="274320"/>
            </a:xfrm>
            <a:prstGeom prst="rect">
              <a:avLst/>
            </a:prstGeom>
            <a:noFill/>
            <a:ln>
              <a:noFill/>
            </a:ln>
          </p:spPr>
          <p:txBody>
            <a:bodyPr wrap="none" lIns="0" tIns="0" rIns="0" bIns="0" anchor="t" anchorCtr="0">
              <a:spAutoFit/>
            </a:bodyPr>
            <a:lstStyle/>
            <a:p>
              <a:pPr algn="ctr"/>
              <a:r>
                <a:rPr lang="zh-CN" sz="1350" b="1" dirty="0">
                  <a:solidFill>
                    <a:srgbClr val="FF6B6B"/>
                  </a:solidFill>
                  <a:latin typeface="Arial"/>
                  <a:ea typeface="Microsoft YaHei"/>
                  <a:cs typeface="Arial"/>
                </a:rPr>
                <a:t>X</a:t>
              </a:r>
            </a:p>
          </p:txBody>
        </p:sp>
        <p:sp>
          <p:nvSpPr>
            <p:cNvPr id="40" name="TextBox 40"/>
            <p:cNvSpPr txBox="1"/>
            <p:nvPr/>
          </p:nvSpPr>
          <p:spPr>
            <a:xfrm>
              <a:off x="4569549" y="2921318"/>
              <a:ext cx="138253" cy="274320"/>
            </a:xfrm>
            <a:prstGeom prst="rect">
              <a:avLst/>
            </a:prstGeom>
            <a:noFill/>
            <a:ln>
              <a:noFill/>
            </a:ln>
          </p:spPr>
          <p:txBody>
            <a:bodyPr wrap="none" lIns="0" tIns="0" rIns="0" bIns="0" anchor="t" anchorCtr="0">
              <a:spAutoFit/>
            </a:bodyPr>
            <a:lstStyle/>
            <a:p>
              <a:pPr algn="ctr"/>
              <a:r>
                <a:rPr lang="zh-CN" sz="1350" b="1" dirty="0">
                  <a:solidFill>
                    <a:srgbClr val="FF6B6B"/>
                  </a:solidFill>
                  <a:latin typeface="Arial"/>
                  <a:ea typeface="Microsoft YaHei"/>
                  <a:cs typeface="Arial"/>
                </a:rPr>
                <a:t>X</a:t>
              </a:r>
            </a:p>
          </p:txBody>
        </p:sp>
        <p:sp>
          <p:nvSpPr>
            <p:cNvPr id="41" name="TextBox 41"/>
            <p:cNvSpPr txBox="1"/>
            <p:nvPr/>
          </p:nvSpPr>
          <p:spPr>
            <a:xfrm>
              <a:off x="2745917" y="3588068"/>
              <a:ext cx="242216" cy="274320"/>
            </a:xfrm>
            <a:prstGeom prst="rect">
              <a:avLst/>
            </a:prstGeom>
            <a:noFill/>
            <a:ln>
              <a:noFill/>
            </a:ln>
          </p:spPr>
          <p:txBody>
            <a:bodyPr wrap="none" lIns="0" tIns="0" rIns="0" bIns="0" anchor="t" anchorCtr="0">
              <a:spAutoFit/>
            </a:bodyPr>
            <a:lstStyle/>
            <a:p>
              <a:pPr algn="ctr"/>
              <a:r>
                <a:rPr lang="zh-CN" sz="1350" b="1" dirty="0">
                  <a:solidFill>
                    <a:srgbClr val="7CFFB2"/>
                  </a:solidFill>
                  <a:latin typeface="Arial"/>
                  <a:ea typeface="Microsoft YaHei"/>
                  <a:cs typeface="Arial"/>
                </a:rPr>
                <a:t>ok</a:t>
              </a:r>
            </a:p>
          </p:txBody>
        </p:sp>
        <p:sp>
          <p:nvSpPr>
            <p:cNvPr id="42" name="TextBox 42"/>
            <p:cNvSpPr txBox="1"/>
            <p:nvPr/>
          </p:nvSpPr>
          <p:spPr>
            <a:xfrm>
              <a:off x="3336467" y="3588068"/>
              <a:ext cx="242216" cy="274320"/>
            </a:xfrm>
            <a:prstGeom prst="rect">
              <a:avLst/>
            </a:prstGeom>
            <a:noFill/>
            <a:ln>
              <a:noFill/>
            </a:ln>
          </p:spPr>
          <p:txBody>
            <a:bodyPr wrap="none" lIns="0" tIns="0" rIns="0" bIns="0" anchor="t" anchorCtr="0">
              <a:spAutoFit/>
            </a:bodyPr>
            <a:lstStyle/>
            <a:p>
              <a:pPr algn="ctr"/>
              <a:r>
                <a:rPr lang="zh-CN" sz="1350" b="1" dirty="0">
                  <a:solidFill>
                    <a:srgbClr val="7CFFB2"/>
                  </a:solidFill>
                  <a:latin typeface="Arial"/>
                  <a:ea typeface="Microsoft YaHei"/>
                  <a:cs typeface="Arial"/>
                </a:rPr>
                <a:t>ok</a:t>
              </a:r>
            </a:p>
          </p:txBody>
        </p:sp>
        <p:sp>
          <p:nvSpPr>
            <p:cNvPr id="43" name="TextBox 43"/>
            <p:cNvSpPr txBox="1"/>
            <p:nvPr/>
          </p:nvSpPr>
          <p:spPr>
            <a:xfrm>
              <a:off x="3978999" y="3588068"/>
              <a:ext cx="138253" cy="274320"/>
            </a:xfrm>
            <a:prstGeom prst="rect">
              <a:avLst/>
            </a:prstGeom>
            <a:noFill/>
            <a:ln>
              <a:noFill/>
            </a:ln>
          </p:spPr>
          <p:txBody>
            <a:bodyPr wrap="none" lIns="0" tIns="0" rIns="0" bIns="0" anchor="t" anchorCtr="0">
              <a:spAutoFit/>
            </a:bodyPr>
            <a:lstStyle/>
            <a:p>
              <a:pPr algn="ctr"/>
              <a:r>
                <a:rPr lang="zh-CN" sz="1350" b="1" dirty="0">
                  <a:solidFill>
                    <a:srgbClr val="FF6B6B"/>
                  </a:solidFill>
                  <a:latin typeface="Arial"/>
                  <a:ea typeface="Microsoft YaHei"/>
                  <a:cs typeface="Arial"/>
                </a:rPr>
                <a:t>X</a:t>
              </a:r>
            </a:p>
          </p:txBody>
        </p:sp>
        <p:sp>
          <p:nvSpPr>
            <p:cNvPr id="44" name="TextBox 44"/>
            <p:cNvSpPr txBox="1"/>
            <p:nvPr/>
          </p:nvSpPr>
          <p:spPr>
            <a:xfrm>
              <a:off x="4569549" y="3588068"/>
              <a:ext cx="138253" cy="274320"/>
            </a:xfrm>
            <a:prstGeom prst="rect">
              <a:avLst/>
            </a:prstGeom>
            <a:noFill/>
            <a:ln>
              <a:noFill/>
            </a:ln>
          </p:spPr>
          <p:txBody>
            <a:bodyPr wrap="none" lIns="0" tIns="0" rIns="0" bIns="0" anchor="t" anchorCtr="0">
              <a:spAutoFit/>
            </a:bodyPr>
            <a:lstStyle/>
            <a:p>
              <a:pPr algn="ctr"/>
              <a:r>
                <a:rPr lang="zh-CN" sz="1350" b="1" dirty="0">
                  <a:solidFill>
                    <a:srgbClr val="FF6B6B"/>
                  </a:solidFill>
                  <a:latin typeface="Arial"/>
                  <a:ea typeface="Microsoft YaHei"/>
                  <a:cs typeface="Arial"/>
                </a:rPr>
                <a:t>X</a:t>
              </a:r>
            </a:p>
          </p:txBody>
        </p:sp>
        <p:sp>
          <p:nvSpPr>
            <p:cNvPr id="45" name="TextBox 45"/>
            <p:cNvSpPr txBox="1"/>
            <p:nvPr/>
          </p:nvSpPr>
          <p:spPr>
            <a:xfrm>
              <a:off x="2745917" y="4254818"/>
              <a:ext cx="242216" cy="274320"/>
            </a:xfrm>
            <a:prstGeom prst="rect">
              <a:avLst/>
            </a:prstGeom>
            <a:noFill/>
            <a:ln>
              <a:noFill/>
            </a:ln>
          </p:spPr>
          <p:txBody>
            <a:bodyPr wrap="none" lIns="0" tIns="0" rIns="0" bIns="0" anchor="t" anchorCtr="0">
              <a:spAutoFit/>
            </a:bodyPr>
            <a:lstStyle/>
            <a:p>
              <a:pPr algn="ctr"/>
              <a:r>
                <a:rPr lang="zh-CN" sz="1350" b="1" dirty="0">
                  <a:solidFill>
                    <a:srgbClr val="7CFFB2"/>
                  </a:solidFill>
                  <a:latin typeface="Arial"/>
                  <a:ea typeface="Microsoft YaHei"/>
                  <a:cs typeface="Arial"/>
                </a:rPr>
                <a:t>ok</a:t>
              </a:r>
            </a:p>
          </p:txBody>
        </p:sp>
        <p:sp>
          <p:nvSpPr>
            <p:cNvPr id="46" name="TextBox 46"/>
            <p:cNvSpPr txBox="1"/>
            <p:nvPr/>
          </p:nvSpPr>
          <p:spPr>
            <a:xfrm>
              <a:off x="3336467" y="4254818"/>
              <a:ext cx="242216" cy="274320"/>
            </a:xfrm>
            <a:prstGeom prst="rect">
              <a:avLst/>
            </a:prstGeom>
            <a:noFill/>
            <a:ln>
              <a:noFill/>
            </a:ln>
          </p:spPr>
          <p:txBody>
            <a:bodyPr wrap="none" lIns="0" tIns="0" rIns="0" bIns="0" anchor="t" anchorCtr="0">
              <a:spAutoFit/>
            </a:bodyPr>
            <a:lstStyle/>
            <a:p>
              <a:pPr algn="ctr"/>
              <a:r>
                <a:rPr lang="zh-CN" sz="1350" b="1" dirty="0">
                  <a:solidFill>
                    <a:srgbClr val="7CFFB2"/>
                  </a:solidFill>
                  <a:latin typeface="Arial"/>
                  <a:ea typeface="Microsoft YaHei"/>
                  <a:cs typeface="Arial"/>
                </a:rPr>
                <a:t>ok</a:t>
              </a:r>
            </a:p>
          </p:txBody>
        </p:sp>
        <p:sp>
          <p:nvSpPr>
            <p:cNvPr id="47" name="TextBox 47"/>
            <p:cNvSpPr txBox="1"/>
            <p:nvPr/>
          </p:nvSpPr>
          <p:spPr>
            <a:xfrm>
              <a:off x="3927017" y="4254818"/>
              <a:ext cx="242216" cy="274320"/>
            </a:xfrm>
            <a:prstGeom prst="rect">
              <a:avLst/>
            </a:prstGeom>
            <a:noFill/>
            <a:ln>
              <a:noFill/>
            </a:ln>
          </p:spPr>
          <p:txBody>
            <a:bodyPr wrap="none" lIns="0" tIns="0" rIns="0" bIns="0" anchor="t" anchorCtr="0">
              <a:spAutoFit/>
            </a:bodyPr>
            <a:lstStyle/>
            <a:p>
              <a:pPr algn="ctr"/>
              <a:r>
                <a:rPr lang="zh-CN" sz="1350" b="1" dirty="0">
                  <a:solidFill>
                    <a:srgbClr val="7CFFB2"/>
                  </a:solidFill>
                  <a:latin typeface="Arial"/>
                  <a:ea typeface="Microsoft YaHei"/>
                  <a:cs typeface="Arial"/>
                </a:rPr>
                <a:t>ok</a:t>
              </a:r>
            </a:p>
          </p:txBody>
        </p:sp>
        <p:sp>
          <p:nvSpPr>
            <p:cNvPr id="48" name="TextBox 48"/>
            <p:cNvSpPr txBox="1"/>
            <p:nvPr/>
          </p:nvSpPr>
          <p:spPr>
            <a:xfrm>
              <a:off x="4569549" y="4254818"/>
              <a:ext cx="138253" cy="274320"/>
            </a:xfrm>
            <a:prstGeom prst="rect">
              <a:avLst/>
            </a:prstGeom>
            <a:noFill/>
            <a:ln>
              <a:noFill/>
            </a:ln>
          </p:spPr>
          <p:txBody>
            <a:bodyPr wrap="none" lIns="0" tIns="0" rIns="0" bIns="0" anchor="t" anchorCtr="0">
              <a:spAutoFit/>
            </a:bodyPr>
            <a:lstStyle/>
            <a:p>
              <a:pPr algn="ctr"/>
              <a:r>
                <a:rPr lang="zh-CN" sz="1350" b="1" dirty="0">
                  <a:solidFill>
                    <a:srgbClr val="FF6B6B"/>
                  </a:solidFill>
                  <a:latin typeface="Arial"/>
                  <a:ea typeface="Microsoft YaHei"/>
                  <a:cs typeface="Arial"/>
                </a:rPr>
                <a:t>X</a:t>
              </a:r>
            </a:p>
          </p:txBody>
        </p:sp>
        <p:sp>
          <p:nvSpPr>
            <p:cNvPr id="49" name="TextBox 49"/>
            <p:cNvSpPr txBox="1"/>
            <p:nvPr/>
          </p:nvSpPr>
          <p:spPr>
            <a:xfrm>
              <a:off x="2745917" y="4921568"/>
              <a:ext cx="242216" cy="274320"/>
            </a:xfrm>
            <a:prstGeom prst="rect">
              <a:avLst/>
            </a:prstGeom>
            <a:noFill/>
            <a:ln>
              <a:noFill/>
            </a:ln>
          </p:spPr>
          <p:txBody>
            <a:bodyPr wrap="none" lIns="0" tIns="0" rIns="0" bIns="0" anchor="t" anchorCtr="0">
              <a:spAutoFit/>
            </a:bodyPr>
            <a:lstStyle/>
            <a:p>
              <a:pPr algn="ctr"/>
              <a:r>
                <a:rPr lang="zh-CN" sz="1350" b="1" dirty="0">
                  <a:solidFill>
                    <a:srgbClr val="7CFFB2"/>
                  </a:solidFill>
                  <a:latin typeface="Arial"/>
                  <a:ea typeface="Microsoft YaHei"/>
                  <a:cs typeface="Arial"/>
                </a:rPr>
                <a:t>ok</a:t>
              </a:r>
            </a:p>
          </p:txBody>
        </p:sp>
        <p:sp>
          <p:nvSpPr>
            <p:cNvPr id="50" name="TextBox 50"/>
            <p:cNvSpPr txBox="1"/>
            <p:nvPr/>
          </p:nvSpPr>
          <p:spPr>
            <a:xfrm>
              <a:off x="3336467" y="4921568"/>
              <a:ext cx="242216" cy="274320"/>
            </a:xfrm>
            <a:prstGeom prst="rect">
              <a:avLst/>
            </a:prstGeom>
            <a:noFill/>
            <a:ln>
              <a:noFill/>
            </a:ln>
          </p:spPr>
          <p:txBody>
            <a:bodyPr wrap="none" lIns="0" tIns="0" rIns="0" bIns="0" anchor="t" anchorCtr="0">
              <a:spAutoFit/>
            </a:bodyPr>
            <a:lstStyle/>
            <a:p>
              <a:pPr algn="ctr"/>
              <a:r>
                <a:rPr lang="zh-CN" sz="1350" b="1" dirty="0">
                  <a:solidFill>
                    <a:srgbClr val="7CFFB2"/>
                  </a:solidFill>
                  <a:latin typeface="Arial"/>
                  <a:ea typeface="Microsoft YaHei"/>
                  <a:cs typeface="Arial"/>
                </a:rPr>
                <a:t>ok</a:t>
              </a:r>
            </a:p>
          </p:txBody>
        </p:sp>
        <p:sp>
          <p:nvSpPr>
            <p:cNvPr id="51" name="TextBox 51"/>
            <p:cNvSpPr txBox="1"/>
            <p:nvPr/>
          </p:nvSpPr>
          <p:spPr>
            <a:xfrm>
              <a:off x="3927017" y="4921568"/>
              <a:ext cx="242216" cy="274320"/>
            </a:xfrm>
            <a:prstGeom prst="rect">
              <a:avLst/>
            </a:prstGeom>
            <a:noFill/>
            <a:ln>
              <a:noFill/>
            </a:ln>
          </p:spPr>
          <p:txBody>
            <a:bodyPr wrap="none" lIns="0" tIns="0" rIns="0" bIns="0" anchor="t" anchorCtr="0">
              <a:spAutoFit/>
            </a:bodyPr>
            <a:lstStyle/>
            <a:p>
              <a:pPr algn="ctr"/>
              <a:r>
                <a:rPr lang="zh-CN" sz="1350" b="1" dirty="0">
                  <a:solidFill>
                    <a:srgbClr val="7CFFB2"/>
                  </a:solidFill>
                  <a:latin typeface="Arial"/>
                  <a:ea typeface="Microsoft YaHei"/>
                  <a:cs typeface="Arial"/>
                </a:rPr>
                <a:t>ok</a:t>
              </a:r>
            </a:p>
          </p:txBody>
        </p:sp>
        <p:sp>
          <p:nvSpPr>
            <p:cNvPr id="52" name="TextBox 52"/>
            <p:cNvSpPr txBox="1"/>
            <p:nvPr/>
          </p:nvSpPr>
          <p:spPr>
            <a:xfrm>
              <a:off x="4517567" y="4921568"/>
              <a:ext cx="242216" cy="274320"/>
            </a:xfrm>
            <a:prstGeom prst="rect">
              <a:avLst/>
            </a:prstGeom>
            <a:noFill/>
            <a:ln>
              <a:noFill/>
            </a:ln>
          </p:spPr>
          <p:txBody>
            <a:bodyPr wrap="none" lIns="0" tIns="0" rIns="0" bIns="0" anchor="t" anchorCtr="0">
              <a:spAutoFit/>
            </a:bodyPr>
            <a:lstStyle/>
            <a:p>
              <a:pPr algn="ctr"/>
              <a:r>
                <a:rPr lang="zh-CN" sz="1350" b="1" dirty="0">
                  <a:solidFill>
                    <a:srgbClr val="7CFFB2"/>
                  </a:solidFill>
                  <a:latin typeface="Arial"/>
                  <a:ea typeface="Microsoft YaHei"/>
                  <a:cs typeface="Arial"/>
                </a:rPr>
                <a:t>ok</a:t>
              </a:r>
            </a:p>
          </p:txBody>
        </p:sp>
      </p:grpSp>
      <p:grpSp>
        <p:nvGrpSpPr>
          <p:cNvPr id="66" name="Group 66"/>
          <p:cNvGrpSpPr/>
          <p:nvPr/>
        </p:nvGrpSpPr>
        <p:grpSpPr>
          <a:xfrm>
            <a:off x="6667500" y="1695450"/>
            <a:ext cx="6418303" cy="3733800"/>
            <a:chOff x="6667500" y="1695450"/>
            <a:chExt cx="6418303" cy="3733800"/>
          </a:xfrm>
        </p:grpSpPr>
        <p:sp>
          <p:nvSpPr>
            <p:cNvPr id="54" name="Rectangle 54"/>
            <p:cNvSpPr/>
            <p:nvPr/>
          </p:nvSpPr>
          <p:spPr>
            <a:xfrm>
              <a:off x="6667500" y="1695450"/>
              <a:ext cx="4476750" cy="3733800"/>
            </a:xfrm>
            <a:prstGeom prst="roundRect">
              <a:avLst>
                <a:gd name="adj" fmla="val 4592"/>
              </a:avLst>
            </a:prstGeom>
            <a:solidFill>
              <a:srgbClr val="141A2E"/>
            </a:solidFill>
            <a:ln w="19050">
              <a:solidFill>
                <a:srgbClr val="3A4668"/>
              </a:solidFill>
            </a:ln>
          </p:spPr>
        </p:sp>
        <p:sp>
          <p:nvSpPr>
            <p:cNvPr id="55" name="TextBox 55"/>
            <p:cNvSpPr txBox="1"/>
            <p:nvPr/>
          </p:nvSpPr>
          <p:spPr>
            <a:xfrm>
              <a:off x="6967538" y="1931194"/>
              <a:ext cx="2987992" cy="381000"/>
            </a:xfrm>
            <a:prstGeom prst="rect">
              <a:avLst/>
            </a:prstGeom>
            <a:noFill/>
            <a:ln>
              <a:noFill/>
            </a:ln>
          </p:spPr>
          <p:txBody>
            <a:bodyPr wrap="none" lIns="0" tIns="0" rIns="0" bIns="0" anchor="t" anchorCtr="0">
              <a:spAutoFit/>
            </a:bodyPr>
            <a:lstStyle/>
            <a:p>
              <a:pPr algn="l"/>
              <a:r>
                <a:rPr lang="zh-CN" sz="1875" b="1" dirty="0">
                  <a:solidFill>
                    <a:srgbClr val="F7F8FA"/>
                  </a:solidFill>
                  <a:latin typeface="Arial"/>
                  <a:ea typeface="Microsoft YaHei"/>
                  <a:cs typeface="Arial"/>
                </a:rPr>
                <a:t>Where the mask enters</a:t>
              </a:r>
            </a:p>
          </p:txBody>
        </p:sp>
        <p:sp>
          <p:nvSpPr>
            <p:cNvPr id="56" name="Rectangle 56"/>
            <p:cNvSpPr/>
            <p:nvPr/>
          </p:nvSpPr>
          <p:spPr>
            <a:xfrm>
              <a:off x="7105650" y="2571750"/>
              <a:ext cx="1409700" cy="590550"/>
            </a:xfrm>
            <a:prstGeom prst="roundRect">
              <a:avLst>
                <a:gd name="adj" fmla="val 19355"/>
              </a:avLst>
            </a:prstGeom>
            <a:solidFill>
              <a:srgbClr val="1D2740"/>
            </a:solidFill>
            <a:ln w="19050">
              <a:solidFill>
                <a:srgbClr val="FFCB6B"/>
              </a:solidFill>
            </a:ln>
          </p:spPr>
        </p:sp>
        <p:sp>
          <p:nvSpPr>
            <p:cNvPr id="57" name="TextBox 57"/>
            <p:cNvSpPr txBox="1"/>
            <p:nvPr/>
          </p:nvSpPr>
          <p:spPr>
            <a:xfrm>
              <a:off x="7331000" y="2796064"/>
              <a:ext cx="959001" cy="259080"/>
            </a:xfrm>
            <a:prstGeom prst="rect">
              <a:avLst/>
            </a:prstGeom>
            <a:noFill/>
            <a:ln>
              <a:noFill/>
            </a:ln>
          </p:spPr>
          <p:txBody>
            <a:bodyPr wrap="none" lIns="0" tIns="0" rIns="0" bIns="0" anchor="t" anchorCtr="0">
              <a:spAutoFit/>
            </a:bodyPr>
            <a:lstStyle/>
            <a:p>
              <a:pPr algn="ctr"/>
              <a:r>
                <a:rPr lang="zh-CN" sz="1275" dirty="0">
                  <a:solidFill>
                    <a:srgbClr val="F7F8FA"/>
                  </a:solidFill>
                  <a:latin typeface="Consolas"/>
                  <a:ea typeface="Microsoft YaHei"/>
                  <a:cs typeface="Consolas"/>
                </a:rPr>
                <a:t>raw scores</a:t>
              </a:r>
            </a:p>
          </p:txBody>
        </p:sp>
        <p:sp>
          <p:nvSpPr>
            <p:cNvPr id="58" name="Freeform 58"/>
            <p:cNvSpPr/>
            <p:nvPr/>
          </p:nvSpPr>
          <p:spPr>
            <a:xfrm>
              <a:off x="8591550" y="2867025"/>
              <a:ext cx="438150" cy="9525"/>
            </a:xfrm>
            <a:custGeom>
              <a:avLst/>
              <a:gdLst/>
              <a:ahLst/>
              <a:cxnLst/>
              <a:rect l="l" t="t" r="r" b="b"/>
              <a:pathLst>
                <a:path w="438150" h="9525">
                  <a:moveTo>
                    <a:pt x="0" y="0"/>
                  </a:moveTo>
                  <a:lnTo>
                    <a:pt x="438150" y="0"/>
                  </a:lnTo>
                </a:path>
              </a:pathLst>
            </a:custGeom>
            <a:noFill/>
            <a:ln w="38100">
              <a:solidFill>
                <a:srgbClr val="7CFFB2"/>
              </a:solidFill>
              <a:tailEnd type="triangle" w="lg" len="lg"/>
            </a:ln>
          </p:spPr>
        </p:sp>
        <p:sp>
          <p:nvSpPr>
            <p:cNvPr id="59" name="Rectangle 59"/>
            <p:cNvSpPr/>
            <p:nvPr/>
          </p:nvSpPr>
          <p:spPr>
            <a:xfrm>
              <a:off x="9163050" y="2571750"/>
              <a:ext cx="1409700" cy="590550"/>
            </a:xfrm>
            <a:prstGeom prst="roundRect">
              <a:avLst>
                <a:gd name="adj" fmla="val 19355"/>
              </a:avLst>
            </a:prstGeom>
            <a:solidFill>
              <a:srgbClr val="1D2740"/>
            </a:solidFill>
            <a:ln w="19050">
              <a:solidFill>
                <a:srgbClr val="FF6B6B"/>
              </a:solidFill>
            </a:ln>
          </p:spPr>
        </p:sp>
        <p:sp>
          <p:nvSpPr>
            <p:cNvPr id="60" name="TextBox 60"/>
            <p:cNvSpPr txBox="1"/>
            <p:nvPr/>
          </p:nvSpPr>
          <p:spPr>
            <a:xfrm>
              <a:off x="9300591" y="2670810"/>
              <a:ext cx="1134618" cy="243840"/>
            </a:xfrm>
            <a:prstGeom prst="rect">
              <a:avLst/>
            </a:prstGeom>
            <a:noFill/>
            <a:ln>
              <a:noFill/>
            </a:ln>
          </p:spPr>
          <p:txBody>
            <a:bodyPr wrap="none" lIns="0" tIns="0" rIns="0" bIns="0" anchor="t" anchorCtr="0">
              <a:spAutoFit/>
            </a:bodyPr>
            <a:lstStyle/>
            <a:p>
              <a:pPr algn="ctr"/>
              <a:r>
                <a:rPr lang="zh-CN" sz="1200" dirty="0">
                  <a:solidFill>
                    <a:srgbClr val="F7F8FA"/>
                  </a:solidFill>
                  <a:latin typeface="Consolas"/>
                  <a:ea typeface="Microsoft YaHei"/>
                  <a:cs typeface="Consolas"/>
                </a:rPr>
                <a:t>future scores</a:t>
              </a:r>
            </a:p>
          </p:txBody>
        </p:sp>
        <p:sp>
          <p:nvSpPr>
            <p:cNvPr id="61" name="TextBox 61"/>
            <p:cNvSpPr txBox="1"/>
            <p:nvPr/>
          </p:nvSpPr>
          <p:spPr>
            <a:xfrm>
              <a:off x="9354800" y="2907506"/>
              <a:ext cx="1026200" cy="228600"/>
            </a:xfrm>
            <a:prstGeom prst="rect">
              <a:avLst/>
            </a:prstGeom>
            <a:noFill/>
            <a:ln>
              <a:noFill/>
            </a:ln>
          </p:spPr>
          <p:txBody>
            <a:bodyPr wrap="none" lIns="0" tIns="0" rIns="0" bIns="0" anchor="t" anchorCtr="0">
              <a:spAutoFit/>
            </a:bodyPr>
            <a:lstStyle/>
            <a:p>
              <a:pPr algn="ctr"/>
              <a:r>
                <a:rPr lang="zh-CN" sz="1125" dirty="0">
                  <a:solidFill>
                    <a:srgbClr val="FF6B6B"/>
                  </a:solidFill>
                  <a:latin typeface="Consolas"/>
                  <a:ea typeface="Microsoft YaHei"/>
                  <a:cs typeface="Consolas"/>
                </a:rPr>
                <a:t>very negative</a:t>
              </a:r>
            </a:p>
          </p:txBody>
        </p:sp>
        <p:sp>
          <p:nvSpPr>
            <p:cNvPr id="62" name="Freeform 62"/>
            <p:cNvSpPr/>
            <p:nvPr/>
          </p:nvSpPr>
          <p:spPr>
            <a:xfrm>
              <a:off x="9867900" y="3257550"/>
              <a:ext cx="9525" cy="381000"/>
            </a:xfrm>
            <a:custGeom>
              <a:avLst/>
              <a:gdLst/>
              <a:ahLst/>
              <a:cxnLst/>
              <a:rect l="l" t="t" r="r" b="b"/>
              <a:pathLst>
                <a:path w="9525" h="381000">
                  <a:moveTo>
                    <a:pt x="0" y="0"/>
                  </a:moveTo>
                  <a:lnTo>
                    <a:pt x="0" y="381000"/>
                  </a:lnTo>
                </a:path>
              </a:pathLst>
            </a:custGeom>
            <a:noFill/>
            <a:ln w="38100">
              <a:solidFill>
                <a:srgbClr val="7CFFB2"/>
              </a:solidFill>
              <a:tailEnd type="triangle" w="lg" len="lg"/>
            </a:ln>
          </p:spPr>
        </p:sp>
        <p:sp>
          <p:nvSpPr>
            <p:cNvPr id="63" name="Rectangle 63"/>
            <p:cNvSpPr/>
            <p:nvPr/>
          </p:nvSpPr>
          <p:spPr>
            <a:xfrm>
              <a:off x="8629650" y="3771900"/>
              <a:ext cx="2476500" cy="590550"/>
            </a:xfrm>
            <a:prstGeom prst="roundRect">
              <a:avLst>
                <a:gd name="adj" fmla="val 19355"/>
              </a:avLst>
            </a:prstGeom>
            <a:solidFill>
              <a:srgbClr val="1D2740"/>
            </a:solidFill>
            <a:ln w="19050">
              <a:solidFill>
                <a:srgbClr val="C792EA"/>
              </a:solidFill>
            </a:ln>
          </p:spPr>
        </p:sp>
        <p:sp>
          <p:nvSpPr>
            <p:cNvPr id="64" name="TextBox 64"/>
            <p:cNvSpPr txBox="1"/>
            <p:nvPr/>
          </p:nvSpPr>
          <p:spPr>
            <a:xfrm>
              <a:off x="8810327" y="3996214"/>
              <a:ext cx="2115145" cy="259080"/>
            </a:xfrm>
            <a:prstGeom prst="rect">
              <a:avLst/>
            </a:prstGeom>
            <a:noFill/>
            <a:ln>
              <a:noFill/>
            </a:ln>
          </p:spPr>
          <p:txBody>
            <a:bodyPr wrap="none" lIns="0" tIns="0" rIns="0" bIns="0" anchor="t" anchorCtr="0">
              <a:spAutoFit/>
            </a:bodyPr>
            <a:lstStyle/>
            <a:p>
              <a:pPr algn="ctr"/>
              <a:r>
                <a:rPr lang="zh-CN" sz="1275" dirty="0">
                  <a:solidFill>
                    <a:srgbClr val="F7F8FA"/>
                  </a:solidFill>
                  <a:latin typeface="Consolas"/>
                  <a:ea typeface="Microsoft YaHei"/>
                  <a:cs typeface="Consolas"/>
                </a:rPr>
                <a:t>softmax(masked scores)</a:t>
              </a:r>
            </a:p>
          </p:txBody>
        </p:sp>
        <p:sp>
          <p:nvSpPr>
            <p:cNvPr id="65" name="TextBox 65"/>
            <p:cNvSpPr txBox="1"/>
            <p:nvPr/>
          </p:nvSpPr>
          <p:spPr>
            <a:xfrm>
              <a:off x="6975158" y="4720114"/>
              <a:ext cx="6110645" cy="259080"/>
            </a:xfrm>
            <a:prstGeom prst="rect">
              <a:avLst/>
            </a:prstGeom>
            <a:noFill/>
            <a:ln>
              <a:noFill/>
            </a:ln>
          </p:spPr>
          <p:txBody>
            <a:bodyPr wrap="none" lIns="0" tIns="0" rIns="0" bIns="0" anchor="t" anchorCtr="0">
              <a:spAutoFit/>
            </a:bodyPr>
            <a:lstStyle/>
            <a:p>
              <a:pPr algn="l"/>
              <a:r>
                <a:rPr lang="zh-CN" sz="1275" dirty="0">
                  <a:solidFill>
                    <a:srgbClr val="AAB6D3"/>
                  </a:solidFill>
                  <a:latin typeface="Arial"/>
                  <a:ea typeface="Microsoft YaHei"/>
                  <a:cs typeface="Arial"/>
                </a:rPr>
                <a:t>Forbidden future positions receive near-zero probability after softmax.</a:t>
              </a:r>
            </a:p>
          </p:txBody>
        </p:sp>
      </p:grpSp>
      <p:sp>
        <p:nvSpPr>
          <p:cNvPr id="67" name="TextBox 67"/>
          <p:cNvSpPr txBox="1"/>
          <p:nvPr/>
        </p:nvSpPr>
        <p:spPr>
          <a:xfrm>
            <a:off x="501968" y="6238399"/>
            <a:ext cx="4341304" cy="198120"/>
          </a:xfrm>
          <a:prstGeom prst="rect">
            <a:avLst/>
          </a:prstGeom>
          <a:noFill/>
          <a:ln>
            <a:noFill/>
          </a:ln>
        </p:spPr>
        <p:txBody>
          <a:bodyPr wrap="none" lIns="0" tIns="0" rIns="0" bIns="0" anchor="t" anchorCtr="0">
            <a:spAutoFit/>
          </a:bodyPr>
          <a:lstStyle/>
          <a:p>
            <a:pPr algn="l"/>
            <a:r>
              <a:rPr lang="zh-CN" sz="975" dirty="0">
                <a:solidFill>
                  <a:srgbClr val="AAB6D3"/>
                </a:solidFill>
                <a:latin typeface="Arial"/>
                <a:ea typeface="Microsoft YaHei"/>
                <a:cs typeface="Arial"/>
              </a:rPr>
              <a:t>Causal masking prevents future-token leakage in language modeling.</a:t>
            </a:r>
          </a:p>
        </p:txBody>
      </p:sp>
      <p:sp>
        <p:nvSpPr>
          <p:cNvPr id="68" name="TextBox 68"/>
          <p:cNvSpPr txBox="1"/>
          <p:nvPr/>
        </p:nvSpPr>
        <p:spPr>
          <a:xfrm>
            <a:off x="11398568" y="6238399"/>
            <a:ext cx="460319"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08 / 10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slide(fromBottom)">
                                      <p:cBhvr>
                                        <p:cTn id="7" dur="400"/>
                                        <p:tgtEl>
                                          <p:spTgt spid="53"/>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66"/>
                                        </p:tgtEl>
                                        <p:attrNameLst>
                                          <p:attrName>style.visibility</p:attrName>
                                        </p:attrNameLst>
                                      </p:cBhvr>
                                      <p:to>
                                        <p:strVal val="visible"/>
                                      </p:to>
                                    </p:set>
                                    <p:animEffect transition="in" filter="image">
                                      <p:cBhvr>
                                        <p:cTn id="11" dur="4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6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C1020"/>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73149"/>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73149"/>
            </a:solidFill>
          </a:ln>
        </p:spPr>
      </p:sp>
      <p:grpSp>
        <p:nvGrpSpPr>
          <p:cNvPr id="8" name="Group 8"/>
          <p:cNvGrpSpPr/>
          <p:nvPr/>
        </p:nvGrpSpPr>
        <p:grpSpPr>
          <a:xfrm>
            <a:off x="482918" y="342424"/>
            <a:ext cx="11194732" cy="772001"/>
            <a:chOff x="482918" y="342424"/>
            <a:chExt cx="11194732" cy="772001"/>
          </a:xfrm>
        </p:grpSpPr>
        <p:sp>
          <p:nvSpPr>
            <p:cNvPr id="5" name="TextBox 5"/>
            <p:cNvSpPr txBox="1"/>
            <p:nvPr/>
          </p:nvSpPr>
          <p:spPr>
            <a:xfrm>
              <a:off x="482918" y="342424"/>
              <a:ext cx="5520922" cy="502920"/>
            </a:xfrm>
            <a:prstGeom prst="rect">
              <a:avLst/>
            </a:prstGeom>
            <a:noFill/>
            <a:ln>
              <a:noFill/>
            </a:ln>
          </p:spPr>
          <p:txBody>
            <a:bodyPr wrap="none" lIns="0" tIns="0" rIns="0" bIns="0" anchor="t" anchorCtr="0">
              <a:spAutoFit/>
            </a:bodyPr>
            <a:lstStyle/>
            <a:p>
              <a:pPr algn="l"/>
              <a:r>
                <a:rPr lang="zh-CN" sz="2475" b="1" dirty="0">
                  <a:solidFill>
                    <a:srgbClr val="F7F8FA"/>
                  </a:solidFill>
                  <a:latin typeface="Arial"/>
                  <a:ea typeface="Microsoft YaHei"/>
                  <a:cs typeface="Arial"/>
                </a:rPr>
                <a:t>Residual and Layer Norm Context</a:t>
              </a:r>
            </a:p>
          </p:txBody>
        </p:sp>
        <p:sp>
          <p:nvSpPr>
            <p:cNvPr id="6" name="TextBox 6"/>
            <p:cNvSpPr txBox="1"/>
            <p:nvPr/>
          </p:nvSpPr>
          <p:spPr>
            <a:xfrm>
              <a:off x="497205" y="768668"/>
              <a:ext cx="6803136" cy="274320"/>
            </a:xfrm>
            <a:prstGeom prst="rect">
              <a:avLst/>
            </a:prstGeom>
            <a:noFill/>
            <a:ln>
              <a:noFill/>
            </a:ln>
          </p:spPr>
          <p:txBody>
            <a:bodyPr wrap="none" lIns="0" tIns="0" rIns="0" bIns="0" anchor="t" anchorCtr="0">
              <a:spAutoFit/>
            </a:bodyPr>
            <a:lstStyle/>
            <a:p>
              <a:pPr algn="l"/>
              <a:r>
                <a:rPr lang="zh-CN" sz="1350" dirty="0">
                  <a:solidFill>
                    <a:srgbClr val="AAB6D3"/>
                  </a:solidFill>
                  <a:latin typeface="Arial"/>
                  <a:ea typeface="Microsoft YaHei"/>
                  <a:cs typeface="Arial"/>
                </a:rPr>
                <a:t>Self-attention output is usually wrapped before the feed-forward sublayer.</a:t>
              </a:r>
            </a:p>
          </p:txBody>
        </p:sp>
        <p:sp>
          <p:nvSpPr>
            <p:cNvPr id="7" name="Line 7"/>
            <p:cNvSpPr/>
            <p:nvPr/>
          </p:nvSpPr>
          <p:spPr>
            <a:xfrm>
              <a:off x="514350" y="1104900"/>
              <a:ext cx="11163300" cy="9525"/>
            </a:xfrm>
            <a:custGeom>
              <a:avLst/>
              <a:gdLst/>
              <a:ahLst/>
              <a:cxnLst/>
              <a:rect l="l" t="t" r="r" b="b"/>
              <a:pathLst>
                <a:path w="11163300" h="9525">
                  <a:moveTo>
                    <a:pt x="0" y="0"/>
                  </a:moveTo>
                  <a:lnTo>
                    <a:pt x="11163300" y="0"/>
                  </a:lnTo>
                </a:path>
              </a:pathLst>
            </a:custGeom>
            <a:noFill/>
            <a:ln w="19050">
              <a:solidFill>
                <a:srgbClr val="3A4668"/>
              </a:solidFill>
            </a:ln>
          </p:spPr>
        </p:sp>
      </p:grpSp>
      <p:grpSp>
        <p:nvGrpSpPr>
          <p:cNvPr id="32" name="Group 32"/>
          <p:cNvGrpSpPr/>
          <p:nvPr/>
        </p:nvGrpSpPr>
        <p:grpSpPr>
          <a:xfrm>
            <a:off x="742950" y="1676400"/>
            <a:ext cx="10725150" cy="3714750"/>
            <a:chOff x="742950" y="1676400"/>
            <a:chExt cx="10725150" cy="3714750"/>
          </a:xfrm>
        </p:grpSpPr>
        <p:sp>
          <p:nvSpPr>
            <p:cNvPr id="9" name="Rectangle 9"/>
            <p:cNvSpPr/>
            <p:nvPr/>
          </p:nvSpPr>
          <p:spPr>
            <a:xfrm>
              <a:off x="742950" y="1676400"/>
              <a:ext cx="10725150" cy="3714750"/>
            </a:xfrm>
            <a:prstGeom prst="roundRect">
              <a:avLst>
                <a:gd name="adj" fmla="val 4615"/>
              </a:avLst>
            </a:prstGeom>
            <a:solidFill>
              <a:srgbClr val="141A2E"/>
            </a:solidFill>
            <a:ln w="19050">
              <a:solidFill>
                <a:srgbClr val="3A4668"/>
              </a:solidFill>
            </a:ln>
          </p:spPr>
        </p:sp>
        <p:sp>
          <p:nvSpPr>
            <p:cNvPr id="10" name="TextBox 10"/>
            <p:cNvSpPr txBox="1"/>
            <p:nvPr/>
          </p:nvSpPr>
          <p:spPr>
            <a:xfrm>
              <a:off x="1120140" y="1901190"/>
              <a:ext cx="3372536" cy="365760"/>
            </a:xfrm>
            <a:prstGeom prst="rect">
              <a:avLst/>
            </a:prstGeom>
            <a:noFill/>
            <a:ln>
              <a:noFill/>
            </a:ln>
          </p:spPr>
          <p:txBody>
            <a:bodyPr wrap="none" lIns="0" tIns="0" rIns="0" bIns="0" anchor="t" anchorCtr="0">
              <a:spAutoFit/>
            </a:bodyPr>
            <a:lstStyle/>
            <a:p>
              <a:pPr algn="l"/>
              <a:r>
                <a:rPr lang="zh-CN" sz="1800" b="1" dirty="0">
                  <a:solidFill>
                    <a:srgbClr val="F7F8FA"/>
                  </a:solidFill>
                  <a:latin typeface="Arial"/>
                  <a:ea typeface="Microsoft YaHei"/>
                  <a:cs typeface="Arial"/>
                </a:rPr>
                <a:t>Transformer block context</a:t>
              </a:r>
            </a:p>
          </p:txBody>
        </p:sp>
        <p:sp>
          <p:nvSpPr>
            <p:cNvPr id="11" name="Rectangle 11"/>
            <p:cNvSpPr/>
            <p:nvPr/>
          </p:nvSpPr>
          <p:spPr>
            <a:xfrm>
              <a:off x="1219200" y="2971800"/>
              <a:ext cx="1257300" cy="704850"/>
            </a:xfrm>
            <a:prstGeom prst="roundRect">
              <a:avLst>
                <a:gd name="adj" fmla="val 16216"/>
              </a:avLst>
            </a:prstGeom>
            <a:solidFill>
              <a:srgbClr val="1D2740"/>
            </a:solidFill>
            <a:ln w="28575">
              <a:solidFill>
                <a:srgbClr val="8AB4FF"/>
              </a:solidFill>
            </a:ln>
          </p:spPr>
        </p:sp>
        <p:sp>
          <p:nvSpPr>
            <p:cNvPr id="12" name="TextBox 12"/>
            <p:cNvSpPr txBox="1"/>
            <p:nvPr/>
          </p:nvSpPr>
          <p:spPr>
            <a:xfrm>
              <a:off x="1781199" y="3111818"/>
              <a:ext cx="133302" cy="274320"/>
            </a:xfrm>
            <a:prstGeom prst="rect">
              <a:avLst/>
            </a:prstGeom>
            <a:noFill/>
            <a:ln>
              <a:noFill/>
            </a:ln>
          </p:spPr>
          <p:txBody>
            <a:bodyPr wrap="none" lIns="0" tIns="0" rIns="0" bIns="0" anchor="t" anchorCtr="0">
              <a:spAutoFit/>
            </a:bodyPr>
            <a:lstStyle/>
            <a:p>
              <a:pPr algn="ctr"/>
              <a:r>
                <a:rPr lang="zh-CN" sz="1350" dirty="0">
                  <a:solidFill>
                    <a:srgbClr val="F7F8FA"/>
                  </a:solidFill>
                  <a:latin typeface="Consolas"/>
                  <a:ea typeface="Microsoft YaHei"/>
                  <a:cs typeface="Consolas"/>
                </a:rPr>
                <a:t>X</a:t>
              </a:r>
            </a:p>
          </p:txBody>
        </p:sp>
        <p:sp>
          <p:nvSpPr>
            <p:cNvPr id="13" name="TextBox 13"/>
            <p:cNvSpPr txBox="1"/>
            <p:nvPr/>
          </p:nvSpPr>
          <p:spPr>
            <a:xfrm>
              <a:off x="1659493" y="3372802"/>
              <a:ext cx="376714" cy="213360"/>
            </a:xfrm>
            <a:prstGeom prst="rect">
              <a:avLst/>
            </a:prstGeom>
            <a:noFill/>
            <a:ln>
              <a:noFill/>
            </a:ln>
          </p:spPr>
          <p:txBody>
            <a:bodyPr wrap="none" lIns="0" tIns="0" rIns="0" bIns="0" anchor="t" anchorCtr="0">
              <a:spAutoFit/>
            </a:bodyPr>
            <a:lstStyle/>
            <a:p>
              <a:pPr algn="ctr"/>
              <a:r>
                <a:rPr lang="zh-CN" sz="1050" dirty="0">
                  <a:solidFill>
                    <a:srgbClr val="AAB6D3"/>
                  </a:solidFill>
                  <a:latin typeface="Consolas"/>
                  <a:ea typeface="Microsoft YaHei"/>
                  <a:cs typeface="Consolas"/>
                </a:rPr>
                <a:t>input</a:t>
              </a:r>
            </a:p>
          </p:txBody>
        </p:sp>
        <p:sp>
          <p:nvSpPr>
            <p:cNvPr id="14" name="Freeform 14"/>
            <p:cNvSpPr/>
            <p:nvPr/>
          </p:nvSpPr>
          <p:spPr>
            <a:xfrm>
              <a:off x="2552700" y="3324225"/>
              <a:ext cx="628650" cy="9525"/>
            </a:xfrm>
            <a:custGeom>
              <a:avLst/>
              <a:gdLst/>
              <a:ahLst/>
              <a:cxnLst/>
              <a:rect l="l" t="t" r="r" b="b"/>
              <a:pathLst>
                <a:path w="628650" h="9525">
                  <a:moveTo>
                    <a:pt x="0" y="0"/>
                  </a:moveTo>
                  <a:lnTo>
                    <a:pt x="628650" y="0"/>
                  </a:lnTo>
                </a:path>
              </a:pathLst>
            </a:custGeom>
            <a:noFill/>
            <a:ln w="47625">
              <a:solidFill>
                <a:srgbClr val="7CFFB2"/>
              </a:solidFill>
              <a:tailEnd type="triangle" w="lg" len="lg"/>
            </a:ln>
          </p:spPr>
        </p:sp>
        <p:sp>
          <p:nvSpPr>
            <p:cNvPr id="15" name="Rectangle 15"/>
            <p:cNvSpPr/>
            <p:nvPr/>
          </p:nvSpPr>
          <p:spPr>
            <a:xfrm>
              <a:off x="3314700" y="2724150"/>
              <a:ext cx="2000250" cy="1200150"/>
            </a:xfrm>
            <a:prstGeom prst="roundRect">
              <a:avLst>
                <a:gd name="adj" fmla="val 11111"/>
              </a:avLst>
            </a:prstGeom>
            <a:solidFill>
              <a:srgbClr val="1D2740"/>
            </a:solidFill>
            <a:ln w="28575">
              <a:solidFill>
                <a:srgbClr val="C792EA"/>
              </a:solidFill>
            </a:ln>
          </p:spPr>
        </p:sp>
        <p:sp>
          <p:nvSpPr>
            <p:cNvPr id="16" name="TextBox 16"/>
            <p:cNvSpPr txBox="1"/>
            <p:nvPr/>
          </p:nvSpPr>
          <p:spPr>
            <a:xfrm>
              <a:off x="3500923" y="2935129"/>
              <a:ext cx="1627803" cy="320040"/>
            </a:xfrm>
            <a:prstGeom prst="rect">
              <a:avLst/>
            </a:prstGeom>
            <a:noFill/>
            <a:ln>
              <a:noFill/>
            </a:ln>
          </p:spPr>
          <p:txBody>
            <a:bodyPr wrap="none" lIns="0" tIns="0" rIns="0" bIns="0" anchor="t" anchorCtr="0">
              <a:spAutoFit/>
            </a:bodyPr>
            <a:lstStyle/>
            <a:p>
              <a:pPr algn="ctr"/>
              <a:r>
                <a:rPr lang="zh-CN" sz="1575" b="1" dirty="0">
                  <a:solidFill>
                    <a:srgbClr val="F7F8FA"/>
                  </a:solidFill>
                  <a:latin typeface="Arial"/>
                  <a:ea typeface="Microsoft YaHei"/>
                  <a:cs typeface="Arial"/>
                </a:rPr>
                <a:t>Self-attention</a:t>
              </a:r>
            </a:p>
          </p:txBody>
        </p:sp>
        <p:sp>
          <p:nvSpPr>
            <p:cNvPr id="17" name="TextBox 17"/>
            <p:cNvSpPr txBox="1"/>
            <p:nvPr/>
          </p:nvSpPr>
          <p:spPr>
            <a:xfrm>
              <a:off x="3486686" y="3288506"/>
              <a:ext cx="1656278"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Arial"/>
                  <a:ea typeface="Microsoft YaHei"/>
                  <a:cs typeface="Arial"/>
                </a:rPr>
                <a:t>the sublayer explained</a:t>
              </a:r>
            </a:p>
          </p:txBody>
        </p:sp>
        <p:sp>
          <p:nvSpPr>
            <p:cNvPr id="18" name="TextBox 18"/>
            <p:cNvSpPr txBox="1"/>
            <p:nvPr/>
          </p:nvSpPr>
          <p:spPr>
            <a:xfrm>
              <a:off x="3880485" y="3517106"/>
              <a:ext cx="868680"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Arial"/>
                  <a:ea typeface="Microsoft YaHei"/>
                  <a:cs typeface="Arial"/>
                </a:rPr>
                <a:t>in this deck</a:t>
              </a:r>
            </a:p>
          </p:txBody>
        </p:sp>
        <p:sp>
          <p:nvSpPr>
            <p:cNvPr id="19" name="Freeform 19"/>
            <p:cNvSpPr/>
            <p:nvPr/>
          </p:nvSpPr>
          <p:spPr>
            <a:xfrm>
              <a:off x="5391150" y="3324225"/>
              <a:ext cx="590550" cy="9525"/>
            </a:xfrm>
            <a:custGeom>
              <a:avLst/>
              <a:gdLst/>
              <a:ahLst/>
              <a:cxnLst/>
              <a:rect l="l" t="t" r="r" b="b"/>
              <a:pathLst>
                <a:path w="590550" h="9525">
                  <a:moveTo>
                    <a:pt x="0" y="0"/>
                  </a:moveTo>
                  <a:lnTo>
                    <a:pt x="590550" y="0"/>
                  </a:lnTo>
                </a:path>
              </a:pathLst>
            </a:custGeom>
            <a:noFill/>
            <a:ln w="47625">
              <a:solidFill>
                <a:srgbClr val="7CFFB2"/>
              </a:solidFill>
              <a:tailEnd type="triangle" w="lg" len="lg"/>
            </a:ln>
          </p:spPr>
        </p:sp>
        <p:sp>
          <p:nvSpPr>
            <p:cNvPr id="20" name="Ellipse 20"/>
            <p:cNvSpPr/>
            <p:nvPr/>
          </p:nvSpPr>
          <p:spPr>
            <a:xfrm>
              <a:off x="6038850" y="2981325"/>
              <a:ext cx="685800" cy="685800"/>
            </a:xfrm>
            <a:prstGeom prst="ellipse">
              <a:avLst/>
            </a:prstGeom>
            <a:solidFill>
              <a:srgbClr val="1D2740"/>
            </a:solidFill>
            <a:ln w="28575">
              <a:solidFill>
                <a:srgbClr val="FFCB6B"/>
              </a:solidFill>
            </a:ln>
          </p:spPr>
        </p:sp>
        <p:sp>
          <p:nvSpPr>
            <p:cNvPr id="21" name="TextBox 21"/>
            <p:cNvSpPr txBox="1"/>
            <p:nvPr/>
          </p:nvSpPr>
          <p:spPr>
            <a:xfrm>
              <a:off x="6289581" y="3206115"/>
              <a:ext cx="184337" cy="365760"/>
            </a:xfrm>
            <a:prstGeom prst="rect">
              <a:avLst/>
            </a:prstGeom>
            <a:noFill/>
            <a:ln>
              <a:noFill/>
            </a:ln>
          </p:spPr>
          <p:txBody>
            <a:bodyPr wrap="none" lIns="0" tIns="0" rIns="0" bIns="0" anchor="t" anchorCtr="0">
              <a:spAutoFit/>
            </a:bodyPr>
            <a:lstStyle/>
            <a:p>
              <a:pPr algn="ctr"/>
              <a:r>
                <a:rPr lang="zh-CN" sz="1800" b="1" dirty="0">
                  <a:solidFill>
                    <a:srgbClr val="FFCB6B"/>
                  </a:solidFill>
                  <a:latin typeface="Consolas"/>
                  <a:ea typeface="Microsoft YaHei"/>
                  <a:cs typeface="Consolas"/>
                </a:rPr>
                <a:t>+</a:t>
              </a:r>
            </a:p>
          </p:txBody>
        </p:sp>
        <p:sp>
          <p:nvSpPr>
            <p:cNvPr id="22" name="Freeform 22"/>
            <p:cNvSpPr/>
            <p:nvPr/>
          </p:nvSpPr>
          <p:spPr>
            <a:xfrm>
              <a:off x="1847850" y="3638550"/>
              <a:ext cx="4381500" cy="1123950"/>
            </a:xfrm>
            <a:custGeom>
              <a:avLst/>
              <a:gdLst/>
              <a:ahLst/>
              <a:cxnLst/>
              <a:rect l="l" t="t" r="r" b="b"/>
              <a:pathLst>
                <a:path w="4381500" h="1123950">
                  <a:moveTo>
                    <a:pt x="0" y="400050"/>
                  </a:moveTo>
                  <a:cubicBezTo>
                    <a:pt x="1104900" y="1123950"/>
                    <a:pt x="3429000" y="1123950"/>
                    <a:pt x="4381500" y="0"/>
                  </a:cubicBezTo>
                </a:path>
              </a:pathLst>
            </a:custGeom>
            <a:noFill/>
            <a:ln w="38100">
              <a:solidFill>
                <a:srgbClr val="8AB4FF"/>
              </a:solidFill>
              <a:tailEnd type="triangle" w="lg" len="lg"/>
            </a:ln>
          </p:spPr>
        </p:sp>
        <p:sp>
          <p:nvSpPr>
            <p:cNvPr id="23" name="TextBox 23"/>
            <p:cNvSpPr txBox="1"/>
            <p:nvPr/>
          </p:nvSpPr>
          <p:spPr>
            <a:xfrm>
              <a:off x="1856104" y="4831556"/>
              <a:ext cx="3564892" cy="228600"/>
            </a:xfrm>
            <a:prstGeom prst="rect">
              <a:avLst/>
            </a:prstGeom>
            <a:noFill/>
            <a:ln>
              <a:noFill/>
            </a:ln>
          </p:spPr>
          <p:txBody>
            <a:bodyPr wrap="none" lIns="0" tIns="0" rIns="0" bIns="0" anchor="t" anchorCtr="0">
              <a:spAutoFit/>
            </a:bodyPr>
            <a:lstStyle/>
            <a:p>
              <a:pPr algn="ctr"/>
              <a:r>
                <a:rPr lang="zh-CN" sz="1125" b="1" dirty="0">
                  <a:solidFill>
                    <a:srgbClr val="8AB4FF"/>
                  </a:solidFill>
                  <a:latin typeface="Arial"/>
                  <a:ea typeface="Microsoft YaHei"/>
                  <a:cs typeface="Arial"/>
                </a:rPr>
                <a:t>residual connection carries the input forward</a:t>
              </a:r>
            </a:p>
          </p:txBody>
        </p:sp>
        <p:sp>
          <p:nvSpPr>
            <p:cNvPr id="24" name="Freeform 24"/>
            <p:cNvSpPr/>
            <p:nvPr/>
          </p:nvSpPr>
          <p:spPr>
            <a:xfrm>
              <a:off x="6800850" y="3324225"/>
              <a:ext cx="552450" cy="9525"/>
            </a:xfrm>
            <a:custGeom>
              <a:avLst/>
              <a:gdLst/>
              <a:ahLst/>
              <a:cxnLst/>
              <a:rect l="l" t="t" r="r" b="b"/>
              <a:pathLst>
                <a:path w="552450" h="9525">
                  <a:moveTo>
                    <a:pt x="0" y="0"/>
                  </a:moveTo>
                  <a:lnTo>
                    <a:pt x="552450" y="0"/>
                  </a:lnTo>
                </a:path>
              </a:pathLst>
            </a:custGeom>
            <a:noFill/>
            <a:ln w="47625">
              <a:solidFill>
                <a:srgbClr val="7CFFB2"/>
              </a:solidFill>
              <a:tailEnd type="triangle" w="lg" len="lg"/>
            </a:ln>
          </p:spPr>
        </p:sp>
        <p:sp>
          <p:nvSpPr>
            <p:cNvPr id="25" name="Rectangle 25"/>
            <p:cNvSpPr/>
            <p:nvPr/>
          </p:nvSpPr>
          <p:spPr>
            <a:xfrm>
              <a:off x="7486650" y="2857500"/>
              <a:ext cx="1638300" cy="933450"/>
            </a:xfrm>
            <a:prstGeom prst="roundRect">
              <a:avLst>
                <a:gd name="adj" fmla="val 14286"/>
              </a:avLst>
            </a:prstGeom>
            <a:solidFill>
              <a:srgbClr val="1D2740"/>
            </a:solidFill>
            <a:ln w="28575">
              <a:solidFill>
                <a:srgbClr val="FFCB6B"/>
              </a:solidFill>
            </a:ln>
          </p:spPr>
        </p:sp>
        <p:sp>
          <p:nvSpPr>
            <p:cNvPr id="26" name="TextBox 26"/>
            <p:cNvSpPr txBox="1"/>
            <p:nvPr/>
          </p:nvSpPr>
          <p:spPr>
            <a:xfrm>
              <a:off x="7684860" y="3049429"/>
              <a:ext cx="1241880" cy="320040"/>
            </a:xfrm>
            <a:prstGeom prst="rect">
              <a:avLst/>
            </a:prstGeom>
            <a:noFill/>
            <a:ln>
              <a:noFill/>
            </a:ln>
          </p:spPr>
          <p:txBody>
            <a:bodyPr wrap="none" lIns="0" tIns="0" rIns="0" bIns="0" anchor="t" anchorCtr="0">
              <a:spAutoFit/>
            </a:bodyPr>
            <a:lstStyle/>
            <a:p>
              <a:pPr algn="ctr"/>
              <a:r>
                <a:rPr lang="zh-CN" sz="1575" b="1" dirty="0">
                  <a:solidFill>
                    <a:srgbClr val="F7F8FA"/>
                  </a:solidFill>
                  <a:latin typeface="Arial"/>
                  <a:ea typeface="Microsoft YaHei"/>
                  <a:cs typeface="Arial"/>
                </a:rPr>
                <a:t>Layer norm</a:t>
              </a:r>
            </a:p>
          </p:txBody>
        </p:sp>
        <p:sp>
          <p:nvSpPr>
            <p:cNvPr id="27" name="TextBox 27"/>
            <p:cNvSpPr txBox="1"/>
            <p:nvPr/>
          </p:nvSpPr>
          <p:spPr>
            <a:xfrm>
              <a:off x="7590175" y="3383756"/>
              <a:ext cx="1431250" cy="228600"/>
            </a:xfrm>
            <a:prstGeom prst="rect">
              <a:avLst/>
            </a:prstGeom>
            <a:noFill/>
            <a:ln>
              <a:noFill/>
            </a:ln>
          </p:spPr>
          <p:txBody>
            <a:bodyPr wrap="none" lIns="0" tIns="0" rIns="0" bIns="0" anchor="t" anchorCtr="0">
              <a:spAutoFit/>
            </a:bodyPr>
            <a:lstStyle/>
            <a:p>
              <a:pPr algn="ctr"/>
              <a:r>
                <a:rPr lang="zh-CN" sz="1125" dirty="0">
                  <a:solidFill>
                    <a:srgbClr val="AAB6D3"/>
                  </a:solidFill>
                  <a:latin typeface="Arial"/>
                  <a:ea typeface="Microsoft YaHei"/>
                  <a:cs typeface="Arial"/>
                </a:rPr>
                <a:t>normalizes context</a:t>
              </a:r>
            </a:p>
          </p:txBody>
        </p:sp>
        <p:sp>
          <p:nvSpPr>
            <p:cNvPr id="28" name="Freeform 28"/>
            <p:cNvSpPr/>
            <p:nvPr/>
          </p:nvSpPr>
          <p:spPr>
            <a:xfrm>
              <a:off x="9201150" y="3324225"/>
              <a:ext cx="571500" cy="9525"/>
            </a:xfrm>
            <a:custGeom>
              <a:avLst/>
              <a:gdLst/>
              <a:ahLst/>
              <a:cxnLst/>
              <a:rect l="l" t="t" r="r" b="b"/>
              <a:pathLst>
                <a:path w="571500" h="9525">
                  <a:moveTo>
                    <a:pt x="0" y="0"/>
                  </a:moveTo>
                  <a:lnTo>
                    <a:pt x="571500" y="0"/>
                  </a:lnTo>
                </a:path>
              </a:pathLst>
            </a:custGeom>
            <a:noFill/>
            <a:ln w="47625">
              <a:solidFill>
                <a:srgbClr val="7CFFB2"/>
              </a:solidFill>
              <a:tailEnd type="triangle" w="lg" len="lg"/>
            </a:ln>
          </p:spPr>
        </p:sp>
        <p:sp>
          <p:nvSpPr>
            <p:cNvPr id="29" name="Rectangle 29"/>
            <p:cNvSpPr/>
            <p:nvPr/>
          </p:nvSpPr>
          <p:spPr>
            <a:xfrm>
              <a:off x="9906000" y="2857500"/>
              <a:ext cx="1162050" cy="933450"/>
            </a:xfrm>
            <a:prstGeom prst="roundRect">
              <a:avLst>
                <a:gd name="adj" fmla="val 14286"/>
              </a:avLst>
            </a:prstGeom>
            <a:solidFill>
              <a:srgbClr val="1D2740"/>
            </a:solidFill>
            <a:ln w="28575">
              <a:solidFill>
                <a:srgbClr val="3A4668"/>
              </a:solidFill>
            </a:ln>
          </p:spPr>
        </p:sp>
        <p:sp>
          <p:nvSpPr>
            <p:cNvPr id="30" name="TextBox 30"/>
            <p:cNvSpPr txBox="1"/>
            <p:nvPr/>
          </p:nvSpPr>
          <p:spPr>
            <a:xfrm>
              <a:off x="10179189" y="3057525"/>
              <a:ext cx="615672" cy="304800"/>
            </a:xfrm>
            <a:prstGeom prst="rect">
              <a:avLst/>
            </a:prstGeom>
            <a:noFill/>
            <a:ln>
              <a:noFill/>
            </a:ln>
          </p:spPr>
          <p:txBody>
            <a:bodyPr wrap="none" lIns="0" tIns="0" rIns="0" bIns="0" anchor="t" anchorCtr="0">
              <a:spAutoFit/>
            </a:bodyPr>
            <a:lstStyle/>
            <a:p>
              <a:pPr algn="ctr"/>
              <a:r>
                <a:rPr lang="zh-CN" sz="1500" b="1" dirty="0">
                  <a:solidFill>
                    <a:srgbClr val="F7F8FA"/>
                  </a:solidFill>
                  <a:latin typeface="Arial"/>
                  <a:ea typeface="Microsoft YaHei"/>
                  <a:cs typeface="Arial"/>
                </a:rPr>
                <a:t>Feed-</a:t>
              </a:r>
            </a:p>
          </p:txBody>
        </p:sp>
        <p:sp>
          <p:nvSpPr>
            <p:cNvPr id="31" name="TextBox 31"/>
            <p:cNvSpPr txBox="1"/>
            <p:nvPr/>
          </p:nvSpPr>
          <p:spPr>
            <a:xfrm>
              <a:off x="10042672" y="3305175"/>
              <a:ext cx="888706" cy="304800"/>
            </a:xfrm>
            <a:prstGeom prst="rect">
              <a:avLst/>
            </a:prstGeom>
            <a:noFill/>
            <a:ln>
              <a:noFill/>
            </a:ln>
          </p:spPr>
          <p:txBody>
            <a:bodyPr wrap="none" lIns="0" tIns="0" rIns="0" bIns="0" anchor="t" anchorCtr="0">
              <a:spAutoFit/>
            </a:bodyPr>
            <a:lstStyle/>
            <a:p>
              <a:pPr algn="ctr"/>
              <a:r>
                <a:rPr lang="zh-CN" sz="1500" b="1" dirty="0">
                  <a:solidFill>
                    <a:srgbClr val="F7F8FA"/>
                  </a:solidFill>
                  <a:latin typeface="Arial"/>
                  <a:ea typeface="Microsoft YaHei"/>
                  <a:cs typeface="Arial"/>
                </a:rPr>
                <a:t>forward</a:t>
              </a:r>
            </a:p>
          </p:txBody>
        </p:sp>
      </p:grpSp>
      <p:grpSp>
        <p:nvGrpSpPr>
          <p:cNvPr id="35" name="Group 35"/>
          <p:cNvGrpSpPr/>
          <p:nvPr/>
        </p:nvGrpSpPr>
        <p:grpSpPr>
          <a:xfrm>
            <a:off x="2147854" y="5715000"/>
            <a:ext cx="7896293" cy="495300"/>
            <a:chOff x="2147854" y="5715000"/>
            <a:chExt cx="7896293" cy="495300"/>
          </a:xfrm>
        </p:grpSpPr>
        <p:sp>
          <p:nvSpPr>
            <p:cNvPr id="33" name="Rectangle 33"/>
            <p:cNvSpPr/>
            <p:nvPr/>
          </p:nvSpPr>
          <p:spPr>
            <a:xfrm>
              <a:off x="2324100" y="5715000"/>
              <a:ext cx="7543800" cy="495300"/>
            </a:xfrm>
            <a:prstGeom prst="roundRect">
              <a:avLst>
                <a:gd name="adj" fmla="val 23077"/>
              </a:avLst>
            </a:prstGeom>
            <a:solidFill>
              <a:srgbClr val="1D2740"/>
            </a:solidFill>
            <a:ln w="19050">
              <a:solidFill>
                <a:srgbClr val="FF6B6B"/>
              </a:solidFill>
            </a:ln>
          </p:spPr>
        </p:sp>
        <p:sp>
          <p:nvSpPr>
            <p:cNvPr id="34" name="TextBox 34"/>
            <p:cNvSpPr txBox="1"/>
            <p:nvPr/>
          </p:nvSpPr>
          <p:spPr>
            <a:xfrm>
              <a:off x="2147854" y="5882164"/>
              <a:ext cx="7896293" cy="259080"/>
            </a:xfrm>
            <a:prstGeom prst="rect">
              <a:avLst/>
            </a:prstGeom>
            <a:noFill/>
            <a:ln>
              <a:noFill/>
            </a:ln>
          </p:spPr>
          <p:txBody>
            <a:bodyPr wrap="none" lIns="0" tIns="0" rIns="0" bIns="0" anchor="t" anchorCtr="0">
              <a:spAutoFit/>
            </a:bodyPr>
            <a:lstStyle/>
            <a:p>
              <a:pPr algn="ctr"/>
              <a:r>
                <a:rPr lang="zh-CN" sz="1275" b="1" dirty="0">
                  <a:solidFill>
                    <a:srgbClr val="FF6B6B"/>
                  </a:solidFill>
                  <a:latin typeface="Arial"/>
                  <a:ea typeface="Microsoft YaHei"/>
                  <a:cs typeface="Arial"/>
                </a:rPr>
                <a:t>This context prevents the common mistake: self-attention is not the whole transformer.</a:t>
              </a:r>
            </a:p>
          </p:txBody>
        </p:sp>
      </p:grpSp>
      <p:sp>
        <p:nvSpPr>
          <p:cNvPr id="36" name="TextBox 36"/>
          <p:cNvSpPr txBox="1"/>
          <p:nvPr/>
        </p:nvSpPr>
        <p:spPr>
          <a:xfrm>
            <a:off x="501968" y="6409849"/>
            <a:ext cx="6415064" cy="198120"/>
          </a:xfrm>
          <a:prstGeom prst="rect">
            <a:avLst/>
          </a:prstGeom>
          <a:noFill/>
          <a:ln>
            <a:noFill/>
          </a:ln>
        </p:spPr>
        <p:txBody>
          <a:bodyPr wrap="none" lIns="0" tIns="0" rIns="0" bIns="0" anchor="t" anchorCtr="0">
            <a:spAutoFit/>
          </a:bodyPr>
          <a:lstStyle/>
          <a:p>
            <a:pPr algn="l"/>
            <a:r>
              <a:rPr lang="zh-CN" sz="975" dirty="0">
                <a:solidFill>
                  <a:srgbClr val="AAB6D3"/>
                </a:solidFill>
                <a:latin typeface="Arial"/>
                <a:ea typeface="Microsoft YaHei"/>
                <a:cs typeface="Arial"/>
              </a:rPr>
              <a:t>The exact block ordering can vary by architecture; this deck only needs the source-stated context.</a:t>
            </a:r>
          </a:p>
        </p:txBody>
      </p:sp>
      <p:sp>
        <p:nvSpPr>
          <p:cNvPr id="37" name="TextBox 37"/>
          <p:cNvSpPr txBox="1"/>
          <p:nvPr/>
        </p:nvSpPr>
        <p:spPr>
          <a:xfrm>
            <a:off x="11398568" y="6409849"/>
            <a:ext cx="460319"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09 / 10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400"/>
                                        <p:tgtEl>
                                          <p:spTgt spid="32"/>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fade">
                                      <p:cBhvr>
                                        <p:cTn id="11"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0C1020"/>
          </a:solidFill>
          <a:ln>
            <a:noFill/>
          </a:ln>
        </p:spPr>
      </p:sp>
      <p:sp>
        <p:nvSpPr>
          <p:cNvPr id="3" name="Freeform 3"/>
          <p:cNvSpPr/>
          <p:nvPr/>
        </p:nvSpPr>
        <p:spPr>
          <a:xfrm>
            <a:off x="762000" y="0"/>
            <a:ext cx="10668000" cy="6858000"/>
          </a:xfrm>
          <a:custGeom>
            <a:avLst/>
            <a:gdLst/>
            <a:ahLst/>
            <a:cxnLst/>
            <a:rect l="l" t="t" r="r" b="b"/>
            <a:pathLst>
              <a:path w="10668000" h="6858000">
                <a:moveTo>
                  <a:pt x="0" y="0"/>
                </a:moveTo>
                <a:lnTo>
                  <a:pt x="0" y="6858000"/>
                </a:lnTo>
                <a:moveTo>
                  <a:pt x="762000" y="0"/>
                </a:moveTo>
                <a:lnTo>
                  <a:pt x="762000" y="6858000"/>
                </a:lnTo>
                <a:moveTo>
                  <a:pt x="1524000" y="0"/>
                </a:moveTo>
                <a:lnTo>
                  <a:pt x="1524000" y="6858000"/>
                </a:lnTo>
                <a:moveTo>
                  <a:pt x="2286000" y="0"/>
                </a:moveTo>
                <a:lnTo>
                  <a:pt x="2286000" y="6858000"/>
                </a:lnTo>
                <a:moveTo>
                  <a:pt x="3048000" y="0"/>
                </a:moveTo>
                <a:lnTo>
                  <a:pt x="3048000" y="6858000"/>
                </a:lnTo>
                <a:moveTo>
                  <a:pt x="3810000" y="0"/>
                </a:moveTo>
                <a:lnTo>
                  <a:pt x="3810000" y="6858000"/>
                </a:lnTo>
                <a:moveTo>
                  <a:pt x="4572000" y="0"/>
                </a:moveTo>
                <a:lnTo>
                  <a:pt x="4572000" y="6858000"/>
                </a:lnTo>
                <a:moveTo>
                  <a:pt x="5334000" y="0"/>
                </a:moveTo>
                <a:lnTo>
                  <a:pt x="5334000" y="6858000"/>
                </a:lnTo>
                <a:moveTo>
                  <a:pt x="6096000" y="0"/>
                </a:moveTo>
                <a:lnTo>
                  <a:pt x="6096000" y="6858000"/>
                </a:lnTo>
                <a:moveTo>
                  <a:pt x="6858000" y="0"/>
                </a:moveTo>
                <a:lnTo>
                  <a:pt x="6858000" y="6858000"/>
                </a:lnTo>
                <a:moveTo>
                  <a:pt x="7620000" y="0"/>
                </a:moveTo>
                <a:lnTo>
                  <a:pt x="7620000" y="6858000"/>
                </a:lnTo>
                <a:moveTo>
                  <a:pt x="8382000" y="0"/>
                </a:moveTo>
                <a:lnTo>
                  <a:pt x="8382000" y="6858000"/>
                </a:lnTo>
                <a:moveTo>
                  <a:pt x="9144000" y="0"/>
                </a:moveTo>
                <a:lnTo>
                  <a:pt x="9144000" y="6858000"/>
                </a:lnTo>
                <a:moveTo>
                  <a:pt x="9906000" y="0"/>
                </a:moveTo>
                <a:lnTo>
                  <a:pt x="9906000" y="6858000"/>
                </a:lnTo>
                <a:moveTo>
                  <a:pt x="10668000" y="0"/>
                </a:moveTo>
                <a:lnTo>
                  <a:pt x="10668000" y="6858000"/>
                </a:lnTo>
              </a:path>
            </a:pathLst>
          </a:custGeom>
          <a:solidFill>
            <a:srgbClr val="000000"/>
          </a:solidFill>
          <a:ln w="9525">
            <a:solidFill>
              <a:srgbClr val="273149"/>
            </a:solidFill>
          </a:ln>
        </p:spPr>
      </p:sp>
      <p:sp>
        <p:nvSpPr>
          <p:cNvPr id="4" name="Freeform 4"/>
          <p:cNvSpPr/>
          <p:nvPr/>
        </p:nvSpPr>
        <p:spPr>
          <a:xfrm>
            <a:off x="0" y="762000"/>
            <a:ext cx="12192000" cy="5334000"/>
          </a:xfrm>
          <a:custGeom>
            <a:avLst/>
            <a:gdLst/>
            <a:ahLst/>
            <a:cxnLst/>
            <a:rect l="l" t="t" r="r" b="b"/>
            <a:pathLst>
              <a:path w="12192000" h="5334000">
                <a:moveTo>
                  <a:pt x="0" y="0"/>
                </a:moveTo>
                <a:lnTo>
                  <a:pt x="12192000" y="0"/>
                </a:lnTo>
                <a:moveTo>
                  <a:pt x="0" y="762000"/>
                </a:moveTo>
                <a:lnTo>
                  <a:pt x="12192000" y="762000"/>
                </a:lnTo>
                <a:moveTo>
                  <a:pt x="0" y="1524000"/>
                </a:moveTo>
                <a:lnTo>
                  <a:pt x="12192000" y="1524000"/>
                </a:lnTo>
                <a:moveTo>
                  <a:pt x="0" y="2286000"/>
                </a:moveTo>
                <a:lnTo>
                  <a:pt x="12192000" y="2286000"/>
                </a:lnTo>
                <a:moveTo>
                  <a:pt x="0" y="3048000"/>
                </a:moveTo>
                <a:lnTo>
                  <a:pt x="12192000" y="3048000"/>
                </a:lnTo>
                <a:moveTo>
                  <a:pt x="0" y="3810000"/>
                </a:moveTo>
                <a:lnTo>
                  <a:pt x="12192000" y="3810000"/>
                </a:lnTo>
                <a:moveTo>
                  <a:pt x="0" y="4572000"/>
                </a:moveTo>
                <a:lnTo>
                  <a:pt x="12192000" y="4572000"/>
                </a:lnTo>
                <a:moveTo>
                  <a:pt x="0" y="5334000"/>
                </a:moveTo>
                <a:lnTo>
                  <a:pt x="12192000" y="5334000"/>
                </a:lnTo>
              </a:path>
            </a:pathLst>
          </a:custGeom>
          <a:solidFill>
            <a:srgbClr val="000000"/>
          </a:solidFill>
          <a:ln w="9525">
            <a:solidFill>
              <a:srgbClr val="273149"/>
            </a:solidFill>
          </a:ln>
        </p:spPr>
      </p:sp>
      <p:grpSp>
        <p:nvGrpSpPr>
          <p:cNvPr id="7" name="Group 7"/>
          <p:cNvGrpSpPr/>
          <p:nvPr/>
        </p:nvGrpSpPr>
        <p:grpSpPr>
          <a:xfrm>
            <a:off x="478155" y="378142"/>
            <a:ext cx="7560230" cy="786289"/>
            <a:chOff x="478155" y="378142"/>
            <a:chExt cx="7560230" cy="786289"/>
          </a:xfrm>
        </p:grpSpPr>
        <p:sp>
          <p:nvSpPr>
            <p:cNvPr id="5" name="TextBox 5"/>
            <p:cNvSpPr txBox="1"/>
            <p:nvPr/>
          </p:nvSpPr>
          <p:spPr>
            <a:xfrm>
              <a:off x="478155" y="378142"/>
              <a:ext cx="4162651" cy="579120"/>
            </a:xfrm>
            <a:prstGeom prst="rect">
              <a:avLst/>
            </a:prstGeom>
            <a:noFill/>
            <a:ln>
              <a:noFill/>
            </a:ln>
          </p:spPr>
          <p:txBody>
            <a:bodyPr wrap="none" lIns="0" tIns="0" rIns="0" bIns="0" anchor="t" anchorCtr="0">
              <a:spAutoFit/>
            </a:bodyPr>
            <a:lstStyle/>
            <a:p>
              <a:pPr algn="l"/>
              <a:r>
                <a:rPr lang="zh-CN" sz="2850" b="1" dirty="0">
                  <a:solidFill>
                    <a:srgbClr val="F7F8FA"/>
                  </a:solidFill>
                  <a:latin typeface="Arial"/>
                  <a:ea typeface="Microsoft YaHei"/>
                  <a:cs typeface="Arial"/>
                </a:rPr>
                <a:t>Self-Attention Recap</a:t>
              </a:r>
            </a:p>
          </p:txBody>
        </p:sp>
        <p:sp>
          <p:nvSpPr>
            <p:cNvPr id="6" name="TextBox 6"/>
            <p:cNvSpPr txBox="1"/>
            <p:nvPr/>
          </p:nvSpPr>
          <p:spPr>
            <a:xfrm>
              <a:off x="496252" y="874871"/>
              <a:ext cx="7542133" cy="289560"/>
            </a:xfrm>
            <a:prstGeom prst="rect">
              <a:avLst/>
            </a:prstGeom>
            <a:noFill/>
            <a:ln>
              <a:noFill/>
            </a:ln>
          </p:spPr>
          <p:txBody>
            <a:bodyPr wrap="none" lIns="0" tIns="0" rIns="0" bIns="0" anchor="t" anchorCtr="0">
              <a:spAutoFit/>
            </a:bodyPr>
            <a:lstStyle/>
            <a:p>
              <a:pPr algn="l"/>
              <a:r>
                <a:rPr lang="zh-CN" sz="1425" dirty="0">
                  <a:solidFill>
                    <a:srgbClr val="AAB6D3"/>
                  </a:solidFill>
                  <a:latin typeface="Arial"/>
                  <a:ea typeface="Microsoft YaHei"/>
                  <a:cs typeface="Arial"/>
                </a:rPr>
                <a:t>A product-engineer checklist for reading the mechanism without overclaiming it.</a:t>
              </a:r>
            </a:p>
          </p:txBody>
        </p:sp>
      </p:grpSp>
      <p:grpSp>
        <p:nvGrpSpPr>
          <p:cNvPr id="22" name="Group 22"/>
          <p:cNvGrpSpPr/>
          <p:nvPr/>
        </p:nvGrpSpPr>
        <p:grpSpPr>
          <a:xfrm>
            <a:off x="723900" y="1485900"/>
            <a:ext cx="5186553" cy="4000500"/>
            <a:chOff x="723900" y="1485900"/>
            <a:chExt cx="5186553" cy="4000500"/>
          </a:xfrm>
        </p:grpSpPr>
        <p:sp>
          <p:nvSpPr>
            <p:cNvPr id="8" name="Rectangle 8"/>
            <p:cNvSpPr/>
            <p:nvPr/>
          </p:nvSpPr>
          <p:spPr>
            <a:xfrm>
              <a:off x="723900" y="1485900"/>
              <a:ext cx="5143500" cy="4000500"/>
            </a:xfrm>
            <a:prstGeom prst="roundRect">
              <a:avLst>
                <a:gd name="adj" fmla="val 4286"/>
              </a:avLst>
            </a:prstGeom>
            <a:solidFill>
              <a:srgbClr val="141A2E"/>
            </a:solidFill>
            <a:ln w="19050">
              <a:solidFill>
                <a:srgbClr val="3A4668"/>
              </a:solidFill>
            </a:ln>
          </p:spPr>
        </p:sp>
        <p:sp>
          <p:nvSpPr>
            <p:cNvPr id="9" name="TextBox 9"/>
            <p:cNvSpPr txBox="1"/>
            <p:nvPr/>
          </p:nvSpPr>
          <p:spPr>
            <a:xfrm>
              <a:off x="1042988" y="1740694"/>
              <a:ext cx="2581067" cy="381000"/>
            </a:xfrm>
            <a:prstGeom prst="rect">
              <a:avLst/>
            </a:prstGeom>
            <a:noFill/>
            <a:ln>
              <a:noFill/>
            </a:ln>
          </p:spPr>
          <p:txBody>
            <a:bodyPr wrap="none" lIns="0" tIns="0" rIns="0" bIns="0" anchor="t" anchorCtr="0">
              <a:spAutoFit/>
            </a:bodyPr>
            <a:lstStyle/>
            <a:p>
              <a:pPr algn="l"/>
              <a:r>
                <a:rPr lang="zh-CN" sz="1875" b="1" dirty="0">
                  <a:solidFill>
                    <a:srgbClr val="7CFFB2"/>
                  </a:solidFill>
                  <a:latin typeface="Arial"/>
                  <a:ea typeface="Microsoft YaHei"/>
                  <a:cs typeface="Arial"/>
                </a:rPr>
                <a:t>What should be true</a:t>
              </a:r>
            </a:p>
          </p:txBody>
        </p:sp>
        <p:sp>
          <p:nvSpPr>
            <p:cNvPr id="10" name="Ellipse 10"/>
            <p:cNvSpPr/>
            <p:nvPr/>
          </p:nvSpPr>
          <p:spPr>
            <a:xfrm>
              <a:off x="1123950" y="2362200"/>
              <a:ext cx="152400" cy="152400"/>
            </a:xfrm>
            <a:prstGeom prst="ellipse">
              <a:avLst/>
            </a:prstGeom>
            <a:solidFill>
              <a:srgbClr val="7CFFB2"/>
            </a:solidFill>
            <a:ln>
              <a:noFill/>
            </a:ln>
          </p:spPr>
        </p:sp>
        <p:sp>
          <p:nvSpPr>
            <p:cNvPr id="11" name="TextBox 11"/>
            <p:cNvSpPr txBox="1"/>
            <p:nvPr/>
          </p:nvSpPr>
          <p:spPr>
            <a:xfrm>
              <a:off x="1411605" y="2349818"/>
              <a:ext cx="3490722" cy="274320"/>
            </a:xfrm>
            <a:prstGeom prst="rect">
              <a:avLst/>
            </a:prstGeom>
            <a:noFill/>
            <a:ln>
              <a:noFill/>
            </a:ln>
          </p:spPr>
          <p:txBody>
            <a:bodyPr wrap="none" lIns="0" tIns="0" rIns="0" bIns="0" anchor="t" anchorCtr="0">
              <a:spAutoFit/>
            </a:bodyPr>
            <a:lstStyle/>
            <a:p>
              <a:pPr algn="l"/>
              <a:r>
                <a:rPr lang="zh-CN" sz="1350" dirty="0">
                  <a:solidFill>
                    <a:srgbClr val="F7F8FA"/>
                  </a:solidFill>
                  <a:latin typeface="Arial"/>
                  <a:ea typeface="Microsoft YaHei"/>
                  <a:cs typeface="Arial"/>
                </a:rPr>
                <a:t>Input X is [n, d_model]; toy X is [4,6].</a:t>
              </a:r>
            </a:p>
          </p:txBody>
        </p:sp>
        <p:sp>
          <p:nvSpPr>
            <p:cNvPr id="12" name="Ellipse 12"/>
            <p:cNvSpPr/>
            <p:nvPr/>
          </p:nvSpPr>
          <p:spPr>
            <a:xfrm>
              <a:off x="1123950" y="2914650"/>
              <a:ext cx="152400" cy="152400"/>
            </a:xfrm>
            <a:prstGeom prst="ellipse">
              <a:avLst/>
            </a:prstGeom>
            <a:solidFill>
              <a:srgbClr val="7CFFB2"/>
            </a:solidFill>
            <a:ln>
              <a:noFill/>
            </a:ln>
          </p:spPr>
        </p:sp>
        <p:sp>
          <p:nvSpPr>
            <p:cNvPr id="13" name="TextBox 13"/>
            <p:cNvSpPr txBox="1"/>
            <p:nvPr/>
          </p:nvSpPr>
          <p:spPr>
            <a:xfrm>
              <a:off x="1411605" y="2902268"/>
              <a:ext cx="3517725" cy="274320"/>
            </a:xfrm>
            <a:prstGeom prst="rect">
              <a:avLst/>
            </a:prstGeom>
            <a:noFill/>
            <a:ln>
              <a:noFill/>
            </a:ln>
          </p:spPr>
          <p:txBody>
            <a:bodyPr wrap="none" lIns="0" tIns="0" rIns="0" bIns="0" anchor="t" anchorCtr="0">
              <a:spAutoFit/>
            </a:bodyPr>
            <a:lstStyle/>
            <a:p>
              <a:pPr algn="l"/>
              <a:r>
                <a:rPr lang="zh-CN" sz="1350" dirty="0">
                  <a:solidFill>
                    <a:srgbClr val="F7F8FA"/>
                  </a:solidFill>
                  <a:latin typeface="Arial"/>
                  <a:ea typeface="Microsoft YaHei"/>
                  <a:cs typeface="Arial"/>
                </a:rPr>
                <a:t>Q, K, V are learned projections from X.</a:t>
              </a:r>
            </a:p>
          </p:txBody>
        </p:sp>
        <p:sp>
          <p:nvSpPr>
            <p:cNvPr id="14" name="Ellipse 14"/>
            <p:cNvSpPr/>
            <p:nvPr/>
          </p:nvSpPr>
          <p:spPr>
            <a:xfrm>
              <a:off x="1123950" y="3467100"/>
              <a:ext cx="152400" cy="152400"/>
            </a:xfrm>
            <a:prstGeom prst="ellipse">
              <a:avLst/>
            </a:prstGeom>
            <a:solidFill>
              <a:srgbClr val="7CFFB2"/>
            </a:solidFill>
            <a:ln>
              <a:noFill/>
            </a:ln>
          </p:spPr>
        </p:sp>
        <p:sp>
          <p:nvSpPr>
            <p:cNvPr id="15" name="TextBox 15"/>
            <p:cNvSpPr txBox="1"/>
            <p:nvPr/>
          </p:nvSpPr>
          <p:spPr>
            <a:xfrm>
              <a:off x="1411605" y="3454718"/>
              <a:ext cx="4048792" cy="274320"/>
            </a:xfrm>
            <a:prstGeom prst="rect">
              <a:avLst/>
            </a:prstGeom>
            <a:noFill/>
            <a:ln>
              <a:noFill/>
            </a:ln>
          </p:spPr>
          <p:txBody>
            <a:bodyPr wrap="none" lIns="0" tIns="0" rIns="0" bIns="0" anchor="t" anchorCtr="0">
              <a:spAutoFit/>
            </a:bodyPr>
            <a:lstStyle/>
            <a:p>
              <a:pPr algn="l"/>
              <a:r>
                <a:rPr lang="zh-CN" sz="1350" dirty="0">
                  <a:solidFill>
                    <a:srgbClr val="F7F8FA"/>
                  </a:solidFill>
                  <a:latin typeface="Arial"/>
                  <a:ea typeface="Microsoft YaHei"/>
                  <a:cs typeface="Arial"/>
                </a:rPr>
                <a:t>Scores are Q K^T / sqrt(d_k), then softmax.</a:t>
              </a:r>
            </a:p>
          </p:txBody>
        </p:sp>
        <p:sp>
          <p:nvSpPr>
            <p:cNvPr id="16" name="Ellipse 16"/>
            <p:cNvSpPr/>
            <p:nvPr/>
          </p:nvSpPr>
          <p:spPr>
            <a:xfrm>
              <a:off x="1123950" y="4019550"/>
              <a:ext cx="152400" cy="152400"/>
            </a:xfrm>
            <a:prstGeom prst="ellipse">
              <a:avLst/>
            </a:prstGeom>
            <a:solidFill>
              <a:srgbClr val="7CFFB2"/>
            </a:solidFill>
            <a:ln>
              <a:noFill/>
            </a:ln>
          </p:spPr>
        </p:sp>
        <p:sp>
          <p:nvSpPr>
            <p:cNvPr id="17" name="TextBox 17"/>
            <p:cNvSpPr txBox="1"/>
            <p:nvPr/>
          </p:nvSpPr>
          <p:spPr>
            <a:xfrm>
              <a:off x="1411605" y="4007168"/>
              <a:ext cx="3238690" cy="274320"/>
            </a:xfrm>
            <a:prstGeom prst="rect">
              <a:avLst/>
            </a:prstGeom>
            <a:noFill/>
            <a:ln>
              <a:noFill/>
            </a:ln>
          </p:spPr>
          <p:txBody>
            <a:bodyPr wrap="none" lIns="0" tIns="0" rIns="0" bIns="0" anchor="t" anchorCtr="0">
              <a:spAutoFit/>
            </a:bodyPr>
            <a:lstStyle/>
            <a:p>
              <a:pPr algn="l"/>
              <a:r>
                <a:rPr lang="zh-CN" sz="1350" dirty="0">
                  <a:solidFill>
                    <a:srgbClr val="F7F8FA"/>
                  </a:solidFill>
                  <a:latin typeface="Arial"/>
                  <a:ea typeface="Microsoft YaHei"/>
                  <a:cs typeface="Arial"/>
                </a:rPr>
                <a:t>Rows of the weight matrix sum to 1.</a:t>
              </a:r>
            </a:p>
          </p:txBody>
        </p:sp>
        <p:sp>
          <p:nvSpPr>
            <p:cNvPr id="18" name="Ellipse 18"/>
            <p:cNvSpPr/>
            <p:nvPr/>
          </p:nvSpPr>
          <p:spPr>
            <a:xfrm>
              <a:off x="1123950" y="4572000"/>
              <a:ext cx="152400" cy="152400"/>
            </a:xfrm>
            <a:prstGeom prst="ellipse">
              <a:avLst/>
            </a:prstGeom>
            <a:solidFill>
              <a:srgbClr val="7CFFB2"/>
            </a:solidFill>
            <a:ln>
              <a:noFill/>
            </a:ln>
          </p:spPr>
        </p:sp>
        <p:sp>
          <p:nvSpPr>
            <p:cNvPr id="19" name="TextBox 19"/>
            <p:cNvSpPr txBox="1"/>
            <p:nvPr/>
          </p:nvSpPr>
          <p:spPr>
            <a:xfrm>
              <a:off x="1411605" y="4559618"/>
              <a:ext cx="4363831" cy="274320"/>
            </a:xfrm>
            <a:prstGeom prst="rect">
              <a:avLst/>
            </a:prstGeom>
            <a:noFill/>
            <a:ln>
              <a:noFill/>
            </a:ln>
          </p:spPr>
          <p:txBody>
            <a:bodyPr wrap="none" lIns="0" tIns="0" rIns="0" bIns="0" anchor="t" anchorCtr="0">
              <a:spAutoFit/>
            </a:bodyPr>
            <a:lstStyle/>
            <a:p>
              <a:pPr algn="l"/>
              <a:r>
                <a:rPr lang="zh-CN" sz="1350" dirty="0">
                  <a:solidFill>
                    <a:srgbClr val="F7F8FA"/>
                  </a:solidFill>
                  <a:latin typeface="Arial"/>
                  <a:ea typeface="Microsoft YaHei"/>
                  <a:cs typeface="Arial"/>
                </a:rPr>
                <a:t>weights V creates contextualized token outputs.</a:t>
              </a:r>
            </a:p>
          </p:txBody>
        </p:sp>
        <p:sp>
          <p:nvSpPr>
            <p:cNvPr id="20" name="Ellipse 20"/>
            <p:cNvSpPr/>
            <p:nvPr/>
          </p:nvSpPr>
          <p:spPr>
            <a:xfrm>
              <a:off x="1123950" y="5124450"/>
              <a:ext cx="152400" cy="152400"/>
            </a:xfrm>
            <a:prstGeom prst="ellipse">
              <a:avLst/>
            </a:prstGeom>
            <a:solidFill>
              <a:srgbClr val="7CFFB2"/>
            </a:solidFill>
            <a:ln>
              <a:noFill/>
            </a:ln>
          </p:spPr>
        </p:sp>
        <p:sp>
          <p:nvSpPr>
            <p:cNvPr id="21" name="TextBox 21"/>
            <p:cNvSpPr txBox="1"/>
            <p:nvPr/>
          </p:nvSpPr>
          <p:spPr>
            <a:xfrm>
              <a:off x="1411605" y="5112068"/>
              <a:ext cx="4498848" cy="274320"/>
            </a:xfrm>
            <a:prstGeom prst="rect">
              <a:avLst/>
            </a:prstGeom>
            <a:noFill/>
            <a:ln>
              <a:noFill/>
            </a:ln>
          </p:spPr>
          <p:txBody>
            <a:bodyPr wrap="none" lIns="0" tIns="0" rIns="0" bIns="0" anchor="t" anchorCtr="0">
              <a:spAutoFit/>
            </a:bodyPr>
            <a:lstStyle/>
            <a:p>
              <a:pPr algn="l"/>
              <a:r>
                <a:rPr lang="zh-CN" sz="1350" dirty="0">
                  <a:solidFill>
                    <a:srgbClr val="F7F8FA"/>
                  </a:solidFill>
                  <a:latin typeface="Arial"/>
                  <a:ea typeface="Microsoft YaHei"/>
                  <a:cs typeface="Arial"/>
                </a:rPr>
                <a:t>Multi-head runs parallel heads, concat, then W_O.</a:t>
              </a:r>
            </a:p>
          </p:txBody>
        </p:sp>
      </p:grpSp>
      <p:grpSp>
        <p:nvGrpSpPr>
          <p:cNvPr id="33" name="Group 33"/>
          <p:cNvGrpSpPr/>
          <p:nvPr/>
        </p:nvGrpSpPr>
        <p:grpSpPr>
          <a:xfrm>
            <a:off x="6324600" y="1485900"/>
            <a:ext cx="5143500" cy="4000500"/>
            <a:chOff x="6324600" y="1485900"/>
            <a:chExt cx="5143500" cy="4000500"/>
          </a:xfrm>
        </p:grpSpPr>
        <p:sp>
          <p:nvSpPr>
            <p:cNvPr id="23" name="Rectangle 23"/>
            <p:cNvSpPr/>
            <p:nvPr/>
          </p:nvSpPr>
          <p:spPr>
            <a:xfrm>
              <a:off x="6324600" y="1485900"/>
              <a:ext cx="5143500" cy="4000500"/>
            </a:xfrm>
            <a:prstGeom prst="roundRect">
              <a:avLst>
                <a:gd name="adj" fmla="val 4286"/>
              </a:avLst>
            </a:prstGeom>
            <a:solidFill>
              <a:srgbClr val="141A2E"/>
            </a:solidFill>
            <a:ln w="19050">
              <a:solidFill>
                <a:srgbClr val="3A4668"/>
              </a:solidFill>
            </a:ln>
          </p:spPr>
        </p:sp>
        <p:sp>
          <p:nvSpPr>
            <p:cNvPr id="24" name="TextBox 24"/>
            <p:cNvSpPr txBox="1"/>
            <p:nvPr/>
          </p:nvSpPr>
          <p:spPr>
            <a:xfrm>
              <a:off x="6643688" y="1740694"/>
              <a:ext cx="3460552" cy="381000"/>
            </a:xfrm>
            <a:prstGeom prst="rect">
              <a:avLst/>
            </a:prstGeom>
            <a:noFill/>
            <a:ln>
              <a:noFill/>
            </a:ln>
          </p:spPr>
          <p:txBody>
            <a:bodyPr wrap="none" lIns="0" tIns="0" rIns="0" bIns="0" anchor="t" anchorCtr="0">
              <a:spAutoFit/>
            </a:bodyPr>
            <a:lstStyle/>
            <a:p>
              <a:pPr algn="l"/>
              <a:r>
                <a:rPr lang="zh-CN" sz="1875" b="1" dirty="0">
                  <a:solidFill>
                    <a:srgbClr val="FF6B6B"/>
                  </a:solidFill>
                  <a:latin typeface="Arial"/>
                  <a:ea typeface="Microsoft YaHei"/>
                  <a:cs typeface="Arial"/>
                </a:rPr>
                <a:t>What self-attention is not</a:t>
              </a:r>
            </a:p>
          </p:txBody>
        </p:sp>
        <p:sp>
          <p:nvSpPr>
            <p:cNvPr id="25" name="Rectangle 25"/>
            <p:cNvSpPr/>
            <p:nvPr/>
          </p:nvSpPr>
          <p:spPr>
            <a:xfrm>
              <a:off x="6705600" y="2343150"/>
              <a:ext cx="4343400" cy="628650"/>
            </a:xfrm>
            <a:prstGeom prst="roundRect">
              <a:avLst>
                <a:gd name="adj" fmla="val 18182"/>
              </a:avLst>
            </a:prstGeom>
            <a:solidFill>
              <a:srgbClr val="1D2740"/>
            </a:solidFill>
            <a:ln w="19050">
              <a:solidFill>
                <a:srgbClr val="FF6B6B"/>
              </a:solidFill>
            </a:ln>
          </p:spPr>
        </p:sp>
        <p:sp>
          <p:nvSpPr>
            <p:cNvPr id="26" name="TextBox 26"/>
            <p:cNvSpPr txBox="1"/>
            <p:nvPr/>
          </p:nvSpPr>
          <p:spPr>
            <a:xfrm>
              <a:off x="7595497" y="2578418"/>
              <a:ext cx="2563606" cy="274320"/>
            </a:xfrm>
            <a:prstGeom prst="rect">
              <a:avLst/>
            </a:prstGeom>
            <a:noFill/>
            <a:ln>
              <a:noFill/>
            </a:ln>
          </p:spPr>
          <p:txBody>
            <a:bodyPr wrap="none" lIns="0" tIns="0" rIns="0" bIns="0" anchor="t" anchorCtr="0">
              <a:spAutoFit/>
            </a:bodyPr>
            <a:lstStyle/>
            <a:p>
              <a:pPr algn="ctr"/>
              <a:r>
                <a:rPr lang="zh-CN" sz="1350" dirty="0">
                  <a:solidFill>
                    <a:srgbClr val="F7F8FA"/>
                  </a:solidFill>
                  <a:latin typeface="Arial"/>
                  <a:ea typeface="Microsoft YaHei"/>
                  <a:cs typeface="Arial"/>
                </a:rPr>
                <a:t>Not the entire transformer.</a:t>
              </a:r>
            </a:p>
          </p:txBody>
        </p:sp>
        <p:sp>
          <p:nvSpPr>
            <p:cNvPr id="27" name="Rectangle 27"/>
            <p:cNvSpPr/>
            <p:nvPr/>
          </p:nvSpPr>
          <p:spPr>
            <a:xfrm>
              <a:off x="6705600" y="3181350"/>
              <a:ext cx="4343400" cy="628650"/>
            </a:xfrm>
            <a:prstGeom prst="roundRect">
              <a:avLst>
                <a:gd name="adj" fmla="val 18182"/>
              </a:avLst>
            </a:prstGeom>
            <a:solidFill>
              <a:srgbClr val="1D2740"/>
            </a:solidFill>
            <a:ln w="19050">
              <a:solidFill>
                <a:srgbClr val="FF6B6B"/>
              </a:solidFill>
            </a:ln>
          </p:spPr>
        </p:sp>
        <p:sp>
          <p:nvSpPr>
            <p:cNvPr id="28" name="TextBox 28"/>
            <p:cNvSpPr txBox="1"/>
            <p:nvPr/>
          </p:nvSpPr>
          <p:spPr>
            <a:xfrm>
              <a:off x="7032927" y="3416618"/>
              <a:ext cx="3688747" cy="274320"/>
            </a:xfrm>
            <a:prstGeom prst="rect">
              <a:avLst/>
            </a:prstGeom>
            <a:noFill/>
            <a:ln>
              <a:noFill/>
            </a:ln>
          </p:spPr>
          <p:txBody>
            <a:bodyPr wrap="none" lIns="0" tIns="0" rIns="0" bIns="0" anchor="t" anchorCtr="0">
              <a:spAutoFit/>
            </a:bodyPr>
            <a:lstStyle/>
            <a:p>
              <a:pPr algn="ctr"/>
              <a:r>
                <a:rPr lang="zh-CN" sz="1350" dirty="0">
                  <a:solidFill>
                    <a:srgbClr val="F7F8FA"/>
                  </a:solidFill>
                  <a:latin typeface="Arial"/>
                  <a:ea typeface="Microsoft YaHei"/>
                  <a:cs typeface="Arial"/>
                </a:rPr>
                <a:t>Not a license to attend to future tokens.</a:t>
              </a:r>
            </a:p>
          </p:txBody>
        </p:sp>
        <p:sp>
          <p:nvSpPr>
            <p:cNvPr id="29" name="Rectangle 29"/>
            <p:cNvSpPr/>
            <p:nvPr/>
          </p:nvSpPr>
          <p:spPr>
            <a:xfrm>
              <a:off x="6705600" y="4019550"/>
              <a:ext cx="4343400" cy="628650"/>
            </a:xfrm>
            <a:prstGeom prst="roundRect">
              <a:avLst>
                <a:gd name="adj" fmla="val 18182"/>
              </a:avLst>
            </a:prstGeom>
            <a:solidFill>
              <a:srgbClr val="1D2740"/>
            </a:solidFill>
            <a:ln w="19050">
              <a:solidFill>
                <a:srgbClr val="FF6B6B"/>
              </a:solidFill>
            </a:ln>
          </p:spPr>
        </p:sp>
        <p:sp>
          <p:nvSpPr>
            <p:cNvPr id="30" name="TextBox 30"/>
            <p:cNvSpPr txBox="1"/>
            <p:nvPr/>
          </p:nvSpPr>
          <p:spPr>
            <a:xfrm>
              <a:off x="6888909" y="4254818"/>
              <a:ext cx="3976783" cy="274320"/>
            </a:xfrm>
            <a:prstGeom prst="rect">
              <a:avLst/>
            </a:prstGeom>
            <a:noFill/>
            <a:ln>
              <a:noFill/>
            </a:ln>
          </p:spPr>
          <p:txBody>
            <a:bodyPr wrap="none" lIns="0" tIns="0" rIns="0" bIns="0" anchor="t" anchorCtr="0">
              <a:spAutoFit/>
            </a:bodyPr>
            <a:lstStyle/>
            <a:p>
              <a:pPr algn="ctr"/>
              <a:r>
                <a:rPr lang="zh-CN" sz="1350" dirty="0">
                  <a:solidFill>
                    <a:srgbClr val="F7F8FA"/>
                  </a:solidFill>
                  <a:latin typeface="Arial"/>
                  <a:ea typeface="Microsoft YaHei"/>
                  <a:cs typeface="Arial"/>
                </a:rPr>
                <a:t>Not a performance or scaling claim by itself.</a:t>
              </a:r>
            </a:p>
          </p:txBody>
        </p:sp>
        <p:sp>
          <p:nvSpPr>
            <p:cNvPr id="31" name="Rectangle 31"/>
            <p:cNvSpPr/>
            <p:nvPr/>
          </p:nvSpPr>
          <p:spPr>
            <a:xfrm>
              <a:off x="6705600" y="4857750"/>
              <a:ext cx="4343400" cy="400050"/>
            </a:xfrm>
            <a:prstGeom prst="roundRect">
              <a:avLst>
                <a:gd name="adj" fmla="val 23810"/>
              </a:avLst>
            </a:prstGeom>
            <a:solidFill>
              <a:srgbClr val="1D2740"/>
            </a:solidFill>
            <a:ln w="19050">
              <a:solidFill>
                <a:srgbClr val="C792EA"/>
              </a:solidFill>
            </a:ln>
          </p:spPr>
        </p:sp>
        <p:sp>
          <p:nvSpPr>
            <p:cNvPr id="32" name="TextBox 32"/>
            <p:cNvSpPr txBox="1"/>
            <p:nvPr/>
          </p:nvSpPr>
          <p:spPr>
            <a:xfrm>
              <a:off x="6761345" y="4977289"/>
              <a:ext cx="4231910" cy="259080"/>
            </a:xfrm>
            <a:prstGeom prst="rect">
              <a:avLst/>
            </a:prstGeom>
            <a:noFill/>
            <a:ln>
              <a:noFill/>
            </a:ln>
          </p:spPr>
          <p:txBody>
            <a:bodyPr wrap="none" lIns="0" tIns="0" rIns="0" bIns="0" anchor="t" anchorCtr="0">
              <a:spAutoFit/>
            </a:bodyPr>
            <a:lstStyle/>
            <a:p>
              <a:pPr algn="ctr"/>
              <a:r>
                <a:rPr lang="zh-CN" sz="1275" dirty="0">
                  <a:solidFill>
                    <a:srgbClr val="C792EA"/>
                  </a:solidFill>
                  <a:latin typeface="Consolas"/>
                  <a:ea typeface="Microsoft YaHei"/>
                  <a:cs typeface="Consolas"/>
                </a:rPr>
                <a:t>attention sublayer + residual + norm + FFN context</a:t>
              </a:r>
            </a:p>
          </p:txBody>
        </p:sp>
      </p:grpSp>
      <p:grpSp>
        <p:nvGrpSpPr>
          <p:cNvPr id="36" name="Group 36"/>
          <p:cNvGrpSpPr/>
          <p:nvPr/>
        </p:nvGrpSpPr>
        <p:grpSpPr>
          <a:xfrm>
            <a:off x="1752600" y="5829300"/>
            <a:ext cx="8686800" cy="476250"/>
            <a:chOff x="1752600" y="5829300"/>
            <a:chExt cx="8686800" cy="476250"/>
          </a:xfrm>
        </p:grpSpPr>
        <p:sp>
          <p:nvSpPr>
            <p:cNvPr id="34" name="Rectangle 34"/>
            <p:cNvSpPr/>
            <p:nvPr/>
          </p:nvSpPr>
          <p:spPr>
            <a:xfrm>
              <a:off x="1752600" y="5829300"/>
              <a:ext cx="8686800" cy="476250"/>
            </a:xfrm>
            <a:prstGeom prst="roundRect">
              <a:avLst>
                <a:gd name="adj" fmla="val 24000"/>
              </a:avLst>
            </a:prstGeom>
            <a:solidFill>
              <a:srgbClr val="1D2740"/>
            </a:solidFill>
            <a:ln w="19050">
              <a:solidFill>
                <a:srgbClr val="3A4668"/>
              </a:solidFill>
            </a:ln>
          </p:spPr>
        </p:sp>
        <p:sp>
          <p:nvSpPr>
            <p:cNvPr id="35" name="TextBox 35"/>
            <p:cNvSpPr txBox="1"/>
            <p:nvPr/>
          </p:nvSpPr>
          <p:spPr>
            <a:xfrm>
              <a:off x="4522756" y="5962650"/>
              <a:ext cx="3146489" cy="304800"/>
            </a:xfrm>
            <a:prstGeom prst="rect">
              <a:avLst/>
            </a:prstGeom>
            <a:noFill/>
            <a:ln>
              <a:noFill/>
            </a:ln>
          </p:spPr>
          <p:txBody>
            <a:bodyPr wrap="none" lIns="0" tIns="0" rIns="0" bIns="0" anchor="t" anchorCtr="0">
              <a:spAutoFit/>
            </a:bodyPr>
            <a:lstStyle/>
            <a:p>
              <a:pPr algn="ctr"/>
              <a:r>
                <a:rPr lang="zh-CN" sz="1500" b="1" dirty="0">
                  <a:solidFill>
                    <a:srgbClr val="FFCB6B"/>
                  </a:solidFill>
                  <a:latin typeface="Consolas"/>
                  <a:ea typeface="Microsoft YaHei"/>
                  <a:cs typeface="Consolas"/>
                </a:rPr>
                <a:t>softmax(Q K^T / sqrt(d_k)) V</a:t>
              </a:r>
            </a:p>
          </p:txBody>
        </p:sp>
      </p:grpSp>
      <p:sp>
        <p:nvSpPr>
          <p:cNvPr id="37" name="TextBox 37"/>
          <p:cNvSpPr txBox="1"/>
          <p:nvPr/>
        </p:nvSpPr>
        <p:spPr>
          <a:xfrm>
            <a:off x="501968" y="6466999"/>
            <a:ext cx="3197161" cy="198120"/>
          </a:xfrm>
          <a:prstGeom prst="rect">
            <a:avLst/>
          </a:prstGeom>
          <a:noFill/>
          <a:ln>
            <a:noFill/>
          </a:ln>
        </p:spPr>
        <p:txBody>
          <a:bodyPr wrap="none" lIns="0" tIns="0" rIns="0" bIns="0" anchor="t" anchorCtr="0">
            <a:spAutoFit/>
          </a:bodyPr>
          <a:lstStyle/>
          <a:p>
            <a:pPr algn="l"/>
            <a:r>
              <a:rPr lang="zh-CN" sz="975" dirty="0">
                <a:solidFill>
                  <a:srgbClr val="AAB6D3"/>
                </a:solidFill>
                <a:latin typeface="Arial"/>
                <a:ea typeface="Microsoft YaHei"/>
                <a:cs typeface="Arial"/>
              </a:rPr>
              <a:t>End of source-grounded self-attention explainer.</a:t>
            </a:r>
          </a:p>
        </p:txBody>
      </p:sp>
      <p:sp>
        <p:nvSpPr>
          <p:cNvPr id="38" name="TextBox 38"/>
          <p:cNvSpPr txBox="1"/>
          <p:nvPr/>
        </p:nvSpPr>
        <p:spPr>
          <a:xfrm>
            <a:off x="11398568" y="6466999"/>
            <a:ext cx="460319" cy="198120"/>
          </a:xfrm>
          <a:prstGeom prst="rect">
            <a:avLst/>
          </a:prstGeom>
          <a:noFill/>
          <a:ln>
            <a:noFill/>
          </a:ln>
        </p:spPr>
        <p:txBody>
          <a:bodyPr wrap="none" lIns="0" tIns="0" rIns="0" bIns="0" anchor="t" anchorCtr="0">
            <a:spAutoFit/>
          </a:bodyPr>
          <a:lstStyle/>
          <a:p>
            <a:pPr algn="l"/>
            <a:r>
              <a:rPr lang="zh-CN" sz="975" dirty="0">
                <a:solidFill>
                  <a:srgbClr val="AAB6D3"/>
                </a:solidFill>
                <a:latin typeface="Consolas"/>
                <a:ea typeface="Microsoft YaHei"/>
                <a:cs typeface="Consolas"/>
              </a:rPr>
              <a:t>10 / 10</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lide(fromBottom)">
                                      <p:cBhvr>
                                        <p:cTn id="7" dur="400"/>
                                        <p:tgtEl>
                                          <p:spTgt spid="22"/>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image">
                                      <p:cBhvr>
                                        <p:cTn id="11" dur="400"/>
                                        <p:tgtEl>
                                          <p:spTgt spid="33"/>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3" grpId="0"/>
      <p:bldP spid="3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2026-07-03T04:39:41Z</dcterms:created>
  <dcterms:modified xsi:type="dcterms:W3CDTF">2026-07-03T04:39:41Z</dcterms:modified>
  <cp:category/>
  <cp:contentStatus/>
</cp:coreProperties>
</file>
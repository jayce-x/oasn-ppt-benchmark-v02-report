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2B5C"/>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07A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10058400" cy="457200"/>
          </a:xfrm>
          <a:prstGeom prst="rect">
            <a:avLst/>
          </a:prstGeom>
          <a:noFill/>
        </p:spPr>
        <p:txBody>
          <a:bodyPr wrap="square"/>
          <a:lstStyle/>
          <a:p>
            <a:pPr algn="l">
              <a:defRPr sz="2000" b="1">
                <a:solidFill>
                  <a:srgbClr val="E86A17"/>
                </a:solidFill>
                <a:latin typeface="Calibri Light"/>
              </a:defRPr>
            </a:pPr>
            <a:r>
              <a:t>FAO / WHO</a:t>
            </a:r>
          </a:p>
        </p:txBody>
      </p:sp>
      <p:sp>
        <p:nvSpPr>
          <p:cNvPr id="4" name="TextBox 3"/>
          <p:cNvSpPr txBox="1"/>
          <p:nvPr/>
        </p:nvSpPr>
        <p:spPr>
          <a:xfrm>
            <a:off x="731520" y="1645920"/>
            <a:ext cx="10515600" cy="1463040"/>
          </a:xfrm>
          <a:prstGeom prst="rect">
            <a:avLst/>
          </a:prstGeom>
          <a:noFill/>
        </p:spPr>
        <p:txBody>
          <a:bodyPr wrap="square"/>
          <a:lstStyle/>
          <a:p>
            <a:pPr algn="l">
              <a:defRPr sz="4800" b="1">
                <a:solidFill>
                  <a:srgbClr val="FFFFFF"/>
                </a:solidFill>
                <a:latin typeface="Calibri Light"/>
              </a:defRPr>
            </a:pPr>
            <a:r>
              <a:t>Food Safety:</a:t>
            </a:r>
            <a:br/>
            <a:r>
              <a:t>Prepare for the Unexpected</a:t>
            </a:r>
          </a:p>
        </p:txBody>
      </p:sp>
      <p:sp>
        <p:nvSpPr>
          <p:cNvPr id="5" name="Rectangle 4"/>
          <p:cNvSpPr/>
          <p:nvPr/>
        </p:nvSpPr>
        <p:spPr>
          <a:xfrm>
            <a:off x="731520" y="3291840"/>
            <a:ext cx="2286000" cy="54864"/>
          </a:xfrm>
          <a:prstGeom prst="rect">
            <a:avLst/>
          </a:prstGeom>
          <a:solidFill>
            <a:srgbClr val="E86A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3566160"/>
            <a:ext cx="10058400" cy="640080"/>
          </a:xfrm>
          <a:prstGeom prst="rect">
            <a:avLst/>
          </a:prstGeom>
          <a:noFill/>
        </p:spPr>
        <p:txBody>
          <a:bodyPr wrap="square"/>
          <a:lstStyle/>
          <a:p>
            <a:pPr algn="l">
              <a:defRPr sz="2400" b="0">
                <a:solidFill>
                  <a:srgbClr val="AACCEE"/>
                </a:solidFill>
                <a:latin typeface="Calibri Light"/>
              </a:defRPr>
            </a:pPr>
            <a:r>
              <a:t>World Food Safety Day 2024 Campaign Briefing</a:t>
            </a:r>
          </a:p>
        </p:txBody>
      </p:sp>
      <p:sp>
        <p:nvSpPr>
          <p:cNvPr id="7" name="TextBox 6"/>
          <p:cNvSpPr txBox="1"/>
          <p:nvPr/>
        </p:nvSpPr>
        <p:spPr>
          <a:xfrm>
            <a:off x="731520" y="4389120"/>
            <a:ext cx="9601200" cy="914400"/>
          </a:xfrm>
          <a:prstGeom prst="rect">
            <a:avLst/>
          </a:prstGeom>
          <a:noFill/>
        </p:spPr>
        <p:txBody>
          <a:bodyPr wrap="square"/>
          <a:lstStyle/>
          <a:p>
            <a:pPr algn="l">
              <a:defRPr sz="1600" b="0">
                <a:solidFill>
                  <a:srgbClr val="88AACC"/>
                </a:solidFill>
                <a:latin typeface="Calibri Light"/>
              </a:defRPr>
            </a:pPr>
            <a:r>
              <a:t>A briefing for governments, food businesses, and NGO campaign partners to support</a:t>
            </a:r>
            <a:br/>
            <a:r>
              <a:t>awareness, engagement, and action on 7 June 2024.</a:t>
            </a:r>
          </a:p>
        </p:txBody>
      </p:sp>
      <p:sp>
        <p:nvSpPr>
          <p:cNvPr id="8" name="TextBox 7"/>
          <p:cNvSpPr txBox="1"/>
          <p:nvPr/>
        </p:nvSpPr>
        <p:spPr>
          <a:xfrm>
            <a:off x="731520" y="5669280"/>
            <a:ext cx="4572000" cy="457200"/>
          </a:xfrm>
          <a:prstGeom prst="rect">
            <a:avLst/>
          </a:prstGeom>
          <a:noFill/>
        </p:spPr>
        <p:txBody>
          <a:bodyPr wrap="square"/>
          <a:lstStyle/>
          <a:p>
            <a:pPr algn="l">
              <a:defRPr sz="1400" b="1">
                <a:solidFill>
                  <a:srgbClr val="E86A17"/>
                </a:solidFill>
                <a:latin typeface="Calibri Light"/>
              </a:defRPr>
            </a:pPr>
            <a:r>
              <a:t>7 June 2024  |  #WorldFoodSafetyDay</a:t>
            </a:r>
          </a:p>
        </p:txBody>
      </p:sp>
      <p:sp>
        <p:nvSpPr>
          <p:cNvPr id="9" name="TextBox 8"/>
          <p:cNvSpPr txBox="1"/>
          <p:nvPr/>
        </p:nvSpPr>
        <p:spPr>
          <a:xfrm>
            <a:off x="731520" y="6217920"/>
            <a:ext cx="7315200" cy="365760"/>
          </a:xfrm>
          <a:prstGeom prst="rect">
            <a:avLst/>
          </a:prstGeom>
          <a:noFill/>
        </p:spPr>
        <p:txBody>
          <a:bodyPr wrap="square"/>
          <a:lstStyle/>
          <a:p>
            <a:pPr algn="l">
              <a:defRPr sz="1000" b="0">
                <a:solidFill>
                  <a:srgbClr val="999999"/>
                </a:solidFill>
                <a:latin typeface="Calibri Light"/>
              </a:defRPr>
            </a:pPr>
            <a:r>
              <a:t>Source: FAO/WHO World Food Safety Day 2024 Communication Toolkit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002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E86A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
            <a:ext cx="10515600" cy="594360"/>
          </a:xfrm>
          <a:prstGeom prst="rect">
            <a:avLst/>
          </a:prstGeom>
          <a:noFill/>
        </p:spPr>
        <p:txBody>
          <a:bodyPr wrap="square"/>
          <a:lstStyle/>
          <a:p>
            <a:pPr algn="l">
              <a:defRPr sz="2800" b="1">
                <a:solidFill>
                  <a:srgbClr val="FFFFFF"/>
                </a:solidFill>
                <a:latin typeface="Calibri Light"/>
              </a:defRPr>
            </a:pPr>
            <a:r>
              <a:t>About World Food Safety Day</a:t>
            </a:r>
          </a:p>
        </p:txBody>
      </p:sp>
      <p:sp>
        <p:nvSpPr>
          <p:cNvPr id="5" name="TextBox 4"/>
          <p:cNvSpPr txBox="1"/>
          <p:nvPr/>
        </p:nvSpPr>
        <p:spPr>
          <a:xfrm>
            <a:off x="640080" y="594360"/>
            <a:ext cx="10515600" cy="411480"/>
          </a:xfrm>
          <a:prstGeom prst="rect">
            <a:avLst/>
          </a:prstGeom>
          <a:noFill/>
        </p:spPr>
        <p:txBody>
          <a:bodyPr wrap="square"/>
          <a:lstStyle/>
          <a:p>
            <a:pPr algn="l">
              <a:defRPr sz="1400" b="0">
                <a:solidFill>
                  <a:srgbClr val="CCDDEE"/>
                </a:solidFill>
                <a:latin typeface="Calibri Light"/>
              </a:defRPr>
            </a:pPr>
            <a:r>
              <a:t>Jointly facilitated by the Food and Agriculture Organization (FAO) and the World Health Organization (WHO)</a:t>
            </a:r>
          </a:p>
        </p:txBody>
      </p:sp>
      <p:sp>
        <p:nvSpPr>
          <p:cNvPr id="6" name="TextBox 5"/>
          <p:cNvSpPr txBox="1"/>
          <p:nvPr/>
        </p:nvSpPr>
        <p:spPr>
          <a:xfrm>
            <a:off x="640080" y="1463040"/>
            <a:ext cx="6858000" cy="2560320"/>
          </a:xfrm>
          <a:prstGeom prst="rect">
            <a:avLst/>
          </a:prstGeom>
          <a:noFill/>
        </p:spPr>
        <p:txBody>
          <a:bodyPr wrap="square"/>
          <a:lstStyle/>
          <a:p>
            <a:pPr algn="l">
              <a:spcAft>
                <a:spcPts val="600"/>
              </a:spcAft>
              <a:defRPr sz="1500" b="0">
                <a:solidFill>
                  <a:srgbClr val="333333"/>
                </a:solidFill>
                <a:latin typeface="Calibri"/>
              </a:defRPr>
            </a:pPr>
            <a:r>
              <a:t>World Food Safety Day aims to draw attention and inspire action to help prevent, detect and manage foodborne risks, contributing to food security, human health, economic prosperity, agriculture, market access, tourism and sustainable development.</a:t>
            </a:r>
          </a:p>
          <a:p>
            <a:pPr algn="l">
              <a:spcAft>
                <a:spcPts val="600"/>
              </a:spcAft>
              <a:defRPr sz="800" b="0">
                <a:solidFill>
                  <a:srgbClr val="333333"/>
                </a:solidFill>
                <a:latin typeface="Calibri"/>
              </a:defRPr>
            </a:pPr>
          </a:p>
          <a:p>
            <a:pPr algn="l">
              <a:spcAft>
                <a:spcPts val="600"/>
              </a:spcAft>
              <a:defRPr sz="1500" b="0">
                <a:solidFill>
                  <a:srgbClr val="333333"/>
                </a:solidFill>
                <a:latin typeface="Calibri"/>
              </a:defRPr>
            </a:pPr>
            <a:r>
              <a:t>When food is not safe, people cannot consume the nutrients they need to stay healthy, to learn or to work.</a:t>
            </a:r>
          </a:p>
        </p:txBody>
      </p:sp>
      <p:sp>
        <p:nvSpPr>
          <p:cNvPr id="7" name="Rectangle 6"/>
          <p:cNvSpPr/>
          <p:nvPr/>
        </p:nvSpPr>
        <p:spPr>
          <a:xfrm>
            <a:off x="8229600" y="1463040"/>
            <a:ext cx="3291840" cy="1005840"/>
          </a:xfrm>
          <a:prstGeom prst="rect">
            <a:avLst/>
          </a:prstGeom>
          <a:solidFill>
            <a:srgbClr val="E86A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80" y="1554480"/>
            <a:ext cx="2926080" cy="457200"/>
          </a:xfrm>
          <a:prstGeom prst="rect">
            <a:avLst/>
          </a:prstGeom>
          <a:noFill/>
        </p:spPr>
        <p:txBody>
          <a:bodyPr wrap="square"/>
          <a:lstStyle/>
          <a:p>
            <a:pPr algn="ctr">
              <a:defRPr sz="3600" b="1">
                <a:solidFill>
                  <a:srgbClr val="FFFFFF"/>
                </a:solidFill>
                <a:latin typeface="Calibri Light"/>
              </a:defRPr>
            </a:pPr>
            <a:r>
              <a:t>600 million+</a:t>
            </a:r>
          </a:p>
        </p:txBody>
      </p:sp>
      <p:sp>
        <p:nvSpPr>
          <p:cNvPr id="9" name="TextBox 8"/>
          <p:cNvSpPr txBox="1"/>
          <p:nvPr/>
        </p:nvSpPr>
        <p:spPr>
          <a:xfrm>
            <a:off x="8412480" y="2011680"/>
            <a:ext cx="2926080" cy="365760"/>
          </a:xfrm>
          <a:prstGeom prst="rect">
            <a:avLst/>
          </a:prstGeom>
          <a:noFill/>
        </p:spPr>
        <p:txBody>
          <a:bodyPr wrap="square"/>
          <a:lstStyle/>
          <a:p>
            <a:pPr algn="ctr">
              <a:defRPr sz="1300" b="0">
                <a:solidFill>
                  <a:srgbClr val="FFFFFF"/>
                </a:solidFill>
                <a:latin typeface="Calibri Light"/>
              </a:defRPr>
            </a:pPr>
            <a:r>
              <a:t>fall ill each year from</a:t>
            </a:r>
            <a:br/>
            <a:r>
              <a:t>contaminated food</a:t>
            </a:r>
          </a:p>
        </p:txBody>
      </p:sp>
      <p:sp>
        <p:nvSpPr>
          <p:cNvPr id="10" name="Rectangle 9"/>
          <p:cNvSpPr/>
          <p:nvPr/>
        </p:nvSpPr>
        <p:spPr>
          <a:xfrm>
            <a:off x="8229600" y="2651760"/>
            <a:ext cx="3291840" cy="1005840"/>
          </a:xfrm>
          <a:prstGeom prst="rect">
            <a:avLst/>
          </a:prstGeom>
          <a:solidFill>
            <a:srgbClr val="005B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0" y="2743200"/>
            <a:ext cx="2926080" cy="457200"/>
          </a:xfrm>
          <a:prstGeom prst="rect">
            <a:avLst/>
          </a:prstGeom>
          <a:noFill/>
        </p:spPr>
        <p:txBody>
          <a:bodyPr wrap="square"/>
          <a:lstStyle/>
          <a:p>
            <a:pPr algn="ctr">
              <a:defRPr sz="3600" b="1">
                <a:solidFill>
                  <a:srgbClr val="FFFFFF"/>
                </a:solidFill>
                <a:latin typeface="Calibri Light"/>
              </a:defRPr>
            </a:pPr>
            <a:r>
              <a:t>420 000</a:t>
            </a:r>
          </a:p>
        </p:txBody>
      </p:sp>
      <p:sp>
        <p:nvSpPr>
          <p:cNvPr id="12" name="TextBox 11"/>
          <p:cNvSpPr txBox="1"/>
          <p:nvPr/>
        </p:nvSpPr>
        <p:spPr>
          <a:xfrm>
            <a:off x="8412480" y="3200400"/>
            <a:ext cx="2926080" cy="365760"/>
          </a:xfrm>
          <a:prstGeom prst="rect">
            <a:avLst/>
          </a:prstGeom>
          <a:noFill/>
        </p:spPr>
        <p:txBody>
          <a:bodyPr wrap="square"/>
          <a:lstStyle/>
          <a:p>
            <a:pPr algn="ctr">
              <a:defRPr sz="1300" b="0">
                <a:solidFill>
                  <a:srgbClr val="FFFFFF"/>
                </a:solidFill>
                <a:latin typeface="Calibri Light"/>
              </a:defRPr>
            </a:pPr>
            <a:r>
              <a:t>deaths every year</a:t>
            </a:r>
          </a:p>
        </p:txBody>
      </p:sp>
      <p:sp>
        <p:nvSpPr>
          <p:cNvPr id="13" name="Rectangle 12"/>
          <p:cNvSpPr/>
          <p:nvPr/>
        </p:nvSpPr>
        <p:spPr>
          <a:xfrm>
            <a:off x="640080" y="4206240"/>
            <a:ext cx="10881360" cy="27432"/>
          </a:xfrm>
          <a:prstGeom prst="rect">
            <a:avLst/>
          </a:prstGeom>
          <a:solidFill>
            <a:srgbClr val="378C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4480560"/>
            <a:ext cx="10515600" cy="1645920"/>
          </a:xfrm>
          <a:prstGeom prst="rect">
            <a:avLst/>
          </a:prstGeom>
          <a:noFill/>
        </p:spPr>
        <p:txBody>
          <a:bodyPr wrap="square"/>
          <a:lstStyle/>
          <a:p>
            <a:pPr algn="l">
              <a:spcAft>
                <a:spcPts val="600"/>
              </a:spcAft>
              <a:defRPr sz="1500" b="0">
                <a:solidFill>
                  <a:srgbClr val="333333"/>
                </a:solidFill>
                <a:latin typeface="Calibri"/>
              </a:defRPr>
            </a:pPr>
            <a:r>
              <a:t>These illnesses and deaths are largely preventable if food safety is prioritized along the food chain, from the producer to the consumer.</a:t>
            </a:r>
          </a:p>
          <a:p>
            <a:pPr algn="l">
              <a:spcAft>
                <a:spcPts val="600"/>
              </a:spcAft>
              <a:defRPr sz="600" b="0">
                <a:solidFill>
                  <a:srgbClr val="333333"/>
                </a:solidFill>
                <a:latin typeface="Calibri"/>
              </a:defRPr>
            </a:pPr>
          </a:p>
          <a:p>
            <a:pPr algn="l">
              <a:spcAft>
                <a:spcPts val="600"/>
              </a:spcAft>
              <a:defRPr sz="1800" b="1">
                <a:solidFill>
                  <a:srgbClr val="333333"/>
                </a:solidFill>
                <a:latin typeface="Calibri"/>
              </a:defRPr>
            </a:pPr>
            <a:r>
              <a:t>Food safety is everyone’s business.</a:t>
            </a:r>
          </a:p>
          <a:p>
            <a:pPr algn="l">
              <a:spcAft>
                <a:spcPts val="600"/>
              </a:spcAft>
              <a:defRPr sz="600" b="0">
                <a:solidFill>
                  <a:srgbClr val="333333"/>
                </a:solidFill>
                <a:latin typeface="Calibri"/>
              </a:defRPr>
            </a:pPr>
          </a:p>
          <a:p>
            <a:pPr algn="l">
              <a:spcAft>
                <a:spcPts val="600"/>
              </a:spcAft>
              <a:defRPr sz="1500" b="0">
                <a:solidFill>
                  <a:srgbClr val="333333"/>
                </a:solidFill>
                <a:latin typeface="Calibri"/>
              </a:defRPr>
            </a:pPr>
            <a:r>
              <a:t>No matter who you are or what you do, you play an important role in making sure food is safe to eat.</a:t>
            </a:r>
          </a:p>
        </p:txBody>
      </p:sp>
      <p:sp>
        <p:nvSpPr>
          <p:cNvPr id="15" name="Rectangle 14"/>
          <p:cNvSpPr/>
          <p:nvPr/>
        </p:nvSpPr>
        <p:spPr>
          <a:xfrm>
            <a:off x="0" y="6400800"/>
            <a:ext cx="12191695" cy="457200"/>
          </a:xfrm>
          <a:prstGeom prst="rect">
            <a:avLst/>
          </a:prstGeom>
          <a:solidFill>
            <a:srgbClr val="002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6446520"/>
            <a:ext cx="3657600" cy="365760"/>
          </a:xfrm>
          <a:prstGeom prst="rect">
            <a:avLst/>
          </a:prstGeom>
          <a:noFill/>
        </p:spPr>
        <p:txBody>
          <a:bodyPr wrap="square"/>
          <a:lstStyle/>
          <a:p>
            <a:pPr algn="l">
              <a:defRPr sz="900" b="0">
                <a:solidFill>
                  <a:srgbClr val="FFFFFF"/>
                </a:solidFill>
                <a:latin typeface="Calibri Light"/>
              </a:defRPr>
            </a:pPr>
            <a:r>
              <a:t>FAO / WHO World Food Safety Day 2024  |  Campaign Briefing</a:t>
            </a:r>
          </a:p>
        </p:txBody>
      </p:sp>
      <p:sp>
        <p:nvSpPr>
          <p:cNvPr id="17" name="TextBox 16"/>
          <p:cNvSpPr txBox="1"/>
          <p:nvPr/>
        </p:nvSpPr>
        <p:spPr>
          <a:xfrm>
            <a:off x="11094415" y="6446520"/>
            <a:ext cx="914400" cy="365760"/>
          </a:xfrm>
          <a:prstGeom prst="rect">
            <a:avLst/>
          </a:prstGeom>
          <a:noFill/>
        </p:spPr>
        <p:txBody>
          <a:bodyPr wrap="square"/>
          <a:lstStyle/>
          <a:p>
            <a:pPr algn="r">
              <a:defRPr sz="900" b="0">
                <a:solidFill>
                  <a:srgbClr val="FFFFFF"/>
                </a:solidFill>
                <a:latin typeface="Calibri Light"/>
              </a:defRPr>
            </a:pPr>
            <a:r>
              <a:t>2 / 10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002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E86A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
            <a:ext cx="10515600" cy="594360"/>
          </a:xfrm>
          <a:prstGeom prst="rect">
            <a:avLst/>
          </a:prstGeom>
          <a:noFill/>
        </p:spPr>
        <p:txBody>
          <a:bodyPr wrap="square"/>
          <a:lstStyle/>
          <a:p>
            <a:pPr algn="l">
              <a:defRPr sz="2800" b="1">
                <a:solidFill>
                  <a:srgbClr val="FFFFFF"/>
                </a:solidFill>
                <a:latin typeface="Calibri Light"/>
              </a:defRPr>
            </a:pPr>
            <a:r>
              <a:t>2024 Campaign Theme</a:t>
            </a:r>
          </a:p>
        </p:txBody>
      </p:sp>
      <p:sp>
        <p:nvSpPr>
          <p:cNvPr id="5" name="TextBox 4"/>
          <p:cNvSpPr txBox="1"/>
          <p:nvPr/>
        </p:nvSpPr>
        <p:spPr>
          <a:xfrm>
            <a:off x="640080" y="594360"/>
            <a:ext cx="10515600" cy="411480"/>
          </a:xfrm>
          <a:prstGeom prst="rect">
            <a:avLst/>
          </a:prstGeom>
          <a:noFill/>
        </p:spPr>
        <p:txBody>
          <a:bodyPr wrap="square"/>
          <a:lstStyle/>
          <a:p>
            <a:pPr algn="l">
              <a:defRPr sz="1400" b="0">
                <a:solidFill>
                  <a:srgbClr val="CCDDEE"/>
                </a:solidFill>
                <a:latin typeface="Calibri Light"/>
              </a:defRPr>
            </a:pPr>
            <a:r>
              <a:t>“Food safety: prepare for the unexpected”</a:t>
            </a:r>
          </a:p>
        </p:txBody>
      </p:sp>
      <p:sp>
        <p:nvSpPr>
          <p:cNvPr id="6" name="TextBox 5"/>
          <p:cNvSpPr txBox="1"/>
          <p:nvPr/>
        </p:nvSpPr>
        <p:spPr>
          <a:xfrm>
            <a:off x="640080" y="1463040"/>
            <a:ext cx="5303520" cy="4572000"/>
          </a:xfrm>
          <a:prstGeom prst="rect">
            <a:avLst/>
          </a:prstGeom>
          <a:noFill/>
        </p:spPr>
        <p:txBody>
          <a:bodyPr wrap="square"/>
          <a:lstStyle/>
          <a:p>
            <a:pPr algn="l">
              <a:spcAft>
                <a:spcPts val="800"/>
              </a:spcAft>
              <a:defRPr sz="1400" b="0">
                <a:solidFill>
                  <a:srgbClr val="333333"/>
                </a:solidFill>
                <a:latin typeface="Calibri"/>
              </a:defRPr>
            </a:pPr>
            <a:r>
              <a:t>Food safety is a collective responsibility — everyone from producers to consumers needs to play their part. This is the only way we can be sure the food on your plate will be safe.</a:t>
            </a:r>
          </a:p>
          <a:p>
            <a:pPr algn="l">
              <a:spcAft>
                <a:spcPts val="800"/>
              </a:spcAft>
              <a:defRPr sz="600" b="0">
                <a:solidFill>
                  <a:srgbClr val="333333"/>
                </a:solidFill>
                <a:latin typeface="Calibri"/>
              </a:defRPr>
            </a:pPr>
          </a:p>
          <a:p>
            <a:pPr algn="l">
              <a:spcAft>
                <a:spcPts val="800"/>
              </a:spcAft>
              <a:defRPr sz="1400" b="0">
                <a:solidFill>
                  <a:srgbClr val="333333"/>
                </a:solidFill>
                <a:latin typeface="Calibri"/>
              </a:defRPr>
            </a:pPr>
            <a:r>
              <a:t>However, there are exceptional situations where even if we have all played our part, the unexpected intervenes and food safety is compromised.</a:t>
            </a:r>
          </a:p>
          <a:p>
            <a:pPr algn="l">
              <a:spcAft>
                <a:spcPts val="800"/>
              </a:spcAft>
              <a:defRPr sz="600" b="0">
                <a:solidFill>
                  <a:srgbClr val="333333"/>
                </a:solidFill>
                <a:latin typeface="Calibri"/>
              </a:defRPr>
            </a:pPr>
          </a:p>
          <a:p>
            <a:pPr algn="l">
              <a:spcAft>
                <a:spcPts val="800"/>
              </a:spcAft>
              <a:defRPr sz="1600" b="1">
                <a:solidFill>
                  <a:srgbClr val="333333"/>
                </a:solidFill>
                <a:latin typeface="Calibri"/>
              </a:defRPr>
            </a:pPr>
            <a:r>
              <a:t>Even then, there is always something we can do to avoid illness.</a:t>
            </a:r>
          </a:p>
          <a:p>
            <a:pPr algn="l">
              <a:spcAft>
                <a:spcPts val="800"/>
              </a:spcAft>
              <a:defRPr sz="600" b="0">
                <a:solidFill>
                  <a:srgbClr val="333333"/>
                </a:solidFill>
                <a:latin typeface="Calibri"/>
              </a:defRPr>
            </a:pPr>
          </a:p>
          <a:p>
            <a:pPr algn="l">
              <a:spcAft>
                <a:spcPts val="800"/>
              </a:spcAft>
              <a:defRPr sz="1400" b="1">
                <a:solidFill>
                  <a:srgbClr val="333333"/>
                </a:solidFill>
                <a:latin typeface="Calibri"/>
              </a:defRPr>
            </a:pPr>
            <a:r>
              <a:t>The Question for 2024:</a:t>
            </a:r>
          </a:p>
          <a:p>
            <a:pPr algn="l">
              <a:spcAft>
                <a:spcPts val="800"/>
              </a:spcAft>
              <a:defRPr sz="2000" b="1">
                <a:solidFill>
                  <a:srgbClr val="333333"/>
                </a:solidFill>
                <a:latin typeface="Calibri"/>
              </a:defRPr>
            </a:pPr>
            <a:r>
              <a:t>Are you ready for the unexpected?</a:t>
            </a:r>
          </a:p>
        </p:txBody>
      </p:sp>
      <p:sp>
        <p:nvSpPr>
          <p:cNvPr id="7" name="Rectangle 6"/>
          <p:cNvSpPr/>
          <p:nvPr/>
        </p:nvSpPr>
        <p:spPr>
          <a:xfrm>
            <a:off x="6583680" y="1463040"/>
            <a:ext cx="5029200" cy="438912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0" y="1645920"/>
            <a:ext cx="4480560" cy="457200"/>
          </a:xfrm>
          <a:prstGeom prst="rect">
            <a:avLst/>
          </a:prstGeom>
          <a:noFill/>
        </p:spPr>
        <p:txBody>
          <a:bodyPr wrap="square"/>
          <a:lstStyle/>
          <a:p>
            <a:pPr algn="l">
              <a:defRPr sz="1500" b="1">
                <a:solidFill>
                  <a:srgbClr val="002B5C"/>
                </a:solidFill>
                <a:latin typeface="Calibri"/>
              </a:defRPr>
            </a:pPr>
            <a:r>
              <a:t>Food Safety Incidents Range from…</a:t>
            </a:r>
          </a:p>
        </p:txBody>
      </p:sp>
      <p:sp>
        <p:nvSpPr>
          <p:cNvPr id="9" name="Rectangle 8"/>
          <p:cNvSpPr/>
          <p:nvPr/>
        </p:nvSpPr>
        <p:spPr>
          <a:xfrm>
            <a:off x="6858000" y="2286000"/>
            <a:ext cx="73152" cy="502920"/>
          </a:xfrm>
          <a:prstGeom prst="rect">
            <a:avLst/>
          </a:prstGeom>
          <a:solidFill>
            <a:srgbClr val="E86A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2320" y="2304288"/>
            <a:ext cx="4114800" cy="502920"/>
          </a:xfrm>
          <a:prstGeom prst="rect">
            <a:avLst/>
          </a:prstGeom>
          <a:noFill/>
        </p:spPr>
        <p:txBody>
          <a:bodyPr wrap="square"/>
          <a:lstStyle/>
          <a:p>
            <a:pPr algn="l">
              <a:defRPr sz="1300" b="0">
                <a:solidFill>
                  <a:srgbClr val="333333"/>
                </a:solidFill>
                <a:latin typeface="Calibri Light"/>
              </a:defRPr>
            </a:pPr>
            <a:r>
              <a:t>Power outage</a:t>
            </a:r>
            <a:br/>
            <a:r>
              <a:t>at home</a:t>
            </a:r>
          </a:p>
        </p:txBody>
      </p:sp>
      <p:sp>
        <p:nvSpPr>
          <p:cNvPr id="11" name="Rectangle 10"/>
          <p:cNvSpPr/>
          <p:nvPr/>
        </p:nvSpPr>
        <p:spPr>
          <a:xfrm>
            <a:off x="6858000" y="2944368"/>
            <a:ext cx="73152" cy="502920"/>
          </a:xfrm>
          <a:prstGeom prst="rect">
            <a:avLst/>
          </a:prstGeom>
          <a:solidFill>
            <a:srgbClr val="007A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132320" y="2962656"/>
            <a:ext cx="4114800" cy="502920"/>
          </a:xfrm>
          <a:prstGeom prst="rect">
            <a:avLst/>
          </a:prstGeom>
          <a:noFill/>
        </p:spPr>
        <p:txBody>
          <a:bodyPr wrap="square"/>
          <a:lstStyle/>
          <a:p>
            <a:pPr algn="l">
              <a:defRPr sz="1300" b="0">
                <a:solidFill>
                  <a:srgbClr val="333333"/>
                </a:solidFill>
                <a:latin typeface="Calibri Light"/>
              </a:defRPr>
            </a:pPr>
            <a:r>
              <a:t>Food poisoning at</a:t>
            </a:r>
            <a:br/>
            <a:r>
              <a:t>a local restaurant</a:t>
            </a:r>
          </a:p>
        </p:txBody>
      </p:sp>
      <p:sp>
        <p:nvSpPr>
          <p:cNvPr id="13" name="Rectangle 12"/>
          <p:cNvSpPr/>
          <p:nvPr/>
        </p:nvSpPr>
        <p:spPr>
          <a:xfrm>
            <a:off x="6858000" y="3602736"/>
            <a:ext cx="73152" cy="502920"/>
          </a:xfrm>
          <a:prstGeom prst="rect">
            <a:avLst/>
          </a:prstGeom>
          <a:solidFill>
            <a:srgbClr val="005B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32320" y="3621024"/>
            <a:ext cx="4114800" cy="502920"/>
          </a:xfrm>
          <a:prstGeom prst="rect">
            <a:avLst/>
          </a:prstGeom>
          <a:noFill/>
        </p:spPr>
        <p:txBody>
          <a:bodyPr wrap="square"/>
          <a:lstStyle/>
          <a:p>
            <a:pPr algn="l">
              <a:defRPr sz="1300" b="0">
                <a:solidFill>
                  <a:srgbClr val="333333"/>
                </a:solidFill>
                <a:latin typeface="Calibri Light"/>
              </a:defRPr>
            </a:pPr>
            <a:r>
              <a:t>Voluntary recall of</a:t>
            </a:r>
            <a:br/>
            <a:r>
              <a:t>contaminated products</a:t>
            </a:r>
          </a:p>
        </p:txBody>
      </p:sp>
      <p:sp>
        <p:nvSpPr>
          <p:cNvPr id="15" name="Rectangle 14"/>
          <p:cNvSpPr/>
          <p:nvPr/>
        </p:nvSpPr>
        <p:spPr>
          <a:xfrm>
            <a:off x="6858000" y="4261104"/>
            <a:ext cx="73152" cy="502920"/>
          </a:xfrm>
          <a:prstGeom prst="rect">
            <a:avLst/>
          </a:prstGeom>
          <a:solidFill>
            <a:srgbClr val="002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132320" y="4279392"/>
            <a:ext cx="4114800" cy="502920"/>
          </a:xfrm>
          <a:prstGeom prst="rect">
            <a:avLst/>
          </a:prstGeom>
          <a:noFill/>
        </p:spPr>
        <p:txBody>
          <a:bodyPr wrap="square"/>
          <a:lstStyle/>
          <a:p>
            <a:pPr algn="l">
              <a:defRPr sz="1300" b="0">
                <a:solidFill>
                  <a:srgbClr val="333333"/>
                </a:solidFill>
                <a:latin typeface="Calibri Light"/>
              </a:defRPr>
            </a:pPr>
            <a:r>
              <a:t>Outbreak from</a:t>
            </a:r>
            <a:br/>
            <a:r>
              <a:t>imported products</a:t>
            </a:r>
          </a:p>
        </p:txBody>
      </p:sp>
      <p:sp>
        <p:nvSpPr>
          <p:cNvPr id="17" name="Rectangle 16"/>
          <p:cNvSpPr/>
          <p:nvPr/>
        </p:nvSpPr>
        <p:spPr>
          <a:xfrm>
            <a:off x="6858000" y="4919472"/>
            <a:ext cx="73152" cy="502920"/>
          </a:xfrm>
          <a:prstGeom prst="rect">
            <a:avLst/>
          </a:prstGeom>
          <a:solidFill>
            <a:srgbClr val="E86A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132320" y="4937760"/>
            <a:ext cx="4114800" cy="502920"/>
          </a:xfrm>
          <a:prstGeom prst="rect">
            <a:avLst/>
          </a:prstGeom>
          <a:noFill/>
        </p:spPr>
        <p:txBody>
          <a:bodyPr wrap="square"/>
          <a:lstStyle/>
          <a:p>
            <a:pPr algn="l">
              <a:defRPr sz="1300" b="0">
                <a:solidFill>
                  <a:srgbClr val="333333"/>
                </a:solidFill>
                <a:latin typeface="Calibri Light"/>
              </a:defRPr>
            </a:pPr>
            <a:r>
              <a:t>Natural disaster</a:t>
            </a:r>
            <a:br/>
            <a:r>
              <a:t>impacting food supply</a:t>
            </a:r>
          </a:p>
        </p:txBody>
      </p:sp>
      <p:sp>
        <p:nvSpPr>
          <p:cNvPr id="19" name="TextBox 18"/>
          <p:cNvSpPr txBox="1"/>
          <p:nvPr/>
        </p:nvSpPr>
        <p:spPr>
          <a:xfrm>
            <a:off x="7132320" y="5394960"/>
            <a:ext cx="4114800" cy="457200"/>
          </a:xfrm>
          <a:prstGeom prst="rect">
            <a:avLst/>
          </a:prstGeom>
          <a:noFill/>
        </p:spPr>
        <p:txBody>
          <a:bodyPr wrap="square"/>
          <a:lstStyle/>
          <a:p>
            <a:pPr algn="l">
              <a:defRPr sz="900" b="0">
                <a:solidFill>
                  <a:srgbClr val="999999"/>
                </a:solidFill>
                <a:latin typeface="Calibri Light"/>
              </a:defRPr>
            </a:pPr>
            <a:r>
              <a:t>Source: WFSD 2024 Communication Toolkit (p.2)</a:t>
            </a:r>
          </a:p>
        </p:txBody>
      </p:sp>
      <p:sp>
        <p:nvSpPr>
          <p:cNvPr id="20" name="Rectangle 19"/>
          <p:cNvSpPr/>
          <p:nvPr/>
        </p:nvSpPr>
        <p:spPr>
          <a:xfrm>
            <a:off x="0" y="6400800"/>
            <a:ext cx="12191695" cy="457200"/>
          </a:xfrm>
          <a:prstGeom prst="rect">
            <a:avLst/>
          </a:prstGeom>
          <a:solidFill>
            <a:srgbClr val="002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6446520"/>
            <a:ext cx="3657600" cy="365760"/>
          </a:xfrm>
          <a:prstGeom prst="rect">
            <a:avLst/>
          </a:prstGeom>
          <a:noFill/>
        </p:spPr>
        <p:txBody>
          <a:bodyPr wrap="square"/>
          <a:lstStyle/>
          <a:p>
            <a:pPr algn="l">
              <a:defRPr sz="900" b="0">
                <a:solidFill>
                  <a:srgbClr val="FFFFFF"/>
                </a:solidFill>
                <a:latin typeface="Calibri Light"/>
              </a:defRPr>
            </a:pPr>
            <a:r>
              <a:t>FAO / WHO World Food Safety Day 2024  |  Campaign Briefing</a:t>
            </a:r>
          </a:p>
        </p:txBody>
      </p:sp>
      <p:sp>
        <p:nvSpPr>
          <p:cNvPr id="22" name="TextBox 21"/>
          <p:cNvSpPr txBox="1"/>
          <p:nvPr/>
        </p:nvSpPr>
        <p:spPr>
          <a:xfrm>
            <a:off x="11094415" y="6446520"/>
            <a:ext cx="914400" cy="365760"/>
          </a:xfrm>
          <a:prstGeom prst="rect">
            <a:avLst/>
          </a:prstGeom>
          <a:noFill/>
        </p:spPr>
        <p:txBody>
          <a:bodyPr wrap="square"/>
          <a:lstStyle/>
          <a:p>
            <a:pPr algn="r">
              <a:defRPr sz="900" b="0">
                <a:solidFill>
                  <a:srgbClr val="FFFFFF"/>
                </a:solidFill>
                <a:latin typeface="Calibri Light"/>
              </a:defRPr>
            </a:pPr>
            <a:r>
              <a:t>3 / 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002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E86A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
            <a:ext cx="10515600" cy="594360"/>
          </a:xfrm>
          <a:prstGeom prst="rect">
            <a:avLst/>
          </a:prstGeom>
          <a:noFill/>
        </p:spPr>
        <p:txBody>
          <a:bodyPr wrap="square"/>
          <a:lstStyle/>
          <a:p>
            <a:pPr algn="l">
              <a:defRPr sz="2800" b="1">
                <a:solidFill>
                  <a:srgbClr val="FFFFFF"/>
                </a:solidFill>
                <a:latin typeface="Calibri Light"/>
              </a:defRPr>
            </a:pPr>
            <a:r>
              <a:t>Why Food Safety Emergencies Matter</a:t>
            </a:r>
          </a:p>
        </p:txBody>
      </p:sp>
      <p:sp>
        <p:nvSpPr>
          <p:cNvPr id="5" name="TextBox 4"/>
          <p:cNvSpPr txBox="1"/>
          <p:nvPr/>
        </p:nvSpPr>
        <p:spPr>
          <a:xfrm>
            <a:off x="640080" y="594360"/>
            <a:ext cx="10515600" cy="411480"/>
          </a:xfrm>
          <a:prstGeom prst="rect">
            <a:avLst/>
          </a:prstGeom>
          <a:noFill/>
        </p:spPr>
        <p:txBody>
          <a:bodyPr wrap="square"/>
          <a:lstStyle/>
          <a:p>
            <a:pPr algn="l">
              <a:defRPr sz="1400" b="0">
                <a:solidFill>
                  <a:srgbClr val="CCDDEE"/>
                </a:solidFill>
                <a:latin typeface="Calibri Light"/>
              </a:defRPr>
            </a:pPr>
            <a:r>
              <a:t>The global burden of foodborne illness and the urgency of preparedness</a:t>
            </a:r>
          </a:p>
        </p:txBody>
      </p:sp>
      <p:sp>
        <p:nvSpPr>
          <p:cNvPr id="6" name="Rectangle 5"/>
          <p:cNvSpPr/>
          <p:nvPr/>
        </p:nvSpPr>
        <p:spPr>
          <a:xfrm>
            <a:off x="640080" y="1463040"/>
            <a:ext cx="2560320" cy="1554480"/>
          </a:xfrm>
          <a:prstGeom prst="rect">
            <a:avLst/>
          </a:prstGeom>
          <a:solidFill>
            <a:srgbClr val="E86A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554480"/>
            <a:ext cx="2286000" cy="548640"/>
          </a:xfrm>
          <a:prstGeom prst="rect">
            <a:avLst/>
          </a:prstGeom>
          <a:noFill/>
        </p:spPr>
        <p:txBody>
          <a:bodyPr wrap="square"/>
          <a:lstStyle/>
          <a:p>
            <a:pPr algn="ctr">
              <a:defRPr sz="2800" b="1">
                <a:solidFill>
                  <a:srgbClr val="FFFFFF"/>
                </a:solidFill>
                <a:latin typeface="Calibri Light"/>
              </a:defRPr>
            </a:pPr>
            <a:r>
              <a:t>600 million+</a:t>
            </a:r>
          </a:p>
        </p:txBody>
      </p:sp>
      <p:sp>
        <p:nvSpPr>
          <p:cNvPr id="8" name="TextBox 7"/>
          <p:cNvSpPr txBox="1"/>
          <p:nvPr/>
        </p:nvSpPr>
        <p:spPr>
          <a:xfrm>
            <a:off x="777240" y="2194560"/>
            <a:ext cx="2286000" cy="731520"/>
          </a:xfrm>
          <a:prstGeom prst="rect">
            <a:avLst/>
          </a:prstGeom>
          <a:noFill/>
        </p:spPr>
        <p:txBody>
          <a:bodyPr wrap="square"/>
          <a:lstStyle/>
          <a:p>
            <a:pPr algn="ctr">
              <a:defRPr sz="1200" b="0">
                <a:solidFill>
                  <a:srgbClr val="FFFFFF"/>
                </a:solidFill>
                <a:latin typeface="Calibri Light"/>
              </a:defRPr>
            </a:pPr>
            <a:r>
              <a:t>people fall ill annually</a:t>
            </a:r>
            <a:br/>
            <a:r>
              <a:t>from contaminated food</a:t>
            </a:r>
          </a:p>
        </p:txBody>
      </p:sp>
      <p:sp>
        <p:nvSpPr>
          <p:cNvPr id="9" name="Rectangle 8"/>
          <p:cNvSpPr/>
          <p:nvPr/>
        </p:nvSpPr>
        <p:spPr>
          <a:xfrm>
            <a:off x="3474720" y="1463040"/>
            <a:ext cx="2560320" cy="1554480"/>
          </a:xfrm>
          <a:prstGeom prst="rect">
            <a:avLst/>
          </a:prstGeom>
          <a:solidFill>
            <a:srgbClr val="005B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11880" y="1554480"/>
            <a:ext cx="2286000" cy="548640"/>
          </a:xfrm>
          <a:prstGeom prst="rect">
            <a:avLst/>
          </a:prstGeom>
          <a:noFill/>
        </p:spPr>
        <p:txBody>
          <a:bodyPr wrap="square"/>
          <a:lstStyle/>
          <a:p>
            <a:pPr algn="ctr">
              <a:defRPr sz="2800" b="1">
                <a:solidFill>
                  <a:srgbClr val="FFFFFF"/>
                </a:solidFill>
                <a:latin typeface="Calibri Light"/>
              </a:defRPr>
            </a:pPr>
            <a:r>
              <a:t>420 000</a:t>
            </a:r>
          </a:p>
        </p:txBody>
      </p:sp>
      <p:sp>
        <p:nvSpPr>
          <p:cNvPr id="11" name="TextBox 10"/>
          <p:cNvSpPr txBox="1"/>
          <p:nvPr/>
        </p:nvSpPr>
        <p:spPr>
          <a:xfrm>
            <a:off x="3611880" y="2194560"/>
            <a:ext cx="2286000" cy="731520"/>
          </a:xfrm>
          <a:prstGeom prst="rect">
            <a:avLst/>
          </a:prstGeom>
          <a:noFill/>
        </p:spPr>
        <p:txBody>
          <a:bodyPr wrap="square"/>
          <a:lstStyle/>
          <a:p>
            <a:pPr algn="ctr">
              <a:defRPr sz="1200" b="0">
                <a:solidFill>
                  <a:srgbClr val="FFFFFF"/>
                </a:solidFill>
                <a:latin typeface="Calibri Light"/>
              </a:defRPr>
            </a:pPr>
            <a:r>
              <a:t>deaths every year</a:t>
            </a:r>
            <a:br/>
            <a:r>
              <a:t>from foodborne diseases</a:t>
            </a:r>
          </a:p>
        </p:txBody>
      </p:sp>
      <p:sp>
        <p:nvSpPr>
          <p:cNvPr id="12" name="Rectangle 11"/>
          <p:cNvSpPr/>
          <p:nvPr/>
        </p:nvSpPr>
        <p:spPr>
          <a:xfrm>
            <a:off x="6309360" y="1463040"/>
            <a:ext cx="2560320" cy="1554480"/>
          </a:xfrm>
          <a:prstGeom prst="rect">
            <a:avLst/>
          </a:prstGeom>
          <a:solidFill>
            <a:srgbClr val="378C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46520" y="1554480"/>
            <a:ext cx="2286000" cy="548640"/>
          </a:xfrm>
          <a:prstGeom prst="rect">
            <a:avLst/>
          </a:prstGeom>
          <a:noFill/>
        </p:spPr>
        <p:txBody>
          <a:bodyPr wrap="square"/>
          <a:lstStyle/>
          <a:p>
            <a:pPr algn="ctr">
              <a:defRPr sz="2800" b="1">
                <a:solidFill>
                  <a:srgbClr val="FFFFFF"/>
                </a:solidFill>
                <a:latin typeface="Calibri Light"/>
              </a:defRPr>
            </a:pPr>
            <a:r>
              <a:t>1 in 10</a:t>
            </a:r>
          </a:p>
        </p:txBody>
      </p:sp>
      <p:sp>
        <p:nvSpPr>
          <p:cNvPr id="14" name="TextBox 13"/>
          <p:cNvSpPr txBox="1"/>
          <p:nvPr/>
        </p:nvSpPr>
        <p:spPr>
          <a:xfrm>
            <a:off x="6446520" y="2194560"/>
            <a:ext cx="2286000" cy="731520"/>
          </a:xfrm>
          <a:prstGeom prst="rect">
            <a:avLst/>
          </a:prstGeom>
          <a:noFill/>
        </p:spPr>
        <p:txBody>
          <a:bodyPr wrap="square"/>
          <a:lstStyle/>
          <a:p>
            <a:pPr algn="ctr">
              <a:defRPr sz="1200" b="0">
                <a:solidFill>
                  <a:srgbClr val="FFFFFF"/>
                </a:solidFill>
                <a:latin typeface="Calibri Light"/>
              </a:defRPr>
            </a:pPr>
            <a:r>
              <a:t>people worldwide</a:t>
            </a:r>
            <a:br/>
            <a:r>
              <a:t>affected each year</a:t>
            </a:r>
          </a:p>
        </p:txBody>
      </p:sp>
      <p:sp>
        <p:nvSpPr>
          <p:cNvPr id="15" name="Rectangle 14"/>
          <p:cNvSpPr/>
          <p:nvPr/>
        </p:nvSpPr>
        <p:spPr>
          <a:xfrm>
            <a:off x="9144000" y="1463040"/>
            <a:ext cx="2560320" cy="1554480"/>
          </a:xfrm>
          <a:prstGeom prst="rect">
            <a:avLst/>
          </a:prstGeom>
          <a:solidFill>
            <a:srgbClr val="007A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281160" y="1554480"/>
            <a:ext cx="2286000" cy="548640"/>
          </a:xfrm>
          <a:prstGeom prst="rect">
            <a:avLst/>
          </a:prstGeom>
          <a:noFill/>
        </p:spPr>
        <p:txBody>
          <a:bodyPr wrap="square"/>
          <a:lstStyle/>
          <a:p>
            <a:pPr algn="ctr">
              <a:defRPr sz="2800" b="1">
                <a:solidFill>
                  <a:srgbClr val="FFFFFF"/>
                </a:solidFill>
                <a:latin typeface="Calibri Light"/>
              </a:defRPr>
            </a:pPr>
            <a:r>
              <a:t>200+</a:t>
            </a:r>
          </a:p>
        </p:txBody>
      </p:sp>
      <p:sp>
        <p:nvSpPr>
          <p:cNvPr id="17" name="TextBox 16"/>
          <p:cNvSpPr txBox="1"/>
          <p:nvPr/>
        </p:nvSpPr>
        <p:spPr>
          <a:xfrm>
            <a:off x="9281160" y="2194560"/>
            <a:ext cx="2286000" cy="731520"/>
          </a:xfrm>
          <a:prstGeom prst="rect">
            <a:avLst/>
          </a:prstGeom>
          <a:noFill/>
        </p:spPr>
        <p:txBody>
          <a:bodyPr wrap="square"/>
          <a:lstStyle/>
          <a:p>
            <a:pPr algn="ctr">
              <a:defRPr sz="1200" b="0">
                <a:solidFill>
                  <a:srgbClr val="FFFFFF"/>
                </a:solidFill>
                <a:latin typeface="Calibri Light"/>
              </a:defRPr>
            </a:pPr>
            <a:r>
              <a:t>diseases caused by</a:t>
            </a:r>
            <a:br/>
            <a:r>
              <a:t>contaminated food</a:t>
            </a:r>
          </a:p>
        </p:txBody>
      </p:sp>
      <p:sp>
        <p:nvSpPr>
          <p:cNvPr id="18" name="Rectangle 17"/>
          <p:cNvSpPr/>
          <p:nvPr/>
        </p:nvSpPr>
        <p:spPr>
          <a:xfrm>
            <a:off x="640080" y="3291840"/>
            <a:ext cx="10881360" cy="27432"/>
          </a:xfrm>
          <a:prstGeom prst="rect">
            <a:avLst/>
          </a:prstGeom>
          <a:solidFill>
            <a:srgbClr val="378C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40080" y="3474720"/>
            <a:ext cx="3291840" cy="164592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960" y="3566160"/>
            <a:ext cx="2926080" cy="365760"/>
          </a:xfrm>
          <a:prstGeom prst="rect">
            <a:avLst/>
          </a:prstGeom>
          <a:noFill/>
        </p:spPr>
        <p:txBody>
          <a:bodyPr wrap="square"/>
          <a:lstStyle/>
          <a:p>
            <a:pPr algn="l">
              <a:defRPr sz="1800" b="1">
                <a:solidFill>
                  <a:srgbClr val="002B5C"/>
                </a:solidFill>
                <a:latin typeface="Calibri"/>
              </a:defRPr>
            </a:pPr>
            <a:r>
              <a:t>Children under 5</a:t>
            </a:r>
          </a:p>
        </p:txBody>
      </p:sp>
      <p:sp>
        <p:nvSpPr>
          <p:cNvPr id="21" name="TextBox 20"/>
          <p:cNvSpPr txBox="1"/>
          <p:nvPr/>
        </p:nvSpPr>
        <p:spPr>
          <a:xfrm>
            <a:off x="822960" y="3931920"/>
            <a:ext cx="2926080" cy="274320"/>
          </a:xfrm>
          <a:prstGeom prst="rect">
            <a:avLst/>
          </a:prstGeom>
          <a:noFill/>
        </p:spPr>
        <p:txBody>
          <a:bodyPr wrap="square"/>
          <a:lstStyle/>
          <a:p>
            <a:pPr algn="l">
              <a:defRPr sz="1300" b="0">
                <a:solidFill>
                  <a:srgbClr val="333333"/>
                </a:solidFill>
                <a:latin typeface="Calibri"/>
              </a:defRPr>
            </a:pPr>
            <a:r>
              <a:t>Make up only 9% of the</a:t>
            </a:r>
            <a:br/>
            <a:r>
              <a:t>population, but carry</a:t>
            </a:r>
          </a:p>
        </p:txBody>
      </p:sp>
      <p:sp>
        <p:nvSpPr>
          <p:cNvPr id="22" name="TextBox 21"/>
          <p:cNvSpPr txBox="1"/>
          <p:nvPr/>
        </p:nvSpPr>
        <p:spPr>
          <a:xfrm>
            <a:off x="822960" y="4389120"/>
            <a:ext cx="2926080" cy="457200"/>
          </a:xfrm>
          <a:prstGeom prst="rect">
            <a:avLst/>
          </a:prstGeom>
          <a:noFill/>
        </p:spPr>
        <p:txBody>
          <a:bodyPr wrap="square"/>
          <a:lstStyle/>
          <a:p>
            <a:pPr algn="ctr">
              <a:defRPr sz="4200" b="1">
                <a:solidFill>
                  <a:srgbClr val="E86A17"/>
                </a:solidFill>
                <a:latin typeface="Calibri"/>
              </a:defRPr>
            </a:pPr>
            <a:r>
              <a:t>40%</a:t>
            </a:r>
          </a:p>
        </p:txBody>
      </p:sp>
      <p:sp>
        <p:nvSpPr>
          <p:cNvPr id="23" name="TextBox 22"/>
          <p:cNvSpPr txBox="1"/>
          <p:nvPr/>
        </p:nvSpPr>
        <p:spPr>
          <a:xfrm>
            <a:off x="822960" y="4754880"/>
            <a:ext cx="2926080" cy="274320"/>
          </a:xfrm>
          <a:prstGeom prst="rect">
            <a:avLst/>
          </a:prstGeom>
          <a:noFill/>
        </p:spPr>
        <p:txBody>
          <a:bodyPr wrap="square"/>
          <a:lstStyle/>
          <a:p>
            <a:pPr algn="l">
              <a:defRPr sz="1300" b="0">
                <a:solidFill>
                  <a:srgbClr val="333333"/>
                </a:solidFill>
                <a:latin typeface="Calibri"/>
              </a:defRPr>
            </a:pPr>
            <a:r>
              <a:t>of the foodborne disease burden</a:t>
            </a:r>
          </a:p>
        </p:txBody>
      </p:sp>
      <p:sp>
        <p:nvSpPr>
          <p:cNvPr id="24" name="TextBox 23"/>
          <p:cNvSpPr txBox="1"/>
          <p:nvPr/>
        </p:nvSpPr>
        <p:spPr>
          <a:xfrm>
            <a:off x="4389120" y="3474720"/>
            <a:ext cx="7132320" cy="1828800"/>
          </a:xfrm>
          <a:prstGeom prst="rect">
            <a:avLst/>
          </a:prstGeom>
          <a:noFill/>
        </p:spPr>
        <p:txBody>
          <a:bodyPr wrap="square"/>
          <a:lstStyle/>
          <a:p>
            <a:pPr algn="l">
              <a:spcAft>
                <a:spcPts val="600"/>
              </a:spcAft>
              <a:defRPr sz="1400" b="0">
                <a:solidFill>
                  <a:srgbClr val="333333"/>
                </a:solidFill>
                <a:latin typeface="Calibri"/>
              </a:defRPr>
            </a:pPr>
            <a:r>
              <a:t>Food safety hazards do not recognize borders. In an increasingly interconnected global food supply, risks posed by unsafe food can rapidly evolve from a local problem to an international emergency.</a:t>
            </a:r>
          </a:p>
          <a:p>
            <a:pPr algn="l">
              <a:spcAft>
                <a:spcPts val="600"/>
              </a:spcAft>
              <a:defRPr sz="600" b="0">
                <a:solidFill>
                  <a:srgbClr val="333333"/>
                </a:solidFill>
                <a:latin typeface="Calibri"/>
              </a:defRPr>
            </a:pPr>
          </a:p>
          <a:p>
            <a:pPr algn="l">
              <a:spcAft>
                <a:spcPts val="600"/>
              </a:spcAft>
              <a:defRPr sz="1400" b="0">
                <a:solidFill>
                  <a:srgbClr val="333333"/>
                </a:solidFill>
                <a:latin typeface="Calibri"/>
              </a:defRPr>
            </a:pPr>
            <a:r>
              <a:t>Food safety incidents can be caused by an unexpected event — such as a power outage, flooding, or a breakdown in food safety controls.</a:t>
            </a:r>
          </a:p>
          <a:p>
            <a:pPr algn="l">
              <a:spcAft>
                <a:spcPts val="600"/>
              </a:spcAft>
              <a:defRPr sz="600" b="0">
                <a:solidFill>
                  <a:srgbClr val="333333"/>
                </a:solidFill>
                <a:latin typeface="Calibri"/>
              </a:defRPr>
            </a:pPr>
          </a:p>
          <a:p>
            <a:pPr algn="l">
              <a:spcAft>
                <a:spcPts val="600"/>
              </a:spcAft>
              <a:defRPr sz="1000" b="0">
                <a:solidFill>
                  <a:srgbClr val="333333"/>
                </a:solidFill>
                <a:latin typeface="Calibri"/>
              </a:defRPr>
            </a:pPr>
            <a:r>
              <a:t>All figures from: FAO/WHO World Food Safety Day 2024 Communication Toolkit</a:t>
            </a:r>
          </a:p>
        </p:txBody>
      </p:sp>
      <p:sp>
        <p:nvSpPr>
          <p:cNvPr id="25" name="Rectangle 24"/>
          <p:cNvSpPr/>
          <p:nvPr/>
        </p:nvSpPr>
        <p:spPr>
          <a:xfrm>
            <a:off x="0" y="6400800"/>
            <a:ext cx="12191695" cy="457200"/>
          </a:xfrm>
          <a:prstGeom prst="rect">
            <a:avLst/>
          </a:prstGeom>
          <a:solidFill>
            <a:srgbClr val="002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7200" y="6446520"/>
            <a:ext cx="3657600" cy="365760"/>
          </a:xfrm>
          <a:prstGeom prst="rect">
            <a:avLst/>
          </a:prstGeom>
          <a:noFill/>
        </p:spPr>
        <p:txBody>
          <a:bodyPr wrap="square"/>
          <a:lstStyle/>
          <a:p>
            <a:pPr algn="l">
              <a:defRPr sz="900" b="0">
                <a:solidFill>
                  <a:srgbClr val="FFFFFF"/>
                </a:solidFill>
                <a:latin typeface="Calibri Light"/>
              </a:defRPr>
            </a:pPr>
            <a:r>
              <a:t>FAO / WHO World Food Safety Day 2024  |  Campaign Briefing</a:t>
            </a:r>
          </a:p>
        </p:txBody>
      </p:sp>
      <p:sp>
        <p:nvSpPr>
          <p:cNvPr id="27" name="TextBox 26"/>
          <p:cNvSpPr txBox="1"/>
          <p:nvPr/>
        </p:nvSpPr>
        <p:spPr>
          <a:xfrm>
            <a:off x="11094415" y="6446520"/>
            <a:ext cx="914400" cy="365760"/>
          </a:xfrm>
          <a:prstGeom prst="rect">
            <a:avLst/>
          </a:prstGeom>
          <a:noFill/>
        </p:spPr>
        <p:txBody>
          <a:bodyPr wrap="square"/>
          <a:lstStyle/>
          <a:p>
            <a:pPr algn="r">
              <a:defRPr sz="900" b="0">
                <a:solidFill>
                  <a:srgbClr val="FFFFFF"/>
                </a:solidFill>
                <a:latin typeface="Calibri Light"/>
              </a:defRPr>
            </a:pPr>
            <a:r>
              <a:t>4 / 10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002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E86A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
            <a:ext cx="10515600" cy="594360"/>
          </a:xfrm>
          <a:prstGeom prst="rect">
            <a:avLst/>
          </a:prstGeom>
          <a:noFill/>
        </p:spPr>
        <p:txBody>
          <a:bodyPr wrap="square"/>
          <a:lstStyle/>
          <a:p>
            <a:pPr algn="l">
              <a:defRPr sz="2800" b="1">
                <a:solidFill>
                  <a:srgbClr val="FFFFFF"/>
                </a:solidFill>
                <a:latin typeface="Calibri Light"/>
              </a:defRPr>
            </a:pPr>
            <a:r>
              <a:t>Target Audiences</a:t>
            </a:r>
          </a:p>
        </p:txBody>
      </p:sp>
      <p:sp>
        <p:nvSpPr>
          <p:cNvPr id="5" name="TextBox 4"/>
          <p:cNvSpPr txBox="1"/>
          <p:nvPr/>
        </p:nvSpPr>
        <p:spPr>
          <a:xfrm>
            <a:off x="640080" y="594360"/>
            <a:ext cx="10515600" cy="411480"/>
          </a:xfrm>
          <a:prstGeom prst="rect">
            <a:avLst/>
          </a:prstGeom>
          <a:noFill/>
        </p:spPr>
        <p:txBody>
          <a:bodyPr wrap="square"/>
          <a:lstStyle/>
          <a:p>
            <a:pPr algn="l">
              <a:defRPr sz="1400" b="0">
                <a:solidFill>
                  <a:srgbClr val="CCDDEE"/>
                </a:solidFill>
                <a:latin typeface="Calibri Light"/>
              </a:defRPr>
            </a:pPr>
            <a:r>
              <a:t>Stakeholders across the food chain: Governments, food businesses, and consumers</a:t>
            </a:r>
          </a:p>
        </p:txBody>
      </p:sp>
      <p:sp>
        <p:nvSpPr>
          <p:cNvPr id="6" name="Oval 5"/>
          <p:cNvSpPr/>
          <p:nvPr/>
        </p:nvSpPr>
        <p:spPr>
          <a:xfrm>
            <a:off x="1737360" y="1463040"/>
            <a:ext cx="1097280" cy="1097280"/>
          </a:xfrm>
          <a:prstGeom prst="ellipse">
            <a:avLst/>
          </a:prstGeom>
          <a:solidFill>
            <a:srgbClr val="005B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2926080"/>
            <a:ext cx="3291840" cy="548640"/>
          </a:xfrm>
          <a:prstGeom prst="rect">
            <a:avLst/>
          </a:prstGeom>
          <a:noFill/>
        </p:spPr>
        <p:txBody>
          <a:bodyPr wrap="square"/>
          <a:lstStyle/>
          <a:p>
            <a:pPr algn="ctr">
              <a:defRPr sz="2200" b="1">
                <a:solidFill>
                  <a:srgbClr val="002B5C"/>
                </a:solidFill>
                <a:latin typeface="Calibri"/>
              </a:defRPr>
            </a:pPr>
            <a:r>
              <a:t>Governments</a:t>
            </a:r>
          </a:p>
        </p:txBody>
      </p:sp>
      <p:sp>
        <p:nvSpPr>
          <p:cNvPr id="8" name="TextBox 7"/>
          <p:cNvSpPr txBox="1"/>
          <p:nvPr/>
        </p:nvSpPr>
        <p:spPr>
          <a:xfrm>
            <a:off x="731520" y="3474720"/>
            <a:ext cx="3108960" cy="1371600"/>
          </a:xfrm>
          <a:prstGeom prst="rect">
            <a:avLst/>
          </a:prstGeom>
          <a:noFill/>
        </p:spPr>
        <p:txBody>
          <a:bodyPr wrap="square"/>
          <a:lstStyle/>
          <a:p>
            <a:pPr algn="ctr">
              <a:defRPr sz="1300" b="0">
                <a:solidFill>
                  <a:srgbClr val="333333"/>
                </a:solidFill>
                <a:latin typeface="Calibri Light"/>
              </a:defRPr>
            </a:pPr>
            <a:r>
              <a:t>National authorities, food safety agencies,</a:t>
            </a:r>
            <a:br/>
            <a:r>
              <a:t>public health ministries, and policy makers </a:t>
            </a:r>
          </a:p>
        </p:txBody>
      </p:sp>
      <p:sp>
        <p:nvSpPr>
          <p:cNvPr id="9" name="Oval 8"/>
          <p:cNvSpPr/>
          <p:nvPr/>
        </p:nvSpPr>
        <p:spPr>
          <a:xfrm>
            <a:off x="5486399" y="1463040"/>
            <a:ext cx="1097280" cy="1097280"/>
          </a:xfrm>
          <a:prstGeom prst="ellipse">
            <a:avLst/>
          </a:prstGeom>
          <a:solidFill>
            <a:srgbClr val="007A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389119" y="2926080"/>
            <a:ext cx="3291840" cy="548640"/>
          </a:xfrm>
          <a:prstGeom prst="rect">
            <a:avLst/>
          </a:prstGeom>
          <a:noFill/>
        </p:spPr>
        <p:txBody>
          <a:bodyPr wrap="square"/>
          <a:lstStyle/>
          <a:p>
            <a:pPr algn="ctr">
              <a:defRPr sz="2200" b="1">
                <a:solidFill>
                  <a:srgbClr val="002B5C"/>
                </a:solidFill>
                <a:latin typeface="Calibri"/>
              </a:defRPr>
            </a:pPr>
            <a:r>
              <a:t>Food Businesses</a:t>
            </a:r>
          </a:p>
        </p:txBody>
      </p:sp>
      <p:sp>
        <p:nvSpPr>
          <p:cNvPr id="11" name="TextBox 10"/>
          <p:cNvSpPr txBox="1"/>
          <p:nvPr/>
        </p:nvSpPr>
        <p:spPr>
          <a:xfrm>
            <a:off x="4480559" y="3474720"/>
            <a:ext cx="3108960" cy="1371600"/>
          </a:xfrm>
          <a:prstGeom prst="rect">
            <a:avLst/>
          </a:prstGeom>
          <a:noFill/>
        </p:spPr>
        <p:txBody>
          <a:bodyPr wrap="square"/>
          <a:lstStyle/>
          <a:p>
            <a:pPr algn="ctr">
              <a:defRPr sz="1300" b="0">
                <a:solidFill>
                  <a:srgbClr val="333333"/>
                </a:solidFill>
                <a:latin typeface="Calibri Light"/>
              </a:defRPr>
            </a:pPr>
            <a:r>
              <a:t>Producers, importers, manufacturers,</a:t>
            </a:r>
            <a:br/>
            <a:r>
              <a:t>distributors, and retailers at every stage</a:t>
            </a:r>
            <a:br/>
            <a:r>
              <a:t>of the food supply chain </a:t>
            </a:r>
          </a:p>
        </p:txBody>
      </p:sp>
      <p:sp>
        <p:nvSpPr>
          <p:cNvPr id="12" name="Oval 11"/>
          <p:cNvSpPr/>
          <p:nvPr/>
        </p:nvSpPr>
        <p:spPr>
          <a:xfrm>
            <a:off x="9235439" y="1463040"/>
            <a:ext cx="1097280" cy="1097280"/>
          </a:xfrm>
          <a:prstGeom prst="ellipse">
            <a:avLst/>
          </a:prstGeom>
          <a:solidFill>
            <a:srgbClr val="E86A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38159" y="2926080"/>
            <a:ext cx="3291840" cy="548640"/>
          </a:xfrm>
          <a:prstGeom prst="rect">
            <a:avLst/>
          </a:prstGeom>
          <a:noFill/>
        </p:spPr>
        <p:txBody>
          <a:bodyPr wrap="square"/>
          <a:lstStyle/>
          <a:p>
            <a:pPr algn="ctr">
              <a:defRPr sz="2200" b="1">
                <a:solidFill>
                  <a:srgbClr val="002B5C"/>
                </a:solidFill>
                <a:latin typeface="Calibri"/>
              </a:defRPr>
            </a:pPr>
            <a:r>
              <a:t>Consumers</a:t>
            </a:r>
          </a:p>
        </p:txBody>
      </p:sp>
      <p:sp>
        <p:nvSpPr>
          <p:cNvPr id="14" name="TextBox 13"/>
          <p:cNvSpPr txBox="1"/>
          <p:nvPr/>
        </p:nvSpPr>
        <p:spPr>
          <a:xfrm>
            <a:off x="8229599" y="3474720"/>
            <a:ext cx="3108960" cy="1371600"/>
          </a:xfrm>
          <a:prstGeom prst="rect">
            <a:avLst/>
          </a:prstGeom>
          <a:noFill/>
        </p:spPr>
        <p:txBody>
          <a:bodyPr wrap="square"/>
          <a:lstStyle/>
          <a:p>
            <a:pPr algn="ctr">
              <a:defRPr sz="1300" b="0">
                <a:solidFill>
                  <a:srgbClr val="333333"/>
                </a:solidFill>
                <a:latin typeface="Calibri Light"/>
              </a:defRPr>
            </a:pPr>
            <a:r>
              <a:t>Individuals, families, and communities</a:t>
            </a:r>
            <a:br/>
            <a:r>
              <a:t>making daily food safety choices </a:t>
            </a:r>
          </a:p>
        </p:txBody>
      </p:sp>
      <p:sp>
        <p:nvSpPr>
          <p:cNvPr id="15" name="Rectangle 14"/>
          <p:cNvSpPr/>
          <p:nvPr/>
        </p:nvSpPr>
        <p:spPr>
          <a:xfrm>
            <a:off x="640080" y="5120640"/>
            <a:ext cx="10881360" cy="27432"/>
          </a:xfrm>
          <a:prstGeom prst="rect">
            <a:avLst/>
          </a:prstGeom>
          <a:solidFill>
            <a:srgbClr val="378C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5394960"/>
            <a:ext cx="10515600" cy="914400"/>
          </a:xfrm>
          <a:prstGeom prst="rect">
            <a:avLst/>
          </a:prstGeom>
          <a:noFill/>
        </p:spPr>
        <p:txBody>
          <a:bodyPr wrap="square"/>
          <a:lstStyle/>
          <a:p>
            <a:pPr algn="l">
              <a:spcAft>
                <a:spcPts val="600"/>
              </a:spcAft>
              <a:defRPr sz="1400" b="0">
                <a:solidFill>
                  <a:srgbClr val="333333"/>
                </a:solidFill>
                <a:latin typeface="Calibri"/>
              </a:defRPr>
            </a:pPr>
            <a:r>
              <a:t>Everyone evaluates food safety risks as part of their daily choices. These choices are made by individuals and collectively by families, communities, businesses and governments.</a:t>
            </a:r>
          </a:p>
          <a:p>
            <a:pPr algn="l">
              <a:spcAft>
                <a:spcPts val="600"/>
              </a:spcAft>
              <a:defRPr sz="1600" b="1">
                <a:solidFill>
                  <a:srgbClr val="333333"/>
                </a:solidFill>
                <a:latin typeface="Calibri"/>
              </a:defRPr>
            </a:pPr>
            <a:r>
              <a:t>Everyone is a risk manager.</a:t>
            </a:r>
          </a:p>
        </p:txBody>
      </p:sp>
      <p:sp>
        <p:nvSpPr>
          <p:cNvPr id="17" name="Rectangle 16"/>
          <p:cNvSpPr/>
          <p:nvPr/>
        </p:nvSpPr>
        <p:spPr>
          <a:xfrm>
            <a:off x="0" y="6400800"/>
            <a:ext cx="12191695" cy="457200"/>
          </a:xfrm>
          <a:prstGeom prst="rect">
            <a:avLst/>
          </a:prstGeom>
          <a:solidFill>
            <a:srgbClr val="002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6446520"/>
            <a:ext cx="3657600" cy="365760"/>
          </a:xfrm>
          <a:prstGeom prst="rect">
            <a:avLst/>
          </a:prstGeom>
          <a:noFill/>
        </p:spPr>
        <p:txBody>
          <a:bodyPr wrap="square"/>
          <a:lstStyle/>
          <a:p>
            <a:pPr algn="l">
              <a:defRPr sz="900" b="0">
                <a:solidFill>
                  <a:srgbClr val="FFFFFF"/>
                </a:solidFill>
                <a:latin typeface="Calibri Light"/>
              </a:defRPr>
            </a:pPr>
            <a:r>
              <a:t>FAO / WHO World Food Safety Day 2024  |  Campaign Briefing</a:t>
            </a:r>
          </a:p>
        </p:txBody>
      </p:sp>
      <p:sp>
        <p:nvSpPr>
          <p:cNvPr id="19" name="TextBox 18"/>
          <p:cNvSpPr txBox="1"/>
          <p:nvPr/>
        </p:nvSpPr>
        <p:spPr>
          <a:xfrm>
            <a:off x="11094415" y="6446520"/>
            <a:ext cx="914400" cy="365760"/>
          </a:xfrm>
          <a:prstGeom prst="rect">
            <a:avLst/>
          </a:prstGeom>
          <a:noFill/>
        </p:spPr>
        <p:txBody>
          <a:bodyPr wrap="square"/>
          <a:lstStyle/>
          <a:p>
            <a:pPr algn="r">
              <a:defRPr sz="900" b="0">
                <a:solidFill>
                  <a:srgbClr val="FFFFFF"/>
                </a:solidFill>
                <a:latin typeface="Calibri Light"/>
              </a:defRPr>
            </a:pPr>
            <a:r>
              <a:t>5 / 10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002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E86A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
            <a:ext cx="10515600" cy="594360"/>
          </a:xfrm>
          <a:prstGeom prst="rect">
            <a:avLst/>
          </a:prstGeom>
          <a:noFill/>
        </p:spPr>
        <p:txBody>
          <a:bodyPr wrap="square"/>
          <a:lstStyle/>
          <a:p>
            <a:pPr algn="l">
              <a:defRPr sz="2800" b="1">
                <a:solidFill>
                  <a:srgbClr val="FFFFFF"/>
                </a:solidFill>
                <a:latin typeface="Calibri Light"/>
              </a:defRPr>
            </a:pPr>
            <a:r>
              <a:t>INFOSAN: International Food Safety Authorities Network</a:t>
            </a:r>
          </a:p>
        </p:txBody>
      </p:sp>
      <p:sp>
        <p:nvSpPr>
          <p:cNvPr id="5" name="TextBox 4"/>
          <p:cNvSpPr txBox="1"/>
          <p:nvPr/>
        </p:nvSpPr>
        <p:spPr>
          <a:xfrm>
            <a:off x="640080" y="594360"/>
            <a:ext cx="10515600" cy="411480"/>
          </a:xfrm>
          <a:prstGeom prst="rect">
            <a:avLst/>
          </a:prstGeom>
          <a:noFill/>
        </p:spPr>
        <p:txBody>
          <a:bodyPr wrap="square"/>
          <a:lstStyle/>
          <a:p>
            <a:pPr algn="l">
              <a:defRPr sz="1400" b="0">
                <a:solidFill>
                  <a:srgbClr val="CCDDEE"/>
                </a:solidFill>
                <a:latin typeface="Calibri Light"/>
              </a:defRPr>
            </a:pPr>
            <a:r>
              <a:t>Rapid exchange of information during food safety events saves lives</a:t>
            </a:r>
          </a:p>
        </p:txBody>
      </p:sp>
      <p:sp>
        <p:nvSpPr>
          <p:cNvPr id="6" name="TextBox 5"/>
          <p:cNvSpPr txBox="1"/>
          <p:nvPr/>
        </p:nvSpPr>
        <p:spPr>
          <a:xfrm>
            <a:off x="640080" y="1463040"/>
            <a:ext cx="6858000" cy="2286000"/>
          </a:xfrm>
          <a:prstGeom prst="rect">
            <a:avLst/>
          </a:prstGeom>
          <a:noFill/>
        </p:spPr>
        <p:txBody>
          <a:bodyPr wrap="square"/>
          <a:lstStyle/>
          <a:p>
            <a:pPr algn="l">
              <a:spcAft>
                <a:spcPts val="600"/>
              </a:spcAft>
              <a:defRPr sz="1400" b="0">
                <a:solidFill>
                  <a:srgbClr val="333333"/>
                </a:solidFill>
                <a:latin typeface="Calibri"/>
              </a:defRPr>
            </a:pPr>
            <a:r>
              <a:t>In 2004, the Codex Alimentarius Commission revised the Principles and Guidelines for the Exchange of Information in Food Safety Emergency Situations, recommending Member States designate official contact points for rapid information exchange.</a:t>
            </a:r>
          </a:p>
          <a:p>
            <a:pPr algn="l">
              <a:spcAft>
                <a:spcPts val="600"/>
              </a:spcAft>
              <a:defRPr sz="600" b="0">
                <a:solidFill>
                  <a:srgbClr val="333333"/>
                </a:solidFill>
                <a:latin typeface="Calibri"/>
              </a:defRPr>
            </a:pPr>
          </a:p>
          <a:p>
            <a:pPr algn="l">
              <a:spcAft>
                <a:spcPts val="600"/>
              </a:spcAft>
              <a:defRPr sz="1400" b="0">
                <a:solidFill>
                  <a:srgbClr val="333333"/>
                </a:solidFill>
                <a:latin typeface="Calibri"/>
              </a:defRPr>
            </a:pPr>
            <a:r>
              <a:t>In response, the FAO/WHO International Food Safety Authorities Network (INFOSAN) was launched.</a:t>
            </a:r>
          </a:p>
        </p:txBody>
      </p:sp>
      <p:sp>
        <p:nvSpPr>
          <p:cNvPr id="7" name="Rectangle 6"/>
          <p:cNvSpPr/>
          <p:nvPr/>
        </p:nvSpPr>
        <p:spPr>
          <a:xfrm>
            <a:off x="640080" y="3657600"/>
            <a:ext cx="3291840" cy="1371600"/>
          </a:xfrm>
          <a:prstGeom prst="rect">
            <a:avLst/>
          </a:prstGeom>
          <a:solidFill>
            <a:srgbClr val="005B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3749039"/>
            <a:ext cx="2926080" cy="365760"/>
          </a:xfrm>
          <a:prstGeom prst="rect">
            <a:avLst/>
          </a:prstGeom>
          <a:noFill/>
        </p:spPr>
        <p:txBody>
          <a:bodyPr wrap="square"/>
          <a:lstStyle/>
          <a:p>
            <a:pPr algn="ctr">
              <a:defRPr sz="4800" b="1">
                <a:solidFill>
                  <a:srgbClr val="FFFFFF"/>
                </a:solidFill>
                <a:latin typeface="Calibri Light"/>
              </a:defRPr>
            </a:pPr>
            <a:r>
              <a:t>189</a:t>
            </a:r>
          </a:p>
        </p:txBody>
      </p:sp>
      <p:sp>
        <p:nvSpPr>
          <p:cNvPr id="9" name="TextBox 8"/>
          <p:cNvSpPr txBox="1"/>
          <p:nvPr/>
        </p:nvSpPr>
        <p:spPr>
          <a:xfrm>
            <a:off x="822960" y="4297680"/>
            <a:ext cx="2926080" cy="640080"/>
          </a:xfrm>
          <a:prstGeom prst="rect">
            <a:avLst/>
          </a:prstGeom>
          <a:noFill/>
        </p:spPr>
        <p:txBody>
          <a:bodyPr wrap="square"/>
          <a:lstStyle/>
          <a:p>
            <a:pPr algn="ctr">
              <a:defRPr sz="1400" b="0">
                <a:solidFill>
                  <a:srgbClr val="FFFFFF"/>
                </a:solidFill>
                <a:latin typeface="Calibri Light"/>
              </a:defRPr>
            </a:pPr>
            <a:r>
              <a:t>Countries in the</a:t>
            </a:r>
            <a:br/>
            <a:r>
              <a:t>INFOSAN global network</a:t>
            </a:r>
          </a:p>
        </p:txBody>
      </p:sp>
      <p:sp>
        <p:nvSpPr>
          <p:cNvPr id="10" name="Rectangle 9"/>
          <p:cNvSpPr/>
          <p:nvPr/>
        </p:nvSpPr>
        <p:spPr>
          <a:xfrm>
            <a:off x="4206240" y="3657600"/>
            <a:ext cx="7223760" cy="1371600"/>
          </a:xfrm>
          <a:prstGeom prst="rect">
            <a:avLst/>
          </a:prstGeom>
          <a:solidFill>
            <a:srgbClr val="E86A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389120" y="3749039"/>
            <a:ext cx="6858000" cy="365760"/>
          </a:xfrm>
          <a:prstGeom prst="rect">
            <a:avLst/>
          </a:prstGeom>
          <a:noFill/>
        </p:spPr>
        <p:txBody>
          <a:bodyPr wrap="square"/>
          <a:lstStyle/>
          <a:p>
            <a:pPr algn="l">
              <a:defRPr sz="1600" b="1">
                <a:solidFill>
                  <a:srgbClr val="FFFFFF"/>
                </a:solidFill>
                <a:latin typeface="Calibri"/>
              </a:defRPr>
            </a:pPr>
            <a:r>
              <a:t>INFOSAN facilitates:</a:t>
            </a:r>
          </a:p>
        </p:txBody>
      </p:sp>
      <p:sp>
        <p:nvSpPr>
          <p:cNvPr id="12" name="TextBox 11"/>
          <p:cNvSpPr txBox="1"/>
          <p:nvPr/>
        </p:nvSpPr>
        <p:spPr>
          <a:xfrm>
            <a:off x="4389120" y="4114800"/>
            <a:ext cx="6858000" cy="914400"/>
          </a:xfrm>
          <a:prstGeom prst="rect">
            <a:avLst/>
          </a:prstGeom>
          <a:noFill/>
        </p:spPr>
        <p:txBody>
          <a:bodyPr wrap="square"/>
          <a:lstStyle/>
          <a:p>
            <a:pPr algn="l">
              <a:spcAft>
                <a:spcPts val="400"/>
              </a:spcAft>
              <a:defRPr sz="1300" b="0">
                <a:solidFill>
                  <a:srgbClr val="FFFFFF"/>
                </a:solidFill>
                <a:latin typeface="Calibri"/>
              </a:defRPr>
            </a:pPr>
            <a:r>
              <a:t>•  Rapid exchange of information across borders and between members</a:t>
            </a:r>
          </a:p>
          <a:p>
            <a:pPr algn="l">
              <a:spcAft>
                <a:spcPts val="400"/>
              </a:spcAft>
              <a:defRPr sz="1300" b="0">
                <a:solidFill>
                  <a:srgbClr val="FFFFFF"/>
                </a:solidFill>
                <a:latin typeface="Calibri"/>
              </a:defRPr>
            </a:pPr>
            <a:r>
              <a:t>•  Implementation of risk management measures</a:t>
            </a:r>
          </a:p>
          <a:p>
            <a:pPr algn="l">
              <a:spcAft>
                <a:spcPts val="400"/>
              </a:spcAft>
              <a:defRPr sz="1300" b="0">
                <a:solidFill>
                  <a:srgbClr val="FFFFFF"/>
                </a:solidFill>
                <a:latin typeface="Calibri"/>
              </a:defRPr>
            </a:pPr>
            <a:r>
              <a:t>•  Prevention of foodborne illness and saving lives</a:t>
            </a:r>
          </a:p>
          <a:p>
            <a:pPr algn="l">
              <a:spcAft>
                <a:spcPts val="400"/>
              </a:spcAft>
              <a:defRPr sz="1300" b="0">
                <a:solidFill>
                  <a:srgbClr val="FFFFFF"/>
                </a:solidFill>
                <a:latin typeface="Calibri"/>
              </a:defRPr>
            </a:pPr>
            <a:r>
              <a:t>•  Managed jointly by FAO and WHO, with members from national food safety authorities</a:t>
            </a:r>
          </a:p>
        </p:txBody>
      </p:sp>
      <p:sp>
        <p:nvSpPr>
          <p:cNvPr id="13" name="Rectangle 12"/>
          <p:cNvSpPr/>
          <p:nvPr/>
        </p:nvSpPr>
        <p:spPr>
          <a:xfrm>
            <a:off x="640080" y="5303520"/>
            <a:ext cx="10881360" cy="27432"/>
          </a:xfrm>
          <a:prstGeom prst="rect">
            <a:avLst/>
          </a:prstGeom>
          <a:solidFill>
            <a:srgbClr val="378C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5486400"/>
            <a:ext cx="10515600" cy="457200"/>
          </a:xfrm>
          <a:prstGeom prst="rect">
            <a:avLst/>
          </a:prstGeom>
          <a:noFill/>
        </p:spPr>
        <p:txBody>
          <a:bodyPr wrap="square"/>
          <a:lstStyle/>
          <a:p>
            <a:pPr algn="l">
              <a:defRPr sz="1100" b="0">
                <a:solidFill>
                  <a:srgbClr val="999999"/>
                </a:solidFill>
                <a:latin typeface="Calibri Light"/>
              </a:defRPr>
            </a:pPr>
            <a:r>
              <a:t>Source: WFSD 2024 Communication Toolkit (p.3)  |  INFOSAN has facilitated the exchange of information during thousands of food safety events.</a:t>
            </a:r>
          </a:p>
        </p:txBody>
      </p:sp>
      <p:sp>
        <p:nvSpPr>
          <p:cNvPr id="15" name="Rectangle 14"/>
          <p:cNvSpPr/>
          <p:nvPr/>
        </p:nvSpPr>
        <p:spPr>
          <a:xfrm>
            <a:off x="0" y="6400800"/>
            <a:ext cx="12191695" cy="457200"/>
          </a:xfrm>
          <a:prstGeom prst="rect">
            <a:avLst/>
          </a:prstGeom>
          <a:solidFill>
            <a:srgbClr val="002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6446520"/>
            <a:ext cx="3657600" cy="365760"/>
          </a:xfrm>
          <a:prstGeom prst="rect">
            <a:avLst/>
          </a:prstGeom>
          <a:noFill/>
        </p:spPr>
        <p:txBody>
          <a:bodyPr wrap="square"/>
          <a:lstStyle/>
          <a:p>
            <a:pPr algn="l">
              <a:defRPr sz="900" b="0">
                <a:solidFill>
                  <a:srgbClr val="FFFFFF"/>
                </a:solidFill>
                <a:latin typeface="Calibri Light"/>
              </a:defRPr>
            </a:pPr>
            <a:r>
              <a:t>FAO / WHO World Food Safety Day 2024  |  Campaign Briefing</a:t>
            </a:r>
          </a:p>
        </p:txBody>
      </p:sp>
      <p:sp>
        <p:nvSpPr>
          <p:cNvPr id="17" name="TextBox 16"/>
          <p:cNvSpPr txBox="1"/>
          <p:nvPr/>
        </p:nvSpPr>
        <p:spPr>
          <a:xfrm>
            <a:off x="11094415" y="6446520"/>
            <a:ext cx="914400" cy="365760"/>
          </a:xfrm>
          <a:prstGeom prst="rect">
            <a:avLst/>
          </a:prstGeom>
          <a:noFill/>
        </p:spPr>
        <p:txBody>
          <a:bodyPr wrap="square"/>
          <a:lstStyle/>
          <a:p>
            <a:pPr algn="r">
              <a:defRPr sz="900" b="0">
                <a:solidFill>
                  <a:srgbClr val="FFFFFF"/>
                </a:solidFill>
                <a:latin typeface="Calibri Light"/>
              </a:defRPr>
            </a:pPr>
            <a:r>
              <a:t>6 / 10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002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E86A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
            <a:ext cx="10515600" cy="594360"/>
          </a:xfrm>
          <a:prstGeom prst="rect">
            <a:avLst/>
          </a:prstGeom>
          <a:noFill/>
        </p:spPr>
        <p:txBody>
          <a:bodyPr wrap="square"/>
          <a:lstStyle/>
          <a:p>
            <a:pPr algn="l">
              <a:defRPr sz="2800" b="1">
                <a:solidFill>
                  <a:srgbClr val="FFFFFF"/>
                </a:solidFill>
                <a:latin typeface="Calibri Light"/>
              </a:defRPr>
            </a:pPr>
            <a:r>
              <a:t>Stakeholder Action Matrix</a:t>
            </a:r>
          </a:p>
        </p:txBody>
      </p:sp>
      <p:sp>
        <p:nvSpPr>
          <p:cNvPr id="5" name="TextBox 4"/>
          <p:cNvSpPr txBox="1"/>
          <p:nvPr/>
        </p:nvSpPr>
        <p:spPr>
          <a:xfrm>
            <a:off x="640080" y="594360"/>
            <a:ext cx="10515600" cy="411480"/>
          </a:xfrm>
          <a:prstGeom prst="rect">
            <a:avLst/>
          </a:prstGeom>
          <a:noFill/>
        </p:spPr>
        <p:txBody>
          <a:bodyPr wrap="square"/>
          <a:lstStyle/>
          <a:p>
            <a:pPr algn="l">
              <a:defRPr sz="1400" b="0">
                <a:solidFill>
                  <a:srgbClr val="CCDDEE"/>
                </a:solidFill>
                <a:latin typeface="Calibri Light"/>
              </a:defRPr>
            </a:pPr>
            <a:r>
              <a:t>Recommended actions for each group to prepare for food safety incidents</a:t>
            </a:r>
          </a:p>
        </p:txBody>
      </p:sp>
      <p:sp>
        <p:nvSpPr>
          <p:cNvPr id="6" name="Rectangle 5"/>
          <p:cNvSpPr/>
          <p:nvPr/>
        </p:nvSpPr>
        <p:spPr>
          <a:xfrm>
            <a:off x="640080" y="1371600"/>
            <a:ext cx="1097280" cy="5029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444752"/>
            <a:ext cx="914400" cy="411480"/>
          </a:xfrm>
          <a:prstGeom prst="rect">
            <a:avLst/>
          </a:prstGeom>
          <a:noFill/>
        </p:spPr>
        <p:txBody>
          <a:bodyPr wrap="square"/>
          <a:lstStyle/>
          <a:p>
            <a:pPr algn="ctr">
              <a:defRPr sz="1300" b="1">
                <a:solidFill>
                  <a:srgbClr val="FFFFFF"/>
                </a:solidFill>
                <a:latin typeface="Calibri"/>
              </a:defRPr>
            </a:pPr>
          </a:p>
        </p:txBody>
      </p:sp>
      <p:sp>
        <p:nvSpPr>
          <p:cNvPr id="8" name="Rectangle 7"/>
          <p:cNvSpPr/>
          <p:nvPr/>
        </p:nvSpPr>
        <p:spPr>
          <a:xfrm>
            <a:off x="1737360" y="1371600"/>
            <a:ext cx="3291840" cy="502920"/>
          </a:xfrm>
          <a:prstGeom prst="rect">
            <a:avLst/>
          </a:prstGeom>
          <a:solidFill>
            <a:srgbClr val="005B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828800" y="1444752"/>
            <a:ext cx="3108960" cy="411480"/>
          </a:xfrm>
          <a:prstGeom prst="rect">
            <a:avLst/>
          </a:prstGeom>
          <a:noFill/>
        </p:spPr>
        <p:txBody>
          <a:bodyPr wrap="square"/>
          <a:lstStyle/>
          <a:p>
            <a:pPr algn="ctr">
              <a:defRPr sz="1300" b="1">
                <a:solidFill>
                  <a:srgbClr val="FFFFFF"/>
                </a:solidFill>
                <a:latin typeface="Calibri"/>
              </a:defRPr>
            </a:pPr>
            <a:r>
              <a:t>Governments</a:t>
            </a:r>
          </a:p>
        </p:txBody>
      </p:sp>
      <p:sp>
        <p:nvSpPr>
          <p:cNvPr id="10" name="Rectangle 9"/>
          <p:cNvSpPr/>
          <p:nvPr/>
        </p:nvSpPr>
        <p:spPr>
          <a:xfrm>
            <a:off x="5029200" y="1371600"/>
            <a:ext cx="3291840" cy="502920"/>
          </a:xfrm>
          <a:prstGeom prst="rect">
            <a:avLst/>
          </a:prstGeom>
          <a:solidFill>
            <a:srgbClr val="007A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120640" y="1444752"/>
            <a:ext cx="3108960" cy="411480"/>
          </a:xfrm>
          <a:prstGeom prst="rect">
            <a:avLst/>
          </a:prstGeom>
          <a:noFill/>
        </p:spPr>
        <p:txBody>
          <a:bodyPr wrap="square"/>
          <a:lstStyle/>
          <a:p>
            <a:pPr algn="ctr">
              <a:defRPr sz="1300" b="1">
                <a:solidFill>
                  <a:srgbClr val="FFFFFF"/>
                </a:solidFill>
                <a:latin typeface="Calibri"/>
              </a:defRPr>
            </a:pPr>
            <a:r>
              <a:t>Food Businesses</a:t>
            </a:r>
          </a:p>
        </p:txBody>
      </p:sp>
      <p:sp>
        <p:nvSpPr>
          <p:cNvPr id="12" name="Rectangle 11"/>
          <p:cNvSpPr/>
          <p:nvPr/>
        </p:nvSpPr>
        <p:spPr>
          <a:xfrm>
            <a:off x="8321040" y="1371600"/>
            <a:ext cx="3291840" cy="502920"/>
          </a:xfrm>
          <a:prstGeom prst="rect">
            <a:avLst/>
          </a:prstGeom>
          <a:solidFill>
            <a:srgbClr val="E86A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412480" y="1444752"/>
            <a:ext cx="3108960" cy="411480"/>
          </a:xfrm>
          <a:prstGeom prst="rect">
            <a:avLst/>
          </a:prstGeom>
          <a:noFill/>
        </p:spPr>
        <p:txBody>
          <a:bodyPr wrap="square"/>
          <a:lstStyle/>
          <a:p>
            <a:pPr algn="ctr">
              <a:defRPr sz="1300" b="1">
                <a:solidFill>
                  <a:srgbClr val="FFFFFF"/>
                </a:solidFill>
                <a:latin typeface="Calibri"/>
              </a:defRPr>
            </a:pPr>
            <a:r>
              <a:t>Consumers</a:t>
            </a:r>
          </a:p>
        </p:txBody>
      </p:sp>
      <p:sp>
        <p:nvSpPr>
          <p:cNvPr id="14" name="Rectangle 13"/>
          <p:cNvSpPr/>
          <p:nvPr/>
        </p:nvSpPr>
        <p:spPr>
          <a:xfrm>
            <a:off x="640080" y="1965960"/>
            <a:ext cx="1097280" cy="1024128"/>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2039112"/>
            <a:ext cx="1005840" cy="502920"/>
          </a:xfrm>
          <a:prstGeom prst="rect">
            <a:avLst/>
          </a:prstGeom>
          <a:noFill/>
        </p:spPr>
        <p:txBody>
          <a:bodyPr wrap="square"/>
          <a:lstStyle/>
          <a:p>
            <a:pPr algn="l">
              <a:defRPr sz="1100" b="1">
                <a:solidFill>
                  <a:srgbClr val="002B5C"/>
                </a:solidFill>
                <a:latin typeface="Calibri"/>
              </a:defRPr>
            </a:pPr>
            <a:r>
              <a:t>Emergency</a:t>
            </a:r>
            <a:br/>
            <a:r>
              <a:t>Response</a:t>
            </a:r>
          </a:p>
        </p:txBody>
      </p:sp>
      <p:sp>
        <p:nvSpPr>
          <p:cNvPr id="16" name="Rectangle 15"/>
          <p:cNvSpPr/>
          <p:nvPr/>
        </p:nvSpPr>
        <p:spPr>
          <a:xfrm>
            <a:off x="1737360" y="1965960"/>
            <a:ext cx="3291840" cy="1024128"/>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828800" y="2039112"/>
            <a:ext cx="3108960" cy="914400"/>
          </a:xfrm>
          <a:prstGeom prst="rect">
            <a:avLst/>
          </a:prstGeom>
          <a:noFill/>
        </p:spPr>
        <p:txBody>
          <a:bodyPr wrap="square"/>
          <a:lstStyle/>
          <a:p>
            <a:pPr algn="l">
              <a:defRPr sz="1100" b="0">
                <a:solidFill>
                  <a:srgbClr val="333333"/>
                </a:solidFill>
                <a:latin typeface="Calibri Light"/>
              </a:defRPr>
            </a:pPr>
            <a:r>
              <a:t>Commit to developing or</a:t>
            </a:r>
            <a:br/>
            <a:r>
              <a:t>updating national food safety</a:t>
            </a:r>
            <a:br/>
            <a:r>
              <a:t>emergency response plans</a:t>
            </a:r>
          </a:p>
        </p:txBody>
      </p:sp>
      <p:sp>
        <p:nvSpPr>
          <p:cNvPr id="18" name="Rectangle 17"/>
          <p:cNvSpPr/>
          <p:nvPr/>
        </p:nvSpPr>
        <p:spPr>
          <a:xfrm>
            <a:off x="5029200" y="1965960"/>
            <a:ext cx="3291840" cy="1024128"/>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120640" y="2039112"/>
            <a:ext cx="3108960" cy="914400"/>
          </a:xfrm>
          <a:prstGeom prst="rect">
            <a:avLst/>
          </a:prstGeom>
          <a:noFill/>
        </p:spPr>
        <p:txBody>
          <a:bodyPr wrap="square"/>
          <a:lstStyle/>
          <a:p>
            <a:pPr algn="l">
              <a:defRPr sz="1100" b="0">
                <a:solidFill>
                  <a:srgbClr val="333333"/>
                </a:solidFill>
                <a:latin typeface="Calibri Light"/>
              </a:defRPr>
            </a:pPr>
            <a:r>
              <a:t>Have a management and</a:t>
            </a:r>
            <a:br/>
            <a:r>
              <a:t>response plan in place that</a:t>
            </a:r>
            <a:br/>
            <a:r>
              <a:t>facilitates immediate action</a:t>
            </a:r>
            <a:br/>
            <a:r>
              <a:t>during an incident</a:t>
            </a:r>
          </a:p>
        </p:txBody>
      </p:sp>
      <p:sp>
        <p:nvSpPr>
          <p:cNvPr id="20" name="Rectangle 19"/>
          <p:cNvSpPr/>
          <p:nvPr/>
        </p:nvSpPr>
        <p:spPr>
          <a:xfrm>
            <a:off x="8321040" y="1965960"/>
            <a:ext cx="3291840" cy="1024128"/>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412480" y="2039112"/>
            <a:ext cx="3108960" cy="914400"/>
          </a:xfrm>
          <a:prstGeom prst="rect">
            <a:avLst/>
          </a:prstGeom>
          <a:noFill/>
        </p:spPr>
        <p:txBody>
          <a:bodyPr wrap="square"/>
          <a:lstStyle/>
          <a:p>
            <a:pPr algn="l">
              <a:defRPr sz="1100" b="0">
                <a:solidFill>
                  <a:srgbClr val="333333"/>
                </a:solidFill>
                <a:latin typeface="Calibri Light"/>
              </a:defRPr>
            </a:pPr>
            <a:r>
              <a:t>Know how to report or</a:t>
            </a:r>
            <a:br/>
            <a:r>
              <a:t>respond to a food safety</a:t>
            </a:r>
            <a:br/>
            <a:r>
              <a:t>incident</a:t>
            </a:r>
          </a:p>
        </p:txBody>
      </p:sp>
      <p:sp>
        <p:nvSpPr>
          <p:cNvPr id="22" name="Rectangle 21"/>
          <p:cNvSpPr/>
          <p:nvPr/>
        </p:nvSpPr>
        <p:spPr>
          <a:xfrm>
            <a:off x="640080" y="3081528"/>
            <a:ext cx="1097280" cy="10241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85800" y="3154680"/>
            <a:ext cx="1005840" cy="502920"/>
          </a:xfrm>
          <a:prstGeom prst="rect">
            <a:avLst/>
          </a:prstGeom>
          <a:noFill/>
        </p:spPr>
        <p:txBody>
          <a:bodyPr wrap="square"/>
          <a:lstStyle/>
          <a:p>
            <a:pPr algn="l">
              <a:defRPr sz="1100" b="1">
                <a:solidFill>
                  <a:srgbClr val="002B5C"/>
                </a:solidFill>
                <a:latin typeface="Calibri"/>
              </a:defRPr>
            </a:pPr>
            <a:r>
              <a:t>Surveillance &amp;</a:t>
            </a:r>
            <a:br/>
            <a:r>
              <a:t>Coordination</a:t>
            </a:r>
          </a:p>
        </p:txBody>
      </p:sp>
      <p:sp>
        <p:nvSpPr>
          <p:cNvPr id="24" name="Rectangle 23"/>
          <p:cNvSpPr/>
          <p:nvPr/>
        </p:nvSpPr>
        <p:spPr>
          <a:xfrm>
            <a:off x="1737360" y="3081528"/>
            <a:ext cx="3291840" cy="10241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828800" y="3154680"/>
            <a:ext cx="3108960" cy="914400"/>
          </a:xfrm>
          <a:prstGeom prst="rect">
            <a:avLst/>
          </a:prstGeom>
          <a:noFill/>
        </p:spPr>
        <p:txBody>
          <a:bodyPr wrap="square"/>
          <a:lstStyle/>
          <a:p>
            <a:pPr algn="l">
              <a:defRPr sz="1100" b="0">
                <a:solidFill>
                  <a:srgbClr val="333333"/>
                </a:solidFill>
                <a:latin typeface="Calibri Light"/>
              </a:defRPr>
            </a:pPr>
            <a:r>
              <a:t>Increase surveillance and</a:t>
            </a:r>
            <a:br/>
            <a:r>
              <a:t>coordination capacities;</a:t>
            </a:r>
            <a:br/>
            <a:r>
              <a:t>strengthen national food</a:t>
            </a:r>
            <a:br/>
            <a:r>
              <a:t>control systems</a:t>
            </a:r>
          </a:p>
        </p:txBody>
      </p:sp>
      <p:sp>
        <p:nvSpPr>
          <p:cNvPr id="26" name="Rectangle 25"/>
          <p:cNvSpPr/>
          <p:nvPr/>
        </p:nvSpPr>
        <p:spPr>
          <a:xfrm>
            <a:off x="5029200" y="3081528"/>
            <a:ext cx="3291840" cy="10241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120640" y="3154680"/>
            <a:ext cx="3108960" cy="914400"/>
          </a:xfrm>
          <a:prstGeom prst="rect">
            <a:avLst/>
          </a:prstGeom>
          <a:noFill/>
        </p:spPr>
        <p:txBody>
          <a:bodyPr wrap="square"/>
          <a:lstStyle/>
          <a:p>
            <a:pPr algn="l">
              <a:defRPr sz="1100" b="0">
                <a:solidFill>
                  <a:srgbClr val="333333"/>
                </a:solidFill>
                <a:latin typeface="Calibri Light"/>
              </a:defRPr>
            </a:pPr>
            <a:r>
              <a:t>Share “lessons learned” and</a:t>
            </a:r>
            <a:br/>
            <a:r>
              <a:t>work collaboratively with</a:t>
            </a:r>
            <a:br/>
            <a:r>
              <a:t>each other</a:t>
            </a:r>
          </a:p>
        </p:txBody>
      </p:sp>
      <p:sp>
        <p:nvSpPr>
          <p:cNvPr id="28" name="Rectangle 27"/>
          <p:cNvSpPr/>
          <p:nvPr/>
        </p:nvSpPr>
        <p:spPr>
          <a:xfrm>
            <a:off x="8321040" y="3081528"/>
            <a:ext cx="3291840" cy="10241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412480" y="3154680"/>
            <a:ext cx="3108960" cy="914400"/>
          </a:xfrm>
          <a:prstGeom prst="rect">
            <a:avLst/>
          </a:prstGeom>
          <a:noFill/>
        </p:spPr>
        <p:txBody>
          <a:bodyPr wrap="square"/>
          <a:lstStyle/>
          <a:p>
            <a:pPr algn="l">
              <a:defRPr sz="1100" b="0">
                <a:solidFill>
                  <a:srgbClr val="333333"/>
                </a:solidFill>
                <a:latin typeface="Calibri Light"/>
              </a:defRPr>
            </a:pPr>
            <a:r>
              <a:t>Understand the implications</a:t>
            </a:r>
            <a:br/>
            <a:r>
              <a:t>of the unexpected at home,</a:t>
            </a:r>
            <a:br/>
            <a:r>
              <a:t>and how to react</a:t>
            </a:r>
          </a:p>
        </p:txBody>
      </p:sp>
      <p:sp>
        <p:nvSpPr>
          <p:cNvPr id="30" name="Rectangle 29"/>
          <p:cNvSpPr/>
          <p:nvPr/>
        </p:nvSpPr>
        <p:spPr>
          <a:xfrm>
            <a:off x="640080" y="4197096"/>
            <a:ext cx="1097280" cy="1024128"/>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4270248"/>
            <a:ext cx="1005840" cy="502920"/>
          </a:xfrm>
          <a:prstGeom prst="rect">
            <a:avLst/>
          </a:prstGeom>
          <a:noFill/>
        </p:spPr>
        <p:txBody>
          <a:bodyPr wrap="square"/>
          <a:lstStyle/>
          <a:p>
            <a:pPr algn="l">
              <a:defRPr sz="1100" b="1">
                <a:solidFill>
                  <a:srgbClr val="002B5C"/>
                </a:solidFill>
                <a:latin typeface="Calibri"/>
              </a:defRPr>
            </a:pPr>
            <a:r>
              <a:t>Communication</a:t>
            </a:r>
          </a:p>
        </p:txBody>
      </p:sp>
      <p:sp>
        <p:nvSpPr>
          <p:cNvPr id="32" name="Rectangle 31"/>
          <p:cNvSpPr/>
          <p:nvPr/>
        </p:nvSpPr>
        <p:spPr>
          <a:xfrm>
            <a:off x="1737360" y="4197096"/>
            <a:ext cx="3291840" cy="1024128"/>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828800" y="4270248"/>
            <a:ext cx="3108960" cy="914400"/>
          </a:xfrm>
          <a:prstGeom prst="rect">
            <a:avLst/>
          </a:prstGeom>
          <a:noFill/>
        </p:spPr>
        <p:txBody>
          <a:bodyPr wrap="square"/>
          <a:lstStyle/>
          <a:p>
            <a:pPr algn="l">
              <a:defRPr sz="1100" b="0">
                <a:solidFill>
                  <a:srgbClr val="333333"/>
                </a:solidFill>
                <a:latin typeface="Calibri Light"/>
              </a:defRPr>
            </a:pPr>
            <a:r>
              <a:t>Improve communication</a:t>
            </a:r>
            <a:br/>
            <a:r>
              <a:t>with food businesses and</a:t>
            </a:r>
            <a:br/>
            <a:r>
              <a:t>the general public</a:t>
            </a:r>
          </a:p>
        </p:txBody>
      </p:sp>
      <p:sp>
        <p:nvSpPr>
          <p:cNvPr id="34" name="Rectangle 33"/>
          <p:cNvSpPr/>
          <p:nvPr/>
        </p:nvSpPr>
        <p:spPr>
          <a:xfrm>
            <a:off x="5029200" y="4197096"/>
            <a:ext cx="3291840" cy="1024128"/>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120640" y="4270248"/>
            <a:ext cx="3108960" cy="914400"/>
          </a:xfrm>
          <a:prstGeom prst="rect">
            <a:avLst/>
          </a:prstGeom>
          <a:noFill/>
        </p:spPr>
        <p:txBody>
          <a:bodyPr wrap="square"/>
          <a:lstStyle/>
          <a:p>
            <a:pPr algn="l">
              <a:defRPr sz="1100" b="0">
                <a:solidFill>
                  <a:srgbClr val="333333"/>
                </a:solidFill>
                <a:latin typeface="Calibri Light"/>
              </a:defRPr>
            </a:pPr>
            <a:r>
              <a:t>Improve the way you</a:t>
            </a:r>
            <a:br/>
            <a:r>
              <a:t>communicate with</a:t>
            </a:r>
            <a:br/>
            <a:r>
              <a:t>consumers</a:t>
            </a:r>
          </a:p>
        </p:txBody>
      </p:sp>
      <p:sp>
        <p:nvSpPr>
          <p:cNvPr id="36" name="Rectangle 35"/>
          <p:cNvSpPr/>
          <p:nvPr/>
        </p:nvSpPr>
        <p:spPr>
          <a:xfrm>
            <a:off x="8321040" y="4197096"/>
            <a:ext cx="3291840" cy="1024128"/>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412480" y="4270248"/>
            <a:ext cx="3108960" cy="914400"/>
          </a:xfrm>
          <a:prstGeom prst="rect">
            <a:avLst/>
          </a:prstGeom>
          <a:noFill/>
        </p:spPr>
        <p:txBody>
          <a:bodyPr wrap="square"/>
          <a:lstStyle/>
          <a:p>
            <a:pPr algn="l">
              <a:defRPr sz="1100" b="0">
                <a:solidFill>
                  <a:srgbClr val="333333"/>
                </a:solidFill>
                <a:latin typeface="Calibri Light"/>
              </a:defRPr>
            </a:pPr>
            <a:r>
              <a:t>Stay informed through</a:t>
            </a:r>
            <a:br/>
            <a:r>
              <a:t>official channels and report</a:t>
            </a:r>
            <a:br/>
            <a:r>
              <a:t>concerns promptly</a:t>
            </a:r>
          </a:p>
        </p:txBody>
      </p:sp>
      <p:sp>
        <p:nvSpPr>
          <p:cNvPr id="38" name="Rectangle 37"/>
          <p:cNvSpPr/>
          <p:nvPr/>
        </p:nvSpPr>
        <p:spPr>
          <a:xfrm>
            <a:off x="640080" y="5312664"/>
            <a:ext cx="1097280" cy="10241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85800" y="5385816"/>
            <a:ext cx="1005840" cy="502920"/>
          </a:xfrm>
          <a:prstGeom prst="rect">
            <a:avLst/>
          </a:prstGeom>
          <a:noFill/>
        </p:spPr>
        <p:txBody>
          <a:bodyPr wrap="square"/>
          <a:lstStyle/>
          <a:p>
            <a:pPr algn="l">
              <a:defRPr sz="1100" b="1">
                <a:solidFill>
                  <a:srgbClr val="002B5C"/>
                </a:solidFill>
                <a:latin typeface="Calibri"/>
              </a:defRPr>
            </a:pPr>
            <a:r>
              <a:t>Management</a:t>
            </a:r>
            <a:br/>
            <a:r>
              <a:t>Plans</a:t>
            </a:r>
          </a:p>
        </p:txBody>
      </p:sp>
      <p:sp>
        <p:nvSpPr>
          <p:cNvPr id="40" name="Rectangle 39"/>
          <p:cNvSpPr/>
          <p:nvPr/>
        </p:nvSpPr>
        <p:spPr>
          <a:xfrm>
            <a:off x="1737360" y="5312664"/>
            <a:ext cx="3291840" cy="10241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828800" y="5385816"/>
            <a:ext cx="3108960" cy="914400"/>
          </a:xfrm>
          <a:prstGeom prst="rect">
            <a:avLst/>
          </a:prstGeom>
          <a:noFill/>
        </p:spPr>
        <p:txBody>
          <a:bodyPr wrap="square"/>
          <a:lstStyle/>
          <a:p>
            <a:pPr algn="l">
              <a:defRPr sz="1100" b="0">
                <a:solidFill>
                  <a:srgbClr val="333333"/>
                </a:solidFill>
                <a:latin typeface="Calibri Light"/>
              </a:defRPr>
            </a:pPr>
            <a:r>
              <a:t>Strengthen food safety</a:t>
            </a:r>
            <a:br/>
            <a:r>
              <a:t>management systems</a:t>
            </a:r>
            <a:br/>
            <a:r>
              <a:t>nationally</a:t>
            </a:r>
          </a:p>
        </p:txBody>
      </p:sp>
      <p:sp>
        <p:nvSpPr>
          <p:cNvPr id="42" name="Rectangle 41"/>
          <p:cNvSpPr/>
          <p:nvPr/>
        </p:nvSpPr>
        <p:spPr>
          <a:xfrm>
            <a:off x="5029200" y="5312664"/>
            <a:ext cx="3291840" cy="10241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120640" y="5385816"/>
            <a:ext cx="3108960" cy="914400"/>
          </a:xfrm>
          <a:prstGeom prst="rect">
            <a:avLst/>
          </a:prstGeom>
          <a:noFill/>
        </p:spPr>
        <p:txBody>
          <a:bodyPr wrap="square"/>
          <a:lstStyle/>
          <a:p>
            <a:pPr algn="l">
              <a:defRPr sz="1100" b="0">
                <a:solidFill>
                  <a:srgbClr val="333333"/>
                </a:solidFill>
                <a:latin typeface="Calibri Light"/>
              </a:defRPr>
            </a:pPr>
            <a:r>
              <a:t>Establish and regularly</a:t>
            </a:r>
            <a:br/>
            <a:r>
              <a:t>update food safety</a:t>
            </a:r>
            <a:br/>
            <a:r>
              <a:t>management plans;</a:t>
            </a:r>
            <a:br/>
            <a:r>
              <a:t>maintain traceability</a:t>
            </a:r>
            <a:br/>
            <a:r>
              <a:t>systems</a:t>
            </a:r>
          </a:p>
        </p:txBody>
      </p:sp>
      <p:sp>
        <p:nvSpPr>
          <p:cNvPr id="44" name="Rectangle 43"/>
          <p:cNvSpPr/>
          <p:nvPr/>
        </p:nvSpPr>
        <p:spPr>
          <a:xfrm>
            <a:off x="8321040" y="5312664"/>
            <a:ext cx="3291840" cy="10241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412480" y="5385816"/>
            <a:ext cx="3108960" cy="914400"/>
          </a:xfrm>
          <a:prstGeom prst="rect">
            <a:avLst/>
          </a:prstGeom>
          <a:noFill/>
        </p:spPr>
        <p:txBody>
          <a:bodyPr wrap="square"/>
          <a:lstStyle/>
          <a:p>
            <a:pPr algn="l">
              <a:defRPr sz="1100" b="0">
                <a:solidFill>
                  <a:srgbClr val="333333"/>
                </a:solidFill>
                <a:latin typeface="Calibri Light"/>
              </a:defRPr>
            </a:pPr>
            <a:r>
              <a:t>Make informed choices</a:t>
            </a:r>
            <a:br/>
            <a:r>
              <a:t>based on reliable</a:t>
            </a:r>
            <a:br/>
            <a:r>
              <a:t>food safety information</a:t>
            </a:r>
          </a:p>
        </p:txBody>
      </p:sp>
      <p:sp>
        <p:nvSpPr>
          <p:cNvPr id="46" name="TextBox 45"/>
          <p:cNvSpPr txBox="1"/>
          <p:nvPr/>
        </p:nvSpPr>
        <p:spPr>
          <a:xfrm>
            <a:off x="640080" y="6309360"/>
            <a:ext cx="7315200" cy="365760"/>
          </a:xfrm>
          <a:prstGeom prst="rect">
            <a:avLst/>
          </a:prstGeom>
          <a:noFill/>
        </p:spPr>
        <p:txBody>
          <a:bodyPr wrap="square"/>
          <a:lstStyle/>
          <a:p>
            <a:pPr algn="l">
              <a:defRPr sz="900" b="0">
                <a:solidFill>
                  <a:srgbClr val="999999"/>
                </a:solidFill>
                <a:latin typeface="Calibri Light"/>
              </a:defRPr>
            </a:pPr>
            <a:r>
              <a:t>Source: WFSD 2024 Communication Toolkit (p.3)</a:t>
            </a:r>
          </a:p>
        </p:txBody>
      </p:sp>
      <p:sp>
        <p:nvSpPr>
          <p:cNvPr id="47" name="Rectangle 46"/>
          <p:cNvSpPr/>
          <p:nvPr/>
        </p:nvSpPr>
        <p:spPr>
          <a:xfrm>
            <a:off x="0" y="6400800"/>
            <a:ext cx="12191695" cy="457200"/>
          </a:xfrm>
          <a:prstGeom prst="rect">
            <a:avLst/>
          </a:prstGeom>
          <a:solidFill>
            <a:srgbClr val="002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57200" y="6446520"/>
            <a:ext cx="3657600" cy="365760"/>
          </a:xfrm>
          <a:prstGeom prst="rect">
            <a:avLst/>
          </a:prstGeom>
          <a:noFill/>
        </p:spPr>
        <p:txBody>
          <a:bodyPr wrap="square"/>
          <a:lstStyle/>
          <a:p>
            <a:pPr algn="l">
              <a:defRPr sz="900" b="0">
                <a:solidFill>
                  <a:srgbClr val="FFFFFF"/>
                </a:solidFill>
                <a:latin typeface="Calibri Light"/>
              </a:defRPr>
            </a:pPr>
            <a:r>
              <a:t>FAO / WHO World Food Safety Day 2024  |  Campaign Briefing</a:t>
            </a:r>
          </a:p>
        </p:txBody>
      </p:sp>
      <p:sp>
        <p:nvSpPr>
          <p:cNvPr id="49" name="TextBox 48"/>
          <p:cNvSpPr txBox="1"/>
          <p:nvPr/>
        </p:nvSpPr>
        <p:spPr>
          <a:xfrm>
            <a:off x="11094415" y="6446520"/>
            <a:ext cx="914400" cy="365760"/>
          </a:xfrm>
          <a:prstGeom prst="rect">
            <a:avLst/>
          </a:prstGeom>
          <a:noFill/>
        </p:spPr>
        <p:txBody>
          <a:bodyPr wrap="square"/>
          <a:lstStyle/>
          <a:p>
            <a:pPr algn="r">
              <a:defRPr sz="900" b="0">
                <a:solidFill>
                  <a:srgbClr val="FFFFFF"/>
                </a:solidFill>
                <a:latin typeface="Calibri Light"/>
              </a:defRPr>
            </a:pPr>
            <a:r>
              <a:t>7 / 10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002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E86A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
            <a:ext cx="10515600" cy="594360"/>
          </a:xfrm>
          <a:prstGeom prst="rect">
            <a:avLst/>
          </a:prstGeom>
          <a:noFill/>
        </p:spPr>
        <p:txBody>
          <a:bodyPr wrap="square"/>
          <a:lstStyle/>
          <a:p>
            <a:pPr algn="l">
              <a:defRPr sz="2800" b="1">
                <a:solidFill>
                  <a:srgbClr val="FFFFFF"/>
                </a:solidFill>
                <a:latin typeface="Calibri Light"/>
              </a:defRPr>
            </a:pPr>
            <a:r>
              <a:t>Key Campaign Messages</a:t>
            </a:r>
          </a:p>
        </p:txBody>
      </p:sp>
      <p:sp>
        <p:nvSpPr>
          <p:cNvPr id="5" name="TextBox 4"/>
          <p:cNvSpPr txBox="1"/>
          <p:nvPr/>
        </p:nvSpPr>
        <p:spPr>
          <a:xfrm>
            <a:off x="640080" y="594360"/>
            <a:ext cx="10515600" cy="411480"/>
          </a:xfrm>
          <a:prstGeom prst="rect">
            <a:avLst/>
          </a:prstGeom>
          <a:noFill/>
        </p:spPr>
        <p:txBody>
          <a:bodyPr wrap="square"/>
          <a:lstStyle/>
          <a:p>
            <a:pPr algn="l">
              <a:defRPr sz="1400" b="0">
                <a:solidFill>
                  <a:srgbClr val="CCDDEE"/>
                </a:solidFill>
                <a:latin typeface="Calibri Light"/>
              </a:defRPr>
            </a:pPr>
            <a:r>
              <a:t>Core messages to anchor all campaign communications and outreach</a:t>
            </a:r>
          </a:p>
        </p:txBody>
      </p:sp>
      <p:sp>
        <p:nvSpPr>
          <p:cNvPr id="6" name="Rectangle 5"/>
          <p:cNvSpPr/>
          <p:nvPr/>
        </p:nvSpPr>
        <p:spPr>
          <a:xfrm>
            <a:off x="640080" y="1417320"/>
            <a:ext cx="3383280" cy="54864"/>
          </a:xfrm>
          <a:prstGeom prst="rect">
            <a:avLst/>
          </a:prstGeom>
          <a:solidFill>
            <a:srgbClr val="005B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508760"/>
            <a:ext cx="3200400" cy="411480"/>
          </a:xfrm>
          <a:prstGeom prst="rect">
            <a:avLst/>
          </a:prstGeom>
          <a:noFill/>
        </p:spPr>
        <p:txBody>
          <a:bodyPr wrap="square"/>
          <a:lstStyle/>
          <a:p>
            <a:pPr algn="l">
              <a:defRPr sz="1500" b="1">
                <a:solidFill>
                  <a:srgbClr val="002B5C"/>
                </a:solidFill>
                <a:latin typeface="Calibri"/>
              </a:defRPr>
            </a:pPr>
            <a:r>
              <a:t>Preparedness is Key</a:t>
            </a:r>
          </a:p>
        </p:txBody>
      </p:sp>
      <p:sp>
        <p:nvSpPr>
          <p:cNvPr id="8" name="TextBox 7"/>
          <p:cNvSpPr txBox="1"/>
          <p:nvPr/>
        </p:nvSpPr>
        <p:spPr>
          <a:xfrm>
            <a:off x="640080" y="1920240"/>
            <a:ext cx="3200400" cy="1371600"/>
          </a:xfrm>
          <a:prstGeom prst="rect">
            <a:avLst/>
          </a:prstGeom>
          <a:noFill/>
        </p:spPr>
        <p:txBody>
          <a:bodyPr wrap="square"/>
          <a:lstStyle/>
          <a:p>
            <a:pPr algn="l">
              <a:defRPr sz="1200" b="0">
                <a:solidFill>
                  <a:srgbClr val="333333"/>
                </a:solidFill>
                <a:latin typeface="Calibri Light"/>
              </a:defRPr>
            </a:pPr>
            <a:r>
              <a:t>When the unexpected happens, preparedness is key. National food safety emergency response plans and strengthened surveillance systems are essential.</a:t>
            </a:r>
          </a:p>
        </p:txBody>
      </p:sp>
      <p:sp>
        <p:nvSpPr>
          <p:cNvPr id="9" name="Rectangle 8"/>
          <p:cNvSpPr/>
          <p:nvPr/>
        </p:nvSpPr>
        <p:spPr>
          <a:xfrm>
            <a:off x="4389119" y="1417320"/>
            <a:ext cx="3383280" cy="54864"/>
          </a:xfrm>
          <a:prstGeom prst="rect">
            <a:avLst/>
          </a:prstGeom>
          <a:solidFill>
            <a:srgbClr val="007A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389119" y="1508760"/>
            <a:ext cx="3200400" cy="411480"/>
          </a:xfrm>
          <a:prstGeom prst="rect">
            <a:avLst/>
          </a:prstGeom>
          <a:noFill/>
        </p:spPr>
        <p:txBody>
          <a:bodyPr wrap="square"/>
          <a:lstStyle/>
          <a:p>
            <a:pPr algn="l">
              <a:defRPr sz="1500" b="1">
                <a:solidFill>
                  <a:srgbClr val="002B5C"/>
                </a:solidFill>
                <a:latin typeface="Calibri"/>
              </a:defRPr>
            </a:pPr>
            <a:r>
              <a:t>Rapid Information Exchange Saves Lives</a:t>
            </a:r>
          </a:p>
        </p:txBody>
      </p:sp>
      <p:sp>
        <p:nvSpPr>
          <p:cNvPr id="11" name="TextBox 10"/>
          <p:cNvSpPr txBox="1"/>
          <p:nvPr/>
        </p:nvSpPr>
        <p:spPr>
          <a:xfrm>
            <a:off x="4389119" y="1920240"/>
            <a:ext cx="3200400" cy="1371600"/>
          </a:xfrm>
          <a:prstGeom prst="rect">
            <a:avLst/>
          </a:prstGeom>
          <a:noFill/>
        </p:spPr>
        <p:txBody>
          <a:bodyPr wrap="square"/>
          <a:lstStyle/>
          <a:p>
            <a:pPr algn="l">
              <a:defRPr sz="1200" b="0">
                <a:solidFill>
                  <a:srgbClr val="333333"/>
                </a:solidFill>
                <a:latin typeface="Calibri Light"/>
              </a:defRPr>
            </a:pPr>
            <a:r>
              <a:t>Fast and accurate information sharing among all partners helps identify the nature and origin of food safety events and saves lives.</a:t>
            </a:r>
          </a:p>
        </p:txBody>
      </p:sp>
      <p:sp>
        <p:nvSpPr>
          <p:cNvPr id="12" name="Rectangle 11"/>
          <p:cNvSpPr/>
          <p:nvPr/>
        </p:nvSpPr>
        <p:spPr>
          <a:xfrm>
            <a:off x="8138159" y="1417320"/>
            <a:ext cx="3383280" cy="54864"/>
          </a:xfrm>
          <a:prstGeom prst="rect">
            <a:avLst/>
          </a:prstGeom>
          <a:solidFill>
            <a:srgbClr val="E86A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38159" y="1508760"/>
            <a:ext cx="3200400" cy="411480"/>
          </a:xfrm>
          <a:prstGeom prst="rect">
            <a:avLst/>
          </a:prstGeom>
          <a:noFill/>
        </p:spPr>
        <p:txBody>
          <a:bodyPr wrap="square"/>
          <a:lstStyle/>
          <a:p>
            <a:pPr algn="l">
              <a:defRPr sz="1500" b="1">
                <a:solidFill>
                  <a:srgbClr val="002B5C"/>
                </a:solidFill>
                <a:latin typeface="Calibri"/>
              </a:defRPr>
            </a:pPr>
            <a:r>
              <a:t>Multisectoral Collaboration</a:t>
            </a:r>
          </a:p>
        </p:txBody>
      </p:sp>
      <p:sp>
        <p:nvSpPr>
          <p:cNvPr id="14" name="TextBox 13"/>
          <p:cNvSpPr txBox="1"/>
          <p:nvPr/>
        </p:nvSpPr>
        <p:spPr>
          <a:xfrm>
            <a:off x="8138159" y="1920240"/>
            <a:ext cx="3200400" cy="1371600"/>
          </a:xfrm>
          <a:prstGeom prst="rect">
            <a:avLst/>
          </a:prstGeom>
          <a:noFill/>
        </p:spPr>
        <p:txBody>
          <a:bodyPr wrap="square"/>
          <a:lstStyle/>
          <a:p>
            <a:pPr algn="l">
              <a:defRPr sz="1200" b="0">
                <a:solidFill>
                  <a:srgbClr val="333333"/>
                </a:solidFill>
                <a:latin typeface="Calibri Light"/>
              </a:defRPr>
            </a:pPr>
            <a:r>
              <a:t>Shared responsibility requires collaboration at global, regional, national, and local levels. A coordinated approach minimizes public health impact.</a:t>
            </a:r>
          </a:p>
        </p:txBody>
      </p:sp>
      <p:sp>
        <p:nvSpPr>
          <p:cNvPr id="15" name="Rectangle 14"/>
          <p:cNvSpPr/>
          <p:nvPr/>
        </p:nvSpPr>
        <p:spPr>
          <a:xfrm>
            <a:off x="640080" y="3840480"/>
            <a:ext cx="3383280" cy="54864"/>
          </a:xfrm>
          <a:prstGeom prst="rect">
            <a:avLst/>
          </a:prstGeom>
          <a:solidFill>
            <a:srgbClr val="378C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3931920"/>
            <a:ext cx="3200400" cy="411480"/>
          </a:xfrm>
          <a:prstGeom prst="rect">
            <a:avLst/>
          </a:prstGeom>
          <a:noFill/>
        </p:spPr>
        <p:txBody>
          <a:bodyPr wrap="square"/>
          <a:lstStyle/>
          <a:p>
            <a:pPr algn="l">
              <a:defRPr sz="1500" b="1">
                <a:solidFill>
                  <a:srgbClr val="002B5C"/>
                </a:solidFill>
                <a:latin typeface="Calibri"/>
              </a:defRPr>
            </a:pPr>
            <a:r>
              <a:t>Effective Communication Maintains Confidence</a:t>
            </a:r>
          </a:p>
        </p:txBody>
      </p:sp>
      <p:sp>
        <p:nvSpPr>
          <p:cNvPr id="17" name="TextBox 16"/>
          <p:cNvSpPr txBox="1"/>
          <p:nvPr/>
        </p:nvSpPr>
        <p:spPr>
          <a:xfrm>
            <a:off x="640080" y="4343400"/>
            <a:ext cx="3200400" cy="1371600"/>
          </a:xfrm>
          <a:prstGeom prst="rect">
            <a:avLst/>
          </a:prstGeom>
          <a:noFill/>
        </p:spPr>
        <p:txBody>
          <a:bodyPr wrap="square"/>
          <a:lstStyle/>
          <a:p>
            <a:pPr algn="l">
              <a:defRPr sz="1200" b="0">
                <a:solidFill>
                  <a:srgbClr val="333333"/>
                </a:solidFill>
                <a:latin typeface="Calibri Light"/>
              </a:defRPr>
            </a:pPr>
            <a:r>
              <a:t>Providing accurate, open, and timely information to stakeholders helps maintain faith in the food supply and prevents further illness.</a:t>
            </a:r>
          </a:p>
        </p:txBody>
      </p:sp>
      <p:sp>
        <p:nvSpPr>
          <p:cNvPr id="18" name="Rectangle 17"/>
          <p:cNvSpPr/>
          <p:nvPr/>
        </p:nvSpPr>
        <p:spPr>
          <a:xfrm>
            <a:off x="4389119" y="3840480"/>
            <a:ext cx="3383280" cy="54864"/>
          </a:xfrm>
          <a:prstGeom prst="rect">
            <a:avLst/>
          </a:prstGeom>
          <a:solidFill>
            <a:srgbClr val="005B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389119" y="3931920"/>
            <a:ext cx="3200400" cy="411480"/>
          </a:xfrm>
          <a:prstGeom prst="rect">
            <a:avLst/>
          </a:prstGeom>
          <a:noFill/>
        </p:spPr>
        <p:txBody>
          <a:bodyPr wrap="square"/>
          <a:lstStyle/>
          <a:p>
            <a:pPr algn="l">
              <a:defRPr sz="1500" b="1">
                <a:solidFill>
                  <a:srgbClr val="002B5C"/>
                </a:solidFill>
                <a:latin typeface="Calibri"/>
              </a:defRPr>
            </a:pPr>
            <a:r>
              <a:t>Food Safety Management Plans Protect Consumers</a:t>
            </a:r>
          </a:p>
        </p:txBody>
      </p:sp>
      <p:sp>
        <p:nvSpPr>
          <p:cNvPr id="20" name="TextBox 19"/>
          <p:cNvSpPr txBox="1"/>
          <p:nvPr/>
        </p:nvSpPr>
        <p:spPr>
          <a:xfrm>
            <a:off x="4389119" y="4343400"/>
            <a:ext cx="3200400" cy="1371600"/>
          </a:xfrm>
          <a:prstGeom prst="rect">
            <a:avLst/>
          </a:prstGeom>
          <a:noFill/>
        </p:spPr>
        <p:txBody>
          <a:bodyPr wrap="square"/>
          <a:lstStyle/>
          <a:p>
            <a:pPr algn="l">
              <a:defRPr sz="1200" b="0">
                <a:solidFill>
                  <a:srgbClr val="333333"/>
                </a:solidFill>
                <a:latin typeface="Calibri Light"/>
              </a:defRPr>
            </a:pPr>
            <a:r>
              <a:t>Food producers, importers, manufacturers, distributors and retailers should all have established and regularly updated food safety management plans.</a:t>
            </a:r>
          </a:p>
        </p:txBody>
      </p:sp>
      <p:sp>
        <p:nvSpPr>
          <p:cNvPr id="21" name="Rectangle 20"/>
          <p:cNvSpPr/>
          <p:nvPr/>
        </p:nvSpPr>
        <p:spPr>
          <a:xfrm>
            <a:off x="8138159" y="3840480"/>
            <a:ext cx="3383280" cy="54864"/>
          </a:xfrm>
          <a:prstGeom prst="rect">
            <a:avLst/>
          </a:prstGeom>
          <a:solidFill>
            <a:srgbClr val="E86A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38159" y="3931920"/>
            <a:ext cx="3200400" cy="411480"/>
          </a:xfrm>
          <a:prstGeom prst="rect">
            <a:avLst/>
          </a:prstGeom>
          <a:noFill/>
        </p:spPr>
        <p:txBody>
          <a:bodyPr wrap="square"/>
          <a:lstStyle/>
          <a:p>
            <a:pPr algn="l">
              <a:defRPr sz="1500" b="1">
                <a:solidFill>
                  <a:srgbClr val="002B5C"/>
                </a:solidFill>
                <a:latin typeface="Calibri"/>
              </a:defRPr>
            </a:pPr>
            <a:r>
              <a:t>Everyone is a Risk Manager</a:t>
            </a:r>
          </a:p>
        </p:txBody>
      </p:sp>
      <p:sp>
        <p:nvSpPr>
          <p:cNvPr id="23" name="TextBox 22"/>
          <p:cNvSpPr txBox="1"/>
          <p:nvPr/>
        </p:nvSpPr>
        <p:spPr>
          <a:xfrm>
            <a:off x="8138159" y="4343400"/>
            <a:ext cx="3200400" cy="1371600"/>
          </a:xfrm>
          <a:prstGeom prst="rect">
            <a:avLst/>
          </a:prstGeom>
          <a:noFill/>
        </p:spPr>
        <p:txBody>
          <a:bodyPr wrap="square"/>
          <a:lstStyle/>
          <a:p>
            <a:pPr algn="l">
              <a:defRPr sz="1200" b="0">
                <a:solidFill>
                  <a:srgbClr val="333333"/>
                </a:solidFill>
                <a:latin typeface="Calibri Light"/>
              </a:defRPr>
            </a:pPr>
            <a:r>
              <a:t>Everyone evaluates food safety risks as part of their daily choices — made by individuals and collectively by families, communities, businesses and governments.</a:t>
            </a:r>
          </a:p>
        </p:txBody>
      </p:sp>
      <p:sp>
        <p:nvSpPr>
          <p:cNvPr id="24" name="TextBox 23"/>
          <p:cNvSpPr txBox="1"/>
          <p:nvPr/>
        </p:nvSpPr>
        <p:spPr>
          <a:xfrm>
            <a:off x="640080" y="6309360"/>
            <a:ext cx="7315200" cy="365760"/>
          </a:xfrm>
          <a:prstGeom prst="rect">
            <a:avLst/>
          </a:prstGeom>
          <a:noFill/>
        </p:spPr>
        <p:txBody>
          <a:bodyPr wrap="square"/>
          <a:lstStyle/>
          <a:p>
            <a:pPr algn="l">
              <a:defRPr sz="900" b="0">
                <a:solidFill>
                  <a:srgbClr val="999999"/>
                </a:solidFill>
                <a:latin typeface="Calibri Light"/>
              </a:defRPr>
            </a:pPr>
            <a:r>
              <a:t>Source: WFSD 2024 Communication Toolkit (p.4)</a:t>
            </a:r>
          </a:p>
        </p:txBody>
      </p:sp>
      <p:sp>
        <p:nvSpPr>
          <p:cNvPr id="25" name="Rectangle 24"/>
          <p:cNvSpPr/>
          <p:nvPr/>
        </p:nvSpPr>
        <p:spPr>
          <a:xfrm>
            <a:off x="0" y="6400800"/>
            <a:ext cx="12191695" cy="457200"/>
          </a:xfrm>
          <a:prstGeom prst="rect">
            <a:avLst/>
          </a:prstGeom>
          <a:solidFill>
            <a:srgbClr val="002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7200" y="6446520"/>
            <a:ext cx="3657600" cy="365760"/>
          </a:xfrm>
          <a:prstGeom prst="rect">
            <a:avLst/>
          </a:prstGeom>
          <a:noFill/>
        </p:spPr>
        <p:txBody>
          <a:bodyPr wrap="square"/>
          <a:lstStyle/>
          <a:p>
            <a:pPr algn="l">
              <a:defRPr sz="900" b="0">
                <a:solidFill>
                  <a:srgbClr val="FFFFFF"/>
                </a:solidFill>
                <a:latin typeface="Calibri Light"/>
              </a:defRPr>
            </a:pPr>
            <a:r>
              <a:t>FAO / WHO World Food Safety Day 2024  |  Campaign Briefing</a:t>
            </a:r>
          </a:p>
        </p:txBody>
      </p:sp>
      <p:sp>
        <p:nvSpPr>
          <p:cNvPr id="27" name="TextBox 26"/>
          <p:cNvSpPr txBox="1"/>
          <p:nvPr/>
        </p:nvSpPr>
        <p:spPr>
          <a:xfrm>
            <a:off x="11094415" y="6446520"/>
            <a:ext cx="914400" cy="365760"/>
          </a:xfrm>
          <a:prstGeom prst="rect">
            <a:avLst/>
          </a:prstGeom>
          <a:noFill/>
        </p:spPr>
        <p:txBody>
          <a:bodyPr wrap="square"/>
          <a:lstStyle/>
          <a:p>
            <a:pPr algn="r">
              <a:defRPr sz="900" b="0">
                <a:solidFill>
                  <a:srgbClr val="FFFFFF"/>
                </a:solidFill>
                <a:latin typeface="Calibri Light"/>
              </a:defRPr>
            </a:pPr>
            <a:r>
              <a:t>8 / 10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002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E86A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
            <a:ext cx="10515600" cy="594360"/>
          </a:xfrm>
          <a:prstGeom prst="rect">
            <a:avLst/>
          </a:prstGeom>
          <a:noFill/>
        </p:spPr>
        <p:txBody>
          <a:bodyPr wrap="square"/>
          <a:lstStyle/>
          <a:p>
            <a:pPr algn="l">
              <a:defRPr sz="2800" b="1">
                <a:solidFill>
                  <a:srgbClr val="FFFFFF"/>
                </a:solidFill>
                <a:latin typeface="Calibri Light"/>
              </a:defRPr>
            </a:pPr>
            <a:r>
              <a:t>Campaign Activation Ideas</a:t>
            </a:r>
          </a:p>
        </p:txBody>
      </p:sp>
      <p:sp>
        <p:nvSpPr>
          <p:cNvPr id="5" name="TextBox 4"/>
          <p:cNvSpPr txBox="1"/>
          <p:nvPr/>
        </p:nvSpPr>
        <p:spPr>
          <a:xfrm>
            <a:off x="640080" y="594360"/>
            <a:ext cx="10515600" cy="411480"/>
          </a:xfrm>
          <a:prstGeom prst="rect">
            <a:avLst/>
          </a:prstGeom>
          <a:noFill/>
        </p:spPr>
        <p:txBody>
          <a:bodyPr wrap="square"/>
          <a:lstStyle/>
          <a:p>
            <a:pPr algn="l">
              <a:defRPr sz="1400" b="0">
                <a:solidFill>
                  <a:srgbClr val="CCDDEE"/>
                </a:solidFill>
                <a:latin typeface="Calibri Light"/>
              </a:defRPr>
            </a:pPr>
            <a:r>
              <a:t>Ideas and tools to bring World Food Safety Day to life in your community and organization</a:t>
            </a:r>
          </a:p>
        </p:txBody>
      </p:sp>
      <p:sp>
        <p:nvSpPr>
          <p:cNvPr id="6" name="Rectangle 5"/>
          <p:cNvSpPr/>
          <p:nvPr/>
        </p:nvSpPr>
        <p:spPr>
          <a:xfrm>
            <a:off x="640080" y="1417320"/>
            <a:ext cx="2651760" cy="1828800"/>
          </a:xfrm>
          <a:prstGeom prst="rect">
            <a:avLst/>
          </a:prstGeom>
          <a:solidFill>
            <a:srgbClr val="E86A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508760"/>
            <a:ext cx="2377440" cy="411480"/>
          </a:xfrm>
          <a:prstGeom prst="rect">
            <a:avLst/>
          </a:prstGeom>
          <a:noFill/>
        </p:spPr>
        <p:txBody>
          <a:bodyPr wrap="square"/>
          <a:lstStyle/>
          <a:p>
            <a:pPr algn="l">
              <a:defRPr sz="1700" b="1">
                <a:solidFill>
                  <a:srgbClr val="FFFFFF"/>
                </a:solidFill>
                <a:latin typeface="Calibri Light"/>
              </a:defRPr>
            </a:pPr>
            <a:r>
              <a:t>Host a Webinar</a:t>
            </a:r>
          </a:p>
        </p:txBody>
      </p:sp>
      <p:sp>
        <p:nvSpPr>
          <p:cNvPr id="8" name="TextBox 7"/>
          <p:cNvSpPr txBox="1"/>
          <p:nvPr/>
        </p:nvSpPr>
        <p:spPr>
          <a:xfrm>
            <a:off x="777240" y="1965960"/>
            <a:ext cx="2377440" cy="1188720"/>
          </a:xfrm>
          <a:prstGeom prst="rect">
            <a:avLst/>
          </a:prstGeom>
          <a:noFill/>
        </p:spPr>
        <p:txBody>
          <a:bodyPr wrap="square"/>
          <a:lstStyle/>
          <a:p>
            <a:pPr algn="l">
              <a:defRPr sz="1200" b="0">
                <a:solidFill>
                  <a:srgbClr val="FFFFFF"/>
                </a:solidFill>
                <a:latin typeface="Calibri Light"/>
              </a:defRPr>
            </a:pPr>
            <a:r>
              <a:t>Bring together key players in the food system to discuss food safety preparedness and response. Follow with a Q&amp;A session for a virtual or in-person audience.</a:t>
            </a:r>
          </a:p>
        </p:txBody>
      </p:sp>
      <p:sp>
        <p:nvSpPr>
          <p:cNvPr id="9" name="Rectangle 8"/>
          <p:cNvSpPr/>
          <p:nvPr/>
        </p:nvSpPr>
        <p:spPr>
          <a:xfrm>
            <a:off x="3474720" y="1417320"/>
            <a:ext cx="2651760" cy="1828800"/>
          </a:xfrm>
          <a:prstGeom prst="rect">
            <a:avLst/>
          </a:prstGeom>
          <a:solidFill>
            <a:srgbClr val="005B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11880" y="1508760"/>
            <a:ext cx="2377440" cy="411480"/>
          </a:xfrm>
          <a:prstGeom prst="rect">
            <a:avLst/>
          </a:prstGeom>
          <a:noFill/>
        </p:spPr>
        <p:txBody>
          <a:bodyPr wrap="square"/>
          <a:lstStyle/>
          <a:p>
            <a:pPr algn="l">
              <a:defRPr sz="1700" b="1">
                <a:solidFill>
                  <a:srgbClr val="FFFFFF"/>
                </a:solidFill>
                <a:latin typeface="Calibri Light"/>
              </a:defRPr>
            </a:pPr>
            <a:r>
              <a:t>Train Staff</a:t>
            </a:r>
          </a:p>
        </p:txBody>
      </p:sp>
      <p:sp>
        <p:nvSpPr>
          <p:cNvPr id="11" name="TextBox 10"/>
          <p:cNvSpPr txBox="1"/>
          <p:nvPr/>
        </p:nvSpPr>
        <p:spPr>
          <a:xfrm>
            <a:off x="3611880" y="1965960"/>
            <a:ext cx="2377440" cy="1188720"/>
          </a:xfrm>
          <a:prstGeom prst="rect">
            <a:avLst/>
          </a:prstGeom>
          <a:noFill/>
        </p:spPr>
        <p:txBody>
          <a:bodyPr wrap="square"/>
          <a:lstStyle/>
          <a:p>
            <a:pPr algn="l">
              <a:defRPr sz="1200" b="0">
                <a:solidFill>
                  <a:srgbClr val="FFFFFF"/>
                </a:solidFill>
                <a:latin typeface="Calibri Light"/>
              </a:defRPr>
            </a:pPr>
            <a:r>
              <a:t>Reinforce food safety management at work — whether you produce, serve or sell food. Celebrate your achievements in food safety.</a:t>
            </a:r>
          </a:p>
        </p:txBody>
      </p:sp>
      <p:sp>
        <p:nvSpPr>
          <p:cNvPr id="12" name="Rectangle 11"/>
          <p:cNvSpPr/>
          <p:nvPr/>
        </p:nvSpPr>
        <p:spPr>
          <a:xfrm>
            <a:off x="6309360" y="1417320"/>
            <a:ext cx="2651760" cy="1828800"/>
          </a:xfrm>
          <a:prstGeom prst="rect">
            <a:avLst/>
          </a:prstGeom>
          <a:solidFill>
            <a:srgbClr val="007A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46520" y="1508760"/>
            <a:ext cx="2377440" cy="411480"/>
          </a:xfrm>
          <a:prstGeom prst="rect">
            <a:avLst/>
          </a:prstGeom>
          <a:noFill/>
        </p:spPr>
        <p:txBody>
          <a:bodyPr wrap="square"/>
          <a:lstStyle/>
          <a:p>
            <a:pPr algn="l">
              <a:defRPr sz="1700" b="1">
                <a:solidFill>
                  <a:srgbClr val="FFFFFF"/>
                </a:solidFill>
                <a:latin typeface="Calibri Light"/>
              </a:defRPr>
            </a:pPr>
            <a:r>
              <a:t>Launch a Social Media Campaign</a:t>
            </a:r>
          </a:p>
        </p:txBody>
      </p:sp>
      <p:sp>
        <p:nvSpPr>
          <p:cNvPr id="14" name="TextBox 13"/>
          <p:cNvSpPr txBox="1"/>
          <p:nvPr/>
        </p:nvSpPr>
        <p:spPr>
          <a:xfrm>
            <a:off x="6446520" y="1965960"/>
            <a:ext cx="2377440" cy="1188720"/>
          </a:xfrm>
          <a:prstGeom prst="rect">
            <a:avLst/>
          </a:prstGeom>
          <a:noFill/>
        </p:spPr>
        <p:txBody>
          <a:bodyPr wrap="square"/>
          <a:lstStyle/>
          <a:p>
            <a:pPr algn="l">
              <a:defRPr sz="1200" b="0">
                <a:solidFill>
                  <a:srgbClr val="FFFFFF"/>
                </a:solidFill>
                <a:latin typeface="Calibri Light"/>
              </a:defRPr>
            </a:pPr>
            <a:r>
              <a:t>Post ready-to-use communication materials or prepare your own videos, brochures, and posters. Tag #WorldFoodSafetyDay.</a:t>
            </a:r>
          </a:p>
        </p:txBody>
      </p:sp>
      <p:sp>
        <p:nvSpPr>
          <p:cNvPr id="15" name="Rectangle 14"/>
          <p:cNvSpPr/>
          <p:nvPr/>
        </p:nvSpPr>
        <p:spPr>
          <a:xfrm>
            <a:off x="9144000" y="1417320"/>
            <a:ext cx="2651760" cy="1828800"/>
          </a:xfrm>
          <a:prstGeom prst="rect">
            <a:avLst/>
          </a:prstGeom>
          <a:solidFill>
            <a:srgbClr val="E86A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281160" y="1508760"/>
            <a:ext cx="2377440" cy="411480"/>
          </a:xfrm>
          <a:prstGeom prst="rect">
            <a:avLst/>
          </a:prstGeom>
          <a:noFill/>
        </p:spPr>
        <p:txBody>
          <a:bodyPr wrap="square"/>
          <a:lstStyle/>
          <a:p>
            <a:pPr algn="l">
              <a:defRPr sz="1700" b="1">
                <a:solidFill>
                  <a:srgbClr val="FFFFFF"/>
                </a:solidFill>
                <a:latin typeface="Calibri Light"/>
              </a:defRPr>
            </a:pPr>
            <a:r>
              <a:t>Get Creative!</a:t>
            </a:r>
          </a:p>
        </p:txBody>
      </p:sp>
      <p:sp>
        <p:nvSpPr>
          <p:cNvPr id="17" name="TextBox 16"/>
          <p:cNvSpPr txBox="1"/>
          <p:nvPr/>
        </p:nvSpPr>
        <p:spPr>
          <a:xfrm>
            <a:off x="9281160" y="1965960"/>
            <a:ext cx="2377440" cy="1188720"/>
          </a:xfrm>
          <a:prstGeom prst="rect">
            <a:avLst/>
          </a:prstGeom>
          <a:noFill/>
        </p:spPr>
        <p:txBody>
          <a:bodyPr wrap="square"/>
          <a:lstStyle/>
          <a:p>
            <a:pPr algn="l">
              <a:defRPr sz="1200" b="0">
                <a:solidFill>
                  <a:srgbClr val="FFFFFF"/>
                </a:solidFill>
                <a:latin typeface="Calibri Light"/>
              </a:defRPr>
            </a:pPr>
            <a:r>
              <a:t>Organize poster competitions, food tasting sessions, workplace food safety exhibitions, runs, sports events, food safety songs, or other creative celebrations.</a:t>
            </a:r>
          </a:p>
        </p:txBody>
      </p:sp>
      <p:sp>
        <p:nvSpPr>
          <p:cNvPr id="18" name="Rectangle 17"/>
          <p:cNvSpPr/>
          <p:nvPr/>
        </p:nvSpPr>
        <p:spPr>
          <a:xfrm>
            <a:off x="640080" y="3520440"/>
            <a:ext cx="10881360" cy="27432"/>
          </a:xfrm>
          <a:prstGeom prst="rect">
            <a:avLst/>
          </a:prstGeom>
          <a:solidFill>
            <a:srgbClr val="378C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3657600"/>
            <a:ext cx="10515600" cy="365760"/>
          </a:xfrm>
          <a:prstGeom prst="rect">
            <a:avLst/>
          </a:prstGeom>
          <a:noFill/>
        </p:spPr>
        <p:txBody>
          <a:bodyPr wrap="square"/>
          <a:lstStyle/>
          <a:p>
            <a:pPr algn="l">
              <a:defRPr sz="1800" b="1">
                <a:solidFill>
                  <a:srgbClr val="002B5C"/>
                </a:solidFill>
                <a:latin typeface="Calibri"/>
              </a:defRPr>
            </a:pPr>
            <a:r>
              <a:t>Available Campaign Resources</a:t>
            </a:r>
          </a:p>
        </p:txBody>
      </p:sp>
      <p:sp>
        <p:nvSpPr>
          <p:cNvPr id="20" name="TextBox 19"/>
          <p:cNvSpPr txBox="1"/>
          <p:nvPr/>
        </p:nvSpPr>
        <p:spPr>
          <a:xfrm>
            <a:off x="640080" y="4114800"/>
            <a:ext cx="10515600" cy="2011680"/>
          </a:xfrm>
          <a:prstGeom prst="rect">
            <a:avLst/>
          </a:prstGeom>
          <a:noFill/>
        </p:spPr>
        <p:txBody>
          <a:bodyPr wrap="square"/>
          <a:lstStyle/>
          <a:p>
            <a:pPr algn="l">
              <a:spcAft>
                <a:spcPts val="400"/>
              </a:spcAft>
              <a:defRPr sz="1300" b="0">
                <a:solidFill>
                  <a:srgbClr val="333333"/>
                </a:solidFill>
                <a:latin typeface="Calibri"/>
              </a:defRPr>
            </a:pPr>
            <a:r>
              <a:t>•  Official poster (“Food safety: prepare for the unexpected”)</a:t>
            </a:r>
          </a:p>
          <a:p>
            <a:pPr algn="l">
              <a:spcAft>
                <a:spcPts val="400"/>
              </a:spcAft>
              <a:defRPr sz="1300" b="0">
                <a:solidFill>
                  <a:srgbClr val="333333"/>
                </a:solidFill>
                <a:latin typeface="Calibri"/>
              </a:defRPr>
            </a:pPr>
            <a:r>
              <a:t>•  Social media assets and sample messages</a:t>
            </a:r>
          </a:p>
          <a:p>
            <a:pPr algn="l">
              <a:spcAft>
                <a:spcPts val="400"/>
              </a:spcAft>
              <a:defRPr sz="1300" b="0">
                <a:solidFill>
                  <a:srgbClr val="333333"/>
                </a:solidFill>
                <a:latin typeface="Calibri"/>
              </a:defRPr>
            </a:pPr>
            <a:r>
              <a:t>•  Mythbusters series</a:t>
            </a:r>
          </a:p>
          <a:p>
            <a:pPr algn="l">
              <a:spcAft>
                <a:spcPts val="400"/>
              </a:spcAft>
              <a:defRPr sz="1300" b="0">
                <a:solidFill>
                  <a:srgbClr val="333333"/>
                </a:solidFill>
                <a:latin typeface="Calibri"/>
              </a:defRPr>
            </a:pPr>
            <a:r>
              <a:t>•  FAO/WHO framework for developing national food safety emergency response plans</a:t>
            </a:r>
          </a:p>
          <a:p>
            <a:pPr algn="l">
              <a:spcAft>
                <a:spcPts val="400"/>
              </a:spcAft>
              <a:defRPr sz="1300" b="0">
                <a:solidFill>
                  <a:srgbClr val="333333"/>
                </a:solidFill>
                <a:latin typeface="Calibri"/>
              </a:defRPr>
            </a:pPr>
            <a:r>
              <a:t>•  FAO eLearning Academy courses on food safety</a:t>
            </a:r>
          </a:p>
          <a:p>
            <a:pPr algn="l">
              <a:spcAft>
                <a:spcPts val="400"/>
              </a:spcAft>
              <a:defRPr sz="1300" b="0">
                <a:solidFill>
                  <a:srgbClr val="333333"/>
                </a:solidFill>
                <a:latin typeface="Calibri"/>
              </a:defRPr>
            </a:pPr>
            <a:r>
              <a:t>•  World Food Safety Day website “How to participate” section</a:t>
            </a:r>
          </a:p>
        </p:txBody>
      </p:sp>
      <p:sp>
        <p:nvSpPr>
          <p:cNvPr id="21" name="TextBox 20"/>
          <p:cNvSpPr txBox="1"/>
          <p:nvPr/>
        </p:nvSpPr>
        <p:spPr>
          <a:xfrm>
            <a:off x="640080" y="6309360"/>
            <a:ext cx="7315200" cy="365760"/>
          </a:xfrm>
          <a:prstGeom prst="rect">
            <a:avLst/>
          </a:prstGeom>
          <a:noFill/>
        </p:spPr>
        <p:txBody>
          <a:bodyPr wrap="square"/>
          <a:lstStyle/>
          <a:p>
            <a:pPr algn="l">
              <a:defRPr sz="900" b="0">
                <a:solidFill>
                  <a:srgbClr val="999999"/>
                </a:solidFill>
                <a:latin typeface="Calibri Light"/>
              </a:defRPr>
            </a:pPr>
            <a:r>
              <a:t>Source: WFSD 2024 Communication Toolkit (pp.6-10)</a:t>
            </a:r>
          </a:p>
        </p:txBody>
      </p:sp>
      <p:sp>
        <p:nvSpPr>
          <p:cNvPr id="22" name="Rectangle 21"/>
          <p:cNvSpPr/>
          <p:nvPr/>
        </p:nvSpPr>
        <p:spPr>
          <a:xfrm>
            <a:off x="0" y="6400800"/>
            <a:ext cx="12191695" cy="457200"/>
          </a:xfrm>
          <a:prstGeom prst="rect">
            <a:avLst/>
          </a:prstGeom>
          <a:solidFill>
            <a:srgbClr val="002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7200" y="6446520"/>
            <a:ext cx="3657600" cy="365760"/>
          </a:xfrm>
          <a:prstGeom prst="rect">
            <a:avLst/>
          </a:prstGeom>
          <a:noFill/>
        </p:spPr>
        <p:txBody>
          <a:bodyPr wrap="square"/>
          <a:lstStyle/>
          <a:p>
            <a:pPr algn="l">
              <a:defRPr sz="900" b="0">
                <a:solidFill>
                  <a:srgbClr val="FFFFFF"/>
                </a:solidFill>
                <a:latin typeface="Calibri Light"/>
              </a:defRPr>
            </a:pPr>
            <a:r>
              <a:t>FAO / WHO World Food Safety Day 2024  |  Campaign Briefing</a:t>
            </a:r>
          </a:p>
        </p:txBody>
      </p:sp>
      <p:sp>
        <p:nvSpPr>
          <p:cNvPr id="24" name="TextBox 23"/>
          <p:cNvSpPr txBox="1"/>
          <p:nvPr/>
        </p:nvSpPr>
        <p:spPr>
          <a:xfrm>
            <a:off x="11094415" y="6446520"/>
            <a:ext cx="914400" cy="365760"/>
          </a:xfrm>
          <a:prstGeom prst="rect">
            <a:avLst/>
          </a:prstGeom>
          <a:noFill/>
        </p:spPr>
        <p:txBody>
          <a:bodyPr wrap="square"/>
          <a:lstStyle/>
          <a:p>
            <a:pPr algn="r">
              <a:defRPr sz="900" b="0">
                <a:solidFill>
                  <a:srgbClr val="FFFFFF"/>
                </a:solidFill>
                <a:latin typeface="Calibri Light"/>
              </a:defRPr>
            </a:pPr>
            <a:r>
              <a:t>9 / 10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02B5C"/>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07A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10058400" cy="548640"/>
          </a:xfrm>
          <a:prstGeom prst="rect">
            <a:avLst/>
          </a:prstGeom>
          <a:noFill/>
        </p:spPr>
        <p:txBody>
          <a:bodyPr wrap="square"/>
          <a:lstStyle/>
          <a:p>
            <a:pPr algn="l">
              <a:defRPr sz="3600" b="1">
                <a:solidFill>
                  <a:srgbClr val="FFFFFF"/>
                </a:solidFill>
                <a:latin typeface="Calibri Light"/>
              </a:defRPr>
            </a:pPr>
            <a:r>
              <a:t>Partner-Ready Call to Action</a:t>
            </a:r>
          </a:p>
        </p:txBody>
      </p:sp>
      <p:sp>
        <p:nvSpPr>
          <p:cNvPr id="4" name="Rectangle 3"/>
          <p:cNvSpPr/>
          <p:nvPr/>
        </p:nvSpPr>
        <p:spPr>
          <a:xfrm>
            <a:off x="731520" y="1234440"/>
            <a:ext cx="2286000" cy="45720"/>
          </a:xfrm>
          <a:prstGeom prst="rect">
            <a:avLst/>
          </a:prstGeom>
          <a:solidFill>
            <a:srgbClr val="E86A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554480"/>
            <a:ext cx="3291840" cy="640080"/>
          </a:xfrm>
          <a:prstGeom prst="rect">
            <a:avLst/>
          </a:prstGeom>
          <a:solidFill>
            <a:srgbClr val="005B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600200"/>
            <a:ext cx="3108960" cy="548640"/>
          </a:xfrm>
          <a:prstGeom prst="rect">
            <a:avLst/>
          </a:prstGeom>
          <a:noFill/>
        </p:spPr>
        <p:txBody>
          <a:bodyPr wrap="square"/>
          <a:lstStyle/>
          <a:p>
            <a:pPr algn="ctr">
              <a:defRPr sz="2400" b="1">
                <a:solidFill>
                  <a:srgbClr val="FFFFFF"/>
                </a:solidFill>
                <a:latin typeface="Calibri Light"/>
              </a:defRPr>
            </a:pPr>
            <a:r>
              <a:t>Plan</a:t>
            </a:r>
          </a:p>
        </p:txBody>
      </p:sp>
      <p:sp>
        <p:nvSpPr>
          <p:cNvPr id="7" name="TextBox 6"/>
          <p:cNvSpPr txBox="1"/>
          <p:nvPr/>
        </p:nvSpPr>
        <p:spPr>
          <a:xfrm>
            <a:off x="868680" y="2423160"/>
            <a:ext cx="3017520" cy="365760"/>
          </a:xfrm>
          <a:prstGeom prst="rect">
            <a:avLst/>
          </a:prstGeom>
          <a:noFill/>
        </p:spPr>
        <p:txBody>
          <a:bodyPr wrap="square"/>
          <a:lstStyle/>
          <a:p>
            <a:pPr algn="l">
              <a:defRPr sz="1400" b="0">
                <a:solidFill>
                  <a:srgbClr val="FFFFFF"/>
                </a:solidFill>
                <a:latin typeface="Calibri Light"/>
              </a:defRPr>
            </a:pPr>
            <a:r>
              <a:t>✔  Identify your role</a:t>
            </a:r>
          </a:p>
        </p:txBody>
      </p:sp>
      <p:sp>
        <p:nvSpPr>
          <p:cNvPr id="8" name="TextBox 7"/>
          <p:cNvSpPr txBox="1"/>
          <p:nvPr/>
        </p:nvSpPr>
        <p:spPr>
          <a:xfrm>
            <a:off x="868680" y="2834640"/>
            <a:ext cx="3017520" cy="365760"/>
          </a:xfrm>
          <a:prstGeom prst="rect">
            <a:avLst/>
          </a:prstGeom>
          <a:noFill/>
        </p:spPr>
        <p:txBody>
          <a:bodyPr wrap="square"/>
          <a:lstStyle/>
          <a:p>
            <a:pPr algn="l">
              <a:defRPr sz="1400" b="0">
                <a:solidFill>
                  <a:srgbClr val="FFFFFF"/>
                </a:solidFill>
                <a:latin typeface="Calibri Light"/>
              </a:defRPr>
            </a:pPr>
            <a:r>
              <a:t>✔  Review emergency plans</a:t>
            </a:r>
          </a:p>
        </p:txBody>
      </p:sp>
      <p:sp>
        <p:nvSpPr>
          <p:cNvPr id="9" name="TextBox 8"/>
          <p:cNvSpPr txBox="1"/>
          <p:nvPr/>
        </p:nvSpPr>
        <p:spPr>
          <a:xfrm>
            <a:off x="868680" y="3246120"/>
            <a:ext cx="3017520" cy="365760"/>
          </a:xfrm>
          <a:prstGeom prst="rect">
            <a:avLst/>
          </a:prstGeom>
          <a:noFill/>
        </p:spPr>
        <p:txBody>
          <a:bodyPr wrap="square"/>
          <a:lstStyle/>
          <a:p>
            <a:pPr algn="l">
              <a:defRPr sz="1400" b="0">
                <a:solidFill>
                  <a:srgbClr val="FFFFFF"/>
                </a:solidFill>
                <a:latin typeface="Calibri Light"/>
              </a:defRPr>
            </a:pPr>
            <a:r>
              <a:t>✔  Coordinate with partners</a:t>
            </a:r>
          </a:p>
        </p:txBody>
      </p:sp>
      <p:sp>
        <p:nvSpPr>
          <p:cNvPr id="10" name="TextBox 9"/>
          <p:cNvSpPr txBox="1"/>
          <p:nvPr/>
        </p:nvSpPr>
        <p:spPr>
          <a:xfrm>
            <a:off x="868680" y="3657600"/>
            <a:ext cx="3017520" cy="365760"/>
          </a:xfrm>
          <a:prstGeom prst="rect">
            <a:avLst/>
          </a:prstGeom>
          <a:noFill/>
        </p:spPr>
        <p:txBody>
          <a:bodyPr wrap="square"/>
          <a:lstStyle/>
          <a:p>
            <a:pPr algn="l">
              <a:defRPr sz="1400" b="0">
                <a:solidFill>
                  <a:srgbClr val="FFFFFF"/>
                </a:solidFill>
                <a:latin typeface="Calibri Light"/>
              </a:defRPr>
            </a:pPr>
            <a:r>
              <a:t>✔  Set measurable goals</a:t>
            </a:r>
          </a:p>
        </p:txBody>
      </p:sp>
      <p:sp>
        <p:nvSpPr>
          <p:cNvPr id="11" name="Rectangle 10"/>
          <p:cNvSpPr/>
          <p:nvPr/>
        </p:nvSpPr>
        <p:spPr>
          <a:xfrm>
            <a:off x="4480559" y="1554480"/>
            <a:ext cx="3291840" cy="640080"/>
          </a:xfrm>
          <a:prstGeom prst="rect">
            <a:avLst/>
          </a:prstGeom>
          <a:solidFill>
            <a:srgbClr val="007A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1999" y="1600200"/>
            <a:ext cx="3108960" cy="548640"/>
          </a:xfrm>
          <a:prstGeom prst="rect">
            <a:avLst/>
          </a:prstGeom>
          <a:noFill/>
        </p:spPr>
        <p:txBody>
          <a:bodyPr wrap="square"/>
          <a:lstStyle/>
          <a:p>
            <a:pPr algn="ctr">
              <a:defRPr sz="2400" b="1">
                <a:solidFill>
                  <a:srgbClr val="FFFFFF"/>
                </a:solidFill>
                <a:latin typeface="Calibri Light"/>
              </a:defRPr>
            </a:pPr>
            <a:r>
              <a:t>Prepare</a:t>
            </a:r>
          </a:p>
        </p:txBody>
      </p:sp>
      <p:sp>
        <p:nvSpPr>
          <p:cNvPr id="13" name="TextBox 12"/>
          <p:cNvSpPr txBox="1"/>
          <p:nvPr/>
        </p:nvSpPr>
        <p:spPr>
          <a:xfrm>
            <a:off x="4617719" y="2423160"/>
            <a:ext cx="3017520" cy="365760"/>
          </a:xfrm>
          <a:prstGeom prst="rect">
            <a:avLst/>
          </a:prstGeom>
          <a:noFill/>
        </p:spPr>
        <p:txBody>
          <a:bodyPr wrap="square"/>
          <a:lstStyle/>
          <a:p>
            <a:pPr algn="l">
              <a:defRPr sz="1400" b="0">
                <a:solidFill>
                  <a:srgbClr val="FFFFFF"/>
                </a:solidFill>
                <a:latin typeface="Calibri Light"/>
              </a:defRPr>
            </a:pPr>
            <a:r>
              <a:t>✔  Download campaign materials</a:t>
            </a:r>
          </a:p>
        </p:txBody>
      </p:sp>
      <p:sp>
        <p:nvSpPr>
          <p:cNvPr id="14" name="TextBox 13"/>
          <p:cNvSpPr txBox="1"/>
          <p:nvPr/>
        </p:nvSpPr>
        <p:spPr>
          <a:xfrm>
            <a:off x="4617719" y="2834640"/>
            <a:ext cx="3017520" cy="365760"/>
          </a:xfrm>
          <a:prstGeom prst="rect">
            <a:avLst/>
          </a:prstGeom>
          <a:noFill/>
        </p:spPr>
        <p:txBody>
          <a:bodyPr wrap="square"/>
          <a:lstStyle/>
          <a:p>
            <a:pPr algn="l">
              <a:defRPr sz="1400" b="0">
                <a:solidFill>
                  <a:srgbClr val="FFFFFF"/>
                </a:solidFill>
                <a:latin typeface="Calibri Light"/>
              </a:defRPr>
            </a:pPr>
            <a:r>
              <a:t>✔  Train your team</a:t>
            </a:r>
          </a:p>
        </p:txBody>
      </p:sp>
      <p:sp>
        <p:nvSpPr>
          <p:cNvPr id="15" name="TextBox 14"/>
          <p:cNvSpPr txBox="1"/>
          <p:nvPr/>
        </p:nvSpPr>
        <p:spPr>
          <a:xfrm>
            <a:off x="4617719" y="3246120"/>
            <a:ext cx="3017520" cy="365760"/>
          </a:xfrm>
          <a:prstGeom prst="rect">
            <a:avLst/>
          </a:prstGeom>
          <a:noFill/>
        </p:spPr>
        <p:txBody>
          <a:bodyPr wrap="square"/>
          <a:lstStyle/>
          <a:p>
            <a:pPr algn="l">
              <a:defRPr sz="1400" b="0">
                <a:solidFill>
                  <a:srgbClr val="FFFFFF"/>
                </a:solidFill>
                <a:latin typeface="Calibri Light"/>
              </a:defRPr>
            </a:pPr>
            <a:r>
              <a:t>✔  Test your response plans</a:t>
            </a:r>
          </a:p>
        </p:txBody>
      </p:sp>
      <p:sp>
        <p:nvSpPr>
          <p:cNvPr id="16" name="TextBox 15"/>
          <p:cNvSpPr txBox="1"/>
          <p:nvPr/>
        </p:nvSpPr>
        <p:spPr>
          <a:xfrm>
            <a:off x="4617719" y="3657600"/>
            <a:ext cx="3017520" cy="365760"/>
          </a:xfrm>
          <a:prstGeom prst="rect">
            <a:avLst/>
          </a:prstGeom>
          <a:noFill/>
        </p:spPr>
        <p:txBody>
          <a:bodyPr wrap="square"/>
          <a:lstStyle/>
          <a:p>
            <a:pPr algn="l">
              <a:defRPr sz="1400" b="0">
                <a:solidFill>
                  <a:srgbClr val="FFFFFF"/>
                </a:solidFill>
                <a:latin typeface="Calibri Light"/>
              </a:defRPr>
            </a:pPr>
            <a:r>
              <a:t>✔  Engage your network</a:t>
            </a:r>
          </a:p>
        </p:txBody>
      </p:sp>
      <p:sp>
        <p:nvSpPr>
          <p:cNvPr id="17" name="Rectangle 16"/>
          <p:cNvSpPr/>
          <p:nvPr/>
        </p:nvSpPr>
        <p:spPr>
          <a:xfrm>
            <a:off x="8229599" y="1554480"/>
            <a:ext cx="3291840" cy="640080"/>
          </a:xfrm>
          <a:prstGeom prst="rect">
            <a:avLst/>
          </a:prstGeom>
          <a:solidFill>
            <a:srgbClr val="E86A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21039" y="1600200"/>
            <a:ext cx="3108960" cy="548640"/>
          </a:xfrm>
          <a:prstGeom prst="rect">
            <a:avLst/>
          </a:prstGeom>
          <a:noFill/>
        </p:spPr>
        <p:txBody>
          <a:bodyPr wrap="square"/>
          <a:lstStyle/>
          <a:p>
            <a:pPr algn="ctr">
              <a:defRPr sz="2400" b="1">
                <a:solidFill>
                  <a:srgbClr val="FFFFFF"/>
                </a:solidFill>
                <a:latin typeface="Calibri Light"/>
              </a:defRPr>
            </a:pPr>
            <a:r>
              <a:t>Act</a:t>
            </a:r>
          </a:p>
        </p:txBody>
      </p:sp>
      <p:sp>
        <p:nvSpPr>
          <p:cNvPr id="19" name="TextBox 18"/>
          <p:cNvSpPr txBox="1"/>
          <p:nvPr/>
        </p:nvSpPr>
        <p:spPr>
          <a:xfrm>
            <a:off x="8366759" y="2423160"/>
            <a:ext cx="3017520" cy="365760"/>
          </a:xfrm>
          <a:prstGeom prst="rect">
            <a:avLst/>
          </a:prstGeom>
          <a:noFill/>
        </p:spPr>
        <p:txBody>
          <a:bodyPr wrap="square"/>
          <a:lstStyle/>
          <a:p>
            <a:pPr algn="l">
              <a:defRPr sz="1400" b="0">
                <a:solidFill>
                  <a:srgbClr val="FFFFFF"/>
                </a:solidFill>
                <a:latin typeface="Calibri Light"/>
              </a:defRPr>
            </a:pPr>
            <a:r>
              <a:t>✔  Host your event 7 June</a:t>
            </a:r>
          </a:p>
        </p:txBody>
      </p:sp>
      <p:sp>
        <p:nvSpPr>
          <p:cNvPr id="20" name="TextBox 19"/>
          <p:cNvSpPr txBox="1"/>
          <p:nvPr/>
        </p:nvSpPr>
        <p:spPr>
          <a:xfrm>
            <a:off x="8366759" y="2834640"/>
            <a:ext cx="3017520" cy="365760"/>
          </a:xfrm>
          <a:prstGeom prst="rect">
            <a:avLst/>
          </a:prstGeom>
          <a:noFill/>
        </p:spPr>
        <p:txBody>
          <a:bodyPr wrap="square"/>
          <a:lstStyle/>
          <a:p>
            <a:pPr algn="l">
              <a:defRPr sz="1400" b="0">
                <a:solidFill>
                  <a:srgbClr val="FFFFFF"/>
                </a:solidFill>
                <a:latin typeface="Calibri Light"/>
              </a:defRPr>
            </a:pPr>
            <a:r>
              <a:t>✔  Share on social media</a:t>
            </a:r>
          </a:p>
        </p:txBody>
      </p:sp>
      <p:sp>
        <p:nvSpPr>
          <p:cNvPr id="21" name="TextBox 20"/>
          <p:cNvSpPr txBox="1"/>
          <p:nvPr/>
        </p:nvSpPr>
        <p:spPr>
          <a:xfrm>
            <a:off x="8366759" y="3246120"/>
            <a:ext cx="3017520" cy="365760"/>
          </a:xfrm>
          <a:prstGeom prst="rect">
            <a:avLst/>
          </a:prstGeom>
          <a:noFill/>
        </p:spPr>
        <p:txBody>
          <a:bodyPr wrap="square"/>
          <a:lstStyle/>
          <a:p>
            <a:pPr algn="l">
              <a:defRPr sz="1400" b="0">
                <a:solidFill>
                  <a:srgbClr val="FFFFFF"/>
                </a:solidFill>
                <a:latin typeface="Calibri Light"/>
              </a:defRPr>
            </a:pPr>
            <a:r>
              <a:t>✔  #WorldFoodSafetyDay</a:t>
            </a:r>
          </a:p>
        </p:txBody>
      </p:sp>
      <p:sp>
        <p:nvSpPr>
          <p:cNvPr id="22" name="TextBox 21"/>
          <p:cNvSpPr txBox="1"/>
          <p:nvPr/>
        </p:nvSpPr>
        <p:spPr>
          <a:xfrm>
            <a:off x="8366759" y="3657600"/>
            <a:ext cx="3017520" cy="365760"/>
          </a:xfrm>
          <a:prstGeom prst="rect">
            <a:avLst/>
          </a:prstGeom>
          <a:noFill/>
        </p:spPr>
        <p:txBody>
          <a:bodyPr wrap="square"/>
          <a:lstStyle/>
          <a:p>
            <a:pPr algn="l">
              <a:defRPr sz="1400" b="0">
                <a:solidFill>
                  <a:srgbClr val="FFFFFF"/>
                </a:solidFill>
                <a:latin typeface="Calibri Light"/>
              </a:defRPr>
            </a:pPr>
            <a:r>
              <a:t>✔  Report your impact</a:t>
            </a:r>
          </a:p>
        </p:txBody>
      </p:sp>
      <p:sp>
        <p:nvSpPr>
          <p:cNvPr id="23" name="Rectangle 22"/>
          <p:cNvSpPr/>
          <p:nvPr/>
        </p:nvSpPr>
        <p:spPr>
          <a:xfrm>
            <a:off x="731520" y="4389120"/>
            <a:ext cx="10698480" cy="27432"/>
          </a:xfrm>
          <a:prstGeom prst="rect">
            <a:avLst/>
          </a:prstGeom>
          <a:solidFill>
            <a:srgbClr val="E86A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1520" y="4572000"/>
            <a:ext cx="10515600" cy="1371600"/>
          </a:xfrm>
          <a:prstGeom prst="rect">
            <a:avLst/>
          </a:prstGeom>
          <a:noFill/>
        </p:spPr>
        <p:txBody>
          <a:bodyPr wrap="square"/>
          <a:lstStyle/>
          <a:p>
            <a:pPr algn="l">
              <a:spcAft>
                <a:spcPts val="400"/>
              </a:spcAft>
              <a:defRPr sz="2000" b="1">
                <a:solidFill>
                  <a:srgbClr val="FFFFFF"/>
                </a:solidFill>
                <a:latin typeface="Calibri"/>
              </a:defRPr>
            </a:pPr>
            <a:r>
              <a:t>Join the global movement on 7 June 2024</a:t>
            </a:r>
          </a:p>
          <a:p>
            <a:pPr algn="l">
              <a:spcAft>
                <a:spcPts val="400"/>
              </a:spcAft>
              <a:defRPr sz="600" b="0">
                <a:solidFill>
                  <a:srgbClr val="FFFFFF"/>
                </a:solidFill>
                <a:latin typeface="Calibri"/>
              </a:defRPr>
            </a:pPr>
          </a:p>
          <a:p>
            <a:pPr algn="l">
              <a:spcAft>
                <a:spcPts val="400"/>
              </a:spcAft>
              <a:defRPr sz="1500" b="0">
                <a:solidFill>
                  <a:srgbClr val="FFFFFF"/>
                </a:solidFill>
                <a:latin typeface="Calibri"/>
              </a:defRPr>
            </a:pPr>
            <a:r>
              <a:t>Tag your activities:  #WorldFoodSafetyDay</a:t>
            </a:r>
          </a:p>
          <a:p>
            <a:pPr algn="l">
              <a:spcAft>
                <a:spcPts val="400"/>
              </a:spcAft>
              <a:defRPr sz="400" b="0">
                <a:solidFill>
                  <a:srgbClr val="FFFFFF"/>
                </a:solidFill>
                <a:latin typeface="Calibri"/>
              </a:defRPr>
            </a:pPr>
          </a:p>
          <a:p>
            <a:pPr algn="l">
              <a:spcAft>
                <a:spcPts val="400"/>
              </a:spcAft>
              <a:defRPr sz="1300" b="0">
                <a:solidFill>
                  <a:srgbClr val="FFFFFF"/>
                </a:solidFill>
                <a:latin typeface="Calibri"/>
              </a:defRPr>
            </a:pPr>
            <a:r>
              <a:t>Contact:  FAO — World-Food-Safety-Day@fao.org  |  WHO — Foodsafety@who.int</a:t>
            </a:r>
          </a:p>
        </p:txBody>
      </p:sp>
      <p:sp>
        <p:nvSpPr>
          <p:cNvPr id="25" name="TextBox 24"/>
          <p:cNvSpPr txBox="1"/>
          <p:nvPr/>
        </p:nvSpPr>
        <p:spPr>
          <a:xfrm>
            <a:off x="731520" y="6080760"/>
            <a:ext cx="7315200" cy="365760"/>
          </a:xfrm>
          <a:prstGeom prst="rect">
            <a:avLst/>
          </a:prstGeom>
          <a:noFill/>
        </p:spPr>
        <p:txBody>
          <a:bodyPr wrap="square"/>
          <a:lstStyle/>
          <a:p>
            <a:pPr algn="l">
              <a:defRPr sz="1600" b="1">
                <a:solidFill>
                  <a:srgbClr val="E86A17"/>
                </a:solidFill>
                <a:latin typeface="Calibri Light"/>
              </a:defRPr>
            </a:pPr>
            <a:r>
              <a:t>Food safety is everyone’s business.</a:t>
            </a:r>
          </a:p>
        </p:txBody>
      </p:sp>
      <p:sp>
        <p:nvSpPr>
          <p:cNvPr id="26" name="TextBox 25"/>
          <p:cNvSpPr txBox="1"/>
          <p:nvPr/>
        </p:nvSpPr>
        <p:spPr>
          <a:xfrm>
            <a:off x="731520" y="6400800"/>
            <a:ext cx="7315200" cy="365760"/>
          </a:xfrm>
          <a:prstGeom prst="rect">
            <a:avLst/>
          </a:prstGeom>
          <a:noFill/>
        </p:spPr>
        <p:txBody>
          <a:bodyPr wrap="square"/>
          <a:lstStyle/>
          <a:p>
            <a:pPr algn="l">
              <a:defRPr sz="900" b="0">
                <a:solidFill>
                  <a:srgbClr val="999999"/>
                </a:solidFill>
                <a:latin typeface="Calibri Light"/>
              </a:defRPr>
            </a:pPr>
            <a:r>
              <a:t>Source: FAO/WHO World Food Safety Day 2024 Communication Toolkit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
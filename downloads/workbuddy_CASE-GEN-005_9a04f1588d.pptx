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Calibri Light"/>
              </a:defRPr>
            </a:pPr>
            <a:r>
              <a:t>Lab Reading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∞‑Brush: Controllable Large Image Synthesis</a:t>
            </a:r>
            <a:br/>
            <a:r>
              <a:t>with Diffusion Models in Infinite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Minh-Quan Le*, Alexandros Graikos*, Srikar Yellapragada, Rajarsi Gupta, Joel Saltz, Dimitris Samaras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Stony Brook University  |  ECCV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Core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•  First conditional diffusion model in function space for controllable large-image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•  Novel cross-attention neural operator that enables conditioning at linear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•  Trains on only 0.4% of pixels (65,536) per image while generating at arbitrary resolutions up to 4096×4096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760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•  Outperforms patch-based methods on global structure (CLIP FID) with vastly lower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5B84"/>
                </a:solidFill>
                <a:latin typeface="Calibri"/>
              </a:defRPr>
            </a:pPr>
            <a:r>
              <a:t>Research Problem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5661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B5B84"/>
                </a:solidFill>
                <a:latin typeface="Calibri"/>
              </a:defRPr>
            </a:pPr>
            <a:r>
              <a:t>Limitation 1: Fixed Resolution</a:t>
            </a:r>
          </a:p>
          <a:p>
            <a:pPr>
              <a:spcBef>
                <a:spcPts val="800"/>
              </a:spcBef>
              <a:defRPr sz="1200">
                <a:solidFill>
                  <a:srgbClr val="1A1A2E"/>
                </a:solidFill>
                <a:latin typeface="Calibri Light"/>
              </a:defRPr>
            </a:pPr>
            <a:r>
              <a:t>• SDXL &amp; Matryoshka Diffusion are locked to training resolution (≤1024×1024)</a:t>
            </a:r>
            <a:br/>
            <a:r>
              <a:t>• Quality degrades when generating beyond training resolution</a:t>
            </a:r>
            <a:br/>
            <a:r>
              <a:t>• Computational cost scales quadratically with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05840"/>
            <a:ext cx="3566160" cy="2651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B5B84"/>
                </a:solidFill>
                <a:latin typeface="Calibri"/>
              </a:defRPr>
            </a:pPr>
            <a:r>
              <a:t>Limitation 2: Patch-Based Generation</a:t>
            </a:r>
          </a:p>
          <a:p>
            <a:pPr>
              <a:spcBef>
                <a:spcPts val="800"/>
              </a:spcBef>
              <a:defRPr sz="1200">
                <a:solidFill>
                  <a:srgbClr val="1A1A2E"/>
                </a:solidFill>
                <a:latin typeface="Calibri Light"/>
              </a:defRPr>
            </a:pPr>
            <a:r>
              <a:t>• MultiDiffusion &amp; [10] split large images into patches, then outpaint</a:t>
            </a:r>
            <a:br/>
            <a:r>
              <a:t>• Fails to capture long-range spatial dependencies</a:t>
            </a:r>
            <a:br/>
            <a:r>
              <a:t>• Each patch only sees local conditioning — misses global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05840"/>
            <a:ext cx="3566160" cy="26517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6C00"/>
                </a:solidFill>
                <a:latin typeface="Calibri"/>
              </a:defRPr>
            </a:pPr>
            <a:r>
              <a:t>The Gap: No Conditional Diffusion in Function Space</a:t>
            </a:r>
          </a:p>
          <a:p>
            <a:pPr>
              <a:spcBef>
                <a:spcPts val="800"/>
              </a:spcBef>
              <a:defRPr sz="1200">
                <a:solidFill>
                  <a:srgbClr val="1A1A2E"/>
                </a:solidFill>
                <a:latin typeface="Calibri Light"/>
              </a:defRPr>
            </a:pPr>
            <a:r>
              <a:t>• ∞-Diff [2] generates images as continuous functions (arbitrary resolution)</a:t>
            </a:r>
            <a:br/>
            <a:r>
              <a:t>• But it is unconditional — cannot be guided by label / embedding</a:t>
            </a:r>
            <a:br/>
            <a:r>
              <a:t>• Domain applications (histopathology, satellite) require controllability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Why It Matters: Real-World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Digital Histopathology: TCGA whole-slide images require 4096×4096+ resolution for clinical analysis</a:t>
            </a:r>
            <a:br/>
            <a:r>
              <a:t>Remote Sensing: NAIP satellite imagery demands large-scale, high-detail generation for land-cover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10972800" cy="10972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B5B84"/>
                </a:solidFill>
                <a:latin typeface="Calibri"/>
              </a:defRPr>
            </a:pPr>
            <a:r>
              <a:t>Goal: A conditional diffusion model that synthesizes images at arbitrary resolutions (up to 4096×4096) while respecting global structure, using only subsets of pixels during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5B84"/>
                </a:solidFill>
                <a:latin typeface="Calibri"/>
              </a:defRPr>
            </a:pPr>
            <a:r>
              <a:t>Key Method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566160" cy="2743200"/>
          </a:xfrm>
          <a:prstGeom prst="roundRect">
            <a:avLst/>
          </a:prstGeom>
          <a:solidFill>
            <a:srgbClr val="2B5B84"/>
          </a:solidFill>
          <a:ln w="254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Image as a Function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  <a:latin typeface="Calibri Light"/>
              </a:defRPr>
            </a:pPr>
            <a:r>
              <a:t>Represent images as continuous functions</a:t>
            </a:r>
            <a:br/>
            <a:r>
              <a:t>u: X → ℝ³ in Hilbert space H = L²(X,µ)</a:t>
            </a:r>
            <a:br/>
            <a:r>
              <a:t>Discretize by sampling coordinates x = {x⁽ⁱ⁾}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05840"/>
            <a:ext cx="356616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B5B84"/>
                </a:solidFill>
                <a:latin typeface="Calibri"/>
              </a:defRPr>
            </a:pPr>
            <a:r>
              <a:t>2. Diffusion in Function Space</a:t>
            </a:r>
          </a:p>
          <a:p>
            <a:pPr>
              <a:spcBef>
                <a:spcPts val="1000"/>
              </a:spcBef>
              <a:defRPr sz="1200">
                <a:solidFill>
                  <a:srgbClr val="1A1A2E"/>
                </a:solidFill>
                <a:latin typeface="Calibri Light"/>
              </a:defRPr>
            </a:pPr>
            <a:r>
              <a:t>Forward: u_t = √(1-β_t)·u_{t-1} + √β_t·ξ_t,  ξ_t ∼ N(0,C)</a:t>
            </a:r>
            <a:br/>
            <a:r>
              <a:t>Covariance operator C is trace-class</a:t>
            </a:r>
            <a:br/>
            <a:r>
              <a:t>Reverse: learned via variational approximation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05840"/>
            <a:ext cx="356616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B5B84"/>
                </a:solidFill>
                <a:latin typeface="Calibri"/>
              </a:defRPr>
            </a:pPr>
            <a:r>
              <a:t>3. Conditional Denoising</a:t>
            </a:r>
          </a:p>
          <a:p>
            <a:pPr>
              <a:spcBef>
                <a:spcPts val="1000"/>
              </a:spcBef>
              <a:defRPr sz="1200">
                <a:solidFill>
                  <a:srgbClr val="1A1A2E"/>
                </a:solidFill>
                <a:latin typeface="Calibri Light"/>
              </a:defRPr>
            </a:pPr>
            <a:r>
              <a:t>Novel cross-attention neural operator</a:t>
            </a:r>
            <a:br/>
            <a:r>
              <a:t>enables conditioning e (label/embedding)</a:t>
            </a:r>
            <a:br/>
            <a:r>
              <a:t>in function space at linear complexity O(N d²)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194560"/>
            <a:ext cx="27432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0" y="2194560"/>
            <a:ext cx="27432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Key Innovation: Cross-Attention Neural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The cross-attention neural operator generalizes cross-attention from finite pixel grids to function space.</a:t>
            </a:r>
            <a:br/>
            <a:r>
              <a:t>Instead of O(N²d) vanilla attention, it achieves O(N d²) by reordering the key-value dot-product operations:</a:t>
            </a:r>
            <a:br/>
            <a:br/>
            <a:r>
              <a:t>    z_t = q̃_t + (1/L) Σ_l αᵗ_l q̃_t · [Σ_i (k̃⁽ⁱ⁾_l ⊙ v⁽ⁱ⁾_l)]</a:t>
            </a:r>
            <a:br/>
            <a:br/>
            <a:r>
              <a:t>This enables conditioning directly on sparse, irregularly sampled coordinates — critical for infinite-dimensional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B5B84"/>
                </a:solidFill>
                <a:latin typeface="Calibri"/>
              </a:defRPr>
            </a:pPr>
            <a:r>
              <a:t>Model Pipeline: ∞-Brush Conditional Denoiser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 Light"/>
              </a:defRPr>
            </a:pPr>
            <a:r>
              <a:t>Redrawn from Fig. 2 of the paper — Hierarchical denoiser with Sparse Level and Grid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2011680" cy="82296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B5B84"/>
                </a:solidFill>
                <a:latin typeface="Calibri"/>
              </a:defRPr>
            </a:pPr>
            <a:r>
              <a:t>Timestep</a:t>
            </a:r>
            <a:br/>
            <a:r>
              <a:t>Embedding</a:t>
            </a:r>
            <a:br/>
            <a:r>
              <a:t>t ∈ ℝᵈ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005840"/>
            <a:ext cx="2011680" cy="82296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B5B84"/>
                </a:solidFill>
                <a:latin typeface="Calibri"/>
              </a:defRPr>
            </a:pPr>
            <a:r>
              <a:t>Condition</a:t>
            </a:r>
            <a:br/>
            <a:r>
              <a:t>Embedding</a:t>
            </a:r>
            <a:br/>
            <a:r>
              <a:t>e ∈ ℝᵈ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005840"/>
            <a:ext cx="2011680" cy="82296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8745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B5B84"/>
                </a:solidFill>
                <a:latin typeface="Calibri"/>
              </a:defRPr>
            </a:pPr>
            <a:r>
              <a:t>Coordinate</a:t>
            </a:r>
            <a:br/>
            <a:r>
              <a:t>Embedding</a:t>
            </a:r>
            <a:br/>
            <a:r>
              <a:t>c ∈ ℝᴺˣᵈ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331720"/>
            <a:ext cx="1463040" cy="3657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K_t  V_t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1828800"/>
            <a:ext cx="0" cy="50292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2331720"/>
            <a:ext cx="1463040" cy="3657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K_e  V_e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1828800"/>
            <a:ext cx="0" cy="50292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77840" y="2331720"/>
            <a:ext cx="1463040" cy="36576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K_c  V_c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1828800"/>
            <a:ext cx="0" cy="50292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3017520"/>
            <a:ext cx="6126480" cy="146304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B84"/>
                </a:solidFill>
                <a:latin typeface="Calibri"/>
              </a:defRPr>
            </a:pPr>
            <a:r>
              <a:t>Sparse Level (fine-grained details)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Noisy</a:t>
            </a:r>
            <a:br/>
            <a:r>
              <a:t>Function</a:t>
            </a:r>
            <a:br/>
            <a:r>
              <a:t>u ∈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246120"/>
            <a:ext cx="1645920" cy="73152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Sparse Neural</a:t>
            </a:r>
            <a:br/>
            <a:r>
              <a:t>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46120"/>
            <a:ext cx="1645920" cy="7315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Cross-Attention</a:t>
            </a:r>
            <a:br/>
            <a:r>
              <a:t>Neural Operator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3246120"/>
            <a:ext cx="1645920" cy="73152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Self-Attention</a:t>
            </a:r>
            <a:br/>
            <a:r>
              <a:t>Operator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3611880"/>
            <a:ext cx="18288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0" y="3611880"/>
            <a:ext cx="18288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Denoised</a:t>
            </a:r>
            <a:br/>
            <a:r>
              <a:t>Function</a:t>
            </a:r>
            <a:br/>
            <a:r>
              <a:t>s ∈ 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3566160"/>
            <a:ext cx="18288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566160"/>
            <a:ext cx="27432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37360" y="2697480"/>
            <a:ext cx="2468880" cy="54864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23360" y="2697480"/>
            <a:ext cx="182880" cy="54864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206240" y="2697480"/>
            <a:ext cx="2103120" cy="54864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72400" y="3017520"/>
            <a:ext cx="3931920" cy="1463040"/>
          </a:xfrm>
          <a:prstGeom prst="roundRect">
            <a:avLst/>
          </a:prstGeom>
          <a:solidFill>
            <a:srgbClr val="F4E0E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Grid Level (global information)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246120"/>
            <a:ext cx="1188720" cy="411480"/>
          </a:xfrm>
          <a:prstGeom prst="roundRect">
            <a:avLst/>
          </a:prstGeom>
          <a:solidFill>
            <a:srgbClr val="F0C0C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k-NN</a:t>
            </a:r>
            <a:br/>
            <a:r>
              <a:t>Interpolation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246120"/>
            <a:ext cx="1188720" cy="4114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Grid UNO</a:t>
            </a:r>
            <a:br/>
            <a:r>
              <a:t>(w/ Cross-Attn)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0" y="3429000"/>
            <a:ext cx="18288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698480" y="3246120"/>
            <a:ext cx="914400" cy="411480"/>
          </a:xfrm>
          <a:prstGeom prst="roundRect">
            <a:avLst/>
          </a:prstGeom>
          <a:solidFill>
            <a:srgbClr val="F0C0C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Linear</a:t>
            </a:r>
            <a:br/>
            <a:r>
              <a:t>Interp.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515600" y="3429000"/>
            <a:ext cx="18288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8000" y="3566160"/>
            <a:ext cx="91440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223760" y="3977639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B5B84"/>
                </a:solidFill>
                <a:latin typeface="Calibri"/>
              </a:defRPr>
            </a:pPr>
            <a:r>
              <a:t>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3977639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⊕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858000" y="3977639"/>
            <a:ext cx="365760" cy="182881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7498079" y="3977639"/>
            <a:ext cx="274321" cy="182881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144000" y="3977639"/>
            <a:ext cx="457200" cy="182881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241280" y="3977639"/>
            <a:ext cx="91440" cy="182881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B84"/>
                </a:solidFill>
                <a:latin typeface="Calibri"/>
              </a:defRPr>
            </a:pPr>
            <a:r>
              <a:t>Algorithm Overview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074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1. Discretize image function u ∈ H by randomly sampling N = 65,536 coordinates (0.4% of 4096²)</a:t>
            </a:r>
            <a:br/>
            <a:r>
              <a:t>2. Feed coordinates through the hierarchical denoiser: Sparse Level (captures fine details) → Grid Level (aggregates global info)</a:t>
            </a:r>
            <a:br/>
            <a:r>
              <a:t>3. Sparse Level: three successive operators — sparse neural op, cross-attention neural op (with 3 condition sources), self-attention</a:t>
            </a:r>
            <a:br/>
            <a:r>
              <a:t>4. Grid Level: k-NN interpolation to regular grid → UNO (UNet-style neural operator) with vanilla cross-attention at bottleneck</a:t>
            </a:r>
            <a:br/>
            <a:r>
              <a:t>5. Smoothing operator A (truncated Gaussian kernel) applied to approximate rough inputs in function space</a:t>
            </a:r>
            <a:br/>
            <a:r>
              <a:t>6. Training objective: minimize ∥C⁻¹/² (Aξ − ξ_θ(√ᾱₜ Au₀ + √(1−ᾱₜ) Aξ, e, t))∥²_H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5B84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11887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B5B84"/>
                </a:solidFill>
                <a:latin typeface="Calibri"/>
              </a:defRPr>
            </a:pPr>
            <a:r>
              <a:t>CelebA-HQ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 Light"/>
              </a:defRPr>
            </a:pPr>
            <a:r>
              <a:t>1024×1024, 30K face images</a:t>
            </a:r>
            <a:br/>
            <a:r>
              <a:t>Conditioning: blonde / non‑blonde hair attribute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3474720" cy="11887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B5B84"/>
                </a:solidFill>
                <a:latin typeface="Calibri"/>
              </a:defRPr>
            </a:pPr>
            <a:r>
              <a:t>TCGA‑BRCA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 Light"/>
              </a:defRPr>
            </a:pPr>
            <a:r>
              <a:t>Breast cancer histopathology</a:t>
            </a:r>
            <a:br/>
            <a:r>
              <a:t>4096×4096 (1.25×) — 57K patches</a:t>
            </a:r>
            <a:br/>
            <a:r>
              <a:t>1024×1024 (5×) — 976K patches</a:t>
            </a:r>
            <a:br/>
            <a:r>
              <a:t>Conditioning: Quilt‑1M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474720" cy="11887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B5B84"/>
                </a:solidFill>
                <a:latin typeface="Calibri"/>
              </a:defRPr>
            </a:pPr>
            <a:r>
              <a:t>NAIP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 Light"/>
              </a:defRPr>
            </a:pPr>
            <a:r>
              <a:t>Satellite imagery (Chesapeake)</a:t>
            </a:r>
            <a:br/>
            <a:r>
              <a:t>1024×1024 — 35K non‑overlapping patches</a:t>
            </a:r>
            <a:br/>
            <a:r>
              <a:t>Conditioning: DINO ViT‑B/16 SSL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960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 Light"/>
              </a:defRPr>
            </a:pPr>
            <a:r>
              <a:t>Architecture: Sparse Neural Operator + UNO</a:t>
            </a:r>
            <a:br/>
            <a:r>
              <a:t>Pixels per iteration: 256×256 = 65,536 (0.4% of full 4096²)</a:t>
            </a:r>
            <a:br/>
            <a:r>
              <a:t>Optimizer: Adam (lr=5×10⁻⁵, β₁=0.9, β₂=0.99)</a:t>
            </a:r>
            <a:br/>
            <a:r>
              <a:t>EMA rate: 0.995</a:t>
            </a:r>
            <a:br/>
            <a:r>
              <a:t>Batch size: 20 per GPU</a:t>
            </a:r>
            <a:br/>
            <a:r>
              <a:t>Hardware: 4× NVIDIA A100 (40GB)</a:t>
            </a:r>
            <a:br/>
            <a:r>
              <a:t>Inference: DDIM with 50 steps</a:t>
            </a:r>
            <a:br/>
            <a:r>
              <a:t>Training from scratch (no pre-trained init)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 Light"/>
              </a:defRPr>
            </a:pPr>
            <a:r>
              <a:t>CLIP FID: Global structure fidelity</a:t>
            </a:r>
            <a:br/>
            <a:r>
              <a:t>  → Resized generated images vs. real images</a:t>
            </a:r>
            <a:br/>
            <a:r>
              <a:t>  → Metric used: Clean‑FID [25]</a:t>
            </a:r>
            <a:br/>
            <a:br/>
            <a:r>
              <a:t>Crop FID: Fine-detail quality</a:t>
            </a:r>
            <a:br/>
            <a:r>
              <a:t>  → Random 256×256 crops from generated</a:t>
            </a:r>
            <a:br/>
            <a:r>
              <a:t>    and real large images</a:t>
            </a:r>
            <a:br/>
            <a:r>
              <a:t>  → Patch-level distribution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Compared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371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 Light"/>
              </a:defRPr>
            </a:pPr>
            <a:r>
              <a:t>SDXL [Podell et al., 2023]</a:t>
            </a:r>
            <a:br/>
            <a:r>
              <a:t>  → 3.5B params, 1024×1024 native</a:t>
            </a:r>
            <a:br/>
            <a:r>
              <a:t>  → Pre-trained on LAION‑5B</a:t>
            </a:r>
            <a:br/>
            <a:r>
              <a:t>  → Cannot train at 4096×4096</a:t>
            </a:r>
            <a:br/>
            <a:br/>
            <a:r>
              <a:t>Graikos et al. [2023]</a:t>
            </a:r>
            <a:br/>
            <a:r>
              <a:t>  → Patch‑based conditional diffusion</a:t>
            </a:r>
            <a:br/>
            <a:r>
              <a:t>  → 860M params, patch‑by‑patch generation</a:t>
            </a:r>
            <a:br/>
            <a:r>
              <a:t>  → 16 local embeddings for 4096×4096</a:t>
            </a:r>
            <a:br/>
            <a:br/>
            <a:r>
              <a:t>∞‑Diff [Bond‑Taylor et al., 2023]</a:t>
            </a:r>
            <a:br/>
            <a:r>
              <a:t>  → Unconditional function‑space diffusion</a:t>
            </a:r>
            <a:br/>
            <a:r>
              <a:t>  → Used for CelebA‑HQ comparison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Ablation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091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 Light"/>
              </a:defRPr>
            </a:pPr>
            <a:r>
              <a:t>Cross‑Attention Neural Operator vs.</a:t>
            </a:r>
            <a:br/>
            <a:r>
              <a:t>Vanilla Cross‑Attention</a:t>
            </a:r>
            <a:br/>
            <a:r>
              <a:t>  → Evaluated on TCGA‑BRCA 4096×4096</a:t>
            </a:r>
            <a:br/>
            <a:r>
              <a:t>  → Vanilla: conditioning only applied at</a:t>
            </a:r>
            <a:br/>
            <a:r>
              <a:t>    UNet bottleneck on regular grid</a:t>
            </a:r>
            <a:br/>
            <a:r>
              <a:t>  → CA Neural Op: conditioning at both</a:t>
            </a:r>
            <a:br/>
            <a:r>
              <a:t>    sparse and grid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5B84"/>
                </a:solidFill>
                <a:latin typeface="Calibri"/>
              </a:defRPr>
            </a:pPr>
            <a:r>
              <a:t>Main Quantitative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B84"/>
                </a:solidFill>
                <a:latin typeface="Calibri"/>
              </a:defRPr>
            </a:pPr>
            <a:r>
              <a:t>Table 1: CelebA-HQ (1024×1024) — Facial Attribute Generation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5029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55448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Config.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CLIP FID ↓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∞-Diff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Unconditional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9.44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∞-Brush (Ours)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blonde vs. non-blonde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8.38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2103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90D9"/>
                </a:solidFill>
                <a:latin typeface="Calibri Light"/>
              </a:defRPr>
            </a:pPr>
            <a:r>
              <a:t>→ ∞-Brush outperforms unconditional ∞-Diff while enabling attribute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B84"/>
                </a:solidFill>
                <a:latin typeface="Calibri"/>
              </a:defRPr>
            </a:pPr>
            <a:r>
              <a:t>Table 2: TCGA-BRCA (4096×4096) — Controllable Very Large Image Generation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26080"/>
          <a:ext cx="5943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Config.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CLIP FID ↓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Crop FID ↓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Graikos et al. 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976K patches of 1024²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11.30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∞-Brush (Ours)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256² pixels of 57K full images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2.63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14.76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∞-Brush w/o CA Neural 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256² pixels of 57K full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16.28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0690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90D9"/>
                </a:solidFill>
                <a:latin typeface="Calibri Light"/>
              </a:defRPr>
            </a:pPr>
            <a:r>
              <a:t>→ Best CLIP FID (2.63): superior global structure</a:t>
            </a:r>
            <a:br/>
            <a:r>
              <a:t>→ Crop FID slightly worse: trade-off between global and local fidelity</a:t>
            </a:r>
            <a:br/>
            <a:r>
              <a:t>→ Ablation confirms cross-attention neural operator's critical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B84"/>
                </a:solidFill>
                <a:latin typeface="Calibri"/>
              </a:defRPr>
            </a:pPr>
            <a:r>
              <a:t>Table 3: TCGA-BRCA 5× and NAIP (1024×1024)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502920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CLIP FID ↓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Crop FID ↓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SDXL [26]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BRCA 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6.64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6.98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Graikos et al. 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BRCA 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7.43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15.51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∞-Brush (Ours)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BRCA 5×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3.74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17.87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2560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B84"/>
                </a:solidFill>
                <a:latin typeface="Calibri"/>
              </a:defRPr>
            </a:pPr>
            <a:r>
              <a:t>Table 4: Compute Requirements (single A100 40GB)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926080"/>
          <a:ext cx="5760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#Params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 BS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 Epoch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4096 BS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4096 Epoch</a:t>
                      </a:r>
                    </a:p>
                  </a:txBody>
                  <a:tcPr>
                    <a:solidFill>
                      <a:srgbClr val="2B5B8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SDXL [26]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140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infeasible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Graikos 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860M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45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300 hr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∞-Brush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450M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12 hr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12 hr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040880" y="4114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90D9"/>
                </a:solidFill>
                <a:latin typeface="Calibri Light"/>
              </a:defRPr>
            </a:pPr>
            <a:r>
              <a:t>→ ∞-Brush: constant 12 hr/epoch across resolutions</a:t>
            </a:r>
            <a:br/>
            <a:r>
              <a:t>→ 450M params vs. 860M (Graikos) and 3.5B (SDXL)</a:t>
            </a:r>
            <a:br/>
            <a:r>
              <a:t>→ Only method that can generate 4096×4096 in function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029200"/>
            <a:ext cx="4846320" cy="118872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B5B84"/>
                </a:solidFill>
                <a:latin typeface="Calibri"/>
              </a:defRPr>
            </a:pPr>
            <a:r>
              <a:t>Key Findings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 Light"/>
              </a:defRPr>
            </a:pPr>
            <a:r>
              <a:t>• Superior global structure (CLIP FID) across all benchmarks</a:t>
            </a:r>
            <a:br/>
            <a:r>
              <a:t>• Constant compute regardless of resolution</a:t>
            </a:r>
            <a:br/>
            <a:r>
              <a:t>• Trained on only 0.4% of pixels per iteration</a:t>
            </a:r>
            <a:br/>
            <a:r>
              <a:t>• SDXL pre-trained on LAION-5B; ∞-Brush from scratch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5B84"/>
                </a:solidFill>
                <a:latin typeface="Calibri"/>
              </a:defRPr>
            </a:pPr>
            <a:r>
              <a:t>Qualitative Examples &amp; Figure-Based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B84"/>
                </a:solidFill>
                <a:latin typeface="Calibri"/>
              </a:defRPr>
            </a:pPr>
            <a:r>
              <a:t>Fig. 1: Arbitrary-Resolution Generation (Paper Concept)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914400" cy="91440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B5B84"/>
                </a:solidFill>
                <a:latin typeface="Calibri"/>
              </a:defRPr>
            </a:pPr>
            <a:r>
              <a:t>256×256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371600"/>
            <a:ext cx="1280160" cy="128016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B5B84"/>
                </a:solidFill>
                <a:latin typeface="Calibri"/>
              </a:defRPr>
            </a:pPr>
            <a:r>
              <a:t>1024×1024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1645920" cy="164592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2048×2048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2011680" cy="2011680"/>
          </a:xfrm>
          <a:prstGeom prst="roundRect">
            <a:avLst/>
          </a:prstGeom>
          <a:solidFill>
            <a:srgbClr val="2B5B84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4096×4096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∞-Brush samples coordinates from the continuous function</a:t>
            </a:r>
            <a:br/>
            <a:r>
              <a:t>representation, enabling generation at any resolution —</a:t>
            </a:r>
            <a:br/>
            <a:r>
              <a:t>without architectural changes or retraining.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868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B84"/>
                </a:solidFill>
                <a:latin typeface="Calibri"/>
              </a:defRPr>
            </a:pPr>
            <a:r>
              <a:t>Fig. 3: Conditional Generation — Hair Color Attribute (CelebA‑HQ)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2286000" cy="1828800"/>
          </a:xfrm>
          <a:prstGeom prst="roundRect">
            <a:avLst/>
          </a:prstGeom>
          <a:solidFill>
            <a:srgbClr val="FFF0CC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6C00"/>
                </a:solidFill>
                <a:latin typeface="Calibri"/>
              </a:defRPr>
            </a:pPr>
            <a:r>
              <a:t>Blonde Hair</a:t>
            </a:r>
            <a:br/>
            <a:r>
              <a:t>(generated)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371600"/>
            <a:ext cx="2286000" cy="1828800"/>
          </a:xfrm>
          <a:prstGeom prst="roundRect">
            <a:avLst/>
          </a:prstGeom>
          <a:solidFill>
            <a:srgbClr val="E8E0D8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A3A2A"/>
                </a:solidFill>
                <a:latin typeface="Calibri"/>
              </a:defRPr>
            </a:pPr>
            <a:r>
              <a:t>Non-Blond Hair</a:t>
            </a:r>
            <a:br/>
            <a:r>
              <a:t>(generated)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Conditioning: binary attribute label (blond vs. non-blond)</a:t>
            </a:r>
            <a:br/>
            <a:r>
              <a:t>∞-Brush CLIP FID 8.38 vs. unconditional ∞-Diff 9.44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B84"/>
                </a:solidFill>
                <a:latin typeface="Calibri"/>
              </a:defRPr>
            </a:pPr>
            <a:r>
              <a:t>Fig. 4: Very Large 4096×4096 Histopathology Image Generation (TCGA‑BRCA)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2560320" cy="109728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B5B84"/>
                </a:solidFill>
                <a:latin typeface="Calibri"/>
              </a:defRPr>
            </a:pPr>
            <a:r>
              <a:t>Reference</a:t>
            </a:r>
            <a:br/>
            <a:r>
              <a:t>Real Image</a:t>
            </a:r>
            <a:br/>
            <a:r>
              <a:t>(256×256 downsample</a:t>
            </a:r>
            <a:br/>
            <a:r>
              <a:t>→ single embedding vector)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5029200"/>
            <a:ext cx="2560320" cy="109728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∞-Brush</a:t>
            </a:r>
            <a:br/>
            <a:r>
              <a:t>4096×4096</a:t>
            </a:r>
            <a:br/>
            <a:r>
              <a:t>Synthesized Image</a:t>
            </a:r>
            <a:br/>
            <a:r>
              <a:t>(preserves global</a:t>
            </a:r>
            <a:br/>
            <a:r>
              <a:t>structure)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5029200"/>
            <a:ext cx="2560320" cy="109728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2B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∞-Brush</a:t>
            </a:r>
            <a:br/>
            <a:r>
              <a:t>1024×1024</a:t>
            </a:r>
            <a:br/>
            <a:r>
              <a:t>Synthesized Image</a:t>
            </a:r>
            <a:br/>
            <a:r>
              <a:t>(global structure</a:t>
            </a:r>
            <a:br/>
            <a:r>
              <a:t>maintained)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5577840"/>
            <a:ext cx="54864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5577840"/>
            <a:ext cx="54864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6263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Single embedding vector from 256×256 downsample → generates full 4096×4096 while maintaining global tissue structure.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5B84"/>
                </a:solidFill>
                <a:latin typeface="Calibri"/>
              </a:defRPr>
            </a:pPr>
            <a:r>
              <a:t>Limitations &amp; Discussion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Reported Limitations (from Paper §6)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▸ Fine Detail Quality (Crop FID)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Crop FID is consistently worse than patch‑based methods (14.76 vs. 11.30 on 4096²). The model captures global structure well but loses local texture fidelity.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▸ Model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374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450M parameters — roughly half of Graikos et al. [10]'s 860M. Scaling model size is expected to improve performance, as observed in finite‑dimensional diffusion literature.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954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▸ Training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6557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SDXL benefits from pre‑training on LAION‑5B (5B image‑text pairs); [10] uses pre‑trained SD as initialization. No pre‑trained infinite‑dimensional diffusion models exist.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▸ Single Global Embedding for 4096²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074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 Light"/>
              </a:defRPr>
            </a:pPr>
            <a:r>
              <a:t>Unlike patch‑based [10] which uses 16 local embeddings, ∞‑Brush uses one global embedding → may limit local detail generation. Future work: design local neural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B84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25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B84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3258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How can we bridge the local‑detail gap while maintaining the function‑space advantage? Could a hierarchical conditioning scheme (both global + local embeddings) help?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B84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94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The paper uses different conditioning sources (binary label for CelebA, Quilt embeddings for TCGA, DINO for NAIP). How general is the cross‑attention neural operator? Can it handle multi‑modal conditioning?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B84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6323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Training on 0.4% of pixels is efficient but fundamentally lossy. At what sampling rate does the trade‑off between efficiency and fidelity become critical?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B84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931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The covariance operator C is chosen a priori (e.g., squared exponential kernel). Could learning C jointly with the denoiser improve performance as in recent diffusion bridge work?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B84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006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 Light"/>
              </a:defRPr>
            </a:pPr>
            <a:r>
              <a:t>What are the implications of function‑space diffusion for 3D data, video, and other modalities where resolution flexibility is valuable beyond 2D images?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B84"/>
                </a:solidFill>
                <a:latin typeface="Calibri"/>
              </a:defRPr>
            </a:pPr>
            <a:r>
              <a:t>Future Work (from Paper §7)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 Light"/>
              </a:defRPr>
            </a:pPr>
            <a:r>
              <a:t>• Design local neural operators to capture fine details more effectively</a:t>
            </a:r>
            <a:br/>
            <a:r>
              <a:t>• Transfer knowledge from finite‑dimensional pre‑trained diffusion models (e.g., SDXL) for better initialization</a:t>
            </a:r>
            <a:br/>
            <a:r>
              <a:t>• Scale up model size to match finite‑dimensional diffusion capacity trends</a:t>
            </a:r>
            <a:br/>
            <a:r>
              <a:t>• Extend to multi‑modal conditioning (text + embedding + class labels)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029200"/>
            <a:ext cx="5760720" cy="13716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B5B84"/>
                </a:solidFill>
                <a:latin typeface="Calibri"/>
              </a:defRPr>
            </a:pPr>
            <a:r>
              <a:t>Paper &amp; Code</a:t>
            </a:r>
          </a:p>
          <a:p>
            <a:pPr>
              <a:spcBef>
                <a:spcPts val="600"/>
              </a:spcBef>
              <a:defRPr sz="1100">
                <a:solidFill>
                  <a:srgbClr val="1A1A2E"/>
                </a:solidFill>
                <a:latin typeface="Calibri Light"/>
              </a:defRPr>
            </a:pPr>
            <a:r>
              <a:t>∞-Brush: Controllable Large Image Synthesis with Diffusion Models in Infinite Dimensions</a:t>
            </a:r>
            <a:br/>
            <a:r>
              <a:t>Le*, Graikos*, Yellapragada, Gupta, Saltz, Samaras — ECCV 2024</a:t>
            </a:r>
            <a:br/>
            <a:br/>
            <a:r>
              <a:t>Code: github.com/cvlab-stonybrook/infinity-brush</a:t>
            </a:r>
            <a:br/>
            <a:r>
              <a:t>Paper: ECCV 2024 Proceedings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 Ligh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
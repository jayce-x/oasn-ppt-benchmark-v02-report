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7432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F5F7"/>
                </a:solidFill>
                <a:latin typeface="SF Pro Display"/>
              </a:defRPr>
            </a:pPr>
            <a:r>
              <a:t>iPhone 16 Pro &amp; iPhone 16 Pro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537"/>
                </a:solidFill>
                <a:latin typeface="SF Pro Display"/>
              </a:defRPr>
            </a:pPr>
            <a:r>
              <a:t>Powered by A18 Pro. Built for Apple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6"/>
                </a:solidFill>
                <a:latin typeface="SF Pro Display"/>
              </a:defRPr>
            </a:pPr>
            <a:r>
              <a:t>The most advanced iPhone ever — larger displays, Camera Control,</a:t>
            </a:r>
            <a:br/>
            <a:r>
              <a:t>4K120 fps Dolby Vision, a huge leap in battery life, and a</a:t>
            </a:r>
            <a:br/>
            <a:r>
              <a:t>durable titanium design in four stunning finishes.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SF Pro Display"/>
              </a:defRPr>
            </a:pPr>
            <a:r>
              <a:t>CUPERTINO, CALIFORNIA — September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Built for Apple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6"/>
                </a:solidFill>
                <a:latin typeface="SF Pro Display"/>
              </a:defRPr>
            </a:pPr>
            <a:r>
              <a:t>The personal intelligence system that understands your context</a:t>
            </a:r>
            <a:br/>
            <a:r>
              <a:t>while protecting your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146304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7"/>
                </a:solidFill>
                <a:latin typeface="SF Pro Display"/>
              </a:defRPr>
            </a:pPr>
            <a:r>
              <a:t>Writing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Rewrite, proofread, and summarize text nearly everywhere you write.</a:t>
            </a:r>
            <a:br/>
            <a:r>
              <a:t>Adjust tone: friendly, concise, or professional.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029200" cy="146304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7"/>
                </a:solidFill>
                <a:latin typeface="SF Pro Display"/>
              </a:defRPr>
            </a:pPr>
            <a:r>
              <a:t>Siri — Reimagined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New glowing design, richer language understanding, maintains context</a:t>
            </a:r>
            <a:br/>
            <a:r>
              <a:t>across requests, type or speak fluidly, extensive product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286000"/>
            <a:ext cx="5029200" cy="146304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7"/>
                </a:solidFill>
                <a:latin typeface="SF Pro Display"/>
              </a:defRPr>
            </a:pPr>
            <a:r>
              <a:t>Private Cloud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88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Flex computational capacity between on-device and dedicated</a:t>
            </a:r>
            <a:br/>
            <a:r>
              <a:t>Apple silicon servers — an extraordinary step forward for AI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5029200" cy="146304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7"/>
                </a:solidFill>
                <a:latin typeface="SF Pro Display"/>
              </a:defRPr>
            </a:pPr>
            <a:r>
              <a:t>Coming 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Image Playground, Genmoji, onscreen awareness, ChatGPT integration,</a:t>
            </a:r>
            <a:br/>
            <a:r>
              <a:t>Siri personal context &amp; cross-app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SF Pro Display"/>
              </a:defRPr>
            </a:pPr>
            <a:r>
              <a:t>Apple Intelligence: free software update — first features in iOS 18.1 beta, U.S. English initially.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A18 Pro — Industry-Leading Performance &amp;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6"/>
                </a:solidFill>
                <a:latin typeface="SF Pro Display"/>
              </a:defRPr>
            </a:pPr>
            <a:r>
              <a:t>Second-generation 3nm technology. Smaller, faster transistors. Unprecedented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6-Core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Fastest in a smartphone.</a:t>
            </a:r>
            <a:br/>
            <a:r>
              <a:t>Same workload 15% faster</a:t>
            </a:r>
            <a:br/>
            <a:r>
              <a:t>while using 20% less power.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6-Core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060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Up to 20% faster than</a:t>
            </a:r>
            <a:br/>
            <a:r>
              <a:t>previous generation.</a:t>
            </a:r>
            <a:br/>
            <a:r>
              <a:t>HW ray tracing 2x faster.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16-Core Neural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Faster &amp; more efficient.</a:t>
            </a:r>
            <a:br/>
            <a:r>
              <a:t>Powers on-device</a:t>
            </a:r>
            <a:br/>
            <a:r>
              <a:t>Apple Intelligence.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46888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Memory Bandwidth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060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17% increase — highest</a:t>
            </a:r>
            <a:br/>
            <a:r>
              <a:t>ever in iPhone.</a:t>
            </a:r>
            <a:br/>
            <a:r>
              <a:t>Faster Writing Tools &amp;</a:t>
            </a:r>
            <a:br/>
            <a:r>
              <a:t>graphics rendering.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SF Pro Display"/>
              </a:defRPr>
            </a:pPr>
            <a:r>
              <a:t>Next-gen ML accelerators handle high-efficiency computations on the CPU without engaging the Neural Engine.</a:t>
            </a:r>
            <a:br/>
            <a:r>
              <a:t>New ISP &amp; video encoder process 2x the data for faster video encoding and pro workflows.</a:t>
            </a:r>
            <a:br/>
            <a:r>
              <a:t>A18 Pro enables Always-On, ProMotion, faster USB 3 speeds, and ProRes video recording.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Larger Displays. Incredibly Light &amp; Durable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iPhone 16 Pro — 6.3"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6"/>
                </a:solidFill>
                <a:latin typeface="SF Pro Display"/>
              </a:defRPr>
            </a:pPr>
            <a:r>
              <a:t>Super Retina XDR with Always-On &amp; ProMotion</a:t>
            </a:r>
            <a:br/>
            <a:r>
              <a:t>Thinnest borders of any Apple product</a:t>
            </a:r>
            <a:br/>
            <a:r>
              <a:t>Largest Pro display ever at 6.3 inches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02920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37"/>
                </a:solidFill>
                <a:latin typeface="SF Pro Display"/>
              </a:defRPr>
            </a:pPr>
            <a:r>
              <a:t>iPhone 16 Pro Max — 6.9"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6"/>
                </a:solidFill>
                <a:latin typeface="SF Pro Display"/>
              </a:defRPr>
            </a:pPr>
            <a:r>
              <a:t>Largest iPhone display ever</a:t>
            </a:r>
            <a:br/>
            <a:r>
              <a:t>Super Retina XDR with Always-On &amp; ProMotion</a:t>
            </a:r>
            <a:br/>
            <a:r>
              <a:t>Thinnest borders of any Apple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5F7"/>
                </a:solidFill>
                <a:latin typeface="SF Pro Display"/>
              </a:defRPr>
            </a:pPr>
            <a:r>
              <a:t>Design &amp; Durability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Strong, lightweight titanium design — four finishes: black titanium, natural titanium, white titanium, desert titanium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Latest-generation Ceramic Shield — 2x tougher than any smartphone glass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New mechanical architecture — up to 20% better sustained performance via improved heat dissipation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Larger batteries optimized with iOS 18 advanced power management — huge leap in battery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Camera Control — A New Way to Interact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6"/>
                </a:solidFill>
                <a:latin typeface="SF Pro Display"/>
              </a:defRPr>
            </a:pPr>
            <a:r>
              <a:t>Thoughtful hardware + software integration. Quick launch, intuitive control, visual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219456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97FF"/>
                </a:solidFill>
                <a:latin typeface="SF Pro Display"/>
              </a:defRPr>
            </a:pPr>
            <a:r>
              <a:t>Hardware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Tactile switch for click experience</a:t>
            </a:r>
            <a:br/>
            <a:r>
              <a:t>High-precision force sensor for light press</a:t>
            </a:r>
            <a:br/>
            <a:r>
              <a:t>Capacitive sensor for touch interactions</a:t>
            </a:r>
            <a:br/>
            <a:r>
              <a:t>Camera preview for framing 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219456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97FF"/>
                </a:solidFill>
                <a:latin typeface="SF Pro Display"/>
              </a:defRPr>
            </a:pPr>
            <a:r>
              <a:t>Compose &amp;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Slide finger to adjust zoom, exposure, depth of field</a:t>
            </a:r>
            <a:br/>
            <a:r>
              <a:t>Two-stage shutter (coming fall): lock focus &amp; exposure</a:t>
            </a:r>
            <a:br/>
            <a:r>
              <a:t>Third-party app integration (Kino: white balance, focus)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383280" cy="219456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97FF"/>
                </a:solidFill>
                <a:latin typeface="SF Pro Display"/>
              </a:defRPr>
            </a:pPr>
            <a:r>
              <a:t>Visual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Click &amp; hold to identify objects, places</a:t>
            </a:r>
            <a:br/>
            <a:r>
              <a:t>Restaurant hours/ratings, add events from flyers</a:t>
            </a:r>
            <a:br/>
            <a:r>
              <a:t>Dog breed identification, Google search, ChatGPT gateway</a:t>
            </a:r>
            <a:br/>
            <a:r>
              <a:t>Users control data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SF Pro Display"/>
              </a:defRPr>
            </a:pPr>
            <a:r>
              <a:t>Sapphire crystal on cases communicates finger movements to Camera Control.</a:t>
            </a:r>
            <a:br/>
            <a:r>
              <a:t>Third-party tools: users decide when they are used and what information is shared.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Pro Camera — Creativity Unleashed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SF Pro Display"/>
              </a:defRPr>
            </a:pPr>
            <a:r>
              <a:t>48MP Fusion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Quad-pixel sensor reads 2x faster</a:t>
            </a:r>
            <a:br/>
            <a:r>
              <a:t>Zero shutter lag for 48MP ProRAW/HEIF</a:t>
            </a:r>
            <a:br/>
            <a:r>
              <a:t>4K120 fps Dolby Vision — smartphone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SF Pro Display"/>
              </a:defRPr>
            </a:pPr>
            <a:r>
              <a:t>48MP Ultra Wide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Quad-pixel sensor with autofocus</a:t>
            </a:r>
            <a:br/>
            <a:r>
              <a:t>48MP ProRAW &amp; HEIF wide-angle shots</a:t>
            </a:r>
            <a:br/>
            <a:r>
              <a:t>Higher-resolution macro photography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SF Pro Display"/>
              </a:defRPr>
            </a:pPr>
            <a:r>
              <a:t>5x Telephoto (Both Models)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Now on both Pro &amp; Pro Max</a:t>
            </a:r>
            <a:br/>
            <a:r>
              <a:t>Catch the action from farther away</a:t>
            </a:r>
            <a:br/>
            <a:r>
              <a:t>Spatial photos for Apple Vision 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3383280" cy="1828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7"/>
                </a:solidFill>
                <a:latin typeface="SF Pro Display"/>
              </a:defRPr>
            </a:pPr>
            <a:r>
              <a:t>Cinematic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6"/>
                </a:solidFill>
                <a:latin typeface="SF Pro Display"/>
              </a:defRPr>
            </a:pPr>
            <a:r>
              <a:t>4K120 fps Slo-mo or Video mode</a:t>
            </a:r>
            <a:br/>
            <a:r>
              <a:t>Quarter, half, and fifth-speed playback</a:t>
            </a:r>
            <a:br/>
            <a:r>
              <a:t>Frame-by-frame Dolby Vision color grading</a:t>
            </a:r>
            <a:br/>
            <a:r>
              <a:t>ProRes &amp; Log to external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74720"/>
            <a:ext cx="3383280" cy="1828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7"/>
                </a:solidFill>
                <a:latin typeface="SF Pro Display"/>
              </a:defRPr>
            </a:pPr>
            <a:r>
              <a:t>Studio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6"/>
                </a:solidFill>
                <a:latin typeface="SF Pro Display"/>
              </a:defRPr>
            </a:pPr>
            <a:r>
              <a:t>4 studio-quality mics</a:t>
            </a:r>
            <a:br/>
            <a:r>
              <a:t>Spatial Audio for immersive listening</a:t>
            </a:r>
            <a:br/>
            <a:r>
              <a:t>Audio Mix: In-frame, Studio, Cinematic</a:t>
            </a:r>
            <a:br/>
            <a:r>
              <a:t>Wind noise reduction via 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74720"/>
            <a:ext cx="3383280" cy="1828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7"/>
                </a:solidFill>
                <a:latin typeface="SF Pro Display"/>
              </a:defRPr>
            </a:pPr>
            <a:r>
              <a:t>Photographic Styles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6"/>
                </a:solidFill>
                <a:latin typeface="SF Pro Display"/>
              </a:defRPr>
            </a:pPr>
            <a:r>
              <a:t>Next-gen: local color, highlight, shadow</a:t>
            </a:r>
            <a:br/>
            <a:r>
              <a:t>Deeper skin undertone understanding</a:t>
            </a:r>
            <a:br/>
            <a:r>
              <a:t>Live preview, reversible, non-filter</a:t>
            </a:r>
            <a:br/>
            <a:r>
              <a:t>Dramatic B&amp;W &amp; more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SF Pro Display"/>
              </a:defRPr>
            </a:pPr>
            <a:r>
              <a:t>Visual representation: each card maps a camera capability to a real creative workflow — from cinematic filmmaking to studio audio to personalized photography.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A Huge Leap in Battery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  <a:latin typeface="SF Pro Display"/>
              </a:defRPr>
            </a:pPr>
            <a:r>
              <a:t>iPhone 16 Pro Max — the best battery life ever on iPhone.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  <a:latin typeface="SF Pro Display"/>
              </a:defRPr>
            </a:pPr>
            <a:r>
              <a:t>Optimized Larger Batteries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Advanced power management in iOS 18</a:t>
            </a:r>
            <a:br/>
            <a:r>
              <a:t>Larger battery capacity</a:t>
            </a:r>
            <a:br/>
            <a:r>
              <a:t>Optimized for sustained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  <a:latin typeface="SF Pro Display"/>
              </a:defRPr>
            </a:pPr>
            <a:r>
              <a:t>Improved Heat Dissipation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New mechanical architecture</a:t>
            </a:r>
            <a:br/>
            <a:r>
              <a:t>Up to 20% better sustained performance</a:t>
            </a:r>
            <a:br/>
            <a:r>
              <a:t>Efficiency gains from A18 Pro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3832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  <a:latin typeface="SF Pro Display"/>
              </a:defRPr>
            </a:pPr>
            <a:r>
              <a:t>A18 Pro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CPU runs same workload 15% faster</a:t>
            </a:r>
            <a:br/>
            <a:r>
              <a:t>with 20% less power</a:t>
            </a:r>
            <a:br/>
            <a:r>
              <a:t>3nm transistor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5F7"/>
                </a:solidFill>
                <a:latin typeface="SF Pro Display"/>
              </a:defRPr>
            </a:pPr>
            <a:r>
              <a:t>Sustained Performance &amp; Gaming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Game Mode in iOS 18: more consistent frame rates, responsive AirPods &amp; controllers.</a:t>
            </a:r>
            <a:br/>
            <a:r>
              <a:t>HW-accelerated ray tracing up to 2x faster for realistic lighting.</a:t>
            </a:r>
            <a:br/>
            <a:r>
              <a:t>6-core GPU up to 20% faster for stunning gaming visuals.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Design, Durability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537"/>
                </a:solidFill>
                <a:latin typeface="SF Pro Display"/>
              </a:defRPr>
            </a:pPr>
            <a:r>
              <a:t>Design &amp; 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Strong, lightweight titanium design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4 finishes: black titanium, natural titanium, white titanium, desert titanium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Thinnest borders on any Apple product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Ceramic Shield — 2x tougher than any smartphone glass</a:t>
            </a:r>
          </a:p>
          <a:p>
            <a:pPr>
              <a:spcAft>
                <a:spcPts val="600"/>
              </a:spcAft>
              <a:defRPr sz="1500" b="0">
                <a:solidFill>
                  <a:srgbClr val="A1A1A6"/>
                </a:solidFill>
                <a:latin typeface="SF Pro Display"/>
              </a:defRPr>
            </a:pPr>
            <a:r>
              <a:t>New mechanical architecture: better heat dissipation, 20% sustained perf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D158"/>
                </a:solidFill>
                <a:latin typeface="SF Pro Display"/>
              </a:defRPr>
            </a:pPr>
            <a:r>
              <a:t>Better for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Apple 2030: carbon neutral across entire footprint by end of decade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100% renewable electricity for all Apple facilities &amp; data centers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&gt;25% recycled content overall in iPhone 16 Pro lineup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100% recycled aluminum in internal structural frame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80%+ recycled steel across multiple components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Battery: 100% recycled cobalt, &gt;95% recycled lithium (first for iPhone)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Mercury- and PVC-free; entirely fiber-based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SF Pro Display"/>
              </a:defRPr>
            </a:pPr>
            <a:r>
              <a:t>Safety &amp; Connectivity: Messages via satellite (end-to-end encrypted iMessage/SMS outside coverage).</a:t>
            </a:r>
            <a:br/>
            <a:r>
              <a:t>Emergency SOS Live Video shares live feed with dispatchers. Roadside Assistance via satellite expanding beyond U.S.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8288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7"/>
                </a:solidFill>
                <a:latin typeface="SF Pro Display"/>
              </a:defRPr>
            </a:pPr>
            <a:r>
              <a:t>Feature Comparison &amp; Pricing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800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37"/>
                          </a:solidFill>
                          <a:latin typeface="SF Pro Display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37"/>
                          </a:solidFill>
                          <a:latin typeface="SF Pro Display"/>
                        </a:defRPr>
                      </a:pPr>
                      <a:r>
                        <a:t>iPhone 16 Pro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37"/>
                          </a:solidFill>
                          <a:latin typeface="SF Pro Display"/>
                        </a:defRPr>
                      </a:pPr>
                      <a:r>
                        <a:t>iPhone 16 Pro Max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Display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6.3" Super Retina XDR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6.9" Super Retina XDR (largest ever)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Chip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A18 Pro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A18 Pro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Telephoto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5x Telephoto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5x Telephoto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Video Recording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4K120 fps Dolby Vision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4K120 fps Dolby Vision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Battery Life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Huge leap in battery life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Best battery life ever on iPhone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Starting Price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$999 (U.S.)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$1,199 (U.S.)</a:t>
                      </a:r>
                    </a:p>
                  </a:txBody>
                  <a:tcPr>
                    <a:solidFill>
                      <a:srgbClr val="2C2C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  <a:latin typeface="SF Pro Display"/>
                        </a:defRPr>
                      </a:pPr>
                      <a:r>
                        <a:t>Storage Options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128GB / 256GB / 512GB / 1TB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A1A1A6"/>
                          </a:solidFill>
                          <a:latin typeface="SF Pro Display"/>
                        </a:defRPr>
                      </a:pPr>
                      <a:r>
                        <a:t>256GB / 512GB / 1TB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537"/>
                </a:solidFill>
                <a:latin typeface="SF Pro Display"/>
              </a:defRPr>
            </a:pPr>
            <a:r>
              <a:t>Pricing &amp; Pre-Order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iPhone 16 Pro: starts at $999 (U.S.) or $41.62/mo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iPhone 16 Pro Max: starts at $1,199 (U.S.) or $49.95/mo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4 finishes: black, natural, white, desert titanium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Pre-orders begin Friday, September 13, 5 a.m. PDT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Availability begins Friday, September 20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Trade-in: $180–$650 credit (iPhone 12+), up to $1,000 with carrier offer</a:t>
            </a:r>
          </a:p>
          <a:p>
            <a:pPr>
              <a:spcAft>
                <a:spcPts val="600"/>
              </a:spcAft>
              <a:defRPr sz="1400" b="0">
                <a:solidFill>
                  <a:srgbClr val="A1A1A6"/>
                </a:solidFill>
                <a:latin typeface="SF Pro Display"/>
              </a:defRPr>
            </a:pPr>
            <a:r>
              <a:t>3 free months: Apple Music, Arcade, Fitness+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5029200"/>
            <a:ext cx="4114800" cy="1097280"/>
          </a:xfrm>
          <a:prstGeom prst="round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5166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D1D1F"/>
                </a:solidFill>
                <a:latin typeface="SF Pro Display"/>
              </a:defRPr>
            </a:pPr>
            <a:r>
              <a:t>PRE-ORDER SEPTEMBER 13</a:t>
            </a:r>
            <a:br/>
            <a:r>
              <a:t>AVAILABLE SEPTEMBER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
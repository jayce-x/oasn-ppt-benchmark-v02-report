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briefing is based on the FAO and WHO World Food Safety Day 2024 communication toolkit. The central theme is "Food safety: prepare for the unexpected." The audience for this deck is campaign partners who need to turn the toolkit into practical briefings, events, and communication activity.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toolkit grounds the campaign in preventable public-health harm. More than six hundred million people fall ill every year after eating contaminated food, and four hundred twenty thousand die. The campaign message is that safe food supports health, learning, work, and trust across the food chain.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2024 theme focuses on situations where the unexpected intervenes. The toolkit names examples ranging from a power outage at home to food poisoning, product recalls, imported outbreaks, and natural disasters. The common point is that food safety hazards can move quickly across a connected supply chain.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page separates the audiences so partners can brief each group clearly. Governments focus on plans, surveillance, and communication. Food businesses focus on management plans and consumer communication. Consumers need to know how to report and respond, while partners translate the messages into local action.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stakeholder matrix is the working reference page for the briefing. It maps each group to actions from the toolkit and gives partners a short cue for how to present the role. The goal is clear division of responsibility without losing the shared campaign frame.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INFOSAN is included because the toolkit uses it as the formal example of rapid information exchange. It is managed jointly by FAO and WHO and connects food safety authorities across one hundred eighty-nine countries. During food safety events, rapid exchange helps enable risk management measures that prevent illness and save lives.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page turns the key messages into a message house that partners can reuse. The top line is the campaign theme, and the pillars cover preparedness, information exchange, management plans, and shared responsibility. The foundation is accurate, open, timely communication to maintain confidence in the food supply.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toolkit gives partners practical activation routes rather than only slogans. Staff training can reinforce management plans at work. Creative events can make the topic visible locally. Official posters, videos, reports, the asset bank, and the Trello board give partners ready-made material.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rollout plan organizes activity before, during, and after World Food Safety Day. Before 7 June, partners brief stakeholders and prepare assets. On the day, they publish source-supported messages and run activities. Afterward, they document and share photos, links, and event news with organizers.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closing action is simple: plan, prepare, and act. Partners should confirm local owners, adapt the toolkit responsibly, share event evidence, and use the contact points provided in the toolkit. The final line returns to the campaign slogan: food safety is everyone’s business.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bfb621d2e408ea6.jpg"/>
  <Relationship Id="rId3" Type="http://schemas.openxmlformats.org/officeDocument/2006/relationships/image" Target="../media/image_b4e5a46e926dca28.jpg"/>
  <Relationship Id="rId4"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a485473734d115f.jp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78363293d0777c98.jp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fa5466ffbc11cb3.jpg"/>
  <Relationship Id="rId3" Type="http://schemas.openxmlformats.org/officeDocument/2006/relationships/image" Target="../media/image_7c7fa9ee7379334f.jpg"/>
  <Relationship Id="rId4" Type="http://schemas.openxmlformats.org/officeDocument/2006/relationships/image" Target="../media/image_18bb3a34417f40a7.jpg"/>
  <Relationship Id="rId5" Type="http://schemas.openxmlformats.org/officeDocument/2006/relationships/image" Target="../media/image_952343f451e0ece3.jpg"/>
  <Relationship Id="rId6"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5d6b1372aff0585.jp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7" name="Group 7"/>
          <p:cNvGrpSpPr/>
          <p:nvPr/>
        </p:nvGrpSpPr>
        <p:grpSpPr>
          <a:xfrm>
            <a:off x="-647700" y="-285750"/>
            <a:ext cx="12839700" cy="8058150"/>
            <a:chOff x="-647700" y="-285750"/>
            <a:chExt cx="12839700" cy="8058150"/>
          </a:xfrm>
        </p:grpSpPr>
        <p:sp>
          <p:nvSpPr>
            <p:cNvPr id="3" name="Rectangle 3"/>
            <p:cNvSpPr/>
            <p:nvPr/>
          </p:nvSpPr>
          <p:spPr>
            <a:xfrm>
              <a:off x="0" y="0"/>
              <a:ext cx="12192000" cy="6858000"/>
            </a:xfrm>
            <a:prstGeom prst="rect">
              <a:avLst/>
            </a:prstGeom>
            <a:solidFill>
              <a:srgbClr val="F6FAF9"/>
            </a:solidFill>
            <a:ln>
              <a:noFill/>
            </a:ln>
          </p:spPr>
        </p:sp>
        <p:sp>
          <p:nvSpPr>
            <p:cNvPr id="4" name="Rectangle 4"/>
            <p:cNvSpPr/>
            <p:nvPr/>
          </p:nvSpPr>
          <p:spPr>
            <a:xfrm>
              <a:off x="0" y="0"/>
              <a:ext cx="12192000" cy="6858000"/>
            </a:xfrm>
            <a:prstGeom prst="rect">
              <a:avLst/>
            </a:prstGeom>
            <a:solidFill>
              <a:srgbClr val="E6F2EF">
                <a:alpha val="55000"/>
              </a:srgbClr>
            </a:solidFill>
            <a:ln>
              <a:noFill/>
            </a:ln>
          </p:spPr>
        </p:sp>
        <p:sp>
          <p:nvSpPr>
            <p:cNvPr id="5" name="Ellipse 5"/>
            <p:cNvSpPr/>
            <p:nvPr/>
          </p:nvSpPr>
          <p:spPr>
            <a:xfrm>
              <a:off x="9391650" y="-285750"/>
              <a:ext cx="2362200" cy="2362200"/>
            </a:xfrm>
            <a:prstGeom prst="ellipse">
              <a:avLst/>
            </a:prstGeom>
            <a:solidFill>
              <a:srgbClr val="F2B705">
                <a:alpha val="18000"/>
              </a:srgbClr>
            </a:solidFill>
            <a:ln>
              <a:noFill/>
            </a:ln>
          </p:spPr>
        </p:sp>
        <p:sp>
          <p:nvSpPr>
            <p:cNvPr id="6" name="Ellipse 6"/>
            <p:cNvSpPr/>
            <p:nvPr/>
          </p:nvSpPr>
          <p:spPr>
            <a:xfrm>
              <a:off x="-647700" y="4914900"/>
              <a:ext cx="2857500" cy="2857500"/>
            </a:xfrm>
            <a:prstGeom prst="ellipse">
              <a:avLst/>
            </a:prstGeom>
            <a:solidFill>
              <a:srgbClr val="008C7A">
                <a:alpha val="13000"/>
              </a:srgbClr>
            </a:solidFill>
            <a:ln>
              <a:noFill/>
            </a:ln>
          </p:spPr>
        </p:sp>
      </p:grpSp>
      <p:grpSp>
        <p:nvGrpSpPr>
          <p:cNvPr id="10" name="Group 10"/>
          <p:cNvGrpSpPr/>
          <p:nvPr/>
        </p:nvGrpSpPr>
        <p:grpSpPr>
          <a:xfrm>
            <a:off x="596265" y="496252"/>
            <a:ext cx="10119622" cy="213360"/>
            <a:chOff x="596265" y="496252"/>
            <a:chExt cx="10119622" cy="213360"/>
          </a:xfrm>
        </p:grpSpPr>
        <p:sp>
          <p:nvSpPr>
            <p:cNvPr id="8" name="TextBox 8"/>
            <p:cNvSpPr txBox="1"/>
            <p:nvPr/>
          </p:nvSpPr>
          <p:spPr>
            <a:xfrm>
              <a:off x="596265" y="496252"/>
              <a:ext cx="2099629"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WORLD FOOD SAFETY DAY 2024</a:t>
              </a:r>
            </a:p>
          </p:txBody>
        </p:sp>
        <p:sp>
          <p:nvSpPr>
            <p:cNvPr id="9" name="TextBox 9"/>
            <p:cNvSpPr txBox="1"/>
            <p:nvPr/>
          </p:nvSpPr>
          <p:spPr>
            <a:xfrm>
              <a:off x="10255568" y="50434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01 / 10</a:t>
              </a:r>
            </a:p>
          </p:txBody>
        </p:sp>
      </p:grpSp>
      <p:grpSp>
        <p:nvGrpSpPr>
          <p:cNvPr id="18" name="Group 18"/>
          <p:cNvGrpSpPr/>
          <p:nvPr/>
        </p:nvGrpSpPr>
        <p:grpSpPr>
          <a:xfrm>
            <a:off x="558165" y="1314450"/>
            <a:ext cx="5474065" cy="3205162"/>
            <a:chOff x="558165" y="1314450"/>
            <a:chExt cx="5474065" cy="3205162"/>
          </a:xfrm>
        </p:grpSpPr>
        <p:sp>
          <p:nvSpPr>
            <p:cNvPr id="11" name="Rectangle 11"/>
            <p:cNvSpPr/>
            <p:nvPr/>
          </p:nvSpPr>
          <p:spPr>
            <a:xfrm>
              <a:off x="609600" y="1314450"/>
              <a:ext cx="1123950" cy="323850"/>
            </a:xfrm>
            <a:prstGeom prst="roundRect">
              <a:avLst>
                <a:gd name="adj" fmla="val 50000"/>
              </a:avLst>
            </a:prstGeom>
            <a:solidFill>
              <a:srgbClr val="123E4A"/>
            </a:solidFill>
            <a:ln>
              <a:noFill/>
            </a:ln>
          </p:spPr>
        </p:sp>
        <p:sp>
          <p:nvSpPr>
            <p:cNvPr id="12" name="TextBox 12"/>
            <p:cNvSpPr txBox="1"/>
            <p:nvPr/>
          </p:nvSpPr>
          <p:spPr>
            <a:xfrm>
              <a:off x="720170" y="1412081"/>
              <a:ext cx="902809"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7 June 2024</a:t>
              </a:r>
            </a:p>
          </p:txBody>
        </p:sp>
        <p:sp>
          <p:nvSpPr>
            <p:cNvPr id="13" name="TextBox 13"/>
            <p:cNvSpPr txBox="1"/>
            <p:nvPr/>
          </p:nvSpPr>
          <p:spPr>
            <a:xfrm>
              <a:off x="558165" y="1867852"/>
              <a:ext cx="3703770" cy="822960"/>
            </a:xfrm>
            <a:prstGeom prst="rect">
              <a:avLst/>
            </a:prstGeom>
            <a:noFill/>
            <a:ln>
              <a:noFill/>
            </a:ln>
          </p:spPr>
          <p:txBody>
            <a:bodyPr wrap="none" lIns="0" tIns="0" rIns="0" bIns="0" anchor="t" anchorCtr="0">
              <a:spAutoFit/>
            </a:bodyPr>
            <a:lstStyle/>
            <a:p>
              <a:pPr algn="l"/>
              <a:r>
                <a:rPr lang="zh-CN" sz="4050" b="1" dirty="0">
                  <a:solidFill>
                    <a:srgbClr val="123E4A"/>
                  </a:solidFill>
                  <a:latin typeface="Arial"/>
                  <a:ea typeface="Microsoft YaHei"/>
                  <a:cs typeface="Arial"/>
                </a:rPr>
                <a:t>Food safety:</a:t>
              </a:r>
            </a:p>
          </p:txBody>
        </p:sp>
        <p:sp>
          <p:nvSpPr>
            <p:cNvPr id="14" name="TextBox 14"/>
            <p:cNvSpPr txBox="1"/>
            <p:nvPr/>
          </p:nvSpPr>
          <p:spPr>
            <a:xfrm>
              <a:off x="558165" y="2496502"/>
              <a:ext cx="4497669" cy="822960"/>
            </a:xfrm>
            <a:prstGeom prst="rect">
              <a:avLst/>
            </a:prstGeom>
            <a:noFill/>
            <a:ln>
              <a:noFill/>
            </a:ln>
          </p:spPr>
          <p:txBody>
            <a:bodyPr wrap="none" lIns="0" tIns="0" rIns="0" bIns="0" anchor="t" anchorCtr="0">
              <a:spAutoFit/>
            </a:bodyPr>
            <a:lstStyle/>
            <a:p>
              <a:pPr algn="l"/>
              <a:r>
                <a:rPr lang="zh-CN" sz="4050" b="1" dirty="0">
                  <a:solidFill>
                    <a:srgbClr val="123E4A"/>
                  </a:solidFill>
                  <a:latin typeface="Arial"/>
                  <a:ea typeface="Microsoft YaHei"/>
                  <a:cs typeface="Arial"/>
                </a:rPr>
                <a:t>prepare for the</a:t>
              </a:r>
            </a:p>
          </p:txBody>
        </p:sp>
        <p:sp>
          <p:nvSpPr>
            <p:cNvPr id="15" name="TextBox 15"/>
            <p:cNvSpPr txBox="1"/>
            <p:nvPr/>
          </p:nvSpPr>
          <p:spPr>
            <a:xfrm>
              <a:off x="558165" y="3125152"/>
              <a:ext cx="3221760" cy="822960"/>
            </a:xfrm>
            <a:prstGeom prst="rect">
              <a:avLst/>
            </a:prstGeom>
            <a:noFill/>
            <a:ln>
              <a:noFill/>
            </a:ln>
          </p:spPr>
          <p:txBody>
            <a:bodyPr wrap="none" lIns="0" tIns="0" rIns="0" bIns="0" anchor="t" anchorCtr="0">
              <a:spAutoFit/>
            </a:bodyPr>
            <a:lstStyle/>
            <a:p>
              <a:pPr algn="l"/>
              <a:r>
                <a:rPr lang="zh-CN" sz="4050" b="1" dirty="0">
                  <a:solidFill>
                    <a:srgbClr val="008C7A"/>
                  </a:solidFill>
                  <a:latin typeface="Arial"/>
                  <a:ea typeface="Microsoft YaHei"/>
                  <a:cs typeface="Arial"/>
                </a:rPr>
                <a:t>unexpected</a:t>
              </a:r>
            </a:p>
          </p:txBody>
        </p:sp>
        <p:sp>
          <p:nvSpPr>
            <p:cNvPr id="16" name="TextBox 16"/>
            <p:cNvSpPr txBox="1"/>
            <p:nvPr/>
          </p:nvSpPr>
          <p:spPr>
            <a:xfrm>
              <a:off x="588645" y="3879532"/>
              <a:ext cx="5443585"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Arial"/>
                  <a:ea typeface="Microsoft YaHei"/>
                  <a:cs typeface="Arial"/>
                </a:rPr>
                <a:t>Campaign briefing for government, food business,</a:t>
              </a:r>
            </a:p>
          </p:txBody>
        </p:sp>
        <p:sp>
          <p:nvSpPr>
            <p:cNvPr id="17" name="TextBox 17"/>
            <p:cNvSpPr txBox="1"/>
            <p:nvPr/>
          </p:nvSpPr>
          <p:spPr>
            <a:xfrm>
              <a:off x="588645" y="4184332"/>
              <a:ext cx="2033159" cy="335280"/>
            </a:xfrm>
            <a:prstGeom prst="rect">
              <a:avLst/>
            </a:prstGeom>
            <a:noFill/>
            <a:ln>
              <a:noFill/>
            </a:ln>
          </p:spPr>
          <p:txBody>
            <a:bodyPr wrap="none" lIns="0" tIns="0" rIns="0" bIns="0" anchor="t" anchorCtr="0">
              <a:spAutoFit/>
            </a:bodyPr>
            <a:lstStyle/>
            <a:p>
              <a:pPr algn="l"/>
              <a:r>
                <a:rPr lang="zh-CN" sz="1650" dirty="0">
                  <a:solidFill>
                    <a:srgbClr val="1F2933"/>
                  </a:solidFill>
                  <a:latin typeface="Arial"/>
                  <a:ea typeface="Microsoft YaHei"/>
                  <a:cs typeface="Arial"/>
                </a:rPr>
                <a:t>and NGO partners.</a:t>
              </a:r>
            </a:p>
          </p:txBody>
        </p:sp>
      </p:grpSp>
      <p:grpSp>
        <p:nvGrpSpPr>
          <p:cNvPr id="23" name="Group 23"/>
          <p:cNvGrpSpPr/>
          <p:nvPr/>
        </p:nvGrpSpPr>
        <p:grpSpPr>
          <a:xfrm>
            <a:off x="609600" y="5067300"/>
            <a:ext cx="6808089" cy="819150"/>
            <a:chOff x="609600" y="5067300"/>
            <a:chExt cx="6808089" cy="819150"/>
          </a:xfrm>
        </p:grpSpPr>
        <p:sp>
          <p:nvSpPr>
            <p:cNvPr id="19" name="Rectangle 19"/>
            <p:cNvSpPr/>
            <p:nvPr/>
          </p:nvSpPr>
          <p:spPr>
            <a:xfrm>
              <a:off x="609600" y="5067300"/>
              <a:ext cx="5219700" cy="819150"/>
            </a:xfrm>
            <a:prstGeom prst="roundRect">
              <a:avLst>
                <a:gd name="adj" fmla="val 23256"/>
              </a:avLst>
            </a:prstGeom>
            <a:solidFill>
              <a:srgbClr val="FFFFFF"/>
            </a:solidFill>
            <a:ln w="19050">
              <a:solidFill>
                <a:srgbClr val="C9D9D5"/>
              </a:solidFill>
            </a:ln>
          </p:spPr>
        </p:sp>
        <p:sp>
          <p:nvSpPr>
            <p:cNvPr id="20" name="Freeform 20"/>
            <p:cNvSpPr/>
            <p:nvPr/>
          </p:nvSpPr>
          <p:spPr>
            <a:xfrm>
              <a:off x="916781" y="5276850"/>
              <a:ext cx="300038" cy="342900"/>
            </a:xfrm>
            <a:custGeom>
              <a:avLst/>
              <a:gdLst/>
              <a:ahLst/>
              <a:cxnLst/>
              <a:rect l="l" t="t" r="r" b="b"/>
              <a:pathLst>
                <a:path w="300038" h="342900">
                  <a:moveTo>
                    <a:pt x="150019" y="342900"/>
                  </a:moveTo>
                  <a:lnTo>
                    <a:pt x="71797" y="287027"/>
                  </a:lnTo>
                  <a:cubicBezTo>
                    <a:pt x="26740" y="254843"/>
                    <a:pt x="0" y="202883"/>
                    <a:pt x="0" y="147513"/>
                  </a:cubicBezTo>
                  <a:lnTo>
                    <a:pt x="0" y="64294"/>
                  </a:lnTo>
                  <a:lnTo>
                    <a:pt x="150019" y="0"/>
                  </a:lnTo>
                  <a:lnTo>
                    <a:pt x="300038" y="64294"/>
                  </a:lnTo>
                  <a:lnTo>
                    <a:pt x="300038" y="147513"/>
                  </a:lnTo>
                  <a:cubicBezTo>
                    <a:pt x="300038" y="202883"/>
                    <a:pt x="273298" y="254843"/>
                    <a:pt x="228241" y="287027"/>
                  </a:cubicBezTo>
                  <a:lnTo>
                    <a:pt x="150019" y="342900"/>
                  </a:lnTo>
                  <a:close/>
                  <a:moveTo>
                    <a:pt x="240182" y="122311"/>
                  </a:moveTo>
                  <a:lnTo>
                    <a:pt x="209874" y="92002"/>
                  </a:lnTo>
                  <a:lnTo>
                    <a:pt x="128588" y="173289"/>
                  </a:lnTo>
                  <a:lnTo>
                    <a:pt x="90164" y="134864"/>
                  </a:lnTo>
                  <a:lnTo>
                    <a:pt x="59855" y="165173"/>
                  </a:lnTo>
                  <a:lnTo>
                    <a:pt x="128588" y="233905"/>
                  </a:lnTo>
                  <a:lnTo>
                    <a:pt x="240182" y="122311"/>
                  </a:lnTo>
                  <a:close/>
                </a:path>
              </a:pathLst>
            </a:custGeom>
            <a:solidFill>
              <a:srgbClr val="008C7A"/>
            </a:solidFill>
            <a:ln>
              <a:noFill/>
            </a:ln>
          </p:spPr>
        </p:sp>
        <p:sp>
          <p:nvSpPr>
            <p:cNvPr id="21" name="TextBox 21"/>
            <p:cNvSpPr txBox="1"/>
            <p:nvPr/>
          </p:nvSpPr>
          <p:spPr>
            <a:xfrm>
              <a:off x="1392555" y="5264468"/>
              <a:ext cx="3068119" cy="274320"/>
            </a:xfrm>
            <a:prstGeom prst="rect">
              <a:avLst/>
            </a:prstGeom>
            <a:noFill/>
            <a:ln>
              <a:noFill/>
            </a:ln>
          </p:spPr>
          <p:txBody>
            <a:bodyPr wrap="none" lIns="0" tIns="0" rIns="0" bIns="0" anchor="t" anchorCtr="0">
              <a:spAutoFit/>
            </a:bodyPr>
            <a:lstStyle/>
            <a:p>
              <a:pPr algn="l"/>
              <a:r>
                <a:rPr lang="zh-CN" sz="1350" b="1" dirty="0">
                  <a:solidFill>
                    <a:srgbClr val="123E4A"/>
                  </a:solidFill>
                  <a:latin typeface="Arial"/>
                  <a:ea typeface="Microsoft YaHei"/>
                  <a:cs typeface="Arial"/>
                </a:rPr>
                <a:t>FAO / WHO communication toolkit</a:t>
              </a:r>
            </a:p>
          </p:txBody>
        </p:sp>
        <p:sp>
          <p:nvSpPr>
            <p:cNvPr id="22" name="TextBox 22"/>
            <p:cNvSpPr txBox="1"/>
            <p:nvPr/>
          </p:nvSpPr>
          <p:spPr>
            <a:xfrm>
              <a:off x="1394460" y="5566410"/>
              <a:ext cx="6023229" cy="243840"/>
            </a:xfrm>
            <a:prstGeom prst="rect">
              <a:avLst/>
            </a:prstGeom>
            <a:noFill/>
            <a:ln>
              <a:noFill/>
            </a:ln>
          </p:spPr>
          <p:txBody>
            <a:bodyPr wrap="none" lIns="0" tIns="0" rIns="0" bIns="0" anchor="t" anchorCtr="0">
              <a:spAutoFit/>
            </a:bodyPr>
            <a:lstStyle/>
            <a:p>
              <a:pPr algn="l"/>
              <a:r>
                <a:rPr lang="zh-CN" sz="1200" dirty="0">
                  <a:solidFill>
                    <a:srgbClr val="5B6770"/>
                  </a:solidFill>
                  <a:latin typeface="Arial"/>
                  <a:ea typeface="Microsoft YaHei"/>
                  <a:cs typeface="Arial"/>
                </a:rPr>
                <a:t>Public-health tone, source-supported statistics, partner activation focus.</a:t>
              </a:r>
            </a:p>
          </p:txBody>
        </p:sp>
      </p:grpSp>
      <p:grpSp>
        <p:nvGrpSpPr>
          <p:cNvPr id="29" name="Group 29"/>
          <p:cNvGrpSpPr/>
          <p:nvPr/>
        </p:nvGrpSpPr>
        <p:grpSpPr>
          <a:xfrm>
            <a:off x="7067550" y="609600"/>
            <a:ext cx="4000500" cy="5143500"/>
            <a:chOff x="7067550" y="609600"/>
            <a:chExt cx="4000500" cy="5143500"/>
          </a:xfrm>
        </p:grpSpPr>
        <p:sp>
          <p:nvSpPr>
            <p:cNvPr id="24" name="Rectangle 24"/>
            <p:cNvSpPr/>
            <p:nvPr/>
          </p:nvSpPr>
          <p:spPr>
            <a:xfrm>
              <a:off x="7067550" y="609600"/>
              <a:ext cx="4000500" cy="5143500"/>
            </a:xfrm>
            <a:prstGeom prst="roundRect">
              <a:avLst>
                <a:gd name="adj" fmla="val 8095"/>
              </a:avLst>
            </a:prstGeom>
            <a:solidFill>
              <a:srgbClr val="FFFFFF"/>
            </a:solidFill>
            <a:ln w="19050">
              <a:solidFill>
                <a:srgbClr val="C9D9D5"/>
              </a:solidFill>
            </a:ln>
          </p:spPr>
        </p:sp>
        <p:pic>
          <p:nvPicPr>
            <p:cNvPr id="25" name="Image 25"/>
            <p:cNvPicPr>
              <a:picLocks noChangeAspect="1"/>
            </p:cNvPicPr>
            <p:nvPr/>
          </p:nvPicPr>
          <p:blipFill>
            <a:blip r:embed="rId2"/>
            <a:stretch>
              <a:fillRect/>
            </a:stretch>
          </p:blipFill>
          <p:spPr>
            <a:xfrm>
              <a:off x="7239000" y="781050"/>
              <a:ext cx="1790700" cy="4762500"/>
            </a:xfrm>
            <a:prstGeom prst="roundRect">
              <a:avLst>
                <a:gd name="adj" fmla="val 14893"/>
              </a:avLst>
            </a:prstGeom>
          </p:spPr>
        </p:pic>
        <p:pic>
          <p:nvPicPr>
            <p:cNvPr id="26" name="Image 26"/>
            <p:cNvPicPr>
              <a:picLocks noChangeAspect="1"/>
            </p:cNvPicPr>
            <p:nvPr/>
          </p:nvPicPr>
          <p:blipFill>
            <a:blip r:embed="rId3"/>
            <a:stretch>
              <a:fillRect/>
            </a:stretch>
          </p:blipFill>
          <p:spPr>
            <a:xfrm>
              <a:off x="9067800" y="781050"/>
              <a:ext cx="1790700" cy="4762500"/>
            </a:xfrm>
            <a:prstGeom prst="roundRect">
              <a:avLst>
                <a:gd name="adj" fmla="val 14893"/>
              </a:avLst>
            </a:prstGeom>
          </p:spPr>
        </p:pic>
        <p:sp>
          <p:nvSpPr>
            <p:cNvPr id="27" name="Rectangle 27"/>
            <p:cNvSpPr/>
            <p:nvPr/>
          </p:nvSpPr>
          <p:spPr>
            <a:xfrm>
              <a:off x="7581900" y="5048250"/>
              <a:ext cx="2952750" cy="400050"/>
            </a:xfrm>
            <a:prstGeom prst="roundRect">
              <a:avLst>
                <a:gd name="adj" fmla="val 50000"/>
              </a:avLst>
            </a:prstGeom>
            <a:solidFill>
              <a:srgbClr val="123E4A"/>
            </a:solidFill>
            <a:ln>
              <a:noFill/>
            </a:ln>
          </p:spPr>
        </p:sp>
        <p:sp>
          <p:nvSpPr>
            <p:cNvPr id="28" name="TextBox 28"/>
            <p:cNvSpPr txBox="1"/>
            <p:nvPr/>
          </p:nvSpPr>
          <p:spPr>
            <a:xfrm>
              <a:off x="7634186" y="5183981"/>
              <a:ext cx="284817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Campaign assets from source toolkit</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00"/>
                                        <p:tgtEl>
                                          <p:spTgt spid="2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P spid="2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268975"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WHY TAKE ACTION?</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02 / 10</a:t>
              </a:r>
            </a:p>
          </p:txBody>
        </p:sp>
      </p:grpSp>
      <p:grpSp>
        <p:nvGrpSpPr>
          <p:cNvPr id="9" name="Group 9"/>
          <p:cNvGrpSpPr/>
          <p:nvPr/>
        </p:nvGrpSpPr>
        <p:grpSpPr>
          <a:xfrm>
            <a:off x="478155" y="778192"/>
            <a:ext cx="11864314" cy="1007746"/>
            <a:chOff x="478155" y="778192"/>
            <a:chExt cx="11864314" cy="1007746"/>
          </a:xfrm>
        </p:grpSpPr>
        <p:sp>
          <p:nvSpPr>
            <p:cNvPr id="6" name="TextBox 6"/>
            <p:cNvSpPr txBox="1"/>
            <p:nvPr/>
          </p:nvSpPr>
          <p:spPr>
            <a:xfrm>
              <a:off x="478155" y="778192"/>
              <a:ext cx="11864314"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Food safety emergencies affect health, learning, and work.</a:t>
              </a:r>
            </a:p>
          </p:txBody>
        </p:sp>
        <p:sp>
          <p:nvSpPr>
            <p:cNvPr id="7" name="TextBox 7"/>
            <p:cNvSpPr txBox="1"/>
            <p:nvPr/>
          </p:nvSpPr>
          <p:spPr>
            <a:xfrm>
              <a:off x="497205" y="1263968"/>
              <a:ext cx="6164056"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The toolkit frames foodborne illness as preventable when food safety</a:t>
              </a:r>
            </a:p>
          </p:txBody>
        </p:sp>
        <p:sp>
          <p:nvSpPr>
            <p:cNvPr id="8" name="TextBox 8"/>
            <p:cNvSpPr txBox="1"/>
            <p:nvPr/>
          </p:nvSpPr>
          <p:spPr>
            <a:xfrm>
              <a:off x="497205" y="1511618"/>
              <a:ext cx="2653617"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is prioritized along the chain.</a:t>
              </a:r>
            </a:p>
          </p:txBody>
        </p:sp>
      </p:grpSp>
      <p:grpSp>
        <p:nvGrpSpPr>
          <p:cNvPr id="19" name="Group 19"/>
          <p:cNvGrpSpPr/>
          <p:nvPr/>
        </p:nvGrpSpPr>
        <p:grpSpPr>
          <a:xfrm>
            <a:off x="514350" y="1924050"/>
            <a:ext cx="3429000" cy="2038350"/>
            <a:chOff x="514350" y="1924050"/>
            <a:chExt cx="3429000" cy="2038350"/>
          </a:xfrm>
        </p:grpSpPr>
        <p:sp>
          <p:nvSpPr>
            <p:cNvPr id="10" name="Rectangle 10"/>
            <p:cNvSpPr/>
            <p:nvPr/>
          </p:nvSpPr>
          <p:spPr>
            <a:xfrm>
              <a:off x="514350" y="1924050"/>
              <a:ext cx="3429000" cy="2038350"/>
            </a:xfrm>
            <a:prstGeom prst="roundRect">
              <a:avLst>
                <a:gd name="adj" fmla="val 11215"/>
              </a:avLst>
            </a:prstGeom>
            <a:solidFill>
              <a:srgbClr val="FFFFFF"/>
            </a:solidFill>
            <a:ln w="19050">
              <a:solidFill>
                <a:srgbClr val="C9D9D5"/>
              </a:solidFill>
            </a:ln>
          </p:spPr>
        </p:sp>
        <p:grpSp>
          <p:nvGrpSpPr>
            <p:cNvPr id="15" name="Group 15"/>
            <p:cNvGrpSpPr/>
            <p:nvPr/>
          </p:nvGrpSpPr>
          <p:grpSpPr>
            <a:xfrm>
              <a:off x="838200" y="2234803"/>
              <a:ext cx="400050" cy="350044"/>
              <a:chOff x="838200" y="2234803"/>
              <a:chExt cx="400050" cy="350044"/>
            </a:xfrm>
          </p:grpSpPr>
          <p:sp>
            <p:nvSpPr>
              <p:cNvPr id="11" name="Freeform 11"/>
              <p:cNvSpPr/>
              <p:nvPr/>
            </p:nvSpPr>
            <p:spPr>
              <a:xfrm>
                <a:off x="913209" y="2234803"/>
                <a:ext cx="125016" cy="125016"/>
              </a:xfrm>
              <a:custGeom>
                <a:avLst/>
                <a:gdLst/>
                <a:ahLst/>
                <a:cxnLst/>
                <a:rect l="l" t="t" r="r" b="b"/>
                <a:pathLst>
                  <a:path w="125016" h="125016">
                    <a:moveTo>
                      <a:pt x="125016" y="62508"/>
                    </a:moveTo>
                    <a:cubicBezTo>
                      <a:pt x="125016" y="97030"/>
                      <a:pt x="97030" y="125016"/>
                      <a:pt x="62508" y="125016"/>
                    </a:cubicBezTo>
                    <a:cubicBezTo>
                      <a:pt x="27986" y="125016"/>
                      <a:pt x="0" y="97030"/>
                      <a:pt x="0" y="62508"/>
                    </a:cubicBezTo>
                    <a:cubicBezTo>
                      <a:pt x="0" y="27986"/>
                      <a:pt x="27986" y="0"/>
                      <a:pt x="62508" y="0"/>
                    </a:cubicBezTo>
                    <a:cubicBezTo>
                      <a:pt x="97030" y="0"/>
                      <a:pt x="125016" y="27986"/>
                      <a:pt x="125016" y="62508"/>
                    </a:cubicBezTo>
                    <a:close/>
                  </a:path>
                </a:pathLst>
              </a:custGeom>
              <a:solidFill>
                <a:srgbClr val="008C7A"/>
              </a:solidFill>
              <a:ln>
                <a:noFill/>
              </a:ln>
            </p:spPr>
          </p:sp>
          <p:sp>
            <p:nvSpPr>
              <p:cNvPr id="12" name="Freeform 12"/>
              <p:cNvSpPr/>
              <p:nvPr/>
            </p:nvSpPr>
            <p:spPr>
              <a:xfrm>
                <a:off x="838200" y="2409825"/>
                <a:ext cx="200025" cy="175022"/>
              </a:xfrm>
              <a:custGeom>
                <a:avLst/>
                <a:gdLst/>
                <a:ahLst/>
                <a:cxnLst/>
                <a:rect l="l" t="t" r="r" b="b"/>
                <a:pathLst>
                  <a:path w="200025" h="175022">
                    <a:moveTo>
                      <a:pt x="75009" y="0"/>
                    </a:moveTo>
                    <a:cubicBezTo>
                      <a:pt x="33583" y="0"/>
                      <a:pt x="0" y="33583"/>
                      <a:pt x="0" y="75009"/>
                    </a:cubicBezTo>
                    <a:lnTo>
                      <a:pt x="0" y="175022"/>
                    </a:lnTo>
                    <a:lnTo>
                      <a:pt x="200025" y="175022"/>
                    </a:lnTo>
                    <a:lnTo>
                      <a:pt x="200025" y="0"/>
                    </a:lnTo>
                    <a:lnTo>
                      <a:pt x="75009" y="0"/>
                    </a:lnTo>
                    <a:close/>
                  </a:path>
                </a:pathLst>
              </a:custGeom>
              <a:solidFill>
                <a:srgbClr val="008C7A"/>
              </a:solidFill>
              <a:ln>
                <a:noFill/>
              </a:ln>
            </p:spPr>
          </p:sp>
          <p:sp>
            <p:nvSpPr>
              <p:cNvPr id="13" name="Freeform 13"/>
              <p:cNvSpPr/>
              <p:nvPr/>
            </p:nvSpPr>
            <p:spPr>
              <a:xfrm>
                <a:off x="1088231" y="2409825"/>
                <a:ext cx="150019" cy="175022"/>
              </a:xfrm>
              <a:custGeom>
                <a:avLst/>
                <a:gdLst/>
                <a:ahLst/>
                <a:cxnLst/>
                <a:rect l="l" t="t" r="r" b="b"/>
                <a:pathLst>
                  <a:path w="150019" h="175022">
                    <a:moveTo>
                      <a:pt x="75009" y="0"/>
                    </a:moveTo>
                    <a:lnTo>
                      <a:pt x="0" y="0"/>
                    </a:lnTo>
                    <a:lnTo>
                      <a:pt x="0" y="175022"/>
                    </a:lnTo>
                    <a:lnTo>
                      <a:pt x="150019" y="175022"/>
                    </a:lnTo>
                    <a:lnTo>
                      <a:pt x="150019" y="75009"/>
                    </a:lnTo>
                    <a:cubicBezTo>
                      <a:pt x="150019" y="33583"/>
                      <a:pt x="116437" y="0"/>
                      <a:pt x="75009" y="0"/>
                    </a:cubicBezTo>
                    <a:close/>
                  </a:path>
                </a:pathLst>
              </a:custGeom>
              <a:solidFill>
                <a:srgbClr val="008C7A"/>
              </a:solidFill>
              <a:ln>
                <a:noFill/>
              </a:ln>
            </p:spPr>
          </p:sp>
          <p:sp>
            <p:nvSpPr>
              <p:cNvPr id="14" name="Freeform 14"/>
              <p:cNvSpPr/>
              <p:nvPr/>
            </p:nvSpPr>
            <p:spPr>
              <a:xfrm>
                <a:off x="1088231" y="2259806"/>
                <a:ext cx="100012" cy="100012"/>
              </a:xfrm>
              <a:custGeom>
                <a:avLst/>
                <a:gdLst/>
                <a:ahLst/>
                <a:cxnLst/>
                <a:rect l="l" t="t" r="r" b="b"/>
                <a:pathLst>
                  <a:path w="100012" h="100012">
                    <a:moveTo>
                      <a:pt x="50006" y="100012"/>
                    </a:moveTo>
                    <a:cubicBezTo>
                      <a:pt x="77625" y="100012"/>
                      <a:pt x="100012" y="77624"/>
                      <a:pt x="100012" y="50006"/>
                    </a:cubicBezTo>
                    <a:cubicBezTo>
                      <a:pt x="100012" y="22389"/>
                      <a:pt x="77625" y="0"/>
                      <a:pt x="50006" y="0"/>
                    </a:cubicBezTo>
                    <a:cubicBezTo>
                      <a:pt x="22388" y="0"/>
                      <a:pt x="0" y="22389"/>
                      <a:pt x="0" y="50006"/>
                    </a:cubicBezTo>
                    <a:cubicBezTo>
                      <a:pt x="0" y="77624"/>
                      <a:pt x="22388" y="100012"/>
                      <a:pt x="50006" y="100012"/>
                    </a:cubicBezTo>
                    <a:close/>
                  </a:path>
                </a:pathLst>
              </a:custGeom>
              <a:solidFill>
                <a:srgbClr val="008C7A"/>
              </a:solidFill>
              <a:ln>
                <a:noFill/>
              </a:ln>
            </p:spPr>
          </p:sp>
        </p:grpSp>
        <p:sp>
          <p:nvSpPr>
            <p:cNvPr id="16" name="TextBox 16"/>
            <p:cNvSpPr txBox="1"/>
            <p:nvPr/>
          </p:nvSpPr>
          <p:spPr>
            <a:xfrm>
              <a:off x="786765" y="2648902"/>
              <a:ext cx="1775729" cy="822960"/>
            </a:xfrm>
            <a:prstGeom prst="rect">
              <a:avLst/>
            </a:prstGeom>
            <a:noFill/>
            <a:ln>
              <a:noFill/>
            </a:ln>
          </p:spPr>
          <p:txBody>
            <a:bodyPr wrap="none" lIns="0" tIns="0" rIns="0" bIns="0" anchor="t" anchorCtr="0">
              <a:spAutoFit/>
            </a:bodyPr>
            <a:lstStyle/>
            <a:p>
              <a:pPr algn="l"/>
              <a:r>
                <a:rPr lang="zh-CN" sz="4050" b="1" dirty="0">
                  <a:solidFill>
                    <a:srgbClr val="008C7A"/>
                  </a:solidFill>
                  <a:latin typeface="Arial"/>
                  <a:ea typeface="Microsoft YaHei"/>
                  <a:cs typeface="Arial"/>
                </a:rPr>
                <a:t>600M+</a:t>
              </a:r>
            </a:p>
          </p:txBody>
        </p:sp>
        <p:sp>
          <p:nvSpPr>
            <p:cNvPr id="17" name="TextBox 17"/>
            <p:cNvSpPr txBox="1"/>
            <p:nvPr/>
          </p:nvSpPr>
          <p:spPr>
            <a:xfrm>
              <a:off x="819150" y="3286125"/>
              <a:ext cx="2400895" cy="304800"/>
            </a:xfrm>
            <a:prstGeom prst="rect">
              <a:avLst/>
            </a:prstGeom>
            <a:noFill/>
            <a:ln>
              <a:noFill/>
            </a:ln>
          </p:spPr>
          <p:txBody>
            <a:bodyPr wrap="none" lIns="0" tIns="0" rIns="0" bIns="0" anchor="t" anchorCtr="0">
              <a:spAutoFit/>
            </a:bodyPr>
            <a:lstStyle/>
            <a:p>
              <a:pPr algn="l"/>
              <a:r>
                <a:rPr lang="zh-CN" sz="1500" b="1" dirty="0">
                  <a:solidFill>
                    <a:srgbClr val="123E4A"/>
                  </a:solidFill>
                  <a:latin typeface="Arial"/>
                  <a:ea typeface="Microsoft YaHei"/>
                  <a:cs typeface="Arial"/>
                </a:rPr>
                <a:t>people fall ill each year</a:t>
              </a:r>
            </a:p>
          </p:txBody>
        </p:sp>
        <p:sp>
          <p:nvSpPr>
            <p:cNvPr id="18" name="TextBox 18"/>
            <p:cNvSpPr txBox="1"/>
            <p:nvPr/>
          </p:nvSpPr>
          <p:spPr>
            <a:xfrm>
              <a:off x="822960" y="3604260"/>
              <a:ext cx="2590800" cy="243840"/>
            </a:xfrm>
            <a:prstGeom prst="rect">
              <a:avLst/>
            </a:prstGeom>
            <a:noFill/>
            <a:ln>
              <a:noFill/>
            </a:ln>
          </p:spPr>
          <p:txBody>
            <a:bodyPr wrap="none" lIns="0" tIns="0" rIns="0" bIns="0" anchor="t" anchorCtr="0">
              <a:spAutoFit/>
            </a:bodyPr>
            <a:lstStyle/>
            <a:p>
              <a:pPr algn="l"/>
              <a:r>
                <a:rPr lang="zh-CN" sz="1200" dirty="0">
                  <a:solidFill>
                    <a:srgbClr val="5B6770"/>
                  </a:solidFill>
                  <a:latin typeface="Arial"/>
                  <a:ea typeface="Microsoft YaHei"/>
                  <a:cs typeface="Arial"/>
                </a:rPr>
                <a:t>after eating contaminated food.</a:t>
              </a:r>
            </a:p>
          </p:txBody>
        </p:sp>
      </p:grpSp>
      <p:grpSp>
        <p:nvGrpSpPr>
          <p:cNvPr id="25" name="Group 25"/>
          <p:cNvGrpSpPr/>
          <p:nvPr/>
        </p:nvGrpSpPr>
        <p:grpSpPr>
          <a:xfrm>
            <a:off x="4324350" y="1924050"/>
            <a:ext cx="3429000" cy="2038350"/>
            <a:chOff x="4324350" y="1924050"/>
            <a:chExt cx="3429000" cy="2038350"/>
          </a:xfrm>
        </p:grpSpPr>
        <p:sp>
          <p:nvSpPr>
            <p:cNvPr id="20" name="Rectangle 20"/>
            <p:cNvSpPr/>
            <p:nvPr/>
          </p:nvSpPr>
          <p:spPr>
            <a:xfrm>
              <a:off x="4324350" y="1924050"/>
              <a:ext cx="3429000" cy="2038350"/>
            </a:xfrm>
            <a:prstGeom prst="roundRect">
              <a:avLst>
                <a:gd name="adj" fmla="val 11215"/>
              </a:avLst>
            </a:prstGeom>
            <a:solidFill>
              <a:srgbClr val="FFFFFF"/>
            </a:solidFill>
            <a:ln w="19050">
              <a:solidFill>
                <a:srgbClr val="C9D9D5"/>
              </a:solidFill>
            </a:ln>
          </p:spPr>
        </p:sp>
        <p:sp>
          <p:nvSpPr>
            <p:cNvPr id="21" name="Freeform 21"/>
            <p:cNvSpPr/>
            <p:nvPr/>
          </p:nvSpPr>
          <p:spPr>
            <a:xfrm>
              <a:off x="4648200" y="2234803"/>
              <a:ext cx="400050" cy="350044"/>
            </a:xfrm>
            <a:custGeom>
              <a:avLst/>
              <a:gdLst/>
              <a:ahLst/>
              <a:cxnLst/>
              <a:rect l="l" t="t" r="r" b="b"/>
              <a:pathLst>
                <a:path w="400050" h="350044">
                  <a:moveTo>
                    <a:pt x="31070" y="181089"/>
                  </a:moveTo>
                  <a:lnTo>
                    <a:pt x="200025" y="350044"/>
                  </a:lnTo>
                  <a:lnTo>
                    <a:pt x="368981" y="181089"/>
                  </a:lnTo>
                  <a:cubicBezTo>
                    <a:pt x="388874" y="161195"/>
                    <a:pt x="400050" y="134213"/>
                    <a:pt x="400050" y="106079"/>
                  </a:cubicBezTo>
                  <a:lnTo>
                    <a:pt x="400050" y="101321"/>
                  </a:lnTo>
                  <a:cubicBezTo>
                    <a:pt x="400050" y="45363"/>
                    <a:pt x="354687" y="0"/>
                    <a:pt x="298730" y="0"/>
                  </a:cubicBezTo>
                  <a:cubicBezTo>
                    <a:pt x="267948" y="0"/>
                    <a:pt x="238838" y="13991"/>
                    <a:pt x="219610" y="38026"/>
                  </a:cubicBezTo>
                  <a:lnTo>
                    <a:pt x="200025" y="62508"/>
                  </a:lnTo>
                  <a:lnTo>
                    <a:pt x="180440" y="38026"/>
                  </a:lnTo>
                  <a:cubicBezTo>
                    <a:pt x="161212" y="13991"/>
                    <a:pt x="132101" y="0"/>
                    <a:pt x="101321" y="0"/>
                  </a:cubicBezTo>
                  <a:cubicBezTo>
                    <a:pt x="45363" y="0"/>
                    <a:pt x="0" y="45363"/>
                    <a:pt x="0" y="101321"/>
                  </a:cubicBezTo>
                  <a:lnTo>
                    <a:pt x="0" y="106079"/>
                  </a:lnTo>
                  <a:cubicBezTo>
                    <a:pt x="0" y="134213"/>
                    <a:pt x="11176" y="161195"/>
                    <a:pt x="31070" y="181089"/>
                  </a:cubicBezTo>
                  <a:close/>
                </a:path>
              </a:pathLst>
            </a:custGeom>
            <a:solidFill>
              <a:srgbClr val="C2410C"/>
            </a:solidFill>
            <a:ln>
              <a:noFill/>
            </a:ln>
          </p:spPr>
        </p:sp>
        <p:sp>
          <p:nvSpPr>
            <p:cNvPr id="22" name="TextBox 22"/>
            <p:cNvSpPr txBox="1"/>
            <p:nvPr/>
          </p:nvSpPr>
          <p:spPr>
            <a:xfrm>
              <a:off x="4596765" y="2648902"/>
              <a:ext cx="2286093" cy="822960"/>
            </a:xfrm>
            <a:prstGeom prst="rect">
              <a:avLst/>
            </a:prstGeom>
            <a:noFill/>
            <a:ln>
              <a:noFill/>
            </a:ln>
          </p:spPr>
          <p:txBody>
            <a:bodyPr wrap="none" lIns="0" tIns="0" rIns="0" bIns="0" anchor="t" anchorCtr="0">
              <a:spAutoFit/>
            </a:bodyPr>
            <a:lstStyle/>
            <a:p>
              <a:pPr algn="l"/>
              <a:r>
                <a:rPr lang="zh-CN" sz="4050" b="1" dirty="0">
                  <a:solidFill>
                    <a:srgbClr val="C2410C"/>
                  </a:solidFill>
                  <a:latin typeface="Arial"/>
                  <a:ea typeface="Microsoft YaHei"/>
                  <a:cs typeface="Arial"/>
                </a:rPr>
                <a:t>420,000</a:t>
              </a:r>
            </a:p>
          </p:txBody>
        </p:sp>
        <p:sp>
          <p:nvSpPr>
            <p:cNvPr id="23" name="TextBox 23"/>
            <p:cNvSpPr txBox="1"/>
            <p:nvPr/>
          </p:nvSpPr>
          <p:spPr>
            <a:xfrm>
              <a:off x="4629150" y="3286125"/>
              <a:ext cx="1896832" cy="304800"/>
            </a:xfrm>
            <a:prstGeom prst="rect">
              <a:avLst/>
            </a:prstGeom>
            <a:noFill/>
            <a:ln>
              <a:noFill/>
            </a:ln>
          </p:spPr>
          <p:txBody>
            <a:bodyPr wrap="none" lIns="0" tIns="0" rIns="0" bIns="0" anchor="t" anchorCtr="0">
              <a:spAutoFit/>
            </a:bodyPr>
            <a:lstStyle/>
            <a:p>
              <a:pPr algn="l"/>
              <a:r>
                <a:rPr lang="zh-CN" sz="1500" b="1" dirty="0">
                  <a:solidFill>
                    <a:srgbClr val="123E4A"/>
                  </a:solidFill>
                  <a:latin typeface="Arial"/>
                  <a:ea typeface="Microsoft YaHei"/>
                  <a:cs typeface="Arial"/>
                </a:rPr>
                <a:t>deaths every year</a:t>
              </a:r>
            </a:p>
          </p:txBody>
        </p:sp>
        <p:sp>
          <p:nvSpPr>
            <p:cNvPr id="24" name="TextBox 24"/>
            <p:cNvSpPr txBox="1"/>
            <p:nvPr/>
          </p:nvSpPr>
          <p:spPr>
            <a:xfrm>
              <a:off x="4632960" y="3604260"/>
              <a:ext cx="1998726" cy="243840"/>
            </a:xfrm>
            <a:prstGeom prst="rect">
              <a:avLst/>
            </a:prstGeom>
            <a:noFill/>
            <a:ln>
              <a:noFill/>
            </a:ln>
          </p:spPr>
          <p:txBody>
            <a:bodyPr wrap="none" lIns="0" tIns="0" rIns="0" bIns="0" anchor="t" anchorCtr="0">
              <a:spAutoFit/>
            </a:bodyPr>
            <a:lstStyle/>
            <a:p>
              <a:pPr algn="l"/>
              <a:r>
                <a:rPr lang="zh-CN" sz="1200" dirty="0">
                  <a:solidFill>
                    <a:srgbClr val="5B6770"/>
                  </a:solidFill>
                  <a:latin typeface="Arial"/>
                  <a:ea typeface="Microsoft YaHei"/>
                  <a:cs typeface="Arial"/>
                </a:rPr>
                <a:t>from contaminated food.</a:t>
              </a:r>
            </a:p>
          </p:txBody>
        </p:sp>
      </p:grpSp>
      <p:grpSp>
        <p:nvGrpSpPr>
          <p:cNvPr id="28" name="Group 28"/>
          <p:cNvGrpSpPr/>
          <p:nvPr/>
        </p:nvGrpSpPr>
        <p:grpSpPr>
          <a:xfrm>
            <a:off x="8134350" y="1924050"/>
            <a:ext cx="3409950" cy="2038350"/>
            <a:chOff x="8134350" y="1924050"/>
            <a:chExt cx="3409950" cy="2038350"/>
          </a:xfrm>
        </p:grpSpPr>
        <p:sp>
          <p:nvSpPr>
            <p:cNvPr id="26" name="Rectangle 26"/>
            <p:cNvSpPr/>
            <p:nvPr/>
          </p:nvSpPr>
          <p:spPr>
            <a:xfrm>
              <a:off x="8134350" y="1924050"/>
              <a:ext cx="3409950" cy="2038350"/>
            </a:xfrm>
            <a:prstGeom prst="roundRect">
              <a:avLst>
                <a:gd name="adj" fmla="val 11215"/>
              </a:avLst>
            </a:prstGeom>
            <a:solidFill>
              <a:srgbClr val="FFFFFF"/>
            </a:solidFill>
            <a:ln w="19050">
              <a:solidFill>
                <a:srgbClr val="C9D9D5"/>
              </a:solidFill>
            </a:ln>
          </p:spPr>
        </p:sp>
        <p:pic>
          <p:nvPicPr>
            <p:cNvPr id="27" name="Image 27"/>
            <p:cNvPicPr>
              <a:picLocks noChangeAspect="1"/>
            </p:cNvPicPr>
            <p:nvPr/>
          </p:nvPicPr>
          <p:blipFill>
            <a:blip r:embed="rId2"/>
            <a:stretch>
              <a:fillRect/>
            </a:stretch>
          </p:blipFill>
          <p:spPr>
            <a:xfrm>
              <a:off x="8324850" y="2159550"/>
              <a:ext cx="3028950" cy="1567349"/>
            </a:xfrm>
            <a:prstGeom prst="rect">
              <a:avLst/>
            </a:prstGeom>
          </p:spPr>
        </p:pic>
      </p:grpSp>
      <p:grpSp>
        <p:nvGrpSpPr>
          <p:cNvPr id="45" name="Group 45"/>
          <p:cNvGrpSpPr/>
          <p:nvPr/>
        </p:nvGrpSpPr>
        <p:grpSpPr>
          <a:xfrm>
            <a:off x="514350" y="4400550"/>
            <a:ext cx="11029950" cy="1181100"/>
            <a:chOff x="514350" y="4400550"/>
            <a:chExt cx="11029950" cy="1181100"/>
          </a:xfrm>
        </p:grpSpPr>
        <p:sp>
          <p:nvSpPr>
            <p:cNvPr id="29" name="Rectangle 29"/>
            <p:cNvSpPr/>
            <p:nvPr/>
          </p:nvSpPr>
          <p:spPr>
            <a:xfrm>
              <a:off x="514350" y="4400550"/>
              <a:ext cx="11029950" cy="1181100"/>
            </a:xfrm>
            <a:prstGeom prst="roundRect">
              <a:avLst>
                <a:gd name="adj" fmla="val 20968"/>
              </a:avLst>
            </a:prstGeom>
            <a:solidFill>
              <a:srgbClr val="E6F2EF"/>
            </a:solidFill>
            <a:ln w="19050">
              <a:solidFill>
                <a:srgbClr val="C9D9D5"/>
              </a:solidFill>
            </a:ln>
          </p:spPr>
        </p:sp>
        <p:sp>
          <p:nvSpPr>
            <p:cNvPr id="30" name="TextBox 30"/>
            <p:cNvSpPr txBox="1"/>
            <p:nvPr/>
          </p:nvSpPr>
          <p:spPr>
            <a:xfrm>
              <a:off x="816292" y="4614386"/>
              <a:ext cx="3135401" cy="350520"/>
            </a:xfrm>
            <a:prstGeom prst="rect">
              <a:avLst/>
            </a:prstGeom>
            <a:noFill/>
            <a:ln>
              <a:noFill/>
            </a:ln>
          </p:spPr>
          <p:txBody>
            <a:bodyPr wrap="none" lIns="0" tIns="0" rIns="0" bIns="0" anchor="t" anchorCtr="0">
              <a:spAutoFit/>
            </a:bodyPr>
            <a:lstStyle/>
            <a:p>
              <a:pPr algn="l"/>
              <a:r>
                <a:rPr lang="zh-CN" sz="1725" b="1" dirty="0">
                  <a:solidFill>
                    <a:srgbClr val="123E4A"/>
                  </a:solidFill>
                  <a:latin typeface="Arial"/>
                  <a:ea typeface="Microsoft YaHei"/>
                  <a:cs typeface="Arial"/>
                </a:rPr>
                <a:t>Why the campaign matters</a:t>
              </a:r>
            </a:p>
          </p:txBody>
        </p:sp>
        <p:sp>
          <p:nvSpPr>
            <p:cNvPr id="31" name="Rectangle 31"/>
            <p:cNvSpPr/>
            <p:nvPr/>
          </p:nvSpPr>
          <p:spPr>
            <a:xfrm>
              <a:off x="838200" y="5067300"/>
              <a:ext cx="2095500" cy="323850"/>
            </a:xfrm>
            <a:prstGeom prst="roundRect">
              <a:avLst>
                <a:gd name="adj" fmla="val 50000"/>
              </a:avLst>
            </a:prstGeom>
            <a:solidFill>
              <a:srgbClr val="FFFFFF"/>
            </a:solidFill>
            <a:ln>
              <a:noFill/>
            </a:ln>
          </p:spPr>
        </p:sp>
        <p:sp>
          <p:nvSpPr>
            <p:cNvPr id="32" name="TextBox 32"/>
            <p:cNvSpPr txBox="1"/>
            <p:nvPr/>
          </p:nvSpPr>
          <p:spPr>
            <a:xfrm>
              <a:off x="930482" y="5164931"/>
              <a:ext cx="1910935"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safe food enables health</a:t>
              </a:r>
            </a:p>
          </p:txBody>
        </p:sp>
        <p:sp>
          <p:nvSpPr>
            <p:cNvPr id="33" name="Freeform 33"/>
            <p:cNvSpPr/>
            <p:nvPr/>
          </p:nvSpPr>
          <p:spPr>
            <a:xfrm>
              <a:off x="3086100" y="5229225"/>
              <a:ext cx="609600" cy="9525"/>
            </a:xfrm>
            <a:custGeom>
              <a:avLst/>
              <a:gdLst/>
              <a:ahLst/>
              <a:cxnLst/>
              <a:rect l="l" t="t" r="r" b="b"/>
              <a:pathLst>
                <a:path w="609600" h="9525">
                  <a:moveTo>
                    <a:pt x="0" y="0"/>
                  </a:moveTo>
                  <a:lnTo>
                    <a:pt x="609600" y="0"/>
                  </a:lnTo>
                </a:path>
              </a:pathLst>
            </a:custGeom>
            <a:solidFill>
              <a:srgbClr val="000000"/>
            </a:solidFill>
            <a:ln w="38100" cap="rnd">
              <a:solidFill>
                <a:srgbClr val="008C7A"/>
              </a:solidFill>
            </a:ln>
          </p:spPr>
        </p:sp>
        <p:sp>
          <p:nvSpPr>
            <p:cNvPr id="34" name="Polygon 34"/>
            <p:cNvSpPr/>
            <p:nvPr/>
          </p:nvSpPr>
          <p:spPr>
            <a:xfrm>
              <a:off x="3562350" y="5153025"/>
              <a:ext cx="133350" cy="152400"/>
            </a:xfrm>
            <a:custGeom>
              <a:avLst/>
              <a:gdLst/>
              <a:ahLst/>
              <a:cxnLst/>
              <a:rect l="l" t="t" r="r" b="b"/>
              <a:pathLst>
                <a:path w="133350" h="152400">
                  <a:moveTo>
                    <a:pt x="133350" y="76200"/>
                  </a:moveTo>
                  <a:lnTo>
                    <a:pt x="0" y="0"/>
                  </a:lnTo>
                  <a:lnTo>
                    <a:pt x="0" y="152400"/>
                  </a:lnTo>
                  <a:close/>
                </a:path>
              </a:pathLst>
            </a:custGeom>
            <a:solidFill>
              <a:srgbClr val="008C7A"/>
            </a:solidFill>
            <a:ln>
              <a:noFill/>
            </a:ln>
          </p:spPr>
        </p:sp>
        <p:sp>
          <p:nvSpPr>
            <p:cNvPr id="35" name="Rectangle 35"/>
            <p:cNvSpPr/>
            <p:nvPr/>
          </p:nvSpPr>
          <p:spPr>
            <a:xfrm>
              <a:off x="3867150" y="5067300"/>
              <a:ext cx="2038350" cy="323850"/>
            </a:xfrm>
            <a:prstGeom prst="roundRect">
              <a:avLst>
                <a:gd name="adj" fmla="val 50000"/>
              </a:avLst>
            </a:prstGeom>
            <a:solidFill>
              <a:srgbClr val="FFFFFF"/>
            </a:solidFill>
            <a:ln>
              <a:noFill/>
            </a:ln>
          </p:spPr>
        </p:sp>
        <p:sp>
          <p:nvSpPr>
            <p:cNvPr id="36" name="TextBox 36"/>
            <p:cNvSpPr txBox="1"/>
            <p:nvPr/>
          </p:nvSpPr>
          <p:spPr>
            <a:xfrm>
              <a:off x="4045059" y="5164931"/>
              <a:ext cx="1682532"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people learn and work</a:t>
              </a:r>
            </a:p>
          </p:txBody>
        </p:sp>
        <p:sp>
          <p:nvSpPr>
            <p:cNvPr id="37" name="Freeform 37"/>
            <p:cNvSpPr/>
            <p:nvPr/>
          </p:nvSpPr>
          <p:spPr>
            <a:xfrm>
              <a:off x="6057900" y="5229225"/>
              <a:ext cx="609600" cy="9525"/>
            </a:xfrm>
            <a:custGeom>
              <a:avLst/>
              <a:gdLst/>
              <a:ahLst/>
              <a:cxnLst/>
              <a:rect l="l" t="t" r="r" b="b"/>
              <a:pathLst>
                <a:path w="609600" h="9525">
                  <a:moveTo>
                    <a:pt x="0" y="0"/>
                  </a:moveTo>
                  <a:lnTo>
                    <a:pt x="609600" y="0"/>
                  </a:lnTo>
                </a:path>
              </a:pathLst>
            </a:custGeom>
            <a:solidFill>
              <a:srgbClr val="000000"/>
            </a:solidFill>
            <a:ln w="38100" cap="rnd">
              <a:solidFill>
                <a:srgbClr val="008C7A"/>
              </a:solidFill>
            </a:ln>
          </p:spPr>
        </p:sp>
        <p:sp>
          <p:nvSpPr>
            <p:cNvPr id="38" name="Polygon 38"/>
            <p:cNvSpPr/>
            <p:nvPr/>
          </p:nvSpPr>
          <p:spPr>
            <a:xfrm>
              <a:off x="6534150" y="5153025"/>
              <a:ext cx="133350" cy="152400"/>
            </a:xfrm>
            <a:custGeom>
              <a:avLst/>
              <a:gdLst/>
              <a:ahLst/>
              <a:cxnLst/>
              <a:rect l="l" t="t" r="r" b="b"/>
              <a:pathLst>
                <a:path w="133350" h="152400">
                  <a:moveTo>
                    <a:pt x="133350" y="76200"/>
                  </a:moveTo>
                  <a:lnTo>
                    <a:pt x="0" y="0"/>
                  </a:lnTo>
                  <a:lnTo>
                    <a:pt x="0" y="152400"/>
                  </a:lnTo>
                  <a:close/>
                </a:path>
              </a:pathLst>
            </a:custGeom>
            <a:solidFill>
              <a:srgbClr val="008C7A"/>
            </a:solidFill>
            <a:ln>
              <a:noFill/>
            </a:ln>
          </p:spPr>
        </p:sp>
        <p:sp>
          <p:nvSpPr>
            <p:cNvPr id="39" name="Rectangle 39"/>
            <p:cNvSpPr/>
            <p:nvPr/>
          </p:nvSpPr>
          <p:spPr>
            <a:xfrm>
              <a:off x="6838950" y="5067300"/>
              <a:ext cx="2190750" cy="323850"/>
            </a:xfrm>
            <a:prstGeom prst="roundRect">
              <a:avLst>
                <a:gd name="adj" fmla="val 50000"/>
              </a:avLst>
            </a:prstGeom>
            <a:solidFill>
              <a:srgbClr val="FFFFFF"/>
            </a:solidFill>
            <a:ln>
              <a:noFill/>
            </a:ln>
          </p:spPr>
        </p:sp>
        <p:sp>
          <p:nvSpPr>
            <p:cNvPr id="40" name="TextBox 40"/>
            <p:cNvSpPr txBox="1"/>
            <p:nvPr/>
          </p:nvSpPr>
          <p:spPr>
            <a:xfrm>
              <a:off x="6959167" y="5164931"/>
              <a:ext cx="1950315"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food chains stay trusted</a:t>
              </a:r>
            </a:p>
          </p:txBody>
        </p:sp>
        <p:sp>
          <p:nvSpPr>
            <p:cNvPr id="41" name="Freeform 41"/>
            <p:cNvSpPr/>
            <p:nvPr/>
          </p:nvSpPr>
          <p:spPr>
            <a:xfrm>
              <a:off x="9182100" y="5229225"/>
              <a:ext cx="609600" cy="9525"/>
            </a:xfrm>
            <a:custGeom>
              <a:avLst/>
              <a:gdLst/>
              <a:ahLst/>
              <a:cxnLst/>
              <a:rect l="l" t="t" r="r" b="b"/>
              <a:pathLst>
                <a:path w="609600" h="9525">
                  <a:moveTo>
                    <a:pt x="0" y="0"/>
                  </a:moveTo>
                  <a:lnTo>
                    <a:pt x="609600" y="0"/>
                  </a:lnTo>
                </a:path>
              </a:pathLst>
            </a:custGeom>
            <a:solidFill>
              <a:srgbClr val="000000"/>
            </a:solidFill>
            <a:ln w="38100" cap="rnd">
              <a:solidFill>
                <a:srgbClr val="008C7A"/>
              </a:solidFill>
            </a:ln>
          </p:spPr>
        </p:sp>
        <p:sp>
          <p:nvSpPr>
            <p:cNvPr id="42" name="Polygon 42"/>
            <p:cNvSpPr/>
            <p:nvPr/>
          </p:nvSpPr>
          <p:spPr>
            <a:xfrm>
              <a:off x="9658350" y="5153025"/>
              <a:ext cx="133350" cy="152400"/>
            </a:xfrm>
            <a:custGeom>
              <a:avLst/>
              <a:gdLst/>
              <a:ahLst/>
              <a:cxnLst/>
              <a:rect l="l" t="t" r="r" b="b"/>
              <a:pathLst>
                <a:path w="133350" h="152400">
                  <a:moveTo>
                    <a:pt x="133350" y="76200"/>
                  </a:moveTo>
                  <a:lnTo>
                    <a:pt x="0" y="0"/>
                  </a:lnTo>
                  <a:lnTo>
                    <a:pt x="0" y="152400"/>
                  </a:lnTo>
                  <a:close/>
                </a:path>
              </a:pathLst>
            </a:custGeom>
            <a:solidFill>
              <a:srgbClr val="008C7A"/>
            </a:solidFill>
            <a:ln>
              <a:noFill/>
            </a:ln>
          </p:spPr>
        </p:sp>
        <p:sp>
          <p:nvSpPr>
            <p:cNvPr id="43" name="Rectangle 43"/>
            <p:cNvSpPr/>
            <p:nvPr/>
          </p:nvSpPr>
          <p:spPr>
            <a:xfrm>
              <a:off x="9963150" y="5067300"/>
              <a:ext cx="1200150" cy="323850"/>
            </a:xfrm>
            <a:prstGeom prst="roundRect">
              <a:avLst>
                <a:gd name="adj" fmla="val 50000"/>
              </a:avLst>
            </a:prstGeom>
            <a:solidFill>
              <a:srgbClr val="123E4A"/>
            </a:solidFill>
            <a:ln>
              <a:noFill/>
            </a:ln>
          </p:spPr>
        </p:sp>
        <p:sp>
          <p:nvSpPr>
            <p:cNvPr id="44" name="TextBox 44"/>
            <p:cNvSpPr txBox="1"/>
            <p:nvPr/>
          </p:nvSpPr>
          <p:spPr>
            <a:xfrm>
              <a:off x="9977929" y="5164931"/>
              <a:ext cx="117059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prevent illness</a:t>
              </a:r>
            </a:p>
          </p:txBody>
        </p:sp>
      </p:grpSp>
      <p:grpSp>
        <p:nvGrpSpPr>
          <p:cNvPr id="47" name="Group 47"/>
          <p:cNvGrpSpPr/>
          <p:nvPr/>
        </p:nvGrpSpPr>
        <p:grpSpPr>
          <a:xfrm>
            <a:off x="501968" y="6105049"/>
            <a:ext cx="4295799" cy="198120"/>
            <a:chOff x="501968" y="6105049"/>
            <a:chExt cx="4295799" cy="198120"/>
          </a:xfrm>
        </p:grpSpPr>
        <p:sp>
          <p:nvSpPr>
            <p:cNvPr id="46" name="TextBox 46"/>
            <p:cNvSpPr txBox="1"/>
            <p:nvPr/>
          </p:nvSpPr>
          <p:spPr>
            <a:xfrm>
              <a:off x="501968" y="6105049"/>
              <a:ext cx="429579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Arial"/>
                  <a:ea typeface="Microsoft YaHei"/>
                  <a:cs typeface="Arial"/>
                </a:rPr>
                <a:t>Source: World Food Safety Day 2024 communication toolkit, page 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8" presetClass="entr" presetSubtype="0"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diamond(in)">
                                      <p:cBhvr>
                                        <p:cTn id="11" dur="400"/>
                                        <p:tgtEl>
                                          <p:spTgt spid="19"/>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heel(4)">
                                      <p:cBhvr>
                                        <p:cTn id="15" dur="400"/>
                                        <p:tgtEl>
                                          <p:spTgt spid="25"/>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image">
                                      <p:cBhvr>
                                        <p:cTn id="23" dur="400"/>
                                        <p:tgtEl>
                                          <p:spTgt spid="45"/>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5" grpId="0"/>
      <p:bldP spid="28" grpId="0"/>
      <p:bldP spid="45"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099904"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THEME CONTEXT</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03 / 10</a:t>
              </a:r>
            </a:p>
          </p:txBody>
        </p:sp>
      </p:grpSp>
      <p:grpSp>
        <p:nvGrpSpPr>
          <p:cNvPr id="8" name="Group 8"/>
          <p:cNvGrpSpPr/>
          <p:nvPr/>
        </p:nvGrpSpPr>
        <p:grpSpPr>
          <a:xfrm>
            <a:off x="478155" y="778192"/>
            <a:ext cx="9250537" cy="760096"/>
            <a:chOff x="478155" y="778192"/>
            <a:chExt cx="9250537" cy="760096"/>
          </a:xfrm>
        </p:grpSpPr>
        <p:sp>
          <p:nvSpPr>
            <p:cNvPr id="6" name="TextBox 6"/>
            <p:cNvSpPr txBox="1"/>
            <p:nvPr/>
          </p:nvSpPr>
          <p:spPr>
            <a:xfrm>
              <a:off x="478155" y="778192"/>
              <a:ext cx="9250537"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Food safety hazards do not recognize borders.</a:t>
              </a:r>
            </a:p>
          </p:txBody>
        </p:sp>
        <p:sp>
          <p:nvSpPr>
            <p:cNvPr id="7" name="TextBox 7"/>
            <p:cNvSpPr txBox="1"/>
            <p:nvPr/>
          </p:nvSpPr>
          <p:spPr>
            <a:xfrm>
              <a:off x="497205" y="1263968"/>
              <a:ext cx="8801386"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The toolkit frames preparedness around local incidents that can become international emergencies.</a:t>
              </a:r>
            </a:p>
          </p:txBody>
        </p:sp>
      </p:grpSp>
      <p:grpSp>
        <p:nvGrpSpPr>
          <p:cNvPr id="13" name="Group 13"/>
          <p:cNvGrpSpPr/>
          <p:nvPr/>
        </p:nvGrpSpPr>
        <p:grpSpPr>
          <a:xfrm>
            <a:off x="514350" y="1866900"/>
            <a:ext cx="2990850" cy="3714750"/>
            <a:chOff x="514350" y="1866900"/>
            <a:chExt cx="2990850" cy="3714750"/>
          </a:xfrm>
        </p:grpSpPr>
        <p:sp>
          <p:nvSpPr>
            <p:cNvPr id="9" name="Rectangle 9"/>
            <p:cNvSpPr/>
            <p:nvPr/>
          </p:nvSpPr>
          <p:spPr>
            <a:xfrm>
              <a:off x="514350" y="1866900"/>
              <a:ext cx="2990850" cy="3714750"/>
            </a:xfrm>
            <a:prstGeom prst="roundRect">
              <a:avLst>
                <a:gd name="adj" fmla="val 7643"/>
              </a:avLst>
            </a:prstGeom>
            <a:solidFill>
              <a:srgbClr val="FFFFFF"/>
            </a:solidFill>
            <a:ln w="19050">
              <a:solidFill>
                <a:srgbClr val="C9D9D5"/>
              </a:solidFill>
            </a:ln>
          </p:spPr>
        </p:sp>
        <p:pic>
          <p:nvPicPr>
            <p:cNvPr id="10" name="Image 10"/>
            <p:cNvPicPr>
              <a:picLocks noChangeAspect="1"/>
            </p:cNvPicPr>
            <p:nvPr/>
          </p:nvPicPr>
          <p:blipFill>
            <a:blip r:embed="rId2"/>
            <a:stretch>
              <a:fillRect/>
            </a:stretch>
          </p:blipFill>
          <p:spPr>
            <a:xfrm>
              <a:off x="742950" y="2146732"/>
              <a:ext cx="2533650" cy="2602636"/>
            </a:xfrm>
            <a:prstGeom prst="rect">
              <a:avLst/>
            </a:prstGeom>
          </p:spPr>
        </p:pic>
        <p:sp>
          <p:nvSpPr>
            <p:cNvPr id="11" name="Rectangle 11"/>
            <p:cNvSpPr/>
            <p:nvPr/>
          </p:nvSpPr>
          <p:spPr>
            <a:xfrm>
              <a:off x="838200" y="4933950"/>
              <a:ext cx="2247900" cy="400050"/>
            </a:xfrm>
            <a:prstGeom prst="roundRect">
              <a:avLst>
                <a:gd name="adj" fmla="val 50000"/>
              </a:avLst>
            </a:prstGeom>
            <a:solidFill>
              <a:srgbClr val="123E4A"/>
            </a:solidFill>
            <a:ln>
              <a:noFill/>
            </a:ln>
          </p:spPr>
        </p:sp>
        <p:sp>
          <p:nvSpPr>
            <p:cNvPr id="12" name="TextBox 12"/>
            <p:cNvSpPr txBox="1"/>
            <p:nvPr/>
          </p:nvSpPr>
          <p:spPr>
            <a:xfrm>
              <a:off x="1380792" y="5069681"/>
              <a:ext cx="116271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Are you ready?</a:t>
              </a:r>
            </a:p>
          </p:txBody>
        </p:sp>
      </p:grpSp>
      <p:grpSp>
        <p:nvGrpSpPr>
          <p:cNvPr id="51" name="Group 51"/>
          <p:cNvGrpSpPr/>
          <p:nvPr/>
        </p:nvGrpSpPr>
        <p:grpSpPr>
          <a:xfrm>
            <a:off x="3943350" y="1866900"/>
            <a:ext cx="7505700" cy="3714750"/>
            <a:chOff x="3943350" y="1866900"/>
            <a:chExt cx="7505700" cy="3714750"/>
          </a:xfrm>
        </p:grpSpPr>
        <p:sp>
          <p:nvSpPr>
            <p:cNvPr id="14" name="Rectangle 14"/>
            <p:cNvSpPr/>
            <p:nvPr/>
          </p:nvSpPr>
          <p:spPr>
            <a:xfrm>
              <a:off x="3943350" y="1866900"/>
              <a:ext cx="7505700" cy="3714750"/>
            </a:xfrm>
            <a:prstGeom prst="roundRect">
              <a:avLst>
                <a:gd name="adj" fmla="val 6667"/>
              </a:avLst>
            </a:prstGeom>
            <a:solidFill>
              <a:srgbClr val="FFFFFF"/>
            </a:solidFill>
            <a:ln w="19050">
              <a:solidFill>
                <a:srgbClr val="C9D9D5"/>
              </a:solidFill>
            </a:ln>
          </p:spPr>
        </p:sp>
        <p:sp>
          <p:nvSpPr>
            <p:cNvPr id="15" name="TextBox 15"/>
            <p:cNvSpPr txBox="1"/>
            <p:nvPr/>
          </p:nvSpPr>
          <p:spPr>
            <a:xfrm>
              <a:off x="4263390" y="2110740"/>
              <a:ext cx="4380662" cy="365760"/>
            </a:xfrm>
            <a:prstGeom prst="rect">
              <a:avLst/>
            </a:prstGeom>
            <a:noFill/>
            <a:ln>
              <a:noFill/>
            </a:ln>
          </p:spPr>
          <p:txBody>
            <a:bodyPr wrap="none" lIns="0" tIns="0" rIns="0" bIns="0" anchor="t" anchorCtr="0">
              <a:spAutoFit/>
            </a:bodyPr>
            <a:lstStyle/>
            <a:p>
              <a:pPr algn="l"/>
              <a:r>
                <a:rPr lang="zh-CN" sz="1800" b="1" dirty="0">
                  <a:solidFill>
                    <a:srgbClr val="123E4A"/>
                  </a:solidFill>
                  <a:latin typeface="Arial"/>
                  <a:ea typeface="Microsoft YaHei"/>
                  <a:cs typeface="Arial"/>
                </a:rPr>
                <a:t>Incident range named by the toolkit</a:t>
              </a:r>
            </a:p>
          </p:txBody>
        </p:sp>
        <p:grpSp>
          <p:nvGrpSpPr>
            <p:cNvPr id="20" name="Group 20"/>
            <p:cNvGrpSpPr/>
            <p:nvPr/>
          </p:nvGrpSpPr>
          <p:grpSpPr>
            <a:xfrm>
              <a:off x="4311291" y="2876550"/>
              <a:ext cx="1131018" cy="1452562"/>
              <a:chOff x="4311291" y="2876550"/>
              <a:chExt cx="1131018" cy="1452562"/>
            </a:xfrm>
          </p:grpSpPr>
          <p:sp>
            <p:nvSpPr>
              <p:cNvPr id="16" name="Ellipse 16"/>
              <p:cNvSpPr/>
              <p:nvPr/>
            </p:nvSpPr>
            <p:spPr>
              <a:xfrm>
                <a:off x="4476750" y="2876550"/>
                <a:ext cx="800100" cy="800100"/>
              </a:xfrm>
              <a:prstGeom prst="ellipse">
                <a:avLst/>
              </a:prstGeom>
              <a:solidFill>
                <a:srgbClr val="E6F2EF"/>
              </a:solidFill>
              <a:ln w="28575">
                <a:solidFill>
                  <a:srgbClr val="008C7A"/>
                </a:solidFill>
              </a:ln>
            </p:spPr>
          </p:sp>
          <p:sp>
            <p:nvSpPr>
              <p:cNvPr id="17" name="Freeform 17"/>
              <p:cNvSpPr/>
              <p:nvPr/>
            </p:nvSpPr>
            <p:spPr>
              <a:xfrm>
                <a:off x="4733925" y="3086100"/>
                <a:ext cx="285750" cy="381000"/>
              </a:xfrm>
              <a:custGeom>
                <a:avLst/>
                <a:gdLst/>
                <a:ahLst/>
                <a:cxnLst/>
                <a:rect l="l" t="t" r="r" b="b"/>
                <a:pathLst>
                  <a:path w="285750" h="381000">
                    <a:moveTo>
                      <a:pt x="166688" y="166688"/>
                    </a:moveTo>
                    <a:lnTo>
                      <a:pt x="190500" y="0"/>
                    </a:lnTo>
                    <a:lnTo>
                      <a:pt x="142875" y="0"/>
                    </a:lnTo>
                    <a:lnTo>
                      <a:pt x="0" y="166688"/>
                    </a:lnTo>
                    <a:lnTo>
                      <a:pt x="0" y="214312"/>
                    </a:lnTo>
                    <a:lnTo>
                      <a:pt x="119062" y="214312"/>
                    </a:lnTo>
                    <a:lnTo>
                      <a:pt x="95250" y="381000"/>
                    </a:lnTo>
                    <a:lnTo>
                      <a:pt x="142875" y="381000"/>
                    </a:lnTo>
                    <a:lnTo>
                      <a:pt x="285750" y="214312"/>
                    </a:lnTo>
                    <a:lnTo>
                      <a:pt x="285750" y="166688"/>
                    </a:lnTo>
                    <a:lnTo>
                      <a:pt x="166688" y="166688"/>
                    </a:lnTo>
                    <a:close/>
                  </a:path>
                </a:pathLst>
              </a:custGeom>
              <a:solidFill>
                <a:srgbClr val="008C7A"/>
              </a:solidFill>
              <a:ln>
                <a:noFill/>
              </a:ln>
            </p:spPr>
          </p:sp>
          <p:sp>
            <p:nvSpPr>
              <p:cNvPr id="18" name="TextBox 18"/>
              <p:cNvSpPr txBox="1"/>
              <p:nvPr/>
            </p:nvSpPr>
            <p:spPr>
              <a:xfrm>
                <a:off x="4311291" y="3851910"/>
                <a:ext cx="1131018" cy="243840"/>
              </a:xfrm>
              <a:prstGeom prst="rect">
                <a:avLst/>
              </a:prstGeom>
              <a:noFill/>
              <a:ln>
                <a:noFill/>
              </a:ln>
            </p:spPr>
            <p:txBody>
              <a:bodyPr wrap="none" lIns="0" tIns="0" rIns="0" bIns="0" anchor="t" anchorCtr="0">
                <a:spAutoFit/>
              </a:bodyPr>
              <a:lstStyle/>
              <a:p>
                <a:pPr algn="ctr"/>
                <a:r>
                  <a:rPr lang="zh-CN" sz="1200" b="1" dirty="0">
                    <a:solidFill>
                      <a:srgbClr val="1F2933"/>
                    </a:solidFill>
                    <a:latin typeface="Arial"/>
                    <a:ea typeface="Microsoft YaHei"/>
                    <a:cs typeface="Arial"/>
                  </a:rPr>
                  <a:t>Power outage</a:t>
                </a:r>
              </a:p>
            </p:txBody>
          </p:sp>
          <p:sp>
            <p:nvSpPr>
              <p:cNvPr id="19" name="TextBox 19"/>
              <p:cNvSpPr txBox="1"/>
              <p:nvPr/>
            </p:nvSpPr>
            <p:spPr>
              <a:xfrm>
                <a:off x="4597432" y="4115752"/>
                <a:ext cx="558737" cy="213360"/>
              </a:xfrm>
              <a:prstGeom prst="rect">
                <a:avLst/>
              </a:prstGeom>
              <a:noFill/>
              <a:ln>
                <a:noFill/>
              </a:ln>
            </p:spPr>
            <p:txBody>
              <a:bodyPr wrap="none" lIns="0" tIns="0" rIns="0" bIns="0" anchor="t" anchorCtr="0">
                <a:spAutoFit/>
              </a:bodyPr>
              <a:lstStyle/>
              <a:p>
                <a:pPr algn="ctr"/>
                <a:r>
                  <a:rPr lang="zh-CN" sz="1050" dirty="0">
                    <a:solidFill>
                      <a:srgbClr val="5B6770"/>
                    </a:solidFill>
                    <a:latin typeface="Arial"/>
                    <a:ea typeface="Microsoft YaHei"/>
                    <a:cs typeface="Arial"/>
                  </a:rPr>
                  <a:t>at home</a:t>
                </a:r>
              </a:p>
            </p:txBody>
          </p:sp>
        </p:grpSp>
        <p:sp>
          <p:nvSpPr>
            <p:cNvPr id="21" name="Freeform 21"/>
            <p:cNvSpPr/>
            <p:nvPr/>
          </p:nvSpPr>
          <p:spPr>
            <a:xfrm>
              <a:off x="5410200" y="3276600"/>
              <a:ext cx="781050" cy="9525"/>
            </a:xfrm>
            <a:custGeom>
              <a:avLst/>
              <a:gdLst/>
              <a:ahLst/>
              <a:cxnLst/>
              <a:rect l="l" t="t" r="r" b="b"/>
              <a:pathLst>
                <a:path w="781050" h="9525">
                  <a:moveTo>
                    <a:pt x="0" y="0"/>
                  </a:moveTo>
                  <a:lnTo>
                    <a:pt x="781050" y="0"/>
                  </a:lnTo>
                </a:path>
              </a:pathLst>
            </a:custGeom>
            <a:solidFill>
              <a:srgbClr val="000000"/>
            </a:solidFill>
            <a:ln w="38100" cap="rnd">
              <a:solidFill>
                <a:srgbClr val="008C7A"/>
              </a:solidFill>
            </a:ln>
          </p:spPr>
        </p:sp>
        <p:sp>
          <p:nvSpPr>
            <p:cNvPr id="22" name="Polygon 22"/>
            <p:cNvSpPr/>
            <p:nvPr/>
          </p:nvSpPr>
          <p:spPr>
            <a:xfrm>
              <a:off x="6057900" y="3200400"/>
              <a:ext cx="133350" cy="152400"/>
            </a:xfrm>
            <a:custGeom>
              <a:avLst/>
              <a:gdLst/>
              <a:ahLst/>
              <a:cxnLst/>
              <a:rect l="l" t="t" r="r" b="b"/>
              <a:pathLst>
                <a:path w="133350" h="152400">
                  <a:moveTo>
                    <a:pt x="133350" y="76200"/>
                  </a:moveTo>
                  <a:lnTo>
                    <a:pt x="0" y="0"/>
                  </a:lnTo>
                  <a:lnTo>
                    <a:pt x="0" y="152400"/>
                  </a:lnTo>
                  <a:close/>
                </a:path>
              </a:pathLst>
            </a:custGeom>
            <a:solidFill>
              <a:srgbClr val="008C7A"/>
            </a:solidFill>
            <a:ln>
              <a:noFill/>
            </a:ln>
          </p:spPr>
        </p:sp>
        <p:grpSp>
          <p:nvGrpSpPr>
            <p:cNvPr id="27" name="Group 27"/>
            <p:cNvGrpSpPr/>
            <p:nvPr/>
          </p:nvGrpSpPr>
          <p:grpSpPr>
            <a:xfrm>
              <a:off x="6182687" y="2876550"/>
              <a:ext cx="1198226" cy="1452562"/>
              <a:chOff x="6182687" y="2876550"/>
              <a:chExt cx="1198226" cy="1452562"/>
            </a:xfrm>
          </p:grpSpPr>
          <p:sp>
            <p:nvSpPr>
              <p:cNvPr id="23" name="Ellipse 23"/>
              <p:cNvSpPr/>
              <p:nvPr/>
            </p:nvSpPr>
            <p:spPr>
              <a:xfrm>
                <a:off x="6381750" y="2876550"/>
                <a:ext cx="800100" cy="800100"/>
              </a:xfrm>
              <a:prstGeom prst="ellipse">
                <a:avLst/>
              </a:prstGeom>
              <a:solidFill>
                <a:srgbClr val="E6F2EF"/>
              </a:solidFill>
              <a:ln w="28575">
                <a:solidFill>
                  <a:srgbClr val="008C7A"/>
                </a:solidFill>
              </a:ln>
            </p:spPr>
          </p:sp>
          <p:sp>
            <p:nvSpPr>
              <p:cNvPr id="24" name="Freeform 24"/>
              <p:cNvSpPr/>
              <p:nvPr/>
            </p:nvSpPr>
            <p:spPr>
              <a:xfrm>
                <a:off x="6591300" y="3109912"/>
                <a:ext cx="381000" cy="333375"/>
              </a:xfrm>
              <a:custGeom>
                <a:avLst/>
                <a:gdLst/>
                <a:ahLst/>
                <a:cxnLst/>
                <a:rect l="l" t="t" r="r" b="b"/>
                <a:pathLst>
                  <a:path w="381000" h="333375">
                    <a:moveTo>
                      <a:pt x="29590" y="172465"/>
                    </a:moveTo>
                    <a:lnTo>
                      <a:pt x="190500" y="333375"/>
                    </a:lnTo>
                    <a:lnTo>
                      <a:pt x="351411" y="172465"/>
                    </a:lnTo>
                    <a:cubicBezTo>
                      <a:pt x="370356" y="153519"/>
                      <a:pt x="381000" y="127822"/>
                      <a:pt x="381000" y="101028"/>
                    </a:cubicBezTo>
                    <a:lnTo>
                      <a:pt x="381000" y="96496"/>
                    </a:lnTo>
                    <a:cubicBezTo>
                      <a:pt x="381000" y="43203"/>
                      <a:pt x="337797" y="0"/>
                      <a:pt x="284505" y="0"/>
                    </a:cubicBezTo>
                    <a:cubicBezTo>
                      <a:pt x="255189" y="0"/>
                      <a:pt x="227465" y="13325"/>
                      <a:pt x="209153" y="36215"/>
                    </a:cubicBezTo>
                    <a:lnTo>
                      <a:pt x="190500" y="59531"/>
                    </a:lnTo>
                    <a:lnTo>
                      <a:pt x="171847" y="36215"/>
                    </a:lnTo>
                    <a:cubicBezTo>
                      <a:pt x="153535" y="13325"/>
                      <a:pt x="125810" y="0"/>
                      <a:pt x="96496" y="0"/>
                    </a:cubicBezTo>
                    <a:cubicBezTo>
                      <a:pt x="43203" y="0"/>
                      <a:pt x="0" y="43203"/>
                      <a:pt x="0" y="96496"/>
                    </a:cubicBezTo>
                    <a:lnTo>
                      <a:pt x="0" y="101028"/>
                    </a:lnTo>
                    <a:cubicBezTo>
                      <a:pt x="0" y="127822"/>
                      <a:pt x="10644" y="153519"/>
                      <a:pt x="29590" y="172465"/>
                    </a:cubicBezTo>
                    <a:close/>
                  </a:path>
                </a:pathLst>
              </a:custGeom>
              <a:solidFill>
                <a:srgbClr val="008C7A"/>
              </a:solidFill>
              <a:ln>
                <a:noFill/>
              </a:ln>
            </p:spPr>
          </p:sp>
          <p:sp>
            <p:nvSpPr>
              <p:cNvPr id="25" name="TextBox 25"/>
              <p:cNvSpPr txBox="1"/>
              <p:nvPr/>
            </p:nvSpPr>
            <p:spPr>
              <a:xfrm>
                <a:off x="6182687" y="3851910"/>
                <a:ext cx="1198226" cy="243840"/>
              </a:xfrm>
              <a:prstGeom prst="rect">
                <a:avLst/>
              </a:prstGeom>
              <a:noFill/>
              <a:ln>
                <a:noFill/>
              </a:ln>
            </p:spPr>
            <p:txBody>
              <a:bodyPr wrap="none" lIns="0" tIns="0" rIns="0" bIns="0" anchor="t" anchorCtr="0">
                <a:spAutoFit/>
              </a:bodyPr>
              <a:lstStyle/>
              <a:p>
                <a:pPr algn="ctr"/>
                <a:r>
                  <a:rPr lang="zh-CN" sz="1200" b="1" dirty="0">
                    <a:solidFill>
                      <a:srgbClr val="1F2933"/>
                    </a:solidFill>
                    <a:latin typeface="Arial"/>
                    <a:ea typeface="Microsoft YaHei"/>
                    <a:cs typeface="Arial"/>
                  </a:rPr>
                  <a:t>Food poisoning</a:t>
                </a:r>
              </a:p>
            </p:txBody>
          </p:sp>
          <p:sp>
            <p:nvSpPr>
              <p:cNvPr id="26" name="TextBox 26"/>
              <p:cNvSpPr txBox="1"/>
              <p:nvPr/>
            </p:nvSpPr>
            <p:spPr>
              <a:xfrm>
                <a:off x="6204895" y="4115752"/>
                <a:ext cx="1153811" cy="213360"/>
              </a:xfrm>
              <a:prstGeom prst="rect">
                <a:avLst/>
              </a:prstGeom>
              <a:noFill/>
              <a:ln>
                <a:noFill/>
              </a:ln>
            </p:spPr>
            <p:txBody>
              <a:bodyPr wrap="none" lIns="0" tIns="0" rIns="0" bIns="0" anchor="t" anchorCtr="0">
                <a:spAutoFit/>
              </a:bodyPr>
              <a:lstStyle/>
              <a:p>
                <a:pPr algn="ctr"/>
                <a:r>
                  <a:rPr lang="zh-CN" sz="1050" dirty="0">
                    <a:solidFill>
                      <a:srgbClr val="5B6770"/>
                    </a:solidFill>
                    <a:latin typeface="Arial"/>
                    <a:ea typeface="Microsoft YaHei"/>
                    <a:cs typeface="Arial"/>
                  </a:rPr>
                  <a:t>local restaurant</a:t>
                </a:r>
              </a:p>
            </p:txBody>
          </p:sp>
        </p:grpSp>
        <p:sp>
          <p:nvSpPr>
            <p:cNvPr id="28" name="Freeform 28"/>
            <p:cNvSpPr/>
            <p:nvPr/>
          </p:nvSpPr>
          <p:spPr>
            <a:xfrm>
              <a:off x="7315200" y="3276600"/>
              <a:ext cx="781050" cy="9525"/>
            </a:xfrm>
            <a:custGeom>
              <a:avLst/>
              <a:gdLst/>
              <a:ahLst/>
              <a:cxnLst/>
              <a:rect l="l" t="t" r="r" b="b"/>
              <a:pathLst>
                <a:path w="781050" h="9525">
                  <a:moveTo>
                    <a:pt x="0" y="0"/>
                  </a:moveTo>
                  <a:lnTo>
                    <a:pt x="781050" y="0"/>
                  </a:lnTo>
                </a:path>
              </a:pathLst>
            </a:custGeom>
            <a:solidFill>
              <a:srgbClr val="000000"/>
            </a:solidFill>
            <a:ln w="38100" cap="rnd">
              <a:solidFill>
                <a:srgbClr val="008C7A"/>
              </a:solidFill>
            </a:ln>
          </p:spPr>
        </p:sp>
        <p:sp>
          <p:nvSpPr>
            <p:cNvPr id="29" name="Polygon 29"/>
            <p:cNvSpPr/>
            <p:nvPr/>
          </p:nvSpPr>
          <p:spPr>
            <a:xfrm>
              <a:off x="7962900" y="3200400"/>
              <a:ext cx="133350" cy="152400"/>
            </a:xfrm>
            <a:custGeom>
              <a:avLst/>
              <a:gdLst/>
              <a:ahLst/>
              <a:cxnLst/>
              <a:rect l="l" t="t" r="r" b="b"/>
              <a:pathLst>
                <a:path w="133350" h="152400">
                  <a:moveTo>
                    <a:pt x="133350" y="76200"/>
                  </a:moveTo>
                  <a:lnTo>
                    <a:pt x="0" y="0"/>
                  </a:lnTo>
                  <a:lnTo>
                    <a:pt x="0" y="152400"/>
                  </a:lnTo>
                  <a:close/>
                </a:path>
              </a:pathLst>
            </a:custGeom>
            <a:solidFill>
              <a:srgbClr val="008C7A"/>
            </a:solidFill>
            <a:ln>
              <a:noFill/>
            </a:ln>
          </p:spPr>
        </p:sp>
        <p:grpSp>
          <p:nvGrpSpPr>
            <p:cNvPr id="36" name="Group 36"/>
            <p:cNvGrpSpPr/>
            <p:nvPr/>
          </p:nvGrpSpPr>
          <p:grpSpPr>
            <a:xfrm>
              <a:off x="8087687" y="2876550"/>
              <a:ext cx="1198226" cy="1452562"/>
              <a:chOff x="8087687" y="2876550"/>
              <a:chExt cx="1198226" cy="1452562"/>
            </a:xfrm>
          </p:grpSpPr>
          <p:sp>
            <p:nvSpPr>
              <p:cNvPr id="30" name="Ellipse 30"/>
              <p:cNvSpPr/>
              <p:nvPr/>
            </p:nvSpPr>
            <p:spPr>
              <a:xfrm>
                <a:off x="8286750" y="2876550"/>
                <a:ext cx="800100" cy="800100"/>
              </a:xfrm>
              <a:prstGeom prst="ellipse">
                <a:avLst/>
              </a:prstGeom>
              <a:solidFill>
                <a:srgbClr val="E6F2EF"/>
              </a:solidFill>
              <a:ln w="28575">
                <a:solidFill>
                  <a:srgbClr val="F2B705"/>
                </a:solidFill>
              </a:ln>
            </p:spPr>
          </p:sp>
          <p:grpSp>
            <p:nvGrpSpPr>
              <p:cNvPr id="33" name="Group 33"/>
              <p:cNvGrpSpPr/>
              <p:nvPr/>
            </p:nvGrpSpPr>
            <p:grpSpPr>
              <a:xfrm>
                <a:off x="8543925" y="3086100"/>
                <a:ext cx="285750" cy="381000"/>
                <a:chOff x="8543925" y="3086100"/>
                <a:chExt cx="285750" cy="381000"/>
              </a:xfrm>
            </p:grpSpPr>
            <p:sp>
              <p:nvSpPr>
                <p:cNvPr id="31" name="Freeform 31"/>
                <p:cNvSpPr/>
                <p:nvPr/>
              </p:nvSpPr>
              <p:spPr>
                <a:xfrm>
                  <a:off x="8543925" y="3086100"/>
                  <a:ext cx="285750" cy="381000"/>
                </a:xfrm>
                <a:custGeom>
                  <a:avLst/>
                  <a:gdLst/>
                  <a:ahLst/>
                  <a:cxnLst/>
                  <a:rect l="l" t="t" r="r" b="b"/>
                  <a:pathLst>
                    <a:path w="285750" h="381000">
                      <a:moveTo>
                        <a:pt x="119062" y="0"/>
                      </a:moveTo>
                      <a:lnTo>
                        <a:pt x="0" y="0"/>
                      </a:lnTo>
                      <a:lnTo>
                        <a:pt x="0" y="381000"/>
                      </a:lnTo>
                      <a:lnTo>
                        <a:pt x="285750" y="381000"/>
                      </a:lnTo>
                      <a:lnTo>
                        <a:pt x="285750" y="166688"/>
                      </a:lnTo>
                      <a:lnTo>
                        <a:pt x="119062" y="166688"/>
                      </a:lnTo>
                      <a:lnTo>
                        <a:pt x="119062" y="0"/>
                      </a:lnTo>
                      <a:close/>
                    </a:path>
                  </a:pathLst>
                </a:custGeom>
                <a:solidFill>
                  <a:srgbClr val="F2B705"/>
                </a:solidFill>
                <a:ln>
                  <a:noFill/>
                </a:ln>
              </p:spPr>
            </p:sp>
            <p:sp>
              <p:nvSpPr>
                <p:cNvPr id="32" name="Freeform 32"/>
                <p:cNvSpPr/>
                <p:nvPr/>
              </p:nvSpPr>
              <p:spPr>
                <a:xfrm>
                  <a:off x="8710612" y="3086100"/>
                  <a:ext cx="119062" cy="119062"/>
                </a:xfrm>
                <a:custGeom>
                  <a:avLst/>
                  <a:gdLst/>
                  <a:ahLst/>
                  <a:cxnLst/>
                  <a:rect l="l" t="t" r="r" b="b"/>
                  <a:pathLst>
                    <a:path w="119062" h="119062">
                      <a:moveTo>
                        <a:pt x="0" y="0"/>
                      </a:moveTo>
                      <a:lnTo>
                        <a:pt x="0" y="119062"/>
                      </a:lnTo>
                      <a:lnTo>
                        <a:pt x="119062" y="119062"/>
                      </a:lnTo>
                      <a:lnTo>
                        <a:pt x="0" y="0"/>
                      </a:lnTo>
                      <a:close/>
                    </a:path>
                  </a:pathLst>
                </a:custGeom>
                <a:solidFill>
                  <a:srgbClr val="F2B705"/>
                </a:solidFill>
                <a:ln>
                  <a:noFill/>
                </a:ln>
              </p:spPr>
            </p:sp>
          </p:grpSp>
          <p:sp>
            <p:nvSpPr>
              <p:cNvPr id="34" name="TextBox 34"/>
              <p:cNvSpPr txBox="1"/>
              <p:nvPr/>
            </p:nvSpPr>
            <p:spPr>
              <a:xfrm>
                <a:off x="8087687" y="3851910"/>
                <a:ext cx="1198226" cy="243840"/>
              </a:xfrm>
              <a:prstGeom prst="rect">
                <a:avLst/>
              </a:prstGeom>
              <a:noFill/>
              <a:ln>
                <a:noFill/>
              </a:ln>
            </p:spPr>
            <p:txBody>
              <a:bodyPr wrap="none" lIns="0" tIns="0" rIns="0" bIns="0" anchor="t" anchorCtr="0">
                <a:spAutoFit/>
              </a:bodyPr>
              <a:lstStyle/>
              <a:p>
                <a:pPr algn="ctr"/>
                <a:r>
                  <a:rPr lang="zh-CN" sz="1200" b="1" dirty="0">
                    <a:solidFill>
                      <a:srgbClr val="1F2933"/>
                    </a:solidFill>
                    <a:latin typeface="Arial"/>
                    <a:ea typeface="Microsoft YaHei"/>
                    <a:cs typeface="Arial"/>
                  </a:rPr>
                  <a:t>Product recall</a:t>
                </a:r>
              </a:p>
            </p:txBody>
          </p:sp>
          <p:sp>
            <p:nvSpPr>
              <p:cNvPr id="35" name="TextBox 35"/>
              <p:cNvSpPr txBox="1"/>
              <p:nvPr/>
            </p:nvSpPr>
            <p:spPr>
              <a:xfrm>
                <a:off x="8214908" y="4115752"/>
                <a:ext cx="943785" cy="213360"/>
              </a:xfrm>
              <a:prstGeom prst="rect">
                <a:avLst/>
              </a:prstGeom>
              <a:noFill/>
              <a:ln>
                <a:noFill/>
              </a:ln>
            </p:spPr>
            <p:txBody>
              <a:bodyPr wrap="none" lIns="0" tIns="0" rIns="0" bIns="0" anchor="t" anchorCtr="0">
                <a:spAutoFit/>
              </a:bodyPr>
              <a:lstStyle/>
              <a:p>
                <a:pPr algn="ctr"/>
                <a:r>
                  <a:rPr lang="zh-CN" sz="1050" dirty="0">
                    <a:solidFill>
                      <a:srgbClr val="5B6770"/>
                    </a:solidFill>
                    <a:latin typeface="Arial"/>
                    <a:ea typeface="Microsoft YaHei"/>
                    <a:cs typeface="Arial"/>
                  </a:rPr>
                  <a:t>contaminated</a:t>
                </a:r>
              </a:p>
            </p:txBody>
          </p:sp>
        </p:grpSp>
        <p:sp>
          <p:nvSpPr>
            <p:cNvPr id="37" name="Freeform 37"/>
            <p:cNvSpPr/>
            <p:nvPr/>
          </p:nvSpPr>
          <p:spPr>
            <a:xfrm>
              <a:off x="9220200" y="3276600"/>
              <a:ext cx="781050" cy="9525"/>
            </a:xfrm>
            <a:custGeom>
              <a:avLst/>
              <a:gdLst/>
              <a:ahLst/>
              <a:cxnLst/>
              <a:rect l="l" t="t" r="r" b="b"/>
              <a:pathLst>
                <a:path w="781050" h="9525">
                  <a:moveTo>
                    <a:pt x="0" y="0"/>
                  </a:moveTo>
                  <a:lnTo>
                    <a:pt x="781050" y="0"/>
                  </a:lnTo>
                </a:path>
              </a:pathLst>
            </a:custGeom>
            <a:solidFill>
              <a:srgbClr val="000000"/>
            </a:solidFill>
            <a:ln w="38100" cap="rnd">
              <a:solidFill>
                <a:srgbClr val="008C7A"/>
              </a:solidFill>
            </a:ln>
          </p:spPr>
        </p:sp>
        <p:sp>
          <p:nvSpPr>
            <p:cNvPr id="38" name="Polygon 38"/>
            <p:cNvSpPr/>
            <p:nvPr/>
          </p:nvSpPr>
          <p:spPr>
            <a:xfrm>
              <a:off x="9867900" y="3200400"/>
              <a:ext cx="133350" cy="152400"/>
            </a:xfrm>
            <a:custGeom>
              <a:avLst/>
              <a:gdLst/>
              <a:ahLst/>
              <a:cxnLst/>
              <a:rect l="l" t="t" r="r" b="b"/>
              <a:pathLst>
                <a:path w="133350" h="152400">
                  <a:moveTo>
                    <a:pt x="133350" y="76200"/>
                  </a:moveTo>
                  <a:lnTo>
                    <a:pt x="0" y="0"/>
                  </a:lnTo>
                  <a:lnTo>
                    <a:pt x="0" y="152400"/>
                  </a:lnTo>
                  <a:close/>
                </a:path>
              </a:pathLst>
            </a:custGeom>
            <a:solidFill>
              <a:srgbClr val="008C7A"/>
            </a:solidFill>
            <a:ln>
              <a:noFill/>
            </a:ln>
          </p:spPr>
        </p:sp>
        <p:grpSp>
          <p:nvGrpSpPr>
            <p:cNvPr id="47" name="Group 47"/>
            <p:cNvGrpSpPr/>
            <p:nvPr/>
          </p:nvGrpSpPr>
          <p:grpSpPr>
            <a:xfrm>
              <a:off x="9816265" y="2876550"/>
              <a:ext cx="1551070" cy="1452562"/>
              <a:chOff x="9816265" y="2876550"/>
              <a:chExt cx="1551070" cy="1452562"/>
            </a:xfrm>
          </p:grpSpPr>
          <p:sp>
            <p:nvSpPr>
              <p:cNvPr id="39" name="Ellipse 39"/>
              <p:cNvSpPr/>
              <p:nvPr/>
            </p:nvSpPr>
            <p:spPr>
              <a:xfrm>
                <a:off x="10191750" y="2876550"/>
                <a:ext cx="800100" cy="800100"/>
              </a:xfrm>
              <a:prstGeom prst="ellipse">
                <a:avLst/>
              </a:prstGeom>
              <a:solidFill>
                <a:srgbClr val="E6F2EF"/>
              </a:solidFill>
              <a:ln w="28575">
                <a:solidFill>
                  <a:srgbClr val="C2410C"/>
                </a:solidFill>
              </a:ln>
            </p:spPr>
          </p:sp>
          <p:grpSp>
            <p:nvGrpSpPr>
              <p:cNvPr id="44" name="Group 44"/>
              <p:cNvGrpSpPr/>
              <p:nvPr/>
            </p:nvGrpSpPr>
            <p:grpSpPr>
              <a:xfrm>
                <a:off x="10402774" y="3086100"/>
                <a:ext cx="378052" cy="381000"/>
                <a:chOff x="10402774" y="3086100"/>
                <a:chExt cx="378052" cy="381000"/>
              </a:xfrm>
            </p:grpSpPr>
            <p:sp>
              <p:nvSpPr>
                <p:cNvPr id="40" name="Freeform 40"/>
                <p:cNvSpPr/>
                <p:nvPr/>
              </p:nvSpPr>
              <p:spPr>
                <a:xfrm>
                  <a:off x="10402774" y="3164872"/>
                  <a:ext cx="378052" cy="87916"/>
                </a:xfrm>
                <a:custGeom>
                  <a:avLst/>
                  <a:gdLst/>
                  <a:ahLst/>
                  <a:cxnLst/>
                  <a:rect l="l" t="t" r="r" b="b"/>
                  <a:pathLst>
                    <a:path w="378052" h="87916">
                      <a:moveTo>
                        <a:pt x="34713" y="0"/>
                      </a:moveTo>
                      <a:cubicBezTo>
                        <a:pt x="16347" y="25323"/>
                        <a:pt x="4062" y="55342"/>
                        <a:pt x="0" y="87916"/>
                      </a:cubicBezTo>
                      <a:lnTo>
                        <a:pt x="378052" y="87916"/>
                      </a:lnTo>
                      <a:cubicBezTo>
                        <a:pt x="373990" y="55342"/>
                        <a:pt x="361705" y="25322"/>
                        <a:pt x="343338" y="0"/>
                      </a:cubicBezTo>
                      <a:cubicBezTo>
                        <a:pt x="342348" y="555"/>
                        <a:pt x="341343" y="1109"/>
                        <a:pt x="340326" y="1664"/>
                      </a:cubicBezTo>
                      <a:cubicBezTo>
                        <a:pt x="304955" y="20957"/>
                        <a:pt x="253427" y="40291"/>
                        <a:pt x="189026" y="40291"/>
                      </a:cubicBezTo>
                      <a:cubicBezTo>
                        <a:pt x="124625" y="40291"/>
                        <a:pt x="73095" y="20957"/>
                        <a:pt x="37724" y="1664"/>
                      </a:cubicBezTo>
                      <a:cubicBezTo>
                        <a:pt x="36708" y="1110"/>
                        <a:pt x="35704" y="555"/>
                        <a:pt x="34713" y="0"/>
                      </a:cubicBezTo>
                      <a:close/>
                    </a:path>
                  </a:pathLst>
                </a:custGeom>
                <a:solidFill>
                  <a:srgbClr val="C2410C"/>
                </a:solidFill>
                <a:ln>
                  <a:noFill/>
                </a:ln>
              </p:spPr>
            </p:sp>
            <p:sp>
              <p:nvSpPr>
                <p:cNvPr id="41" name="Freeform 41"/>
                <p:cNvSpPr/>
                <p:nvPr/>
              </p:nvSpPr>
              <p:spPr>
                <a:xfrm>
                  <a:off x="10471398" y="3086100"/>
                  <a:ext cx="240802" cy="71438"/>
                </a:xfrm>
                <a:custGeom>
                  <a:avLst/>
                  <a:gdLst/>
                  <a:ahLst/>
                  <a:cxnLst/>
                  <a:rect l="l" t="t" r="r" b="b"/>
                  <a:pathLst>
                    <a:path w="240802" h="71438">
                      <a:moveTo>
                        <a:pt x="240802" y="42865"/>
                      </a:moveTo>
                      <a:cubicBezTo>
                        <a:pt x="211161" y="57757"/>
                        <a:pt x="170348" y="71438"/>
                        <a:pt x="120401" y="71438"/>
                      </a:cubicBezTo>
                      <a:cubicBezTo>
                        <a:pt x="70454" y="71438"/>
                        <a:pt x="29643" y="57757"/>
                        <a:pt x="0" y="42866"/>
                      </a:cubicBezTo>
                      <a:cubicBezTo>
                        <a:pt x="32816" y="16071"/>
                        <a:pt x="74732" y="0"/>
                        <a:pt x="120402" y="0"/>
                      </a:cubicBezTo>
                      <a:cubicBezTo>
                        <a:pt x="166071" y="0"/>
                        <a:pt x="207986" y="16071"/>
                        <a:pt x="240802" y="42865"/>
                      </a:cubicBezTo>
                      <a:close/>
                    </a:path>
                  </a:pathLst>
                </a:custGeom>
                <a:solidFill>
                  <a:srgbClr val="C2410C"/>
                </a:solidFill>
                <a:ln>
                  <a:noFill/>
                </a:ln>
              </p:spPr>
            </p:sp>
            <p:sp>
              <p:nvSpPr>
                <p:cNvPr id="42" name="Freeform 42"/>
                <p:cNvSpPr/>
                <p:nvPr/>
              </p:nvSpPr>
              <p:spPr>
                <a:xfrm>
                  <a:off x="10402774" y="3300412"/>
                  <a:ext cx="378052" cy="87916"/>
                </a:xfrm>
                <a:custGeom>
                  <a:avLst/>
                  <a:gdLst/>
                  <a:ahLst/>
                  <a:cxnLst/>
                  <a:rect l="l" t="t" r="r" b="b"/>
                  <a:pathLst>
                    <a:path w="378052" h="87916">
                      <a:moveTo>
                        <a:pt x="0" y="0"/>
                      </a:moveTo>
                      <a:cubicBezTo>
                        <a:pt x="4062" y="32573"/>
                        <a:pt x="16347" y="62594"/>
                        <a:pt x="34714" y="87916"/>
                      </a:cubicBezTo>
                      <a:cubicBezTo>
                        <a:pt x="35704" y="87361"/>
                        <a:pt x="36708" y="86806"/>
                        <a:pt x="37725" y="86251"/>
                      </a:cubicBezTo>
                      <a:cubicBezTo>
                        <a:pt x="73096" y="66958"/>
                        <a:pt x="124625" y="47625"/>
                        <a:pt x="189026" y="47625"/>
                      </a:cubicBezTo>
                      <a:cubicBezTo>
                        <a:pt x="253427" y="47625"/>
                        <a:pt x="304957" y="66958"/>
                        <a:pt x="340326" y="86251"/>
                      </a:cubicBezTo>
                      <a:cubicBezTo>
                        <a:pt x="341345" y="86806"/>
                        <a:pt x="342348" y="87361"/>
                        <a:pt x="343338" y="87916"/>
                      </a:cubicBezTo>
                      <a:cubicBezTo>
                        <a:pt x="361705" y="62594"/>
                        <a:pt x="373990" y="32573"/>
                        <a:pt x="378052" y="0"/>
                      </a:cubicBezTo>
                      <a:lnTo>
                        <a:pt x="0" y="0"/>
                      </a:lnTo>
                      <a:close/>
                    </a:path>
                  </a:pathLst>
                </a:custGeom>
                <a:solidFill>
                  <a:srgbClr val="C2410C"/>
                </a:solidFill>
                <a:ln>
                  <a:noFill/>
                </a:ln>
              </p:spPr>
            </p:sp>
            <p:sp>
              <p:nvSpPr>
                <p:cNvPr id="43" name="Freeform 43"/>
                <p:cNvSpPr/>
                <p:nvPr/>
              </p:nvSpPr>
              <p:spPr>
                <a:xfrm>
                  <a:off x="10471399" y="3395662"/>
                  <a:ext cx="240802" cy="71438"/>
                </a:xfrm>
                <a:custGeom>
                  <a:avLst/>
                  <a:gdLst/>
                  <a:ahLst/>
                  <a:cxnLst/>
                  <a:rect l="l" t="t" r="r" b="b"/>
                  <a:pathLst>
                    <a:path w="240802" h="71438">
                      <a:moveTo>
                        <a:pt x="120401" y="71438"/>
                      </a:moveTo>
                      <a:cubicBezTo>
                        <a:pt x="74732" y="71438"/>
                        <a:pt x="32816" y="55366"/>
                        <a:pt x="0" y="28573"/>
                      </a:cubicBezTo>
                      <a:cubicBezTo>
                        <a:pt x="29643" y="13680"/>
                        <a:pt x="70455" y="0"/>
                        <a:pt x="120401" y="0"/>
                      </a:cubicBezTo>
                      <a:cubicBezTo>
                        <a:pt x="170348" y="0"/>
                        <a:pt x="211160" y="13680"/>
                        <a:pt x="240802" y="28573"/>
                      </a:cubicBezTo>
                      <a:cubicBezTo>
                        <a:pt x="207986" y="55366"/>
                        <a:pt x="166071" y="71438"/>
                        <a:pt x="120401" y="71438"/>
                      </a:cubicBezTo>
                      <a:close/>
                    </a:path>
                  </a:pathLst>
                </a:custGeom>
                <a:solidFill>
                  <a:srgbClr val="C2410C"/>
                </a:solidFill>
                <a:ln>
                  <a:noFill/>
                </a:ln>
              </p:spPr>
            </p:sp>
          </p:grpSp>
          <p:sp>
            <p:nvSpPr>
              <p:cNvPr id="45" name="TextBox 45"/>
              <p:cNvSpPr txBox="1"/>
              <p:nvPr/>
            </p:nvSpPr>
            <p:spPr>
              <a:xfrm>
                <a:off x="9816265" y="3851910"/>
                <a:ext cx="1551070" cy="243840"/>
              </a:xfrm>
              <a:prstGeom prst="rect">
                <a:avLst/>
              </a:prstGeom>
              <a:noFill/>
              <a:ln>
                <a:noFill/>
              </a:ln>
            </p:spPr>
            <p:txBody>
              <a:bodyPr wrap="none" lIns="0" tIns="0" rIns="0" bIns="0" anchor="t" anchorCtr="0">
                <a:spAutoFit/>
              </a:bodyPr>
              <a:lstStyle/>
              <a:p>
                <a:pPr algn="ctr"/>
                <a:r>
                  <a:rPr lang="zh-CN" sz="1200" b="1" dirty="0">
                    <a:solidFill>
                      <a:srgbClr val="1F2933"/>
                    </a:solidFill>
                    <a:latin typeface="Arial"/>
                    <a:ea typeface="Microsoft YaHei"/>
                    <a:cs typeface="Arial"/>
                  </a:rPr>
                  <a:t>Imported outbreak</a:t>
                </a:r>
              </a:p>
            </p:txBody>
          </p:sp>
          <p:sp>
            <p:nvSpPr>
              <p:cNvPr id="46" name="TextBox 46"/>
              <p:cNvSpPr txBox="1"/>
              <p:nvPr/>
            </p:nvSpPr>
            <p:spPr>
              <a:xfrm>
                <a:off x="10116407" y="4115752"/>
                <a:ext cx="950786" cy="213360"/>
              </a:xfrm>
              <a:prstGeom prst="rect">
                <a:avLst/>
              </a:prstGeom>
              <a:noFill/>
              <a:ln>
                <a:noFill/>
              </a:ln>
            </p:spPr>
            <p:txBody>
              <a:bodyPr wrap="none" lIns="0" tIns="0" rIns="0" bIns="0" anchor="t" anchorCtr="0">
                <a:spAutoFit/>
              </a:bodyPr>
              <a:lstStyle/>
              <a:p>
                <a:pPr algn="ctr"/>
                <a:r>
                  <a:rPr lang="zh-CN" sz="1050" dirty="0">
                    <a:solidFill>
                      <a:srgbClr val="5B6770"/>
                    </a:solidFill>
                    <a:latin typeface="Arial"/>
                    <a:ea typeface="Microsoft YaHei"/>
                    <a:cs typeface="Arial"/>
                  </a:rPr>
                  <a:t>cross-border</a:t>
                </a:r>
              </a:p>
            </p:txBody>
          </p:sp>
        </p:grpSp>
        <p:sp>
          <p:nvSpPr>
            <p:cNvPr id="48" name="Rectangle 48"/>
            <p:cNvSpPr/>
            <p:nvPr/>
          </p:nvSpPr>
          <p:spPr>
            <a:xfrm>
              <a:off x="4286250" y="4819650"/>
              <a:ext cx="6762750" cy="476250"/>
            </a:xfrm>
            <a:prstGeom prst="roundRect">
              <a:avLst>
                <a:gd name="adj" fmla="val 36000"/>
              </a:avLst>
            </a:prstGeom>
            <a:solidFill>
              <a:srgbClr val="E6F2EF"/>
            </a:solidFill>
            <a:ln>
              <a:noFill/>
            </a:ln>
          </p:spPr>
        </p:sp>
        <p:sp>
          <p:nvSpPr>
            <p:cNvPr id="49" name="TextBox 49"/>
            <p:cNvSpPr txBox="1"/>
            <p:nvPr/>
          </p:nvSpPr>
          <p:spPr>
            <a:xfrm>
              <a:off x="4536758" y="4977289"/>
              <a:ext cx="1853313" cy="259080"/>
            </a:xfrm>
            <a:prstGeom prst="rect">
              <a:avLst/>
            </a:prstGeom>
            <a:noFill/>
            <a:ln>
              <a:noFill/>
            </a:ln>
          </p:spPr>
          <p:txBody>
            <a:bodyPr wrap="none" lIns="0" tIns="0" rIns="0" bIns="0" anchor="t" anchorCtr="0">
              <a:spAutoFit/>
            </a:bodyPr>
            <a:lstStyle/>
            <a:p>
              <a:pPr algn="l"/>
              <a:r>
                <a:rPr lang="zh-CN" sz="1275" b="1" dirty="0">
                  <a:solidFill>
                    <a:srgbClr val="123E4A"/>
                  </a:solidFill>
                  <a:latin typeface="Arial"/>
                  <a:ea typeface="Microsoft YaHei"/>
                  <a:cs typeface="Arial"/>
                </a:rPr>
                <a:t>Preparedness focus:</a:t>
              </a:r>
            </a:p>
          </p:txBody>
        </p:sp>
        <p:sp>
          <p:nvSpPr>
            <p:cNvPr id="50" name="TextBox 50"/>
            <p:cNvSpPr txBox="1"/>
            <p:nvPr/>
          </p:nvSpPr>
          <p:spPr>
            <a:xfrm>
              <a:off x="6156008" y="4977289"/>
              <a:ext cx="4274415"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avoid illness even when the unexpected intervenes.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slide(fromBottom)">
                                      <p:cBhvr>
                                        <p:cTn id="11" dur="400"/>
                                        <p:tgtEl>
                                          <p:spTgt spid="1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image">
                                      <p:cBhvr>
                                        <p:cTn id="15" dur="4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5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246923"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TARGET AUDIENCES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04 / 10</a:t>
              </a:r>
            </a:p>
          </p:txBody>
        </p:sp>
      </p:grpSp>
      <p:grpSp>
        <p:nvGrpSpPr>
          <p:cNvPr id="8" name="Group 8"/>
          <p:cNvGrpSpPr/>
          <p:nvPr/>
        </p:nvGrpSpPr>
        <p:grpSpPr>
          <a:xfrm>
            <a:off x="478155" y="778192"/>
            <a:ext cx="11684741" cy="760096"/>
            <a:chOff x="478155" y="778192"/>
            <a:chExt cx="11684741" cy="760096"/>
          </a:xfrm>
        </p:grpSpPr>
        <p:sp>
          <p:nvSpPr>
            <p:cNvPr id="6" name="TextBox 6"/>
            <p:cNvSpPr txBox="1"/>
            <p:nvPr/>
          </p:nvSpPr>
          <p:spPr>
            <a:xfrm>
              <a:off x="478155" y="778192"/>
              <a:ext cx="11684741"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The campaign asks every part of the food chain to prepare.</a:t>
              </a:r>
            </a:p>
          </p:txBody>
        </p:sp>
        <p:sp>
          <p:nvSpPr>
            <p:cNvPr id="7" name="TextBox 7"/>
            <p:cNvSpPr txBox="1"/>
            <p:nvPr/>
          </p:nvSpPr>
          <p:spPr>
            <a:xfrm>
              <a:off x="497205" y="1263968"/>
              <a:ext cx="6947154"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Partner briefings should keep stakeholder roles distinct and easy to activate.</a:t>
              </a:r>
            </a:p>
          </p:txBody>
        </p:sp>
      </p:grpSp>
      <p:grpSp>
        <p:nvGrpSpPr>
          <p:cNvPr id="16" name="Group 16"/>
          <p:cNvGrpSpPr/>
          <p:nvPr/>
        </p:nvGrpSpPr>
        <p:grpSpPr>
          <a:xfrm>
            <a:off x="514350" y="2038350"/>
            <a:ext cx="2609850" cy="2895600"/>
            <a:chOff x="514350" y="2038350"/>
            <a:chExt cx="2609850" cy="2895600"/>
          </a:xfrm>
        </p:grpSpPr>
        <p:sp>
          <p:nvSpPr>
            <p:cNvPr id="9" name="Rectangle 9"/>
            <p:cNvSpPr/>
            <p:nvPr/>
          </p:nvSpPr>
          <p:spPr>
            <a:xfrm>
              <a:off x="514350" y="2038350"/>
              <a:ext cx="2609850" cy="2895600"/>
            </a:xfrm>
            <a:prstGeom prst="roundRect">
              <a:avLst>
                <a:gd name="adj" fmla="val 8759"/>
              </a:avLst>
            </a:prstGeom>
            <a:solidFill>
              <a:srgbClr val="FFFFFF"/>
            </a:solidFill>
            <a:ln w="19050">
              <a:solidFill>
                <a:srgbClr val="C9D9D5"/>
              </a:solidFill>
            </a:ln>
          </p:spPr>
        </p:sp>
        <p:sp>
          <p:nvSpPr>
            <p:cNvPr id="10" name="Freeform 10"/>
            <p:cNvSpPr/>
            <p:nvPr/>
          </p:nvSpPr>
          <p:spPr>
            <a:xfrm>
              <a:off x="890588" y="2343150"/>
              <a:ext cx="314325" cy="419100"/>
            </a:xfrm>
            <a:custGeom>
              <a:avLst/>
              <a:gdLst/>
              <a:ahLst/>
              <a:cxnLst/>
              <a:rect l="l" t="t" r="r" b="b"/>
              <a:pathLst>
                <a:path w="314325" h="419100">
                  <a:moveTo>
                    <a:pt x="314325" y="0"/>
                  </a:moveTo>
                  <a:lnTo>
                    <a:pt x="0" y="0"/>
                  </a:lnTo>
                  <a:lnTo>
                    <a:pt x="0" y="419100"/>
                  </a:lnTo>
                  <a:lnTo>
                    <a:pt x="104775" y="419100"/>
                  </a:lnTo>
                  <a:lnTo>
                    <a:pt x="104775" y="314325"/>
                  </a:lnTo>
                  <a:lnTo>
                    <a:pt x="209550" y="314325"/>
                  </a:lnTo>
                  <a:lnTo>
                    <a:pt x="209550" y="419100"/>
                  </a:lnTo>
                  <a:lnTo>
                    <a:pt x="314325" y="419100"/>
                  </a:lnTo>
                  <a:lnTo>
                    <a:pt x="314325" y="0"/>
                  </a:lnTo>
                  <a:close/>
                  <a:moveTo>
                    <a:pt x="78581" y="78581"/>
                  </a:moveTo>
                  <a:lnTo>
                    <a:pt x="130969" y="78581"/>
                  </a:lnTo>
                  <a:lnTo>
                    <a:pt x="130969" y="130969"/>
                  </a:lnTo>
                  <a:lnTo>
                    <a:pt x="78581" y="130969"/>
                  </a:lnTo>
                  <a:lnTo>
                    <a:pt x="78581" y="78581"/>
                  </a:lnTo>
                  <a:close/>
                  <a:moveTo>
                    <a:pt x="130969" y="183356"/>
                  </a:moveTo>
                  <a:lnTo>
                    <a:pt x="78581" y="183356"/>
                  </a:lnTo>
                  <a:lnTo>
                    <a:pt x="78581" y="235744"/>
                  </a:lnTo>
                  <a:lnTo>
                    <a:pt x="130969" y="235744"/>
                  </a:lnTo>
                  <a:lnTo>
                    <a:pt x="130969" y="183356"/>
                  </a:lnTo>
                  <a:close/>
                  <a:moveTo>
                    <a:pt x="183356" y="78581"/>
                  </a:moveTo>
                  <a:lnTo>
                    <a:pt x="235744" y="78581"/>
                  </a:lnTo>
                  <a:lnTo>
                    <a:pt x="235744" y="130969"/>
                  </a:lnTo>
                  <a:lnTo>
                    <a:pt x="183356" y="130969"/>
                  </a:lnTo>
                  <a:lnTo>
                    <a:pt x="183356" y="78581"/>
                  </a:lnTo>
                  <a:close/>
                  <a:moveTo>
                    <a:pt x="235744" y="183356"/>
                  </a:moveTo>
                  <a:lnTo>
                    <a:pt x="183356" y="183356"/>
                  </a:lnTo>
                  <a:lnTo>
                    <a:pt x="183356" y="235744"/>
                  </a:lnTo>
                  <a:lnTo>
                    <a:pt x="235744" y="235744"/>
                  </a:lnTo>
                  <a:lnTo>
                    <a:pt x="235744" y="183356"/>
                  </a:lnTo>
                  <a:close/>
                </a:path>
              </a:pathLst>
            </a:custGeom>
            <a:solidFill>
              <a:srgbClr val="008C7A"/>
            </a:solidFill>
            <a:ln>
              <a:noFill/>
            </a:ln>
          </p:spPr>
        </p:sp>
        <p:sp>
          <p:nvSpPr>
            <p:cNvPr id="11" name="TextBox 11"/>
            <p:cNvSpPr txBox="1"/>
            <p:nvPr/>
          </p:nvSpPr>
          <p:spPr>
            <a:xfrm>
              <a:off x="815340" y="2967990"/>
              <a:ext cx="1620917" cy="365760"/>
            </a:xfrm>
            <a:prstGeom prst="rect">
              <a:avLst/>
            </a:prstGeom>
            <a:noFill/>
            <a:ln>
              <a:noFill/>
            </a:ln>
          </p:spPr>
          <p:txBody>
            <a:bodyPr wrap="none" lIns="0" tIns="0" rIns="0" bIns="0" anchor="t" anchorCtr="0">
              <a:spAutoFit/>
            </a:bodyPr>
            <a:lstStyle/>
            <a:p>
              <a:pPr algn="l"/>
              <a:r>
                <a:rPr lang="zh-CN" sz="1800" b="1" dirty="0">
                  <a:solidFill>
                    <a:srgbClr val="123E4A"/>
                  </a:solidFill>
                  <a:latin typeface="Arial"/>
                  <a:ea typeface="Microsoft YaHei"/>
                  <a:cs typeface="Arial"/>
                </a:rPr>
                <a:t>Governments</a:t>
              </a:r>
            </a:p>
          </p:txBody>
        </p:sp>
        <p:sp>
          <p:nvSpPr>
            <p:cNvPr id="12" name="TextBox 12"/>
            <p:cNvSpPr txBox="1"/>
            <p:nvPr/>
          </p:nvSpPr>
          <p:spPr>
            <a:xfrm>
              <a:off x="822008" y="3424714"/>
              <a:ext cx="1401056"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Prepare national</a:t>
              </a:r>
            </a:p>
          </p:txBody>
        </p:sp>
        <p:sp>
          <p:nvSpPr>
            <p:cNvPr id="13" name="TextBox 13"/>
            <p:cNvSpPr txBox="1"/>
            <p:nvPr/>
          </p:nvSpPr>
          <p:spPr>
            <a:xfrm>
              <a:off x="822008" y="3691414"/>
              <a:ext cx="170709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emergency response</a:t>
              </a:r>
            </a:p>
          </p:txBody>
        </p:sp>
        <p:sp>
          <p:nvSpPr>
            <p:cNvPr id="14" name="TextBox 14"/>
            <p:cNvSpPr txBox="1"/>
            <p:nvPr/>
          </p:nvSpPr>
          <p:spPr>
            <a:xfrm>
              <a:off x="822008" y="3958114"/>
              <a:ext cx="1877116"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plans and food control</a:t>
              </a:r>
            </a:p>
          </p:txBody>
        </p:sp>
        <p:sp>
          <p:nvSpPr>
            <p:cNvPr id="15" name="TextBox 15"/>
            <p:cNvSpPr txBox="1"/>
            <p:nvPr/>
          </p:nvSpPr>
          <p:spPr>
            <a:xfrm>
              <a:off x="822008" y="4224814"/>
              <a:ext cx="81448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systems.</a:t>
              </a:r>
            </a:p>
          </p:txBody>
        </p:sp>
      </p:grpSp>
      <p:grpSp>
        <p:nvGrpSpPr>
          <p:cNvPr id="24" name="Group 24"/>
          <p:cNvGrpSpPr/>
          <p:nvPr/>
        </p:nvGrpSpPr>
        <p:grpSpPr>
          <a:xfrm>
            <a:off x="3409950" y="2038350"/>
            <a:ext cx="2609850" cy="2895600"/>
            <a:chOff x="3409950" y="2038350"/>
            <a:chExt cx="2609850" cy="2895600"/>
          </a:xfrm>
        </p:grpSpPr>
        <p:sp>
          <p:nvSpPr>
            <p:cNvPr id="17" name="Rectangle 17"/>
            <p:cNvSpPr/>
            <p:nvPr/>
          </p:nvSpPr>
          <p:spPr>
            <a:xfrm>
              <a:off x="3409950" y="2038350"/>
              <a:ext cx="2609850" cy="2895600"/>
            </a:xfrm>
            <a:prstGeom prst="roundRect">
              <a:avLst>
                <a:gd name="adj" fmla="val 8759"/>
              </a:avLst>
            </a:prstGeom>
            <a:solidFill>
              <a:srgbClr val="FFFFFF"/>
            </a:solidFill>
            <a:ln w="19050">
              <a:solidFill>
                <a:srgbClr val="C9D9D5"/>
              </a:solidFill>
            </a:ln>
          </p:spPr>
        </p:sp>
        <p:sp>
          <p:nvSpPr>
            <p:cNvPr id="18" name="Freeform 18"/>
            <p:cNvSpPr/>
            <p:nvPr/>
          </p:nvSpPr>
          <p:spPr>
            <a:xfrm>
              <a:off x="3759994" y="2343150"/>
              <a:ext cx="366712" cy="419100"/>
            </a:xfrm>
            <a:custGeom>
              <a:avLst/>
              <a:gdLst/>
              <a:ahLst/>
              <a:cxnLst/>
              <a:rect l="l" t="t" r="r" b="b"/>
              <a:pathLst>
                <a:path w="366712" h="419100">
                  <a:moveTo>
                    <a:pt x="183356" y="419100"/>
                  </a:moveTo>
                  <a:lnTo>
                    <a:pt x="87751" y="350810"/>
                  </a:lnTo>
                  <a:cubicBezTo>
                    <a:pt x="32683" y="311475"/>
                    <a:pt x="0" y="247968"/>
                    <a:pt x="0" y="180293"/>
                  </a:cubicBezTo>
                  <a:lnTo>
                    <a:pt x="0" y="78581"/>
                  </a:lnTo>
                  <a:lnTo>
                    <a:pt x="183356" y="0"/>
                  </a:lnTo>
                  <a:lnTo>
                    <a:pt x="366712" y="78581"/>
                  </a:lnTo>
                  <a:lnTo>
                    <a:pt x="366712" y="180293"/>
                  </a:lnTo>
                  <a:cubicBezTo>
                    <a:pt x="366712" y="247968"/>
                    <a:pt x="334031" y="311475"/>
                    <a:pt x="278961" y="350810"/>
                  </a:cubicBezTo>
                  <a:lnTo>
                    <a:pt x="183356" y="419100"/>
                  </a:lnTo>
                  <a:close/>
                  <a:moveTo>
                    <a:pt x="293556" y="149491"/>
                  </a:moveTo>
                  <a:lnTo>
                    <a:pt x="256513" y="112447"/>
                  </a:lnTo>
                  <a:lnTo>
                    <a:pt x="157162" y="211797"/>
                  </a:lnTo>
                  <a:lnTo>
                    <a:pt x="110200" y="164834"/>
                  </a:lnTo>
                  <a:lnTo>
                    <a:pt x="73156" y="201878"/>
                  </a:lnTo>
                  <a:lnTo>
                    <a:pt x="157162" y="285884"/>
                  </a:lnTo>
                  <a:lnTo>
                    <a:pt x="293556" y="149491"/>
                  </a:lnTo>
                  <a:close/>
                </a:path>
              </a:pathLst>
            </a:custGeom>
            <a:solidFill>
              <a:srgbClr val="008C7A"/>
            </a:solidFill>
            <a:ln>
              <a:noFill/>
            </a:ln>
          </p:spPr>
        </p:sp>
        <p:sp>
          <p:nvSpPr>
            <p:cNvPr id="19" name="TextBox 19"/>
            <p:cNvSpPr txBox="1"/>
            <p:nvPr/>
          </p:nvSpPr>
          <p:spPr>
            <a:xfrm>
              <a:off x="3710940" y="2967990"/>
              <a:ext cx="1998964" cy="365760"/>
            </a:xfrm>
            <a:prstGeom prst="rect">
              <a:avLst/>
            </a:prstGeom>
            <a:noFill/>
            <a:ln>
              <a:noFill/>
            </a:ln>
          </p:spPr>
          <p:txBody>
            <a:bodyPr wrap="none" lIns="0" tIns="0" rIns="0" bIns="0" anchor="t" anchorCtr="0">
              <a:spAutoFit/>
            </a:bodyPr>
            <a:lstStyle/>
            <a:p>
              <a:pPr algn="l"/>
              <a:r>
                <a:rPr lang="zh-CN" sz="1800" b="1" dirty="0">
                  <a:solidFill>
                    <a:srgbClr val="123E4A"/>
                  </a:solidFill>
                  <a:latin typeface="Arial"/>
                  <a:ea typeface="Microsoft YaHei"/>
                  <a:cs typeface="Arial"/>
                </a:rPr>
                <a:t>Food businesses</a:t>
              </a:r>
            </a:p>
          </p:txBody>
        </p:sp>
        <p:sp>
          <p:nvSpPr>
            <p:cNvPr id="20" name="TextBox 20"/>
            <p:cNvSpPr txBox="1"/>
            <p:nvPr/>
          </p:nvSpPr>
          <p:spPr>
            <a:xfrm>
              <a:off x="3717608" y="3424714"/>
              <a:ext cx="1766602"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Maintain food safety</a:t>
              </a:r>
            </a:p>
          </p:txBody>
        </p:sp>
        <p:sp>
          <p:nvSpPr>
            <p:cNvPr id="21" name="TextBox 21"/>
            <p:cNvSpPr txBox="1"/>
            <p:nvPr/>
          </p:nvSpPr>
          <p:spPr>
            <a:xfrm>
              <a:off x="3717608" y="3691414"/>
              <a:ext cx="1605082"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management plans,</a:t>
              </a:r>
            </a:p>
          </p:txBody>
        </p:sp>
        <p:sp>
          <p:nvSpPr>
            <p:cNvPr id="22" name="TextBox 22"/>
            <p:cNvSpPr txBox="1"/>
            <p:nvPr/>
          </p:nvSpPr>
          <p:spPr>
            <a:xfrm>
              <a:off x="3717608" y="3958114"/>
              <a:ext cx="191962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recall procedures, and</a:t>
              </a:r>
            </a:p>
          </p:txBody>
        </p:sp>
        <p:sp>
          <p:nvSpPr>
            <p:cNvPr id="23" name="TextBox 23"/>
            <p:cNvSpPr txBox="1"/>
            <p:nvPr/>
          </p:nvSpPr>
          <p:spPr>
            <a:xfrm>
              <a:off x="3717608" y="4224814"/>
              <a:ext cx="215765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consumer communication.</a:t>
              </a:r>
            </a:p>
          </p:txBody>
        </p:sp>
      </p:grpSp>
      <p:grpSp>
        <p:nvGrpSpPr>
          <p:cNvPr id="36" name="Group 36"/>
          <p:cNvGrpSpPr/>
          <p:nvPr/>
        </p:nvGrpSpPr>
        <p:grpSpPr>
          <a:xfrm>
            <a:off x="6305550" y="2038350"/>
            <a:ext cx="2609850" cy="2895600"/>
            <a:chOff x="6305550" y="2038350"/>
            <a:chExt cx="2609850" cy="2895600"/>
          </a:xfrm>
        </p:grpSpPr>
        <p:sp>
          <p:nvSpPr>
            <p:cNvPr id="25" name="Rectangle 25"/>
            <p:cNvSpPr/>
            <p:nvPr/>
          </p:nvSpPr>
          <p:spPr>
            <a:xfrm>
              <a:off x="6305550" y="2038350"/>
              <a:ext cx="2609850" cy="2895600"/>
            </a:xfrm>
            <a:prstGeom prst="roundRect">
              <a:avLst>
                <a:gd name="adj" fmla="val 8759"/>
              </a:avLst>
            </a:prstGeom>
            <a:solidFill>
              <a:srgbClr val="FFFFFF"/>
            </a:solidFill>
            <a:ln w="19050">
              <a:solidFill>
                <a:srgbClr val="C9D9D5"/>
              </a:solidFill>
            </a:ln>
          </p:spPr>
        </p:sp>
        <p:grpSp>
          <p:nvGrpSpPr>
            <p:cNvPr id="30" name="Group 30"/>
            <p:cNvGrpSpPr/>
            <p:nvPr/>
          </p:nvGrpSpPr>
          <p:grpSpPr>
            <a:xfrm>
              <a:off x="6629400" y="2369344"/>
              <a:ext cx="419100" cy="366712"/>
              <a:chOff x="6629400" y="2369344"/>
              <a:chExt cx="419100" cy="366712"/>
            </a:xfrm>
          </p:grpSpPr>
          <p:sp>
            <p:nvSpPr>
              <p:cNvPr id="26" name="Freeform 26"/>
              <p:cNvSpPr/>
              <p:nvPr/>
            </p:nvSpPr>
            <p:spPr>
              <a:xfrm>
                <a:off x="6707981" y="2369344"/>
                <a:ext cx="130969" cy="130969"/>
              </a:xfrm>
              <a:custGeom>
                <a:avLst/>
                <a:gdLst/>
                <a:ahLst/>
                <a:cxnLst/>
                <a:rect l="l" t="t" r="r" b="b"/>
                <a:pathLst>
                  <a:path w="130969" h="130969">
                    <a:moveTo>
                      <a:pt x="130969" y="65484"/>
                    </a:moveTo>
                    <a:cubicBezTo>
                      <a:pt x="130969" y="101650"/>
                      <a:pt x="101650" y="130969"/>
                      <a:pt x="65484" y="130969"/>
                    </a:cubicBezTo>
                    <a:cubicBezTo>
                      <a:pt x="29318" y="130969"/>
                      <a:pt x="0" y="101650"/>
                      <a:pt x="0" y="65484"/>
                    </a:cubicBezTo>
                    <a:cubicBezTo>
                      <a:pt x="0" y="29318"/>
                      <a:pt x="29318" y="0"/>
                      <a:pt x="65484" y="0"/>
                    </a:cubicBezTo>
                    <a:cubicBezTo>
                      <a:pt x="101650" y="0"/>
                      <a:pt x="130969" y="29318"/>
                      <a:pt x="130969" y="65484"/>
                    </a:cubicBezTo>
                    <a:close/>
                  </a:path>
                </a:pathLst>
              </a:custGeom>
              <a:solidFill>
                <a:srgbClr val="008C7A"/>
              </a:solidFill>
              <a:ln>
                <a:noFill/>
              </a:ln>
            </p:spPr>
          </p:sp>
          <p:sp>
            <p:nvSpPr>
              <p:cNvPr id="27" name="Freeform 27"/>
              <p:cNvSpPr/>
              <p:nvPr/>
            </p:nvSpPr>
            <p:spPr>
              <a:xfrm>
                <a:off x="6629400" y="2552700"/>
                <a:ext cx="209550" cy="183356"/>
              </a:xfrm>
              <a:custGeom>
                <a:avLst/>
                <a:gdLst/>
                <a:ahLst/>
                <a:cxnLst/>
                <a:rect l="l" t="t" r="r" b="b"/>
                <a:pathLst>
                  <a:path w="209550" h="183356">
                    <a:moveTo>
                      <a:pt x="78581" y="0"/>
                    </a:moveTo>
                    <a:cubicBezTo>
                      <a:pt x="35182" y="0"/>
                      <a:pt x="0" y="35182"/>
                      <a:pt x="0" y="78581"/>
                    </a:cubicBezTo>
                    <a:lnTo>
                      <a:pt x="0" y="183356"/>
                    </a:lnTo>
                    <a:lnTo>
                      <a:pt x="209550" y="183356"/>
                    </a:lnTo>
                    <a:lnTo>
                      <a:pt x="209550" y="0"/>
                    </a:lnTo>
                    <a:lnTo>
                      <a:pt x="78581" y="0"/>
                    </a:lnTo>
                    <a:close/>
                  </a:path>
                </a:pathLst>
              </a:custGeom>
              <a:solidFill>
                <a:srgbClr val="008C7A"/>
              </a:solidFill>
              <a:ln>
                <a:noFill/>
              </a:ln>
            </p:spPr>
          </p:sp>
          <p:sp>
            <p:nvSpPr>
              <p:cNvPr id="28" name="Freeform 28"/>
              <p:cNvSpPr/>
              <p:nvPr/>
            </p:nvSpPr>
            <p:spPr>
              <a:xfrm>
                <a:off x="6891338" y="2552700"/>
                <a:ext cx="157162" cy="183356"/>
              </a:xfrm>
              <a:custGeom>
                <a:avLst/>
                <a:gdLst/>
                <a:ahLst/>
                <a:cxnLst/>
                <a:rect l="l" t="t" r="r" b="b"/>
                <a:pathLst>
                  <a:path w="157162" h="183356">
                    <a:moveTo>
                      <a:pt x="78581" y="0"/>
                    </a:moveTo>
                    <a:lnTo>
                      <a:pt x="0" y="0"/>
                    </a:lnTo>
                    <a:lnTo>
                      <a:pt x="0" y="183356"/>
                    </a:lnTo>
                    <a:lnTo>
                      <a:pt x="157162" y="183356"/>
                    </a:lnTo>
                    <a:lnTo>
                      <a:pt x="157162" y="78581"/>
                    </a:lnTo>
                    <a:cubicBezTo>
                      <a:pt x="157162" y="35182"/>
                      <a:pt x="121982" y="0"/>
                      <a:pt x="78581" y="0"/>
                    </a:cubicBezTo>
                    <a:close/>
                  </a:path>
                </a:pathLst>
              </a:custGeom>
              <a:solidFill>
                <a:srgbClr val="008C7A"/>
              </a:solidFill>
              <a:ln>
                <a:noFill/>
              </a:ln>
            </p:spPr>
          </p:sp>
          <p:sp>
            <p:nvSpPr>
              <p:cNvPr id="29" name="Freeform 29"/>
              <p:cNvSpPr/>
              <p:nvPr/>
            </p:nvSpPr>
            <p:spPr>
              <a:xfrm>
                <a:off x="6891338" y="2395538"/>
                <a:ext cx="104775" cy="104775"/>
              </a:xfrm>
              <a:custGeom>
                <a:avLst/>
                <a:gdLst/>
                <a:ahLst/>
                <a:cxnLst/>
                <a:rect l="l" t="t" r="r" b="b"/>
                <a:pathLst>
                  <a:path w="104775" h="104775">
                    <a:moveTo>
                      <a:pt x="52388" y="104775"/>
                    </a:moveTo>
                    <a:cubicBezTo>
                      <a:pt x="81321" y="104775"/>
                      <a:pt x="104775" y="81320"/>
                      <a:pt x="104775" y="52388"/>
                    </a:cubicBezTo>
                    <a:cubicBezTo>
                      <a:pt x="104775" y="23455"/>
                      <a:pt x="81321" y="0"/>
                      <a:pt x="52388" y="0"/>
                    </a:cubicBezTo>
                    <a:cubicBezTo>
                      <a:pt x="23454" y="0"/>
                      <a:pt x="0" y="23455"/>
                      <a:pt x="0" y="52388"/>
                    </a:cubicBezTo>
                    <a:cubicBezTo>
                      <a:pt x="0" y="81320"/>
                      <a:pt x="23454" y="104775"/>
                      <a:pt x="52388" y="104775"/>
                    </a:cubicBezTo>
                    <a:close/>
                  </a:path>
                </a:pathLst>
              </a:custGeom>
              <a:solidFill>
                <a:srgbClr val="008C7A"/>
              </a:solidFill>
              <a:ln>
                <a:noFill/>
              </a:ln>
            </p:spPr>
          </p:sp>
        </p:grpSp>
        <p:sp>
          <p:nvSpPr>
            <p:cNvPr id="31" name="TextBox 31"/>
            <p:cNvSpPr txBox="1"/>
            <p:nvPr/>
          </p:nvSpPr>
          <p:spPr>
            <a:xfrm>
              <a:off x="6606540" y="2967990"/>
              <a:ext cx="1343682" cy="365760"/>
            </a:xfrm>
            <a:prstGeom prst="rect">
              <a:avLst/>
            </a:prstGeom>
            <a:noFill/>
            <a:ln>
              <a:noFill/>
            </a:ln>
          </p:spPr>
          <p:txBody>
            <a:bodyPr wrap="none" lIns="0" tIns="0" rIns="0" bIns="0" anchor="t" anchorCtr="0">
              <a:spAutoFit/>
            </a:bodyPr>
            <a:lstStyle/>
            <a:p>
              <a:pPr algn="l"/>
              <a:r>
                <a:rPr lang="zh-CN" sz="1800" b="1" dirty="0">
                  <a:solidFill>
                    <a:srgbClr val="123E4A"/>
                  </a:solidFill>
                  <a:latin typeface="Arial"/>
                  <a:ea typeface="Microsoft YaHei"/>
                  <a:cs typeface="Arial"/>
                </a:rPr>
                <a:t>Consumers</a:t>
              </a:r>
            </a:p>
          </p:txBody>
        </p:sp>
        <p:sp>
          <p:nvSpPr>
            <p:cNvPr id="32" name="TextBox 32"/>
            <p:cNvSpPr txBox="1"/>
            <p:nvPr/>
          </p:nvSpPr>
          <p:spPr>
            <a:xfrm>
              <a:off x="6613208" y="3424714"/>
              <a:ext cx="165608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Know how to report</a:t>
              </a:r>
            </a:p>
          </p:txBody>
        </p:sp>
        <p:sp>
          <p:nvSpPr>
            <p:cNvPr id="33" name="TextBox 33"/>
            <p:cNvSpPr txBox="1"/>
            <p:nvPr/>
          </p:nvSpPr>
          <p:spPr>
            <a:xfrm>
              <a:off x="6613208" y="3691414"/>
              <a:ext cx="158807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or respond to food</a:t>
              </a:r>
            </a:p>
          </p:txBody>
        </p:sp>
        <p:sp>
          <p:nvSpPr>
            <p:cNvPr id="34" name="TextBox 34"/>
            <p:cNvSpPr txBox="1"/>
            <p:nvPr/>
          </p:nvSpPr>
          <p:spPr>
            <a:xfrm>
              <a:off x="6613208" y="3958114"/>
              <a:ext cx="149456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safety incidents,</a:t>
              </a:r>
            </a:p>
          </p:txBody>
        </p:sp>
        <p:sp>
          <p:nvSpPr>
            <p:cNvPr id="35" name="TextBox 35"/>
            <p:cNvSpPr txBox="1"/>
            <p:nvPr/>
          </p:nvSpPr>
          <p:spPr>
            <a:xfrm>
              <a:off x="6613208" y="4224814"/>
              <a:ext cx="153707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including at home.</a:t>
              </a:r>
            </a:p>
          </p:txBody>
        </p:sp>
      </p:grpSp>
      <p:grpSp>
        <p:nvGrpSpPr>
          <p:cNvPr id="44" name="Group 44"/>
          <p:cNvGrpSpPr/>
          <p:nvPr/>
        </p:nvGrpSpPr>
        <p:grpSpPr>
          <a:xfrm>
            <a:off x="9201150" y="2038350"/>
            <a:ext cx="2343150" cy="2895600"/>
            <a:chOff x="9201150" y="2038350"/>
            <a:chExt cx="2343150" cy="2895600"/>
          </a:xfrm>
        </p:grpSpPr>
        <p:sp>
          <p:nvSpPr>
            <p:cNvPr id="37" name="Rectangle 37"/>
            <p:cNvSpPr/>
            <p:nvPr/>
          </p:nvSpPr>
          <p:spPr>
            <a:xfrm>
              <a:off x="9201150" y="2038350"/>
              <a:ext cx="2343150" cy="2895600"/>
            </a:xfrm>
            <a:prstGeom prst="roundRect">
              <a:avLst>
                <a:gd name="adj" fmla="val 9756"/>
              </a:avLst>
            </a:prstGeom>
            <a:solidFill>
              <a:srgbClr val="123E4A"/>
            </a:solidFill>
            <a:ln>
              <a:noFill/>
            </a:ln>
          </p:spPr>
        </p:sp>
        <p:sp>
          <p:nvSpPr>
            <p:cNvPr id="38" name="Freeform 38"/>
            <p:cNvSpPr/>
            <p:nvPr/>
          </p:nvSpPr>
          <p:spPr>
            <a:xfrm>
              <a:off x="9525000" y="2369344"/>
              <a:ext cx="419100" cy="366712"/>
            </a:xfrm>
            <a:custGeom>
              <a:avLst/>
              <a:gdLst/>
              <a:ahLst/>
              <a:cxnLst/>
              <a:rect l="l" t="t" r="r" b="b"/>
              <a:pathLst>
                <a:path w="419100" h="366712">
                  <a:moveTo>
                    <a:pt x="366712" y="0"/>
                  </a:moveTo>
                  <a:lnTo>
                    <a:pt x="366712" y="39291"/>
                  </a:lnTo>
                  <a:lnTo>
                    <a:pt x="52388" y="130969"/>
                  </a:lnTo>
                  <a:lnTo>
                    <a:pt x="52388" y="104775"/>
                  </a:lnTo>
                  <a:lnTo>
                    <a:pt x="0" y="104775"/>
                  </a:lnTo>
                  <a:lnTo>
                    <a:pt x="0" y="261938"/>
                  </a:lnTo>
                  <a:lnTo>
                    <a:pt x="52388" y="261938"/>
                  </a:lnTo>
                  <a:lnTo>
                    <a:pt x="52388" y="235744"/>
                  </a:lnTo>
                  <a:lnTo>
                    <a:pt x="107723" y="251884"/>
                  </a:lnTo>
                  <a:cubicBezTo>
                    <a:pt x="105799" y="259279"/>
                    <a:pt x="104775" y="267037"/>
                    <a:pt x="104775" y="275034"/>
                  </a:cubicBezTo>
                  <a:cubicBezTo>
                    <a:pt x="104775" y="325667"/>
                    <a:pt x="145821" y="366712"/>
                    <a:pt x="196453" y="366712"/>
                  </a:cubicBezTo>
                  <a:cubicBezTo>
                    <a:pt x="237254" y="366712"/>
                    <a:pt x="271828" y="340060"/>
                    <a:pt x="283718" y="303216"/>
                  </a:cubicBezTo>
                  <a:lnTo>
                    <a:pt x="366712" y="327422"/>
                  </a:lnTo>
                  <a:lnTo>
                    <a:pt x="366712" y="366712"/>
                  </a:lnTo>
                  <a:lnTo>
                    <a:pt x="419100" y="366712"/>
                  </a:lnTo>
                  <a:lnTo>
                    <a:pt x="419100" y="0"/>
                  </a:lnTo>
                  <a:lnTo>
                    <a:pt x="366712" y="0"/>
                  </a:lnTo>
                  <a:close/>
                  <a:moveTo>
                    <a:pt x="158077" y="266569"/>
                  </a:moveTo>
                  <a:lnTo>
                    <a:pt x="233365" y="288529"/>
                  </a:lnTo>
                  <a:cubicBezTo>
                    <a:pt x="227861" y="303580"/>
                    <a:pt x="213411" y="314325"/>
                    <a:pt x="196453" y="314325"/>
                  </a:cubicBezTo>
                  <a:cubicBezTo>
                    <a:pt x="174753" y="314325"/>
                    <a:pt x="157162" y="296733"/>
                    <a:pt x="157162" y="275034"/>
                  </a:cubicBezTo>
                  <a:cubicBezTo>
                    <a:pt x="157162" y="272129"/>
                    <a:pt x="157478" y="269295"/>
                    <a:pt x="158077" y="266569"/>
                  </a:cubicBezTo>
                  <a:close/>
                </a:path>
              </a:pathLst>
            </a:custGeom>
            <a:solidFill>
              <a:srgbClr val="F2B705"/>
            </a:solidFill>
            <a:ln>
              <a:noFill/>
            </a:ln>
          </p:spPr>
        </p:sp>
        <p:sp>
          <p:nvSpPr>
            <p:cNvPr id="39" name="TextBox 39"/>
            <p:cNvSpPr txBox="1"/>
            <p:nvPr/>
          </p:nvSpPr>
          <p:spPr>
            <a:xfrm>
              <a:off x="9502140" y="2967990"/>
              <a:ext cx="1154659"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Partners</a:t>
              </a:r>
            </a:p>
          </p:txBody>
        </p:sp>
        <p:sp>
          <p:nvSpPr>
            <p:cNvPr id="40" name="TextBox 40"/>
            <p:cNvSpPr txBox="1"/>
            <p:nvPr/>
          </p:nvSpPr>
          <p:spPr>
            <a:xfrm>
              <a:off x="9508808" y="3424714"/>
              <a:ext cx="1452062"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Translate toolkit</a:t>
              </a:r>
            </a:p>
          </p:txBody>
        </p:sp>
        <p:sp>
          <p:nvSpPr>
            <p:cNvPr id="41" name="TextBox 41"/>
            <p:cNvSpPr txBox="1"/>
            <p:nvPr/>
          </p:nvSpPr>
          <p:spPr>
            <a:xfrm>
              <a:off x="9508808" y="3691414"/>
              <a:ext cx="1630585"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messages into local</a:t>
              </a:r>
            </a:p>
          </p:txBody>
        </p:sp>
        <p:sp>
          <p:nvSpPr>
            <p:cNvPr id="42" name="TextBox 42"/>
            <p:cNvSpPr txBox="1"/>
            <p:nvPr/>
          </p:nvSpPr>
          <p:spPr>
            <a:xfrm>
              <a:off x="9508808" y="3958114"/>
              <a:ext cx="158807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briefings, events,</a:t>
              </a:r>
            </a:p>
          </p:txBody>
        </p:sp>
        <p:sp>
          <p:nvSpPr>
            <p:cNvPr id="43" name="TextBox 43"/>
            <p:cNvSpPr txBox="1"/>
            <p:nvPr/>
          </p:nvSpPr>
          <p:spPr>
            <a:xfrm>
              <a:off x="9508808" y="4224814"/>
              <a:ext cx="1452062"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and social posts.</a:t>
              </a:r>
            </a:p>
          </p:txBody>
        </p:sp>
      </p:grpSp>
      <p:grpSp>
        <p:nvGrpSpPr>
          <p:cNvPr id="48" name="Group 48"/>
          <p:cNvGrpSpPr/>
          <p:nvPr/>
        </p:nvGrpSpPr>
        <p:grpSpPr>
          <a:xfrm>
            <a:off x="514350" y="5391150"/>
            <a:ext cx="11029950" cy="609600"/>
            <a:chOff x="514350" y="5391150"/>
            <a:chExt cx="11029950" cy="609600"/>
          </a:xfrm>
        </p:grpSpPr>
        <p:sp>
          <p:nvSpPr>
            <p:cNvPr id="45" name="Rectangle 45"/>
            <p:cNvSpPr/>
            <p:nvPr/>
          </p:nvSpPr>
          <p:spPr>
            <a:xfrm>
              <a:off x="514350" y="5391150"/>
              <a:ext cx="11029950" cy="609600"/>
            </a:xfrm>
            <a:prstGeom prst="roundRect">
              <a:avLst>
                <a:gd name="adj" fmla="val 28125"/>
              </a:avLst>
            </a:prstGeom>
            <a:solidFill>
              <a:srgbClr val="E6F2EF"/>
            </a:solidFill>
            <a:ln w="19050">
              <a:solidFill>
                <a:srgbClr val="C9D9D5"/>
              </a:solidFill>
            </a:ln>
          </p:spPr>
        </p:sp>
        <p:sp>
          <p:nvSpPr>
            <p:cNvPr id="46" name="TextBox 46"/>
            <p:cNvSpPr txBox="1"/>
            <p:nvPr/>
          </p:nvSpPr>
          <p:spPr>
            <a:xfrm>
              <a:off x="820102" y="5618321"/>
              <a:ext cx="1532632" cy="289560"/>
            </a:xfrm>
            <a:prstGeom prst="rect">
              <a:avLst/>
            </a:prstGeom>
            <a:noFill/>
            <a:ln>
              <a:noFill/>
            </a:ln>
          </p:spPr>
          <p:txBody>
            <a:bodyPr wrap="none" lIns="0" tIns="0" rIns="0" bIns="0" anchor="t" anchorCtr="0">
              <a:spAutoFit/>
            </a:bodyPr>
            <a:lstStyle/>
            <a:p>
              <a:pPr algn="l"/>
              <a:r>
                <a:rPr lang="zh-CN" sz="1425" b="1" dirty="0">
                  <a:solidFill>
                    <a:srgbClr val="123E4A"/>
                  </a:solidFill>
                  <a:latin typeface="Arial"/>
                  <a:ea typeface="Microsoft YaHei"/>
                  <a:cs typeface="Arial"/>
                </a:rPr>
                <a:t>Common frame:</a:t>
              </a:r>
            </a:p>
          </p:txBody>
        </p:sp>
        <p:sp>
          <p:nvSpPr>
            <p:cNvPr id="47" name="TextBox 47"/>
            <p:cNvSpPr txBox="1"/>
            <p:nvPr/>
          </p:nvSpPr>
          <p:spPr>
            <a:xfrm>
              <a:off x="2191702" y="5618321"/>
              <a:ext cx="6449497" cy="289560"/>
            </a:xfrm>
            <a:prstGeom prst="rect">
              <a:avLst/>
            </a:prstGeom>
            <a:noFill/>
            <a:ln>
              <a:noFill/>
            </a:ln>
          </p:spPr>
          <p:txBody>
            <a:bodyPr wrap="none" lIns="0" tIns="0" rIns="0" bIns="0" anchor="t" anchorCtr="0">
              <a:spAutoFit/>
            </a:bodyPr>
            <a:lstStyle/>
            <a:p>
              <a:pPr algn="l"/>
              <a:r>
                <a:rPr lang="zh-CN" sz="1425" dirty="0">
                  <a:solidFill>
                    <a:srgbClr val="1F2933"/>
                  </a:solidFill>
                  <a:latin typeface="Arial"/>
                  <a:ea typeface="Microsoft YaHei"/>
                  <a:cs typeface="Arial"/>
                </a:rPr>
                <a:t>food safety is a shared responsibility from producers to consumers.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wipe(left)">
                                      <p:cBhvr>
                                        <p:cTn id="11" dur="400"/>
                                        <p:tgtEl>
                                          <p:spTgt spid="16"/>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slide(fromBottom)">
                                      <p:cBhvr>
                                        <p:cTn id="15" dur="400"/>
                                        <p:tgtEl>
                                          <p:spTgt spid="2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image">
                                      <p:cBhvr>
                                        <p:cTn id="19" dur="400"/>
                                        <p:tgtEl>
                                          <p:spTgt spid="36"/>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fade">
                                      <p:cBhvr>
                                        <p:cTn id="23" dur="400"/>
                                        <p:tgtEl>
                                          <p:spTgt spid="44"/>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8"/>
                                        </p:tgtEl>
                                        <p:attrNameLst>
                                          <p:attrName>style.visibility</p:attrName>
                                        </p:attrNameLst>
                                      </p:cBhvr>
                                      <p:to>
                                        <p:strVal val="visible"/>
                                      </p:to>
                                    </p:set>
                                    <p:animEffect transition="in" filter="fade">
                                      <p:cBhvr>
                                        <p:cTn id="27"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24" grpId="0"/>
      <p:bldP spid="36" grpId="0"/>
      <p:bldP spid="44" grpId="0"/>
      <p:bldP spid="4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989365"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STAKEHOLDER ACTION MATRIX</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05 / 10</a:t>
              </a:r>
            </a:p>
          </p:txBody>
        </p:sp>
      </p:grpSp>
      <p:grpSp>
        <p:nvGrpSpPr>
          <p:cNvPr id="8" name="Group 8"/>
          <p:cNvGrpSpPr/>
          <p:nvPr/>
        </p:nvGrpSpPr>
        <p:grpSpPr>
          <a:xfrm>
            <a:off x="478155" y="778192"/>
            <a:ext cx="8033435" cy="760096"/>
            <a:chOff x="478155" y="778192"/>
            <a:chExt cx="8033435" cy="760096"/>
          </a:xfrm>
        </p:grpSpPr>
        <p:sp>
          <p:nvSpPr>
            <p:cNvPr id="6" name="TextBox 6"/>
            <p:cNvSpPr txBox="1"/>
            <p:nvPr/>
          </p:nvSpPr>
          <p:spPr>
            <a:xfrm>
              <a:off x="478155" y="778192"/>
              <a:ext cx="8033435"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Preparedness roles by stakeholder group</a:t>
              </a:r>
            </a:p>
          </p:txBody>
        </p:sp>
        <p:sp>
          <p:nvSpPr>
            <p:cNvPr id="7" name="TextBox 7"/>
            <p:cNvSpPr txBox="1"/>
            <p:nvPr/>
          </p:nvSpPr>
          <p:spPr>
            <a:xfrm>
              <a:off x="497205" y="1263968"/>
              <a:ext cx="6317075"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Use this as the briefing table for partners adapting the toolkit locally.</a:t>
              </a:r>
            </a:p>
          </p:txBody>
        </p:sp>
      </p:grpSp>
      <p:grpSp>
        <p:nvGrpSpPr>
          <p:cNvPr id="46" name="Group 46"/>
          <p:cNvGrpSpPr/>
          <p:nvPr/>
        </p:nvGrpSpPr>
        <p:grpSpPr>
          <a:xfrm>
            <a:off x="514350" y="1847850"/>
            <a:ext cx="11163300" cy="3943350"/>
            <a:chOff x="514350" y="1847850"/>
            <a:chExt cx="11163300" cy="3943350"/>
          </a:xfrm>
        </p:grpSpPr>
        <p:sp>
          <p:nvSpPr>
            <p:cNvPr id="9" name="Rectangle 9"/>
            <p:cNvSpPr/>
            <p:nvPr/>
          </p:nvSpPr>
          <p:spPr>
            <a:xfrm>
              <a:off x="514350" y="1847850"/>
              <a:ext cx="11163300" cy="3943350"/>
            </a:xfrm>
            <a:prstGeom prst="roundRect">
              <a:avLst>
                <a:gd name="adj" fmla="val 5797"/>
              </a:avLst>
            </a:prstGeom>
            <a:solidFill>
              <a:srgbClr val="FFFFFF"/>
            </a:solidFill>
            <a:ln w="19050">
              <a:solidFill>
                <a:srgbClr val="C9D9D5"/>
              </a:solidFill>
            </a:ln>
          </p:spPr>
        </p:sp>
        <p:sp>
          <p:nvSpPr>
            <p:cNvPr id="10" name="Rectangle 10"/>
            <p:cNvSpPr/>
            <p:nvPr/>
          </p:nvSpPr>
          <p:spPr>
            <a:xfrm>
              <a:off x="514350" y="1847850"/>
              <a:ext cx="11163300" cy="552450"/>
            </a:xfrm>
            <a:prstGeom prst="roundRect">
              <a:avLst>
                <a:gd name="adj" fmla="val 41379"/>
              </a:avLst>
            </a:prstGeom>
            <a:solidFill>
              <a:srgbClr val="123E4A"/>
            </a:solidFill>
            <a:ln>
              <a:noFill/>
            </a:ln>
          </p:spPr>
        </p:sp>
        <p:sp>
          <p:nvSpPr>
            <p:cNvPr id="11" name="TextBox 11"/>
            <p:cNvSpPr txBox="1"/>
            <p:nvPr/>
          </p:nvSpPr>
          <p:spPr>
            <a:xfrm>
              <a:off x="821055" y="2054542"/>
              <a:ext cx="113062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Stakeholder</a:t>
              </a:r>
            </a:p>
          </p:txBody>
        </p:sp>
        <p:sp>
          <p:nvSpPr>
            <p:cNvPr id="12" name="TextBox 12"/>
            <p:cNvSpPr txBox="1"/>
            <p:nvPr/>
          </p:nvSpPr>
          <p:spPr>
            <a:xfrm>
              <a:off x="3088005" y="2054542"/>
              <a:ext cx="2019038"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Preparedness actions</a:t>
              </a:r>
            </a:p>
          </p:txBody>
        </p:sp>
        <p:sp>
          <p:nvSpPr>
            <p:cNvPr id="13" name="TextBox 13"/>
            <p:cNvSpPr txBox="1"/>
            <p:nvPr/>
          </p:nvSpPr>
          <p:spPr>
            <a:xfrm>
              <a:off x="8841105" y="2054542"/>
              <a:ext cx="1924526"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Partner briefing cue</a:t>
              </a:r>
            </a:p>
          </p:txBody>
        </p:sp>
        <p:sp>
          <p:nvSpPr>
            <p:cNvPr id="14" name="Line 14"/>
            <p:cNvSpPr/>
            <p:nvPr/>
          </p:nvSpPr>
          <p:spPr>
            <a:xfrm>
              <a:off x="2724150" y="2400300"/>
              <a:ext cx="9525" cy="3390900"/>
            </a:xfrm>
            <a:custGeom>
              <a:avLst/>
              <a:gdLst/>
              <a:ahLst/>
              <a:cxnLst/>
              <a:rect l="l" t="t" r="r" b="b"/>
              <a:pathLst>
                <a:path w="9525" h="3390900">
                  <a:moveTo>
                    <a:pt x="0" y="0"/>
                  </a:moveTo>
                  <a:lnTo>
                    <a:pt x="0" y="3390900"/>
                  </a:lnTo>
                </a:path>
              </a:pathLst>
            </a:custGeom>
            <a:noFill/>
            <a:ln w="19050">
              <a:solidFill>
                <a:srgbClr val="C9D9D5"/>
              </a:solidFill>
            </a:ln>
          </p:spPr>
        </p:sp>
        <p:sp>
          <p:nvSpPr>
            <p:cNvPr id="15" name="Line 15"/>
            <p:cNvSpPr/>
            <p:nvPr/>
          </p:nvSpPr>
          <p:spPr>
            <a:xfrm>
              <a:off x="8420100" y="2400300"/>
              <a:ext cx="9525" cy="3390900"/>
            </a:xfrm>
            <a:custGeom>
              <a:avLst/>
              <a:gdLst/>
              <a:ahLst/>
              <a:cxnLst/>
              <a:rect l="l" t="t" r="r" b="b"/>
              <a:pathLst>
                <a:path w="9525" h="3390900">
                  <a:moveTo>
                    <a:pt x="0" y="0"/>
                  </a:moveTo>
                  <a:lnTo>
                    <a:pt x="0" y="3390900"/>
                  </a:lnTo>
                </a:path>
              </a:pathLst>
            </a:custGeom>
            <a:noFill/>
            <a:ln w="19050">
              <a:solidFill>
                <a:srgbClr val="C9D9D5"/>
              </a:solidFill>
            </a:ln>
          </p:spPr>
        </p:sp>
        <p:sp>
          <p:nvSpPr>
            <p:cNvPr id="16" name="Line 16"/>
            <p:cNvSpPr/>
            <p:nvPr/>
          </p:nvSpPr>
          <p:spPr>
            <a:xfrm>
              <a:off x="514350" y="3543300"/>
              <a:ext cx="11163300" cy="9525"/>
            </a:xfrm>
            <a:custGeom>
              <a:avLst/>
              <a:gdLst/>
              <a:ahLst/>
              <a:cxnLst/>
              <a:rect l="l" t="t" r="r" b="b"/>
              <a:pathLst>
                <a:path w="11163300" h="9525">
                  <a:moveTo>
                    <a:pt x="0" y="0"/>
                  </a:moveTo>
                  <a:lnTo>
                    <a:pt x="11163300" y="0"/>
                  </a:lnTo>
                </a:path>
              </a:pathLst>
            </a:custGeom>
            <a:noFill/>
            <a:ln w="19050">
              <a:solidFill>
                <a:srgbClr val="C9D9D5"/>
              </a:solidFill>
            </a:ln>
          </p:spPr>
        </p:sp>
        <p:sp>
          <p:nvSpPr>
            <p:cNvPr id="17" name="Line 17"/>
            <p:cNvSpPr/>
            <p:nvPr/>
          </p:nvSpPr>
          <p:spPr>
            <a:xfrm>
              <a:off x="514350" y="4667250"/>
              <a:ext cx="11163300" cy="9525"/>
            </a:xfrm>
            <a:custGeom>
              <a:avLst/>
              <a:gdLst/>
              <a:ahLst/>
              <a:cxnLst/>
              <a:rect l="l" t="t" r="r" b="b"/>
              <a:pathLst>
                <a:path w="11163300" h="9525">
                  <a:moveTo>
                    <a:pt x="0" y="0"/>
                  </a:moveTo>
                  <a:lnTo>
                    <a:pt x="11163300" y="0"/>
                  </a:lnTo>
                </a:path>
              </a:pathLst>
            </a:custGeom>
            <a:noFill/>
            <a:ln w="19050">
              <a:solidFill>
                <a:srgbClr val="C9D9D5"/>
              </a:solidFill>
            </a:ln>
          </p:spPr>
        </p:sp>
        <p:grpSp>
          <p:nvGrpSpPr>
            <p:cNvPr id="25" name="Group 25"/>
            <p:cNvGrpSpPr/>
            <p:nvPr/>
          </p:nvGrpSpPr>
          <p:grpSpPr>
            <a:xfrm>
              <a:off x="921544" y="2586514"/>
              <a:ext cx="9956006" cy="868680"/>
              <a:chOff x="921544" y="2586514"/>
              <a:chExt cx="9956006" cy="868680"/>
            </a:xfrm>
          </p:grpSpPr>
          <p:sp>
            <p:nvSpPr>
              <p:cNvPr id="18" name="Freeform 18"/>
              <p:cNvSpPr/>
              <p:nvPr/>
            </p:nvSpPr>
            <p:spPr>
              <a:xfrm>
                <a:off x="921544" y="2781300"/>
                <a:ext cx="271462" cy="361950"/>
              </a:xfrm>
              <a:custGeom>
                <a:avLst/>
                <a:gdLst/>
                <a:ahLst/>
                <a:cxnLst/>
                <a:rect l="l" t="t" r="r" b="b"/>
                <a:pathLst>
                  <a:path w="271462" h="361950">
                    <a:moveTo>
                      <a:pt x="271462" y="0"/>
                    </a:moveTo>
                    <a:lnTo>
                      <a:pt x="0" y="0"/>
                    </a:lnTo>
                    <a:lnTo>
                      <a:pt x="0" y="361950"/>
                    </a:lnTo>
                    <a:lnTo>
                      <a:pt x="90488" y="361950"/>
                    </a:lnTo>
                    <a:lnTo>
                      <a:pt x="90488" y="271462"/>
                    </a:lnTo>
                    <a:lnTo>
                      <a:pt x="180975" y="271462"/>
                    </a:lnTo>
                    <a:lnTo>
                      <a:pt x="180975" y="361950"/>
                    </a:lnTo>
                    <a:lnTo>
                      <a:pt x="271462" y="361950"/>
                    </a:lnTo>
                    <a:lnTo>
                      <a:pt x="271462" y="0"/>
                    </a:lnTo>
                    <a:close/>
                    <a:moveTo>
                      <a:pt x="67866" y="67866"/>
                    </a:moveTo>
                    <a:lnTo>
                      <a:pt x="113109" y="67866"/>
                    </a:lnTo>
                    <a:lnTo>
                      <a:pt x="113109" y="113109"/>
                    </a:lnTo>
                    <a:lnTo>
                      <a:pt x="67866" y="113109"/>
                    </a:lnTo>
                    <a:lnTo>
                      <a:pt x="67866" y="67866"/>
                    </a:lnTo>
                    <a:close/>
                    <a:moveTo>
                      <a:pt x="113109" y="158353"/>
                    </a:moveTo>
                    <a:lnTo>
                      <a:pt x="67866" y="158353"/>
                    </a:lnTo>
                    <a:lnTo>
                      <a:pt x="67866" y="203597"/>
                    </a:lnTo>
                    <a:lnTo>
                      <a:pt x="113109" y="203597"/>
                    </a:lnTo>
                    <a:lnTo>
                      <a:pt x="113109" y="158353"/>
                    </a:lnTo>
                    <a:close/>
                    <a:moveTo>
                      <a:pt x="158353" y="67866"/>
                    </a:moveTo>
                    <a:lnTo>
                      <a:pt x="203597" y="67866"/>
                    </a:lnTo>
                    <a:lnTo>
                      <a:pt x="203597" y="113109"/>
                    </a:lnTo>
                    <a:lnTo>
                      <a:pt x="158353" y="113109"/>
                    </a:lnTo>
                    <a:lnTo>
                      <a:pt x="158353" y="67866"/>
                    </a:lnTo>
                    <a:close/>
                    <a:moveTo>
                      <a:pt x="203597" y="158353"/>
                    </a:moveTo>
                    <a:lnTo>
                      <a:pt x="158353" y="158353"/>
                    </a:lnTo>
                    <a:lnTo>
                      <a:pt x="158353" y="203597"/>
                    </a:lnTo>
                    <a:lnTo>
                      <a:pt x="203597" y="203597"/>
                    </a:lnTo>
                    <a:lnTo>
                      <a:pt x="203597" y="158353"/>
                    </a:lnTo>
                    <a:close/>
                  </a:path>
                </a:pathLst>
              </a:custGeom>
              <a:solidFill>
                <a:srgbClr val="008C7A"/>
              </a:solidFill>
              <a:ln>
                <a:noFill/>
              </a:ln>
            </p:spPr>
          </p:sp>
          <p:sp>
            <p:nvSpPr>
              <p:cNvPr id="19" name="TextBox 19"/>
              <p:cNvSpPr txBox="1"/>
              <p:nvPr/>
            </p:nvSpPr>
            <p:spPr>
              <a:xfrm>
                <a:off x="1370648" y="2858929"/>
                <a:ext cx="1418302" cy="320040"/>
              </a:xfrm>
              <a:prstGeom prst="rect">
                <a:avLst/>
              </a:prstGeom>
              <a:noFill/>
              <a:ln>
                <a:noFill/>
              </a:ln>
            </p:spPr>
            <p:txBody>
              <a:bodyPr wrap="none" lIns="0" tIns="0" rIns="0" bIns="0" anchor="t" anchorCtr="0">
                <a:spAutoFit/>
              </a:bodyPr>
              <a:lstStyle/>
              <a:p>
                <a:pPr algn="l"/>
                <a:r>
                  <a:rPr lang="zh-CN" sz="1575" b="1" dirty="0">
                    <a:solidFill>
                      <a:srgbClr val="123E4A"/>
                    </a:solidFill>
                    <a:latin typeface="Arial"/>
                    <a:ea typeface="Microsoft YaHei"/>
                    <a:cs typeface="Arial"/>
                  </a:rPr>
                  <a:t>Governments</a:t>
                </a:r>
              </a:p>
            </p:txBody>
          </p:sp>
          <p:sp>
            <p:nvSpPr>
              <p:cNvPr id="20" name="TextBox 20"/>
              <p:cNvSpPr txBox="1"/>
              <p:nvPr/>
            </p:nvSpPr>
            <p:spPr>
              <a:xfrm>
                <a:off x="3088958" y="2586514"/>
                <a:ext cx="450394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Develop or update national emergency response plans.</a:t>
                </a:r>
              </a:p>
            </p:txBody>
          </p:sp>
          <p:sp>
            <p:nvSpPr>
              <p:cNvPr id="21" name="TextBox 21"/>
              <p:cNvSpPr txBox="1"/>
              <p:nvPr/>
            </p:nvSpPr>
            <p:spPr>
              <a:xfrm>
                <a:off x="3088958" y="2891314"/>
                <a:ext cx="498000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Strengthen national food control systems and surveillance.</a:t>
                </a:r>
              </a:p>
            </p:txBody>
          </p:sp>
          <p:sp>
            <p:nvSpPr>
              <p:cNvPr id="22" name="TextBox 22"/>
              <p:cNvSpPr txBox="1"/>
              <p:nvPr/>
            </p:nvSpPr>
            <p:spPr>
              <a:xfrm>
                <a:off x="3088958" y="3196114"/>
                <a:ext cx="4571952"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Improve communication with businesses and the public.</a:t>
                </a:r>
              </a:p>
            </p:txBody>
          </p:sp>
          <p:sp>
            <p:nvSpPr>
              <p:cNvPr id="23" name="Rectangle 23"/>
              <p:cNvSpPr/>
              <p:nvPr/>
            </p:nvSpPr>
            <p:spPr>
              <a:xfrm>
                <a:off x="8839200" y="2838450"/>
                <a:ext cx="2038350" cy="361950"/>
              </a:xfrm>
              <a:prstGeom prst="roundRect">
                <a:avLst>
                  <a:gd name="adj" fmla="val 50000"/>
                </a:avLst>
              </a:prstGeom>
              <a:solidFill>
                <a:srgbClr val="E6F2EF"/>
              </a:solidFill>
              <a:ln>
                <a:noFill/>
              </a:ln>
            </p:spPr>
          </p:sp>
          <p:sp>
            <p:nvSpPr>
              <p:cNvPr id="24" name="TextBox 24"/>
              <p:cNvSpPr txBox="1"/>
              <p:nvPr/>
            </p:nvSpPr>
            <p:spPr>
              <a:xfrm>
                <a:off x="8887155" y="2955131"/>
                <a:ext cx="1942439" cy="228600"/>
              </a:xfrm>
              <a:prstGeom prst="rect">
                <a:avLst/>
              </a:prstGeom>
              <a:noFill/>
              <a:ln>
                <a:noFill/>
              </a:ln>
            </p:spPr>
            <p:txBody>
              <a:bodyPr wrap="none" lIns="0" tIns="0" rIns="0" bIns="0" anchor="t" anchorCtr="0">
                <a:spAutoFit/>
              </a:bodyPr>
              <a:lstStyle/>
              <a:p>
                <a:pPr algn="ctr"/>
                <a:r>
                  <a:rPr lang="zh-CN" sz="1125" b="1" dirty="0">
                    <a:solidFill>
                      <a:srgbClr val="123E4A"/>
                    </a:solidFill>
                    <a:latin typeface="Arial"/>
                    <a:ea typeface="Microsoft YaHei"/>
                    <a:cs typeface="Arial"/>
                  </a:rPr>
                  <a:t>Plan, coordinate, inform</a:t>
                </a:r>
              </a:p>
            </p:txBody>
          </p:sp>
        </p:grpSp>
        <p:grpSp>
          <p:nvGrpSpPr>
            <p:cNvPr id="33" name="Group 33"/>
            <p:cNvGrpSpPr/>
            <p:nvPr/>
          </p:nvGrpSpPr>
          <p:grpSpPr>
            <a:xfrm>
              <a:off x="898922" y="3729514"/>
              <a:ext cx="10088193" cy="868680"/>
              <a:chOff x="898922" y="3729514"/>
              <a:chExt cx="10088193" cy="868680"/>
            </a:xfrm>
          </p:grpSpPr>
          <p:sp>
            <p:nvSpPr>
              <p:cNvPr id="26" name="Freeform 26"/>
              <p:cNvSpPr/>
              <p:nvPr/>
            </p:nvSpPr>
            <p:spPr>
              <a:xfrm>
                <a:off x="898922" y="3924300"/>
                <a:ext cx="316706" cy="361950"/>
              </a:xfrm>
              <a:custGeom>
                <a:avLst/>
                <a:gdLst/>
                <a:ahLst/>
                <a:cxnLst/>
                <a:rect l="l" t="t" r="r" b="b"/>
                <a:pathLst>
                  <a:path w="316706" h="361950">
                    <a:moveTo>
                      <a:pt x="158353" y="361950"/>
                    </a:moveTo>
                    <a:lnTo>
                      <a:pt x="75785" y="302973"/>
                    </a:lnTo>
                    <a:cubicBezTo>
                      <a:pt x="28226" y="269001"/>
                      <a:pt x="0" y="214154"/>
                      <a:pt x="0" y="155708"/>
                    </a:cubicBezTo>
                    <a:lnTo>
                      <a:pt x="0" y="67866"/>
                    </a:lnTo>
                    <a:lnTo>
                      <a:pt x="158353" y="0"/>
                    </a:lnTo>
                    <a:lnTo>
                      <a:pt x="316706" y="67866"/>
                    </a:lnTo>
                    <a:lnTo>
                      <a:pt x="316706" y="155708"/>
                    </a:lnTo>
                    <a:cubicBezTo>
                      <a:pt x="316706" y="214154"/>
                      <a:pt x="288481" y="269001"/>
                      <a:pt x="240921" y="302973"/>
                    </a:cubicBezTo>
                    <a:lnTo>
                      <a:pt x="158353" y="361950"/>
                    </a:lnTo>
                    <a:close/>
                    <a:moveTo>
                      <a:pt x="253526" y="129106"/>
                    </a:moveTo>
                    <a:lnTo>
                      <a:pt x="221534" y="97113"/>
                    </a:lnTo>
                    <a:lnTo>
                      <a:pt x="135731" y="182916"/>
                    </a:lnTo>
                    <a:lnTo>
                      <a:pt x="95173" y="142357"/>
                    </a:lnTo>
                    <a:lnTo>
                      <a:pt x="63180" y="174349"/>
                    </a:lnTo>
                    <a:lnTo>
                      <a:pt x="135731" y="246900"/>
                    </a:lnTo>
                    <a:lnTo>
                      <a:pt x="253526" y="129106"/>
                    </a:lnTo>
                    <a:close/>
                  </a:path>
                </a:pathLst>
              </a:custGeom>
              <a:solidFill>
                <a:srgbClr val="008C7A"/>
              </a:solidFill>
              <a:ln>
                <a:noFill/>
              </a:ln>
            </p:spPr>
          </p:sp>
          <p:sp>
            <p:nvSpPr>
              <p:cNvPr id="27" name="TextBox 27"/>
              <p:cNvSpPr txBox="1"/>
              <p:nvPr/>
            </p:nvSpPr>
            <p:spPr>
              <a:xfrm>
                <a:off x="1370648" y="4001929"/>
                <a:ext cx="1749094" cy="320040"/>
              </a:xfrm>
              <a:prstGeom prst="rect">
                <a:avLst/>
              </a:prstGeom>
              <a:noFill/>
              <a:ln>
                <a:noFill/>
              </a:ln>
            </p:spPr>
            <p:txBody>
              <a:bodyPr wrap="none" lIns="0" tIns="0" rIns="0" bIns="0" anchor="t" anchorCtr="0">
                <a:spAutoFit/>
              </a:bodyPr>
              <a:lstStyle/>
              <a:p>
                <a:pPr algn="l"/>
                <a:r>
                  <a:rPr lang="zh-CN" sz="1575" b="1" dirty="0">
                    <a:solidFill>
                      <a:srgbClr val="123E4A"/>
                    </a:solidFill>
                    <a:latin typeface="Arial"/>
                    <a:ea typeface="Microsoft YaHei"/>
                    <a:cs typeface="Arial"/>
                  </a:rPr>
                  <a:t>Food businesses</a:t>
                </a:r>
              </a:p>
            </p:txBody>
          </p:sp>
          <p:sp>
            <p:nvSpPr>
              <p:cNvPr id="28" name="TextBox 28"/>
              <p:cNvSpPr txBox="1"/>
              <p:nvPr/>
            </p:nvSpPr>
            <p:spPr>
              <a:xfrm>
                <a:off x="3088958" y="3729514"/>
                <a:ext cx="333929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Improve food safety management plans.</a:t>
                </a:r>
              </a:p>
            </p:txBody>
          </p:sp>
          <p:sp>
            <p:nvSpPr>
              <p:cNvPr id="29" name="TextBox 29"/>
              <p:cNvSpPr txBox="1"/>
              <p:nvPr/>
            </p:nvSpPr>
            <p:spPr>
              <a:xfrm>
                <a:off x="3088958" y="4034314"/>
                <a:ext cx="458045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Share lessons learned and act quickly during incidents.</a:t>
                </a:r>
              </a:p>
            </p:txBody>
          </p:sp>
          <p:sp>
            <p:nvSpPr>
              <p:cNvPr id="30" name="TextBox 30"/>
              <p:cNvSpPr txBox="1"/>
              <p:nvPr/>
            </p:nvSpPr>
            <p:spPr>
              <a:xfrm>
                <a:off x="3088958" y="4339114"/>
                <a:ext cx="3364802"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Improve communication with consumers.</a:t>
                </a:r>
              </a:p>
            </p:txBody>
          </p:sp>
          <p:sp>
            <p:nvSpPr>
              <p:cNvPr id="31" name="Rectangle 31"/>
              <p:cNvSpPr/>
              <p:nvPr/>
            </p:nvSpPr>
            <p:spPr>
              <a:xfrm>
                <a:off x="8839200" y="3981450"/>
                <a:ext cx="2038350" cy="361950"/>
              </a:xfrm>
              <a:prstGeom prst="roundRect">
                <a:avLst>
                  <a:gd name="adj" fmla="val 50000"/>
                </a:avLst>
              </a:prstGeom>
              <a:solidFill>
                <a:srgbClr val="E6F2EF"/>
              </a:solidFill>
              <a:ln>
                <a:noFill/>
              </a:ln>
            </p:spPr>
          </p:sp>
          <p:sp>
            <p:nvSpPr>
              <p:cNvPr id="32" name="TextBox 32"/>
              <p:cNvSpPr txBox="1"/>
              <p:nvPr/>
            </p:nvSpPr>
            <p:spPr>
              <a:xfrm>
                <a:off x="8729636" y="4098131"/>
                <a:ext cx="2257479" cy="228600"/>
              </a:xfrm>
              <a:prstGeom prst="rect">
                <a:avLst/>
              </a:prstGeom>
              <a:noFill/>
              <a:ln>
                <a:noFill/>
              </a:ln>
            </p:spPr>
            <p:txBody>
              <a:bodyPr wrap="none" lIns="0" tIns="0" rIns="0" bIns="0" anchor="t" anchorCtr="0">
                <a:spAutoFit/>
              </a:bodyPr>
              <a:lstStyle/>
              <a:p>
                <a:pPr algn="ctr"/>
                <a:r>
                  <a:rPr lang="zh-CN" sz="1125" b="1" dirty="0">
                    <a:solidFill>
                      <a:srgbClr val="123E4A"/>
                    </a:solidFill>
                    <a:latin typeface="Arial"/>
                    <a:ea typeface="Microsoft YaHei"/>
                    <a:cs typeface="Arial"/>
                  </a:rPr>
                  <a:t>Manage, trace, communicate</a:t>
                </a:r>
              </a:p>
            </p:txBody>
          </p:sp>
        </p:grpSp>
        <p:grpSp>
          <p:nvGrpSpPr>
            <p:cNvPr id="45" name="Group 45"/>
            <p:cNvGrpSpPr/>
            <p:nvPr/>
          </p:nvGrpSpPr>
          <p:grpSpPr>
            <a:xfrm>
              <a:off x="876300" y="4853464"/>
              <a:ext cx="10063559" cy="868680"/>
              <a:chOff x="876300" y="4853464"/>
              <a:chExt cx="10063559" cy="868680"/>
            </a:xfrm>
          </p:grpSpPr>
          <p:grpSp>
            <p:nvGrpSpPr>
              <p:cNvPr id="38" name="Group 38"/>
              <p:cNvGrpSpPr/>
              <p:nvPr/>
            </p:nvGrpSpPr>
            <p:grpSpPr>
              <a:xfrm>
                <a:off x="876300" y="5070872"/>
                <a:ext cx="361950" cy="316706"/>
                <a:chOff x="876300" y="5070872"/>
                <a:chExt cx="361950" cy="316706"/>
              </a:xfrm>
            </p:grpSpPr>
            <p:sp>
              <p:nvSpPr>
                <p:cNvPr id="34" name="Freeform 34"/>
                <p:cNvSpPr/>
                <p:nvPr/>
              </p:nvSpPr>
              <p:spPr>
                <a:xfrm>
                  <a:off x="944166" y="5070872"/>
                  <a:ext cx="113109" cy="113109"/>
                </a:xfrm>
                <a:custGeom>
                  <a:avLst/>
                  <a:gdLst/>
                  <a:ahLst/>
                  <a:cxnLst/>
                  <a:rect l="l" t="t" r="r" b="b"/>
                  <a:pathLst>
                    <a:path w="113109" h="113109">
                      <a:moveTo>
                        <a:pt x="113109" y="56555"/>
                      </a:moveTo>
                      <a:cubicBezTo>
                        <a:pt x="113109" y="87789"/>
                        <a:pt x="87789" y="113109"/>
                        <a:pt x="56555" y="113109"/>
                      </a:cubicBezTo>
                      <a:cubicBezTo>
                        <a:pt x="25320" y="113109"/>
                        <a:pt x="0" y="87789"/>
                        <a:pt x="0" y="56555"/>
                      </a:cubicBezTo>
                      <a:cubicBezTo>
                        <a:pt x="0" y="25320"/>
                        <a:pt x="25320" y="0"/>
                        <a:pt x="56555" y="0"/>
                      </a:cubicBezTo>
                      <a:cubicBezTo>
                        <a:pt x="87789" y="0"/>
                        <a:pt x="113109" y="25320"/>
                        <a:pt x="113109" y="56555"/>
                      </a:cubicBezTo>
                      <a:close/>
                    </a:path>
                  </a:pathLst>
                </a:custGeom>
                <a:solidFill>
                  <a:srgbClr val="008C7A"/>
                </a:solidFill>
                <a:ln>
                  <a:noFill/>
                </a:ln>
              </p:spPr>
            </p:sp>
            <p:sp>
              <p:nvSpPr>
                <p:cNvPr id="35" name="Freeform 35"/>
                <p:cNvSpPr/>
                <p:nvPr/>
              </p:nvSpPr>
              <p:spPr>
                <a:xfrm>
                  <a:off x="876300" y="5229225"/>
                  <a:ext cx="180975" cy="158353"/>
                </a:xfrm>
                <a:custGeom>
                  <a:avLst/>
                  <a:gdLst/>
                  <a:ahLst/>
                  <a:cxnLst/>
                  <a:rect l="l" t="t" r="r" b="b"/>
                  <a:pathLst>
                    <a:path w="180975" h="158353">
                      <a:moveTo>
                        <a:pt x="67866" y="0"/>
                      </a:moveTo>
                      <a:cubicBezTo>
                        <a:pt x="30385" y="0"/>
                        <a:pt x="0" y="30385"/>
                        <a:pt x="0" y="67866"/>
                      </a:cubicBezTo>
                      <a:lnTo>
                        <a:pt x="0" y="158353"/>
                      </a:lnTo>
                      <a:lnTo>
                        <a:pt x="180975" y="158353"/>
                      </a:lnTo>
                      <a:lnTo>
                        <a:pt x="180975" y="0"/>
                      </a:lnTo>
                      <a:lnTo>
                        <a:pt x="67866" y="0"/>
                      </a:lnTo>
                      <a:close/>
                    </a:path>
                  </a:pathLst>
                </a:custGeom>
                <a:solidFill>
                  <a:srgbClr val="008C7A"/>
                </a:solidFill>
                <a:ln>
                  <a:noFill/>
                </a:ln>
              </p:spPr>
            </p:sp>
            <p:sp>
              <p:nvSpPr>
                <p:cNvPr id="36" name="Freeform 36"/>
                <p:cNvSpPr/>
                <p:nvPr/>
              </p:nvSpPr>
              <p:spPr>
                <a:xfrm>
                  <a:off x="1102519" y="5229225"/>
                  <a:ext cx="135731" cy="158353"/>
                </a:xfrm>
                <a:custGeom>
                  <a:avLst/>
                  <a:gdLst/>
                  <a:ahLst/>
                  <a:cxnLst/>
                  <a:rect l="l" t="t" r="r" b="b"/>
                  <a:pathLst>
                    <a:path w="135731" h="158353">
                      <a:moveTo>
                        <a:pt x="67866" y="0"/>
                      </a:moveTo>
                      <a:lnTo>
                        <a:pt x="0" y="0"/>
                      </a:lnTo>
                      <a:lnTo>
                        <a:pt x="0" y="158353"/>
                      </a:lnTo>
                      <a:lnTo>
                        <a:pt x="135731" y="158353"/>
                      </a:lnTo>
                      <a:lnTo>
                        <a:pt x="135731" y="67866"/>
                      </a:lnTo>
                      <a:cubicBezTo>
                        <a:pt x="135731" y="30385"/>
                        <a:pt x="105348" y="0"/>
                        <a:pt x="67866" y="0"/>
                      </a:cubicBezTo>
                      <a:close/>
                    </a:path>
                  </a:pathLst>
                </a:custGeom>
                <a:solidFill>
                  <a:srgbClr val="008C7A"/>
                </a:solidFill>
                <a:ln>
                  <a:noFill/>
                </a:ln>
              </p:spPr>
            </p:sp>
            <p:sp>
              <p:nvSpPr>
                <p:cNvPr id="37" name="Freeform 37"/>
                <p:cNvSpPr/>
                <p:nvPr/>
              </p:nvSpPr>
              <p:spPr>
                <a:xfrm>
                  <a:off x="1102519" y="5093494"/>
                  <a:ext cx="90488" cy="90488"/>
                </a:xfrm>
                <a:custGeom>
                  <a:avLst/>
                  <a:gdLst/>
                  <a:ahLst/>
                  <a:cxnLst/>
                  <a:rect l="l" t="t" r="r" b="b"/>
                  <a:pathLst>
                    <a:path w="90488" h="90488">
                      <a:moveTo>
                        <a:pt x="45244" y="90488"/>
                      </a:moveTo>
                      <a:cubicBezTo>
                        <a:pt x="70232" y="90488"/>
                        <a:pt x="90488" y="70231"/>
                        <a:pt x="90488" y="45244"/>
                      </a:cubicBezTo>
                      <a:cubicBezTo>
                        <a:pt x="90488" y="20256"/>
                        <a:pt x="70232" y="0"/>
                        <a:pt x="45244" y="0"/>
                      </a:cubicBezTo>
                      <a:cubicBezTo>
                        <a:pt x="20256" y="0"/>
                        <a:pt x="0" y="20256"/>
                        <a:pt x="0" y="45244"/>
                      </a:cubicBezTo>
                      <a:cubicBezTo>
                        <a:pt x="0" y="70231"/>
                        <a:pt x="20256" y="90488"/>
                        <a:pt x="45244" y="90488"/>
                      </a:cubicBezTo>
                      <a:close/>
                    </a:path>
                  </a:pathLst>
                </a:custGeom>
                <a:solidFill>
                  <a:srgbClr val="008C7A"/>
                </a:solidFill>
                <a:ln>
                  <a:noFill/>
                </a:ln>
              </p:spPr>
            </p:sp>
          </p:grpSp>
          <p:sp>
            <p:nvSpPr>
              <p:cNvPr id="39" name="TextBox 39"/>
              <p:cNvSpPr txBox="1"/>
              <p:nvPr/>
            </p:nvSpPr>
            <p:spPr>
              <a:xfrm>
                <a:off x="1370648" y="5125879"/>
                <a:ext cx="1175722" cy="320040"/>
              </a:xfrm>
              <a:prstGeom prst="rect">
                <a:avLst/>
              </a:prstGeom>
              <a:noFill/>
              <a:ln>
                <a:noFill/>
              </a:ln>
            </p:spPr>
            <p:txBody>
              <a:bodyPr wrap="none" lIns="0" tIns="0" rIns="0" bIns="0" anchor="t" anchorCtr="0">
                <a:spAutoFit/>
              </a:bodyPr>
              <a:lstStyle/>
              <a:p>
                <a:pPr algn="l"/>
                <a:r>
                  <a:rPr lang="zh-CN" sz="1575" b="1" dirty="0">
                    <a:solidFill>
                      <a:srgbClr val="123E4A"/>
                    </a:solidFill>
                    <a:latin typeface="Arial"/>
                    <a:ea typeface="Microsoft YaHei"/>
                    <a:cs typeface="Arial"/>
                  </a:rPr>
                  <a:t>Consumers</a:t>
                </a:r>
              </a:p>
            </p:txBody>
          </p:sp>
          <p:sp>
            <p:nvSpPr>
              <p:cNvPr id="40" name="TextBox 40"/>
              <p:cNvSpPr txBox="1"/>
              <p:nvPr/>
            </p:nvSpPr>
            <p:spPr>
              <a:xfrm>
                <a:off x="3088958" y="4853464"/>
                <a:ext cx="482698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Know how to report or respond to a food safety incident.</a:t>
                </a:r>
              </a:p>
            </p:txBody>
          </p:sp>
          <p:sp>
            <p:nvSpPr>
              <p:cNvPr id="41" name="TextBox 41"/>
              <p:cNvSpPr txBox="1"/>
              <p:nvPr/>
            </p:nvSpPr>
            <p:spPr>
              <a:xfrm>
                <a:off x="3088958" y="5158264"/>
                <a:ext cx="4435935"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Understand unexpected home risks and how to react.</a:t>
                </a:r>
              </a:p>
            </p:txBody>
          </p:sp>
          <p:sp>
            <p:nvSpPr>
              <p:cNvPr id="42" name="TextBox 42"/>
              <p:cNvSpPr txBox="1"/>
              <p:nvPr/>
            </p:nvSpPr>
            <p:spPr>
              <a:xfrm>
                <a:off x="3088958" y="5463064"/>
                <a:ext cx="4291417"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Use trusted guidance during recalls or disruptions.</a:t>
                </a:r>
              </a:p>
            </p:txBody>
          </p:sp>
          <p:sp>
            <p:nvSpPr>
              <p:cNvPr id="43" name="Rectangle 43"/>
              <p:cNvSpPr/>
              <p:nvPr/>
            </p:nvSpPr>
            <p:spPr>
              <a:xfrm>
                <a:off x="8839200" y="5105400"/>
                <a:ext cx="2038350" cy="361950"/>
              </a:xfrm>
              <a:prstGeom prst="roundRect">
                <a:avLst>
                  <a:gd name="adj" fmla="val 50000"/>
                </a:avLst>
              </a:prstGeom>
              <a:solidFill>
                <a:srgbClr val="E6F2EF"/>
              </a:solidFill>
              <a:ln>
                <a:noFill/>
              </a:ln>
            </p:spPr>
          </p:sp>
          <p:sp>
            <p:nvSpPr>
              <p:cNvPr id="44" name="TextBox 44"/>
              <p:cNvSpPr txBox="1"/>
              <p:nvPr/>
            </p:nvSpPr>
            <p:spPr>
              <a:xfrm>
                <a:off x="8776892" y="5222081"/>
                <a:ext cx="2162967" cy="228600"/>
              </a:xfrm>
              <a:prstGeom prst="rect">
                <a:avLst/>
              </a:prstGeom>
              <a:noFill/>
              <a:ln>
                <a:noFill/>
              </a:ln>
            </p:spPr>
            <p:txBody>
              <a:bodyPr wrap="none" lIns="0" tIns="0" rIns="0" bIns="0" anchor="t" anchorCtr="0">
                <a:spAutoFit/>
              </a:bodyPr>
              <a:lstStyle/>
              <a:p>
                <a:pPr algn="ctr"/>
                <a:r>
                  <a:rPr lang="zh-CN" sz="1125" b="1" dirty="0">
                    <a:solidFill>
                      <a:srgbClr val="123E4A"/>
                    </a:solidFill>
                    <a:latin typeface="Arial"/>
                    <a:ea typeface="Microsoft YaHei"/>
                    <a:cs typeface="Arial"/>
                  </a:rPr>
                  <a:t>Recognize, report, respond</a:t>
                </a:r>
              </a:p>
            </p:txBody>
          </p:sp>
        </p:grpSp>
      </p:grpSp>
      <p:grpSp>
        <p:nvGrpSpPr>
          <p:cNvPr id="48" name="Group 48"/>
          <p:cNvGrpSpPr/>
          <p:nvPr/>
        </p:nvGrpSpPr>
        <p:grpSpPr>
          <a:xfrm>
            <a:off x="501968" y="6143149"/>
            <a:ext cx="4295799" cy="198120"/>
            <a:chOff x="501968" y="6143149"/>
            <a:chExt cx="4295799" cy="198120"/>
          </a:xfrm>
        </p:grpSpPr>
        <p:sp>
          <p:nvSpPr>
            <p:cNvPr id="47" name="TextBox 47"/>
            <p:cNvSpPr txBox="1"/>
            <p:nvPr/>
          </p:nvSpPr>
          <p:spPr>
            <a:xfrm>
              <a:off x="501968" y="6143149"/>
              <a:ext cx="429579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Arial"/>
                  <a:ea typeface="Microsoft YaHei"/>
                  <a:cs typeface="Arial"/>
                </a:rPr>
                <a:t>Source: World Food Safety Day 2024 communication toolkit, page 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image">
                                      <p:cBhvr>
                                        <p:cTn id="11" dur="400"/>
                                        <p:tgtEl>
                                          <p:spTgt spid="46"/>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6" grpId="0"/>
      <p:bldP spid="4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982289"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INFOSAN ROLE</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06 / 10</a:t>
              </a:r>
            </a:p>
          </p:txBody>
        </p:sp>
      </p:grpSp>
      <p:grpSp>
        <p:nvGrpSpPr>
          <p:cNvPr id="9" name="Group 9"/>
          <p:cNvGrpSpPr/>
          <p:nvPr/>
        </p:nvGrpSpPr>
        <p:grpSpPr>
          <a:xfrm>
            <a:off x="478155" y="778192"/>
            <a:ext cx="8372627" cy="1007746"/>
            <a:chOff x="478155" y="778192"/>
            <a:chExt cx="8372627" cy="1007746"/>
          </a:xfrm>
        </p:grpSpPr>
        <p:sp>
          <p:nvSpPr>
            <p:cNvPr id="6" name="TextBox 6"/>
            <p:cNvSpPr txBox="1"/>
            <p:nvPr/>
          </p:nvSpPr>
          <p:spPr>
            <a:xfrm>
              <a:off x="478155" y="778192"/>
              <a:ext cx="8372627"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Rapid exchange of information saves lives.</a:t>
              </a:r>
            </a:p>
          </p:txBody>
        </p:sp>
        <p:sp>
          <p:nvSpPr>
            <p:cNvPr id="7" name="TextBox 7"/>
            <p:cNvSpPr txBox="1"/>
            <p:nvPr/>
          </p:nvSpPr>
          <p:spPr>
            <a:xfrm>
              <a:off x="497205" y="1263968"/>
              <a:ext cx="6173057"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The FAO/WHO International Food Safety Authorities Network supports</a:t>
              </a:r>
            </a:p>
          </p:txBody>
        </p:sp>
        <p:sp>
          <p:nvSpPr>
            <p:cNvPr id="8" name="TextBox 8"/>
            <p:cNvSpPr txBox="1"/>
            <p:nvPr/>
          </p:nvSpPr>
          <p:spPr>
            <a:xfrm>
              <a:off x="497205" y="1511618"/>
              <a:ext cx="3958780"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information flow during food safety events.</a:t>
              </a:r>
            </a:p>
          </p:txBody>
        </p:sp>
      </p:grpSp>
      <p:grpSp>
        <p:nvGrpSpPr>
          <p:cNvPr id="38" name="Group 38"/>
          <p:cNvGrpSpPr/>
          <p:nvPr/>
        </p:nvGrpSpPr>
        <p:grpSpPr>
          <a:xfrm>
            <a:off x="514350" y="1866900"/>
            <a:ext cx="6610350" cy="3733800"/>
            <a:chOff x="514350" y="1866900"/>
            <a:chExt cx="6610350" cy="3733800"/>
          </a:xfrm>
        </p:grpSpPr>
        <p:sp>
          <p:nvSpPr>
            <p:cNvPr id="10" name="Rectangle 10"/>
            <p:cNvSpPr/>
            <p:nvPr/>
          </p:nvSpPr>
          <p:spPr>
            <a:xfrm>
              <a:off x="514350" y="1866900"/>
              <a:ext cx="6610350" cy="3733800"/>
            </a:xfrm>
            <a:prstGeom prst="roundRect">
              <a:avLst>
                <a:gd name="adj" fmla="val 6633"/>
              </a:avLst>
            </a:prstGeom>
            <a:solidFill>
              <a:srgbClr val="FFFFFF"/>
            </a:solidFill>
            <a:ln w="19050">
              <a:solidFill>
                <a:srgbClr val="C9D9D5"/>
              </a:solidFill>
            </a:ln>
          </p:spPr>
        </p:sp>
        <p:sp>
          <p:nvSpPr>
            <p:cNvPr id="11" name="Ellipse 11"/>
            <p:cNvSpPr/>
            <p:nvPr/>
          </p:nvSpPr>
          <p:spPr>
            <a:xfrm>
              <a:off x="2952750" y="2857500"/>
              <a:ext cx="1752600" cy="1752600"/>
            </a:xfrm>
            <a:prstGeom prst="ellipse">
              <a:avLst/>
            </a:prstGeom>
            <a:solidFill>
              <a:srgbClr val="123E4A"/>
            </a:solidFill>
            <a:ln>
              <a:noFill/>
            </a:ln>
          </p:spPr>
        </p:sp>
        <p:sp>
          <p:nvSpPr>
            <p:cNvPr id="12" name="TextBox 12"/>
            <p:cNvSpPr txBox="1"/>
            <p:nvPr/>
          </p:nvSpPr>
          <p:spPr>
            <a:xfrm>
              <a:off x="3118280" y="3325178"/>
              <a:ext cx="1421540" cy="518160"/>
            </a:xfrm>
            <a:prstGeom prst="rect">
              <a:avLst/>
            </a:prstGeom>
            <a:noFill/>
            <a:ln>
              <a:noFill/>
            </a:ln>
          </p:spPr>
          <p:txBody>
            <a:bodyPr wrap="none" lIns="0" tIns="0" rIns="0" bIns="0" anchor="t" anchorCtr="0">
              <a:spAutoFit/>
            </a:bodyPr>
            <a:lstStyle/>
            <a:p>
              <a:pPr algn="ctr"/>
              <a:r>
                <a:rPr lang="zh-CN" sz="2550" b="1" dirty="0">
                  <a:solidFill>
                    <a:srgbClr val="FFFFFF"/>
                  </a:solidFill>
                  <a:latin typeface="Arial"/>
                  <a:ea typeface="Microsoft YaHei"/>
                  <a:cs typeface="Arial"/>
                </a:rPr>
                <a:t>INFOSAN</a:t>
              </a:r>
            </a:p>
          </p:txBody>
        </p:sp>
        <p:sp>
          <p:nvSpPr>
            <p:cNvPr id="13" name="TextBox 13"/>
            <p:cNvSpPr txBox="1"/>
            <p:nvPr/>
          </p:nvSpPr>
          <p:spPr>
            <a:xfrm>
              <a:off x="3109722" y="3794760"/>
              <a:ext cx="1438656" cy="243840"/>
            </a:xfrm>
            <a:prstGeom prst="rect">
              <a:avLst/>
            </a:prstGeom>
            <a:noFill/>
            <a:ln>
              <a:noFill/>
            </a:ln>
          </p:spPr>
          <p:txBody>
            <a:bodyPr wrap="none" lIns="0" tIns="0" rIns="0" bIns="0" anchor="t" anchorCtr="0">
              <a:spAutoFit/>
            </a:bodyPr>
            <a:lstStyle/>
            <a:p>
              <a:pPr algn="ctr"/>
              <a:r>
                <a:rPr lang="zh-CN" sz="1200" dirty="0">
                  <a:solidFill>
                    <a:srgbClr val="FFFFFF"/>
                  </a:solidFill>
                  <a:latin typeface="Arial"/>
                  <a:ea typeface="Microsoft YaHei"/>
                  <a:cs typeface="Arial"/>
                </a:rPr>
                <a:t>FAO/WHO network</a:t>
              </a:r>
            </a:p>
          </p:txBody>
        </p:sp>
        <p:grpSp>
          <p:nvGrpSpPr>
            <p:cNvPr id="17" name="Group 17"/>
            <p:cNvGrpSpPr/>
            <p:nvPr/>
          </p:nvGrpSpPr>
          <p:grpSpPr>
            <a:xfrm>
              <a:off x="1104900" y="2190750"/>
              <a:ext cx="1028700" cy="1326356"/>
              <a:chOff x="1104900" y="2190750"/>
              <a:chExt cx="1028700" cy="1326356"/>
            </a:xfrm>
          </p:grpSpPr>
          <p:sp>
            <p:nvSpPr>
              <p:cNvPr id="14" name="Ellipse 14"/>
              <p:cNvSpPr/>
              <p:nvPr/>
            </p:nvSpPr>
            <p:spPr>
              <a:xfrm>
                <a:off x="1104900" y="2190750"/>
                <a:ext cx="1028700" cy="1028700"/>
              </a:xfrm>
              <a:prstGeom prst="ellipse">
                <a:avLst/>
              </a:prstGeom>
              <a:solidFill>
                <a:srgbClr val="E6F2EF"/>
              </a:solidFill>
              <a:ln w="28575">
                <a:solidFill>
                  <a:srgbClr val="008C7A"/>
                </a:solidFill>
              </a:ln>
            </p:spPr>
          </p:sp>
          <p:sp>
            <p:nvSpPr>
              <p:cNvPr id="15" name="Freeform 15"/>
              <p:cNvSpPr/>
              <p:nvPr/>
            </p:nvSpPr>
            <p:spPr>
              <a:xfrm>
                <a:off x="1447800" y="2476500"/>
                <a:ext cx="342900" cy="457200"/>
              </a:xfrm>
              <a:custGeom>
                <a:avLst/>
                <a:gdLst/>
                <a:ahLst/>
                <a:cxnLst/>
                <a:rect l="l" t="t" r="r" b="b"/>
                <a:pathLst>
                  <a:path w="342900" h="457200">
                    <a:moveTo>
                      <a:pt x="342900" y="0"/>
                    </a:moveTo>
                    <a:lnTo>
                      <a:pt x="0" y="0"/>
                    </a:lnTo>
                    <a:lnTo>
                      <a:pt x="0" y="457200"/>
                    </a:lnTo>
                    <a:lnTo>
                      <a:pt x="114300" y="457200"/>
                    </a:lnTo>
                    <a:lnTo>
                      <a:pt x="114300" y="342900"/>
                    </a:lnTo>
                    <a:lnTo>
                      <a:pt x="228600" y="342900"/>
                    </a:lnTo>
                    <a:lnTo>
                      <a:pt x="228600" y="457200"/>
                    </a:lnTo>
                    <a:lnTo>
                      <a:pt x="342900" y="457200"/>
                    </a:lnTo>
                    <a:lnTo>
                      <a:pt x="342900" y="0"/>
                    </a:lnTo>
                    <a:close/>
                    <a:moveTo>
                      <a:pt x="85725" y="85725"/>
                    </a:moveTo>
                    <a:lnTo>
                      <a:pt x="142875" y="85725"/>
                    </a:lnTo>
                    <a:lnTo>
                      <a:pt x="142875" y="142875"/>
                    </a:lnTo>
                    <a:lnTo>
                      <a:pt x="85725" y="142875"/>
                    </a:lnTo>
                    <a:lnTo>
                      <a:pt x="85725" y="85725"/>
                    </a:lnTo>
                    <a:close/>
                    <a:moveTo>
                      <a:pt x="142875" y="200025"/>
                    </a:moveTo>
                    <a:lnTo>
                      <a:pt x="85725" y="200025"/>
                    </a:lnTo>
                    <a:lnTo>
                      <a:pt x="85725" y="257175"/>
                    </a:lnTo>
                    <a:lnTo>
                      <a:pt x="142875" y="257175"/>
                    </a:lnTo>
                    <a:lnTo>
                      <a:pt x="142875" y="200025"/>
                    </a:lnTo>
                    <a:close/>
                    <a:moveTo>
                      <a:pt x="200025" y="85725"/>
                    </a:moveTo>
                    <a:lnTo>
                      <a:pt x="257175" y="85725"/>
                    </a:lnTo>
                    <a:lnTo>
                      <a:pt x="257175" y="142875"/>
                    </a:lnTo>
                    <a:lnTo>
                      <a:pt x="200025" y="142875"/>
                    </a:lnTo>
                    <a:lnTo>
                      <a:pt x="200025" y="85725"/>
                    </a:lnTo>
                    <a:close/>
                    <a:moveTo>
                      <a:pt x="257175" y="200025"/>
                    </a:moveTo>
                    <a:lnTo>
                      <a:pt x="200025" y="200025"/>
                    </a:lnTo>
                    <a:lnTo>
                      <a:pt x="200025" y="257175"/>
                    </a:lnTo>
                    <a:lnTo>
                      <a:pt x="257175" y="257175"/>
                    </a:lnTo>
                    <a:lnTo>
                      <a:pt x="257175" y="200025"/>
                    </a:lnTo>
                    <a:close/>
                  </a:path>
                </a:pathLst>
              </a:custGeom>
              <a:solidFill>
                <a:srgbClr val="008C7A"/>
              </a:solidFill>
              <a:ln>
                <a:noFill/>
              </a:ln>
            </p:spPr>
          </p:sp>
          <p:sp>
            <p:nvSpPr>
              <p:cNvPr id="16" name="TextBox 16"/>
              <p:cNvSpPr txBox="1"/>
              <p:nvPr/>
            </p:nvSpPr>
            <p:spPr>
              <a:xfrm>
                <a:off x="1167845" y="3288506"/>
                <a:ext cx="902809"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Authorities</a:t>
                </a:r>
              </a:p>
            </p:txBody>
          </p:sp>
        </p:grpSp>
        <p:grpSp>
          <p:nvGrpSpPr>
            <p:cNvPr id="21" name="Group 21"/>
            <p:cNvGrpSpPr/>
            <p:nvPr/>
          </p:nvGrpSpPr>
          <p:grpSpPr>
            <a:xfrm>
              <a:off x="5467350" y="2190750"/>
              <a:ext cx="1028700" cy="1326356"/>
              <a:chOff x="5467350" y="2190750"/>
              <a:chExt cx="1028700" cy="1326356"/>
            </a:xfrm>
          </p:grpSpPr>
          <p:sp>
            <p:nvSpPr>
              <p:cNvPr id="18" name="Ellipse 18"/>
              <p:cNvSpPr/>
              <p:nvPr/>
            </p:nvSpPr>
            <p:spPr>
              <a:xfrm>
                <a:off x="5467350" y="2190750"/>
                <a:ext cx="1028700" cy="1028700"/>
              </a:xfrm>
              <a:prstGeom prst="ellipse">
                <a:avLst/>
              </a:prstGeom>
              <a:solidFill>
                <a:srgbClr val="E6F2EF"/>
              </a:solidFill>
              <a:ln w="28575">
                <a:solidFill>
                  <a:srgbClr val="008C7A"/>
                </a:solidFill>
              </a:ln>
            </p:spPr>
          </p:sp>
          <p:sp>
            <p:nvSpPr>
              <p:cNvPr id="19" name="Freeform 19"/>
              <p:cNvSpPr/>
              <p:nvPr/>
            </p:nvSpPr>
            <p:spPr>
              <a:xfrm>
                <a:off x="5781675" y="2476500"/>
                <a:ext cx="400050" cy="457200"/>
              </a:xfrm>
              <a:custGeom>
                <a:avLst/>
                <a:gdLst/>
                <a:ahLst/>
                <a:cxnLst/>
                <a:rect l="l" t="t" r="r" b="b"/>
                <a:pathLst>
                  <a:path w="400050" h="457200">
                    <a:moveTo>
                      <a:pt x="200025" y="457200"/>
                    </a:moveTo>
                    <a:lnTo>
                      <a:pt x="95729" y="382702"/>
                    </a:lnTo>
                    <a:cubicBezTo>
                      <a:pt x="35654" y="339791"/>
                      <a:pt x="0" y="270510"/>
                      <a:pt x="0" y="196683"/>
                    </a:cubicBezTo>
                    <a:lnTo>
                      <a:pt x="0" y="85725"/>
                    </a:lnTo>
                    <a:lnTo>
                      <a:pt x="200025" y="0"/>
                    </a:lnTo>
                    <a:lnTo>
                      <a:pt x="400050" y="85725"/>
                    </a:lnTo>
                    <a:lnTo>
                      <a:pt x="400050" y="196683"/>
                    </a:lnTo>
                    <a:cubicBezTo>
                      <a:pt x="400050" y="270510"/>
                      <a:pt x="364397" y="339791"/>
                      <a:pt x="304321" y="382702"/>
                    </a:cubicBezTo>
                    <a:lnTo>
                      <a:pt x="200025" y="457200"/>
                    </a:lnTo>
                    <a:close/>
                    <a:moveTo>
                      <a:pt x="320243" y="163081"/>
                    </a:moveTo>
                    <a:lnTo>
                      <a:pt x="279832" y="122669"/>
                    </a:lnTo>
                    <a:lnTo>
                      <a:pt x="171450" y="231051"/>
                    </a:lnTo>
                    <a:lnTo>
                      <a:pt x="120218" y="179819"/>
                    </a:lnTo>
                    <a:lnTo>
                      <a:pt x="79807" y="220231"/>
                    </a:lnTo>
                    <a:lnTo>
                      <a:pt x="171450" y="311873"/>
                    </a:lnTo>
                    <a:lnTo>
                      <a:pt x="320243" y="163081"/>
                    </a:lnTo>
                    <a:close/>
                  </a:path>
                </a:pathLst>
              </a:custGeom>
              <a:solidFill>
                <a:srgbClr val="008C7A"/>
              </a:solidFill>
              <a:ln>
                <a:noFill/>
              </a:ln>
            </p:spPr>
          </p:sp>
          <p:sp>
            <p:nvSpPr>
              <p:cNvPr id="20" name="TextBox 20"/>
              <p:cNvSpPr txBox="1"/>
              <p:nvPr/>
            </p:nvSpPr>
            <p:spPr>
              <a:xfrm>
                <a:off x="5486977" y="3288506"/>
                <a:ext cx="989445"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Food control</a:t>
                </a:r>
              </a:p>
            </p:txBody>
          </p:sp>
        </p:grpSp>
        <p:grpSp>
          <p:nvGrpSpPr>
            <p:cNvPr id="25" name="Group 25"/>
            <p:cNvGrpSpPr/>
            <p:nvPr/>
          </p:nvGrpSpPr>
          <p:grpSpPr>
            <a:xfrm>
              <a:off x="1104900" y="4248150"/>
              <a:ext cx="1028700" cy="1326356"/>
              <a:chOff x="1104900" y="4248150"/>
              <a:chExt cx="1028700" cy="1326356"/>
            </a:xfrm>
          </p:grpSpPr>
          <p:sp>
            <p:nvSpPr>
              <p:cNvPr id="22" name="Ellipse 22"/>
              <p:cNvSpPr/>
              <p:nvPr/>
            </p:nvSpPr>
            <p:spPr>
              <a:xfrm>
                <a:off x="1104900" y="4248150"/>
                <a:ext cx="1028700" cy="1028700"/>
              </a:xfrm>
              <a:prstGeom prst="ellipse">
                <a:avLst/>
              </a:prstGeom>
              <a:solidFill>
                <a:srgbClr val="E6F2EF"/>
              </a:solidFill>
              <a:ln w="28575">
                <a:solidFill>
                  <a:srgbClr val="008C7A"/>
                </a:solidFill>
              </a:ln>
            </p:spPr>
          </p:sp>
          <p:sp>
            <p:nvSpPr>
              <p:cNvPr id="23" name="Freeform 23"/>
              <p:cNvSpPr/>
              <p:nvPr/>
            </p:nvSpPr>
            <p:spPr>
              <a:xfrm>
                <a:off x="1390650" y="4562475"/>
                <a:ext cx="457200" cy="428625"/>
              </a:xfrm>
              <a:custGeom>
                <a:avLst/>
                <a:gdLst/>
                <a:ahLst/>
                <a:cxnLst/>
                <a:rect l="l" t="t" r="r" b="b"/>
                <a:pathLst>
                  <a:path w="457200" h="428625">
                    <a:moveTo>
                      <a:pt x="0" y="0"/>
                    </a:moveTo>
                    <a:lnTo>
                      <a:pt x="457200" y="0"/>
                    </a:lnTo>
                    <a:lnTo>
                      <a:pt x="457200" y="342900"/>
                    </a:lnTo>
                    <a:lnTo>
                      <a:pt x="314325" y="342900"/>
                    </a:lnTo>
                    <a:lnTo>
                      <a:pt x="228600" y="428625"/>
                    </a:lnTo>
                    <a:lnTo>
                      <a:pt x="142875" y="342900"/>
                    </a:lnTo>
                    <a:lnTo>
                      <a:pt x="0" y="342900"/>
                    </a:lnTo>
                    <a:lnTo>
                      <a:pt x="0" y="0"/>
                    </a:lnTo>
                    <a:close/>
                  </a:path>
                </a:pathLst>
              </a:custGeom>
              <a:solidFill>
                <a:srgbClr val="008C7A"/>
              </a:solidFill>
              <a:ln>
                <a:noFill/>
              </a:ln>
            </p:spPr>
          </p:sp>
          <p:sp>
            <p:nvSpPr>
              <p:cNvPr id="24" name="TextBox 24"/>
              <p:cNvSpPr txBox="1"/>
              <p:nvPr/>
            </p:nvSpPr>
            <p:spPr>
              <a:xfrm>
                <a:off x="1207225" y="5345906"/>
                <a:ext cx="824049"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Public info</a:t>
                </a:r>
              </a:p>
            </p:txBody>
          </p:sp>
        </p:grpSp>
        <p:grpSp>
          <p:nvGrpSpPr>
            <p:cNvPr id="33" name="Group 33"/>
            <p:cNvGrpSpPr/>
            <p:nvPr/>
          </p:nvGrpSpPr>
          <p:grpSpPr>
            <a:xfrm>
              <a:off x="5467350" y="4248150"/>
              <a:ext cx="1028700" cy="1326356"/>
              <a:chOff x="5467350" y="4248150"/>
              <a:chExt cx="1028700" cy="1326356"/>
            </a:xfrm>
          </p:grpSpPr>
          <p:sp>
            <p:nvSpPr>
              <p:cNvPr id="26" name="Ellipse 26"/>
              <p:cNvSpPr/>
              <p:nvPr/>
            </p:nvSpPr>
            <p:spPr>
              <a:xfrm>
                <a:off x="5467350" y="4248150"/>
                <a:ext cx="1028700" cy="1028700"/>
              </a:xfrm>
              <a:prstGeom prst="ellipse">
                <a:avLst/>
              </a:prstGeom>
              <a:solidFill>
                <a:srgbClr val="E6F2EF"/>
              </a:solidFill>
              <a:ln w="28575">
                <a:solidFill>
                  <a:srgbClr val="008C7A"/>
                </a:solidFill>
              </a:ln>
            </p:spPr>
          </p:sp>
          <p:grpSp>
            <p:nvGrpSpPr>
              <p:cNvPr id="31" name="Group 31"/>
              <p:cNvGrpSpPr/>
              <p:nvPr/>
            </p:nvGrpSpPr>
            <p:grpSpPr>
              <a:xfrm>
                <a:off x="5754868" y="4533900"/>
                <a:ext cx="453663" cy="457200"/>
                <a:chOff x="5754868" y="4533900"/>
                <a:chExt cx="453663" cy="457200"/>
              </a:xfrm>
            </p:grpSpPr>
            <p:sp>
              <p:nvSpPr>
                <p:cNvPr id="27" name="Freeform 27"/>
                <p:cNvSpPr/>
                <p:nvPr/>
              </p:nvSpPr>
              <p:spPr>
                <a:xfrm>
                  <a:off x="5754868" y="4628426"/>
                  <a:ext cx="453663" cy="105499"/>
                </a:xfrm>
                <a:custGeom>
                  <a:avLst/>
                  <a:gdLst/>
                  <a:ahLst/>
                  <a:cxnLst/>
                  <a:rect l="l" t="t" r="r" b="b"/>
                  <a:pathLst>
                    <a:path w="453663" h="105499">
                      <a:moveTo>
                        <a:pt x="41656" y="1"/>
                      </a:moveTo>
                      <a:cubicBezTo>
                        <a:pt x="19617" y="30387"/>
                        <a:pt x="4874" y="66411"/>
                        <a:pt x="0" y="105499"/>
                      </a:cubicBezTo>
                      <a:lnTo>
                        <a:pt x="453663" y="105499"/>
                      </a:lnTo>
                      <a:cubicBezTo>
                        <a:pt x="448788" y="66410"/>
                        <a:pt x="434046" y="30387"/>
                        <a:pt x="412006" y="0"/>
                      </a:cubicBezTo>
                      <a:cubicBezTo>
                        <a:pt x="410817" y="666"/>
                        <a:pt x="409611" y="1331"/>
                        <a:pt x="408391" y="1997"/>
                      </a:cubicBezTo>
                      <a:cubicBezTo>
                        <a:pt x="365946" y="25149"/>
                        <a:pt x="304113" y="48349"/>
                        <a:pt x="226831" y="48349"/>
                      </a:cubicBezTo>
                      <a:cubicBezTo>
                        <a:pt x="149550" y="48349"/>
                        <a:pt x="87714" y="25149"/>
                        <a:pt x="45269" y="1997"/>
                      </a:cubicBezTo>
                      <a:cubicBezTo>
                        <a:pt x="44049" y="1332"/>
                        <a:pt x="42845" y="666"/>
                        <a:pt x="41656" y="1"/>
                      </a:cubicBezTo>
                      <a:close/>
                    </a:path>
                  </a:pathLst>
                </a:custGeom>
                <a:solidFill>
                  <a:srgbClr val="008C7A"/>
                </a:solidFill>
                <a:ln>
                  <a:noFill/>
                </a:ln>
              </p:spPr>
            </p:sp>
            <p:sp>
              <p:nvSpPr>
                <p:cNvPr id="28" name="Freeform 28"/>
                <p:cNvSpPr/>
                <p:nvPr/>
              </p:nvSpPr>
              <p:spPr>
                <a:xfrm>
                  <a:off x="5837218" y="4533900"/>
                  <a:ext cx="288963" cy="85725"/>
                </a:xfrm>
                <a:custGeom>
                  <a:avLst/>
                  <a:gdLst/>
                  <a:ahLst/>
                  <a:cxnLst/>
                  <a:rect l="l" t="t" r="r" b="b"/>
                  <a:pathLst>
                    <a:path w="288963" h="85725">
                      <a:moveTo>
                        <a:pt x="288963" y="51438"/>
                      </a:moveTo>
                      <a:cubicBezTo>
                        <a:pt x="253393" y="69308"/>
                        <a:pt x="204418" y="85725"/>
                        <a:pt x="144481" y="85725"/>
                      </a:cubicBezTo>
                      <a:cubicBezTo>
                        <a:pt x="84545" y="85725"/>
                        <a:pt x="35572" y="69308"/>
                        <a:pt x="0" y="51439"/>
                      </a:cubicBezTo>
                      <a:cubicBezTo>
                        <a:pt x="39379" y="19285"/>
                        <a:pt x="89678" y="0"/>
                        <a:pt x="144482" y="0"/>
                      </a:cubicBezTo>
                      <a:cubicBezTo>
                        <a:pt x="199285" y="0"/>
                        <a:pt x="249584" y="19285"/>
                        <a:pt x="288963" y="51438"/>
                      </a:cubicBezTo>
                      <a:close/>
                    </a:path>
                  </a:pathLst>
                </a:custGeom>
                <a:solidFill>
                  <a:srgbClr val="008C7A"/>
                </a:solidFill>
                <a:ln>
                  <a:noFill/>
                </a:ln>
              </p:spPr>
            </p:sp>
            <p:sp>
              <p:nvSpPr>
                <p:cNvPr id="29" name="Freeform 29"/>
                <p:cNvSpPr/>
                <p:nvPr/>
              </p:nvSpPr>
              <p:spPr>
                <a:xfrm>
                  <a:off x="5754868" y="4791075"/>
                  <a:ext cx="453663" cy="105499"/>
                </a:xfrm>
                <a:custGeom>
                  <a:avLst/>
                  <a:gdLst/>
                  <a:ahLst/>
                  <a:cxnLst/>
                  <a:rect l="l" t="t" r="r" b="b"/>
                  <a:pathLst>
                    <a:path w="453663" h="105499">
                      <a:moveTo>
                        <a:pt x="0" y="0"/>
                      </a:moveTo>
                      <a:cubicBezTo>
                        <a:pt x="4874" y="39088"/>
                        <a:pt x="19617" y="75112"/>
                        <a:pt x="41656" y="105499"/>
                      </a:cubicBezTo>
                      <a:cubicBezTo>
                        <a:pt x="42845" y="104833"/>
                        <a:pt x="44050" y="104167"/>
                        <a:pt x="45270" y="103502"/>
                      </a:cubicBezTo>
                      <a:cubicBezTo>
                        <a:pt x="87715" y="80350"/>
                        <a:pt x="149550" y="57150"/>
                        <a:pt x="226832" y="57150"/>
                      </a:cubicBezTo>
                      <a:cubicBezTo>
                        <a:pt x="304113" y="57150"/>
                        <a:pt x="365949" y="80350"/>
                        <a:pt x="408391" y="103502"/>
                      </a:cubicBezTo>
                      <a:cubicBezTo>
                        <a:pt x="409614" y="104167"/>
                        <a:pt x="410817" y="104833"/>
                        <a:pt x="412006" y="105499"/>
                      </a:cubicBezTo>
                      <a:cubicBezTo>
                        <a:pt x="434046" y="75112"/>
                        <a:pt x="448788" y="39088"/>
                        <a:pt x="453663" y="0"/>
                      </a:cubicBezTo>
                      <a:lnTo>
                        <a:pt x="0" y="0"/>
                      </a:lnTo>
                      <a:close/>
                    </a:path>
                  </a:pathLst>
                </a:custGeom>
                <a:solidFill>
                  <a:srgbClr val="008C7A"/>
                </a:solidFill>
                <a:ln>
                  <a:noFill/>
                </a:ln>
              </p:spPr>
            </p:sp>
            <p:sp>
              <p:nvSpPr>
                <p:cNvPr id="30" name="Freeform 30"/>
                <p:cNvSpPr/>
                <p:nvPr/>
              </p:nvSpPr>
              <p:spPr>
                <a:xfrm>
                  <a:off x="5837218" y="4905375"/>
                  <a:ext cx="288963" cy="85725"/>
                </a:xfrm>
                <a:custGeom>
                  <a:avLst/>
                  <a:gdLst/>
                  <a:ahLst/>
                  <a:cxnLst/>
                  <a:rect l="l" t="t" r="r" b="b"/>
                  <a:pathLst>
                    <a:path w="288963" h="85725">
                      <a:moveTo>
                        <a:pt x="144482" y="85725"/>
                      </a:moveTo>
                      <a:cubicBezTo>
                        <a:pt x="89678" y="85725"/>
                        <a:pt x="39379" y="66440"/>
                        <a:pt x="0" y="34287"/>
                      </a:cubicBezTo>
                      <a:cubicBezTo>
                        <a:pt x="35572" y="16416"/>
                        <a:pt x="84545" y="0"/>
                        <a:pt x="144482" y="0"/>
                      </a:cubicBezTo>
                      <a:cubicBezTo>
                        <a:pt x="204418" y="0"/>
                        <a:pt x="253393" y="16416"/>
                        <a:pt x="288963" y="34287"/>
                      </a:cubicBezTo>
                      <a:cubicBezTo>
                        <a:pt x="249583" y="66440"/>
                        <a:pt x="199285" y="85725"/>
                        <a:pt x="144482" y="85725"/>
                      </a:cubicBezTo>
                      <a:close/>
                    </a:path>
                  </a:pathLst>
                </a:custGeom>
                <a:solidFill>
                  <a:srgbClr val="008C7A"/>
                </a:solidFill>
                <a:ln>
                  <a:noFill/>
                </a:ln>
              </p:spPr>
            </p:sp>
          </p:grpSp>
          <p:sp>
            <p:nvSpPr>
              <p:cNvPr id="32" name="TextBox 32"/>
              <p:cNvSpPr txBox="1"/>
              <p:nvPr/>
            </p:nvSpPr>
            <p:spPr>
              <a:xfrm>
                <a:off x="5597241" y="5345906"/>
                <a:ext cx="768918" cy="228600"/>
              </a:xfrm>
              <a:prstGeom prst="rect">
                <a:avLst/>
              </a:prstGeom>
              <a:noFill/>
              <a:ln>
                <a:noFill/>
              </a:ln>
            </p:spPr>
            <p:txBody>
              <a:bodyPr wrap="none" lIns="0" tIns="0" rIns="0" bIns="0" anchor="t" anchorCtr="0">
                <a:spAutoFit/>
              </a:bodyPr>
              <a:lstStyle/>
              <a:p>
                <a:pPr algn="ctr"/>
                <a:r>
                  <a:rPr lang="zh-CN" sz="1125" b="1" dirty="0">
                    <a:solidFill>
                      <a:srgbClr val="1F2933"/>
                    </a:solidFill>
                    <a:latin typeface="Arial"/>
                    <a:ea typeface="Microsoft YaHei"/>
                    <a:cs typeface="Arial"/>
                  </a:rPr>
                  <a:t>Countries</a:t>
                </a:r>
              </a:p>
            </p:txBody>
          </p:sp>
        </p:grpSp>
        <p:sp>
          <p:nvSpPr>
            <p:cNvPr id="34" name="Freeform 34"/>
            <p:cNvSpPr/>
            <p:nvPr/>
          </p:nvSpPr>
          <p:spPr>
            <a:xfrm>
              <a:off x="2095500" y="2914650"/>
              <a:ext cx="990600" cy="685800"/>
            </a:xfrm>
            <a:custGeom>
              <a:avLst/>
              <a:gdLst/>
              <a:ahLst/>
              <a:cxnLst/>
              <a:rect l="l" t="t" r="r" b="b"/>
              <a:pathLst>
                <a:path w="990600" h="685800">
                  <a:moveTo>
                    <a:pt x="0" y="0"/>
                  </a:moveTo>
                  <a:cubicBezTo>
                    <a:pt x="514350" y="266700"/>
                    <a:pt x="800100" y="476250"/>
                    <a:pt x="990600" y="685800"/>
                  </a:cubicBezTo>
                </a:path>
              </a:pathLst>
            </a:custGeom>
            <a:noFill/>
            <a:ln w="38100" cap="rnd">
              <a:solidFill>
                <a:srgbClr val="008C7A"/>
              </a:solidFill>
            </a:ln>
          </p:spPr>
        </p:sp>
        <p:sp>
          <p:nvSpPr>
            <p:cNvPr id="35" name="Freeform 35"/>
            <p:cNvSpPr/>
            <p:nvPr/>
          </p:nvSpPr>
          <p:spPr>
            <a:xfrm>
              <a:off x="4572000" y="2914650"/>
              <a:ext cx="990600" cy="685800"/>
            </a:xfrm>
            <a:custGeom>
              <a:avLst/>
              <a:gdLst/>
              <a:ahLst/>
              <a:cxnLst/>
              <a:rect l="l" t="t" r="r" b="b"/>
              <a:pathLst>
                <a:path w="990600" h="685800">
                  <a:moveTo>
                    <a:pt x="990600" y="0"/>
                  </a:moveTo>
                  <a:cubicBezTo>
                    <a:pt x="476250" y="266700"/>
                    <a:pt x="190500" y="476250"/>
                    <a:pt x="0" y="685800"/>
                  </a:cubicBezTo>
                </a:path>
              </a:pathLst>
            </a:custGeom>
            <a:noFill/>
            <a:ln w="38100" cap="rnd">
              <a:solidFill>
                <a:srgbClr val="008C7A"/>
              </a:solidFill>
            </a:ln>
          </p:spPr>
        </p:sp>
        <p:sp>
          <p:nvSpPr>
            <p:cNvPr id="36" name="Freeform 36"/>
            <p:cNvSpPr/>
            <p:nvPr/>
          </p:nvSpPr>
          <p:spPr>
            <a:xfrm>
              <a:off x="2095500" y="3867150"/>
              <a:ext cx="990600" cy="685800"/>
            </a:xfrm>
            <a:custGeom>
              <a:avLst/>
              <a:gdLst/>
              <a:ahLst/>
              <a:cxnLst/>
              <a:rect l="l" t="t" r="r" b="b"/>
              <a:pathLst>
                <a:path w="990600" h="685800">
                  <a:moveTo>
                    <a:pt x="0" y="685800"/>
                  </a:moveTo>
                  <a:cubicBezTo>
                    <a:pt x="514350" y="419100"/>
                    <a:pt x="800100" y="209550"/>
                    <a:pt x="990600" y="0"/>
                  </a:cubicBezTo>
                </a:path>
              </a:pathLst>
            </a:custGeom>
            <a:noFill/>
            <a:ln w="38100" cap="rnd">
              <a:solidFill>
                <a:srgbClr val="008C7A"/>
              </a:solidFill>
            </a:ln>
          </p:spPr>
        </p:sp>
        <p:sp>
          <p:nvSpPr>
            <p:cNvPr id="37" name="Freeform 37"/>
            <p:cNvSpPr/>
            <p:nvPr/>
          </p:nvSpPr>
          <p:spPr>
            <a:xfrm>
              <a:off x="4572000" y="3867150"/>
              <a:ext cx="990600" cy="685800"/>
            </a:xfrm>
            <a:custGeom>
              <a:avLst/>
              <a:gdLst/>
              <a:ahLst/>
              <a:cxnLst/>
              <a:rect l="l" t="t" r="r" b="b"/>
              <a:pathLst>
                <a:path w="990600" h="685800">
                  <a:moveTo>
                    <a:pt x="990600" y="685800"/>
                  </a:moveTo>
                  <a:cubicBezTo>
                    <a:pt x="476250" y="419100"/>
                    <a:pt x="190500" y="209550"/>
                    <a:pt x="0" y="0"/>
                  </a:cubicBezTo>
                </a:path>
              </a:pathLst>
            </a:custGeom>
            <a:noFill/>
            <a:ln w="38100" cap="rnd">
              <a:solidFill>
                <a:srgbClr val="008C7A"/>
              </a:solidFill>
            </a:ln>
          </p:spPr>
        </p:sp>
      </p:grpSp>
      <p:grpSp>
        <p:nvGrpSpPr>
          <p:cNvPr id="52" name="Group 52"/>
          <p:cNvGrpSpPr/>
          <p:nvPr/>
        </p:nvGrpSpPr>
        <p:grpSpPr>
          <a:xfrm>
            <a:off x="7524750" y="1866900"/>
            <a:ext cx="4019550" cy="3733800"/>
            <a:chOff x="7524750" y="1866900"/>
            <a:chExt cx="4019550" cy="3733800"/>
          </a:xfrm>
        </p:grpSpPr>
        <p:sp>
          <p:nvSpPr>
            <p:cNvPr id="39" name="Rectangle 39"/>
            <p:cNvSpPr/>
            <p:nvPr/>
          </p:nvSpPr>
          <p:spPr>
            <a:xfrm>
              <a:off x="7524750" y="1866900"/>
              <a:ext cx="4019550" cy="3733800"/>
            </a:xfrm>
            <a:prstGeom prst="roundRect">
              <a:avLst>
                <a:gd name="adj" fmla="val 6633"/>
              </a:avLst>
            </a:prstGeom>
            <a:solidFill>
              <a:srgbClr val="E6F2EF"/>
            </a:solidFill>
            <a:ln w="19050">
              <a:solidFill>
                <a:srgbClr val="C9D9D5"/>
              </a:solidFill>
            </a:ln>
          </p:spPr>
        </p:sp>
        <p:sp>
          <p:nvSpPr>
            <p:cNvPr id="40" name="TextBox 40"/>
            <p:cNvSpPr txBox="1"/>
            <p:nvPr/>
          </p:nvSpPr>
          <p:spPr>
            <a:xfrm>
              <a:off x="7843838" y="2121694"/>
              <a:ext cx="2804220" cy="381000"/>
            </a:xfrm>
            <a:prstGeom prst="rect">
              <a:avLst/>
            </a:prstGeom>
            <a:noFill/>
            <a:ln>
              <a:noFill/>
            </a:ln>
          </p:spPr>
          <p:txBody>
            <a:bodyPr wrap="none" lIns="0" tIns="0" rIns="0" bIns="0" anchor="t" anchorCtr="0">
              <a:spAutoFit/>
            </a:bodyPr>
            <a:lstStyle/>
            <a:p>
              <a:pPr algn="l"/>
              <a:r>
                <a:rPr lang="zh-CN" sz="1875" b="1" dirty="0">
                  <a:solidFill>
                    <a:srgbClr val="123E4A"/>
                  </a:solidFill>
                  <a:latin typeface="Arial"/>
                  <a:ea typeface="Microsoft YaHei"/>
                  <a:cs typeface="Arial"/>
                </a:rPr>
                <a:t>What the toolkit says</a:t>
              </a:r>
            </a:p>
          </p:txBody>
        </p:sp>
        <p:sp>
          <p:nvSpPr>
            <p:cNvPr id="41" name="Rectangle 41"/>
            <p:cNvSpPr/>
            <p:nvPr/>
          </p:nvSpPr>
          <p:spPr>
            <a:xfrm>
              <a:off x="7867650" y="2686050"/>
              <a:ext cx="1428750" cy="819150"/>
            </a:xfrm>
            <a:prstGeom prst="roundRect">
              <a:avLst>
                <a:gd name="adj" fmla="val 23256"/>
              </a:avLst>
            </a:prstGeom>
            <a:solidFill>
              <a:srgbClr val="FFFFFF"/>
            </a:solidFill>
            <a:ln w="19050">
              <a:solidFill>
                <a:srgbClr val="C9D9D5"/>
              </a:solidFill>
            </a:ln>
          </p:spPr>
        </p:sp>
        <p:sp>
          <p:nvSpPr>
            <p:cNvPr id="42" name="TextBox 42"/>
            <p:cNvSpPr txBox="1"/>
            <p:nvPr/>
          </p:nvSpPr>
          <p:spPr>
            <a:xfrm>
              <a:off x="8216614" y="2778442"/>
              <a:ext cx="730822" cy="579120"/>
            </a:xfrm>
            <a:prstGeom prst="rect">
              <a:avLst/>
            </a:prstGeom>
            <a:noFill/>
            <a:ln>
              <a:noFill/>
            </a:ln>
          </p:spPr>
          <p:txBody>
            <a:bodyPr wrap="none" lIns="0" tIns="0" rIns="0" bIns="0" anchor="t" anchorCtr="0">
              <a:spAutoFit/>
            </a:bodyPr>
            <a:lstStyle/>
            <a:p>
              <a:pPr algn="ctr"/>
              <a:r>
                <a:rPr lang="zh-CN" sz="2850" b="1" dirty="0">
                  <a:solidFill>
                    <a:srgbClr val="008C7A"/>
                  </a:solidFill>
                  <a:latin typeface="Arial"/>
                  <a:ea typeface="Microsoft YaHei"/>
                  <a:cs typeface="Arial"/>
                </a:rPr>
                <a:t>189</a:t>
              </a:r>
            </a:p>
          </p:txBody>
        </p:sp>
        <p:sp>
          <p:nvSpPr>
            <p:cNvPr id="43" name="TextBox 43"/>
            <p:cNvSpPr txBox="1"/>
            <p:nvPr/>
          </p:nvSpPr>
          <p:spPr>
            <a:xfrm>
              <a:off x="8239649" y="3220402"/>
              <a:ext cx="684752" cy="213360"/>
            </a:xfrm>
            <a:prstGeom prst="rect">
              <a:avLst/>
            </a:prstGeom>
            <a:noFill/>
            <a:ln>
              <a:noFill/>
            </a:ln>
          </p:spPr>
          <p:txBody>
            <a:bodyPr wrap="none" lIns="0" tIns="0" rIns="0" bIns="0" anchor="t" anchorCtr="0">
              <a:spAutoFit/>
            </a:bodyPr>
            <a:lstStyle/>
            <a:p>
              <a:pPr algn="ctr"/>
              <a:r>
                <a:rPr lang="zh-CN" sz="1050" dirty="0">
                  <a:solidFill>
                    <a:srgbClr val="5B6770"/>
                  </a:solidFill>
                  <a:latin typeface="Arial"/>
                  <a:ea typeface="Microsoft YaHei"/>
                  <a:cs typeface="Arial"/>
                </a:rPr>
                <a:t>countries</a:t>
              </a:r>
            </a:p>
          </p:txBody>
        </p:sp>
        <p:sp>
          <p:nvSpPr>
            <p:cNvPr id="44" name="Rectangle 44"/>
            <p:cNvSpPr/>
            <p:nvPr/>
          </p:nvSpPr>
          <p:spPr>
            <a:xfrm>
              <a:off x="9525000" y="2686050"/>
              <a:ext cx="1428750" cy="819150"/>
            </a:xfrm>
            <a:prstGeom prst="roundRect">
              <a:avLst>
                <a:gd name="adj" fmla="val 23256"/>
              </a:avLst>
            </a:prstGeom>
            <a:solidFill>
              <a:srgbClr val="FFFFFF"/>
            </a:solidFill>
            <a:ln w="19050">
              <a:solidFill>
                <a:srgbClr val="C9D9D5"/>
              </a:solidFill>
            </a:ln>
          </p:spPr>
        </p:sp>
        <p:sp>
          <p:nvSpPr>
            <p:cNvPr id="45" name="TextBox 45"/>
            <p:cNvSpPr txBox="1"/>
            <p:nvPr/>
          </p:nvSpPr>
          <p:spPr>
            <a:xfrm>
              <a:off x="9764225" y="2778442"/>
              <a:ext cx="950300" cy="579120"/>
            </a:xfrm>
            <a:prstGeom prst="rect">
              <a:avLst/>
            </a:prstGeom>
            <a:noFill/>
            <a:ln>
              <a:noFill/>
            </a:ln>
          </p:spPr>
          <p:txBody>
            <a:bodyPr wrap="none" lIns="0" tIns="0" rIns="0" bIns="0" anchor="t" anchorCtr="0">
              <a:spAutoFit/>
            </a:bodyPr>
            <a:lstStyle/>
            <a:p>
              <a:pPr algn="ctr"/>
              <a:r>
                <a:rPr lang="zh-CN" sz="2850" b="1" dirty="0">
                  <a:solidFill>
                    <a:srgbClr val="008C7A"/>
                  </a:solidFill>
                  <a:latin typeface="Arial"/>
                  <a:ea typeface="Microsoft YaHei"/>
                  <a:cs typeface="Arial"/>
                </a:rPr>
                <a:t>2004</a:t>
              </a:r>
            </a:p>
          </p:txBody>
        </p:sp>
        <p:sp>
          <p:nvSpPr>
            <p:cNvPr id="46" name="TextBox 46"/>
            <p:cNvSpPr txBox="1"/>
            <p:nvPr/>
          </p:nvSpPr>
          <p:spPr>
            <a:xfrm>
              <a:off x="9935504" y="3220402"/>
              <a:ext cx="607743" cy="213360"/>
            </a:xfrm>
            <a:prstGeom prst="rect">
              <a:avLst/>
            </a:prstGeom>
            <a:noFill/>
            <a:ln>
              <a:noFill/>
            </a:ln>
          </p:spPr>
          <p:txBody>
            <a:bodyPr wrap="none" lIns="0" tIns="0" rIns="0" bIns="0" anchor="t" anchorCtr="0">
              <a:spAutoFit/>
            </a:bodyPr>
            <a:lstStyle/>
            <a:p>
              <a:pPr algn="ctr"/>
              <a:r>
                <a:rPr lang="zh-CN" sz="1050" dirty="0">
                  <a:solidFill>
                    <a:srgbClr val="5B6770"/>
                  </a:solidFill>
                  <a:latin typeface="Arial"/>
                  <a:ea typeface="Microsoft YaHei"/>
                  <a:cs typeface="Arial"/>
                </a:rPr>
                <a:t>launched</a:t>
              </a:r>
            </a:p>
          </p:txBody>
        </p:sp>
        <p:sp>
          <p:nvSpPr>
            <p:cNvPr id="47" name="TextBox 47"/>
            <p:cNvSpPr txBox="1"/>
            <p:nvPr/>
          </p:nvSpPr>
          <p:spPr>
            <a:xfrm>
              <a:off x="7850505" y="3911918"/>
              <a:ext cx="2230565"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INFOSAN facilitates rapid</a:t>
              </a:r>
            </a:p>
          </p:txBody>
        </p:sp>
        <p:sp>
          <p:nvSpPr>
            <p:cNvPr id="48" name="TextBox 48"/>
            <p:cNvSpPr txBox="1"/>
            <p:nvPr/>
          </p:nvSpPr>
          <p:spPr>
            <a:xfrm>
              <a:off x="7850505" y="4197668"/>
              <a:ext cx="2770632"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exchange of information during</a:t>
              </a:r>
            </a:p>
          </p:txBody>
        </p:sp>
        <p:sp>
          <p:nvSpPr>
            <p:cNvPr id="49" name="TextBox 49"/>
            <p:cNvSpPr txBox="1"/>
            <p:nvPr/>
          </p:nvSpPr>
          <p:spPr>
            <a:xfrm>
              <a:off x="7850505" y="4483418"/>
              <a:ext cx="298665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food safety events, enabling risk</a:t>
              </a:r>
            </a:p>
          </p:txBody>
        </p:sp>
        <p:sp>
          <p:nvSpPr>
            <p:cNvPr id="50" name="TextBox 50"/>
            <p:cNvSpPr txBox="1"/>
            <p:nvPr/>
          </p:nvSpPr>
          <p:spPr>
            <a:xfrm>
              <a:off x="7850505" y="4769168"/>
              <a:ext cx="2977658"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management measures to prevent</a:t>
              </a:r>
            </a:p>
          </p:txBody>
        </p:sp>
        <p:sp>
          <p:nvSpPr>
            <p:cNvPr id="51" name="TextBox 51"/>
            <p:cNvSpPr txBox="1"/>
            <p:nvPr/>
          </p:nvSpPr>
          <p:spPr>
            <a:xfrm>
              <a:off x="7850505" y="5054918"/>
              <a:ext cx="195153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illness and save lives.</a:t>
              </a:r>
            </a:p>
          </p:txBody>
        </p:sp>
      </p:grpSp>
      <p:grpSp>
        <p:nvGrpSpPr>
          <p:cNvPr id="54" name="Group 54"/>
          <p:cNvGrpSpPr/>
          <p:nvPr/>
        </p:nvGrpSpPr>
        <p:grpSpPr>
          <a:xfrm>
            <a:off x="501968" y="6143149"/>
            <a:ext cx="4295799" cy="198120"/>
            <a:chOff x="501968" y="6143149"/>
            <a:chExt cx="4295799" cy="198120"/>
          </a:xfrm>
        </p:grpSpPr>
        <p:sp>
          <p:nvSpPr>
            <p:cNvPr id="53" name="TextBox 53"/>
            <p:cNvSpPr txBox="1"/>
            <p:nvPr/>
          </p:nvSpPr>
          <p:spPr>
            <a:xfrm>
              <a:off x="501968" y="6143149"/>
              <a:ext cx="429579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Arial"/>
                  <a:ea typeface="Microsoft YaHei"/>
                  <a:cs typeface="Arial"/>
                </a:rPr>
                <a:t>Source: World Food Safety Day 2024 communication toolkit, page 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slide(fromBottom)">
                                      <p:cBhvr>
                                        <p:cTn id="11" dur="400"/>
                                        <p:tgtEl>
                                          <p:spTgt spid="3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image">
                                      <p:cBhvr>
                                        <p:cTn id="15" dur="400"/>
                                        <p:tgtEl>
                                          <p:spTgt spid="5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4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8" grpId="0"/>
      <p:bldP spid="52" grpId="0"/>
      <p:bldP spid="5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386590"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CAMPAIGN MESSAGES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07 / 10</a:t>
              </a:r>
            </a:p>
          </p:txBody>
        </p:sp>
      </p:grpSp>
      <p:grpSp>
        <p:nvGrpSpPr>
          <p:cNvPr id="8" name="Group 8"/>
          <p:cNvGrpSpPr/>
          <p:nvPr/>
        </p:nvGrpSpPr>
        <p:grpSpPr>
          <a:xfrm>
            <a:off x="478155" y="778192"/>
            <a:ext cx="8492342" cy="760096"/>
            <a:chOff x="478155" y="778192"/>
            <a:chExt cx="8492342" cy="760096"/>
          </a:xfrm>
        </p:grpSpPr>
        <p:sp>
          <p:nvSpPr>
            <p:cNvPr id="6" name="TextBox 6"/>
            <p:cNvSpPr txBox="1"/>
            <p:nvPr/>
          </p:nvSpPr>
          <p:spPr>
            <a:xfrm>
              <a:off x="478155" y="778192"/>
              <a:ext cx="8492342"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Message house for partner communications</a:t>
              </a:r>
            </a:p>
          </p:txBody>
        </p:sp>
        <p:sp>
          <p:nvSpPr>
            <p:cNvPr id="7" name="TextBox 7"/>
            <p:cNvSpPr txBox="1"/>
            <p:nvPr/>
          </p:nvSpPr>
          <p:spPr>
            <a:xfrm>
              <a:off x="497205" y="1263968"/>
              <a:ext cx="7523226"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Use consistent public-health messages across briefings, events, and social content.</a:t>
              </a:r>
            </a:p>
          </p:txBody>
        </p:sp>
      </p:grpSp>
      <p:grpSp>
        <p:nvGrpSpPr>
          <p:cNvPr id="11" name="Group 11"/>
          <p:cNvGrpSpPr/>
          <p:nvPr/>
        </p:nvGrpSpPr>
        <p:grpSpPr>
          <a:xfrm>
            <a:off x="1104900" y="1771650"/>
            <a:ext cx="9982200" cy="771525"/>
            <a:chOff x="1104900" y="1771650"/>
            <a:chExt cx="9982200" cy="771525"/>
          </a:xfrm>
        </p:grpSpPr>
        <p:sp>
          <p:nvSpPr>
            <p:cNvPr id="9" name="Polygon 9"/>
            <p:cNvSpPr/>
            <p:nvPr/>
          </p:nvSpPr>
          <p:spPr>
            <a:xfrm>
              <a:off x="1104900" y="1771650"/>
              <a:ext cx="9982200" cy="685800"/>
            </a:xfrm>
            <a:custGeom>
              <a:avLst/>
              <a:gdLst/>
              <a:ahLst/>
              <a:cxnLst/>
              <a:rect l="l" t="t" r="r" b="b"/>
              <a:pathLst>
                <a:path w="9982200" h="685800">
                  <a:moveTo>
                    <a:pt x="0" y="685800"/>
                  </a:moveTo>
                  <a:lnTo>
                    <a:pt x="4991100" y="0"/>
                  </a:lnTo>
                  <a:lnTo>
                    <a:pt x="9982200" y="685800"/>
                  </a:lnTo>
                  <a:close/>
                </a:path>
              </a:pathLst>
            </a:custGeom>
            <a:solidFill>
              <a:srgbClr val="123E4A"/>
            </a:solidFill>
            <a:ln>
              <a:noFill/>
            </a:ln>
          </p:spPr>
        </p:sp>
        <p:sp>
          <p:nvSpPr>
            <p:cNvPr id="10" name="TextBox 10"/>
            <p:cNvSpPr txBox="1"/>
            <p:nvPr/>
          </p:nvSpPr>
          <p:spPr>
            <a:xfrm>
              <a:off x="3099559" y="2116455"/>
              <a:ext cx="5992882" cy="426720"/>
            </a:xfrm>
            <a:prstGeom prst="rect">
              <a:avLst/>
            </a:prstGeom>
            <a:noFill/>
            <a:ln>
              <a:noFill/>
            </a:ln>
          </p:spPr>
          <p:txBody>
            <a:bodyPr wrap="none" lIns="0" tIns="0" rIns="0" bIns="0" anchor="t" anchorCtr="0">
              <a:spAutoFit/>
            </a:bodyPr>
            <a:lstStyle/>
            <a:p>
              <a:pPr algn="ctr"/>
              <a:r>
                <a:rPr lang="zh-CN" sz="2100" b="1" dirty="0">
                  <a:solidFill>
                    <a:srgbClr val="FFFFFF"/>
                  </a:solidFill>
                  <a:latin typeface="Arial"/>
                  <a:ea typeface="Microsoft YaHei"/>
                  <a:cs typeface="Arial"/>
                </a:rPr>
                <a:t>Food safety: prepare for the unexpected</a:t>
              </a:r>
            </a:p>
          </p:txBody>
        </p:sp>
      </p:grpSp>
      <p:grpSp>
        <p:nvGrpSpPr>
          <p:cNvPr id="19" name="Group 19"/>
          <p:cNvGrpSpPr/>
          <p:nvPr/>
        </p:nvGrpSpPr>
        <p:grpSpPr>
          <a:xfrm>
            <a:off x="876300" y="2724150"/>
            <a:ext cx="2381250" cy="2609850"/>
            <a:chOff x="876300" y="2724150"/>
            <a:chExt cx="2381250" cy="2609850"/>
          </a:xfrm>
        </p:grpSpPr>
        <p:sp>
          <p:nvSpPr>
            <p:cNvPr id="12" name="Rectangle 12"/>
            <p:cNvSpPr/>
            <p:nvPr/>
          </p:nvSpPr>
          <p:spPr>
            <a:xfrm>
              <a:off x="876300" y="2724150"/>
              <a:ext cx="2381250" cy="2609850"/>
            </a:xfrm>
            <a:prstGeom prst="roundRect">
              <a:avLst>
                <a:gd name="adj" fmla="val 8800"/>
              </a:avLst>
            </a:prstGeom>
            <a:solidFill>
              <a:srgbClr val="FFFFFF"/>
            </a:solidFill>
            <a:ln w="19050">
              <a:solidFill>
                <a:srgbClr val="C9D9D5"/>
              </a:solidFill>
            </a:ln>
          </p:spPr>
        </p:sp>
        <p:sp>
          <p:nvSpPr>
            <p:cNvPr id="13" name="Rectangle 13"/>
            <p:cNvSpPr/>
            <p:nvPr/>
          </p:nvSpPr>
          <p:spPr>
            <a:xfrm>
              <a:off x="876300" y="2724150"/>
              <a:ext cx="2381250" cy="495300"/>
            </a:xfrm>
            <a:prstGeom prst="roundRect">
              <a:avLst>
                <a:gd name="adj" fmla="val 42308"/>
              </a:avLst>
            </a:prstGeom>
            <a:solidFill>
              <a:srgbClr val="008C7A"/>
            </a:solidFill>
            <a:ln>
              <a:noFill/>
            </a:ln>
          </p:spPr>
        </p:sp>
        <p:sp>
          <p:nvSpPr>
            <p:cNvPr id="14" name="TextBox 14"/>
            <p:cNvSpPr txBox="1"/>
            <p:nvPr/>
          </p:nvSpPr>
          <p:spPr>
            <a:xfrm>
              <a:off x="1081132" y="2884646"/>
              <a:ext cx="1971587"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Preparedness is key</a:t>
              </a:r>
            </a:p>
          </p:txBody>
        </p:sp>
        <p:sp>
          <p:nvSpPr>
            <p:cNvPr id="15" name="TextBox 15"/>
            <p:cNvSpPr txBox="1"/>
            <p:nvPr/>
          </p:nvSpPr>
          <p:spPr>
            <a:xfrm>
              <a:off x="1164908" y="3462814"/>
              <a:ext cx="149456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National response</a:t>
              </a:r>
            </a:p>
          </p:txBody>
        </p:sp>
        <p:sp>
          <p:nvSpPr>
            <p:cNvPr id="16" name="TextBox 16"/>
            <p:cNvSpPr txBox="1"/>
            <p:nvPr/>
          </p:nvSpPr>
          <p:spPr>
            <a:xfrm>
              <a:off x="1164908" y="3729514"/>
              <a:ext cx="1834610"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plans and surveillance</a:t>
              </a:r>
            </a:p>
          </p:txBody>
        </p:sp>
        <p:sp>
          <p:nvSpPr>
            <p:cNvPr id="17" name="TextBox 17"/>
            <p:cNvSpPr txBox="1"/>
            <p:nvPr/>
          </p:nvSpPr>
          <p:spPr>
            <a:xfrm>
              <a:off x="1164908" y="3996214"/>
              <a:ext cx="1749600"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systems help manage</a:t>
              </a:r>
            </a:p>
          </p:txBody>
        </p:sp>
        <p:sp>
          <p:nvSpPr>
            <p:cNvPr id="18" name="TextBox 18"/>
            <p:cNvSpPr txBox="1"/>
            <p:nvPr/>
          </p:nvSpPr>
          <p:spPr>
            <a:xfrm>
              <a:off x="1164908" y="4262914"/>
              <a:ext cx="1724096"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food safety events.</a:t>
              </a:r>
            </a:p>
          </p:txBody>
        </p:sp>
      </p:grpSp>
      <p:grpSp>
        <p:nvGrpSpPr>
          <p:cNvPr id="27" name="Group 27"/>
          <p:cNvGrpSpPr/>
          <p:nvPr/>
        </p:nvGrpSpPr>
        <p:grpSpPr>
          <a:xfrm>
            <a:off x="3562350" y="2724150"/>
            <a:ext cx="2531269" cy="2609850"/>
            <a:chOff x="3562350" y="2724150"/>
            <a:chExt cx="2531269" cy="2609850"/>
          </a:xfrm>
        </p:grpSpPr>
        <p:sp>
          <p:nvSpPr>
            <p:cNvPr id="20" name="Rectangle 20"/>
            <p:cNvSpPr/>
            <p:nvPr/>
          </p:nvSpPr>
          <p:spPr>
            <a:xfrm>
              <a:off x="3562350" y="2724150"/>
              <a:ext cx="2381250" cy="2609850"/>
            </a:xfrm>
            <a:prstGeom prst="roundRect">
              <a:avLst>
                <a:gd name="adj" fmla="val 8800"/>
              </a:avLst>
            </a:prstGeom>
            <a:solidFill>
              <a:srgbClr val="FFFFFF"/>
            </a:solidFill>
            <a:ln w="19050">
              <a:solidFill>
                <a:srgbClr val="C9D9D5"/>
              </a:solidFill>
            </a:ln>
          </p:spPr>
        </p:sp>
        <p:sp>
          <p:nvSpPr>
            <p:cNvPr id="21" name="Rectangle 21"/>
            <p:cNvSpPr/>
            <p:nvPr/>
          </p:nvSpPr>
          <p:spPr>
            <a:xfrm>
              <a:off x="3562350" y="2724150"/>
              <a:ext cx="2381250" cy="495300"/>
            </a:xfrm>
            <a:prstGeom prst="roundRect">
              <a:avLst>
                <a:gd name="adj" fmla="val 42308"/>
              </a:avLst>
            </a:prstGeom>
            <a:solidFill>
              <a:srgbClr val="008C7A"/>
            </a:solidFill>
            <a:ln>
              <a:noFill/>
            </a:ln>
          </p:spPr>
        </p:sp>
        <p:sp>
          <p:nvSpPr>
            <p:cNvPr id="22" name="TextBox 22"/>
            <p:cNvSpPr txBox="1"/>
            <p:nvPr/>
          </p:nvSpPr>
          <p:spPr>
            <a:xfrm>
              <a:off x="3602573" y="2884646"/>
              <a:ext cx="2300803"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Information saves lives</a:t>
              </a:r>
            </a:p>
          </p:txBody>
        </p:sp>
        <p:sp>
          <p:nvSpPr>
            <p:cNvPr id="23" name="TextBox 23"/>
            <p:cNvSpPr txBox="1"/>
            <p:nvPr/>
          </p:nvSpPr>
          <p:spPr>
            <a:xfrm>
              <a:off x="3850958" y="3462814"/>
              <a:ext cx="1962126"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Fast, accurate sharing</a:t>
              </a:r>
            </a:p>
          </p:txBody>
        </p:sp>
        <p:sp>
          <p:nvSpPr>
            <p:cNvPr id="24" name="TextBox 24"/>
            <p:cNvSpPr txBox="1"/>
            <p:nvPr/>
          </p:nvSpPr>
          <p:spPr>
            <a:xfrm>
              <a:off x="3850958" y="3729514"/>
              <a:ext cx="138405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among agencies,</a:t>
              </a:r>
            </a:p>
          </p:txBody>
        </p:sp>
        <p:sp>
          <p:nvSpPr>
            <p:cNvPr id="25" name="TextBox 25"/>
            <p:cNvSpPr txBox="1"/>
            <p:nvPr/>
          </p:nvSpPr>
          <p:spPr>
            <a:xfrm>
              <a:off x="3850958" y="3996214"/>
              <a:ext cx="182610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labs, businesses, and</a:t>
              </a:r>
            </a:p>
          </p:txBody>
        </p:sp>
        <p:sp>
          <p:nvSpPr>
            <p:cNvPr id="26" name="TextBox 26"/>
            <p:cNvSpPr txBox="1"/>
            <p:nvPr/>
          </p:nvSpPr>
          <p:spPr>
            <a:xfrm>
              <a:off x="3850958" y="4262914"/>
              <a:ext cx="2242661"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partners supports action.</a:t>
              </a:r>
            </a:p>
          </p:txBody>
        </p:sp>
      </p:grpSp>
      <p:grpSp>
        <p:nvGrpSpPr>
          <p:cNvPr id="35" name="Group 35"/>
          <p:cNvGrpSpPr/>
          <p:nvPr/>
        </p:nvGrpSpPr>
        <p:grpSpPr>
          <a:xfrm>
            <a:off x="6213802" y="2724150"/>
            <a:ext cx="2450447" cy="2609850"/>
            <a:chOff x="6213802" y="2724150"/>
            <a:chExt cx="2450447" cy="2609850"/>
          </a:xfrm>
        </p:grpSpPr>
        <p:sp>
          <p:nvSpPr>
            <p:cNvPr id="28" name="Rectangle 28"/>
            <p:cNvSpPr/>
            <p:nvPr/>
          </p:nvSpPr>
          <p:spPr>
            <a:xfrm>
              <a:off x="6248400" y="2724150"/>
              <a:ext cx="2381250" cy="2609850"/>
            </a:xfrm>
            <a:prstGeom prst="roundRect">
              <a:avLst>
                <a:gd name="adj" fmla="val 8800"/>
              </a:avLst>
            </a:prstGeom>
            <a:solidFill>
              <a:srgbClr val="FFFFFF"/>
            </a:solidFill>
            <a:ln w="19050">
              <a:solidFill>
                <a:srgbClr val="C9D9D5"/>
              </a:solidFill>
            </a:ln>
          </p:spPr>
        </p:sp>
        <p:sp>
          <p:nvSpPr>
            <p:cNvPr id="29" name="Rectangle 29"/>
            <p:cNvSpPr/>
            <p:nvPr/>
          </p:nvSpPr>
          <p:spPr>
            <a:xfrm>
              <a:off x="6248400" y="2724150"/>
              <a:ext cx="2381250" cy="495300"/>
            </a:xfrm>
            <a:prstGeom prst="roundRect">
              <a:avLst>
                <a:gd name="adj" fmla="val 42308"/>
              </a:avLst>
            </a:prstGeom>
            <a:solidFill>
              <a:srgbClr val="008C7A"/>
            </a:solidFill>
            <a:ln>
              <a:noFill/>
            </a:ln>
          </p:spPr>
        </p:sp>
        <p:sp>
          <p:nvSpPr>
            <p:cNvPr id="30" name="TextBox 30"/>
            <p:cNvSpPr txBox="1"/>
            <p:nvPr/>
          </p:nvSpPr>
          <p:spPr>
            <a:xfrm>
              <a:off x="6213802" y="2884646"/>
              <a:ext cx="2450447"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Plans protect consumers</a:t>
              </a:r>
            </a:p>
          </p:txBody>
        </p:sp>
        <p:sp>
          <p:nvSpPr>
            <p:cNvPr id="31" name="TextBox 31"/>
            <p:cNvSpPr txBox="1"/>
            <p:nvPr/>
          </p:nvSpPr>
          <p:spPr>
            <a:xfrm>
              <a:off x="6537008" y="3462814"/>
              <a:ext cx="1392555"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Food producers,</a:t>
              </a:r>
            </a:p>
          </p:txBody>
        </p:sp>
        <p:sp>
          <p:nvSpPr>
            <p:cNvPr id="32" name="TextBox 32"/>
            <p:cNvSpPr txBox="1"/>
            <p:nvPr/>
          </p:nvSpPr>
          <p:spPr>
            <a:xfrm>
              <a:off x="6537008" y="3729514"/>
              <a:ext cx="186011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importers, retailers,</a:t>
              </a:r>
            </a:p>
          </p:txBody>
        </p:sp>
        <p:sp>
          <p:nvSpPr>
            <p:cNvPr id="33" name="TextBox 33"/>
            <p:cNvSpPr txBox="1"/>
            <p:nvPr/>
          </p:nvSpPr>
          <p:spPr>
            <a:xfrm>
              <a:off x="6537008" y="3996214"/>
              <a:ext cx="182610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and distributors need</a:t>
              </a:r>
            </a:p>
          </p:txBody>
        </p:sp>
        <p:sp>
          <p:nvSpPr>
            <p:cNvPr id="34" name="TextBox 34"/>
            <p:cNvSpPr txBox="1"/>
            <p:nvPr/>
          </p:nvSpPr>
          <p:spPr>
            <a:xfrm>
              <a:off x="6537008" y="4262914"/>
              <a:ext cx="125653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updated plans.</a:t>
              </a:r>
            </a:p>
          </p:txBody>
        </p:sp>
      </p:grpSp>
      <p:grpSp>
        <p:nvGrpSpPr>
          <p:cNvPr id="43" name="Group 43"/>
          <p:cNvGrpSpPr/>
          <p:nvPr/>
        </p:nvGrpSpPr>
        <p:grpSpPr>
          <a:xfrm>
            <a:off x="8810065" y="2724150"/>
            <a:ext cx="2630019" cy="2609850"/>
            <a:chOff x="8810065" y="2724150"/>
            <a:chExt cx="2630019" cy="2609850"/>
          </a:xfrm>
        </p:grpSpPr>
        <p:sp>
          <p:nvSpPr>
            <p:cNvPr id="36" name="Rectangle 36"/>
            <p:cNvSpPr/>
            <p:nvPr/>
          </p:nvSpPr>
          <p:spPr>
            <a:xfrm>
              <a:off x="8934450" y="2724150"/>
              <a:ext cx="2381250" cy="2609850"/>
            </a:xfrm>
            <a:prstGeom prst="roundRect">
              <a:avLst>
                <a:gd name="adj" fmla="val 8800"/>
              </a:avLst>
            </a:prstGeom>
            <a:solidFill>
              <a:srgbClr val="FFFFFF"/>
            </a:solidFill>
            <a:ln w="19050">
              <a:solidFill>
                <a:srgbClr val="C9D9D5"/>
              </a:solidFill>
            </a:ln>
          </p:spPr>
        </p:sp>
        <p:sp>
          <p:nvSpPr>
            <p:cNvPr id="37" name="Rectangle 37"/>
            <p:cNvSpPr/>
            <p:nvPr/>
          </p:nvSpPr>
          <p:spPr>
            <a:xfrm>
              <a:off x="8934450" y="2724150"/>
              <a:ext cx="2381250" cy="495300"/>
            </a:xfrm>
            <a:prstGeom prst="roundRect">
              <a:avLst>
                <a:gd name="adj" fmla="val 42308"/>
              </a:avLst>
            </a:prstGeom>
            <a:solidFill>
              <a:srgbClr val="008C7A"/>
            </a:solidFill>
            <a:ln>
              <a:noFill/>
            </a:ln>
          </p:spPr>
        </p:sp>
        <p:sp>
          <p:nvSpPr>
            <p:cNvPr id="38" name="TextBox 38"/>
            <p:cNvSpPr txBox="1"/>
            <p:nvPr/>
          </p:nvSpPr>
          <p:spPr>
            <a:xfrm>
              <a:off x="8810065" y="2884646"/>
              <a:ext cx="2630019" cy="289560"/>
            </a:xfrm>
            <a:prstGeom prst="rect">
              <a:avLst/>
            </a:prstGeom>
            <a:noFill/>
            <a:ln>
              <a:noFill/>
            </a:ln>
          </p:spPr>
          <p:txBody>
            <a:bodyPr wrap="none" lIns="0" tIns="0" rIns="0" bIns="0" anchor="t" anchorCtr="0">
              <a:spAutoFit/>
            </a:bodyPr>
            <a:lstStyle/>
            <a:p>
              <a:pPr algn="ctr"/>
              <a:r>
                <a:rPr lang="zh-CN" sz="1425" b="1" dirty="0">
                  <a:solidFill>
                    <a:srgbClr val="FFFFFF"/>
                  </a:solidFill>
                  <a:latin typeface="Arial"/>
                  <a:ea typeface="Microsoft YaHei"/>
                  <a:cs typeface="Arial"/>
                </a:rPr>
                <a:t>Everyone is a risk manager</a:t>
              </a:r>
            </a:p>
          </p:txBody>
        </p:sp>
        <p:sp>
          <p:nvSpPr>
            <p:cNvPr id="39" name="TextBox 39"/>
            <p:cNvSpPr txBox="1"/>
            <p:nvPr/>
          </p:nvSpPr>
          <p:spPr>
            <a:xfrm>
              <a:off x="9223058" y="3462814"/>
              <a:ext cx="178360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Individuals, families,</a:t>
              </a:r>
            </a:p>
          </p:txBody>
        </p:sp>
        <p:sp>
          <p:nvSpPr>
            <p:cNvPr id="40" name="TextBox 40"/>
            <p:cNvSpPr txBox="1"/>
            <p:nvPr/>
          </p:nvSpPr>
          <p:spPr>
            <a:xfrm>
              <a:off x="9223058" y="3729514"/>
              <a:ext cx="198762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communities, business,</a:t>
              </a:r>
            </a:p>
          </p:txBody>
        </p:sp>
        <p:sp>
          <p:nvSpPr>
            <p:cNvPr id="41" name="TextBox 41"/>
            <p:cNvSpPr txBox="1"/>
            <p:nvPr/>
          </p:nvSpPr>
          <p:spPr>
            <a:xfrm>
              <a:off x="9223058" y="3996214"/>
              <a:ext cx="1673090"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and governments all</a:t>
              </a:r>
            </a:p>
          </p:txBody>
        </p:sp>
        <p:sp>
          <p:nvSpPr>
            <p:cNvPr id="42" name="TextBox 42"/>
            <p:cNvSpPr txBox="1"/>
            <p:nvPr/>
          </p:nvSpPr>
          <p:spPr>
            <a:xfrm>
              <a:off x="9223058" y="4262914"/>
              <a:ext cx="1579578"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make risk choices.</a:t>
              </a:r>
            </a:p>
          </p:txBody>
        </p:sp>
      </p:grpSp>
      <p:grpSp>
        <p:nvGrpSpPr>
          <p:cNvPr id="48" name="Group 48"/>
          <p:cNvGrpSpPr/>
          <p:nvPr/>
        </p:nvGrpSpPr>
        <p:grpSpPr>
          <a:xfrm>
            <a:off x="876300" y="5600700"/>
            <a:ext cx="10439400" cy="514350"/>
            <a:chOff x="876300" y="5600700"/>
            <a:chExt cx="10439400" cy="514350"/>
          </a:xfrm>
        </p:grpSpPr>
        <p:sp>
          <p:nvSpPr>
            <p:cNvPr id="44" name="Rectangle 44"/>
            <p:cNvSpPr/>
            <p:nvPr/>
          </p:nvSpPr>
          <p:spPr>
            <a:xfrm>
              <a:off x="876300" y="5600700"/>
              <a:ext cx="10439400" cy="514350"/>
            </a:xfrm>
            <a:prstGeom prst="roundRect">
              <a:avLst>
                <a:gd name="adj" fmla="val 37037"/>
              </a:avLst>
            </a:prstGeom>
            <a:solidFill>
              <a:srgbClr val="E6F2EF"/>
            </a:solidFill>
            <a:ln w="19050">
              <a:solidFill>
                <a:srgbClr val="C9D9D5"/>
              </a:solidFill>
            </a:ln>
          </p:spPr>
        </p:sp>
        <p:sp>
          <p:nvSpPr>
            <p:cNvPr id="45" name="Freeform 45"/>
            <p:cNvSpPr/>
            <p:nvPr/>
          </p:nvSpPr>
          <p:spPr>
            <a:xfrm>
              <a:off x="1181100" y="5732859"/>
              <a:ext cx="285750" cy="267891"/>
            </a:xfrm>
            <a:custGeom>
              <a:avLst/>
              <a:gdLst/>
              <a:ahLst/>
              <a:cxnLst/>
              <a:rect l="l" t="t" r="r" b="b"/>
              <a:pathLst>
                <a:path w="285750" h="267891">
                  <a:moveTo>
                    <a:pt x="0" y="0"/>
                  </a:moveTo>
                  <a:lnTo>
                    <a:pt x="285750" y="0"/>
                  </a:lnTo>
                  <a:lnTo>
                    <a:pt x="285750" y="214312"/>
                  </a:lnTo>
                  <a:lnTo>
                    <a:pt x="196453" y="214312"/>
                  </a:lnTo>
                  <a:lnTo>
                    <a:pt x="142875" y="267891"/>
                  </a:lnTo>
                  <a:lnTo>
                    <a:pt x="89297" y="214312"/>
                  </a:lnTo>
                  <a:lnTo>
                    <a:pt x="0" y="214312"/>
                  </a:lnTo>
                  <a:lnTo>
                    <a:pt x="0" y="0"/>
                  </a:lnTo>
                  <a:close/>
                </a:path>
              </a:pathLst>
            </a:custGeom>
            <a:solidFill>
              <a:srgbClr val="008C7A"/>
            </a:solidFill>
            <a:ln>
              <a:noFill/>
            </a:ln>
          </p:spPr>
        </p:sp>
        <p:sp>
          <p:nvSpPr>
            <p:cNvPr id="46" name="TextBox 46"/>
            <p:cNvSpPr txBox="1"/>
            <p:nvPr/>
          </p:nvSpPr>
          <p:spPr>
            <a:xfrm>
              <a:off x="1621155" y="5788342"/>
              <a:ext cx="2321476" cy="274320"/>
            </a:xfrm>
            <a:prstGeom prst="rect">
              <a:avLst/>
            </a:prstGeom>
            <a:noFill/>
            <a:ln>
              <a:noFill/>
            </a:ln>
          </p:spPr>
          <p:txBody>
            <a:bodyPr wrap="none" lIns="0" tIns="0" rIns="0" bIns="0" anchor="t" anchorCtr="0">
              <a:spAutoFit/>
            </a:bodyPr>
            <a:lstStyle/>
            <a:p>
              <a:pPr algn="l"/>
              <a:r>
                <a:rPr lang="zh-CN" sz="1350" b="1" dirty="0">
                  <a:solidFill>
                    <a:srgbClr val="123E4A"/>
                  </a:solidFill>
                  <a:latin typeface="Arial"/>
                  <a:ea typeface="Microsoft YaHei"/>
                  <a:cs typeface="Arial"/>
                </a:rPr>
                <a:t>Communication principle:</a:t>
              </a:r>
            </a:p>
          </p:txBody>
        </p:sp>
        <p:sp>
          <p:nvSpPr>
            <p:cNvPr id="47" name="TextBox 47"/>
            <p:cNvSpPr txBox="1"/>
            <p:nvPr/>
          </p:nvSpPr>
          <p:spPr>
            <a:xfrm>
              <a:off x="3716655" y="5788342"/>
              <a:ext cx="6758130"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accurate, open, timely information maintains confidence in the food supply.</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slide(fromBottom)">
                                      <p:cBhvr>
                                        <p:cTn id="11" dur="400"/>
                                        <p:tgtEl>
                                          <p:spTgt spid="11"/>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slide(fromBottom)">
                                      <p:cBhvr>
                                        <p:cTn id="15" dur="400"/>
                                        <p:tgtEl>
                                          <p:spTgt spid="19"/>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slide(fromBottom)">
                                      <p:cBhvr>
                                        <p:cTn id="19" dur="400"/>
                                        <p:tgtEl>
                                          <p:spTgt spid="27"/>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slide(fromBottom)">
                                      <p:cBhvr>
                                        <p:cTn id="23" dur="400"/>
                                        <p:tgtEl>
                                          <p:spTgt spid="35"/>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slide(fromBottom)">
                                      <p:cBhvr>
                                        <p:cTn id="27" dur="400"/>
                                        <p:tgtEl>
                                          <p:spTgt spid="43"/>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image">
                                      <p:cBhvr>
                                        <p:cTn id="31"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9" grpId="0"/>
      <p:bldP spid="27" grpId="0"/>
      <p:bldP spid="35" grpId="0"/>
      <p:bldP spid="43"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202817"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ACTIVATION IDEAS</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08 / 10</a:t>
              </a:r>
            </a:p>
          </p:txBody>
        </p:sp>
      </p:grpSp>
      <p:grpSp>
        <p:nvGrpSpPr>
          <p:cNvPr id="8" name="Group 8"/>
          <p:cNvGrpSpPr/>
          <p:nvPr/>
        </p:nvGrpSpPr>
        <p:grpSpPr>
          <a:xfrm>
            <a:off x="478155" y="778192"/>
            <a:ext cx="13600181" cy="760096"/>
            <a:chOff x="478155" y="778192"/>
            <a:chExt cx="13600181" cy="760096"/>
          </a:xfrm>
        </p:grpSpPr>
        <p:sp>
          <p:nvSpPr>
            <p:cNvPr id="6" name="TextBox 6"/>
            <p:cNvSpPr txBox="1"/>
            <p:nvPr/>
          </p:nvSpPr>
          <p:spPr>
            <a:xfrm>
              <a:off x="478155" y="778192"/>
              <a:ext cx="13600181"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Partners can activate through training, events, and official assets.</a:t>
              </a:r>
            </a:p>
          </p:txBody>
        </p:sp>
        <p:sp>
          <p:nvSpPr>
            <p:cNvPr id="7" name="TextBox 7"/>
            <p:cNvSpPr txBox="1"/>
            <p:nvPr/>
          </p:nvSpPr>
          <p:spPr>
            <a:xfrm>
              <a:off x="497205" y="1263968"/>
              <a:ext cx="8900398"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The toolkit suggests staff training, creative activities, and downloadable communication materials.</a:t>
              </a:r>
            </a:p>
          </p:txBody>
        </p:sp>
      </p:grpSp>
      <p:grpSp>
        <p:nvGrpSpPr>
          <p:cNvPr id="14" name="Group 14"/>
          <p:cNvGrpSpPr/>
          <p:nvPr/>
        </p:nvGrpSpPr>
        <p:grpSpPr>
          <a:xfrm>
            <a:off x="514350" y="1866900"/>
            <a:ext cx="11163300" cy="1809750"/>
            <a:chOff x="514350" y="1866900"/>
            <a:chExt cx="11163300" cy="1809750"/>
          </a:xfrm>
        </p:grpSpPr>
        <p:sp>
          <p:nvSpPr>
            <p:cNvPr id="9" name="Rectangle 9"/>
            <p:cNvSpPr/>
            <p:nvPr/>
          </p:nvSpPr>
          <p:spPr>
            <a:xfrm>
              <a:off x="514350" y="1866900"/>
              <a:ext cx="11163300" cy="1809750"/>
            </a:xfrm>
            <a:prstGeom prst="roundRect">
              <a:avLst>
                <a:gd name="adj" fmla="val 12632"/>
              </a:avLst>
            </a:prstGeom>
            <a:solidFill>
              <a:srgbClr val="FFFFFF"/>
            </a:solidFill>
            <a:ln w="19050">
              <a:solidFill>
                <a:srgbClr val="C9D9D5"/>
              </a:solidFill>
            </a:ln>
          </p:spPr>
        </p:sp>
        <p:pic>
          <p:nvPicPr>
            <p:cNvPr id="10" name="Image 10"/>
            <p:cNvPicPr>
              <a:picLocks noChangeAspect="1"/>
            </p:cNvPicPr>
            <p:nvPr/>
          </p:nvPicPr>
          <p:blipFill>
            <a:blip r:embed="rId2"/>
            <a:stretch>
              <a:fillRect/>
            </a:stretch>
          </p:blipFill>
          <p:spPr>
            <a:xfrm>
              <a:off x="1221136" y="2076450"/>
              <a:ext cx="1367727" cy="1390650"/>
            </a:xfrm>
            <a:prstGeom prst="rect">
              <a:avLst/>
            </a:prstGeom>
          </p:spPr>
        </p:pic>
        <p:pic>
          <p:nvPicPr>
            <p:cNvPr id="11" name="Image 11"/>
            <p:cNvPicPr>
              <a:picLocks noChangeAspect="1"/>
            </p:cNvPicPr>
            <p:nvPr/>
          </p:nvPicPr>
          <p:blipFill>
            <a:blip r:embed="rId3"/>
            <a:stretch>
              <a:fillRect/>
            </a:stretch>
          </p:blipFill>
          <p:spPr>
            <a:xfrm>
              <a:off x="3746022" y="2076450"/>
              <a:ext cx="1499556" cy="1390650"/>
            </a:xfrm>
            <a:prstGeom prst="rect">
              <a:avLst/>
            </a:prstGeom>
          </p:spPr>
        </p:pic>
        <p:pic>
          <p:nvPicPr>
            <p:cNvPr id="12" name="Image 12"/>
            <p:cNvPicPr>
              <a:picLocks noChangeAspect="1"/>
            </p:cNvPicPr>
            <p:nvPr/>
          </p:nvPicPr>
          <p:blipFill>
            <a:blip r:embed="rId4"/>
            <a:stretch>
              <a:fillRect/>
            </a:stretch>
          </p:blipFill>
          <p:spPr>
            <a:xfrm>
              <a:off x="6411991" y="2076450"/>
              <a:ext cx="1349219" cy="1390650"/>
            </a:xfrm>
            <a:prstGeom prst="rect">
              <a:avLst/>
            </a:prstGeom>
          </p:spPr>
        </p:pic>
        <p:pic>
          <p:nvPicPr>
            <p:cNvPr id="13" name="Image 13"/>
            <p:cNvPicPr>
              <a:picLocks noChangeAspect="1"/>
            </p:cNvPicPr>
            <p:nvPr/>
          </p:nvPicPr>
          <p:blipFill>
            <a:blip r:embed="rId5"/>
            <a:stretch>
              <a:fillRect/>
            </a:stretch>
          </p:blipFill>
          <p:spPr>
            <a:xfrm>
              <a:off x="8793170" y="2076450"/>
              <a:ext cx="2016110" cy="1390650"/>
            </a:xfrm>
            <a:prstGeom prst="rect">
              <a:avLst/>
            </a:prstGeom>
          </p:spPr>
        </p:pic>
      </p:grpSp>
      <p:grpSp>
        <p:nvGrpSpPr>
          <p:cNvPr id="32" name="Group 32"/>
          <p:cNvGrpSpPr/>
          <p:nvPr/>
        </p:nvGrpSpPr>
        <p:grpSpPr>
          <a:xfrm>
            <a:off x="514350" y="4095750"/>
            <a:ext cx="11163300" cy="1600200"/>
            <a:chOff x="514350" y="4095750"/>
            <a:chExt cx="11163300" cy="1600200"/>
          </a:xfrm>
        </p:grpSpPr>
        <p:sp>
          <p:nvSpPr>
            <p:cNvPr id="15" name="Rectangle 15"/>
            <p:cNvSpPr/>
            <p:nvPr/>
          </p:nvSpPr>
          <p:spPr>
            <a:xfrm>
              <a:off x="514350" y="4095750"/>
              <a:ext cx="3429000" cy="1600200"/>
            </a:xfrm>
            <a:prstGeom prst="roundRect">
              <a:avLst>
                <a:gd name="adj" fmla="val 14286"/>
              </a:avLst>
            </a:prstGeom>
            <a:solidFill>
              <a:srgbClr val="FFFFFF"/>
            </a:solidFill>
            <a:ln w="19050">
              <a:solidFill>
                <a:srgbClr val="C9D9D5"/>
              </a:solidFill>
            </a:ln>
          </p:spPr>
        </p:sp>
        <p:sp>
          <p:nvSpPr>
            <p:cNvPr id="16" name="Freeform 16"/>
            <p:cNvSpPr/>
            <p:nvPr/>
          </p:nvSpPr>
          <p:spPr>
            <a:xfrm>
              <a:off x="860822" y="4400550"/>
              <a:ext cx="316706" cy="361950"/>
            </a:xfrm>
            <a:custGeom>
              <a:avLst/>
              <a:gdLst/>
              <a:ahLst/>
              <a:cxnLst/>
              <a:rect l="l" t="t" r="r" b="b"/>
              <a:pathLst>
                <a:path w="316706" h="361950">
                  <a:moveTo>
                    <a:pt x="158353" y="361950"/>
                  </a:moveTo>
                  <a:lnTo>
                    <a:pt x="75785" y="302973"/>
                  </a:lnTo>
                  <a:cubicBezTo>
                    <a:pt x="28226" y="269001"/>
                    <a:pt x="0" y="214154"/>
                    <a:pt x="0" y="155708"/>
                  </a:cubicBezTo>
                  <a:lnTo>
                    <a:pt x="0" y="67866"/>
                  </a:lnTo>
                  <a:lnTo>
                    <a:pt x="158353" y="0"/>
                  </a:lnTo>
                  <a:lnTo>
                    <a:pt x="316706" y="67866"/>
                  </a:lnTo>
                  <a:lnTo>
                    <a:pt x="316706" y="155708"/>
                  </a:lnTo>
                  <a:cubicBezTo>
                    <a:pt x="316706" y="214154"/>
                    <a:pt x="288481" y="269001"/>
                    <a:pt x="240921" y="302973"/>
                  </a:cubicBezTo>
                  <a:lnTo>
                    <a:pt x="158353" y="361950"/>
                  </a:lnTo>
                  <a:close/>
                  <a:moveTo>
                    <a:pt x="253526" y="129106"/>
                  </a:moveTo>
                  <a:lnTo>
                    <a:pt x="221534" y="97113"/>
                  </a:lnTo>
                  <a:lnTo>
                    <a:pt x="135731" y="182916"/>
                  </a:lnTo>
                  <a:lnTo>
                    <a:pt x="95173" y="142357"/>
                  </a:lnTo>
                  <a:lnTo>
                    <a:pt x="63180" y="174349"/>
                  </a:lnTo>
                  <a:lnTo>
                    <a:pt x="135731" y="246900"/>
                  </a:lnTo>
                  <a:lnTo>
                    <a:pt x="253526" y="129106"/>
                  </a:lnTo>
                  <a:close/>
                </a:path>
              </a:pathLst>
            </a:custGeom>
            <a:solidFill>
              <a:srgbClr val="008C7A"/>
            </a:solidFill>
            <a:ln>
              <a:noFill/>
            </a:ln>
          </p:spPr>
        </p:sp>
        <p:sp>
          <p:nvSpPr>
            <p:cNvPr id="17" name="TextBox 17"/>
            <p:cNvSpPr txBox="1"/>
            <p:nvPr/>
          </p:nvSpPr>
          <p:spPr>
            <a:xfrm>
              <a:off x="1369695" y="4470082"/>
              <a:ext cx="1324120" cy="335280"/>
            </a:xfrm>
            <a:prstGeom prst="rect">
              <a:avLst/>
            </a:prstGeom>
            <a:noFill/>
            <a:ln>
              <a:noFill/>
            </a:ln>
          </p:spPr>
          <p:txBody>
            <a:bodyPr wrap="none" lIns="0" tIns="0" rIns="0" bIns="0" anchor="t" anchorCtr="0">
              <a:spAutoFit/>
            </a:bodyPr>
            <a:lstStyle/>
            <a:p>
              <a:pPr algn="l"/>
              <a:r>
                <a:rPr lang="zh-CN" sz="1650" b="1" dirty="0">
                  <a:solidFill>
                    <a:srgbClr val="123E4A"/>
                  </a:solidFill>
                  <a:latin typeface="Arial"/>
                  <a:ea typeface="Microsoft YaHei"/>
                  <a:cs typeface="Arial"/>
                </a:rPr>
                <a:t>Train staff</a:t>
              </a:r>
            </a:p>
          </p:txBody>
        </p:sp>
        <p:sp>
          <p:nvSpPr>
            <p:cNvPr id="18" name="TextBox 18"/>
            <p:cNvSpPr txBox="1"/>
            <p:nvPr/>
          </p:nvSpPr>
          <p:spPr>
            <a:xfrm>
              <a:off x="822008" y="4948714"/>
              <a:ext cx="186861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Reinforce food safety</a:t>
              </a:r>
            </a:p>
          </p:txBody>
        </p:sp>
        <p:sp>
          <p:nvSpPr>
            <p:cNvPr id="19" name="TextBox 19"/>
            <p:cNvSpPr txBox="1"/>
            <p:nvPr/>
          </p:nvSpPr>
          <p:spPr>
            <a:xfrm>
              <a:off x="822008" y="5215414"/>
              <a:ext cx="1826109"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management at work.</a:t>
              </a:r>
            </a:p>
          </p:txBody>
        </p:sp>
        <p:sp>
          <p:nvSpPr>
            <p:cNvPr id="20" name="Rectangle 20"/>
            <p:cNvSpPr/>
            <p:nvPr/>
          </p:nvSpPr>
          <p:spPr>
            <a:xfrm>
              <a:off x="4324350" y="4095750"/>
              <a:ext cx="3429000" cy="1600200"/>
            </a:xfrm>
            <a:prstGeom prst="roundRect">
              <a:avLst>
                <a:gd name="adj" fmla="val 14286"/>
              </a:avLst>
            </a:prstGeom>
            <a:solidFill>
              <a:srgbClr val="FFFFFF"/>
            </a:solidFill>
            <a:ln w="19050">
              <a:solidFill>
                <a:srgbClr val="C9D9D5"/>
              </a:solidFill>
            </a:ln>
          </p:spPr>
        </p:sp>
        <p:sp>
          <p:nvSpPr>
            <p:cNvPr id="21" name="Freeform 21"/>
            <p:cNvSpPr/>
            <p:nvPr/>
          </p:nvSpPr>
          <p:spPr>
            <a:xfrm>
              <a:off x="4648200" y="4423172"/>
              <a:ext cx="361950" cy="316706"/>
            </a:xfrm>
            <a:custGeom>
              <a:avLst/>
              <a:gdLst/>
              <a:ahLst/>
              <a:cxnLst/>
              <a:rect l="l" t="t" r="r" b="b"/>
              <a:pathLst>
                <a:path w="361950" h="316706">
                  <a:moveTo>
                    <a:pt x="316706" y="0"/>
                  </a:moveTo>
                  <a:lnTo>
                    <a:pt x="316706" y="33933"/>
                  </a:lnTo>
                  <a:lnTo>
                    <a:pt x="45244" y="113109"/>
                  </a:lnTo>
                  <a:lnTo>
                    <a:pt x="45244" y="90488"/>
                  </a:lnTo>
                  <a:lnTo>
                    <a:pt x="0" y="90488"/>
                  </a:lnTo>
                  <a:lnTo>
                    <a:pt x="0" y="226219"/>
                  </a:lnTo>
                  <a:lnTo>
                    <a:pt x="45244" y="226219"/>
                  </a:lnTo>
                  <a:lnTo>
                    <a:pt x="45244" y="203597"/>
                  </a:lnTo>
                  <a:lnTo>
                    <a:pt x="93034" y="217536"/>
                  </a:lnTo>
                  <a:cubicBezTo>
                    <a:pt x="91372" y="223923"/>
                    <a:pt x="90488" y="230623"/>
                    <a:pt x="90488" y="237530"/>
                  </a:cubicBezTo>
                  <a:cubicBezTo>
                    <a:pt x="90488" y="281258"/>
                    <a:pt x="125936" y="316706"/>
                    <a:pt x="169664" y="316706"/>
                  </a:cubicBezTo>
                  <a:cubicBezTo>
                    <a:pt x="204901" y="316706"/>
                    <a:pt x="234761" y="293688"/>
                    <a:pt x="245029" y="261869"/>
                  </a:cubicBezTo>
                  <a:lnTo>
                    <a:pt x="316706" y="282773"/>
                  </a:lnTo>
                  <a:lnTo>
                    <a:pt x="316706" y="316706"/>
                  </a:lnTo>
                  <a:lnTo>
                    <a:pt x="361950" y="316706"/>
                  </a:lnTo>
                  <a:lnTo>
                    <a:pt x="361950" y="0"/>
                  </a:lnTo>
                  <a:lnTo>
                    <a:pt x="316706" y="0"/>
                  </a:lnTo>
                  <a:close/>
                  <a:moveTo>
                    <a:pt x="136521" y="230218"/>
                  </a:moveTo>
                  <a:lnTo>
                    <a:pt x="201543" y="249184"/>
                  </a:lnTo>
                  <a:cubicBezTo>
                    <a:pt x="196789" y="262183"/>
                    <a:pt x="184310" y="271462"/>
                    <a:pt x="169664" y="271462"/>
                  </a:cubicBezTo>
                  <a:cubicBezTo>
                    <a:pt x="150923" y="271462"/>
                    <a:pt x="135731" y="256270"/>
                    <a:pt x="135731" y="237530"/>
                  </a:cubicBezTo>
                  <a:cubicBezTo>
                    <a:pt x="135731" y="235021"/>
                    <a:pt x="136004" y="232573"/>
                    <a:pt x="136521" y="230218"/>
                  </a:cubicBezTo>
                  <a:close/>
                </a:path>
              </a:pathLst>
            </a:custGeom>
            <a:solidFill>
              <a:srgbClr val="008C7A"/>
            </a:solidFill>
            <a:ln>
              <a:noFill/>
            </a:ln>
          </p:spPr>
        </p:sp>
        <p:sp>
          <p:nvSpPr>
            <p:cNvPr id="22" name="TextBox 22"/>
            <p:cNvSpPr txBox="1"/>
            <p:nvPr/>
          </p:nvSpPr>
          <p:spPr>
            <a:xfrm>
              <a:off x="5179695" y="4470082"/>
              <a:ext cx="1451186" cy="335280"/>
            </a:xfrm>
            <a:prstGeom prst="rect">
              <a:avLst/>
            </a:prstGeom>
            <a:noFill/>
            <a:ln>
              <a:noFill/>
            </a:ln>
          </p:spPr>
          <p:txBody>
            <a:bodyPr wrap="none" lIns="0" tIns="0" rIns="0" bIns="0" anchor="t" anchorCtr="0">
              <a:spAutoFit/>
            </a:bodyPr>
            <a:lstStyle/>
            <a:p>
              <a:pPr algn="l"/>
              <a:r>
                <a:rPr lang="zh-CN" sz="1650" b="1" dirty="0">
                  <a:solidFill>
                    <a:srgbClr val="123E4A"/>
                  </a:solidFill>
                  <a:latin typeface="Arial"/>
                  <a:ea typeface="Microsoft YaHei"/>
                  <a:cs typeface="Arial"/>
                </a:rPr>
                <a:t>Get creative</a:t>
              </a:r>
            </a:p>
          </p:txBody>
        </p:sp>
        <p:sp>
          <p:nvSpPr>
            <p:cNvPr id="23" name="TextBox 23"/>
            <p:cNvSpPr txBox="1"/>
            <p:nvPr/>
          </p:nvSpPr>
          <p:spPr>
            <a:xfrm>
              <a:off x="4632008" y="4948714"/>
              <a:ext cx="257420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Use competitions, exhibitions,</a:t>
              </a:r>
            </a:p>
          </p:txBody>
        </p:sp>
        <p:sp>
          <p:nvSpPr>
            <p:cNvPr id="24" name="TextBox 24"/>
            <p:cNvSpPr txBox="1"/>
            <p:nvPr/>
          </p:nvSpPr>
          <p:spPr>
            <a:xfrm>
              <a:off x="4632008" y="5215414"/>
              <a:ext cx="2905744"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sports, videos, songs, or dances.</a:t>
              </a:r>
            </a:p>
          </p:txBody>
        </p:sp>
        <p:sp>
          <p:nvSpPr>
            <p:cNvPr id="25" name="Rectangle 25"/>
            <p:cNvSpPr/>
            <p:nvPr/>
          </p:nvSpPr>
          <p:spPr>
            <a:xfrm>
              <a:off x="8134350" y="4095750"/>
              <a:ext cx="3543300" cy="1600200"/>
            </a:xfrm>
            <a:prstGeom prst="roundRect">
              <a:avLst>
                <a:gd name="adj" fmla="val 14286"/>
              </a:avLst>
            </a:prstGeom>
            <a:solidFill>
              <a:srgbClr val="123E4A"/>
            </a:solidFill>
            <a:ln>
              <a:noFill/>
            </a:ln>
          </p:spPr>
        </p:sp>
        <p:grpSp>
          <p:nvGrpSpPr>
            <p:cNvPr id="28" name="Group 28"/>
            <p:cNvGrpSpPr/>
            <p:nvPr/>
          </p:nvGrpSpPr>
          <p:grpSpPr>
            <a:xfrm>
              <a:off x="8503444" y="4400550"/>
              <a:ext cx="271462" cy="361950"/>
              <a:chOff x="8503444" y="4400550"/>
              <a:chExt cx="271462" cy="361950"/>
            </a:xfrm>
          </p:grpSpPr>
          <p:sp>
            <p:nvSpPr>
              <p:cNvPr id="26" name="Freeform 26"/>
              <p:cNvSpPr/>
              <p:nvPr/>
            </p:nvSpPr>
            <p:spPr>
              <a:xfrm>
                <a:off x="8503444" y="4400550"/>
                <a:ext cx="271462" cy="361950"/>
              </a:xfrm>
              <a:custGeom>
                <a:avLst/>
                <a:gdLst/>
                <a:ahLst/>
                <a:cxnLst/>
                <a:rect l="l" t="t" r="r" b="b"/>
                <a:pathLst>
                  <a:path w="271462" h="361950">
                    <a:moveTo>
                      <a:pt x="113109" y="0"/>
                    </a:moveTo>
                    <a:lnTo>
                      <a:pt x="0" y="0"/>
                    </a:lnTo>
                    <a:lnTo>
                      <a:pt x="0" y="361950"/>
                    </a:lnTo>
                    <a:lnTo>
                      <a:pt x="271462" y="361950"/>
                    </a:lnTo>
                    <a:lnTo>
                      <a:pt x="271462" y="158353"/>
                    </a:lnTo>
                    <a:lnTo>
                      <a:pt x="113109" y="158353"/>
                    </a:lnTo>
                    <a:lnTo>
                      <a:pt x="113109" y="0"/>
                    </a:lnTo>
                    <a:close/>
                  </a:path>
                </a:pathLst>
              </a:custGeom>
              <a:solidFill>
                <a:srgbClr val="F2B705"/>
              </a:solidFill>
              <a:ln>
                <a:noFill/>
              </a:ln>
            </p:spPr>
          </p:sp>
          <p:sp>
            <p:nvSpPr>
              <p:cNvPr id="27" name="Freeform 27"/>
              <p:cNvSpPr/>
              <p:nvPr/>
            </p:nvSpPr>
            <p:spPr>
              <a:xfrm>
                <a:off x="8661797" y="4400550"/>
                <a:ext cx="113109" cy="113109"/>
              </a:xfrm>
              <a:custGeom>
                <a:avLst/>
                <a:gdLst/>
                <a:ahLst/>
                <a:cxnLst/>
                <a:rect l="l" t="t" r="r" b="b"/>
                <a:pathLst>
                  <a:path w="113109" h="113109">
                    <a:moveTo>
                      <a:pt x="0" y="0"/>
                    </a:moveTo>
                    <a:lnTo>
                      <a:pt x="0" y="113109"/>
                    </a:lnTo>
                    <a:lnTo>
                      <a:pt x="113109" y="113109"/>
                    </a:lnTo>
                    <a:lnTo>
                      <a:pt x="0" y="0"/>
                    </a:lnTo>
                    <a:close/>
                  </a:path>
                </a:pathLst>
              </a:custGeom>
              <a:solidFill>
                <a:srgbClr val="F2B705"/>
              </a:solidFill>
              <a:ln>
                <a:noFill/>
              </a:ln>
            </p:spPr>
          </p:sp>
        </p:grpSp>
        <p:sp>
          <p:nvSpPr>
            <p:cNvPr id="29" name="TextBox 29"/>
            <p:cNvSpPr txBox="1"/>
            <p:nvPr/>
          </p:nvSpPr>
          <p:spPr>
            <a:xfrm>
              <a:off x="8989695" y="4470082"/>
              <a:ext cx="2479265"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Use official materials</a:t>
              </a:r>
            </a:p>
          </p:txBody>
        </p:sp>
        <p:sp>
          <p:nvSpPr>
            <p:cNvPr id="30" name="TextBox 30"/>
            <p:cNvSpPr txBox="1"/>
            <p:nvPr/>
          </p:nvSpPr>
          <p:spPr>
            <a:xfrm>
              <a:off x="8442008" y="4948714"/>
              <a:ext cx="2701719"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Poster, website, retrospective</a:t>
              </a:r>
            </a:p>
          </p:txBody>
        </p:sp>
        <p:sp>
          <p:nvSpPr>
            <p:cNvPr id="31" name="TextBox 31"/>
            <p:cNvSpPr txBox="1"/>
            <p:nvPr/>
          </p:nvSpPr>
          <p:spPr>
            <a:xfrm>
              <a:off x="8442008" y="5215414"/>
              <a:ext cx="2914245"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video, report, asset bank, Trello.</a:t>
              </a:r>
            </a:p>
          </p:txBody>
        </p:sp>
      </p:grpSp>
      <p:grpSp>
        <p:nvGrpSpPr>
          <p:cNvPr id="34" name="Group 34"/>
          <p:cNvGrpSpPr/>
          <p:nvPr/>
        </p:nvGrpSpPr>
        <p:grpSpPr>
          <a:xfrm>
            <a:off x="501968" y="6143149"/>
            <a:ext cx="4510326" cy="198120"/>
            <a:chOff x="501968" y="6143149"/>
            <a:chExt cx="4510326" cy="198120"/>
          </a:xfrm>
        </p:grpSpPr>
        <p:sp>
          <p:nvSpPr>
            <p:cNvPr id="33" name="TextBox 33"/>
            <p:cNvSpPr txBox="1"/>
            <p:nvPr/>
          </p:nvSpPr>
          <p:spPr>
            <a:xfrm>
              <a:off x="501968" y="6143149"/>
              <a:ext cx="4510326" cy="198120"/>
            </a:xfrm>
            <a:prstGeom prst="rect">
              <a:avLst/>
            </a:prstGeom>
            <a:noFill/>
            <a:ln>
              <a:noFill/>
            </a:ln>
          </p:spPr>
          <p:txBody>
            <a:bodyPr wrap="none" lIns="0" tIns="0" rIns="0" bIns="0" anchor="t" anchorCtr="0">
              <a:spAutoFit/>
            </a:bodyPr>
            <a:lstStyle/>
            <a:p>
              <a:pPr algn="l"/>
              <a:r>
                <a:rPr lang="zh-CN" sz="975" dirty="0">
                  <a:solidFill>
                    <a:srgbClr val="5B6770"/>
                  </a:solidFill>
                  <a:latin typeface="Arial"/>
                  <a:ea typeface="Microsoft YaHei"/>
                  <a:cs typeface="Arial"/>
                </a:rPr>
                <a:t>Source: World Food Safety Day 2024 communication toolkit, pages 7-9.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400"/>
                                        <p:tgtEl>
                                          <p:spTgt spid="1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slide(fromBottom)">
                                      <p:cBhvr>
                                        <p:cTn id="15" dur="400"/>
                                        <p:tgtEl>
                                          <p:spTgt spid="3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32" grpId="0"/>
      <p:bldP spid="3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5" name="Group 5"/>
          <p:cNvGrpSpPr/>
          <p:nvPr/>
        </p:nvGrpSpPr>
        <p:grpSpPr>
          <a:xfrm>
            <a:off x="501015" y="401002"/>
            <a:ext cx="11262622" cy="213360"/>
            <a:chOff x="501015" y="401002"/>
            <a:chExt cx="11262622" cy="213360"/>
          </a:xfrm>
        </p:grpSpPr>
        <p:sp>
          <p:nvSpPr>
            <p:cNvPr id="3" name="TextBox 3"/>
            <p:cNvSpPr txBox="1"/>
            <p:nvPr/>
          </p:nvSpPr>
          <p:spPr>
            <a:xfrm>
              <a:off x="501015" y="401002"/>
              <a:ext cx="1261624"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PARTNER ROLLOUT</a:t>
              </a:r>
            </a:p>
          </p:txBody>
        </p:sp>
        <p:sp>
          <p:nvSpPr>
            <p:cNvPr id="4" name="TextBox 4"/>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09 / 10</a:t>
              </a:r>
            </a:p>
          </p:txBody>
        </p:sp>
      </p:grpSp>
      <p:grpSp>
        <p:nvGrpSpPr>
          <p:cNvPr id="8" name="Group 8"/>
          <p:cNvGrpSpPr/>
          <p:nvPr/>
        </p:nvGrpSpPr>
        <p:grpSpPr>
          <a:xfrm>
            <a:off x="478155" y="778192"/>
            <a:ext cx="6786181" cy="760096"/>
            <a:chOff x="478155" y="778192"/>
            <a:chExt cx="6786181" cy="760096"/>
          </a:xfrm>
        </p:grpSpPr>
        <p:sp>
          <p:nvSpPr>
            <p:cNvPr id="6" name="TextBox 6"/>
            <p:cNvSpPr txBox="1"/>
            <p:nvPr/>
          </p:nvSpPr>
          <p:spPr>
            <a:xfrm>
              <a:off x="478155" y="778192"/>
              <a:ext cx="6736523" cy="579120"/>
            </a:xfrm>
            <a:prstGeom prst="rect">
              <a:avLst/>
            </a:prstGeom>
            <a:noFill/>
            <a:ln>
              <a:noFill/>
            </a:ln>
          </p:spPr>
          <p:txBody>
            <a:bodyPr wrap="none" lIns="0" tIns="0" rIns="0" bIns="0" anchor="t" anchorCtr="0">
              <a:spAutoFit/>
            </a:bodyPr>
            <a:lstStyle/>
            <a:p>
              <a:pPr algn="l"/>
              <a:r>
                <a:rPr lang="zh-CN" sz="2850" b="1" dirty="0">
                  <a:solidFill>
                    <a:srgbClr val="123E4A"/>
                  </a:solidFill>
                  <a:latin typeface="Arial"/>
                  <a:ea typeface="Microsoft YaHei"/>
                  <a:cs typeface="Arial"/>
                </a:rPr>
                <a:t>Partner rollout plan around 7 June</a:t>
              </a:r>
            </a:p>
          </p:txBody>
        </p:sp>
        <p:sp>
          <p:nvSpPr>
            <p:cNvPr id="7" name="TextBox 7"/>
            <p:cNvSpPr txBox="1"/>
            <p:nvPr/>
          </p:nvSpPr>
          <p:spPr>
            <a:xfrm>
              <a:off x="497205" y="1263968"/>
              <a:ext cx="6767131" cy="274320"/>
            </a:xfrm>
            <a:prstGeom prst="rect">
              <a:avLst/>
            </a:prstGeom>
            <a:noFill/>
            <a:ln>
              <a:noFill/>
            </a:ln>
          </p:spPr>
          <p:txBody>
            <a:bodyPr wrap="none" lIns="0" tIns="0" rIns="0" bIns="0" anchor="t" anchorCtr="0">
              <a:spAutoFit/>
            </a:bodyPr>
            <a:lstStyle/>
            <a:p>
              <a:pPr algn="l"/>
              <a:r>
                <a:rPr lang="zh-CN" sz="1350" dirty="0">
                  <a:solidFill>
                    <a:srgbClr val="5B6770"/>
                  </a:solidFill>
                  <a:latin typeface="Arial"/>
                  <a:ea typeface="Microsoft YaHei"/>
                  <a:cs typeface="Arial"/>
                </a:rPr>
                <a:t>A simple cadence turns toolkit assets into a campaign partners can execute.</a:t>
              </a:r>
            </a:p>
          </p:txBody>
        </p:sp>
      </p:grpSp>
      <p:grpSp>
        <p:nvGrpSpPr>
          <p:cNvPr id="29" name="Group 29"/>
          <p:cNvGrpSpPr/>
          <p:nvPr/>
        </p:nvGrpSpPr>
        <p:grpSpPr>
          <a:xfrm>
            <a:off x="514350" y="1943100"/>
            <a:ext cx="11163300" cy="2343150"/>
            <a:chOff x="514350" y="1943100"/>
            <a:chExt cx="11163300" cy="2343150"/>
          </a:xfrm>
        </p:grpSpPr>
        <p:sp>
          <p:nvSpPr>
            <p:cNvPr id="9" name="Rectangle 9"/>
            <p:cNvSpPr/>
            <p:nvPr/>
          </p:nvSpPr>
          <p:spPr>
            <a:xfrm>
              <a:off x="514350" y="1943100"/>
              <a:ext cx="11163300" cy="2286000"/>
            </a:xfrm>
            <a:prstGeom prst="roundRect">
              <a:avLst>
                <a:gd name="adj" fmla="val 10833"/>
              </a:avLst>
            </a:prstGeom>
            <a:solidFill>
              <a:srgbClr val="FFFFFF"/>
            </a:solidFill>
            <a:ln w="19050">
              <a:solidFill>
                <a:srgbClr val="C9D9D5"/>
              </a:solidFill>
            </a:ln>
          </p:spPr>
        </p:sp>
        <p:sp>
          <p:nvSpPr>
            <p:cNvPr id="10" name="Line 10"/>
            <p:cNvSpPr/>
            <p:nvPr/>
          </p:nvSpPr>
          <p:spPr>
            <a:xfrm>
              <a:off x="1524000" y="3048000"/>
              <a:ext cx="9048750" cy="9525"/>
            </a:xfrm>
            <a:custGeom>
              <a:avLst/>
              <a:gdLst/>
              <a:ahLst/>
              <a:cxnLst/>
              <a:rect l="l" t="t" r="r" b="b"/>
              <a:pathLst>
                <a:path w="9048750" h="9525">
                  <a:moveTo>
                    <a:pt x="0" y="0"/>
                  </a:moveTo>
                  <a:lnTo>
                    <a:pt x="9048750" y="0"/>
                  </a:lnTo>
                </a:path>
              </a:pathLst>
            </a:custGeom>
            <a:noFill/>
            <a:ln w="57150" cap="rnd">
              <a:solidFill>
                <a:srgbClr val="C9D9D5"/>
              </a:solidFill>
            </a:ln>
          </p:spPr>
        </p:sp>
        <p:sp>
          <p:nvSpPr>
            <p:cNvPr id="11" name="Ellipse 11"/>
            <p:cNvSpPr/>
            <p:nvPr/>
          </p:nvSpPr>
          <p:spPr>
            <a:xfrm>
              <a:off x="1866900" y="2724150"/>
              <a:ext cx="647700" cy="647700"/>
            </a:xfrm>
            <a:prstGeom prst="ellipse">
              <a:avLst/>
            </a:prstGeom>
            <a:solidFill>
              <a:srgbClr val="008C7A"/>
            </a:solidFill>
            <a:ln>
              <a:noFill/>
            </a:ln>
          </p:spPr>
        </p:sp>
        <p:sp>
          <p:nvSpPr>
            <p:cNvPr id="12" name="TextBox 12"/>
            <p:cNvSpPr txBox="1"/>
            <p:nvPr/>
          </p:nvSpPr>
          <p:spPr>
            <a:xfrm>
              <a:off x="2106262" y="295560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1</a:t>
              </a:r>
            </a:p>
          </p:txBody>
        </p:sp>
        <p:sp>
          <p:nvSpPr>
            <p:cNvPr id="13" name="Ellipse 13"/>
            <p:cNvSpPr/>
            <p:nvPr/>
          </p:nvSpPr>
          <p:spPr>
            <a:xfrm>
              <a:off x="5695950" y="2647950"/>
              <a:ext cx="800100" cy="800100"/>
            </a:xfrm>
            <a:prstGeom prst="ellipse">
              <a:avLst/>
            </a:prstGeom>
            <a:solidFill>
              <a:srgbClr val="F2B705"/>
            </a:solidFill>
            <a:ln>
              <a:noFill/>
            </a:ln>
          </p:spPr>
        </p:sp>
        <p:sp>
          <p:nvSpPr>
            <p:cNvPr id="14" name="TextBox 14"/>
            <p:cNvSpPr txBox="1"/>
            <p:nvPr/>
          </p:nvSpPr>
          <p:spPr>
            <a:xfrm>
              <a:off x="6011512" y="2955608"/>
              <a:ext cx="168976" cy="335280"/>
            </a:xfrm>
            <a:prstGeom prst="rect">
              <a:avLst/>
            </a:prstGeom>
            <a:noFill/>
            <a:ln>
              <a:noFill/>
            </a:ln>
          </p:spPr>
          <p:txBody>
            <a:bodyPr wrap="none" lIns="0" tIns="0" rIns="0" bIns="0" anchor="t" anchorCtr="0">
              <a:spAutoFit/>
            </a:bodyPr>
            <a:lstStyle/>
            <a:p>
              <a:pPr algn="ctr"/>
              <a:r>
                <a:rPr lang="zh-CN" sz="1650" b="1" dirty="0">
                  <a:solidFill>
                    <a:srgbClr val="123E4A"/>
                  </a:solidFill>
                  <a:latin typeface="Arial"/>
                  <a:ea typeface="Microsoft YaHei"/>
                  <a:cs typeface="Arial"/>
                </a:rPr>
                <a:t>7</a:t>
              </a:r>
            </a:p>
          </p:txBody>
        </p:sp>
        <p:sp>
          <p:nvSpPr>
            <p:cNvPr id="15" name="Ellipse 15"/>
            <p:cNvSpPr/>
            <p:nvPr/>
          </p:nvSpPr>
          <p:spPr>
            <a:xfrm>
              <a:off x="9677400" y="2724150"/>
              <a:ext cx="647700" cy="647700"/>
            </a:xfrm>
            <a:prstGeom prst="ellipse">
              <a:avLst/>
            </a:prstGeom>
            <a:solidFill>
              <a:srgbClr val="008C7A"/>
            </a:solidFill>
            <a:ln>
              <a:noFill/>
            </a:ln>
          </p:spPr>
        </p:sp>
        <p:sp>
          <p:nvSpPr>
            <p:cNvPr id="16" name="TextBox 16"/>
            <p:cNvSpPr txBox="1"/>
            <p:nvPr/>
          </p:nvSpPr>
          <p:spPr>
            <a:xfrm>
              <a:off x="9916762" y="2955608"/>
              <a:ext cx="168976"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3</a:t>
              </a:r>
            </a:p>
          </p:txBody>
        </p:sp>
        <p:sp>
          <p:nvSpPr>
            <p:cNvPr id="17" name="TextBox 17"/>
            <p:cNvSpPr txBox="1"/>
            <p:nvPr/>
          </p:nvSpPr>
          <p:spPr>
            <a:xfrm>
              <a:off x="1806877" y="2287429"/>
              <a:ext cx="767746" cy="320040"/>
            </a:xfrm>
            <a:prstGeom prst="rect">
              <a:avLst/>
            </a:prstGeom>
            <a:noFill/>
            <a:ln>
              <a:noFill/>
            </a:ln>
          </p:spPr>
          <p:txBody>
            <a:bodyPr wrap="none" lIns="0" tIns="0" rIns="0" bIns="0" anchor="t" anchorCtr="0">
              <a:spAutoFit/>
            </a:bodyPr>
            <a:lstStyle/>
            <a:p>
              <a:pPr algn="ctr"/>
              <a:r>
                <a:rPr lang="zh-CN" sz="1575" b="1" dirty="0">
                  <a:solidFill>
                    <a:srgbClr val="123E4A"/>
                  </a:solidFill>
                  <a:latin typeface="Arial"/>
                  <a:ea typeface="Microsoft YaHei"/>
                  <a:cs typeface="Arial"/>
                </a:rPr>
                <a:t>Before</a:t>
              </a:r>
            </a:p>
          </p:txBody>
        </p:sp>
        <p:sp>
          <p:nvSpPr>
            <p:cNvPr id="18" name="TextBox 18"/>
            <p:cNvSpPr txBox="1"/>
            <p:nvPr/>
          </p:nvSpPr>
          <p:spPr>
            <a:xfrm>
              <a:off x="5739693" y="2287429"/>
              <a:ext cx="712614" cy="320040"/>
            </a:xfrm>
            <a:prstGeom prst="rect">
              <a:avLst/>
            </a:prstGeom>
            <a:noFill/>
            <a:ln>
              <a:noFill/>
            </a:ln>
          </p:spPr>
          <p:txBody>
            <a:bodyPr wrap="none" lIns="0" tIns="0" rIns="0" bIns="0" anchor="t" anchorCtr="0">
              <a:spAutoFit/>
            </a:bodyPr>
            <a:lstStyle/>
            <a:p>
              <a:pPr algn="ctr"/>
              <a:r>
                <a:rPr lang="zh-CN" sz="1575" b="1" dirty="0">
                  <a:solidFill>
                    <a:srgbClr val="123E4A"/>
                  </a:solidFill>
                  <a:latin typeface="Arial"/>
                  <a:ea typeface="Microsoft YaHei"/>
                  <a:cs typeface="Arial"/>
                </a:rPr>
                <a:t>7 June</a:t>
              </a:r>
            </a:p>
          </p:txBody>
        </p:sp>
        <p:sp>
          <p:nvSpPr>
            <p:cNvPr id="19" name="TextBox 19"/>
            <p:cNvSpPr txBox="1"/>
            <p:nvPr/>
          </p:nvSpPr>
          <p:spPr>
            <a:xfrm>
              <a:off x="9678022" y="2287429"/>
              <a:ext cx="646456" cy="320040"/>
            </a:xfrm>
            <a:prstGeom prst="rect">
              <a:avLst/>
            </a:prstGeom>
            <a:noFill/>
            <a:ln>
              <a:noFill/>
            </a:ln>
          </p:spPr>
          <p:txBody>
            <a:bodyPr wrap="none" lIns="0" tIns="0" rIns="0" bIns="0" anchor="t" anchorCtr="0">
              <a:spAutoFit/>
            </a:bodyPr>
            <a:lstStyle/>
            <a:p>
              <a:pPr algn="ctr"/>
              <a:r>
                <a:rPr lang="zh-CN" sz="1575" b="1" dirty="0">
                  <a:solidFill>
                    <a:srgbClr val="123E4A"/>
                  </a:solidFill>
                  <a:latin typeface="Arial"/>
                  <a:ea typeface="Microsoft YaHei"/>
                  <a:cs typeface="Arial"/>
                </a:rPr>
                <a:t>After</a:t>
              </a:r>
            </a:p>
          </p:txBody>
        </p:sp>
        <p:sp>
          <p:nvSpPr>
            <p:cNvPr id="20" name="TextBox 20"/>
            <p:cNvSpPr txBox="1"/>
            <p:nvPr/>
          </p:nvSpPr>
          <p:spPr>
            <a:xfrm>
              <a:off x="1146810" y="3509010"/>
              <a:ext cx="149466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Brief stakeholders</a:t>
              </a:r>
            </a:p>
          </p:txBody>
        </p:sp>
        <p:sp>
          <p:nvSpPr>
            <p:cNvPr id="21" name="TextBox 21"/>
            <p:cNvSpPr txBox="1"/>
            <p:nvPr/>
          </p:nvSpPr>
          <p:spPr>
            <a:xfrm>
              <a:off x="1146810" y="3775710"/>
              <a:ext cx="143865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Localize messages</a:t>
              </a:r>
            </a:p>
          </p:txBody>
        </p:sp>
        <p:sp>
          <p:nvSpPr>
            <p:cNvPr id="22" name="TextBox 22"/>
            <p:cNvSpPr txBox="1"/>
            <p:nvPr/>
          </p:nvSpPr>
          <p:spPr>
            <a:xfrm>
              <a:off x="1146810" y="4042410"/>
              <a:ext cx="1542669"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Prepare asset links</a:t>
              </a:r>
            </a:p>
          </p:txBody>
        </p:sp>
        <p:sp>
          <p:nvSpPr>
            <p:cNvPr id="23" name="TextBox 23"/>
            <p:cNvSpPr txBox="1"/>
            <p:nvPr/>
          </p:nvSpPr>
          <p:spPr>
            <a:xfrm>
              <a:off x="5052060" y="3509010"/>
              <a:ext cx="1918716"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Publish sample messages</a:t>
              </a:r>
            </a:p>
          </p:txBody>
        </p:sp>
        <p:sp>
          <p:nvSpPr>
            <p:cNvPr id="24" name="TextBox 24"/>
            <p:cNvSpPr txBox="1"/>
            <p:nvPr/>
          </p:nvSpPr>
          <p:spPr>
            <a:xfrm>
              <a:off x="5052060" y="3775710"/>
              <a:ext cx="176669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Run events or training</a:t>
              </a:r>
            </a:p>
          </p:txBody>
        </p:sp>
        <p:sp>
          <p:nvSpPr>
            <p:cNvPr id="25" name="TextBox 25"/>
            <p:cNvSpPr txBox="1"/>
            <p:nvPr/>
          </p:nvSpPr>
          <p:spPr>
            <a:xfrm>
              <a:off x="5052060" y="4042410"/>
              <a:ext cx="200672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Use #WorldFoodSafetyDay</a:t>
              </a:r>
            </a:p>
          </p:txBody>
        </p:sp>
        <p:sp>
          <p:nvSpPr>
            <p:cNvPr id="26" name="TextBox 26"/>
            <p:cNvSpPr txBox="1"/>
            <p:nvPr/>
          </p:nvSpPr>
          <p:spPr>
            <a:xfrm>
              <a:off x="8995410" y="3509010"/>
              <a:ext cx="1766697"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Share photos and links</a:t>
              </a:r>
            </a:p>
          </p:txBody>
        </p:sp>
        <p:sp>
          <p:nvSpPr>
            <p:cNvPr id="27" name="TextBox 27"/>
            <p:cNvSpPr txBox="1"/>
            <p:nvPr/>
          </p:nvSpPr>
          <p:spPr>
            <a:xfrm>
              <a:off x="8995410" y="3775710"/>
              <a:ext cx="157467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Document activities</a:t>
              </a:r>
            </a:p>
          </p:txBody>
        </p:sp>
        <p:sp>
          <p:nvSpPr>
            <p:cNvPr id="28" name="TextBox 28"/>
            <p:cNvSpPr txBox="1"/>
            <p:nvPr/>
          </p:nvSpPr>
          <p:spPr>
            <a:xfrm>
              <a:off x="8995410" y="4042410"/>
              <a:ext cx="2454783" cy="243840"/>
            </a:xfrm>
            <a:prstGeom prst="rect">
              <a:avLst/>
            </a:prstGeom>
            <a:noFill/>
            <a:ln>
              <a:noFill/>
            </a:ln>
          </p:spPr>
          <p:txBody>
            <a:bodyPr wrap="none" lIns="0" tIns="0" rIns="0" bIns="0" anchor="t" anchorCtr="0">
              <a:spAutoFit/>
            </a:bodyPr>
            <a:lstStyle/>
            <a:p>
              <a:pPr algn="l"/>
              <a:r>
                <a:rPr lang="zh-CN" sz="1200" dirty="0">
                  <a:solidFill>
                    <a:srgbClr val="1F2933"/>
                  </a:solidFill>
                  <a:latin typeface="Arial"/>
                  <a:ea typeface="Microsoft YaHei"/>
                  <a:cs typeface="Arial"/>
                </a:rPr>
                <a:t>Report outcomes to organizers</a:t>
              </a:r>
            </a:p>
          </p:txBody>
        </p:sp>
      </p:grpSp>
      <p:grpSp>
        <p:nvGrpSpPr>
          <p:cNvPr id="37" name="Group 37"/>
          <p:cNvGrpSpPr/>
          <p:nvPr/>
        </p:nvGrpSpPr>
        <p:grpSpPr>
          <a:xfrm>
            <a:off x="514350" y="4591050"/>
            <a:ext cx="5276850" cy="1200150"/>
            <a:chOff x="514350" y="4591050"/>
            <a:chExt cx="5276850" cy="1200150"/>
          </a:xfrm>
        </p:grpSpPr>
        <p:sp>
          <p:nvSpPr>
            <p:cNvPr id="30" name="Rectangle 30"/>
            <p:cNvSpPr/>
            <p:nvPr/>
          </p:nvSpPr>
          <p:spPr>
            <a:xfrm>
              <a:off x="514350" y="4591050"/>
              <a:ext cx="5276850" cy="1200150"/>
            </a:xfrm>
            <a:prstGeom prst="roundRect">
              <a:avLst>
                <a:gd name="adj" fmla="val 17460"/>
              </a:avLst>
            </a:prstGeom>
            <a:solidFill>
              <a:srgbClr val="E6F2EF"/>
            </a:solidFill>
            <a:ln w="19050">
              <a:solidFill>
                <a:srgbClr val="C9D9D5"/>
              </a:solidFill>
            </a:ln>
          </p:spPr>
        </p:sp>
        <p:grpSp>
          <p:nvGrpSpPr>
            <p:cNvPr id="33" name="Group 33"/>
            <p:cNvGrpSpPr/>
            <p:nvPr/>
          </p:nvGrpSpPr>
          <p:grpSpPr>
            <a:xfrm>
              <a:off x="883444" y="4914900"/>
              <a:ext cx="271462" cy="361950"/>
              <a:chOff x="883444" y="4914900"/>
              <a:chExt cx="271462" cy="361950"/>
            </a:xfrm>
          </p:grpSpPr>
          <p:sp>
            <p:nvSpPr>
              <p:cNvPr id="31" name="Freeform 31"/>
              <p:cNvSpPr/>
              <p:nvPr/>
            </p:nvSpPr>
            <p:spPr>
              <a:xfrm>
                <a:off x="883444" y="4914900"/>
                <a:ext cx="271462" cy="361950"/>
              </a:xfrm>
              <a:custGeom>
                <a:avLst/>
                <a:gdLst/>
                <a:ahLst/>
                <a:cxnLst/>
                <a:rect l="l" t="t" r="r" b="b"/>
                <a:pathLst>
                  <a:path w="271462" h="361950">
                    <a:moveTo>
                      <a:pt x="113109" y="0"/>
                    </a:moveTo>
                    <a:lnTo>
                      <a:pt x="0" y="0"/>
                    </a:lnTo>
                    <a:lnTo>
                      <a:pt x="0" y="361950"/>
                    </a:lnTo>
                    <a:lnTo>
                      <a:pt x="271462" y="361950"/>
                    </a:lnTo>
                    <a:lnTo>
                      <a:pt x="271462" y="158353"/>
                    </a:lnTo>
                    <a:lnTo>
                      <a:pt x="113109" y="158353"/>
                    </a:lnTo>
                    <a:lnTo>
                      <a:pt x="113109" y="0"/>
                    </a:lnTo>
                    <a:close/>
                  </a:path>
                </a:pathLst>
              </a:custGeom>
              <a:solidFill>
                <a:srgbClr val="008C7A"/>
              </a:solidFill>
              <a:ln>
                <a:noFill/>
              </a:ln>
            </p:spPr>
          </p:sp>
          <p:sp>
            <p:nvSpPr>
              <p:cNvPr id="32" name="Freeform 32"/>
              <p:cNvSpPr/>
              <p:nvPr/>
            </p:nvSpPr>
            <p:spPr>
              <a:xfrm>
                <a:off x="1041797" y="4914900"/>
                <a:ext cx="113109" cy="113109"/>
              </a:xfrm>
              <a:custGeom>
                <a:avLst/>
                <a:gdLst/>
                <a:ahLst/>
                <a:cxnLst/>
                <a:rect l="l" t="t" r="r" b="b"/>
                <a:pathLst>
                  <a:path w="113109" h="113109">
                    <a:moveTo>
                      <a:pt x="0" y="0"/>
                    </a:moveTo>
                    <a:lnTo>
                      <a:pt x="0" y="113109"/>
                    </a:lnTo>
                    <a:lnTo>
                      <a:pt x="113109" y="113109"/>
                    </a:lnTo>
                    <a:lnTo>
                      <a:pt x="0" y="0"/>
                    </a:lnTo>
                    <a:close/>
                  </a:path>
                </a:pathLst>
              </a:custGeom>
              <a:solidFill>
                <a:srgbClr val="008C7A"/>
              </a:solidFill>
              <a:ln>
                <a:noFill/>
              </a:ln>
            </p:spPr>
          </p:sp>
        </p:grpSp>
        <p:sp>
          <p:nvSpPr>
            <p:cNvPr id="34" name="TextBox 34"/>
            <p:cNvSpPr txBox="1"/>
            <p:nvPr/>
          </p:nvSpPr>
          <p:spPr>
            <a:xfrm>
              <a:off x="1369695" y="4832032"/>
              <a:ext cx="2860462" cy="335280"/>
            </a:xfrm>
            <a:prstGeom prst="rect">
              <a:avLst/>
            </a:prstGeom>
            <a:noFill/>
            <a:ln>
              <a:noFill/>
            </a:ln>
          </p:spPr>
          <p:txBody>
            <a:bodyPr wrap="none" lIns="0" tIns="0" rIns="0" bIns="0" anchor="t" anchorCtr="0">
              <a:spAutoFit/>
            </a:bodyPr>
            <a:lstStyle/>
            <a:p>
              <a:pPr algn="l"/>
              <a:r>
                <a:rPr lang="zh-CN" sz="1650" b="1" dirty="0">
                  <a:solidFill>
                    <a:srgbClr val="123E4A"/>
                  </a:solidFill>
                  <a:latin typeface="Arial"/>
                  <a:ea typeface="Microsoft YaHei"/>
                  <a:cs typeface="Arial"/>
                </a:rPr>
                <a:t>Toolkit asset references</a:t>
              </a:r>
            </a:p>
          </p:txBody>
        </p:sp>
        <p:sp>
          <p:nvSpPr>
            <p:cNvPr id="35" name="TextBox 35"/>
            <p:cNvSpPr txBox="1"/>
            <p:nvPr/>
          </p:nvSpPr>
          <p:spPr>
            <a:xfrm>
              <a:off x="1374458" y="5177314"/>
              <a:ext cx="4350925"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Website “How to participate”, retrospective video,</a:t>
              </a:r>
            </a:p>
          </p:txBody>
        </p:sp>
        <p:sp>
          <p:nvSpPr>
            <p:cNvPr id="36" name="TextBox 36"/>
            <p:cNvSpPr txBox="1"/>
            <p:nvPr/>
          </p:nvSpPr>
          <p:spPr>
            <a:xfrm>
              <a:off x="1374458" y="5444014"/>
              <a:ext cx="3619833" cy="259080"/>
            </a:xfrm>
            <a:prstGeom prst="rect">
              <a:avLst/>
            </a:prstGeom>
            <a:noFill/>
            <a:ln>
              <a:noFill/>
            </a:ln>
          </p:spPr>
          <p:txBody>
            <a:bodyPr wrap="none" lIns="0" tIns="0" rIns="0" bIns="0" anchor="t" anchorCtr="0">
              <a:spAutoFit/>
            </a:bodyPr>
            <a:lstStyle/>
            <a:p>
              <a:pPr algn="l"/>
              <a:r>
                <a:rPr lang="zh-CN" sz="1275" dirty="0">
                  <a:solidFill>
                    <a:srgbClr val="1F2933"/>
                  </a:solidFill>
                  <a:latin typeface="Arial"/>
                  <a:ea typeface="Microsoft YaHei"/>
                  <a:cs typeface="Arial"/>
                </a:rPr>
                <a:t>2023 report, asset bank, and Trello board.</a:t>
              </a:r>
            </a:p>
          </p:txBody>
        </p:sp>
      </p:grpSp>
      <p:grpSp>
        <p:nvGrpSpPr>
          <p:cNvPr id="43" name="Group 43"/>
          <p:cNvGrpSpPr/>
          <p:nvPr/>
        </p:nvGrpSpPr>
        <p:grpSpPr>
          <a:xfrm>
            <a:off x="6191250" y="4591050"/>
            <a:ext cx="5486400" cy="1200150"/>
            <a:chOff x="6191250" y="4591050"/>
            <a:chExt cx="5486400" cy="1200150"/>
          </a:xfrm>
        </p:grpSpPr>
        <p:sp>
          <p:nvSpPr>
            <p:cNvPr id="38" name="Rectangle 38"/>
            <p:cNvSpPr/>
            <p:nvPr/>
          </p:nvSpPr>
          <p:spPr>
            <a:xfrm>
              <a:off x="6191250" y="4591050"/>
              <a:ext cx="5486400" cy="1200150"/>
            </a:xfrm>
            <a:prstGeom prst="roundRect">
              <a:avLst>
                <a:gd name="adj" fmla="val 17460"/>
              </a:avLst>
            </a:prstGeom>
            <a:solidFill>
              <a:srgbClr val="123E4A"/>
            </a:solidFill>
            <a:ln>
              <a:noFill/>
            </a:ln>
          </p:spPr>
        </p:sp>
        <p:sp>
          <p:nvSpPr>
            <p:cNvPr id="39" name="Freeform 39"/>
            <p:cNvSpPr/>
            <p:nvPr/>
          </p:nvSpPr>
          <p:spPr>
            <a:xfrm>
              <a:off x="6515100" y="4937522"/>
              <a:ext cx="361950" cy="339328"/>
            </a:xfrm>
            <a:custGeom>
              <a:avLst/>
              <a:gdLst/>
              <a:ahLst/>
              <a:cxnLst/>
              <a:rect l="l" t="t" r="r" b="b"/>
              <a:pathLst>
                <a:path w="361950" h="339328">
                  <a:moveTo>
                    <a:pt x="0" y="0"/>
                  </a:moveTo>
                  <a:lnTo>
                    <a:pt x="361950" y="0"/>
                  </a:lnTo>
                  <a:lnTo>
                    <a:pt x="361950" y="271462"/>
                  </a:lnTo>
                  <a:lnTo>
                    <a:pt x="248841" y="271462"/>
                  </a:lnTo>
                  <a:lnTo>
                    <a:pt x="180975" y="339328"/>
                  </a:lnTo>
                  <a:lnTo>
                    <a:pt x="113109" y="271462"/>
                  </a:lnTo>
                  <a:lnTo>
                    <a:pt x="0" y="271462"/>
                  </a:lnTo>
                  <a:lnTo>
                    <a:pt x="0" y="0"/>
                  </a:lnTo>
                  <a:close/>
                </a:path>
              </a:pathLst>
            </a:custGeom>
            <a:solidFill>
              <a:srgbClr val="F2B705"/>
            </a:solidFill>
            <a:ln>
              <a:noFill/>
            </a:ln>
          </p:spPr>
        </p:sp>
        <p:sp>
          <p:nvSpPr>
            <p:cNvPr id="40" name="TextBox 40"/>
            <p:cNvSpPr txBox="1"/>
            <p:nvPr/>
          </p:nvSpPr>
          <p:spPr>
            <a:xfrm>
              <a:off x="7046595" y="4832032"/>
              <a:ext cx="2259787"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Arial"/>
                  <a:ea typeface="Microsoft YaHei"/>
                  <a:cs typeface="Arial"/>
                </a:rPr>
                <a:t>Sample social frame</a:t>
              </a:r>
            </a:p>
          </p:txBody>
        </p:sp>
        <p:sp>
          <p:nvSpPr>
            <p:cNvPr id="41" name="TextBox 41"/>
            <p:cNvSpPr txBox="1"/>
            <p:nvPr/>
          </p:nvSpPr>
          <p:spPr>
            <a:xfrm>
              <a:off x="7051358" y="5177314"/>
              <a:ext cx="4469940"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“Plan, prepare, act!” and “Food safety is everyone’s</a:t>
              </a:r>
            </a:p>
          </p:txBody>
        </p:sp>
        <p:sp>
          <p:nvSpPr>
            <p:cNvPr id="42" name="TextBox 42"/>
            <p:cNvSpPr txBox="1"/>
            <p:nvPr/>
          </p:nvSpPr>
          <p:spPr>
            <a:xfrm>
              <a:off x="7051358" y="5444014"/>
              <a:ext cx="4342424" cy="259080"/>
            </a:xfrm>
            <a:prstGeom prst="rect">
              <a:avLst/>
            </a:prstGeom>
            <a:noFill/>
            <a:ln>
              <a:noFill/>
            </a:ln>
          </p:spPr>
          <p:txBody>
            <a:bodyPr wrap="none" lIns="0" tIns="0" rIns="0" bIns="0" anchor="t" anchorCtr="0">
              <a:spAutoFit/>
            </a:bodyPr>
            <a:lstStyle/>
            <a:p>
              <a:pPr algn="l"/>
              <a:r>
                <a:rPr lang="zh-CN" sz="1275" dirty="0">
                  <a:solidFill>
                    <a:srgbClr val="FFFFFF"/>
                  </a:solidFill>
                  <a:latin typeface="Arial"/>
                  <a:ea typeface="Microsoft YaHei"/>
                  <a:cs typeface="Arial"/>
                </a:rPr>
                <a:t>business” are source-supported partner messages.</a:t>
              </a:r>
            </a:p>
          </p:txBody>
        </p:sp>
      </p:grpSp>
      <p:grpSp>
        <p:nvGrpSpPr>
          <p:cNvPr id="45" name="Group 45"/>
          <p:cNvGrpSpPr/>
          <p:nvPr/>
        </p:nvGrpSpPr>
        <p:grpSpPr>
          <a:xfrm>
            <a:off x="501968" y="6143149"/>
            <a:ext cx="4581835" cy="198120"/>
            <a:chOff x="501968" y="6143149"/>
            <a:chExt cx="4581835" cy="198120"/>
          </a:xfrm>
        </p:grpSpPr>
        <p:sp>
          <p:nvSpPr>
            <p:cNvPr id="44" name="TextBox 44"/>
            <p:cNvSpPr txBox="1"/>
            <p:nvPr/>
          </p:nvSpPr>
          <p:spPr>
            <a:xfrm>
              <a:off x="501968" y="6143149"/>
              <a:ext cx="4581835" cy="198120"/>
            </a:xfrm>
            <a:prstGeom prst="rect">
              <a:avLst/>
            </a:prstGeom>
            <a:noFill/>
            <a:ln>
              <a:noFill/>
            </a:ln>
          </p:spPr>
          <p:txBody>
            <a:bodyPr wrap="none" lIns="0" tIns="0" rIns="0" bIns="0" anchor="t" anchorCtr="0">
              <a:spAutoFit/>
            </a:bodyPr>
            <a:lstStyle/>
            <a:p>
              <a:pPr algn="l"/>
              <a:r>
                <a:rPr lang="zh-CN" sz="975" dirty="0">
                  <a:solidFill>
                    <a:srgbClr val="5B6770"/>
                  </a:solidFill>
                  <a:latin typeface="Arial"/>
                  <a:ea typeface="Microsoft YaHei"/>
                  <a:cs typeface="Arial"/>
                </a:rPr>
                <a:t>Source: World Food Safety Day 2024 communication toolkit, pages 8-11.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wipe(left)">
                                      <p:cBhvr>
                                        <p:cTn id="11" dur="400"/>
                                        <p:tgtEl>
                                          <p:spTgt spid="29"/>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slide(fromBottom)">
                                      <p:cBhvr>
                                        <p:cTn id="15" dur="400"/>
                                        <p:tgtEl>
                                          <p:spTgt spid="37"/>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image">
                                      <p:cBhvr>
                                        <p:cTn id="19" dur="400"/>
                                        <p:tgtEl>
                                          <p:spTgt spid="43"/>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9" grpId="0"/>
      <p:bldP spid="37" grpId="0"/>
      <p:bldP spid="43" grpId="0"/>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6FAF9"/>
          </a:solidFill>
          <a:ln>
            <a:noFill/>
          </a:ln>
        </p:spPr>
      </p:sp>
      <p:grpSp>
        <p:nvGrpSpPr>
          <p:cNvPr id="6" name="Group 6"/>
          <p:cNvGrpSpPr/>
          <p:nvPr/>
        </p:nvGrpSpPr>
        <p:grpSpPr>
          <a:xfrm>
            <a:off x="-247650" y="-247650"/>
            <a:ext cx="12896850" cy="7905750"/>
            <a:chOff x="-247650" y="-247650"/>
            <a:chExt cx="12896850" cy="7905750"/>
          </a:xfrm>
        </p:grpSpPr>
        <p:sp>
          <p:nvSpPr>
            <p:cNvPr id="3" name="Rectangle 3"/>
            <p:cNvSpPr/>
            <p:nvPr/>
          </p:nvSpPr>
          <p:spPr>
            <a:xfrm>
              <a:off x="0" y="0"/>
              <a:ext cx="12192000" cy="6858000"/>
            </a:xfrm>
            <a:prstGeom prst="rect">
              <a:avLst/>
            </a:prstGeom>
            <a:solidFill>
              <a:srgbClr val="E6F2EF">
                <a:alpha val="62000"/>
              </a:srgbClr>
            </a:solidFill>
            <a:ln>
              <a:noFill/>
            </a:ln>
          </p:spPr>
        </p:sp>
        <p:sp>
          <p:nvSpPr>
            <p:cNvPr id="4" name="Ellipse 4"/>
            <p:cNvSpPr/>
            <p:nvPr/>
          </p:nvSpPr>
          <p:spPr>
            <a:xfrm>
              <a:off x="-247650" y="-247650"/>
              <a:ext cx="2628900" cy="2628900"/>
            </a:xfrm>
            <a:prstGeom prst="ellipse">
              <a:avLst/>
            </a:prstGeom>
            <a:solidFill>
              <a:srgbClr val="008C7A">
                <a:alpha val="14000"/>
              </a:srgbClr>
            </a:solidFill>
            <a:ln>
              <a:noFill/>
            </a:ln>
          </p:spPr>
        </p:sp>
        <p:sp>
          <p:nvSpPr>
            <p:cNvPr id="5" name="Ellipse 5"/>
            <p:cNvSpPr/>
            <p:nvPr/>
          </p:nvSpPr>
          <p:spPr>
            <a:xfrm>
              <a:off x="9601200" y="4610100"/>
              <a:ext cx="3048000" cy="3048000"/>
            </a:xfrm>
            <a:prstGeom prst="ellipse">
              <a:avLst/>
            </a:prstGeom>
            <a:solidFill>
              <a:srgbClr val="F2B705">
                <a:alpha val="18000"/>
              </a:srgbClr>
            </a:solidFill>
            <a:ln>
              <a:noFill/>
            </a:ln>
          </p:spPr>
        </p:sp>
      </p:grpSp>
      <p:grpSp>
        <p:nvGrpSpPr>
          <p:cNvPr id="9" name="Group 9"/>
          <p:cNvGrpSpPr/>
          <p:nvPr/>
        </p:nvGrpSpPr>
        <p:grpSpPr>
          <a:xfrm>
            <a:off x="501015" y="401002"/>
            <a:ext cx="11262622" cy="213360"/>
            <a:chOff x="501015" y="401002"/>
            <a:chExt cx="11262622" cy="213360"/>
          </a:xfrm>
        </p:grpSpPr>
        <p:sp>
          <p:nvSpPr>
            <p:cNvPr id="7" name="TextBox 7"/>
            <p:cNvSpPr txBox="1"/>
            <p:nvPr/>
          </p:nvSpPr>
          <p:spPr>
            <a:xfrm>
              <a:off x="501015" y="401002"/>
              <a:ext cx="1717381" cy="213360"/>
            </a:xfrm>
            <a:prstGeom prst="rect">
              <a:avLst/>
            </a:prstGeom>
            <a:noFill/>
            <a:ln>
              <a:noFill/>
            </a:ln>
          </p:spPr>
          <p:txBody>
            <a:bodyPr wrap="none" lIns="0" tIns="0" rIns="0" bIns="0" anchor="t" anchorCtr="0">
              <a:spAutoFit/>
            </a:bodyPr>
            <a:lstStyle/>
            <a:p>
              <a:pPr algn="l"/>
              <a:r>
                <a:rPr lang="zh-CN" sz="1050" b="1" dirty="0">
                  <a:solidFill>
                    <a:srgbClr val="5B6770"/>
                  </a:solidFill>
                  <a:latin typeface="Arial"/>
                  <a:ea typeface="Microsoft YaHei"/>
                  <a:cs typeface="Arial"/>
                </a:rPr>
                <a:t>PARTNER CALL TO ACTION</a:t>
              </a:r>
            </a:p>
          </p:txBody>
        </p:sp>
        <p:sp>
          <p:nvSpPr>
            <p:cNvPr id="8" name="TextBox 8"/>
            <p:cNvSpPr txBox="1"/>
            <p:nvPr/>
          </p:nvSpPr>
          <p:spPr>
            <a:xfrm>
              <a:off x="11303318" y="409099"/>
              <a:ext cx="460319" cy="198120"/>
            </a:xfrm>
            <a:prstGeom prst="rect">
              <a:avLst/>
            </a:prstGeom>
            <a:noFill/>
            <a:ln>
              <a:noFill/>
            </a:ln>
          </p:spPr>
          <p:txBody>
            <a:bodyPr wrap="none" lIns="0" tIns="0" rIns="0" bIns="0" anchor="t" anchorCtr="0">
              <a:spAutoFit/>
            </a:bodyPr>
            <a:lstStyle/>
            <a:p>
              <a:pPr algn="l"/>
              <a:r>
                <a:rPr lang="zh-CN" sz="975" dirty="0">
                  <a:solidFill>
                    <a:srgbClr val="5B6770"/>
                  </a:solidFill>
                  <a:latin typeface="Consolas"/>
                  <a:ea typeface="Microsoft YaHei"/>
                  <a:cs typeface="Consolas"/>
                </a:rPr>
                <a:t>10 / 10</a:t>
              </a:r>
            </a:p>
          </p:txBody>
        </p:sp>
      </p:grpSp>
      <p:grpSp>
        <p:nvGrpSpPr>
          <p:cNvPr id="14" name="Group 14"/>
          <p:cNvGrpSpPr/>
          <p:nvPr/>
        </p:nvGrpSpPr>
        <p:grpSpPr>
          <a:xfrm>
            <a:off x="579120" y="1007745"/>
            <a:ext cx="7165277" cy="1830705"/>
            <a:chOff x="579120" y="1007745"/>
            <a:chExt cx="7165277" cy="1830705"/>
          </a:xfrm>
        </p:grpSpPr>
        <p:sp>
          <p:nvSpPr>
            <p:cNvPr id="10" name="TextBox 10"/>
            <p:cNvSpPr txBox="1"/>
            <p:nvPr/>
          </p:nvSpPr>
          <p:spPr>
            <a:xfrm>
              <a:off x="579120" y="1007745"/>
              <a:ext cx="5395922" cy="792480"/>
            </a:xfrm>
            <a:prstGeom prst="rect">
              <a:avLst/>
            </a:prstGeom>
            <a:noFill/>
            <a:ln>
              <a:noFill/>
            </a:ln>
          </p:spPr>
          <p:txBody>
            <a:bodyPr wrap="none" lIns="0" tIns="0" rIns="0" bIns="0" anchor="t" anchorCtr="0">
              <a:spAutoFit/>
            </a:bodyPr>
            <a:lstStyle/>
            <a:p>
              <a:pPr algn="l"/>
              <a:r>
                <a:rPr lang="zh-CN" sz="3900" b="1" dirty="0">
                  <a:solidFill>
                    <a:srgbClr val="123E4A"/>
                  </a:solidFill>
                  <a:latin typeface="Arial"/>
                  <a:ea typeface="Microsoft YaHei"/>
                  <a:cs typeface="Arial"/>
                </a:rPr>
                <a:t>Plan. Prepare. Act.</a:t>
              </a:r>
            </a:p>
          </p:txBody>
        </p:sp>
        <p:sp>
          <p:nvSpPr>
            <p:cNvPr id="11" name="TextBox 11"/>
            <p:cNvSpPr txBox="1"/>
            <p:nvPr/>
          </p:nvSpPr>
          <p:spPr>
            <a:xfrm>
              <a:off x="605790" y="1748790"/>
              <a:ext cx="7138607" cy="365760"/>
            </a:xfrm>
            <a:prstGeom prst="rect">
              <a:avLst/>
            </a:prstGeom>
            <a:noFill/>
            <a:ln>
              <a:noFill/>
            </a:ln>
          </p:spPr>
          <p:txBody>
            <a:bodyPr wrap="none" lIns="0" tIns="0" rIns="0" bIns="0" anchor="t" anchorCtr="0">
              <a:spAutoFit/>
            </a:bodyPr>
            <a:lstStyle/>
            <a:p>
              <a:pPr algn="l"/>
              <a:r>
                <a:rPr lang="zh-CN" sz="1800" dirty="0">
                  <a:solidFill>
                    <a:srgbClr val="1F2933"/>
                  </a:solidFill>
                  <a:latin typeface="Arial"/>
                  <a:ea typeface="Microsoft YaHei"/>
                  <a:cs typeface="Arial"/>
                </a:rPr>
                <a:t>Use the toolkit to brief stakeholders, run local activations,</a:t>
              </a:r>
            </a:p>
          </p:txBody>
        </p:sp>
        <p:sp>
          <p:nvSpPr>
            <p:cNvPr id="12" name="TextBox 12"/>
            <p:cNvSpPr txBox="1"/>
            <p:nvPr/>
          </p:nvSpPr>
          <p:spPr>
            <a:xfrm>
              <a:off x="605790" y="2110740"/>
              <a:ext cx="4222242" cy="365760"/>
            </a:xfrm>
            <a:prstGeom prst="rect">
              <a:avLst/>
            </a:prstGeom>
            <a:noFill/>
            <a:ln>
              <a:noFill/>
            </a:ln>
          </p:spPr>
          <p:txBody>
            <a:bodyPr wrap="none" lIns="0" tIns="0" rIns="0" bIns="0" anchor="t" anchorCtr="0">
              <a:spAutoFit/>
            </a:bodyPr>
            <a:lstStyle/>
            <a:p>
              <a:pPr algn="l"/>
              <a:r>
                <a:rPr lang="zh-CN" sz="1800" dirty="0">
                  <a:solidFill>
                    <a:srgbClr val="1F2933"/>
                  </a:solidFill>
                  <a:latin typeface="Arial"/>
                  <a:ea typeface="Microsoft YaHei"/>
                  <a:cs typeface="Arial"/>
                </a:rPr>
                <a:t>and share campaign evidence around</a:t>
              </a:r>
            </a:p>
          </p:txBody>
        </p:sp>
        <p:sp>
          <p:nvSpPr>
            <p:cNvPr id="13" name="TextBox 13"/>
            <p:cNvSpPr txBox="1"/>
            <p:nvPr/>
          </p:nvSpPr>
          <p:spPr>
            <a:xfrm>
              <a:off x="605790" y="2472690"/>
              <a:ext cx="2758059" cy="365760"/>
            </a:xfrm>
            <a:prstGeom prst="rect">
              <a:avLst/>
            </a:prstGeom>
            <a:noFill/>
            <a:ln>
              <a:noFill/>
            </a:ln>
          </p:spPr>
          <p:txBody>
            <a:bodyPr wrap="none" lIns="0" tIns="0" rIns="0" bIns="0" anchor="t" anchorCtr="0">
              <a:spAutoFit/>
            </a:bodyPr>
            <a:lstStyle/>
            <a:p>
              <a:pPr algn="l"/>
              <a:r>
                <a:rPr lang="zh-CN" sz="1800" dirty="0">
                  <a:solidFill>
                    <a:srgbClr val="1F2933"/>
                  </a:solidFill>
                  <a:latin typeface="Arial"/>
                  <a:ea typeface="Microsoft YaHei"/>
                  <a:cs typeface="Arial"/>
                </a:rPr>
                <a:t>World Food Safety Day.</a:t>
              </a:r>
            </a:p>
          </p:txBody>
        </p:sp>
      </p:grpSp>
      <p:grpSp>
        <p:nvGrpSpPr>
          <p:cNvPr id="28" name="Group 28"/>
          <p:cNvGrpSpPr/>
          <p:nvPr/>
        </p:nvGrpSpPr>
        <p:grpSpPr>
          <a:xfrm>
            <a:off x="628650" y="2990850"/>
            <a:ext cx="5676900" cy="2247900"/>
            <a:chOff x="628650" y="2990850"/>
            <a:chExt cx="5676900" cy="2247900"/>
          </a:xfrm>
        </p:grpSpPr>
        <p:sp>
          <p:nvSpPr>
            <p:cNvPr id="15" name="Rectangle 15"/>
            <p:cNvSpPr/>
            <p:nvPr/>
          </p:nvSpPr>
          <p:spPr>
            <a:xfrm>
              <a:off x="628650" y="2990850"/>
              <a:ext cx="5676900" cy="2247900"/>
            </a:xfrm>
            <a:prstGeom prst="roundRect">
              <a:avLst>
                <a:gd name="adj" fmla="val 11017"/>
              </a:avLst>
            </a:prstGeom>
            <a:solidFill>
              <a:srgbClr val="FFFFFF"/>
            </a:solidFill>
            <a:ln w="19050">
              <a:solidFill>
                <a:srgbClr val="C9D9D5"/>
              </a:solidFill>
            </a:ln>
          </p:spPr>
        </p:sp>
        <p:grpSp>
          <p:nvGrpSpPr>
            <p:cNvPr id="19" name="Group 19"/>
            <p:cNvGrpSpPr/>
            <p:nvPr/>
          </p:nvGrpSpPr>
          <p:grpSpPr>
            <a:xfrm>
              <a:off x="857250" y="3314700"/>
              <a:ext cx="4679287" cy="419100"/>
              <a:chOff x="857250" y="3314700"/>
              <a:chExt cx="4679287" cy="419100"/>
            </a:xfrm>
          </p:grpSpPr>
          <p:sp>
            <p:nvSpPr>
              <p:cNvPr id="16" name="Ellipse 16"/>
              <p:cNvSpPr/>
              <p:nvPr/>
            </p:nvSpPr>
            <p:spPr>
              <a:xfrm>
                <a:off x="857250" y="3314700"/>
                <a:ext cx="419100" cy="419100"/>
              </a:xfrm>
              <a:prstGeom prst="ellipse">
                <a:avLst/>
              </a:prstGeom>
              <a:solidFill>
                <a:srgbClr val="008C7A"/>
              </a:solidFill>
              <a:ln>
                <a:noFill/>
              </a:ln>
            </p:spPr>
          </p:sp>
          <p:sp>
            <p:nvSpPr>
              <p:cNvPr id="17" name="TextBox 17"/>
              <p:cNvSpPr txBox="1"/>
              <p:nvPr/>
            </p:nvSpPr>
            <p:spPr>
              <a:xfrm>
                <a:off x="997674" y="34547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18" name="TextBox 18"/>
              <p:cNvSpPr txBox="1"/>
              <p:nvPr/>
            </p:nvSpPr>
            <p:spPr>
              <a:xfrm>
                <a:off x="1427798" y="3411379"/>
                <a:ext cx="4108739" cy="320040"/>
              </a:xfrm>
              <a:prstGeom prst="rect">
                <a:avLst/>
              </a:prstGeom>
              <a:noFill/>
              <a:ln>
                <a:noFill/>
              </a:ln>
            </p:spPr>
            <p:txBody>
              <a:bodyPr wrap="none" lIns="0" tIns="0" rIns="0" bIns="0" anchor="t" anchorCtr="0">
                <a:spAutoFit/>
              </a:bodyPr>
              <a:lstStyle/>
              <a:p>
                <a:pPr algn="l"/>
                <a:r>
                  <a:rPr lang="zh-CN" sz="1575" b="1" dirty="0">
                    <a:solidFill>
                      <a:srgbClr val="123E4A"/>
                    </a:solidFill>
                    <a:latin typeface="Arial"/>
                    <a:ea typeface="Microsoft YaHei"/>
                    <a:cs typeface="Arial"/>
                  </a:rPr>
                  <a:t>Confirm stakeholder briefing owners.</a:t>
                </a:r>
              </a:p>
            </p:txBody>
          </p:sp>
        </p:grpSp>
        <p:grpSp>
          <p:nvGrpSpPr>
            <p:cNvPr id="23" name="Group 23"/>
            <p:cNvGrpSpPr/>
            <p:nvPr/>
          </p:nvGrpSpPr>
          <p:grpSpPr>
            <a:xfrm>
              <a:off x="857250" y="3924300"/>
              <a:ext cx="4701339" cy="419100"/>
              <a:chOff x="857250" y="3924300"/>
              <a:chExt cx="4701339" cy="419100"/>
            </a:xfrm>
          </p:grpSpPr>
          <p:sp>
            <p:nvSpPr>
              <p:cNvPr id="20" name="Ellipse 20"/>
              <p:cNvSpPr/>
              <p:nvPr/>
            </p:nvSpPr>
            <p:spPr>
              <a:xfrm>
                <a:off x="857250" y="3924300"/>
                <a:ext cx="419100" cy="419100"/>
              </a:xfrm>
              <a:prstGeom prst="ellipse">
                <a:avLst/>
              </a:prstGeom>
              <a:solidFill>
                <a:srgbClr val="008C7A"/>
              </a:solidFill>
              <a:ln>
                <a:noFill/>
              </a:ln>
            </p:spPr>
          </p:sp>
          <p:sp>
            <p:nvSpPr>
              <p:cNvPr id="21" name="TextBox 21"/>
              <p:cNvSpPr txBox="1"/>
              <p:nvPr/>
            </p:nvSpPr>
            <p:spPr>
              <a:xfrm>
                <a:off x="997674" y="40643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22" name="TextBox 22"/>
              <p:cNvSpPr txBox="1"/>
              <p:nvPr/>
            </p:nvSpPr>
            <p:spPr>
              <a:xfrm>
                <a:off x="1427798" y="4020979"/>
                <a:ext cx="4130791" cy="320040"/>
              </a:xfrm>
              <a:prstGeom prst="rect">
                <a:avLst/>
              </a:prstGeom>
              <a:noFill/>
              <a:ln>
                <a:noFill/>
              </a:ln>
            </p:spPr>
            <p:txBody>
              <a:bodyPr wrap="none" lIns="0" tIns="0" rIns="0" bIns="0" anchor="t" anchorCtr="0">
                <a:spAutoFit/>
              </a:bodyPr>
              <a:lstStyle/>
              <a:p>
                <a:pPr algn="l"/>
                <a:r>
                  <a:rPr lang="zh-CN" sz="1575" b="1" dirty="0">
                    <a:solidFill>
                      <a:srgbClr val="123E4A"/>
                    </a:solidFill>
                    <a:latin typeface="Arial"/>
                    <a:ea typeface="Microsoft YaHei"/>
                    <a:cs typeface="Arial"/>
                  </a:rPr>
                  <a:t>Localize toolkit messages and assets.</a:t>
                </a:r>
              </a:p>
            </p:txBody>
          </p:sp>
        </p:grpSp>
        <p:grpSp>
          <p:nvGrpSpPr>
            <p:cNvPr id="27" name="Group 27"/>
            <p:cNvGrpSpPr/>
            <p:nvPr/>
          </p:nvGrpSpPr>
          <p:grpSpPr>
            <a:xfrm>
              <a:off x="857250" y="4533900"/>
              <a:ext cx="5252658" cy="419100"/>
              <a:chOff x="857250" y="4533900"/>
              <a:chExt cx="5252658" cy="419100"/>
            </a:xfrm>
          </p:grpSpPr>
          <p:sp>
            <p:nvSpPr>
              <p:cNvPr id="24" name="Ellipse 24"/>
              <p:cNvSpPr/>
              <p:nvPr/>
            </p:nvSpPr>
            <p:spPr>
              <a:xfrm>
                <a:off x="857250" y="4533900"/>
                <a:ext cx="419100" cy="419100"/>
              </a:xfrm>
              <a:prstGeom prst="ellipse">
                <a:avLst/>
              </a:prstGeom>
              <a:solidFill>
                <a:srgbClr val="008C7A"/>
              </a:solidFill>
              <a:ln>
                <a:noFill/>
              </a:ln>
            </p:spPr>
          </p:sp>
          <p:sp>
            <p:nvSpPr>
              <p:cNvPr id="25" name="TextBox 25"/>
              <p:cNvSpPr txBox="1"/>
              <p:nvPr/>
            </p:nvSpPr>
            <p:spPr>
              <a:xfrm>
                <a:off x="997674" y="4673918"/>
                <a:ext cx="138253"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6" name="TextBox 26"/>
              <p:cNvSpPr txBox="1"/>
              <p:nvPr/>
            </p:nvSpPr>
            <p:spPr>
              <a:xfrm>
                <a:off x="1427798" y="4630579"/>
                <a:ext cx="4682110" cy="320040"/>
              </a:xfrm>
              <a:prstGeom prst="rect">
                <a:avLst/>
              </a:prstGeom>
              <a:noFill/>
              <a:ln>
                <a:noFill/>
              </a:ln>
            </p:spPr>
            <p:txBody>
              <a:bodyPr wrap="none" lIns="0" tIns="0" rIns="0" bIns="0" anchor="t" anchorCtr="0">
                <a:spAutoFit/>
              </a:bodyPr>
              <a:lstStyle/>
              <a:p>
                <a:pPr algn="l"/>
                <a:r>
                  <a:rPr lang="zh-CN" sz="1575" b="1" dirty="0">
                    <a:solidFill>
                      <a:srgbClr val="123E4A"/>
                    </a:solidFill>
                    <a:latin typeface="Arial"/>
                    <a:ea typeface="Microsoft YaHei"/>
                    <a:cs typeface="Arial"/>
                  </a:rPr>
                  <a:t>Share event photos, video links, and news.</a:t>
                </a:r>
              </a:p>
            </p:txBody>
          </p:sp>
        </p:grpSp>
      </p:grpSp>
      <p:grpSp>
        <p:nvGrpSpPr>
          <p:cNvPr id="31" name="Group 31"/>
          <p:cNvGrpSpPr/>
          <p:nvPr/>
        </p:nvGrpSpPr>
        <p:grpSpPr>
          <a:xfrm>
            <a:off x="6762750" y="723900"/>
            <a:ext cx="4629150" cy="2533650"/>
            <a:chOff x="6762750" y="723900"/>
            <a:chExt cx="4629150" cy="2533650"/>
          </a:xfrm>
        </p:grpSpPr>
        <p:sp>
          <p:nvSpPr>
            <p:cNvPr id="29" name="Rectangle 29"/>
            <p:cNvSpPr/>
            <p:nvPr/>
          </p:nvSpPr>
          <p:spPr>
            <a:xfrm>
              <a:off x="6762750" y="723900"/>
              <a:ext cx="4629150" cy="2533650"/>
            </a:xfrm>
            <a:prstGeom prst="roundRect">
              <a:avLst>
                <a:gd name="adj" fmla="val 11278"/>
              </a:avLst>
            </a:prstGeom>
            <a:solidFill>
              <a:srgbClr val="FFFFFF"/>
            </a:solidFill>
            <a:ln w="19050">
              <a:solidFill>
                <a:srgbClr val="C9D9D5"/>
              </a:solidFill>
            </a:ln>
          </p:spPr>
        </p:sp>
        <p:pic>
          <p:nvPicPr>
            <p:cNvPr id="30" name="Image 30"/>
            <p:cNvPicPr>
              <a:picLocks noChangeAspect="1"/>
            </p:cNvPicPr>
            <p:nvPr/>
          </p:nvPicPr>
          <p:blipFill>
            <a:blip r:embed="rId2"/>
            <a:stretch>
              <a:fillRect/>
            </a:stretch>
          </p:blipFill>
          <p:spPr>
            <a:xfrm>
              <a:off x="6972300" y="933450"/>
              <a:ext cx="4191000" cy="2038350"/>
            </a:xfrm>
            <a:prstGeom prst="roundRect">
              <a:avLst>
                <a:gd name="adj" fmla="val 12149"/>
              </a:avLst>
            </a:prstGeom>
          </p:spPr>
        </p:pic>
      </p:grpSp>
      <p:grpSp>
        <p:nvGrpSpPr>
          <p:cNvPr id="37" name="Group 37"/>
          <p:cNvGrpSpPr/>
          <p:nvPr/>
        </p:nvGrpSpPr>
        <p:grpSpPr>
          <a:xfrm>
            <a:off x="6762750" y="3638550"/>
            <a:ext cx="4933134" cy="1600200"/>
            <a:chOff x="6762750" y="3638550"/>
            <a:chExt cx="4933134" cy="1600200"/>
          </a:xfrm>
        </p:grpSpPr>
        <p:sp>
          <p:nvSpPr>
            <p:cNvPr id="32" name="Rectangle 32"/>
            <p:cNvSpPr/>
            <p:nvPr/>
          </p:nvSpPr>
          <p:spPr>
            <a:xfrm>
              <a:off x="6762750" y="3638550"/>
              <a:ext cx="4629150" cy="1600200"/>
            </a:xfrm>
            <a:prstGeom prst="roundRect">
              <a:avLst>
                <a:gd name="adj" fmla="val 15476"/>
              </a:avLst>
            </a:prstGeom>
            <a:solidFill>
              <a:srgbClr val="123E4A"/>
            </a:solidFill>
            <a:ln>
              <a:noFill/>
            </a:ln>
          </p:spPr>
        </p:sp>
        <p:sp>
          <p:nvSpPr>
            <p:cNvPr id="33" name="TextBox 33"/>
            <p:cNvSpPr txBox="1"/>
            <p:nvPr/>
          </p:nvSpPr>
          <p:spPr>
            <a:xfrm>
              <a:off x="7082790" y="3863340"/>
              <a:ext cx="3170911" cy="365760"/>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Organizer contact points</a:t>
              </a:r>
            </a:p>
          </p:txBody>
        </p:sp>
        <p:sp>
          <p:nvSpPr>
            <p:cNvPr id="34" name="TextBox 34"/>
            <p:cNvSpPr txBox="1"/>
            <p:nvPr/>
          </p:nvSpPr>
          <p:spPr>
            <a:xfrm>
              <a:off x="7088505" y="4331018"/>
              <a:ext cx="3382708"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FAO: World-Food-Safety-Day@fao.org</a:t>
              </a:r>
            </a:p>
          </p:txBody>
        </p:sp>
        <p:sp>
          <p:nvSpPr>
            <p:cNvPr id="35" name="TextBox 35"/>
            <p:cNvSpPr txBox="1"/>
            <p:nvPr/>
          </p:nvSpPr>
          <p:spPr>
            <a:xfrm>
              <a:off x="7088505" y="4673918"/>
              <a:ext cx="2329577" cy="274320"/>
            </a:xfrm>
            <a:prstGeom prst="rect">
              <a:avLst/>
            </a:prstGeom>
            <a:noFill/>
            <a:ln>
              <a:noFill/>
            </a:ln>
          </p:spPr>
          <p:txBody>
            <a:bodyPr wrap="none" lIns="0" tIns="0" rIns="0" bIns="0" anchor="t" anchorCtr="0">
              <a:spAutoFit/>
            </a:bodyPr>
            <a:lstStyle/>
            <a:p>
              <a:pPr algn="l"/>
              <a:r>
                <a:rPr lang="zh-CN" sz="1350" dirty="0">
                  <a:solidFill>
                    <a:srgbClr val="FFFFFF"/>
                  </a:solidFill>
                  <a:latin typeface="Arial"/>
                  <a:ea typeface="Microsoft YaHei"/>
                  <a:cs typeface="Arial"/>
                </a:rPr>
                <a:t>WHO: Foodsafety@who.int</a:t>
              </a:r>
            </a:p>
          </p:txBody>
        </p:sp>
        <p:sp>
          <p:nvSpPr>
            <p:cNvPr id="36" name="TextBox 36"/>
            <p:cNvSpPr txBox="1"/>
            <p:nvPr/>
          </p:nvSpPr>
          <p:spPr>
            <a:xfrm>
              <a:off x="7091362" y="4983956"/>
              <a:ext cx="4604522" cy="228600"/>
            </a:xfrm>
            <a:prstGeom prst="rect">
              <a:avLst/>
            </a:prstGeom>
            <a:noFill/>
            <a:ln>
              <a:noFill/>
            </a:ln>
          </p:spPr>
          <p:txBody>
            <a:bodyPr wrap="none" lIns="0" tIns="0" rIns="0" bIns="0" anchor="t" anchorCtr="0">
              <a:spAutoFit/>
            </a:bodyPr>
            <a:lstStyle/>
            <a:p>
              <a:pPr algn="l"/>
              <a:r>
                <a:rPr lang="zh-CN" sz="1125" b="1" dirty="0">
                  <a:solidFill>
                    <a:srgbClr val="F2B705"/>
                  </a:solidFill>
                  <a:latin typeface="Arial"/>
                  <a:ea typeface="Microsoft YaHei"/>
                  <a:cs typeface="Arial"/>
                </a:rPr>
                <a:t>Post event content tagging @FAOWHOCodex where relevant.</a:t>
              </a:r>
            </a:p>
          </p:txBody>
        </p:sp>
      </p:grpSp>
      <p:grpSp>
        <p:nvGrpSpPr>
          <p:cNvPr id="41" name="Group 41"/>
          <p:cNvGrpSpPr/>
          <p:nvPr/>
        </p:nvGrpSpPr>
        <p:grpSpPr>
          <a:xfrm>
            <a:off x="628650" y="5772150"/>
            <a:ext cx="10763250" cy="457200"/>
            <a:chOff x="628650" y="5772150"/>
            <a:chExt cx="10763250" cy="457200"/>
          </a:xfrm>
        </p:grpSpPr>
        <p:sp>
          <p:nvSpPr>
            <p:cNvPr id="38" name="Rectangle 38"/>
            <p:cNvSpPr/>
            <p:nvPr/>
          </p:nvSpPr>
          <p:spPr>
            <a:xfrm>
              <a:off x="628650" y="5772150"/>
              <a:ext cx="10763250" cy="457200"/>
            </a:xfrm>
            <a:prstGeom prst="roundRect">
              <a:avLst>
                <a:gd name="adj" fmla="val 37500"/>
              </a:avLst>
            </a:prstGeom>
            <a:solidFill>
              <a:srgbClr val="FFFFFF"/>
            </a:solidFill>
            <a:ln w="19050">
              <a:solidFill>
                <a:srgbClr val="C9D9D5"/>
              </a:solidFill>
            </a:ln>
          </p:spPr>
        </p:sp>
        <p:sp>
          <p:nvSpPr>
            <p:cNvPr id="39" name="TextBox 39"/>
            <p:cNvSpPr txBox="1"/>
            <p:nvPr/>
          </p:nvSpPr>
          <p:spPr>
            <a:xfrm>
              <a:off x="897255" y="5921692"/>
              <a:ext cx="1338553" cy="274320"/>
            </a:xfrm>
            <a:prstGeom prst="rect">
              <a:avLst/>
            </a:prstGeom>
            <a:noFill/>
            <a:ln>
              <a:noFill/>
            </a:ln>
          </p:spPr>
          <p:txBody>
            <a:bodyPr wrap="none" lIns="0" tIns="0" rIns="0" bIns="0" anchor="t" anchorCtr="0">
              <a:spAutoFit/>
            </a:bodyPr>
            <a:lstStyle/>
            <a:p>
              <a:pPr algn="l"/>
              <a:r>
                <a:rPr lang="zh-CN" sz="1350" b="1" dirty="0">
                  <a:solidFill>
                    <a:srgbClr val="123E4A"/>
                  </a:solidFill>
                  <a:latin typeface="Arial"/>
                  <a:ea typeface="Microsoft YaHei"/>
                  <a:cs typeface="Arial"/>
                </a:rPr>
                <a:t>Campaign line:</a:t>
              </a:r>
            </a:p>
          </p:txBody>
        </p:sp>
        <p:sp>
          <p:nvSpPr>
            <p:cNvPr id="40" name="TextBox 40"/>
            <p:cNvSpPr txBox="1"/>
            <p:nvPr/>
          </p:nvSpPr>
          <p:spPr>
            <a:xfrm>
              <a:off x="2173605" y="5921692"/>
              <a:ext cx="3229689" cy="274320"/>
            </a:xfrm>
            <a:prstGeom prst="rect">
              <a:avLst/>
            </a:prstGeom>
            <a:noFill/>
            <a:ln>
              <a:noFill/>
            </a:ln>
          </p:spPr>
          <p:txBody>
            <a:bodyPr wrap="none" lIns="0" tIns="0" rIns="0" bIns="0" anchor="t" anchorCtr="0">
              <a:spAutoFit/>
            </a:bodyPr>
            <a:lstStyle/>
            <a:p>
              <a:pPr algn="l"/>
              <a:r>
                <a:rPr lang="zh-CN" sz="1350" dirty="0">
                  <a:solidFill>
                    <a:srgbClr val="1F2933"/>
                  </a:solidFill>
                  <a:latin typeface="Arial"/>
                  <a:ea typeface="Microsoft YaHei"/>
                  <a:cs typeface="Arial"/>
                </a:rPr>
                <a:t>Food safety is everyone’s business.</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400"/>
                                        <p:tgtEl>
                                          <p:spTgt spid="14"/>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image">
                                      <p:cBhvr>
                                        <p:cTn id="15" dur="400"/>
                                        <p:tgtEl>
                                          <p:spTgt spid="31"/>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8" grpId="0"/>
      <p:bldP spid="31" grpId="0"/>
      <p:bldP spid="3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2026-07-03T05:34:03Z</dcterms:created>
  <dcterms:modified xsi:type="dcterms:W3CDTF">2026-07-03T05:34:03Z</dcterms:modified>
  <cp:category/>
  <cp:contentStatus/>
</cp:coreProperties>
</file>
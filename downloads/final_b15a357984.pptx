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embeddings/Microsoft_Excel_Worksheet1.xlsx" ContentType="application/vnd.openxmlformats-officedocument.spreadsheetml.sheet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60">
          <ns3:clr>
            <a:srgbClr val="A4A3A4"/>
          </ns3:clr>
        </ns3:guide>
        <ns3:guide id="2" pos="2880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presProps" Target="presProps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2" Type="http://schemas.openxmlformats.org/officeDocument/2006/relationships/slide" Target="slides/slid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tableStyles" Target="tableStyles.xml" /><ns0:Relationship Id="rId5" Type="http://schemas.openxmlformats.org/officeDocument/2006/relationships/slide" Target="slides/slide4.xml" /><ns0:Relationship Id="rId10" Type="http://schemas.openxmlformats.org/officeDocument/2006/relationships/theme" Target="theme/theme1.xml" /><ns0:Relationship Id="rId4" Type="http://schemas.openxmlformats.org/officeDocument/2006/relationships/slide" Target="slides/slide3.xml" /><ns0:Relationship Id="rId9" Type="http://schemas.openxmlformats.org/officeDocument/2006/relationships/viewProps" Target="viewProps.xml" /><ns0:Relationship Id="rId12" Type="http://schemas.openxmlformats.org/officeDocument/2006/relationships/slide" Target="slides/slide7.xml" /></ns0: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Microsoft_Excel_Worksheet1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pPr>
              <a:defRPr sz="1400" b="0">
                <a:solidFill>
                  <a:srgbClr val="000000"/>
                </a:solidFill>
                <a:latin typeface="Aptos"/>
              </a:defRPr>
            </a:pPr>
            <a:r>
              <a:rPr lang="en-US" sz="1400">
                <a:solidFill>
                  <a:srgbClr val="000000"/>
                </a:solidFill>
                <a:latin typeface="Aptos"/>
              </a:rPr>
              <a:t>Global Average Temperature (°C)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Temperature (°C)</c:v>
                </c:pt>
              </c:strCache>
            </c:strRef>
          </c:tx>
          <c:spPr>
            <a:solidFill>
              <a:srgbClr val="1F77B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1991–2020 Avg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14.4</c:v>
                </c:pt>
                <c:pt idx="1">
                  <c:v>15.0</c:v>
                </c:pt>
                <c:pt idx="2">
                  <c:v>15.1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0"/>
        <c:axId val="52524512"/>
        <c:axId val="52524672"/>
      </c:barChart>
      <c:catAx>
        <c:axId val="5252451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000000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ptos"/>
              </a:defRPr>
            </a:pPr>
          </a:p>
        </c:txPr>
        <c:crossAx val="52524672"/>
        <c:crosses val="autoZero"/>
        <c:auto val="1"/>
        <c:lblAlgn val="ctr"/>
        <c:lblOffset val="100"/>
        <c:noMultiLvlLbl val="0"/>
      </c:catAx>
      <c:valAx>
        <c:axId val="52524672"/>
        <c:scaling>
          <c:orientation val="minMax"/>
          <c:max val="16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000000"/>
                    </a:solidFill>
                    <a:latin typeface="Aptos"/>
                  </a:defRPr>
                </a:pPr>
                <a:r>
                  <a:rPr lang="en-US" sz="1100">
                    <a:solidFill>
                      <a:srgbClr val="000000"/>
                    </a:solidFill>
                    <a:latin typeface="Aptos"/>
                  </a:rPr>
                  <a:t>Temperature (°C)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9525">
            <a:solidFill>
              <a:srgbClr val="000000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ptos"/>
              </a:defRPr>
            </a:pPr>
          </a:p>
        </c:txPr>
        <c:crossAx val="52524512"/>
        <c:crosses val="autoZero"/>
        <c:crossBetween val="between"/>
        <c:majorUnit val="2"/>
      </c:valAx>
    </c:plotArea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000">
          <a:solidFill>
            <a:srgbClr val="000000"/>
          </a:solidFill>
          <a:latin typeface="Aptos"/>
        </a:defRPr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limate.copernicus.eu/copernicus-2024-first-year-exceed-15degc-above-pre-industrial-level#:~:text=2024%20is%20confirmed%20by%20the,temperatures%20observed%20during%20the%20yea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limate.copernicus.eu/copernicus-2024-first-year-exceed-15degc-above-pre-industrial-level#:~:text=Global%20surface%20air%20temperature%20highlights%3A" TargetMode="External"/><Relationship Id="rId1" Type="http://schemas.openxmlformats.org/officeDocument/2006/relationships/slideLayout" Target="../slideLayouts/slideLayout2.xml"/></Relationships>
</file>

<file path=ppt/slides/_rels/slide4.xml.rels><?xml version='1.0' encoding='utf-8'?>
<ns0:Relationships xmlns:ns0="http://schemas.openxmlformats.org/package/2006/relationships"><ns0:Relationship Id="rId3" Type="http://schemas.openxmlformats.org/officeDocument/2006/relationships/hyperlink" Target="https://climate.copernicus.eu/copernicus-2024-first-year-exceed-15degc-above-pre-industrial-level#:~:text=According%20to%20ERA5%20,industrial%20level" TargetMode="External" /><ns0:Relationship Id="rId2" Type="http://schemas.openxmlformats.org/officeDocument/2006/relationships/chart" Target="../charts/chart1.xml" /><ns0:Relationship Id="rId1" Type="http://schemas.openxmlformats.org/officeDocument/2006/relationships/slideLayout" Target="../slideLayouts/slideLayout6.xml" /></ns0: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limate.copernicus.eu/copernicus-2024-first-year-exceed-15degc-above-pre-industrial-level#:~:text=,DOWNLOAD%20DATA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limate.copernicus.eu/copernicus-2024-first-year-exceed-15degc-above-pre-industrial-level#:~:text=Carlo%20Buontempo%2C%20Director%20of%20the,%E2%80%9D" TargetMode="External"/><Relationship Id="rId1" Type="http://schemas.openxmlformats.org/officeDocument/2006/relationships/slideLayout" Target="../slideLayouts/slideLayout2.xml"/></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B2A4A"/>
                </a:solidFill>
              </a:defRPr>
            </a:pPr>
            <a:r>
              <a:rPr>
                <a:solidFill>
                  <a:srgbClr val="0B2A4A"/>
                </a:solidFill>
              </a:rPr>
              <a:t>2024 Global Climate Highlights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404040"/>
                </a:solidFill>
              </a:defRPr>
            </a:pPr>
            <a:r>
              <a:rPr>
                <a:solidFill>
                  <a:srgbClr val="404040"/>
                </a:solidFill>
              </a:rPr>
              <a:t>Copernicus Climate Change Service Report</a:t>
            </a:r>
          </a:p>
        </p:txBody>
      </p:sp>
      <p:sp>
        <p:nvSpPr>
          <p:cNvPr id="4" name="Progress Track 1"/>
          <p:cNvSpPr/>
          <p:nvPr/>
        </p:nvSpPr>
        <p:spPr>
          <a:xfrm>
            <a:off x="0" y="6762750"/>
            <a:ext cx="9144000" cy="57150"/>
          </a:xfrm>
          <a:prstGeom prst="rect">
            <a:avLst/>
          </a:prstGeom>
          <a:solidFill>
            <a:srgbClr val="D8E0EA"/>
          </a:solidFill>
          <a:ln>
            <a:noFill/>
          </a:ln>
        </p:spPr>
      </p:sp>
      <p:sp>
        <p:nvSpPr>
          <p:cNvPr id="5" name="Progress Fill 1"/>
          <p:cNvSpPr/>
          <p:nvPr/>
        </p:nvSpPr>
        <p:spPr>
          <a:xfrm>
            <a:off x="0" y="6762750"/>
            <a:ext cx="1306286" cy="57150"/>
          </a:xfrm>
          <a:prstGeom prst="rect">
            <a:avLst/>
          </a:prstGeom>
          <a:solidFill>
            <a:srgbClr val="0B2A4A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2A4A"/>
                </a:solidFill>
              </a:defRPr>
            </a:pPr>
            <a:r>
              <a:rPr>
                <a:solidFill>
                  <a:srgbClr val="0B2A4A"/>
                </a:solidFill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rPr>
                <a:solidFill>
                  <a:srgbClr val="404040"/>
                </a:solidFill>
              </a:rPr>
              <a:t>In 2024, global surface temperatures reached unprecedented levels, exceeding 1.5°C above the pre-industrial baseline. The Copernicus Climate Change Service reported that 2024 was not only the warmest year on record but also the first calendar year to surpass the 1.5°C threshold. Human-induced climate change is the primary driver of these extreme temperatures, with phenomena like El Niño adding variability.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04040"/>
                </a:solidFill>
              </a:defRPr>
            </a:pPr>
            <a:endParaRPr>
              <a:solidFill>
                <a:srgbClr val="404040"/>
              </a:solidFill>
            </a:endParaRPr>
          </a:p>
          <a:p>
            <a:pPr>
              <a:defRPr>
                <a:solidFill>
                  <a:srgbClr val="404040"/>
                </a:solidFill>
              </a:defRPr>
            </a:pPr>
            <a:r>
              <a:rPr>
                <a:solidFill>
                  <a:srgbClr val="404040"/>
                </a:solidFill>
                <a:hlinkClick r:id="rId2"/>
              </a:rPr>
              <a:t>[1]</a:t>
            </a:r>
          </a:p>
        </p:txBody>
      </p:sp>
      <p:sp>
        <p:nvSpPr>
          <p:cNvPr id="5" name="Progress Track 2"/>
          <p:cNvSpPr/>
          <p:nvPr/>
        </p:nvSpPr>
        <p:spPr>
          <a:xfrm>
            <a:off x="0" y="6762750"/>
            <a:ext cx="9144000" cy="57150"/>
          </a:xfrm>
          <a:prstGeom prst="rect">
            <a:avLst/>
          </a:prstGeom>
          <a:solidFill>
            <a:srgbClr val="D8E0EA"/>
          </a:solidFill>
          <a:ln>
            <a:noFill/>
          </a:ln>
        </p:spPr>
      </p:sp>
      <p:sp>
        <p:nvSpPr>
          <p:cNvPr id="6" name="Progress Fill 2"/>
          <p:cNvSpPr/>
          <p:nvPr/>
        </p:nvSpPr>
        <p:spPr>
          <a:xfrm>
            <a:off x="0" y="6762750"/>
            <a:ext cx="2612571" cy="57150"/>
          </a:xfrm>
          <a:prstGeom prst="rect">
            <a:avLst/>
          </a:prstGeom>
          <a:solidFill>
            <a:srgbClr val="0B2A4A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2A4A"/>
                </a:solidFill>
              </a:defRPr>
            </a:pPr>
            <a:r>
              <a:rPr>
                <a:solidFill>
                  <a:srgbClr val="0B2A4A"/>
                </a:solidFill>
              </a:rPr>
              <a:t>2024 Climate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404040"/>
                </a:solidFill>
              </a:defRPr>
            </a:pPr>
            <a:endParaRPr>
              <a:solidFill>
                <a:srgbClr val="404040"/>
              </a:solidFill>
            </a:endParaRPr>
          </a:p>
          <a:p>
            <a:pPr>
              <a:defRPr sz="1400">
                <a:solidFill>
                  <a:srgbClr val="404040"/>
                </a:solidFill>
              </a:defRPr>
            </a:pPr>
            <a:r>
              <a:rPr>
                <a:solidFill>
                  <a:srgbClr val="404040"/>
                </a:solidFill>
              </a:rPr>
              <a:t>2024 recorded a global average temperature of 15.10°C, which is 0.72°C above the 1991–2020 average and 0.12°C warmer than 2023.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rPr>
                <a:solidFill>
                  <a:srgbClr val="404040"/>
                </a:solidFill>
              </a:rPr>
              <a:t>2024 is the first calendar year to exceed 1.5°C above pre-industrial levels.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rPr>
                <a:solidFill>
                  <a:srgbClr val="404040"/>
                </a:solidFill>
              </a:rPr>
              <a:t>Each year from 2015 to 2024 ranks among the ten warmest years on record.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rPr>
                <a:solidFill>
                  <a:srgbClr val="404040"/>
                </a:solidFill>
              </a:rPr>
              <a:t>Monthly global temperatures exceeded 1.5°C for 11 months, with a record daily high of 17.16°C on July 22, 2024.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rPr>
                <a:solidFill>
                  <a:srgbClr val="404040"/>
                </a:solidFill>
              </a:rPr>
              <a:t>2024 was the warmest year for almost all continental regions, except Antarctica and Australasia.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404040"/>
                </a:solidFill>
              </a:defRPr>
            </a:pPr>
            <a:endParaRPr>
              <a:solidFill>
                <a:srgbClr val="404040"/>
              </a:solidFill>
            </a:endParaRPr>
          </a:p>
          <a:p>
            <a:pPr>
              <a:defRPr sz="800">
                <a:solidFill>
                  <a:srgbClr val="404040"/>
                </a:solidFill>
              </a:defRPr>
            </a:pPr>
            <a:r>
              <a:rPr>
                <a:solidFill>
                  <a:srgbClr val="404040"/>
                </a:solidFill>
                <a:hlinkClick r:id="rId2"/>
              </a:rPr>
              <a:t>[2] [3]</a:t>
            </a:r>
          </a:p>
        </p:txBody>
      </p:sp>
      <p:sp>
        <p:nvSpPr>
          <p:cNvPr id="5" name="Progress Track 3"/>
          <p:cNvSpPr/>
          <p:nvPr/>
        </p:nvSpPr>
        <p:spPr>
          <a:xfrm>
            <a:off x="0" y="6762750"/>
            <a:ext cx="9144000" cy="57150"/>
          </a:xfrm>
          <a:prstGeom prst="rect">
            <a:avLst/>
          </a:prstGeom>
          <a:solidFill>
            <a:srgbClr val="D8E0EA"/>
          </a:solidFill>
          <a:ln>
            <a:noFill/>
          </a:ln>
        </p:spPr>
      </p:sp>
      <p:sp>
        <p:nvSpPr>
          <p:cNvPr id="6" name="Progress Fill 3"/>
          <p:cNvSpPr/>
          <p:nvPr/>
        </p:nvSpPr>
        <p:spPr>
          <a:xfrm>
            <a:off x="0" y="6762750"/>
            <a:ext cx="3918857" cy="57150"/>
          </a:xfrm>
          <a:prstGeom prst="rect">
            <a:avLst/>
          </a:prstGeom>
          <a:solidFill>
            <a:srgbClr val="0B2A4A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2A4A"/>
                </a:solidFill>
              </a:defRPr>
            </a:pPr>
            <a:r>
              <a:rPr>
                <a:solidFill>
                  <a:srgbClr val="0B2A4A"/>
                </a:solidFill>
              </a:rPr>
              <a:t>Global Average Temperature Comparison</a:t>
            </a:r>
          </a:p>
        </p:txBody>
      </p:sp>
      <p:graphicFrame>
        <p:nvGraphicFramePr>
          <p:cNvPr id="3" name="Editable Temperature Chart"/>
          <p:cNvGraphicFramePr/>
          <p:nvPr/>
        </p:nvGraphicFramePr>
        <p:xfrm>
          <a:off x="777240" y="1481328"/>
          <a:ext cx="5166360" cy="3429000"/>
        </p:xfrm>
        <a:graphic>
          <a:graphicData uri="http://schemas.openxmlformats.org/drawingml/2006/chart">
            <ns2:chart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172200" y="1517904"/>
            <a:ext cx="2606040" cy="29718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rPr>
                <a:solidFill>
                  <a:srgbClr val="404040"/>
                </a:solidFill>
              </a:rPr>
              <a:t>This bar chart compares the 1991–2020 average global surface temperature with the record-breaking years 2023 and 2024. The 2024 bar stands tallest, highlighting the unprecedented warming that exceeded the 1.5°C threshold above pre-industrial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404040"/>
                </a:solidFill>
              </a:defRPr>
            </a:pPr>
            <a:endParaRPr>
              <a:solidFill>
                <a:srgbClr val="404040"/>
              </a:solidFill>
            </a:endParaRPr>
          </a:p>
          <a:p>
            <a:pPr>
              <a:defRPr sz="800">
                <a:solidFill>
                  <a:srgbClr val="404040"/>
                </a:solidFill>
              </a:defRPr>
            </a:pPr>
            <a:r>
              <a:rPr>
                <a:solidFill>
                  <a:srgbClr val="404040"/>
                </a:solidFill>
                <a:hlinkClick r:id="rId3"/>
              </a:rPr>
              <a:t>[4]</a:t>
            </a:r>
          </a:p>
        </p:txBody>
      </p:sp>
      <p:sp>
        <p:nvSpPr>
          <p:cNvPr id="6" name="Progress Track 4"/>
          <p:cNvSpPr/>
          <p:nvPr/>
        </p:nvSpPr>
        <p:spPr>
          <a:xfrm>
            <a:off x="0" y="6762750"/>
            <a:ext cx="9144000" cy="57150"/>
          </a:xfrm>
          <a:prstGeom prst="rect">
            <a:avLst/>
          </a:prstGeom>
          <a:solidFill>
            <a:srgbClr val="D8E0EA"/>
          </a:solidFill>
          <a:ln>
            <a:noFill/>
          </a:ln>
        </p:spPr>
      </p:sp>
      <p:sp>
        <p:nvSpPr>
          <p:cNvPr id="7" name="Progress Fill 4"/>
          <p:cNvSpPr/>
          <p:nvPr/>
        </p:nvSpPr>
        <p:spPr>
          <a:xfrm>
            <a:off x="0" y="6762750"/>
            <a:ext cx="5225143" cy="57150"/>
          </a:xfrm>
          <a:prstGeom prst="rect">
            <a:avLst/>
          </a:prstGeom>
          <a:solidFill>
            <a:srgbClr val="0B2A4A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2A4A"/>
                </a:solidFill>
              </a:defRPr>
            </a:pPr>
            <a:r>
              <a:rPr>
                <a:solidFill>
                  <a:srgbClr val="0B2A4A"/>
                </a:solidFill>
              </a:rPr>
              <a:t>Temperature Trends &amp; 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404040"/>
                </a:solidFill>
              </a:defRPr>
            </a:pPr>
            <a:endParaRPr>
              <a:solidFill>
                <a:srgbClr val="404040"/>
              </a:solidFill>
            </a:endParaRPr>
          </a:p>
        </p:txBody>
      </p:sp>
      <p:pic>
        <p:nvPicPr>
          <p:cNvPr id="4" name="Picture 3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943350" cy="1819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562350"/>
            <a:ext cx="394335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404040"/>
                </a:solidFill>
              </a:defRPr>
            </a:pPr>
            <a:r>
              <a:rPr sz="2000">
                <a:solidFill>
                  <a:srgbClr val="404040"/>
                </a:solidFill>
              </a:rPr>
              <a:t>Global surface temperature increase above pre-industrial (ERA5 &amp; other sources).</a:t>
            </a:r>
          </a:p>
        </p:txBody>
      </p:sp>
      <p:pic>
        <p:nvPicPr>
          <p:cNvPr id="6" name="Picture 5" descr="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466850"/>
            <a:ext cx="3429000" cy="2571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00600" y="415290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404040"/>
                </a:solidFill>
              </a:defRPr>
            </a:pPr>
            <a:r>
              <a:rPr sz="2000">
                <a:solidFill>
                  <a:srgbClr val="404040"/>
                </a:solidFill>
              </a:rPr>
              <a:t>Surface air temperature anomalies in 2024 relative to 1991–2020.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404040"/>
                </a:solidFill>
              </a:defRPr>
            </a:pPr>
            <a:endParaRPr>
              <a:solidFill>
                <a:srgbClr val="404040"/>
              </a:solidFill>
            </a:endParaRPr>
          </a:p>
          <a:p>
            <a:pPr>
              <a:defRPr sz="800">
                <a:solidFill>
                  <a:srgbClr val="404040"/>
                </a:solidFill>
              </a:defRPr>
            </a:pPr>
            <a:r>
              <a:rPr>
                <a:solidFill>
                  <a:srgbClr val="404040"/>
                </a:solidFill>
                <a:hlinkClick r:id="rId4"/>
              </a:rPr>
              <a:t>[5]</a:t>
            </a:r>
          </a:p>
        </p:txBody>
      </p:sp>
      <p:sp>
        <p:nvSpPr>
          <p:cNvPr id="9" name="Progress Track 5"/>
          <p:cNvSpPr/>
          <p:nvPr/>
        </p:nvSpPr>
        <p:spPr>
          <a:xfrm>
            <a:off x="0" y="6762750"/>
            <a:ext cx="9144000" cy="57150"/>
          </a:xfrm>
          <a:prstGeom prst="rect">
            <a:avLst/>
          </a:prstGeom>
          <a:solidFill>
            <a:srgbClr val="D8E0EA"/>
          </a:solidFill>
          <a:ln>
            <a:noFill/>
          </a:ln>
        </p:spPr>
      </p:sp>
      <p:sp>
        <p:nvSpPr>
          <p:cNvPr id="10" name="Progress Fill 5"/>
          <p:cNvSpPr/>
          <p:nvPr/>
        </p:nvSpPr>
        <p:spPr>
          <a:xfrm>
            <a:off x="0" y="6762750"/>
            <a:ext cx="6531429" cy="57150"/>
          </a:xfrm>
          <a:prstGeom prst="rect">
            <a:avLst/>
          </a:prstGeom>
          <a:solidFill>
            <a:srgbClr val="0B2A4A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2A4A"/>
                </a:solidFill>
              </a:defRPr>
            </a:pPr>
            <a:r>
              <a:rPr>
                <a:solidFill>
                  <a:srgbClr val="0B2A4A"/>
                </a:solidFill>
              </a:rPr>
              <a:t>Conclusions &amp;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404040"/>
                </a:solidFill>
              </a:defRPr>
            </a:pPr>
            <a:endParaRPr>
              <a:solidFill>
                <a:srgbClr val="404040"/>
              </a:solidFill>
            </a:endParaRPr>
          </a:p>
          <a:p>
            <a:pPr>
              <a:defRPr sz="1400">
                <a:solidFill>
                  <a:srgbClr val="404040"/>
                </a:solidFill>
              </a:defRPr>
            </a:pPr>
            <a:r>
              <a:rPr>
                <a:solidFill>
                  <a:srgbClr val="404040"/>
                </a:solidFill>
              </a:rPr>
              <a:t>Leading climate scientists warn that the unprecedented warmth of 2024 underscores an urgent need for evidence-based responses. According to Carlo Buontempo, the future is in our hands, and decisive action can alter the trajectory of our climate.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rPr>
                <a:solidFill>
                  <a:srgbClr val="404040"/>
                </a:solidFill>
              </a:rPr>
              <a:t>Strategic Lead Samantha Burgess notes that every year in the last decade ranks among the warmest on record, and global temperatures are already above the 1.5°C threshold set by the Paris Agreement.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rPr>
                <a:solidFill>
                  <a:srgbClr val="404040"/>
                </a:solidFill>
              </a:rPr>
              <a:t>High temperatures coupled with record atmospheric water vapour have led to more frequent heatwaves and heavy rainfall, causing adverse impacts on human societies and ecosystems.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404040"/>
                </a:solidFill>
              </a:defRPr>
            </a:pPr>
            <a:endParaRPr>
              <a:solidFill>
                <a:srgbClr val="404040"/>
              </a:solidFill>
            </a:endParaRPr>
          </a:p>
          <a:p>
            <a:pPr>
              <a:defRPr sz="800">
                <a:solidFill>
                  <a:srgbClr val="404040"/>
                </a:solidFill>
              </a:defRPr>
            </a:pPr>
            <a:r>
              <a:rPr>
                <a:solidFill>
                  <a:srgbClr val="404040"/>
                </a:solidFill>
                <a:hlinkClick r:id="rId2"/>
              </a:rPr>
              <a:t>[6]</a:t>
            </a:r>
          </a:p>
        </p:txBody>
      </p:sp>
      <p:sp>
        <p:nvSpPr>
          <p:cNvPr id="5" name="Progress Track 6"/>
          <p:cNvSpPr/>
          <p:nvPr/>
        </p:nvSpPr>
        <p:spPr>
          <a:xfrm>
            <a:off x="0" y="6762750"/>
            <a:ext cx="9144000" cy="57150"/>
          </a:xfrm>
          <a:prstGeom prst="rect">
            <a:avLst/>
          </a:prstGeom>
          <a:solidFill>
            <a:srgbClr val="D8E0EA"/>
          </a:solidFill>
          <a:ln>
            <a:noFill/>
          </a:ln>
        </p:spPr>
      </p:sp>
      <p:sp>
        <p:nvSpPr>
          <p:cNvPr id="6" name="Progress Fill 6"/>
          <p:cNvSpPr/>
          <p:nvPr/>
        </p:nvSpPr>
        <p:spPr>
          <a:xfrm>
            <a:off x="0" y="6762750"/>
            <a:ext cx="7837714" cy="57150"/>
          </a:xfrm>
          <a:prstGeom prst="rect">
            <a:avLst/>
          </a:prstGeom>
          <a:solidFill>
            <a:srgbClr val="0B2A4A"/>
          </a:solid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27460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>
              <a:defRPr sz="5400">
                <a:solidFill>
                  <a:srgbClr val="0B2A4A"/>
                </a:solidFill>
              </a:defRPr>
            </a:pPr>
            <a:r>
              <a:rPr sz="5400" lang="en-US">
                <a:solidFill>
                  <a:srgbClr val="0B2A4A"/>
                </a:solidFill>
              </a:rPr>
              <a:t>Bibliography</a:t>
            </a:r>
          </a:p>
        </p:txBody>
      </p:sp>
      <p:sp>
        <p:nvSpPr>
          <p:cNvPr id="3" name="Source URL"/>
          <p:cNvSpPr txBox="1"/>
          <p:nvPr/>
        </p:nvSpPr>
        <p:spPr>
          <a:xfrm>
            <a:off x="914400" y="2381250"/>
            <a:ext cx="7315200" cy="85725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>
              <a:defRPr sz="3000">
                <a:solidFill>
                  <a:srgbClr val="404040"/>
                </a:solidFill>
              </a:defRPr>
            </a:pPr>
            <a:r>
              <a:rPr sz="3000" lang="en-US">
                <a:solidFill>
                  <a:srgbClr val="404040"/>
                </a:solidFill>
              </a:rPr>
              <a:t>climate.copernicus.eu</a:t>
            </a:r>
          </a:p>
        </p:txBody>
      </p:sp>
      <p:sp>
        <p:nvSpPr>
          <p:cNvPr id="4" name="Progress Track 7"/>
          <p:cNvSpPr/>
          <p:nvPr/>
        </p:nvSpPr>
        <p:spPr>
          <a:xfrm>
            <a:off x="0" y="6762750"/>
            <a:ext cx="9144000" cy="57150"/>
          </a:xfrm>
          <a:prstGeom prst="rect">
            <a:avLst/>
          </a:prstGeom>
          <a:solidFill>
            <a:srgbClr val="D8E0EA"/>
          </a:solidFill>
          <a:ln>
            <a:noFill/>
          </a:ln>
        </p:spPr>
      </p:sp>
      <p:sp>
        <p:nvSpPr>
          <p:cNvPr id="5" name="Progress Fill 7"/>
          <p:cNvSpPr/>
          <p:nvPr/>
        </p:nvSpPr>
        <p:spPr>
          <a:xfrm>
            <a:off x="0" y="6762750"/>
            <a:ext cx="9144000" cy="57150"/>
          </a:xfrm>
          <a:prstGeom prst="rect">
            <a:avLst/>
          </a:prstGeom>
          <a:solidFill>
            <a:srgbClr val="0B2A4A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vt="http://schemas.openxmlformats.org/officeDocument/2006/docPropsVTypes">
  <ns0:TotalTime>3</ns0:TotalTime>
  <ns0:Words>376</ns0:Words>
  <ns0:Application>Microsoft Macintosh PowerPoint</ns0:Application>
  <ns0:PresentationFormat>On-screen Show (4:3)</ns0:PresentationFormat>
  <ns0:Paragraphs>32</ns0:Paragraphs>
  <ns0:Slides>7</ns0:Slides>
  <ns0:Notes>0</ns0:Notes>
  <ns0:HiddenSlides>0</ns0:HiddenSlides>
  <ns0:MMClips>0</ns0:MMClips>
  <ns0:ScaleCrop>false</ns0:ScaleCrop>
  <ns0: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ns0:HeadingPairs>
  <ns0:TitlesOfParts>
    <vt:vector size="10" baseType="lpstr">
      <vt:lpstr>Arial</vt:lpstr>
      <vt:lpstr>Calibri</vt:lpstr>
      <vt:lpstr>Office Theme</vt:lpstr>
      <vt:lpstr>2024 Global Climate Highlights</vt:lpstr>
      <vt:lpstr>Overview</vt:lpstr>
      <vt:lpstr>2024 Climate Highlights</vt:lpstr>
      <vt:lpstr>Global Average Temperature Comparison</vt:lpstr>
      <vt:lpstr>Temperature Trends &amp; Anomalies</vt:lpstr>
      <vt:lpstr>Conclusions &amp; Outlook</vt:lpstr>
      <vt:lpstr>Bibliography</vt:lpstr>
    </vt:vector>
  </ns0:TitlesOfParts>
  <ns0:Manager/>
  <ns0:Company/>
  <ns0:LinksUpToDate>false</ns0:LinksUpToDate>
  <ns0:SharedDoc>false</ns0:SharedDoc>
  <ns0:HyperlinkBase/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1</cp:revision>
  <dcterms:created xsi:type="dcterms:W3CDTF">2013-01-27T09:14:16Z</dcterms:created>
  <dcterms:modified xsi:type="dcterms:W3CDTF">2025-10-07T04:39:46Z</dcterms:modified>
  <cp:category/>
</cp:coreProperties>
</file>
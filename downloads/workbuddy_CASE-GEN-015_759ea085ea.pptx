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E9A23B"/>
                </a:solidFill>
                <a:latin typeface="Calibri"/>
              </a:rPr>
              <a:t>TECHNICAL EXPLAINER  ·  PRODUCT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Transformer Self-Attention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600" b="0" i="1">
                <a:solidFill>
                  <a:srgbClr val="C8D2E0"/>
                </a:solidFill>
                <a:latin typeface="Calibri"/>
              </a:rPr>
              <a:t>How tokens become contextualized representations — one sublayer, end to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6400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  <a:latin typeface="Calibri"/>
              </a:rPr>
              <a:t>1 · Tokens to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6583680" cy="1463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833"/>
                </a:solidFill>
                <a:latin typeface="Calibri"/>
              </a:rPr>
              <a:t>Self-attention starts after tokenization. Each token id is mapped to a dense embedding vector of width d_model. Stacking n tokens gives the input matrix 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222833"/>
                </a:solidFill>
                <a:latin typeface="Calibri"/>
              </a:rPr>
              <a:t>•  n = sequence length (number of tokens).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222833"/>
                </a:solidFill>
                <a:latin typeface="Calibri"/>
              </a:rPr>
              <a:t>•  d_model = width of each embedding.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222833"/>
                </a:solidFill>
                <a:latin typeface="Calibri"/>
              </a:rPr>
              <a:t>•  X has shape [n, d_model].</a:t>
            </a:r>
          </a:p>
          <a:p>
            <a:pPr>
              <a:lnSpc>
                <a:spcPct val="120000"/>
              </a:lnSpc>
            </a:pPr>
            <a:r>
              <a:rPr sz="1300">
                <a:solidFill>
                  <a:srgbClr val="222833"/>
                </a:solidFill>
                <a:latin typeface="Calibri"/>
              </a:rPr>
              <a:t>•  Everything downstream is a linear/matrix op on 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926080"/>
            <a:ext cx="4572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2E6FB5"/>
                </a:solidFill>
                <a:latin typeface="Calibri"/>
              </a:rPr>
              <a:t>Pipeline entry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246120"/>
            <a:ext cx="1188720" cy="4114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tokens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503920" y="3310128"/>
            <a:ext cx="457200" cy="274320"/>
          </a:xfrm>
          <a:prstGeom prst="rightArrow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52560" y="3246120"/>
            <a:ext cx="1554480" cy="41148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embedding lookup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698480" y="3310128"/>
            <a:ext cx="457200" cy="274320"/>
          </a:xfrm>
          <a:prstGeom prst="rightArrow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247120" y="3246120"/>
            <a:ext cx="1280160" cy="4114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X [n, d_model]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931920"/>
            <a:ext cx="182880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libri"/>
              </a:rPr>
              <a:t>X 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977640"/>
            <a:ext cx="3200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0" i="0">
                <a:solidFill>
                  <a:srgbClr val="1F2A44"/>
                </a:solidFill>
                <a:latin typeface="Calibri"/>
              </a:rPr>
              <a:t>t₁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3931920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3931920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49056" y="3931920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33104" y="3931920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17152" y="3931920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3931920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288536"/>
            <a:ext cx="3200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0" i="0">
                <a:solidFill>
                  <a:srgbClr val="1F2A44"/>
                </a:solidFill>
                <a:latin typeface="Calibri"/>
              </a:rPr>
              <a:t>t₂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4242816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4242816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9056" y="4242816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33104" y="4242816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17152" y="4242816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01200" y="4242816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4599432"/>
            <a:ext cx="3200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0" i="0">
                <a:solidFill>
                  <a:srgbClr val="1F2A44"/>
                </a:solidFill>
                <a:latin typeface="Calibri"/>
              </a:rPr>
              <a:t>t₃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4553712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5008" y="4553712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49056" y="4553712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33104" y="4553712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7152" y="4553712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01200" y="4553712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910328"/>
            <a:ext cx="320040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0" i="0">
                <a:solidFill>
                  <a:srgbClr val="1F2A44"/>
                </a:solidFill>
                <a:latin typeface="Calibri"/>
              </a:rPr>
              <a:t>t₄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4864608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65008" y="4864608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49056" y="4864608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33104" y="4864608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17152" y="4864608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601200" y="4864608"/>
            <a:ext cx="384048" cy="310896"/>
          </a:xfrm>
          <a:prstGeom prst="rect">
            <a:avLst/>
          </a:prstGeom>
          <a:solidFill>
            <a:srgbClr val="ECF1F8"/>
          </a:solidFill>
          <a:ln w="9525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5221224"/>
            <a:ext cx="237744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 i="1">
                <a:solidFill>
                  <a:srgbClr val="606874"/>
                </a:solidFill>
                <a:latin typeface="Calibri"/>
              </a:rPr>
              <a:t>shape: [n=4, d_model=6]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SLIDE 2 ·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Q, K, V: Queries, Keys,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658368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833"/>
                </a:solidFill>
                <a:latin typeface="Calibri"/>
              </a:rPr>
              <a:t>Three linear projections of the same input X, each with its own weight matrix.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4754880" cy="137160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1879600"/>
            <a:ext cx="460248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Q = X · W_Q      # [n, d_k]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K = X · W_K      # [n, d_k]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V = X · W_V      # [n, d_k]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# W_Q, W_K, W_V are learned [d_model, d_k]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325880"/>
            <a:ext cx="612648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77840" y="1325880"/>
            <a:ext cx="109728" cy="14173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1435608"/>
            <a:ext cx="56692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Q —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828800"/>
            <a:ext cx="566928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833"/>
                </a:solidFill>
                <a:latin typeface="Calibri"/>
              </a:rPr>
              <a:t>What each token is looking for.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926080"/>
            <a:ext cx="612648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0" y="2926080"/>
            <a:ext cx="109728" cy="1417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3035808"/>
            <a:ext cx="56692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K — Key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429000"/>
            <a:ext cx="566928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833"/>
                </a:solidFill>
                <a:latin typeface="Calibri"/>
              </a:rPr>
              <a:t>What each token offers as a match.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4526280"/>
            <a:ext cx="612648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7840" y="4526280"/>
            <a:ext cx="109728" cy="141732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4636008"/>
            <a:ext cx="56692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Calibri"/>
              </a:rPr>
              <a:t>V —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5029200"/>
            <a:ext cx="566928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833"/>
                </a:solidFill>
                <a:latin typeface="Calibri"/>
              </a:rPr>
              <a:t>The information that gets mixed once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833"/>
                </a:solidFill>
                <a:latin typeface="Calibri"/>
              </a:rPr>
              <a:t>attention weights are known.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444C57"/>
                </a:solidFill>
                <a:latin typeface="Calibri"/>
              </a:rPr>
              <a:t>Intuition:  each token asks a question (Q) and every token advertises an answer key (K); the match score decides how much of each V flows 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SLIDE 3 · THE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Calibri"/>
              </a:rPr>
              <a:t>The whole single-head operation, in two lines: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0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1742440"/>
            <a:ext cx="6248400" cy="995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F2A44"/>
                </a:solidFill>
                <a:latin typeface="Consolas"/>
              </a:rPr>
              <a:t>scores = Q · Kᵀ / sqrt(d_k)</a:t>
            </a:r>
          </a:p>
          <a:p>
            <a:pPr algn="l"/>
            <a:r>
              <a:rPr sz="1500">
                <a:solidFill>
                  <a:srgbClr val="1F2A44"/>
                </a:solidFill>
                <a:latin typeface="Consolas"/>
              </a:rPr>
              <a:t>head_output = softmax(scores) ·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4480560" cy="12801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833"/>
                </a:solidFill>
                <a:latin typeface="Calibri"/>
              </a:rPr>
              <a:t>Why divide by √d_k?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222833"/>
                </a:solidFill>
                <a:latin typeface="Calibri"/>
              </a:rPr>
              <a:t>Large d_k → large dot products → softmax saturates to one-hot. Scaling keeps gradients usable.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09728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2E6FB5"/>
                </a:solidFill>
                <a:latin typeface="Calibri"/>
              </a:rPr>
              <a:t>Editable pipeline — tokens to head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1874519" cy="77724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X
[n, d_model]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48559" y="3657600"/>
            <a:ext cx="360680" cy="228600"/>
          </a:xfrm>
          <a:prstGeom prst="rightArrow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39" y="3383280"/>
            <a:ext cx="1874519" cy="77724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Q, K, V
=X·W_Q,W_K,W_V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34558" y="3657600"/>
            <a:ext cx="360680" cy="228600"/>
          </a:xfrm>
          <a:prstGeom prst="rightArrow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38" y="3383280"/>
            <a:ext cx="1874519" cy="7772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scores
=Q·Kᵀ/√d_k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20557" y="3657600"/>
            <a:ext cx="360680" cy="228600"/>
          </a:xfrm>
          <a:prstGeom prst="rightArrow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06637" y="3383280"/>
            <a:ext cx="1874519" cy="777240"/>
          </a:xfrm>
          <a:prstGeom prst="round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weights
=softmax(rows)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06556" y="3657600"/>
            <a:ext cx="360680" cy="228600"/>
          </a:xfrm>
          <a:prstGeom prst="rightArrow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36" y="3383280"/>
            <a:ext cx="1874519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head_output
=weights·V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1874519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50" b="0" i="1">
                <a:solidFill>
                  <a:srgbClr val="606874"/>
                </a:solidFill>
                <a:latin typeface="Calibri"/>
              </a:rPr>
              <a:t>①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39" y="4206240"/>
            <a:ext cx="1874519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50" b="0" i="1">
                <a:solidFill>
                  <a:srgbClr val="606874"/>
                </a:solidFill>
                <a:latin typeface="Calibri"/>
              </a:rPr>
              <a:t>②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38" y="4206240"/>
            <a:ext cx="1874519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50" b="0" i="1">
                <a:solidFill>
                  <a:srgbClr val="606874"/>
                </a:solidFill>
                <a:latin typeface="Calibri"/>
              </a:rPr>
              <a:t>③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37" y="4206240"/>
            <a:ext cx="1874519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50" b="0" i="1">
                <a:solidFill>
                  <a:srgbClr val="606874"/>
                </a:solidFill>
                <a:latin typeface="Calibri"/>
              </a:rPr>
              <a:t>④ 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36" y="4206240"/>
            <a:ext cx="1874519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50" b="0" i="1">
                <a:solidFill>
                  <a:srgbClr val="606874"/>
                </a:solidFill>
                <a:latin typeface="Calibri"/>
              </a:rPr>
              <a:t>⑤ mix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074920"/>
            <a:ext cx="11064240" cy="8686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840" y="5125720"/>
            <a:ext cx="10911840" cy="767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F2A44"/>
                </a:solidFill>
                <a:latin typeface="Consolas"/>
              </a:rPr>
              <a:t>Shapes after each step (toy n=4, d_k=3):</a:t>
            </a:r>
          </a:p>
          <a:p>
            <a:pPr algn="l"/>
            <a:r>
              <a:rPr sz="1200">
                <a:solidFill>
                  <a:srgbClr val="1F2A44"/>
                </a:solidFill>
                <a:latin typeface="Consolas"/>
              </a:rPr>
              <a:t>  X [4,6]  →  Q,K,V [4,3]  →  scores [4,4]  →  weights [4,4]  →  head_output [4,3]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SLIDE 4 · TOY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Dimensions, Traced End to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400" b="0" i="0">
                <a:solidFill>
                  <a:srgbClr val="222833"/>
                </a:solidFill>
                <a:latin typeface="Calibri"/>
              </a:rPr>
              <a:t>Fix n = 4, d_model = 6, num_heads = 2, d_k = 3. Trace every tensor shape.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463040" cy="4114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n=4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691640"/>
            <a:ext cx="1463040" cy="41148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d_model=6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1691640"/>
            <a:ext cx="1463040" cy="4114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num_heads=2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691640"/>
            <a:ext cx="1463040" cy="411480"/>
          </a:xfrm>
          <a:prstGeom prst="round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d_k=3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68296"/>
            <a:ext cx="310896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68296"/>
            <a:ext cx="27432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68296"/>
            <a:ext cx="45720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97480"/>
            <a:ext cx="1106424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70632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1F2A44"/>
                </a:solidFill>
                <a:latin typeface="Consolas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770632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 i="0">
                <a:solidFill>
                  <a:srgbClr val="2E6FB5"/>
                </a:solidFill>
                <a:latin typeface="Consolas"/>
              </a:rPr>
              <a:t>[4, 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770632"/>
            <a:ext cx="45720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 i="0">
                <a:solidFill>
                  <a:srgbClr val="222833"/>
                </a:solidFill>
                <a:latin typeface="Calibri"/>
              </a:rPr>
              <a:t>input embeddings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5468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27832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1F2A44"/>
                </a:solidFill>
                <a:latin typeface="Consolas"/>
              </a:rPr>
              <a:t>W_Q,W_K,W_V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227832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 i="0">
                <a:solidFill>
                  <a:srgbClr val="2E6FB5"/>
                </a:solidFill>
                <a:latin typeface="Consolas"/>
              </a:rPr>
              <a:t>[6, 3] (per head)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227832"/>
            <a:ext cx="45720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 i="0">
                <a:solidFill>
                  <a:srgbClr val="222833"/>
                </a:solidFill>
                <a:latin typeface="Calibri"/>
              </a:rPr>
              <a:t>projection weights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685032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1F2A44"/>
                </a:solidFill>
                <a:latin typeface="Consolas"/>
              </a:rPr>
              <a:t>Q, K, 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685032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 i="0">
                <a:solidFill>
                  <a:srgbClr val="2E6FB5"/>
                </a:solidFill>
                <a:latin typeface="Consolas"/>
              </a:rPr>
              <a:t>[4, 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85032"/>
            <a:ext cx="45720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 i="0">
                <a:solidFill>
                  <a:srgbClr val="222833"/>
                </a:solidFill>
                <a:latin typeface="Calibri"/>
              </a:rPr>
              <a:t>projected queries/keys/values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06908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142232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1F2A44"/>
                </a:solidFill>
                <a:latin typeface="Consolas"/>
              </a:rPr>
              <a:t>scores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142232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 i="0">
                <a:solidFill>
                  <a:srgbClr val="2E6FB5"/>
                </a:solidFill>
                <a:latin typeface="Consolas"/>
              </a:rPr>
              <a:t>[4, 4]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42232"/>
            <a:ext cx="45720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 i="0">
                <a:solidFill>
                  <a:srgbClr val="222833"/>
                </a:solidFill>
                <a:latin typeface="Calibri"/>
              </a:rPr>
              <a:t>Q · Kᵀ, then ÷ √3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599432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1F2A44"/>
                </a:solidFill>
                <a:latin typeface="Consolas"/>
              </a:rPr>
              <a:t>weights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599432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 i="0">
                <a:solidFill>
                  <a:srgbClr val="2E6FB5"/>
                </a:solidFill>
                <a:latin typeface="Consolas"/>
              </a:rPr>
              <a:t>[4, 4]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599432"/>
            <a:ext cx="45720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 i="0">
                <a:solidFill>
                  <a:srgbClr val="222833"/>
                </a:solidFill>
                <a:latin typeface="Calibri"/>
              </a:rPr>
              <a:t>row-wise softmax; each row sums to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056632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1F2A44"/>
                </a:solidFill>
                <a:latin typeface="Consolas"/>
              </a:rPr>
              <a:t>head_output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5056632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 i="0">
                <a:solidFill>
                  <a:srgbClr val="2E6FB5"/>
                </a:solidFill>
                <a:latin typeface="Consolas"/>
              </a:rPr>
              <a:t>[4, 3]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056632"/>
            <a:ext cx="45720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 i="0">
                <a:solidFill>
                  <a:srgbClr val="222833"/>
                </a:solidFill>
                <a:latin typeface="Calibri"/>
              </a:rPr>
              <a:t>weights · V  (one head)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solidFill>
            <a:srgbClr val="F2F4F7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513832"/>
            <a:ext cx="310896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 i="0">
                <a:solidFill>
                  <a:srgbClr val="1F2A44"/>
                </a:solidFill>
                <a:latin typeface="Consolas"/>
              </a:rPr>
              <a:t>2 heads → concat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513832"/>
            <a:ext cx="27432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0" i="0">
                <a:solidFill>
                  <a:srgbClr val="2E6FB5"/>
                </a:solidFill>
                <a:latin typeface="Consolas"/>
              </a:rPr>
              <a:t>[4, 6]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513832"/>
            <a:ext cx="457200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 i="0">
                <a:solidFill>
                  <a:srgbClr val="222833"/>
                </a:solidFill>
                <a:latin typeface="Calibri"/>
              </a:rPr>
              <a:t>concat along feature dim = 2 × d_k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SLIDE 5 · SCORES → SOFTMAX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Score Matrix and Row-wise Softmax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86400" cy="8229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22833"/>
                </a:solidFill>
                <a:latin typeface="Calibri"/>
              </a:rPr>
              <a:t>scores = Q·Kᵀ/√d_k gives a [4,4] matrix. softmax is applied row-wise: each row is an independent distribution. weights[i] says how strongly token i attends to every token.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548640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2291080"/>
            <a:ext cx="5334000" cy="995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F2A44"/>
                </a:solidFill>
                <a:latin typeface="Consolas"/>
              </a:rPr>
              <a:t>weights[i] = softmax(scores[i, :])</a:t>
            </a:r>
          </a:p>
          <a:p>
            <a:pPr algn="l"/>
            <a:r>
              <a:rPr sz="1250">
                <a:solidFill>
                  <a:srgbClr val="1F2A44"/>
                </a:solidFill>
                <a:latin typeface="Consolas"/>
              </a:rPr>
              <a:t>→  sum(weights[i]) = 1  for every row i</a:t>
            </a:r>
          </a:p>
          <a:p>
            <a:pPr algn="l"/>
            <a:r>
              <a:rPr sz="1250">
                <a:solidFill>
                  <a:srgbClr val="1F2A44"/>
                </a:solidFill>
                <a:latin typeface="Consolas"/>
              </a:rPr>
              <a:t>→  each row is a probability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2E6FB5"/>
                </a:solidFill>
                <a:latin typeface="Calibri"/>
              </a:rPr>
              <a:t>Attention weights (toy, [4,4])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0" y="1920240"/>
          <a:ext cx="2852928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232"/>
                <a:gridCol w="713232"/>
                <a:gridCol w="713232"/>
                <a:gridCol w="713232"/>
              </a:tblGrid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marL="12700" marR="12700" marT="0" marB="0" anchor="ctr">
                    <a:solidFill>
                      <a:srgbClr val="41699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0.20</a:t>
                      </a:r>
                    </a:p>
                  </a:txBody>
                  <a:tcPr marL="12700" marR="12700" marT="0" marB="0" anchor="ctr">
                    <a:solidFill>
                      <a:srgbClr val="A9BCD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0.20</a:t>
                      </a:r>
                    </a:p>
                  </a:txBody>
                  <a:tcPr marL="12700" marR="12700" marT="0" marB="0" anchor="ctr">
                    <a:solidFill>
                      <a:srgbClr val="A9BCD5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0.10</a:t>
                      </a:r>
                    </a:p>
                  </a:txBody>
                  <a:tcPr marL="12700" marR="12700" marT="0" marB="0" anchor="ctr">
                    <a:solidFill>
                      <a:srgbClr val="CBD7E7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0.15</a:t>
                      </a:r>
                    </a:p>
                  </a:txBody>
                  <a:tcPr marL="12700" marR="12700" marT="0" marB="0" anchor="ctr">
                    <a:solidFill>
                      <a:srgbClr val="BAC9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0.45</a:t>
                      </a:r>
                    </a:p>
                  </a:txBody>
                  <a:tcPr marL="12700" marR="12700" marT="0" marB="0" anchor="ctr">
                    <a:solidFill>
                      <a:srgbClr val="5277A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0.25</a:t>
                      </a:r>
                    </a:p>
                  </a:txBody>
                  <a:tcPr marL="12700" marR="12700" marT="0" marB="0" anchor="ctr">
                    <a:solidFill>
                      <a:srgbClr val="97AE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0.15</a:t>
                      </a:r>
                    </a:p>
                  </a:txBody>
                  <a:tcPr marL="12700" marR="12700" marT="0" marB="0" anchor="ctr">
                    <a:solidFill>
                      <a:srgbClr val="BAC9DE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0.10</a:t>
                      </a:r>
                    </a:p>
                  </a:txBody>
                  <a:tcPr marL="12700" marR="12700" marT="0" marB="0" anchor="ctr">
                    <a:solidFill>
                      <a:srgbClr val="CBD7E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0.25</a:t>
                      </a:r>
                    </a:p>
                  </a:txBody>
                  <a:tcPr marL="12700" marR="12700" marT="0" marB="0" anchor="ctr">
                    <a:solidFill>
                      <a:srgbClr val="97AE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0.40</a:t>
                      </a:r>
                    </a:p>
                  </a:txBody>
                  <a:tcPr marL="12700" marR="12700" marT="0" marB="0" anchor="ctr">
                    <a:solidFill>
                      <a:srgbClr val="6385B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0.25</a:t>
                      </a:r>
                    </a:p>
                  </a:txBody>
                  <a:tcPr marL="12700" marR="12700" marT="0" marB="0" anchor="ctr">
                    <a:solidFill>
                      <a:srgbClr val="97AECC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0.05</a:t>
                      </a:r>
                    </a:p>
                  </a:txBody>
                  <a:tcPr marL="12700" marR="12700" marT="0" marB="0" anchor="ctr">
                    <a:solidFill>
                      <a:srgbClr val="DCE5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0.15</a:t>
                      </a:r>
                    </a:p>
                  </a:txBody>
                  <a:tcPr marL="12700" marR="12700" marT="0" marB="0" anchor="ctr">
                    <a:solidFill>
                      <a:srgbClr val="BAC9D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0.25</a:t>
                      </a:r>
                    </a:p>
                  </a:txBody>
                  <a:tcPr marL="12700" marR="12700" marT="0" marB="0" anchor="ctr">
                    <a:solidFill>
                      <a:srgbClr val="97AEC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0.55</a:t>
                      </a:r>
                    </a:p>
                  </a:txBody>
                  <a:tcPr marL="12700" marR="12700" marT="0" marB="0" anchor="ctr">
                    <a:solidFill>
                      <a:srgbClr val="305B95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0" y="1645920"/>
            <a:ext cx="713232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1" i="0">
                <a:solidFill>
                  <a:srgbClr val="1F2A44"/>
                </a:solidFill>
                <a:latin typeface="Calibri"/>
              </a:rPr>
              <a:t>t₁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2" y="1645920"/>
            <a:ext cx="713232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1" i="0">
                <a:solidFill>
                  <a:srgbClr val="1F2A44"/>
                </a:solidFill>
                <a:latin typeface="Calibri"/>
              </a:rPr>
              <a:t>t₂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1645920"/>
            <a:ext cx="713232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1" i="0">
                <a:solidFill>
                  <a:srgbClr val="1F2A44"/>
                </a:solidFill>
                <a:latin typeface="Calibri"/>
              </a:rPr>
              <a:t>t₃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54896" y="1645920"/>
            <a:ext cx="713232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1" i="0">
                <a:solidFill>
                  <a:srgbClr val="1F2A44"/>
                </a:solidFill>
                <a:latin typeface="Calibri"/>
              </a:rPr>
              <a:t>t₄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920240"/>
            <a:ext cx="45720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1" i="0">
                <a:solidFill>
                  <a:srgbClr val="1F2A44"/>
                </a:solidFill>
                <a:latin typeface="Calibri"/>
              </a:rPr>
              <a:t>t₁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487168"/>
            <a:ext cx="45720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1" i="0">
                <a:solidFill>
                  <a:srgbClr val="1F2A44"/>
                </a:solidFill>
                <a:latin typeface="Calibri"/>
              </a:rPr>
              <a:t>t₂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054096"/>
            <a:ext cx="45720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1" i="0">
                <a:solidFill>
                  <a:srgbClr val="1F2A44"/>
                </a:solidFill>
                <a:latin typeface="Calibri"/>
              </a:rPr>
              <a:t>t₃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621024"/>
            <a:ext cx="45720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1" i="0">
                <a:solidFill>
                  <a:srgbClr val="1F2A44"/>
                </a:solidFill>
                <a:latin typeface="Calibri"/>
              </a:rPr>
              <a:t>t₄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371600"/>
            <a:ext cx="2852928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1">
                <a:solidFill>
                  <a:srgbClr val="606874"/>
                </a:solidFill>
                <a:latin typeface="Calibri"/>
              </a:rPr>
              <a:t>keys (what each token offers)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770632"/>
            <a:ext cx="86868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1">
                <a:solidFill>
                  <a:srgbClr val="606874"/>
                </a:solidFill>
                <a:latin typeface="Calibri"/>
              </a:rPr>
              <a:t>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alibri"/>
              </a:rPr>
              <a:t>weight intensity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4709160"/>
            <a:ext cx="164592" cy="201168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79792" y="4709160"/>
            <a:ext cx="164592" cy="201168"/>
          </a:xfrm>
          <a:prstGeom prst="rect">
            <a:avLst/>
          </a:prstGeom>
          <a:solidFill>
            <a:srgbClr val="D0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44384" y="4709160"/>
            <a:ext cx="164592" cy="201168"/>
          </a:xfrm>
          <a:prstGeom prst="rect">
            <a:avLst/>
          </a:prstGeom>
          <a:solidFill>
            <a:srgbClr val="B2C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08976" y="4709160"/>
            <a:ext cx="164592" cy="201168"/>
          </a:xfrm>
          <a:prstGeom prst="rect">
            <a:avLst/>
          </a:prstGeom>
          <a:solidFill>
            <a:srgbClr val="95A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3568" y="4709160"/>
            <a:ext cx="164592" cy="201168"/>
          </a:xfrm>
          <a:prstGeom prst="rect">
            <a:avLst/>
          </a:prstGeom>
          <a:solidFill>
            <a:srgbClr val="7794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709160"/>
            <a:ext cx="164592" cy="201168"/>
          </a:xfrm>
          <a:prstGeom prst="rect">
            <a:avLst/>
          </a:prstGeom>
          <a:solidFill>
            <a:srgbClr val="5A7D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2752" y="4709160"/>
            <a:ext cx="164592" cy="201168"/>
          </a:xfrm>
          <a:prstGeom prst="rect">
            <a:avLst/>
          </a:prstGeom>
          <a:solidFill>
            <a:srgbClr val="3C6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67344" y="4709160"/>
            <a:ext cx="164592" cy="201168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493776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606874"/>
                </a:solidFill>
                <a:latin typeface="Calibri"/>
              </a:rPr>
              <a:t>0.0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937760"/>
            <a:ext cx="914400" cy="1828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606874"/>
                </a:solidFill>
                <a:latin typeface="Calibri"/>
              </a:rPr>
              <a:t>0.6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566160"/>
            <a:ext cx="54864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50" b="1" i="0">
                <a:solidFill>
                  <a:srgbClr val="1F2A44"/>
                </a:solidFill>
                <a:latin typeface="Calibri"/>
              </a:rPr>
              <a:t>Reading the heatmap: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319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Diagonal is strongest — tokens attend to themselves.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Off-diagonal spread = contextual mixing.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Darker cell → higher weight → more of that V flows in.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Every row independently sums to 1.0.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SLIDE 6 · MIXING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Weighted Sum of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833"/>
                </a:solidFill>
                <a:latin typeface="Calibri"/>
              </a:rPr>
              <a:t>head_output = weights · V. Each output token is a convex combination of all value vectors.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640080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1879600"/>
            <a:ext cx="6248400" cy="995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head_output[i] = Σ_j  weights[i, j] · V[j]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                (a weighted average of rows of V)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head_output shape = [n, d_k] = [4, 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weights [4,4]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502920" cy="457200"/>
          </a:xfrm>
          <a:prstGeom prst="rect">
            <a:avLst/>
          </a:prstGeom>
          <a:solidFill>
            <a:srgbClr val="41699E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3566160"/>
            <a:ext cx="502920" cy="457200"/>
          </a:xfrm>
          <a:prstGeom prst="rect">
            <a:avLst/>
          </a:prstGeom>
          <a:solidFill>
            <a:srgbClr val="A9BCD5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54480" y="3566160"/>
            <a:ext cx="502920" cy="457200"/>
          </a:xfrm>
          <a:prstGeom prst="rect">
            <a:avLst/>
          </a:prstGeom>
          <a:solidFill>
            <a:srgbClr val="A9BCD5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7400" y="3566160"/>
            <a:ext cx="502920" cy="457200"/>
          </a:xfrm>
          <a:prstGeom prst="rect">
            <a:avLst/>
          </a:prstGeom>
          <a:solidFill>
            <a:srgbClr val="CBD7E7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23360"/>
            <a:ext cx="502920" cy="457200"/>
          </a:xfrm>
          <a:prstGeom prst="rect">
            <a:avLst/>
          </a:prstGeom>
          <a:solidFill>
            <a:srgbClr val="BAC9DE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4023360"/>
            <a:ext cx="502920" cy="457200"/>
          </a:xfrm>
          <a:prstGeom prst="rect">
            <a:avLst/>
          </a:prstGeom>
          <a:solidFill>
            <a:srgbClr val="5277A7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54480" y="4023360"/>
            <a:ext cx="502920" cy="457200"/>
          </a:xfrm>
          <a:prstGeom prst="rect">
            <a:avLst/>
          </a:prstGeom>
          <a:solidFill>
            <a:srgbClr val="97AEC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00" y="4023360"/>
            <a:ext cx="502920" cy="457200"/>
          </a:xfrm>
          <a:prstGeom prst="rect">
            <a:avLst/>
          </a:prstGeom>
          <a:solidFill>
            <a:srgbClr val="BAC9DE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502920" cy="457200"/>
          </a:xfrm>
          <a:prstGeom prst="rect">
            <a:avLst/>
          </a:prstGeom>
          <a:solidFill>
            <a:srgbClr val="CBD7E7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4480560"/>
            <a:ext cx="502920" cy="457200"/>
          </a:xfrm>
          <a:prstGeom prst="rect">
            <a:avLst/>
          </a:prstGeom>
          <a:solidFill>
            <a:srgbClr val="97AEC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54480" y="4480560"/>
            <a:ext cx="502920" cy="457200"/>
          </a:xfrm>
          <a:prstGeom prst="rect">
            <a:avLst/>
          </a:prstGeom>
          <a:solidFill>
            <a:srgbClr val="6385B0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7400" y="4480560"/>
            <a:ext cx="502920" cy="457200"/>
          </a:xfrm>
          <a:prstGeom prst="rect">
            <a:avLst/>
          </a:prstGeom>
          <a:solidFill>
            <a:srgbClr val="97AEC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502920" cy="457200"/>
          </a:xfrm>
          <a:prstGeom prst="rect">
            <a:avLst/>
          </a:prstGeom>
          <a:solidFill>
            <a:srgbClr val="DCE5F0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4937760"/>
            <a:ext cx="502920" cy="457200"/>
          </a:xfrm>
          <a:prstGeom prst="rect">
            <a:avLst/>
          </a:prstGeom>
          <a:solidFill>
            <a:srgbClr val="BAC9DE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54480" y="4937760"/>
            <a:ext cx="502920" cy="457200"/>
          </a:xfrm>
          <a:prstGeom prst="rect">
            <a:avLst/>
          </a:prstGeom>
          <a:solidFill>
            <a:srgbClr val="97AEC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57400" y="4937760"/>
            <a:ext cx="502920" cy="457200"/>
          </a:xfrm>
          <a:prstGeom prst="rect">
            <a:avLst/>
          </a:prstGeom>
          <a:solidFill>
            <a:srgbClr val="305B95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7480" y="416052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2400" b="1" i="0">
                <a:solidFill>
                  <a:srgbClr val="1F2A44"/>
                </a:solidFill>
                <a:latin typeface="Calibri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246120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  <a:latin typeface="Calibri"/>
              </a:rPr>
              <a:t>V [4,3]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5661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94760" y="35661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5661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46120" y="40233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94760" y="40233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40233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46120" y="44805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94760" y="44805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44805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46120" y="49377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94760" y="49377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4937760"/>
            <a:ext cx="548640" cy="457200"/>
          </a:xfrm>
          <a:prstGeom prst="rect">
            <a:avLst/>
          </a:prstGeom>
          <a:solidFill>
            <a:srgbClr val="E6F2EF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4160520"/>
            <a:ext cx="3657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2400" b="1" i="0">
                <a:solidFill>
                  <a:srgbClr val="1F2A44"/>
                </a:solidFill>
                <a:latin typeface="Calibri"/>
              </a:rPr>
              <a:t>=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246120"/>
            <a:ext cx="22860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head_output [4,3]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35661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5661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75120" y="35661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577840" y="40233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0" y="40233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75120" y="40233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77840" y="44805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26480" y="44805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675120" y="44805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577840" y="49377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49377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75120" y="4937760"/>
            <a:ext cx="548640" cy="457200"/>
          </a:xfrm>
          <a:prstGeom prst="rect">
            <a:avLst/>
          </a:prstGeom>
          <a:solidFill>
            <a:srgbClr val="FBECEC"/>
          </a:solidFill>
          <a:ln w="6350">
            <a:solidFill>
              <a:srgbClr val="BDC3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60920" y="3611880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 i="1">
                <a:solidFill>
                  <a:srgbClr val="606874"/>
                </a:solidFill>
                <a:latin typeface="Calibri"/>
              </a:rPr>
              <a:t>row i = mix of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3886200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 i="1">
                <a:solidFill>
                  <a:srgbClr val="606874"/>
                </a:solidFill>
                <a:latin typeface="Calibri"/>
              </a:rPr>
              <a:t>V rows, using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4160520"/>
            <a:ext cx="219456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 i="1">
                <a:solidFill>
                  <a:srgbClr val="606874"/>
                </a:solidFill>
                <a:latin typeface="Calibri"/>
              </a:rPr>
              <a:t>weights row 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742432"/>
            <a:ext cx="1069848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50" b="0" i="1">
                <a:solidFill>
                  <a:srgbClr val="1F2A44"/>
                </a:solidFill>
                <a:latin typeface="Calibri"/>
              </a:rPr>
              <a:t>Self-attention = soft database lookup: weights are the lookup keys' match scores; V rows are the retrieved records, blended by score.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SLIDE 7 · MULTI-HEAD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Split, Parallel Heads, Concat,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833"/>
                </a:solidFill>
                <a:latin typeface="Calibri"/>
              </a:rPr>
              <a:t>Run several heads in parallel. Each head can learn a different relation pattern (e.g. subject–verb, reference resolution, local context).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188720" cy="6400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X
[4,6]</a:t>
            </a:r>
          </a:p>
        </p:txBody>
      </p:sp>
      <p:sp>
        <p:nvSpPr>
          <p:cNvPr id="9" name="Down Arrow 8"/>
          <p:cNvSpPr/>
          <p:nvPr/>
        </p:nvSpPr>
        <p:spPr>
          <a:xfrm>
            <a:off x="914400" y="1965960"/>
            <a:ext cx="457200" cy="822960"/>
          </a:xfrm>
          <a:prstGeom prst="downArrow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965960"/>
            <a:ext cx="32918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Head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2286000"/>
            <a:ext cx="914400" cy="41148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286000"/>
            <a:ext cx="914400" cy="41148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914400" cy="41148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2880360"/>
            <a:ext cx="2011680" cy="50292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attention
[4,3]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389120" y="3429000"/>
            <a:ext cx="365760" cy="457200"/>
          </a:xfrm>
          <a:prstGeom prst="downArrow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965960"/>
            <a:ext cx="329184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  <a:latin typeface="Calibri"/>
              </a:rPr>
              <a:t>Head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286000"/>
            <a:ext cx="914400" cy="4114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286000"/>
            <a:ext cx="914400" cy="4114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286000"/>
            <a:ext cx="914400" cy="4114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880360"/>
            <a:ext cx="2011680" cy="5029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attention
[4,3]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595360" y="3429000"/>
            <a:ext cx="365760" cy="457200"/>
          </a:xfrm>
          <a:prstGeom prst="down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08960" y="3977640"/>
            <a:ext cx="6035040" cy="548640"/>
          </a:xfrm>
          <a:prstGeom prst="round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concat along feature dim  →  [4, 6]  (= num_heads × d_k)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3931920"/>
            <a:ext cx="1280160" cy="0"/>
          </a:xfrm>
          <a:prstGeom prst="rightArrow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5760720" y="4526280"/>
            <a:ext cx="365760" cy="502920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0" y="5074920"/>
            <a:ext cx="603504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W_O  (output projection [6,6])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760720" y="5669280"/>
            <a:ext cx="365760" cy="457200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23360" y="6172200"/>
            <a:ext cx="4206240" cy="50292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multi-head output [4,6]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2377440" cy="20116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840" y="4165600"/>
            <a:ext cx="2225040" cy="191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F2A44"/>
                </a:solidFill>
                <a:latin typeface="Consolas"/>
              </a:rPr>
              <a:t>MultiHead =</a:t>
            </a:r>
          </a:p>
          <a:p>
            <a:pPr algn="l"/>
            <a:r>
              <a:rPr sz="1100">
                <a:solidFill>
                  <a:srgbClr val="1F2A44"/>
                </a:solidFill>
                <a:latin typeface="Consolas"/>
              </a:rPr>
              <a:t>  concat(</a:t>
            </a:r>
          </a:p>
          <a:p>
            <a:pPr algn="l"/>
            <a:r>
              <a:rPr sz="1100">
                <a:solidFill>
                  <a:srgbClr val="1F2A44"/>
                </a:solidFill>
                <a:latin typeface="Consolas"/>
              </a:rPr>
              <a:t>    head_1,</a:t>
            </a:r>
          </a:p>
          <a:p>
            <a:pPr algn="l"/>
            <a:r>
              <a:rPr sz="1100">
                <a:solidFill>
                  <a:srgbClr val="1F2A44"/>
                </a:solidFill>
                <a:latin typeface="Consolas"/>
              </a:rPr>
              <a:t>    head_2</a:t>
            </a:r>
          </a:p>
          <a:p>
            <a:pPr algn="l"/>
            <a:r>
              <a:rPr sz="1100">
                <a:solidFill>
                  <a:srgbClr val="1F2A44"/>
                </a:solidFill>
                <a:latin typeface="Consolas"/>
              </a:rPr>
              <a:t>  ) · W_O</a:t>
            </a:r>
          </a:p>
          <a:p>
            <a:pPr algn="l"/>
            <a:r>
              <a:rPr sz="1100">
                <a:solidFill>
                  <a:srgbClr val="1F2A44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1F2A44"/>
                </a:solidFill>
                <a:latin typeface="Consolas"/>
              </a:rPr>
              <a:t># each head:</a:t>
            </a:r>
          </a:p>
          <a:p>
            <a:pPr algn="l"/>
            <a:r>
              <a:rPr sz="1100">
                <a:solidFill>
                  <a:srgbClr val="1F2A44"/>
                </a:solidFill>
                <a:latin typeface="Consolas"/>
              </a:rPr>
              <a:t>#   softmax(Q·Kᵀ/√d_k)·V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SLIDE 8 · MASKING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Causal Masking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222833"/>
                </a:solidFill>
                <a:latin typeface="Calibri"/>
              </a:rPr>
              <a:t>In causal language modeling, a token must not attend to tokens to its right. The mask is applied before softmax by setting forbidden scores to −∞, so their softmax weight becomes exactly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00" cy="109728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2062480"/>
            <a:ext cx="5334000" cy="995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scores_masked = scores + mask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# mask[i,j] = 0      if j &lt;= i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# mask[i,j] = −∞     if j &gt; i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weights = softmax(scores_masked)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50292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300" b="1" i="0">
                <a:solidFill>
                  <a:srgbClr val="2E6FB5"/>
                </a:solidFill>
                <a:latin typeface="Calibri"/>
              </a:rPr>
              <a:t>Causal weights (lower-triangular)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1828800"/>
          <a:ext cx="2852928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13232"/>
                <a:gridCol w="713232"/>
                <a:gridCol w="713232"/>
                <a:gridCol w="713232"/>
              </a:tblGrid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1.00</a:t>
                      </a:r>
                    </a:p>
                  </a:txBody>
                  <a:tcPr marL="12700" marR="12700" marT="0" marB="0" anchor="ctr">
                    <a:solidFill>
                      <a:srgbClr val="1F4E8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marL="12700" marR="12700" marT="0" marB="0" anchor="ctr"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marL="12700" marR="12700" marT="0" marB="0" anchor="ctr"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marL="12700" marR="12700" marT="0" marB="0" anchor="ctr">
                    <a:solidFill>
                      <a:srgbClr val="F0F0F0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0.35</a:t>
                      </a:r>
                    </a:p>
                  </a:txBody>
                  <a:tcPr marL="12700" marR="12700" marT="0" marB="0" anchor="ctr">
                    <a:solidFill>
                      <a:srgbClr val="86A0C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0.65</a:t>
                      </a:r>
                    </a:p>
                  </a:txBody>
                  <a:tcPr marL="12700" marR="12700" marT="0" marB="0" anchor="ctr">
                    <a:solidFill>
                      <a:srgbClr val="2D59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marL="12700" marR="12700" marT="0" marB="0" anchor="ctr">
                    <a:solidFill>
                      <a:srgbClr val="F0F0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marL="12700" marR="12700" marT="0" marB="0" anchor="ctr">
                    <a:solidFill>
                      <a:srgbClr val="F0F0F0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0.20</a:t>
                      </a:r>
                    </a:p>
                  </a:txBody>
                  <a:tcPr marL="12700" marR="12700" marT="0" marB="0" anchor="ctr">
                    <a:solidFill>
                      <a:srgbClr val="B2C3D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0.30</a:t>
                      </a:r>
                    </a:p>
                  </a:txBody>
                  <a:tcPr marL="12700" marR="12700" marT="0" marB="0" anchor="ctr">
                    <a:solidFill>
                      <a:srgbClr val="95ACC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marL="12700" marR="12700" marT="0" marB="0" anchor="ctr">
                    <a:solidFill>
                      <a:srgbClr val="5A7DA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0.00</a:t>
                      </a:r>
                    </a:p>
                  </a:txBody>
                  <a:tcPr marL="12700" marR="12700" marT="0" marB="0" anchor="ctr">
                    <a:solidFill>
                      <a:srgbClr val="F0F0F0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0.10</a:t>
                      </a:r>
                    </a:p>
                  </a:txBody>
                  <a:tcPr marL="12700" marR="12700" marT="0" marB="0" anchor="ctr">
                    <a:solidFill>
                      <a:srgbClr val="D0DBE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0.15</a:t>
                      </a:r>
                    </a:p>
                  </a:txBody>
                  <a:tcPr marL="12700" marR="12700" marT="0" marB="0" anchor="ctr">
                    <a:solidFill>
                      <a:srgbClr val="C1CFE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0.25</a:t>
                      </a:r>
                    </a:p>
                  </a:txBody>
                  <a:tcPr marL="12700" marR="12700" marT="0" marB="0" anchor="ctr">
                    <a:solidFill>
                      <a:srgbClr val="A4B8D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>
                          <a:solidFill>
                            <a:srgbClr val="1F2A44"/>
                          </a:solidFill>
                          <a:latin typeface="Consolas"/>
                        </a:rPr>
                        <a:t>0.50</a:t>
                      </a:r>
                    </a:p>
                  </a:txBody>
                  <a:tcPr marL="12700" marR="12700" marT="0" marB="0" anchor="ctr">
                    <a:solidFill>
                      <a:srgbClr val="5A7DA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98079" y="1554480"/>
            <a:ext cx="713232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1" i="0">
                <a:solidFill>
                  <a:srgbClr val="1F2A44"/>
                </a:solidFill>
                <a:latin typeface="Calibri"/>
              </a:rPr>
              <a:t>t₁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1" y="1554480"/>
            <a:ext cx="713232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1" i="0">
                <a:solidFill>
                  <a:srgbClr val="1F2A44"/>
                </a:solidFill>
                <a:latin typeface="Calibri"/>
              </a:rPr>
              <a:t>t₂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3" y="1554480"/>
            <a:ext cx="713232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1" i="0">
                <a:solidFill>
                  <a:srgbClr val="1F2A44"/>
                </a:solidFill>
                <a:latin typeface="Calibri"/>
              </a:rPr>
              <a:t>t₃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37775" y="1554480"/>
            <a:ext cx="713232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1" i="0">
                <a:solidFill>
                  <a:srgbClr val="1F2A44"/>
                </a:solidFill>
                <a:latin typeface="Calibri"/>
              </a:rPr>
              <a:t>t₄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1828800"/>
            <a:ext cx="45720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1" i="0">
                <a:solidFill>
                  <a:srgbClr val="1F2A44"/>
                </a:solidFill>
                <a:latin typeface="Calibri"/>
              </a:rPr>
              <a:t>t₁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2395728"/>
            <a:ext cx="45720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1" i="0">
                <a:solidFill>
                  <a:srgbClr val="1F2A44"/>
                </a:solidFill>
                <a:latin typeface="Calibri"/>
              </a:rPr>
              <a:t>t₂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2962656"/>
            <a:ext cx="45720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1" i="0">
                <a:solidFill>
                  <a:srgbClr val="1F2A44"/>
                </a:solidFill>
                <a:latin typeface="Calibri"/>
              </a:rPr>
              <a:t>t₃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3529584"/>
            <a:ext cx="457200" cy="56692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000" b="1" i="0">
                <a:solidFill>
                  <a:srgbClr val="1F2A44"/>
                </a:solidFill>
                <a:latin typeface="Calibri"/>
              </a:rPr>
              <a:t>t₄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187952"/>
            <a:ext cx="2926080" cy="2286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000" b="0" i="1">
                <a:solidFill>
                  <a:srgbClr val="606874"/>
                </a:solidFill>
                <a:latin typeface="Calibri"/>
              </a:rPr>
              <a:t>grey = masked (weight forced to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548640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250" b="1" i="0">
                <a:solidFill>
                  <a:srgbClr val="1F2A44"/>
                </a:solidFill>
                <a:latin typeface="Calibri"/>
              </a:rPr>
              <a:t>Effect on row 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49039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Only tokens j ≤ i participate in the softmax.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Row i still sums to 1, but mass is redistributed over allowed positions only.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Each output token depends solely on the current and past tokens.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Masking is additive on scores — never delete cells, set them to −∞.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SLIDE 9 · SURROUNDING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Residual Connection &amp; Layer Norm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833"/>
                </a:solidFill>
                <a:latin typeface="Calibri"/>
              </a:rPr>
              <a:t>Attention output is combined with a residual and layer normalization before the feed-forward part of the transformer block.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669280" cy="1188720"/>
          </a:xfrm>
          <a:prstGeom prst="rect">
            <a:avLst/>
          </a:prstGeom>
          <a:solidFill>
            <a:srgbClr val="EEF2F7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1971040"/>
            <a:ext cx="5516880" cy="1087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z = LayerNorm(X + MultiHead(X))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# then the block continues:</a:t>
            </a:r>
          </a:p>
          <a:p>
            <a:pPr algn="l"/>
            <a:r>
              <a:rPr sz="1300">
                <a:solidFill>
                  <a:srgbClr val="1F2A44"/>
                </a:solidFill>
                <a:latin typeface="Consolas"/>
              </a:rPr>
              <a:t>#   out = LayerNorm(z + FFN(z))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74720"/>
            <a:ext cx="1097280" cy="6400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91640" y="3675888"/>
            <a:ext cx="457200" cy="228600"/>
          </a:xfrm>
          <a:prstGeom prst="rightArrow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3474720"/>
            <a:ext cx="1737360" cy="640080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Multi-Head
Attention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77639" y="3675888"/>
            <a:ext cx="457200" cy="228600"/>
          </a:xfrm>
          <a:prstGeom prst="rightArrow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3474720"/>
            <a:ext cx="640080" cy="64008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3794760"/>
            <a:ext cx="31750" cy="9144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4690872"/>
            <a:ext cx="3337560" cy="3175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5400000">
            <a:off x="4389120" y="4572000"/>
            <a:ext cx="164592" cy="201168"/>
          </a:xfrm>
          <a:prstGeom prst="triangl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4800600"/>
            <a:ext cx="1828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/>
            <a:r>
              <a:rPr sz="1000" b="0" i="1">
                <a:solidFill>
                  <a:srgbClr val="E9A23B"/>
                </a:solidFill>
                <a:latin typeface="Calibri"/>
              </a:rPr>
              <a:t>residual (skip)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66360" y="3675888"/>
            <a:ext cx="457200" cy="228600"/>
          </a:xfrm>
          <a:prstGeom prst="rightArrow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3474720"/>
            <a:ext cx="1554480" cy="6400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LayerNorm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69480" y="3675888"/>
            <a:ext cx="457200" cy="228600"/>
          </a:xfrm>
          <a:prstGeom prst="rightArrow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0" y="3474720"/>
            <a:ext cx="914400" cy="6400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z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32520" y="3675888"/>
            <a:ext cx="457200" cy="228600"/>
          </a:xfrm>
          <a:prstGeom prst="rightArrow">
            <a:avLst/>
          </a:prstGeom>
          <a:solidFill>
            <a:srgbClr val="909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3474720"/>
            <a:ext cx="1737360" cy="640080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FFN + …
(rest of block)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074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Residual: X is added to the attention output, preserving the original signal.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LayerNorm: normalizes across the feature dimension per token, stabilizing training.</a:t>
            </a:r>
          </a:p>
          <a:p>
            <a:pPr>
              <a:lnSpc>
                <a:spcPct val="120000"/>
              </a:lnSpc>
            </a:pPr>
            <a:r>
              <a:rPr sz="1250">
                <a:solidFill>
                  <a:srgbClr val="222833"/>
                </a:solidFill>
                <a:latin typeface="Calibri"/>
              </a:rPr>
              <a:t>•  This whole group is one sublayer; the feed-forward is a separate sublayer.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09728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SLIDE 10 · SCOPE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486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Self-Attention ≠ The Entire 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22833"/>
                </a:solidFill>
                <a:latin typeface="Calibri"/>
              </a:rPr>
              <a:t>Self-attention is one sublayer inside a transformer block. A transformer stacks many such blocks plus other components.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5486400" cy="4572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Self-attention 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Self-attention is NOT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548640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68880"/>
            <a:ext cx="51206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50" b="0" i="0">
                <a:solidFill>
                  <a:srgbClr val="222833"/>
                </a:solidFill>
                <a:latin typeface="Calibri"/>
              </a:rPr>
              <a:t>✓  A weighted-mixing operation over V.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48640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51206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50" b="0" i="0">
                <a:solidFill>
                  <a:srgbClr val="222833"/>
                </a:solidFill>
                <a:latin typeface="Calibri"/>
              </a:rPr>
              <a:t>✓  One sublayer of a transformer block.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548640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51206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50" b="0" i="0">
                <a:solidFill>
                  <a:srgbClr val="222833"/>
                </a:solidFill>
                <a:latin typeface="Calibri"/>
              </a:rPr>
              <a:t>✓  Content-addressable: scores come from Q·K similarity.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69080"/>
            <a:ext cx="548640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512064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50" b="0" i="0">
                <a:solidFill>
                  <a:srgbClr val="222833"/>
                </a:solidFill>
                <a:latin typeface="Calibri"/>
              </a:rPr>
              <a:t>✓  Permutation-equivariant without positional info.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23160"/>
            <a:ext cx="530352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468880"/>
            <a:ext cx="493776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50" b="0" i="0">
                <a:solidFill>
                  <a:srgbClr val="222833"/>
                </a:solidFill>
                <a:latin typeface="Calibri"/>
              </a:rPr>
              <a:t>✗  The feed-forward network (separate sublayer).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71800"/>
            <a:ext cx="530352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017520"/>
            <a:ext cx="493776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50" b="0" i="0">
                <a:solidFill>
                  <a:srgbClr val="222833"/>
                </a:solidFill>
                <a:latin typeface="Calibri"/>
              </a:rPr>
              <a:t>✗  Positional encoding (added separately to X).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520440"/>
            <a:ext cx="530352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566160"/>
            <a:ext cx="493776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50" b="0" i="0">
                <a:solidFill>
                  <a:srgbClr val="222833"/>
                </a:solidFill>
                <a:latin typeface="Calibri"/>
              </a:rPr>
              <a:t>✗  The full transformer stack (many blocks).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069080"/>
            <a:ext cx="530352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114800"/>
            <a:ext cx="4937760" cy="4114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50" b="0" i="0">
                <a:solidFill>
                  <a:srgbClr val="222833"/>
                </a:solidFill>
                <a:latin typeface="Calibri"/>
              </a:rPr>
              <a:t>✗  A training method or an optimization trick.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138928"/>
            <a:ext cx="10607040" cy="3200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1100" b="1" i="0">
                <a:solidFill>
                  <a:srgbClr val="E9A23B"/>
                </a:solidFill>
                <a:latin typeface="Calibri"/>
              </a:rPr>
              <a:t>RECAP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13248"/>
            <a:ext cx="10607040" cy="7315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X → Q,K,V → scores = Q·Kᵀ/√d_k → row-wise softmax → weights·V = head_output; heads run in parallel, concat, project with W_O; add residual + LayerNorm; this is one sublayer of a transformer block — not the whole model.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900" b="0" i="0">
                <a:solidFill>
                  <a:srgbClr val="808895"/>
                </a:solidFill>
                <a:latin typeface="Calibri"/>
              </a:rPr>
              <a:t>Transformer Self-Attention — Technical Explainer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r"/>
            <a:r>
              <a:rPr sz="900" b="0" i="0">
                <a:solidFill>
                  <a:srgbClr val="808895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
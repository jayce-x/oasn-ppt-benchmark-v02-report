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Monthly revenue momentum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B968F"/>
            </a:solidFill>
          </c:spPr>
          <c:cat>
            <c:strRef>
              <c:f>Sheet1!$A$2:$A$4</c:f>
              <c:strCache>
                <c:ptCount val="3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205450</c:v>
                </c:pt>
                <c:pt idx="1">
                  <c:v>271600</c:v>
                </c:pt>
                <c:pt idx="2">
                  <c:v>349675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6949440" cy="38404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0A1F33"/>
                </a:solidFill>
                <a:latin typeface="Aptos"/>
              </a:rPr>
              <a:t>Q2 Growth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6583680" cy="22860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950" b="0">
                <a:solidFill>
                  <a:srgbClr val="4F5B6D"/>
                </a:solidFill>
                <a:latin typeface="Aptos"/>
              </a:rPr>
              <a:t>Executive dashboard | Apr-Jun 2026 | source: slide 1 raw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24128"/>
            <a:ext cx="242316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73152" cy="1115568"/>
          </a:xfrm>
          <a:prstGeom prst="rect">
            <a:avLst/>
          </a:prstGeom>
          <a:solidFill>
            <a:srgbClr val="1B968F"/>
          </a:solidFill>
          <a:ln>
            <a:solidFill>
              <a:srgbClr val="1B9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152144"/>
            <a:ext cx="2112264" cy="2011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4F5B6D"/>
                </a:solidFill>
                <a:latin typeface="Aptos"/>
              </a:rPr>
              <a:t>TOTAL Q2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408176"/>
            <a:ext cx="2112264" cy="32004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0A1F33"/>
                </a:solidFill>
                <a:latin typeface="Aptos"/>
              </a:rPr>
              <a:t>$826,725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810512"/>
            <a:ext cx="2112264" cy="2743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50" b="0">
                <a:solidFill>
                  <a:srgbClr val="5E6C84"/>
                </a:solidFill>
                <a:latin typeface="Aptos"/>
              </a:rPr>
              <a:t>Apr-Jun recognized revenue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81528" y="1024128"/>
            <a:ext cx="242316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81528" y="1024128"/>
            <a:ext cx="73152" cy="1115568"/>
          </a:xfrm>
          <a:prstGeom prst="rect">
            <a:avLst/>
          </a:prstGeom>
          <a:solidFill>
            <a:srgbClr val="F1A72B"/>
          </a:solidFill>
          <a:ln>
            <a:solidFill>
              <a:srgbClr val="F1A7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82696" y="1152144"/>
            <a:ext cx="2112264" cy="2011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4F5B6D"/>
                </a:solidFill>
                <a:latin typeface="Aptos"/>
              </a:rPr>
              <a:t>PAID CONVERSIONS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82696" y="1408176"/>
            <a:ext cx="2112264" cy="32004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0A1F33"/>
                </a:solidFill>
                <a:latin typeface="Aptos"/>
              </a:rPr>
              <a:t>4,020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82696" y="1810512"/>
            <a:ext cx="2112264" cy="2743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50" b="0">
                <a:solidFill>
                  <a:srgbClr val="5E6C84"/>
                </a:solidFill>
                <a:latin typeface="Aptos"/>
              </a:rPr>
              <a:t>All paid attributed conversions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0136" y="1024128"/>
            <a:ext cx="242316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0136" y="1024128"/>
            <a:ext cx="73152" cy="1115568"/>
          </a:xfrm>
          <a:prstGeom prst="rect">
            <a:avLst/>
          </a:prstGeom>
          <a:solidFill>
            <a:srgbClr val="0A1F33"/>
          </a:solidFill>
          <a:ln>
            <a:solidFill>
              <a:srgbClr val="0A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61304" y="1152144"/>
            <a:ext cx="2112264" cy="2011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4F5B6D"/>
                </a:solidFill>
                <a:latin typeface="Aptos"/>
              </a:rPr>
              <a:t>BLENDED CAC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1304" y="1408176"/>
            <a:ext cx="2112264" cy="32004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0A1F33"/>
                </a:solidFill>
                <a:latin typeface="Aptos"/>
              </a:rPr>
              <a:t>$29.6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61304" y="1810512"/>
            <a:ext cx="2112264" cy="2743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50" b="0">
                <a:solidFill>
                  <a:srgbClr val="5E6C84"/>
                </a:solidFill>
                <a:latin typeface="Aptos"/>
              </a:rPr>
              <a:t>Total ad spend / paid conv.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530352" y="2487168"/>
          <a:ext cx="3840480" cy="2057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617720" y="2423160"/>
          <a:ext cx="40690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816"/>
                <a:gridCol w="813816"/>
                <a:gridCol w="813816"/>
                <a:gridCol w="813816"/>
                <a:gridCol w="813816"/>
              </a:tblGrid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Channel</a:t>
                      </a:r>
                    </a:p>
                  </a:txBody>
                  <a:tcPr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Revenue</a:t>
                      </a:r>
                    </a:p>
                  </a:txBody>
                  <a:tcPr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Paid conv.</a:t>
                      </a:r>
                    </a:p>
                  </a:txBody>
                  <a:tcPr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CAC</a:t>
                      </a:r>
                    </a:p>
                  </a:txBody>
                  <a:tcPr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M30 ret.</a:t>
                      </a:r>
                    </a:p>
                  </a:txBody>
                  <a:tcPr>
                    <a:solidFill>
                      <a:srgbClr val="0A1F33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Search</a:t>
                      </a:r>
                    </a:p>
                  </a:txBody>
                  <a:tcPr>
                    <a:solidFill>
                      <a:srgbClr val="5B73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01828"/>
                          </a:solidFill>
                          <a:latin typeface="Aptos"/>
                        </a:rPr>
                        <a:t>$248K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01828"/>
                          </a:solidFill>
                          <a:latin typeface="Aptos"/>
                        </a:rPr>
                        <a:t>1,295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01828"/>
                          </a:solidFill>
                          <a:latin typeface="Aptos"/>
                        </a:rPr>
                        <a:t>$27.5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01828"/>
                          </a:solidFill>
                          <a:latin typeface="Aptos"/>
                        </a:rPr>
                        <a:t>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Paid Social</a:t>
                      </a:r>
                    </a:p>
                  </a:txBody>
                  <a:tcPr>
                    <a:solidFill>
                      <a:srgbClr val="CC4C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01828"/>
                          </a:solidFill>
                          <a:latin typeface="Aptos"/>
                        </a:rPr>
                        <a:t>$181K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01828"/>
                          </a:solidFill>
                          <a:latin typeface="Aptos"/>
                        </a:rPr>
                        <a:t>945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01828"/>
                          </a:solidFill>
                          <a:latin typeface="Aptos"/>
                        </a:rPr>
                        <a:t>$63.9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01828"/>
                          </a:solidFill>
                          <a:latin typeface="Aptos"/>
                        </a:rPr>
                        <a:t>74%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Referral</a:t>
                      </a:r>
                    </a:p>
                  </a:txBody>
                  <a:tcPr>
                    <a:solidFill>
                      <a:srgbClr val="1B96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01828"/>
                          </a:solidFill>
                          <a:latin typeface="Aptos"/>
                        </a:rPr>
                        <a:t>$239K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01828"/>
                          </a:solidFill>
                          <a:latin typeface="Aptos"/>
                        </a:rPr>
                        <a:t>1,085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01828"/>
                          </a:solidFill>
                          <a:latin typeface="Aptos"/>
                        </a:rPr>
                        <a:t>$8.1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01828"/>
                          </a:solidFill>
                          <a:latin typeface="Aptos"/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Partner</a:t>
                      </a:r>
                    </a:p>
                  </a:txBody>
                  <a:tcPr>
                    <a:solidFill>
                      <a:srgbClr val="F1A7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01828"/>
                          </a:solidFill>
                          <a:latin typeface="Aptos"/>
                        </a:rPr>
                        <a:t>$159K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01828"/>
                          </a:solidFill>
                          <a:latin typeface="Aptos"/>
                        </a:rPr>
                        <a:t>695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01828"/>
                          </a:solidFill>
                          <a:latin typeface="Aptos"/>
                        </a:rPr>
                        <a:t>$20.4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01828"/>
                          </a:solidFill>
                          <a:latin typeface="Aptos"/>
                        </a:rPr>
                        <a:t>88%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530352" y="4800600"/>
            <a:ext cx="815644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919472"/>
            <a:ext cx="7680960" cy="40233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220" b="1">
                <a:solidFill>
                  <a:srgbClr val="0A1F33"/>
                </a:solidFill>
                <a:latin typeface="Aptos"/>
              </a:rPr>
              <a:t>Recommendation: scale Referral first, keep Search funded, fix Paid Social economics before expansion, and use Partner's June acceleration as the next enablement motion.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5650992"/>
            <a:ext cx="8046720" cy="2011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19" b="0">
                <a:solidFill>
                  <a:srgbClr val="4F5B6D"/>
                </a:solidFill>
                <a:latin typeface="Aptos"/>
              </a:rPr>
              <a:t>Evidence: Referral combines high revenue efficiency ($8.1 CAC) with best M30 retention (90%); Paid Social has volume but the highest CAC ($63.9) and lowest retention (74%).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Brand / dashboard style guardrail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1463040" cy="777240"/>
          </a:xfrm>
          <a:prstGeom prst="roundRect">
            <a:avLst/>
          </a:prstGeom>
          <a:solidFill>
            <a:srgbClr val="122334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3E4854"/>
                </a:solidFill>
              </a:rPr>
              <a:t>Navy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600200"/>
            <a:ext cx="1463040" cy="777240"/>
          </a:xfrm>
          <a:prstGeom prst="roundRect">
            <a:avLst/>
          </a:prstGeom>
          <a:solidFill>
            <a:srgbClr val="00847D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251460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3E4854"/>
                </a:solidFill>
              </a:rPr>
              <a:t>Teal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1600200"/>
            <a:ext cx="1463040" cy="777240"/>
          </a:xfrm>
          <a:prstGeom prst="roundRect">
            <a:avLst/>
          </a:prstGeom>
          <a:solidFill>
            <a:srgbClr val="EEA83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251460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3E4854"/>
                </a:solidFill>
              </a:rPr>
              <a:t>Amber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600200"/>
            <a:ext cx="1463040" cy="777240"/>
          </a:xfrm>
          <a:prstGeom prst="roundRect">
            <a:avLst/>
          </a:prstGeom>
          <a:solidFill>
            <a:srgbClr val="CD494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251460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3E4854"/>
                </a:solidFill>
              </a:rPr>
              <a:t>Risk 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20" y="1600200"/>
            <a:ext cx="1463040" cy="777240"/>
          </a:xfrm>
          <a:prstGeom prst="roundRect">
            <a:avLst/>
          </a:prstGeom>
          <a:solidFill>
            <a:srgbClr val="F2F5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46920" y="251460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3E4854"/>
                </a:solidFill>
              </a:rPr>
              <a:t>Canvas Gray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46120"/>
            <a:ext cx="107899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22334"/>
                </a:solidFill>
              </a:defRPr>
            </a:pPr>
            <a:r>
              <a:t>Use a clean SaaS executive-review style: compact KPI cards, readable native charts, visible units, clear channel colors, and concise takeaway annotations. Avoid decorative gradients, tiny labels, and screenshot-only charts.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334"/>
                </a:solidFill>
              </a:rPr>
              <a:t>Appendix: definitions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106984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37160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00847D"/>
                </a:solidFill>
              </a:rPr>
              <a:t>Revenue: </a:t>
            </a:r>
            <a:r>
              <a:rPr sz="1300">
                <a:solidFill>
                  <a:srgbClr val="3E4854"/>
                </a:solidFill>
              </a:rPr>
              <a:t>Recognized revenue from paid conversions in the month.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106984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00847D"/>
                </a:solidFill>
              </a:rPr>
              <a:t>Ad Spend: </a:t>
            </a:r>
            <a:r>
              <a:rPr sz="1300">
                <a:solidFill>
                  <a:srgbClr val="3E4854"/>
                </a:solidFill>
              </a:rPr>
              <a:t>Channel-specific acquisition spend for the month.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46120"/>
            <a:ext cx="106984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3832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00847D"/>
                </a:solidFill>
              </a:rPr>
              <a:t>Paid Conv.: </a:t>
            </a:r>
            <a:r>
              <a:rPr sz="1300">
                <a:solidFill>
                  <a:srgbClr val="3E4854"/>
                </a:solidFill>
              </a:rPr>
              <a:t>Number of paid conversions attributed to the channel.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51960"/>
            <a:ext cx="106984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38912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00847D"/>
                </a:solidFill>
              </a:rPr>
              <a:t>M30 Ret.: </a:t>
            </a:r>
            <a:r>
              <a:rPr sz="1300">
                <a:solidFill>
                  <a:srgbClr val="3E4854"/>
                </a:solidFill>
              </a:rPr>
              <a:t>Percent of paid customers retained 30 days after conversion.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
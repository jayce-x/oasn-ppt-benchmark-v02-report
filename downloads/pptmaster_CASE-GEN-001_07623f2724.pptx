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  <Relationship Id="rId17"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Fancy's Foods is positioned as a specialty dairy topping opportunity, not a generic dessert idea. The source anchors the pitch in 18 years of restaurant demand, four named flavors, two retail formats, and first-year projected profitability with 10.88% ROE.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 setup combines scale and growth. The PDF cites a $268 billion U.S. dairy market with 1.5-2% annual growth, and a $39 billion gourmet/specialty foods market that doubled since 1992 and was expected to continue double-digit growth through 2002.</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Whipped Dream differentiates through flavors and dairy positioning. The source lists chocolate, raspberry, cinnamon almond, and strawberry, with 21 days of refrigerated shelf life, up to six months frozen, and both tub and pressurized can formats.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validation base is unusually concrete for an early plan. The source names repeat dessert requests in the Beans' restaurants, retailer willingness from Pruett's IGA and Gardiner's Grocery, and Oklahoma State University support around label and packaging work.</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expansion plan sequences risk. Fancy's begins in Antlers and Hugo, uses the Made in Oklahoma Demonstration Program to enter Oklahoma City, and adds Tulsa later. The unit table comes directly from the income-statement assumptions.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dual-format strategy is source-backed. Local grocery data in the PDF shows 65% of national prepared topping sales in frozen tubs and 35% in pressurized cans, so the plan offers both rather than guessing one behavior.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gives the competitive wedge clearly. Kraft and Sara Lee have market share and distribution, but the plan says none of the mainstream brands market flavored topping and several are not dairy based.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manufacturing model starts with existing assets and adds a named co-packer. The restaurants provide the mixer, nitrous oxide tank, and freezer for frozen tubs, while Farm Fresh is contracted for six-ounce pressurized cans under legal protections.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financial story is profitable and scaling in the source case. Net sales rise from $240,450 in 1999 to $592,194 in 2001; net income after tax also rises, and year-one ratios include 10.88% ROE and a 2.73 current ratio.</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is framed without inventing a dollar amount. The PDF provides expansion needs and risk controls: a 90% trigger threshold, doubled local promotions, metro marketing specialists, cash-flow review, and price or cost review if returns fall short.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533400" y="514350"/>
            <a:ext cx="76200" cy="5829300"/>
          </a:xfrm>
          <a:prstGeom prst="rect">
            <a:avLst/>
          </a:prstGeom>
          <a:solidFill>
            <a:srgbClr val="2C8C6C"/>
          </a:solidFill>
          <a:ln>
            <a:noFill/>
          </a:ln>
        </p:spPr>
      </p:sp>
      <p:sp>
        <p:nvSpPr>
          <p:cNvPr id="4" name="Line 4"/>
          <p:cNvSpPr/>
          <p:nvPr/>
        </p:nvSpPr>
        <p:spPr>
          <a:xfrm>
            <a:off x="857250" y="838200"/>
            <a:ext cx="10287000" cy="9525"/>
          </a:xfrm>
          <a:custGeom>
            <a:avLst/>
            <a:gdLst/>
            <a:ahLst/>
            <a:cxnLst/>
            <a:rect l="l" t="t" r="r" b="b"/>
            <a:pathLst>
              <a:path w="10287000" h="9525">
                <a:moveTo>
                  <a:pt x="0" y="0"/>
                </a:moveTo>
                <a:lnTo>
                  <a:pt x="10287000" y="0"/>
                </a:lnTo>
              </a:path>
            </a:pathLst>
          </a:custGeom>
          <a:noFill/>
          <a:ln w="9525">
            <a:solidFill>
              <a:srgbClr val="D7DEE8"/>
            </a:solidFill>
          </a:ln>
        </p:spPr>
      </p:sp>
      <p:sp>
        <p:nvSpPr>
          <p:cNvPr id="5" name="TextBox 5"/>
          <p:cNvSpPr txBox="1"/>
          <p:nvPr/>
        </p:nvSpPr>
        <p:spPr>
          <a:xfrm>
            <a:off x="851535" y="507206"/>
            <a:ext cx="3147632" cy="220028"/>
          </a:xfrm>
          <a:prstGeom prst="rect">
            <a:avLst/>
          </a:prstGeom>
          <a:noFill/>
          <a:ln>
            <a:noFill/>
          </a:ln>
        </p:spPr>
        <p:txBody>
          <a:bodyPr wrap="none" lIns="0" tIns="0" rIns="0" bIns="0" anchor="t" anchorCtr="0">
            <a:spAutoFit/>
          </a:bodyPr>
          <a:lstStyle/>
          <a:p>
            <a:pPr algn="l"/>
            <a:r>
              <a:rPr lang="en-US" sz="1120" dirty="0">
                <a:solidFill>
                  <a:srgbClr val="5B677A"/>
                </a:solidFill>
                <a:latin typeface="Arial"/>
                <a:ea typeface="Arial"/>
                <a:cs typeface="Arial"/>
              </a:rPr>
              <a:t>CASE-GEN-001 / Fancy's Foods source PDF</a:t>
            </a:r>
          </a:p>
        </p:txBody>
      </p:sp>
      <p:sp>
        <p:nvSpPr>
          <p:cNvPr id="6" name="TextBox 6"/>
          <p:cNvSpPr txBox="1"/>
          <p:nvPr/>
        </p:nvSpPr>
        <p:spPr>
          <a:xfrm>
            <a:off x="838200" y="1055370"/>
            <a:ext cx="5258753" cy="4171950"/>
          </a:xfrm>
          <a:prstGeom prst="rect">
            <a:avLst/>
          </a:prstGeom>
          <a:noFill/>
          <a:ln>
            <a:noFill/>
          </a:ln>
        </p:spPr>
        <p:txBody>
          <a:bodyPr wrap="square" lIns="0" tIns="0" rIns="0" bIns="0" anchor="t" anchorCtr="0"/>
          <a:lstStyle/>
          <a:p>
            <a:pPr algn="l">
              <a:lnSpc>
                <a:spcPts val="6150"/>
              </a:lnSpc>
            </a:pPr>
            <a:r>
              <a:rPr lang="en-US" sz="5400" b="1" dirty="0">
                <a:solidFill>
                  <a:srgbClr val="0B2E4A"/>
                </a:solidFill>
                <a:latin typeface="Arial"/>
                <a:ea typeface="Arial"/>
                <a:cs typeface="Arial"/>
              </a:rPr>
              <a:t xml:space="preserve">Fancy's Foods </a:t>
            </a:r>
            <a:r>
              <a:rPr lang="en-US" sz="5400" b="1" dirty="0">
                <a:solidFill>
                  <a:srgbClr val="0B2E4A"/>
                </a:solidFill>
                <a:latin typeface="Arial"/>
                <a:ea typeface="Arial"/>
                <a:cs typeface="Arial"/>
              </a:rPr>
              <a:t xml:space="preserve">turns dessert </a:t>
            </a:r>
            <a:r>
              <a:rPr lang="en-US" sz="5400" b="1" dirty="0">
                <a:solidFill>
                  <a:srgbClr val="0B2E4A"/>
                </a:solidFill>
                <a:latin typeface="Arial"/>
                <a:ea typeface="Arial"/>
                <a:cs typeface="Arial"/>
              </a:rPr>
              <a:t xml:space="preserve">demand into a </a:t>
            </a:r>
            <a:r>
              <a:rPr lang="en-US" sz="5400" b="1" dirty="0">
                <a:solidFill>
                  <a:srgbClr val="0B2E4A"/>
                </a:solidFill>
                <a:latin typeface="Arial"/>
                <a:ea typeface="Arial"/>
                <a:cs typeface="Arial"/>
              </a:rPr>
              <a:t xml:space="preserve">specialty dairy </a:t>
            </a:r>
            <a:r>
              <a:rPr lang="en-US" sz="5400" b="1" dirty="0">
                <a:solidFill>
                  <a:srgbClr val="0B2E4A"/>
                </a:solidFill>
                <a:latin typeface="Arial"/>
                <a:ea typeface="Arial"/>
                <a:cs typeface="Arial"/>
              </a:rPr>
              <a:t>brand</a:t>
            </a:r>
          </a:p>
        </p:txBody>
      </p:sp>
      <p:sp>
        <p:nvSpPr>
          <p:cNvPr id="7" name="TextBox 7"/>
          <p:cNvSpPr txBox="1"/>
          <p:nvPr/>
        </p:nvSpPr>
        <p:spPr>
          <a:xfrm>
            <a:off x="845820" y="5281612"/>
            <a:ext cx="5609272" cy="811530"/>
          </a:xfrm>
          <a:prstGeom prst="rect">
            <a:avLst/>
          </a:prstGeom>
          <a:noFill/>
          <a:ln>
            <a:noFill/>
          </a:ln>
        </p:spPr>
        <p:txBody>
          <a:bodyPr wrap="square" lIns="0" tIns="0" rIns="0" bIns="0" anchor="t" anchorCtr="0"/>
          <a:lstStyle/>
          <a:p>
            <a:pPr algn="l">
              <a:lnSpc>
                <a:spcPts val="2925"/>
              </a:lnSpc>
            </a:pPr>
            <a:r>
              <a:rPr lang="en-US" sz="2250" dirty="0">
                <a:solidFill>
                  <a:srgbClr val="111827"/>
                </a:solidFill>
                <a:latin typeface="Arial"/>
                <a:ea typeface="Arial"/>
                <a:cs typeface="Arial"/>
              </a:rPr>
              <a:t xml:space="preserve">Whipped Dream converts 18 years of </a:t>
            </a:r>
            <a:r>
              <a:rPr lang="en-US" sz="2250" dirty="0">
                <a:solidFill>
                  <a:srgbClr val="111827"/>
                </a:solidFill>
                <a:latin typeface="Arial"/>
                <a:ea typeface="Arial"/>
                <a:cs typeface="Arial"/>
              </a:rPr>
              <a:t>restaurant pull into a retail-ready line.</a:t>
            </a:r>
          </a:p>
        </p:txBody>
      </p:sp>
      <p:sp>
        <p:nvSpPr>
          <p:cNvPr id="8" name="Rectangle 8"/>
          <p:cNvSpPr/>
          <p:nvPr/>
        </p:nvSpPr>
        <p:spPr>
          <a:xfrm>
            <a:off x="7667625" y="1466850"/>
            <a:ext cx="3143250" cy="990600"/>
          </a:xfrm>
          <a:prstGeom prst="rect">
            <a:avLst/>
          </a:prstGeom>
          <a:solidFill>
            <a:srgbClr val="F4F7FA"/>
          </a:solidFill>
          <a:ln w="9525">
            <a:solidFill>
              <a:srgbClr val="D7DEE8"/>
            </a:solidFill>
          </a:ln>
        </p:spPr>
      </p:sp>
      <p:sp>
        <p:nvSpPr>
          <p:cNvPr id="9" name="TextBox 9"/>
          <p:cNvSpPr txBox="1"/>
          <p:nvPr/>
        </p:nvSpPr>
        <p:spPr>
          <a:xfrm>
            <a:off x="7879842" y="1683068"/>
            <a:ext cx="1936468" cy="264033"/>
          </a:xfrm>
          <a:prstGeom prst="rect">
            <a:avLst/>
          </a:prstGeom>
          <a:noFill/>
          <a:ln>
            <a:noFill/>
          </a:ln>
        </p:spPr>
        <p:txBody>
          <a:bodyPr wrap="none" lIns="0" tIns="0" rIns="0" bIns="0" anchor="t" anchorCtr="0">
            <a:spAutoFit/>
          </a:bodyPr>
          <a:lstStyle/>
          <a:p>
            <a:pPr algn="l"/>
            <a:r>
              <a:rPr lang="en-US" sz="1350" dirty="0">
                <a:solidFill>
                  <a:srgbClr val="5B677A"/>
                </a:solidFill>
                <a:latin typeface="Arial"/>
                <a:ea typeface="Arial"/>
                <a:cs typeface="Arial"/>
              </a:rPr>
              <a:t>Restaurant validation</a:t>
            </a:r>
          </a:p>
        </p:txBody>
      </p:sp>
      <p:sp>
        <p:nvSpPr>
          <p:cNvPr id="10" name="TextBox 10"/>
          <p:cNvSpPr txBox="1"/>
          <p:nvPr/>
        </p:nvSpPr>
        <p:spPr>
          <a:xfrm>
            <a:off x="7867650" y="1851660"/>
            <a:ext cx="2501848" cy="819150"/>
          </a:xfrm>
          <a:prstGeom prst="rect">
            <a:avLst/>
          </a:prstGeom>
          <a:noFill/>
          <a:ln>
            <a:noFill/>
          </a:ln>
        </p:spPr>
        <p:txBody>
          <a:bodyPr wrap="none" lIns="0" tIns="0" rIns="0" bIns="0" anchor="t" anchorCtr="0">
            <a:spAutoFit/>
          </a:bodyPr>
          <a:lstStyle/>
          <a:p>
            <a:pPr algn="l"/>
            <a:r>
              <a:rPr lang="en-US" sz="4200" b="1" dirty="0">
                <a:solidFill>
                  <a:srgbClr val="0B2E4A"/>
                </a:solidFill>
                <a:latin typeface="Arial"/>
                <a:ea typeface="Arial"/>
                <a:cs typeface="Arial"/>
              </a:rPr>
              <a:t>18 years</a:t>
            </a:r>
          </a:p>
        </p:txBody>
      </p:sp>
      <p:sp>
        <p:nvSpPr>
          <p:cNvPr id="11" name="Rectangle 11"/>
          <p:cNvSpPr/>
          <p:nvPr/>
        </p:nvSpPr>
        <p:spPr>
          <a:xfrm>
            <a:off x="7667625" y="2800350"/>
            <a:ext cx="3143250" cy="990600"/>
          </a:xfrm>
          <a:prstGeom prst="rect">
            <a:avLst/>
          </a:prstGeom>
          <a:solidFill>
            <a:srgbClr val="F4F7FA"/>
          </a:solidFill>
          <a:ln w="9525">
            <a:solidFill>
              <a:srgbClr val="D7DEE8"/>
            </a:solidFill>
          </a:ln>
        </p:spPr>
      </p:sp>
      <p:sp>
        <p:nvSpPr>
          <p:cNvPr id="12" name="TextBox 12"/>
          <p:cNvSpPr txBox="1"/>
          <p:nvPr/>
        </p:nvSpPr>
        <p:spPr>
          <a:xfrm>
            <a:off x="7879842" y="3016568"/>
            <a:ext cx="1383944" cy="264033"/>
          </a:xfrm>
          <a:prstGeom prst="rect">
            <a:avLst/>
          </a:prstGeom>
          <a:noFill/>
          <a:ln>
            <a:noFill/>
          </a:ln>
        </p:spPr>
        <p:txBody>
          <a:bodyPr wrap="none" lIns="0" tIns="0" rIns="0" bIns="0" anchor="t" anchorCtr="0">
            <a:spAutoFit/>
          </a:bodyPr>
          <a:lstStyle/>
          <a:p>
            <a:pPr algn="l"/>
            <a:r>
              <a:rPr lang="en-US" sz="1350" dirty="0">
                <a:solidFill>
                  <a:srgbClr val="5B677A"/>
                </a:solidFill>
                <a:latin typeface="Arial"/>
                <a:ea typeface="Arial"/>
                <a:cs typeface="Arial"/>
              </a:rPr>
              <a:t>First-year ROE</a:t>
            </a:r>
          </a:p>
        </p:txBody>
      </p:sp>
      <p:sp>
        <p:nvSpPr>
          <p:cNvPr id="13" name="TextBox 13"/>
          <p:cNvSpPr txBox="1"/>
          <p:nvPr/>
        </p:nvSpPr>
        <p:spPr>
          <a:xfrm>
            <a:off x="7867650" y="3185160"/>
            <a:ext cx="2115960" cy="819150"/>
          </a:xfrm>
          <a:prstGeom prst="rect">
            <a:avLst/>
          </a:prstGeom>
          <a:noFill/>
          <a:ln>
            <a:noFill/>
          </a:ln>
        </p:spPr>
        <p:txBody>
          <a:bodyPr wrap="none" lIns="0" tIns="0" rIns="0" bIns="0" anchor="t" anchorCtr="0">
            <a:spAutoFit/>
          </a:bodyPr>
          <a:lstStyle/>
          <a:p>
            <a:pPr algn="l"/>
            <a:r>
              <a:rPr lang="en-US" sz="4200" b="1" dirty="0">
                <a:solidFill>
                  <a:srgbClr val="2C8C6C"/>
                </a:solidFill>
                <a:latin typeface="Arial"/>
                <a:ea typeface="Arial"/>
                <a:cs typeface="Arial"/>
              </a:rPr>
              <a:t>10.88%</a:t>
            </a:r>
          </a:p>
        </p:txBody>
      </p:sp>
      <p:sp>
        <p:nvSpPr>
          <p:cNvPr id="14" name="Rectangle 14"/>
          <p:cNvSpPr/>
          <p:nvPr/>
        </p:nvSpPr>
        <p:spPr>
          <a:xfrm>
            <a:off x="7667625" y="4133850"/>
            <a:ext cx="3143250" cy="990600"/>
          </a:xfrm>
          <a:prstGeom prst="rect">
            <a:avLst/>
          </a:prstGeom>
          <a:solidFill>
            <a:srgbClr val="F4F7FA"/>
          </a:solidFill>
          <a:ln w="9525">
            <a:solidFill>
              <a:srgbClr val="D7DEE8"/>
            </a:solidFill>
          </a:ln>
        </p:spPr>
      </p:sp>
      <p:sp>
        <p:nvSpPr>
          <p:cNvPr id="15" name="TextBox 15"/>
          <p:cNvSpPr txBox="1"/>
          <p:nvPr/>
        </p:nvSpPr>
        <p:spPr>
          <a:xfrm>
            <a:off x="7879842" y="4350068"/>
            <a:ext cx="1464367" cy="264033"/>
          </a:xfrm>
          <a:prstGeom prst="rect">
            <a:avLst/>
          </a:prstGeom>
          <a:noFill/>
          <a:ln>
            <a:noFill/>
          </a:ln>
        </p:spPr>
        <p:txBody>
          <a:bodyPr wrap="none" lIns="0" tIns="0" rIns="0" bIns="0" anchor="t" anchorCtr="0">
            <a:spAutoFit/>
          </a:bodyPr>
          <a:lstStyle/>
          <a:p>
            <a:pPr algn="l"/>
            <a:r>
              <a:rPr lang="en-US" sz="1350" dirty="0">
                <a:solidFill>
                  <a:srgbClr val="5B677A"/>
                </a:solidFill>
                <a:latin typeface="Arial"/>
                <a:ea typeface="Arial"/>
                <a:cs typeface="Arial"/>
              </a:rPr>
              <a:t>Formats planned</a:t>
            </a:r>
          </a:p>
        </p:txBody>
      </p:sp>
      <p:sp>
        <p:nvSpPr>
          <p:cNvPr id="16" name="TextBox 16"/>
          <p:cNvSpPr txBox="1"/>
          <p:nvPr/>
        </p:nvSpPr>
        <p:spPr>
          <a:xfrm>
            <a:off x="7867650" y="4518660"/>
            <a:ext cx="364621" cy="819150"/>
          </a:xfrm>
          <a:prstGeom prst="rect">
            <a:avLst/>
          </a:prstGeom>
          <a:noFill/>
          <a:ln>
            <a:noFill/>
          </a:ln>
        </p:spPr>
        <p:txBody>
          <a:bodyPr wrap="none" lIns="0" tIns="0" rIns="0" bIns="0" anchor="t" anchorCtr="0">
            <a:spAutoFit/>
          </a:bodyPr>
          <a:lstStyle/>
          <a:p>
            <a:pPr algn="l"/>
            <a:r>
              <a:rPr lang="en-US" sz="4200" b="1" dirty="0">
                <a:solidFill>
                  <a:srgbClr val="D9A441"/>
                </a:solidFill>
                <a:latin typeface="Arial"/>
                <a:ea typeface="Arial"/>
                <a:cs typeface="Arial"/>
              </a:rPr>
              <a:t>2</a:t>
            </a:r>
          </a:p>
        </p:txBody>
      </p:sp>
      <p:sp>
        <p:nvSpPr>
          <p:cNvPr id="17" name="TextBox 17"/>
          <p:cNvSpPr txBox="1"/>
          <p:nvPr/>
        </p:nvSpPr>
        <p:spPr>
          <a:xfrm>
            <a:off x="8561832" y="4745355"/>
            <a:ext cx="1995303" cy="410718"/>
          </a:xfrm>
          <a:prstGeom prst="rect">
            <a:avLst/>
          </a:prstGeom>
          <a:noFill/>
          <a:ln>
            <a:noFill/>
          </a:ln>
        </p:spPr>
        <p:txBody>
          <a:bodyPr wrap="none" lIns="0" tIns="0" rIns="0" bIns="0" anchor="t" anchorCtr="0">
            <a:spAutoFit/>
          </a:bodyPr>
          <a:lstStyle/>
          <a:p>
            <a:pPr algn="l"/>
            <a:r>
              <a:rPr lang="en-US" sz="2100" b="1" dirty="0">
                <a:solidFill>
                  <a:srgbClr val="111827"/>
                </a:solidFill>
                <a:latin typeface="Arial"/>
                <a:ea typeface="Arial"/>
                <a:cs typeface="Arial"/>
              </a:rPr>
              <a:t>tubs and cans</a:t>
            </a:r>
          </a:p>
        </p:txBody>
      </p:sp>
      <p:sp>
        <p:nvSpPr>
          <p:cNvPr id="18" name="TextBox 18"/>
          <p:cNvSpPr txBox="1"/>
          <p:nvPr/>
        </p:nvSpPr>
        <p:spPr>
          <a:xfrm>
            <a:off x="7661910" y="5917406"/>
            <a:ext cx="3862275" cy="220028"/>
          </a:xfrm>
          <a:prstGeom prst="rect">
            <a:avLst/>
          </a:prstGeom>
          <a:noFill/>
          <a:ln>
            <a:noFill/>
          </a:ln>
        </p:spPr>
        <p:txBody>
          <a:bodyPr wrap="none" lIns="0" tIns="0" rIns="0" bIns="0" anchor="t" anchorCtr="0">
            <a:spAutoFit/>
          </a:bodyPr>
          <a:lstStyle/>
          <a:p>
            <a:pPr algn="l"/>
            <a:r>
              <a:rPr lang="en-US" sz="1120" dirty="0">
                <a:solidFill>
                  <a:srgbClr val="5B677A"/>
                </a:solidFill>
                <a:latin typeface="Arial"/>
                <a:ea typeface="Arial"/>
                <a:cs typeface="Arial"/>
              </a:rPr>
              <a:t>Source: SampleFoodBusinessPlanOklahomaState.pdf</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516636" y="234315"/>
            <a:ext cx="10638854" cy="1121664"/>
          </a:xfrm>
          <a:prstGeom prst="rect">
            <a:avLst/>
          </a:prstGeom>
          <a:noFill/>
          <a:ln>
            <a:noFill/>
          </a:ln>
        </p:spPr>
        <p:txBody>
          <a:bodyPr wrap="square" lIns="0" tIns="0" rIns="0" bIns="0" anchor="t" anchorCtr="0"/>
          <a:lstStyle/>
          <a:p>
            <a:pPr algn="l">
              <a:lnSpc>
                <a:spcPts val="3750"/>
              </a:lnSpc>
            </a:pPr>
            <a:r>
              <a:rPr lang="en-US" sz="3300" b="1" dirty="0">
                <a:solidFill>
                  <a:srgbClr val="0B2E4A"/>
                </a:solidFill>
                <a:latin typeface="Arial"/>
                <a:ea typeface="Arial"/>
                <a:cs typeface="Arial"/>
              </a:rPr>
              <a:t xml:space="preserve">The opportunity sits where a huge dairy category </a:t>
            </a:r>
            <a:r>
              <a:rPr lang="en-US" sz="3300" b="1" dirty="0">
                <a:solidFill>
                  <a:srgbClr val="0B2E4A"/>
                </a:solidFill>
                <a:latin typeface="Arial"/>
                <a:ea typeface="Arial"/>
                <a:cs typeface="Arial"/>
              </a:rPr>
              <a:t>meets faster specialty-food growth</a:t>
            </a:r>
          </a:p>
        </p:txBody>
      </p:sp>
      <p:sp>
        <p:nvSpPr>
          <p:cNvPr id="4" name="TextBox 4"/>
          <p:cNvSpPr txBox="1"/>
          <p:nvPr/>
        </p:nvSpPr>
        <p:spPr>
          <a:xfrm>
            <a:off x="521970" y="1109662"/>
            <a:ext cx="12326005" cy="440055"/>
          </a:xfrm>
          <a:prstGeom prst="rect">
            <a:avLst/>
          </a:prstGeom>
          <a:noFill/>
          <a:ln>
            <a:noFill/>
          </a:ln>
        </p:spPr>
        <p:txBody>
          <a:bodyPr wrap="none" lIns="0" tIns="0" rIns="0" bIns="0" anchor="t" anchorCtr="0">
            <a:spAutoFit/>
          </a:bodyPr>
          <a:lstStyle/>
          <a:p>
            <a:pPr algn="l"/>
            <a:r>
              <a:rPr lang="en-US" sz="2250" dirty="0">
                <a:solidFill>
                  <a:srgbClr val="111827"/>
                </a:solidFill>
                <a:latin typeface="Arial"/>
                <a:ea typeface="Arial"/>
                <a:cs typeface="Arial"/>
              </a:rPr>
              <a:t>Whipped Dream targets a large dairy base and a faster-growing specialty segment.</a:t>
            </a:r>
          </a:p>
        </p:txBody>
      </p:sp>
      <p:sp>
        <p:nvSpPr>
          <p:cNvPr id="5" name="Line 5"/>
          <p:cNvSpPr/>
          <p:nvPr/>
        </p:nvSpPr>
        <p:spPr>
          <a:xfrm>
            <a:off x="533400" y="1619250"/>
            <a:ext cx="11125200" cy="9525"/>
          </a:xfrm>
          <a:custGeom>
            <a:avLst/>
            <a:gdLst/>
            <a:ahLst/>
            <a:cxnLst/>
            <a:rect l="l" t="t" r="r" b="b"/>
            <a:pathLst>
              <a:path w="11125200" h="9525">
                <a:moveTo>
                  <a:pt x="0" y="0"/>
                </a:moveTo>
                <a:lnTo>
                  <a:pt x="11125200" y="0"/>
                </a:lnTo>
              </a:path>
            </a:pathLst>
          </a:custGeom>
          <a:noFill/>
          <a:ln w="9525">
            <a:solidFill>
              <a:srgbClr val="D7DEE8"/>
            </a:solidFill>
          </a:ln>
        </p:spPr>
      </p:sp>
      <p:grpSp>
        <p:nvGrpSpPr>
          <p:cNvPr id="19" name="Group 19"/>
          <p:cNvGrpSpPr/>
          <p:nvPr/>
        </p:nvGrpSpPr>
        <p:grpSpPr>
          <a:xfrm>
            <a:off x="1238250" y="1699260"/>
            <a:ext cx="7429512" cy="4263771"/>
            <a:chOff x="1238250" y="1699260"/>
            <a:chExt cx="7429512" cy="4263771"/>
          </a:xfrm>
        </p:grpSpPr>
        <p:sp>
          <p:nvSpPr>
            <p:cNvPr id="6" name="Line 6"/>
            <p:cNvSpPr/>
            <p:nvPr/>
          </p:nvSpPr>
          <p:spPr>
            <a:xfrm>
              <a:off x="1238250" y="5219700"/>
              <a:ext cx="6096000" cy="9525"/>
            </a:xfrm>
            <a:custGeom>
              <a:avLst/>
              <a:gdLst/>
              <a:ahLst/>
              <a:cxnLst/>
              <a:rect l="l" t="t" r="r" b="b"/>
              <a:pathLst>
                <a:path w="6096000" h="9525">
                  <a:moveTo>
                    <a:pt x="0" y="0"/>
                  </a:moveTo>
                  <a:lnTo>
                    <a:pt x="6096000" y="0"/>
                  </a:lnTo>
                </a:path>
              </a:pathLst>
            </a:custGeom>
            <a:noFill/>
            <a:ln w="19050">
              <a:solidFill>
                <a:srgbClr val="5B677A"/>
              </a:solidFill>
            </a:ln>
          </p:spPr>
        </p:sp>
        <p:sp>
          <p:nvSpPr>
            <p:cNvPr id="7" name="Line 7"/>
            <p:cNvSpPr/>
            <p:nvPr/>
          </p:nvSpPr>
          <p:spPr>
            <a:xfrm>
              <a:off x="1238250" y="2038350"/>
              <a:ext cx="9525" cy="3181350"/>
            </a:xfrm>
            <a:custGeom>
              <a:avLst/>
              <a:gdLst/>
              <a:ahLst/>
              <a:cxnLst/>
              <a:rect l="l" t="t" r="r" b="b"/>
              <a:pathLst>
                <a:path w="9525" h="3181350">
                  <a:moveTo>
                    <a:pt x="0" y="0"/>
                  </a:moveTo>
                  <a:lnTo>
                    <a:pt x="0" y="3181350"/>
                  </a:lnTo>
                </a:path>
              </a:pathLst>
            </a:custGeom>
            <a:noFill/>
            <a:ln w="19050">
              <a:solidFill>
                <a:srgbClr val="5B677A"/>
              </a:solidFill>
            </a:ln>
          </p:spPr>
        </p:sp>
        <p:sp>
          <p:nvSpPr>
            <p:cNvPr id="8" name="Line 8"/>
            <p:cNvSpPr/>
            <p:nvPr/>
          </p:nvSpPr>
          <p:spPr>
            <a:xfrm>
              <a:off x="1238250" y="4419600"/>
              <a:ext cx="6096000" cy="9525"/>
            </a:xfrm>
            <a:custGeom>
              <a:avLst/>
              <a:gdLst/>
              <a:ahLst/>
              <a:cxnLst/>
              <a:rect l="l" t="t" r="r" b="b"/>
              <a:pathLst>
                <a:path w="6096000" h="9525">
                  <a:moveTo>
                    <a:pt x="0" y="0"/>
                  </a:moveTo>
                  <a:lnTo>
                    <a:pt x="6096000" y="0"/>
                  </a:lnTo>
                </a:path>
              </a:pathLst>
            </a:custGeom>
            <a:noFill/>
            <a:ln w="9525">
              <a:solidFill>
                <a:srgbClr val="E8EDF3"/>
              </a:solidFill>
            </a:ln>
          </p:spPr>
        </p:sp>
        <p:sp>
          <p:nvSpPr>
            <p:cNvPr id="9" name="Line 9"/>
            <p:cNvSpPr/>
            <p:nvPr/>
          </p:nvSpPr>
          <p:spPr>
            <a:xfrm>
              <a:off x="1238250" y="3619500"/>
              <a:ext cx="6096000" cy="9525"/>
            </a:xfrm>
            <a:custGeom>
              <a:avLst/>
              <a:gdLst/>
              <a:ahLst/>
              <a:cxnLst/>
              <a:rect l="l" t="t" r="r" b="b"/>
              <a:pathLst>
                <a:path w="6096000" h="9525">
                  <a:moveTo>
                    <a:pt x="0" y="0"/>
                  </a:moveTo>
                  <a:lnTo>
                    <a:pt x="6096000" y="0"/>
                  </a:lnTo>
                </a:path>
              </a:pathLst>
            </a:custGeom>
            <a:noFill/>
            <a:ln w="9525">
              <a:solidFill>
                <a:srgbClr val="E8EDF3"/>
              </a:solidFill>
            </a:ln>
          </p:spPr>
        </p:sp>
        <p:sp>
          <p:nvSpPr>
            <p:cNvPr id="10" name="Line 10"/>
            <p:cNvSpPr/>
            <p:nvPr/>
          </p:nvSpPr>
          <p:spPr>
            <a:xfrm>
              <a:off x="1238250" y="2819400"/>
              <a:ext cx="6096000" cy="9525"/>
            </a:xfrm>
            <a:custGeom>
              <a:avLst/>
              <a:gdLst/>
              <a:ahLst/>
              <a:cxnLst/>
              <a:rect l="l" t="t" r="r" b="b"/>
              <a:pathLst>
                <a:path w="6096000" h="9525">
                  <a:moveTo>
                    <a:pt x="0" y="0"/>
                  </a:moveTo>
                  <a:lnTo>
                    <a:pt x="6096000" y="0"/>
                  </a:lnTo>
                </a:path>
              </a:pathLst>
            </a:custGeom>
            <a:noFill/>
            <a:ln w="9525">
              <a:solidFill>
                <a:srgbClr val="E8EDF3"/>
              </a:solidFill>
            </a:ln>
          </p:spPr>
        </p:sp>
        <p:sp>
          <p:nvSpPr>
            <p:cNvPr id="11" name="Rectangle 11"/>
            <p:cNvSpPr/>
            <p:nvPr/>
          </p:nvSpPr>
          <p:spPr>
            <a:xfrm>
              <a:off x="2266950" y="2266950"/>
              <a:ext cx="1219200" cy="2952750"/>
            </a:xfrm>
            <a:prstGeom prst="rect">
              <a:avLst/>
            </a:prstGeom>
            <a:solidFill>
              <a:srgbClr val="0B2E4A"/>
            </a:solidFill>
            <a:ln>
              <a:noFill/>
            </a:ln>
          </p:spPr>
        </p:sp>
        <p:sp>
          <p:nvSpPr>
            <p:cNvPr id="12" name="Rectangle 12"/>
            <p:cNvSpPr/>
            <p:nvPr/>
          </p:nvSpPr>
          <p:spPr>
            <a:xfrm>
              <a:off x="5000625" y="4791075"/>
              <a:ext cx="1219200" cy="428625"/>
            </a:xfrm>
            <a:prstGeom prst="rect">
              <a:avLst/>
            </a:prstGeom>
            <a:solidFill>
              <a:srgbClr val="2C8C6C"/>
            </a:solidFill>
            <a:ln>
              <a:noFill/>
            </a:ln>
          </p:spPr>
        </p:sp>
        <p:sp>
          <p:nvSpPr>
            <p:cNvPr id="13" name="TextBox 13"/>
            <p:cNvSpPr txBox="1"/>
            <p:nvPr/>
          </p:nvSpPr>
          <p:spPr>
            <a:xfrm>
              <a:off x="2247900" y="1699260"/>
              <a:ext cx="1763116" cy="819150"/>
            </a:xfrm>
            <a:prstGeom prst="rect">
              <a:avLst/>
            </a:prstGeom>
            <a:noFill/>
            <a:ln>
              <a:noFill/>
            </a:ln>
          </p:spPr>
          <p:txBody>
            <a:bodyPr wrap="none" lIns="0" tIns="0" rIns="0" bIns="0" anchor="t" anchorCtr="0">
              <a:spAutoFit/>
            </a:bodyPr>
            <a:lstStyle/>
            <a:p>
              <a:pPr algn="l"/>
              <a:r>
                <a:rPr lang="en-US" sz="4200" b="1" dirty="0">
                  <a:solidFill>
                    <a:srgbClr val="0B2E4A"/>
                  </a:solidFill>
                  <a:latin typeface="Arial"/>
                  <a:ea typeface="Arial"/>
                  <a:cs typeface="Arial"/>
                </a:rPr>
                <a:t>$268B</a:t>
              </a:r>
            </a:p>
          </p:txBody>
        </p:sp>
        <p:sp>
          <p:nvSpPr>
            <p:cNvPr id="14" name="TextBox 14"/>
            <p:cNvSpPr txBox="1"/>
            <p:nvPr/>
          </p:nvSpPr>
          <p:spPr>
            <a:xfrm>
              <a:off x="4981575" y="4213860"/>
              <a:ext cx="1418112" cy="819150"/>
            </a:xfrm>
            <a:prstGeom prst="rect">
              <a:avLst/>
            </a:prstGeom>
            <a:noFill/>
            <a:ln>
              <a:noFill/>
            </a:ln>
          </p:spPr>
          <p:txBody>
            <a:bodyPr wrap="none" lIns="0" tIns="0" rIns="0" bIns="0" anchor="t" anchorCtr="0">
              <a:spAutoFit/>
            </a:bodyPr>
            <a:lstStyle/>
            <a:p>
              <a:pPr algn="l"/>
              <a:r>
                <a:rPr lang="en-US" sz="4200" b="1" dirty="0">
                  <a:solidFill>
                    <a:srgbClr val="2C8C6C"/>
                  </a:solidFill>
                  <a:latin typeface="Arial"/>
                  <a:ea typeface="Arial"/>
                  <a:cs typeface="Arial"/>
                </a:rPr>
                <a:t>$39B</a:t>
              </a:r>
            </a:p>
          </p:txBody>
        </p:sp>
        <p:sp>
          <p:nvSpPr>
            <p:cNvPr id="15" name="TextBox 15"/>
            <p:cNvSpPr txBox="1"/>
            <p:nvPr/>
          </p:nvSpPr>
          <p:spPr>
            <a:xfrm>
              <a:off x="2079117" y="5426392"/>
              <a:ext cx="1707589" cy="264033"/>
            </a:xfrm>
            <a:prstGeom prst="rect">
              <a:avLst/>
            </a:prstGeom>
            <a:noFill/>
            <a:ln>
              <a:noFill/>
            </a:ln>
          </p:spPr>
          <p:txBody>
            <a:bodyPr wrap="none" lIns="0" tIns="0" rIns="0" bIns="0" anchor="t" anchorCtr="0">
              <a:spAutoFit/>
            </a:bodyPr>
            <a:lstStyle/>
            <a:p>
              <a:pPr algn="l"/>
              <a:r>
                <a:rPr lang="en-US" sz="1350" b="1" dirty="0">
                  <a:solidFill>
                    <a:srgbClr val="111827"/>
                  </a:solidFill>
                  <a:latin typeface="Arial"/>
                  <a:ea typeface="Arial"/>
                  <a:cs typeface="Arial"/>
                </a:rPr>
                <a:t>U.S. dairy market</a:t>
              </a:r>
            </a:p>
          </p:txBody>
        </p:sp>
        <p:sp>
          <p:nvSpPr>
            <p:cNvPr id="16" name="TextBox 16"/>
            <p:cNvSpPr txBox="1"/>
            <p:nvPr/>
          </p:nvSpPr>
          <p:spPr>
            <a:xfrm>
              <a:off x="4622292" y="5426392"/>
              <a:ext cx="2328908" cy="264033"/>
            </a:xfrm>
            <a:prstGeom prst="rect">
              <a:avLst/>
            </a:prstGeom>
            <a:noFill/>
            <a:ln>
              <a:noFill/>
            </a:ln>
          </p:spPr>
          <p:txBody>
            <a:bodyPr wrap="none" lIns="0" tIns="0" rIns="0" bIns="0" anchor="t" anchorCtr="0">
              <a:spAutoFit/>
            </a:bodyPr>
            <a:lstStyle/>
            <a:p>
              <a:pPr algn="l"/>
              <a:r>
                <a:rPr lang="en-US" sz="1350" b="1" dirty="0">
                  <a:solidFill>
                    <a:srgbClr val="111827"/>
                  </a:solidFill>
                  <a:latin typeface="Arial"/>
                  <a:ea typeface="Arial"/>
                  <a:cs typeface="Arial"/>
                </a:rPr>
                <a:t>Gourmet/specialty foods</a:t>
              </a:r>
            </a:p>
          </p:txBody>
        </p:sp>
        <p:sp>
          <p:nvSpPr>
            <p:cNvPr id="17" name="TextBox 17"/>
            <p:cNvSpPr txBox="1"/>
            <p:nvPr/>
          </p:nvSpPr>
          <p:spPr>
            <a:xfrm>
              <a:off x="1956054" y="5728335"/>
              <a:ext cx="2184959" cy="234696"/>
            </a:xfrm>
            <a:prstGeom prst="rect">
              <a:avLst/>
            </a:prstGeom>
            <a:noFill/>
            <a:ln>
              <a:noFill/>
            </a:ln>
          </p:spPr>
          <p:txBody>
            <a:bodyPr wrap="none" lIns="0" tIns="0" rIns="0" bIns="0" anchor="t" anchorCtr="0">
              <a:spAutoFit/>
            </a:bodyPr>
            <a:lstStyle/>
            <a:p>
              <a:pPr algn="l"/>
              <a:r>
                <a:rPr lang="en-US" sz="1200" dirty="0">
                  <a:solidFill>
                    <a:srgbClr val="5B677A"/>
                  </a:solidFill>
                  <a:latin typeface="Arial"/>
                  <a:ea typeface="Arial"/>
                  <a:cs typeface="Arial"/>
                </a:rPr>
                <a:t>1.5-2% annual growth cited</a:t>
              </a:r>
            </a:p>
          </p:txBody>
        </p:sp>
        <p:sp>
          <p:nvSpPr>
            <p:cNvPr id="18" name="TextBox 18"/>
            <p:cNvSpPr txBox="1"/>
            <p:nvPr/>
          </p:nvSpPr>
          <p:spPr>
            <a:xfrm>
              <a:off x="4756404" y="5728335"/>
              <a:ext cx="3911358" cy="234696"/>
            </a:xfrm>
            <a:prstGeom prst="rect">
              <a:avLst/>
            </a:prstGeom>
            <a:noFill/>
            <a:ln>
              <a:noFill/>
            </a:ln>
          </p:spPr>
          <p:txBody>
            <a:bodyPr wrap="none" lIns="0" tIns="0" rIns="0" bIns="0" anchor="t" anchorCtr="0">
              <a:spAutoFit/>
            </a:bodyPr>
            <a:lstStyle/>
            <a:p>
              <a:pPr algn="l"/>
              <a:r>
                <a:rPr lang="en-US" sz="1200" dirty="0">
                  <a:solidFill>
                    <a:srgbClr val="5B677A"/>
                  </a:solidFill>
                  <a:latin typeface="Arial"/>
                  <a:ea typeface="Arial"/>
                  <a:cs typeface="Arial"/>
                </a:rPr>
                <a:t>Doubled since 1992; double-digit growth expected</a:t>
              </a:r>
            </a:p>
          </p:txBody>
        </p:sp>
      </p:grpSp>
      <p:sp>
        <p:nvSpPr>
          <p:cNvPr id="20" name="Rectangle 20"/>
          <p:cNvSpPr/>
          <p:nvPr/>
        </p:nvSpPr>
        <p:spPr>
          <a:xfrm>
            <a:off x="8020050" y="2038350"/>
            <a:ext cx="3124200" cy="3181350"/>
          </a:xfrm>
          <a:prstGeom prst="rect">
            <a:avLst/>
          </a:prstGeom>
          <a:solidFill>
            <a:srgbClr val="F4F7FA"/>
          </a:solidFill>
          <a:ln w="9525">
            <a:solidFill>
              <a:srgbClr val="D7DEE8"/>
            </a:solidFill>
          </a:ln>
        </p:spPr>
      </p:sp>
      <p:sp>
        <p:nvSpPr>
          <p:cNvPr id="21" name="TextBox 21"/>
          <p:cNvSpPr txBox="1"/>
          <p:nvPr/>
        </p:nvSpPr>
        <p:spPr>
          <a:xfrm>
            <a:off x="8276082" y="2249805"/>
            <a:ext cx="2004614" cy="410718"/>
          </a:xfrm>
          <a:prstGeom prst="rect">
            <a:avLst/>
          </a:prstGeom>
          <a:noFill/>
          <a:ln>
            <a:noFill/>
          </a:ln>
        </p:spPr>
        <p:txBody>
          <a:bodyPr wrap="none" lIns="0" tIns="0" rIns="0" bIns="0" anchor="t" anchorCtr="0">
            <a:spAutoFit/>
          </a:bodyPr>
          <a:lstStyle/>
          <a:p>
            <a:pPr algn="l"/>
            <a:r>
              <a:rPr lang="en-US" sz="2100" b="1" dirty="0">
                <a:solidFill>
                  <a:srgbClr val="0B2E4A"/>
                </a:solidFill>
                <a:latin typeface="Arial"/>
                <a:ea typeface="Arial"/>
                <a:cs typeface="Arial"/>
              </a:rPr>
              <a:t>Investor read</a:t>
            </a:r>
          </a:p>
        </p:txBody>
      </p:sp>
      <p:sp>
        <p:nvSpPr>
          <p:cNvPr id="22" name="TextBox 22"/>
          <p:cNvSpPr txBox="1"/>
          <p:nvPr/>
        </p:nvSpPr>
        <p:spPr>
          <a:xfrm>
            <a:off x="8277606" y="2796540"/>
            <a:ext cx="3230118" cy="1647444"/>
          </a:xfrm>
          <a:prstGeom prst="rect">
            <a:avLst/>
          </a:prstGeom>
          <a:noFill/>
          <a:ln>
            <a:noFill/>
          </a:ln>
        </p:spPr>
        <p:txBody>
          <a:bodyPr wrap="square" lIns="0" tIns="0" rIns="0" bIns="0" anchor="t" anchorCtr="0"/>
          <a:lstStyle/>
          <a:p>
            <a:pPr algn="l">
              <a:lnSpc>
                <a:spcPts val="2550"/>
              </a:lnSpc>
            </a:pPr>
            <a:r>
              <a:rPr lang="en-US" sz="1800" dirty="0">
                <a:solidFill>
                  <a:srgbClr val="111827"/>
                </a:solidFill>
                <a:latin typeface="Arial"/>
                <a:ea typeface="Arial"/>
                <a:cs typeface="Arial"/>
              </a:rPr>
              <a:t xml:space="preserve">A specialty dairy topping </a:t>
            </a:r>
            <a:r>
              <a:rPr lang="en-US" sz="1800" dirty="0">
                <a:solidFill>
                  <a:srgbClr val="111827"/>
                </a:solidFill>
                <a:latin typeface="Arial"/>
                <a:ea typeface="Arial"/>
                <a:cs typeface="Arial"/>
              </a:rPr>
              <a:t xml:space="preserve">can borrow scale from dairy </a:t>
            </a:r>
            <a:r>
              <a:rPr lang="en-US" sz="1800" dirty="0">
                <a:solidFill>
                  <a:srgbClr val="111827"/>
                </a:solidFill>
                <a:latin typeface="Arial"/>
                <a:ea typeface="Arial"/>
                <a:cs typeface="Arial"/>
              </a:rPr>
              <a:t xml:space="preserve">while using flavor and </a:t>
            </a:r>
            <a:r>
              <a:rPr lang="en-US" sz="1800" dirty="0">
                <a:solidFill>
                  <a:srgbClr val="111827"/>
                </a:solidFill>
                <a:latin typeface="Arial"/>
                <a:ea typeface="Arial"/>
                <a:cs typeface="Arial"/>
              </a:rPr>
              <a:t xml:space="preserve">premium packaging to enter </a:t>
            </a:r>
            <a:r>
              <a:rPr lang="en-US" sz="1800" dirty="0">
                <a:solidFill>
                  <a:srgbClr val="111827"/>
                </a:solidFill>
                <a:latin typeface="Arial"/>
                <a:ea typeface="Arial"/>
                <a:cs typeface="Arial"/>
              </a:rPr>
              <a:t>a faster-growth food niche.</a:t>
            </a:r>
          </a:p>
        </p:txBody>
      </p:sp>
      <p:sp>
        <p:nvSpPr>
          <p:cNvPr id="23" name="Line 23"/>
          <p:cNvSpPr/>
          <p:nvPr/>
        </p:nvSpPr>
        <p:spPr>
          <a:xfrm>
            <a:off x="8286750" y="4438650"/>
            <a:ext cx="2533650" cy="9525"/>
          </a:xfrm>
          <a:custGeom>
            <a:avLst/>
            <a:gdLst/>
            <a:ahLst/>
            <a:cxnLst/>
            <a:rect l="l" t="t" r="r" b="b"/>
            <a:pathLst>
              <a:path w="2533650" h="9525">
                <a:moveTo>
                  <a:pt x="0" y="0"/>
                </a:moveTo>
                <a:lnTo>
                  <a:pt x="2533650" y="0"/>
                </a:lnTo>
              </a:path>
            </a:pathLst>
          </a:custGeom>
          <a:noFill/>
          <a:ln w="9525">
            <a:solidFill>
              <a:srgbClr val="D7DEE8"/>
            </a:solidFill>
          </a:ln>
        </p:spPr>
      </p:sp>
      <p:sp>
        <p:nvSpPr>
          <p:cNvPr id="24" name="TextBox 24"/>
          <p:cNvSpPr txBox="1"/>
          <p:nvPr/>
        </p:nvSpPr>
        <p:spPr>
          <a:xfrm>
            <a:off x="8279892" y="4654868"/>
            <a:ext cx="6301124" cy="264033"/>
          </a:xfrm>
          <a:prstGeom prst="rect">
            <a:avLst/>
          </a:prstGeom>
          <a:noFill/>
          <a:ln>
            <a:noFill/>
          </a:ln>
        </p:spPr>
        <p:txBody>
          <a:bodyPr wrap="none" lIns="0" tIns="0" rIns="0" bIns="0" anchor="t" anchorCtr="0">
            <a:spAutoFit/>
          </a:bodyPr>
          <a:lstStyle/>
          <a:p>
            <a:pPr algn="l"/>
            <a:r>
              <a:rPr lang="en-US" sz="1350" dirty="0">
                <a:solidFill>
                  <a:srgbClr val="5B677A"/>
                </a:solidFill>
                <a:latin typeface="Arial"/>
                <a:ea typeface="Arial"/>
                <a:cs typeface="Arial"/>
              </a:rPr>
              <a:t>Source: PDF market description, Census/USDA and Kalorama citations.</a:t>
            </a:r>
          </a:p>
        </p:txBody>
      </p:sp>
      <p:sp>
        <p:nvSpPr>
          <p:cNvPr id="25" name="TextBox 25"/>
          <p:cNvSpPr txBox="1"/>
          <p:nvPr/>
        </p:nvSpPr>
        <p:spPr>
          <a:xfrm>
            <a:off x="527685" y="6317456"/>
            <a:ext cx="1716643" cy="220028"/>
          </a:xfrm>
          <a:prstGeom prst="rect">
            <a:avLst/>
          </a:prstGeom>
          <a:noFill/>
          <a:ln>
            <a:noFill/>
          </a:ln>
        </p:spPr>
        <p:txBody>
          <a:bodyPr wrap="none" lIns="0" tIns="0" rIns="0" bIns="0" anchor="t" anchorCtr="0">
            <a:spAutoFit/>
          </a:bodyPr>
          <a:lstStyle/>
          <a:p>
            <a:pPr algn="l"/>
            <a:r>
              <a:rPr lang="en-US" sz="1120" dirty="0">
                <a:solidFill>
                  <a:srgbClr val="5B677A"/>
                </a:solidFill>
                <a:latin typeface="Arial"/>
                <a:ea typeface="Arial"/>
                <a:cs typeface="Arial"/>
              </a:rPr>
              <a:t>CASE-GEN-001 / Slide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516636" y="234315"/>
            <a:ext cx="10198799" cy="1121664"/>
          </a:xfrm>
          <a:prstGeom prst="rect">
            <a:avLst/>
          </a:prstGeom>
          <a:noFill/>
          <a:ln>
            <a:noFill/>
          </a:ln>
        </p:spPr>
        <p:txBody>
          <a:bodyPr wrap="square" lIns="0" tIns="0" rIns="0" bIns="0" anchor="t" anchorCtr="0"/>
          <a:lstStyle/>
          <a:p>
            <a:pPr algn="l">
              <a:lnSpc>
                <a:spcPts val="3750"/>
              </a:lnSpc>
            </a:pPr>
            <a:r>
              <a:rPr lang="en-US" sz="3300" b="1" dirty="0">
                <a:solidFill>
                  <a:srgbClr val="0B2E4A"/>
                </a:solidFill>
                <a:latin typeface="Arial"/>
                <a:ea typeface="Arial"/>
                <a:cs typeface="Arial"/>
              </a:rPr>
              <a:t xml:space="preserve">Whipped Dream differentiates with dairy-based </a:t>
            </a:r>
            <a:r>
              <a:rPr lang="en-US" sz="3300" b="1" dirty="0">
                <a:solidFill>
                  <a:srgbClr val="0B2E4A"/>
                </a:solidFill>
                <a:latin typeface="Arial"/>
                <a:ea typeface="Arial"/>
                <a:cs typeface="Arial"/>
              </a:rPr>
              <a:t>flavor variety and retail-ready formats</a:t>
            </a:r>
          </a:p>
        </p:txBody>
      </p:sp>
      <p:sp>
        <p:nvSpPr>
          <p:cNvPr id="4" name="TextBox 4"/>
          <p:cNvSpPr txBox="1"/>
          <p:nvPr/>
        </p:nvSpPr>
        <p:spPr>
          <a:xfrm>
            <a:off x="521970" y="1109662"/>
            <a:ext cx="13026862" cy="440055"/>
          </a:xfrm>
          <a:prstGeom prst="rect">
            <a:avLst/>
          </a:prstGeom>
          <a:noFill/>
          <a:ln>
            <a:noFill/>
          </a:ln>
        </p:spPr>
        <p:txBody>
          <a:bodyPr wrap="none" lIns="0" tIns="0" rIns="0" bIns="0" anchor="t" anchorCtr="0">
            <a:spAutoFit/>
          </a:bodyPr>
          <a:lstStyle/>
          <a:p>
            <a:pPr algn="l"/>
            <a:r>
              <a:rPr lang="en-US" sz="2250" dirty="0">
                <a:solidFill>
                  <a:srgbClr val="111827"/>
                </a:solidFill>
                <a:latin typeface="Arial"/>
                <a:ea typeface="Arial"/>
                <a:cs typeface="Arial"/>
              </a:rPr>
              <a:t>The product gap is flavor and dairy authenticity, not basic whipped topping availability.</a:t>
            </a:r>
          </a:p>
        </p:txBody>
      </p:sp>
      <p:sp>
        <p:nvSpPr>
          <p:cNvPr id="5" name="Line 5"/>
          <p:cNvSpPr/>
          <p:nvPr/>
        </p:nvSpPr>
        <p:spPr>
          <a:xfrm>
            <a:off x="533400" y="1619250"/>
            <a:ext cx="11125200" cy="9525"/>
          </a:xfrm>
          <a:custGeom>
            <a:avLst/>
            <a:gdLst/>
            <a:ahLst/>
            <a:cxnLst/>
            <a:rect l="l" t="t" r="r" b="b"/>
            <a:pathLst>
              <a:path w="11125200" h="9525">
                <a:moveTo>
                  <a:pt x="0" y="0"/>
                </a:moveTo>
                <a:lnTo>
                  <a:pt x="11125200" y="0"/>
                </a:lnTo>
              </a:path>
            </a:pathLst>
          </a:custGeom>
          <a:noFill/>
          <a:ln w="9525">
            <a:solidFill>
              <a:srgbClr val="D7DEE8"/>
            </a:solidFill>
          </a:ln>
        </p:spPr>
      </p:sp>
      <p:sp>
        <p:nvSpPr>
          <p:cNvPr id="6" name="Rectangle 6"/>
          <p:cNvSpPr/>
          <p:nvPr/>
        </p:nvSpPr>
        <p:spPr>
          <a:xfrm>
            <a:off x="533400" y="2095500"/>
            <a:ext cx="3429000" cy="3219450"/>
          </a:xfrm>
          <a:prstGeom prst="rect">
            <a:avLst/>
          </a:prstGeom>
          <a:solidFill>
            <a:srgbClr val="F4F7FA"/>
          </a:solidFill>
          <a:ln w="9525">
            <a:solidFill>
              <a:srgbClr val="D7DEE8"/>
            </a:solidFill>
          </a:ln>
        </p:spPr>
      </p:sp>
      <p:sp>
        <p:nvSpPr>
          <p:cNvPr id="7" name="TextBox 7"/>
          <p:cNvSpPr txBox="1"/>
          <p:nvPr/>
        </p:nvSpPr>
        <p:spPr>
          <a:xfrm>
            <a:off x="808482" y="2326005"/>
            <a:ext cx="2345402" cy="410718"/>
          </a:xfrm>
          <a:prstGeom prst="rect">
            <a:avLst/>
          </a:prstGeom>
          <a:noFill/>
          <a:ln>
            <a:noFill/>
          </a:ln>
        </p:spPr>
        <p:txBody>
          <a:bodyPr wrap="none" lIns="0" tIns="0" rIns="0" bIns="0" anchor="t" anchorCtr="0">
            <a:spAutoFit/>
          </a:bodyPr>
          <a:lstStyle/>
          <a:p>
            <a:pPr algn="l"/>
            <a:r>
              <a:rPr lang="en-US" sz="2100" b="1" dirty="0">
                <a:solidFill>
                  <a:srgbClr val="0B2E4A"/>
                </a:solidFill>
                <a:latin typeface="Arial"/>
                <a:ea typeface="Arial"/>
                <a:cs typeface="Arial"/>
              </a:rPr>
              <a:t>Flavor portfolio</a:t>
            </a:r>
          </a:p>
        </p:txBody>
      </p:sp>
      <p:sp>
        <p:nvSpPr>
          <p:cNvPr id="8" name="Line 8"/>
          <p:cNvSpPr/>
          <p:nvPr/>
        </p:nvSpPr>
        <p:spPr>
          <a:xfrm>
            <a:off x="819150" y="2781300"/>
            <a:ext cx="2857500" cy="9525"/>
          </a:xfrm>
          <a:custGeom>
            <a:avLst/>
            <a:gdLst/>
            <a:ahLst/>
            <a:cxnLst/>
            <a:rect l="l" t="t" r="r" b="b"/>
            <a:pathLst>
              <a:path w="2857500" h="9525">
                <a:moveTo>
                  <a:pt x="0" y="0"/>
                </a:moveTo>
                <a:lnTo>
                  <a:pt x="2857500" y="0"/>
                </a:lnTo>
              </a:path>
            </a:pathLst>
          </a:custGeom>
          <a:noFill/>
          <a:ln w="9525">
            <a:solidFill>
              <a:srgbClr val="D7DEE8"/>
            </a:solidFill>
          </a:ln>
        </p:spPr>
      </p:sp>
      <p:sp>
        <p:nvSpPr>
          <p:cNvPr id="9" name="TextBox 9"/>
          <p:cNvSpPr txBox="1"/>
          <p:nvPr/>
        </p:nvSpPr>
        <p:spPr>
          <a:xfrm>
            <a:off x="810006" y="3044190"/>
            <a:ext cx="1164336" cy="352044"/>
          </a:xfrm>
          <a:prstGeom prst="rect">
            <a:avLst/>
          </a:prstGeom>
          <a:noFill/>
          <a:ln>
            <a:noFill/>
          </a:ln>
        </p:spPr>
        <p:txBody>
          <a:bodyPr wrap="none" lIns="0" tIns="0" rIns="0" bIns="0" anchor="t" anchorCtr="0">
            <a:spAutoFit/>
          </a:bodyPr>
          <a:lstStyle/>
          <a:p>
            <a:pPr algn="l"/>
            <a:r>
              <a:rPr lang="en-US" sz="1800" dirty="0">
                <a:solidFill>
                  <a:srgbClr val="111827"/>
                </a:solidFill>
                <a:latin typeface="Arial"/>
                <a:ea typeface="Arial"/>
                <a:cs typeface="Arial"/>
              </a:rPr>
              <a:t>Chocolate</a:t>
            </a:r>
          </a:p>
        </p:txBody>
      </p:sp>
      <p:sp>
        <p:nvSpPr>
          <p:cNvPr id="10" name="TextBox 10"/>
          <p:cNvSpPr txBox="1"/>
          <p:nvPr/>
        </p:nvSpPr>
        <p:spPr>
          <a:xfrm>
            <a:off x="810006" y="3520440"/>
            <a:ext cx="1225296" cy="352044"/>
          </a:xfrm>
          <a:prstGeom prst="rect">
            <a:avLst/>
          </a:prstGeom>
          <a:noFill/>
          <a:ln>
            <a:noFill/>
          </a:ln>
        </p:spPr>
        <p:txBody>
          <a:bodyPr wrap="none" lIns="0" tIns="0" rIns="0" bIns="0" anchor="t" anchorCtr="0">
            <a:spAutoFit/>
          </a:bodyPr>
          <a:lstStyle/>
          <a:p>
            <a:pPr algn="l"/>
            <a:r>
              <a:rPr lang="en-US" sz="1800" dirty="0">
                <a:solidFill>
                  <a:srgbClr val="111827"/>
                </a:solidFill>
                <a:latin typeface="Arial"/>
                <a:ea typeface="Arial"/>
                <a:cs typeface="Arial"/>
              </a:rPr>
              <a:t>Raspberry</a:t>
            </a:r>
          </a:p>
        </p:txBody>
      </p:sp>
      <p:sp>
        <p:nvSpPr>
          <p:cNvPr id="11" name="TextBox 11"/>
          <p:cNvSpPr txBox="1"/>
          <p:nvPr/>
        </p:nvSpPr>
        <p:spPr>
          <a:xfrm>
            <a:off x="810006" y="3996690"/>
            <a:ext cx="1940324" cy="352044"/>
          </a:xfrm>
          <a:prstGeom prst="rect">
            <a:avLst/>
          </a:prstGeom>
          <a:noFill/>
          <a:ln>
            <a:noFill/>
          </a:ln>
        </p:spPr>
        <p:txBody>
          <a:bodyPr wrap="none" lIns="0" tIns="0" rIns="0" bIns="0" anchor="t" anchorCtr="0">
            <a:spAutoFit/>
          </a:bodyPr>
          <a:lstStyle/>
          <a:p>
            <a:pPr algn="l"/>
            <a:r>
              <a:rPr lang="en-US" sz="1800" dirty="0">
                <a:solidFill>
                  <a:srgbClr val="111827"/>
                </a:solidFill>
                <a:latin typeface="Arial"/>
                <a:ea typeface="Arial"/>
                <a:cs typeface="Arial"/>
              </a:rPr>
              <a:t>Cinnamon almond</a:t>
            </a:r>
          </a:p>
        </p:txBody>
      </p:sp>
      <p:sp>
        <p:nvSpPr>
          <p:cNvPr id="12" name="TextBox 12"/>
          <p:cNvSpPr txBox="1"/>
          <p:nvPr/>
        </p:nvSpPr>
        <p:spPr>
          <a:xfrm>
            <a:off x="810006" y="4472940"/>
            <a:ext cx="1407307" cy="352044"/>
          </a:xfrm>
          <a:prstGeom prst="rect">
            <a:avLst/>
          </a:prstGeom>
          <a:noFill/>
          <a:ln>
            <a:noFill/>
          </a:ln>
        </p:spPr>
        <p:txBody>
          <a:bodyPr wrap="none" lIns="0" tIns="0" rIns="0" bIns="0" anchor="t" anchorCtr="0">
            <a:spAutoFit/>
          </a:bodyPr>
          <a:lstStyle/>
          <a:p>
            <a:pPr algn="l"/>
            <a:r>
              <a:rPr lang="en-US" sz="1800" dirty="0">
                <a:solidFill>
                  <a:srgbClr val="111827"/>
                </a:solidFill>
                <a:latin typeface="Arial"/>
                <a:ea typeface="Arial"/>
                <a:cs typeface="Arial"/>
              </a:rPr>
              <a:t>Strawberry</a:t>
            </a:r>
          </a:p>
        </p:txBody>
      </p:sp>
      <p:sp>
        <p:nvSpPr>
          <p:cNvPr id="13" name="Ellipse 13"/>
          <p:cNvSpPr/>
          <p:nvPr/>
        </p:nvSpPr>
        <p:spPr>
          <a:xfrm>
            <a:off x="3276600" y="3086100"/>
            <a:ext cx="152400" cy="152400"/>
          </a:xfrm>
          <a:prstGeom prst="ellipse">
            <a:avLst/>
          </a:prstGeom>
          <a:solidFill>
            <a:srgbClr val="D9A441"/>
          </a:solidFill>
          <a:ln>
            <a:noFill/>
          </a:ln>
        </p:spPr>
      </p:sp>
      <p:sp>
        <p:nvSpPr>
          <p:cNvPr id="14" name="Ellipse 14"/>
          <p:cNvSpPr/>
          <p:nvPr/>
        </p:nvSpPr>
        <p:spPr>
          <a:xfrm>
            <a:off x="3276600" y="3562350"/>
            <a:ext cx="152400" cy="152400"/>
          </a:xfrm>
          <a:prstGeom prst="ellipse">
            <a:avLst/>
          </a:prstGeom>
          <a:solidFill>
            <a:srgbClr val="D9A441"/>
          </a:solidFill>
          <a:ln>
            <a:noFill/>
          </a:ln>
        </p:spPr>
      </p:sp>
      <p:sp>
        <p:nvSpPr>
          <p:cNvPr id="15" name="Ellipse 15"/>
          <p:cNvSpPr/>
          <p:nvPr/>
        </p:nvSpPr>
        <p:spPr>
          <a:xfrm>
            <a:off x="3276600" y="4038600"/>
            <a:ext cx="152400" cy="152400"/>
          </a:xfrm>
          <a:prstGeom prst="ellipse">
            <a:avLst/>
          </a:prstGeom>
          <a:solidFill>
            <a:srgbClr val="D9A441"/>
          </a:solidFill>
          <a:ln>
            <a:noFill/>
          </a:ln>
        </p:spPr>
      </p:sp>
      <p:sp>
        <p:nvSpPr>
          <p:cNvPr id="16" name="Ellipse 16"/>
          <p:cNvSpPr/>
          <p:nvPr/>
        </p:nvSpPr>
        <p:spPr>
          <a:xfrm>
            <a:off x="3276600" y="4514850"/>
            <a:ext cx="152400" cy="152400"/>
          </a:xfrm>
          <a:prstGeom prst="ellipse">
            <a:avLst/>
          </a:prstGeom>
          <a:solidFill>
            <a:srgbClr val="D9A441"/>
          </a:solidFill>
          <a:ln>
            <a:noFill/>
          </a:ln>
        </p:spPr>
      </p:sp>
      <p:sp>
        <p:nvSpPr>
          <p:cNvPr id="17" name="Rectangle 17"/>
          <p:cNvSpPr/>
          <p:nvPr/>
        </p:nvSpPr>
        <p:spPr>
          <a:xfrm>
            <a:off x="4381500" y="2095500"/>
            <a:ext cx="3429000" cy="3219450"/>
          </a:xfrm>
          <a:prstGeom prst="rect">
            <a:avLst/>
          </a:prstGeom>
          <a:solidFill>
            <a:srgbClr val="FFFFFF"/>
          </a:solidFill>
          <a:ln w="9525">
            <a:solidFill>
              <a:srgbClr val="D7DEE8"/>
            </a:solidFill>
          </a:ln>
        </p:spPr>
      </p:sp>
      <p:sp>
        <p:nvSpPr>
          <p:cNvPr id="18" name="TextBox 18"/>
          <p:cNvSpPr txBox="1"/>
          <p:nvPr/>
        </p:nvSpPr>
        <p:spPr>
          <a:xfrm>
            <a:off x="4656582" y="2326005"/>
            <a:ext cx="2346027" cy="410718"/>
          </a:xfrm>
          <a:prstGeom prst="rect">
            <a:avLst/>
          </a:prstGeom>
          <a:noFill/>
          <a:ln>
            <a:noFill/>
          </a:ln>
        </p:spPr>
        <p:txBody>
          <a:bodyPr wrap="none" lIns="0" tIns="0" rIns="0" bIns="0" anchor="t" anchorCtr="0">
            <a:spAutoFit/>
          </a:bodyPr>
          <a:lstStyle/>
          <a:p>
            <a:pPr algn="l"/>
            <a:r>
              <a:rPr lang="en-US" sz="2100" b="1" dirty="0">
                <a:solidFill>
                  <a:srgbClr val="0B2E4A"/>
                </a:solidFill>
                <a:latin typeface="Arial"/>
                <a:ea typeface="Arial"/>
                <a:cs typeface="Arial"/>
              </a:rPr>
              <a:t>Shelf-life proof</a:t>
            </a:r>
          </a:p>
        </p:txBody>
      </p:sp>
      <p:sp>
        <p:nvSpPr>
          <p:cNvPr id="19" name="Line 19"/>
          <p:cNvSpPr/>
          <p:nvPr/>
        </p:nvSpPr>
        <p:spPr>
          <a:xfrm>
            <a:off x="4667250" y="2781300"/>
            <a:ext cx="2857500" cy="9525"/>
          </a:xfrm>
          <a:custGeom>
            <a:avLst/>
            <a:gdLst/>
            <a:ahLst/>
            <a:cxnLst/>
            <a:rect l="l" t="t" r="r" b="b"/>
            <a:pathLst>
              <a:path w="2857500" h="9525">
                <a:moveTo>
                  <a:pt x="0" y="0"/>
                </a:moveTo>
                <a:lnTo>
                  <a:pt x="2857500" y="0"/>
                </a:lnTo>
              </a:path>
            </a:pathLst>
          </a:custGeom>
          <a:noFill/>
          <a:ln w="9525">
            <a:solidFill>
              <a:srgbClr val="D7DEE8"/>
            </a:solidFill>
          </a:ln>
        </p:spPr>
      </p:sp>
      <p:sp>
        <p:nvSpPr>
          <p:cNvPr id="20" name="TextBox 20"/>
          <p:cNvSpPr txBox="1"/>
          <p:nvPr/>
        </p:nvSpPr>
        <p:spPr>
          <a:xfrm>
            <a:off x="4743450" y="3147060"/>
            <a:ext cx="2175327" cy="819150"/>
          </a:xfrm>
          <a:prstGeom prst="rect">
            <a:avLst/>
          </a:prstGeom>
          <a:noFill/>
          <a:ln>
            <a:noFill/>
          </a:ln>
        </p:spPr>
        <p:txBody>
          <a:bodyPr wrap="none" lIns="0" tIns="0" rIns="0" bIns="0" anchor="t" anchorCtr="0">
            <a:spAutoFit/>
          </a:bodyPr>
          <a:lstStyle/>
          <a:p>
            <a:pPr algn="l"/>
            <a:r>
              <a:rPr lang="en-US" sz="4200" b="1" dirty="0">
                <a:solidFill>
                  <a:srgbClr val="2C8C6C"/>
                </a:solidFill>
                <a:latin typeface="Arial"/>
                <a:ea typeface="Arial"/>
                <a:cs typeface="Arial"/>
              </a:rPr>
              <a:t>21 days</a:t>
            </a:r>
          </a:p>
        </p:txBody>
      </p:sp>
      <p:sp>
        <p:nvSpPr>
          <p:cNvPr id="21" name="TextBox 21"/>
          <p:cNvSpPr txBox="1"/>
          <p:nvPr/>
        </p:nvSpPr>
        <p:spPr>
          <a:xfrm>
            <a:off x="4755642" y="3816668"/>
            <a:ext cx="2767032" cy="264033"/>
          </a:xfrm>
          <a:prstGeom prst="rect">
            <a:avLst/>
          </a:prstGeom>
          <a:noFill/>
          <a:ln>
            <a:noFill/>
          </a:ln>
        </p:spPr>
        <p:txBody>
          <a:bodyPr wrap="none" lIns="0" tIns="0" rIns="0" bIns="0" anchor="t" anchorCtr="0">
            <a:spAutoFit/>
          </a:bodyPr>
          <a:lstStyle/>
          <a:p>
            <a:pPr algn="l"/>
            <a:r>
              <a:rPr lang="en-US" sz="1350" dirty="0">
                <a:solidFill>
                  <a:srgbClr val="5B677A"/>
                </a:solidFill>
                <a:latin typeface="Arial"/>
                <a:ea typeface="Arial"/>
                <a:cs typeface="Arial"/>
              </a:rPr>
              <a:t>at refrigeration temperatures</a:t>
            </a:r>
          </a:p>
        </p:txBody>
      </p:sp>
      <p:sp>
        <p:nvSpPr>
          <p:cNvPr id="22" name="TextBox 22"/>
          <p:cNvSpPr txBox="1"/>
          <p:nvPr/>
        </p:nvSpPr>
        <p:spPr>
          <a:xfrm>
            <a:off x="4743450" y="4156710"/>
            <a:ext cx="2620583" cy="819150"/>
          </a:xfrm>
          <a:prstGeom prst="rect">
            <a:avLst/>
          </a:prstGeom>
          <a:noFill/>
          <a:ln>
            <a:noFill/>
          </a:ln>
        </p:spPr>
        <p:txBody>
          <a:bodyPr wrap="none" lIns="0" tIns="0" rIns="0" bIns="0" anchor="t" anchorCtr="0">
            <a:spAutoFit/>
          </a:bodyPr>
          <a:lstStyle/>
          <a:p>
            <a:pPr algn="l"/>
            <a:r>
              <a:rPr lang="en-US" sz="4200" b="1" dirty="0">
                <a:solidFill>
                  <a:srgbClr val="D9A441"/>
                </a:solidFill>
                <a:latin typeface="Arial"/>
                <a:ea typeface="Arial"/>
                <a:cs typeface="Arial"/>
              </a:rPr>
              <a:t>6 months</a:t>
            </a:r>
          </a:p>
        </p:txBody>
      </p:sp>
      <p:sp>
        <p:nvSpPr>
          <p:cNvPr id="23" name="TextBox 23"/>
          <p:cNvSpPr txBox="1"/>
          <p:nvPr/>
        </p:nvSpPr>
        <p:spPr>
          <a:xfrm>
            <a:off x="4755642" y="4826318"/>
            <a:ext cx="1104138" cy="264033"/>
          </a:xfrm>
          <a:prstGeom prst="rect">
            <a:avLst/>
          </a:prstGeom>
          <a:noFill/>
          <a:ln>
            <a:noFill/>
          </a:ln>
        </p:spPr>
        <p:txBody>
          <a:bodyPr wrap="none" lIns="0" tIns="0" rIns="0" bIns="0" anchor="t" anchorCtr="0">
            <a:spAutoFit/>
          </a:bodyPr>
          <a:lstStyle/>
          <a:p>
            <a:pPr algn="l"/>
            <a:r>
              <a:rPr lang="en-US" sz="1350" dirty="0">
                <a:solidFill>
                  <a:srgbClr val="5B677A"/>
                </a:solidFill>
                <a:latin typeface="Arial"/>
                <a:ea typeface="Arial"/>
                <a:cs typeface="Arial"/>
              </a:rPr>
              <a:t>when frozen</a:t>
            </a:r>
          </a:p>
        </p:txBody>
      </p:sp>
      <p:sp>
        <p:nvSpPr>
          <p:cNvPr id="24" name="Rectangle 24"/>
          <p:cNvSpPr/>
          <p:nvPr/>
        </p:nvSpPr>
        <p:spPr>
          <a:xfrm>
            <a:off x="8229600" y="2095500"/>
            <a:ext cx="3429000" cy="3219450"/>
          </a:xfrm>
          <a:prstGeom prst="rect">
            <a:avLst/>
          </a:prstGeom>
          <a:solidFill>
            <a:srgbClr val="F4F7FA"/>
          </a:solidFill>
          <a:ln w="9525">
            <a:solidFill>
              <a:srgbClr val="D7DEE8"/>
            </a:solidFill>
          </a:ln>
        </p:spPr>
      </p:sp>
      <p:sp>
        <p:nvSpPr>
          <p:cNvPr id="25" name="TextBox 25"/>
          <p:cNvSpPr txBox="1"/>
          <p:nvPr/>
        </p:nvSpPr>
        <p:spPr>
          <a:xfrm>
            <a:off x="8504682" y="2326005"/>
            <a:ext cx="2152962" cy="410718"/>
          </a:xfrm>
          <a:prstGeom prst="rect">
            <a:avLst/>
          </a:prstGeom>
          <a:noFill/>
          <a:ln>
            <a:noFill/>
          </a:ln>
        </p:spPr>
        <p:txBody>
          <a:bodyPr wrap="none" lIns="0" tIns="0" rIns="0" bIns="0" anchor="t" anchorCtr="0">
            <a:spAutoFit/>
          </a:bodyPr>
          <a:lstStyle/>
          <a:p>
            <a:pPr algn="l"/>
            <a:r>
              <a:rPr lang="en-US" sz="2100" b="1" dirty="0">
                <a:solidFill>
                  <a:srgbClr val="0B2E4A"/>
                </a:solidFill>
                <a:latin typeface="Arial"/>
                <a:ea typeface="Arial"/>
                <a:cs typeface="Arial"/>
              </a:rPr>
              <a:t>Retail formats</a:t>
            </a:r>
          </a:p>
        </p:txBody>
      </p:sp>
      <p:sp>
        <p:nvSpPr>
          <p:cNvPr id="26" name="Line 26"/>
          <p:cNvSpPr/>
          <p:nvPr/>
        </p:nvSpPr>
        <p:spPr>
          <a:xfrm>
            <a:off x="8515350" y="2781300"/>
            <a:ext cx="2857500" cy="9525"/>
          </a:xfrm>
          <a:custGeom>
            <a:avLst/>
            <a:gdLst/>
            <a:ahLst/>
            <a:cxnLst/>
            <a:rect l="l" t="t" r="r" b="b"/>
            <a:pathLst>
              <a:path w="2857500" h="9525">
                <a:moveTo>
                  <a:pt x="0" y="0"/>
                </a:moveTo>
                <a:lnTo>
                  <a:pt x="2857500" y="0"/>
                </a:lnTo>
              </a:path>
            </a:pathLst>
          </a:custGeom>
          <a:noFill/>
          <a:ln w="9525">
            <a:solidFill>
              <a:srgbClr val="D7DEE8"/>
            </a:solidFill>
          </a:ln>
        </p:spPr>
      </p:sp>
      <p:sp>
        <p:nvSpPr>
          <p:cNvPr id="27" name="Rectangle 27"/>
          <p:cNvSpPr/>
          <p:nvPr/>
        </p:nvSpPr>
        <p:spPr>
          <a:xfrm>
            <a:off x="8686800" y="3124200"/>
            <a:ext cx="2381250" cy="590550"/>
          </a:xfrm>
          <a:prstGeom prst="rect">
            <a:avLst/>
          </a:prstGeom>
          <a:solidFill>
            <a:srgbClr val="FFFFFF"/>
          </a:solidFill>
          <a:ln w="19050">
            <a:solidFill>
              <a:srgbClr val="2C8C6C"/>
            </a:solidFill>
          </a:ln>
        </p:spPr>
      </p:sp>
      <p:sp>
        <p:nvSpPr>
          <p:cNvPr id="28" name="TextBox 28"/>
          <p:cNvSpPr txBox="1"/>
          <p:nvPr/>
        </p:nvSpPr>
        <p:spPr>
          <a:xfrm>
            <a:off x="8906256" y="3310890"/>
            <a:ext cx="2002856" cy="352044"/>
          </a:xfrm>
          <a:prstGeom prst="rect">
            <a:avLst/>
          </a:prstGeom>
          <a:noFill/>
          <a:ln>
            <a:noFill/>
          </a:ln>
        </p:spPr>
        <p:txBody>
          <a:bodyPr wrap="none" lIns="0" tIns="0" rIns="0" bIns="0" anchor="t" anchorCtr="0">
            <a:spAutoFit/>
          </a:bodyPr>
          <a:lstStyle/>
          <a:p>
            <a:pPr algn="l"/>
            <a:r>
              <a:rPr lang="en-US" sz="1800" b="1" dirty="0">
                <a:solidFill>
                  <a:srgbClr val="111827"/>
                </a:solidFill>
                <a:latin typeface="Arial"/>
                <a:ea typeface="Arial"/>
                <a:cs typeface="Arial"/>
              </a:rPr>
              <a:t>8 and 12 oz tubs</a:t>
            </a:r>
          </a:p>
        </p:txBody>
      </p:sp>
      <p:sp>
        <p:nvSpPr>
          <p:cNvPr id="29" name="Rectangle 29"/>
          <p:cNvSpPr/>
          <p:nvPr/>
        </p:nvSpPr>
        <p:spPr>
          <a:xfrm>
            <a:off x="8686800" y="4076700"/>
            <a:ext cx="2381250" cy="590550"/>
          </a:xfrm>
          <a:prstGeom prst="rect">
            <a:avLst/>
          </a:prstGeom>
          <a:solidFill>
            <a:srgbClr val="FFFFFF"/>
          </a:solidFill>
          <a:ln w="19050">
            <a:solidFill>
              <a:srgbClr val="D9A441"/>
            </a:solidFill>
          </a:ln>
        </p:spPr>
      </p:sp>
      <p:sp>
        <p:nvSpPr>
          <p:cNvPr id="30" name="TextBox 30"/>
          <p:cNvSpPr txBox="1"/>
          <p:nvPr/>
        </p:nvSpPr>
        <p:spPr>
          <a:xfrm>
            <a:off x="8906256" y="4263390"/>
            <a:ext cx="1150510" cy="352044"/>
          </a:xfrm>
          <a:prstGeom prst="rect">
            <a:avLst/>
          </a:prstGeom>
          <a:noFill/>
          <a:ln>
            <a:noFill/>
          </a:ln>
        </p:spPr>
        <p:txBody>
          <a:bodyPr wrap="none" lIns="0" tIns="0" rIns="0" bIns="0" anchor="t" anchorCtr="0">
            <a:spAutoFit/>
          </a:bodyPr>
          <a:lstStyle/>
          <a:p>
            <a:pPr algn="l"/>
            <a:r>
              <a:rPr lang="en-US" sz="1800" b="1" dirty="0">
                <a:solidFill>
                  <a:srgbClr val="111827"/>
                </a:solidFill>
                <a:latin typeface="Arial"/>
                <a:ea typeface="Arial"/>
                <a:cs typeface="Arial"/>
              </a:rPr>
              <a:t>6 oz cans</a:t>
            </a:r>
          </a:p>
        </p:txBody>
      </p:sp>
      <p:sp>
        <p:nvSpPr>
          <p:cNvPr id="31" name="TextBox 31"/>
          <p:cNvSpPr txBox="1"/>
          <p:nvPr/>
        </p:nvSpPr>
        <p:spPr>
          <a:xfrm>
            <a:off x="524256" y="5749290"/>
            <a:ext cx="11368278" cy="675894"/>
          </a:xfrm>
          <a:prstGeom prst="rect">
            <a:avLst/>
          </a:prstGeom>
          <a:noFill/>
          <a:ln>
            <a:noFill/>
          </a:ln>
        </p:spPr>
        <p:txBody>
          <a:bodyPr wrap="square" lIns="0" tIns="0" rIns="0" bIns="0" anchor="t" anchorCtr="0"/>
          <a:lstStyle/>
          <a:p>
            <a:pPr algn="l">
              <a:lnSpc>
                <a:spcPts val="2550"/>
              </a:lnSpc>
            </a:pPr>
            <a:r>
              <a:rPr lang="en-US" sz="1800" dirty="0">
                <a:solidFill>
                  <a:srgbClr val="111827"/>
                </a:solidFill>
                <a:latin typeface="Arial"/>
                <a:ea typeface="Arial"/>
                <a:cs typeface="Arial"/>
              </a:rPr>
              <a:t xml:space="preserve">Investor takeaway: the proposition is premium variety with enough shelf life and packaging flexibility </a:t>
            </a:r>
            <a:r>
              <a:rPr lang="en-US" sz="1800" dirty="0">
                <a:solidFill>
                  <a:srgbClr val="111827"/>
                </a:solidFill>
                <a:latin typeface="Arial"/>
                <a:ea typeface="Arial"/>
                <a:cs typeface="Arial"/>
              </a:rPr>
              <a:t>to move beyond a restaurant-only dessert topping.</a:t>
            </a:r>
          </a:p>
        </p:txBody>
      </p:sp>
      <p:sp>
        <p:nvSpPr>
          <p:cNvPr id="32" name="TextBox 32"/>
          <p:cNvSpPr txBox="1"/>
          <p:nvPr/>
        </p:nvSpPr>
        <p:spPr>
          <a:xfrm>
            <a:off x="527685" y="6317456"/>
            <a:ext cx="4816115" cy="220028"/>
          </a:xfrm>
          <a:prstGeom prst="rect">
            <a:avLst/>
          </a:prstGeom>
          <a:noFill/>
          <a:ln>
            <a:noFill/>
          </a:ln>
        </p:spPr>
        <p:txBody>
          <a:bodyPr wrap="none" lIns="0" tIns="0" rIns="0" bIns="0" anchor="t" anchorCtr="0">
            <a:spAutoFit/>
          </a:bodyPr>
          <a:lstStyle/>
          <a:p>
            <a:pPr algn="l"/>
            <a:r>
              <a:rPr lang="en-US" sz="1120" dirty="0">
                <a:solidFill>
                  <a:srgbClr val="5B677A"/>
                </a:solidFill>
                <a:latin typeface="Arial"/>
                <a:ea typeface="Arial"/>
                <a:cs typeface="Arial"/>
              </a:rPr>
              <a:t>Source: PDF executive summary and product description / Slide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516636" y="234315"/>
            <a:ext cx="10352818" cy="1121664"/>
          </a:xfrm>
          <a:prstGeom prst="rect">
            <a:avLst/>
          </a:prstGeom>
          <a:noFill/>
          <a:ln>
            <a:noFill/>
          </a:ln>
        </p:spPr>
        <p:txBody>
          <a:bodyPr wrap="square" lIns="0" tIns="0" rIns="0" bIns="0" anchor="t" anchorCtr="0"/>
          <a:lstStyle/>
          <a:p>
            <a:pPr algn="l">
              <a:lnSpc>
                <a:spcPts val="3750"/>
              </a:lnSpc>
            </a:pPr>
            <a:r>
              <a:rPr lang="en-US" sz="3300" b="1" dirty="0">
                <a:solidFill>
                  <a:srgbClr val="0B2E4A"/>
                </a:solidFill>
                <a:latin typeface="Arial"/>
                <a:ea typeface="Arial"/>
                <a:cs typeface="Arial"/>
              </a:rPr>
              <a:t xml:space="preserve">Restaurant demand and grocery interest create </a:t>
            </a:r>
            <a:r>
              <a:rPr lang="en-US" sz="3300" b="1" dirty="0">
                <a:solidFill>
                  <a:srgbClr val="0B2E4A"/>
                </a:solidFill>
                <a:latin typeface="Arial"/>
                <a:ea typeface="Arial"/>
                <a:cs typeface="Arial"/>
              </a:rPr>
              <a:t>an unusually grounded validation base</a:t>
            </a:r>
          </a:p>
        </p:txBody>
      </p:sp>
      <p:sp>
        <p:nvSpPr>
          <p:cNvPr id="4" name="TextBox 4"/>
          <p:cNvSpPr txBox="1"/>
          <p:nvPr/>
        </p:nvSpPr>
        <p:spPr>
          <a:xfrm>
            <a:off x="521970" y="1109662"/>
            <a:ext cx="12285799" cy="440055"/>
          </a:xfrm>
          <a:prstGeom prst="rect">
            <a:avLst/>
          </a:prstGeom>
          <a:noFill/>
          <a:ln>
            <a:noFill/>
          </a:ln>
        </p:spPr>
        <p:txBody>
          <a:bodyPr wrap="none" lIns="0" tIns="0" rIns="0" bIns="0" anchor="t" anchorCtr="0">
            <a:spAutoFit/>
          </a:bodyPr>
          <a:lstStyle/>
          <a:p>
            <a:pPr algn="l"/>
            <a:r>
              <a:rPr lang="en-US" sz="2250" dirty="0">
                <a:solidFill>
                  <a:srgbClr val="111827"/>
                </a:solidFill>
                <a:latin typeface="Arial"/>
                <a:ea typeface="Arial"/>
                <a:cs typeface="Arial"/>
              </a:rPr>
              <a:t>Fancy's starts with repeat demand, named grocery interest, and packaging work.</a:t>
            </a:r>
          </a:p>
        </p:txBody>
      </p:sp>
      <p:sp>
        <p:nvSpPr>
          <p:cNvPr id="5" name="Line 5"/>
          <p:cNvSpPr/>
          <p:nvPr/>
        </p:nvSpPr>
        <p:spPr>
          <a:xfrm>
            <a:off x="533400" y="1619250"/>
            <a:ext cx="11125200" cy="9525"/>
          </a:xfrm>
          <a:custGeom>
            <a:avLst/>
            <a:gdLst/>
            <a:ahLst/>
            <a:cxnLst/>
            <a:rect l="l" t="t" r="r" b="b"/>
            <a:pathLst>
              <a:path w="11125200" h="9525">
                <a:moveTo>
                  <a:pt x="0" y="0"/>
                </a:moveTo>
                <a:lnTo>
                  <a:pt x="11125200" y="0"/>
                </a:lnTo>
              </a:path>
            </a:pathLst>
          </a:custGeom>
          <a:noFill/>
          <a:ln w="9525">
            <a:solidFill>
              <a:srgbClr val="D7DEE8"/>
            </a:solidFill>
          </a:ln>
        </p:spPr>
      </p:sp>
      <p:sp>
        <p:nvSpPr>
          <p:cNvPr id="6" name="Line 6"/>
          <p:cNvSpPr/>
          <p:nvPr/>
        </p:nvSpPr>
        <p:spPr>
          <a:xfrm>
            <a:off x="1752600" y="3733800"/>
            <a:ext cx="8686800" cy="9525"/>
          </a:xfrm>
          <a:custGeom>
            <a:avLst/>
            <a:gdLst/>
            <a:ahLst/>
            <a:cxnLst/>
            <a:rect l="l" t="t" r="r" b="b"/>
            <a:pathLst>
              <a:path w="8686800" h="9525">
                <a:moveTo>
                  <a:pt x="0" y="0"/>
                </a:moveTo>
                <a:lnTo>
                  <a:pt x="8686800" y="0"/>
                </a:lnTo>
              </a:path>
            </a:pathLst>
          </a:custGeom>
          <a:noFill/>
          <a:ln w="19050">
            <a:solidFill>
              <a:srgbClr val="D7DEE8"/>
            </a:solidFill>
          </a:ln>
        </p:spPr>
      </p:sp>
      <p:sp>
        <p:nvSpPr>
          <p:cNvPr id="7" name="Ellipse 7"/>
          <p:cNvSpPr/>
          <p:nvPr/>
        </p:nvSpPr>
        <p:spPr>
          <a:xfrm>
            <a:off x="2019300" y="3562350"/>
            <a:ext cx="342900" cy="342900"/>
          </a:xfrm>
          <a:prstGeom prst="ellipse">
            <a:avLst/>
          </a:prstGeom>
          <a:solidFill>
            <a:srgbClr val="2C8C6C"/>
          </a:solidFill>
          <a:ln>
            <a:noFill/>
          </a:ln>
        </p:spPr>
      </p:sp>
      <p:sp>
        <p:nvSpPr>
          <p:cNvPr id="8" name="Ellipse 8"/>
          <p:cNvSpPr/>
          <p:nvPr/>
        </p:nvSpPr>
        <p:spPr>
          <a:xfrm>
            <a:off x="5924550" y="3562350"/>
            <a:ext cx="342900" cy="342900"/>
          </a:xfrm>
          <a:prstGeom prst="ellipse">
            <a:avLst/>
          </a:prstGeom>
          <a:solidFill>
            <a:srgbClr val="2C8C6C"/>
          </a:solidFill>
          <a:ln>
            <a:noFill/>
          </a:ln>
        </p:spPr>
      </p:sp>
      <p:sp>
        <p:nvSpPr>
          <p:cNvPr id="9" name="Ellipse 9"/>
          <p:cNvSpPr/>
          <p:nvPr/>
        </p:nvSpPr>
        <p:spPr>
          <a:xfrm>
            <a:off x="9829800" y="3562350"/>
            <a:ext cx="342900" cy="342900"/>
          </a:xfrm>
          <a:prstGeom prst="ellipse">
            <a:avLst/>
          </a:prstGeom>
          <a:solidFill>
            <a:srgbClr val="2C8C6C"/>
          </a:solidFill>
          <a:ln>
            <a:noFill/>
          </a:ln>
        </p:spPr>
      </p:sp>
      <p:sp>
        <p:nvSpPr>
          <p:cNvPr id="10" name="Rectangle 10"/>
          <p:cNvSpPr/>
          <p:nvPr/>
        </p:nvSpPr>
        <p:spPr>
          <a:xfrm>
            <a:off x="876300" y="2171700"/>
            <a:ext cx="2628900" cy="1219200"/>
          </a:xfrm>
          <a:prstGeom prst="rect">
            <a:avLst/>
          </a:prstGeom>
          <a:solidFill>
            <a:srgbClr val="F4F7FA"/>
          </a:solidFill>
          <a:ln w="9525">
            <a:solidFill>
              <a:srgbClr val="D7DEE8"/>
            </a:solidFill>
          </a:ln>
        </p:spPr>
      </p:sp>
      <p:sp>
        <p:nvSpPr>
          <p:cNvPr id="11" name="TextBox 11"/>
          <p:cNvSpPr txBox="1"/>
          <p:nvPr/>
        </p:nvSpPr>
        <p:spPr>
          <a:xfrm>
            <a:off x="1094232" y="2345055"/>
            <a:ext cx="2256615" cy="410718"/>
          </a:xfrm>
          <a:prstGeom prst="rect">
            <a:avLst/>
          </a:prstGeom>
          <a:noFill/>
          <a:ln>
            <a:noFill/>
          </a:ln>
        </p:spPr>
        <p:txBody>
          <a:bodyPr wrap="none" lIns="0" tIns="0" rIns="0" bIns="0" anchor="t" anchorCtr="0">
            <a:spAutoFit/>
          </a:bodyPr>
          <a:lstStyle/>
          <a:p>
            <a:pPr algn="l"/>
            <a:r>
              <a:rPr lang="en-US" sz="2100" b="1" dirty="0">
                <a:solidFill>
                  <a:srgbClr val="0B2E4A"/>
                </a:solidFill>
                <a:latin typeface="Arial"/>
                <a:ea typeface="Arial"/>
                <a:cs typeface="Arial"/>
              </a:rPr>
              <a:t>Restaurant pull</a:t>
            </a:r>
          </a:p>
        </p:txBody>
      </p:sp>
      <p:sp>
        <p:nvSpPr>
          <p:cNvPr id="12" name="TextBox 12"/>
          <p:cNvSpPr txBox="1"/>
          <p:nvPr/>
        </p:nvSpPr>
        <p:spPr>
          <a:xfrm>
            <a:off x="1095756" y="2834640"/>
            <a:ext cx="2368753" cy="352044"/>
          </a:xfrm>
          <a:prstGeom prst="rect">
            <a:avLst/>
          </a:prstGeom>
          <a:noFill/>
          <a:ln>
            <a:noFill/>
          </a:ln>
        </p:spPr>
        <p:txBody>
          <a:bodyPr wrap="none" lIns="0" tIns="0" rIns="0" bIns="0" anchor="t" anchorCtr="0">
            <a:spAutoFit/>
          </a:bodyPr>
          <a:lstStyle/>
          <a:p>
            <a:pPr algn="l"/>
            <a:r>
              <a:rPr lang="en-US" sz="1800" dirty="0">
                <a:solidFill>
                  <a:srgbClr val="111827"/>
                </a:solidFill>
                <a:latin typeface="Arial"/>
                <a:ea typeface="Arial"/>
                <a:cs typeface="Arial"/>
              </a:rPr>
              <a:t>18 years of dessert</a:t>
            </a:r>
          </a:p>
        </p:txBody>
      </p:sp>
      <p:sp>
        <p:nvSpPr>
          <p:cNvPr id="13" name="TextBox 13"/>
          <p:cNvSpPr txBox="1"/>
          <p:nvPr/>
        </p:nvSpPr>
        <p:spPr>
          <a:xfrm>
            <a:off x="1095756" y="3139440"/>
            <a:ext cx="2756459" cy="352044"/>
          </a:xfrm>
          <a:prstGeom prst="rect">
            <a:avLst/>
          </a:prstGeom>
          <a:noFill/>
          <a:ln>
            <a:noFill/>
          </a:ln>
        </p:spPr>
        <p:txBody>
          <a:bodyPr wrap="none" lIns="0" tIns="0" rIns="0" bIns="0" anchor="t" anchorCtr="0">
            <a:spAutoFit/>
          </a:bodyPr>
          <a:lstStyle/>
          <a:p>
            <a:pPr algn="l"/>
            <a:r>
              <a:rPr lang="en-US" sz="1800" dirty="0">
                <a:solidFill>
                  <a:srgbClr val="111827"/>
                </a:solidFill>
                <a:latin typeface="Arial"/>
                <a:ea typeface="Arial"/>
                <a:cs typeface="Arial"/>
              </a:rPr>
              <a:t>requests in two stores</a:t>
            </a:r>
          </a:p>
        </p:txBody>
      </p:sp>
      <p:sp>
        <p:nvSpPr>
          <p:cNvPr id="14" name="Rectangle 14"/>
          <p:cNvSpPr/>
          <p:nvPr/>
        </p:nvSpPr>
        <p:spPr>
          <a:xfrm>
            <a:off x="4781550" y="2171700"/>
            <a:ext cx="2628900" cy="1219200"/>
          </a:xfrm>
          <a:prstGeom prst="rect">
            <a:avLst/>
          </a:prstGeom>
          <a:solidFill>
            <a:srgbClr val="FFFFFF"/>
          </a:solidFill>
          <a:ln w="9525">
            <a:solidFill>
              <a:srgbClr val="D7DEE8"/>
            </a:solidFill>
          </a:ln>
        </p:spPr>
      </p:sp>
      <p:sp>
        <p:nvSpPr>
          <p:cNvPr id="15" name="TextBox 15"/>
          <p:cNvSpPr txBox="1"/>
          <p:nvPr/>
        </p:nvSpPr>
        <p:spPr>
          <a:xfrm>
            <a:off x="4999482" y="2345055"/>
            <a:ext cx="2182106" cy="410718"/>
          </a:xfrm>
          <a:prstGeom prst="rect">
            <a:avLst/>
          </a:prstGeom>
          <a:noFill/>
          <a:ln>
            <a:noFill/>
          </a:ln>
        </p:spPr>
        <p:txBody>
          <a:bodyPr wrap="none" lIns="0" tIns="0" rIns="0" bIns="0" anchor="t" anchorCtr="0">
            <a:spAutoFit/>
          </a:bodyPr>
          <a:lstStyle/>
          <a:p>
            <a:pPr algn="l"/>
            <a:r>
              <a:rPr lang="en-US" sz="2100" b="1" dirty="0">
                <a:solidFill>
                  <a:srgbClr val="0B2E4A"/>
                </a:solidFill>
                <a:latin typeface="Arial"/>
                <a:ea typeface="Arial"/>
                <a:cs typeface="Arial"/>
              </a:rPr>
              <a:t>Retail interest</a:t>
            </a:r>
          </a:p>
        </p:txBody>
      </p:sp>
      <p:sp>
        <p:nvSpPr>
          <p:cNvPr id="16" name="TextBox 16"/>
          <p:cNvSpPr txBox="1"/>
          <p:nvPr/>
        </p:nvSpPr>
        <p:spPr>
          <a:xfrm>
            <a:off x="5001006" y="2834640"/>
            <a:ext cx="2002905" cy="352044"/>
          </a:xfrm>
          <a:prstGeom prst="rect">
            <a:avLst/>
          </a:prstGeom>
          <a:noFill/>
          <a:ln>
            <a:noFill/>
          </a:ln>
        </p:spPr>
        <p:txBody>
          <a:bodyPr wrap="none" lIns="0" tIns="0" rIns="0" bIns="0" anchor="t" anchorCtr="0">
            <a:spAutoFit/>
          </a:bodyPr>
          <a:lstStyle/>
          <a:p>
            <a:pPr algn="l"/>
            <a:r>
              <a:rPr lang="en-US" sz="1800" dirty="0">
                <a:solidFill>
                  <a:srgbClr val="111827"/>
                </a:solidFill>
                <a:latin typeface="Arial"/>
                <a:ea typeface="Arial"/>
                <a:cs typeface="Arial"/>
              </a:rPr>
              <a:t>Pruett's IGA and</a:t>
            </a:r>
          </a:p>
        </p:txBody>
      </p:sp>
      <p:sp>
        <p:nvSpPr>
          <p:cNvPr id="17" name="TextBox 17"/>
          <p:cNvSpPr txBox="1"/>
          <p:nvPr/>
        </p:nvSpPr>
        <p:spPr>
          <a:xfrm>
            <a:off x="5001006" y="3139440"/>
            <a:ext cx="2312175" cy="352044"/>
          </a:xfrm>
          <a:prstGeom prst="rect">
            <a:avLst/>
          </a:prstGeom>
          <a:noFill/>
          <a:ln>
            <a:noFill/>
          </a:ln>
        </p:spPr>
        <p:txBody>
          <a:bodyPr wrap="none" lIns="0" tIns="0" rIns="0" bIns="0" anchor="t" anchorCtr="0">
            <a:spAutoFit/>
          </a:bodyPr>
          <a:lstStyle/>
          <a:p>
            <a:pPr algn="l"/>
            <a:r>
              <a:rPr lang="en-US" sz="1800" dirty="0">
                <a:solidFill>
                  <a:srgbClr val="111827"/>
                </a:solidFill>
                <a:latin typeface="Arial"/>
                <a:ea typeface="Arial"/>
                <a:cs typeface="Arial"/>
              </a:rPr>
              <a:t>Gardiner's Grocery</a:t>
            </a:r>
          </a:p>
        </p:txBody>
      </p:sp>
      <p:sp>
        <p:nvSpPr>
          <p:cNvPr id="18" name="Rectangle 18"/>
          <p:cNvSpPr/>
          <p:nvPr/>
        </p:nvSpPr>
        <p:spPr>
          <a:xfrm>
            <a:off x="8686800" y="2171700"/>
            <a:ext cx="2628900" cy="1219200"/>
          </a:xfrm>
          <a:prstGeom prst="rect">
            <a:avLst/>
          </a:prstGeom>
          <a:solidFill>
            <a:srgbClr val="F4F7FA"/>
          </a:solidFill>
          <a:ln w="9525">
            <a:solidFill>
              <a:srgbClr val="D7DEE8"/>
            </a:solidFill>
          </a:ln>
        </p:spPr>
      </p:sp>
      <p:sp>
        <p:nvSpPr>
          <p:cNvPr id="19" name="TextBox 19"/>
          <p:cNvSpPr txBox="1"/>
          <p:nvPr/>
        </p:nvSpPr>
        <p:spPr>
          <a:xfrm>
            <a:off x="8904732" y="2345055"/>
            <a:ext cx="1930055" cy="410718"/>
          </a:xfrm>
          <a:prstGeom prst="rect">
            <a:avLst/>
          </a:prstGeom>
          <a:noFill/>
          <a:ln>
            <a:noFill/>
          </a:ln>
        </p:spPr>
        <p:txBody>
          <a:bodyPr wrap="none" lIns="0" tIns="0" rIns="0" bIns="0" anchor="t" anchorCtr="0">
            <a:spAutoFit/>
          </a:bodyPr>
          <a:lstStyle/>
          <a:p>
            <a:pPr algn="l"/>
            <a:r>
              <a:rPr lang="en-US" sz="2100" b="1" dirty="0">
                <a:solidFill>
                  <a:srgbClr val="0B2E4A"/>
                </a:solidFill>
                <a:latin typeface="Arial"/>
                <a:ea typeface="Arial"/>
                <a:cs typeface="Arial"/>
              </a:rPr>
              <a:t>Label testing</a:t>
            </a:r>
          </a:p>
        </p:txBody>
      </p:sp>
      <p:sp>
        <p:nvSpPr>
          <p:cNvPr id="20" name="TextBox 20"/>
          <p:cNvSpPr txBox="1"/>
          <p:nvPr/>
        </p:nvSpPr>
        <p:spPr>
          <a:xfrm>
            <a:off x="8906256" y="2834640"/>
            <a:ext cx="2563547" cy="352044"/>
          </a:xfrm>
          <a:prstGeom prst="rect">
            <a:avLst/>
          </a:prstGeom>
          <a:noFill/>
          <a:ln>
            <a:noFill/>
          </a:ln>
        </p:spPr>
        <p:txBody>
          <a:bodyPr wrap="none" lIns="0" tIns="0" rIns="0" bIns="0" anchor="t" anchorCtr="0">
            <a:spAutoFit/>
          </a:bodyPr>
          <a:lstStyle/>
          <a:p>
            <a:pPr algn="l"/>
            <a:r>
              <a:rPr lang="en-US" sz="1800" dirty="0">
                <a:solidFill>
                  <a:srgbClr val="111827"/>
                </a:solidFill>
                <a:latin typeface="Arial"/>
                <a:ea typeface="Arial"/>
                <a:cs typeface="Arial"/>
              </a:rPr>
              <a:t>OSU-supported focus</a:t>
            </a:r>
          </a:p>
        </p:txBody>
      </p:sp>
      <p:sp>
        <p:nvSpPr>
          <p:cNvPr id="21" name="TextBox 21"/>
          <p:cNvSpPr txBox="1"/>
          <p:nvPr/>
        </p:nvSpPr>
        <p:spPr>
          <a:xfrm>
            <a:off x="8906256" y="3139440"/>
            <a:ext cx="2368753" cy="352044"/>
          </a:xfrm>
          <a:prstGeom prst="rect">
            <a:avLst/>
          </a:prstGeom>
          <a:noFill/>
          <a:ln>
            <a:noFill/>
          </a:ln>
        </p:spPr>
        <p:txBody>
          <a:bodyPr wrap="none" lIns="0" tIns="0" rIns="0" bIns="0" anchor="t" anchorCtr="0">
            <a:spAutoFit/>
          </a:bodyPr>
          <a:lstStyle/>
          <a:p>
            <a:pPr algn="l"/>
            <a:r>
              <a:rPr lang="en-US" sz="1800" dirty="0">
                <a:solidFill>
                  <a:srgbClr val="111827"/>
                </a:solidFill>
                <a:latin typeface="Arial"/>
                <a:ea typeface="Arial"/>
                <a:cs typeface="Arial"/>
              </a:rPr>
              <a:t>group and packaging</a:t>
            </a:r>
          </a:p>
        </p:txBody>
      </p:sp>
      <p:sp>
        <p:nvSpPr>
          <p:cNvPr id="22" name="TextBox 22"/>
          <p:cNvSpPr txBox="1"/>
          <p:nvPr/>
        </p:nvSpPr>
        <p:spPr>
          <a:xfrm>
            <a:off x="867156" y="4377690"/>
            <a:ext cx="10659618" cy="675894"/>
          </a:xfrm>
          <a:prstGeom prst="rect">
            <a:avLst/>
          </a:prstGeom>
          <a:noFill/>
          <a:ln>
            <a:noFill/>
          </a:ln>
        </p:spPr>
        <p:txBody>
          <a:bodyPr wrap="square" lIns="0" tIns="0" rIns="0" bIns="0" anchor="t" anchorCtr="0"/>
          <a:lstStyle/>
          <a:p>
            <a:pPr algn="l">
              <a:lnSpc>
                <a:spcPts val="2550"/>
              </a:lnSpc>
            </a:pPr>
            <a:r>
              <a:rPr lang="en-US" sz="1800" dirty="0">
                <a:solidFill>
                  <a:srgbClr val="111827"/>
                </a:solidFill>
                <a:latin typeface="Arial"/>
                <a:ea typeface="Arial"/>
                <a:cs typeface="Arial"/>
              </a:rPr>
              <a:t xml:space="preserve">The plan is not starting from a generic flavor idea. It has repeat restaurant demand, named </a:t>
            </a:r>
            <a:r>
              <a:rPr lang="en-US" sz="1800" dirty="0">
                <a:solidFill>
                  <a:srgbClr val="111827"/>
                </a:solidFill>
                <a:latin typeface="Arial"/>
                <a:ea typeface="Arial"/>
                <a:cs typeface="Arial"/>
              </a:rPr>
              <a:t>retailer willingness in Antlers and Hugo, and packaging work tied to Oklahoma State University.</a:t>
            </a:r>
          </a:p>
        </p:txBody>
      </p:sp>
      <p:sp>
        <p:nvSpPr>
          <p:cNvPr id="23" name="Rectangle 23"/>
          <p:cNvSpPr/>
          <p:nvPr/>
        </p:nvSpPr>
        <p:spPr>
          <a:xfrm>
            <a:off x="876300" y="5200650"/>
            <a:ext cx="10439400" cy="742950"/>
          </a:xfrm>
          <a:prstGeom prst="rect">
            <a:avLst/>
          </a:prstGeom>
          <a:solidFill>
            <a:srgbClr val="0B2E4A"/>
          </a:solidFill>
          <a:ln>
            <a:noFill/>
          </a:ln>
        </p:spPr>
      </p:sp>
      <p:sp>
        <p:nvSpPr>
          <p:cNvPr id="24" name="TextBox 24"/>
          <p:cNvSpPr txBox="1"/>
          <p:nvPr/>
        </p:nvSpPr>
        <p:spPr>
          <a:xfrm>
            <a:off x="1095756" y="5320665"/>
            <a:ext cx="8779383" cy="637794"/>
          </a:xfrm>
          <a:prstGeom prst="rect">
            <a:avLst/>
          </a:prstGeom>
          <a:noFill/>
          <a:ln>
            <a:noFill/>
          </a:ln>
        </p:spPr>
        <p:txBody>
          <a:bodyPr wrap="square" lIns="0" tIns="0" rIns="0" bIns="0" anchor="t" anchorCtr="0"/>
          <a:lstStyle/>
          <a:p>
            <a:pPr algn="l">
              <a:lnSpc>
                <a:spcPts val="2250"/>
              </a:lnSpc>
            </a:pPr>
            <a:r>
              <a:rPr lang="en-US" sz="1800" b="1" dirty="0">
                <a:solidFill>
                  <a:srgbClr val="FFFFFF"/>
                </a:solidFill>
                <a:latin typeface="Arial"/>
                <a:ea typeface="Arial"/>
                <a:cs typeface="Arial"/>
              </a:rPr>
              <a:t xml:space="preserve">Investment implication: validation is local and specific, so the first launch </a:t>
            </a:r>
            <a:r>
              <a:rPr lang="en-US" sz="1800" b="1" dirty="0">
                <a:solidFill>
                  <a:srgbClr val="FFFFFF"/>
                </a:solidFill>
                <a:latin typeface="Arial"/>
                <a:ea typeface="Arial"/>
                <a:cs typeface="Arial"/>
              </a:rPr>
              <a:t>can be concentrated rather than broad and speculative.</a:t>
            </a:r>
          </a:p>
        </p:txBody>
      </p:sp>
      <p:sp>
        <p:nvSpPr>
          <p:cNvPr id="25" name="TextBox 25"/>
          <p:cNvSpPr txBox="1"/>
          <p:nvPr/>
        </p:nvSpPr>
        <p:spPr>
          <a:xfrm>
            <a:off x="527685" y="6317456"/>
            <a:ext cx="5535346" cy="220028"/>
          </a:xfrm>
          <a:prstGeom prst="rect">
            <a:avLst/>
          </a:prstGeom>
          <a:noFill/>
          <a:ln>
            <a:noFill/>
          </a:ln>
        </p:spPr>
        <p:txBody>
          <a:bodyPr wrap="none" lIns="0" tIns="0" rIns="0" bIns="0" anchor="t" anchorCtr="0">
            <a:spAutoFit/>
          </a:bodyPr>
          <a:lstStyle/>
          <a:p>
            <a:pPr algn="l"/>
            <a:r>
              <a:rPr lang="en-US" sz="1120" dirty="0">
                <a:solidFill>
                  <a:srgbClr val="5B677A"/>
                </a:solidFill>
                <a:latin typeface="Arial"/>
                <a:ea typeface="Arial"/>
                <a:cs typeface="Arial"/>
              </a:rPr>
              <a:t>Source: PDF background/history and marketing strategy sections / Slide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516636" y="234315"/>
            <a:ext cx="7844504" cy="1121664"/>
          </a:xfrm>
          <a:prstGeom prst="rect">
            <a:avLst/>
          </a:prstGeom>
          <a:noFill/>
          <a:ln>
            <a:noFill/>
          </a:ln>
        </p:spPr>
        <p:txBody>
          <a:bodyPr wrap="square" lIns="0" tIns="0" rIns="0" bIns="0" anchor="t" anchorCtr="0"/>
          <a:lstStyle/>
          <a:p>
            <a:pPr algn="l">
              <a:lnSpc>
                <a:spcPts val="3750"/>
              </a:lnSpc>
            </a:pPr>
            <a:r>
              <a:rPr lang="en-US" sz="3300" b="1" dirty="0">
                <a:solidFill>
                  <a:srgbClr val="0B2E4A"/>
                </a:solidFill>
                <a:latin typeface="Arial"/>
                <a:ea typeface="Arial"/>
                <a:cs typeface="Arial"/>
              </a:rPr>
              <a:t xml:space="preserve">Expansion is phased from local proof </a:t>
            </a:r>
            <a:r>
              <a:rPr lang="en-US" sz="3300" b="1" dirty="0">
                <a:solidFill>
                  <a:srgbClr val="0B2E4A"/>
                </a:solidFill>
                <a:latin typeface="Arial"/>
                <a:ea typeface="Arial"/>
                <a:cs typeface="Arial"/>
              </a:rPr>
              <a:t>to Oklahoma City, then Tulsa</a:t>
            </a:r>
          </a:p>
        </p:txBody>
      </p:sp>
      <p:sp>
        <p:nvSpPr>
          <p:cNvPr id="4" name="TextBox 4"/>
          <p:cNvSpPr txBox="1"/>
          <p:nvPr/>
        </p:nvSpPr>
        <p:spPr>
          <a:xfrm>
            <a:off x="521970" y="1109662"/>
            <a:ext cx="9846945" cy="440055"/>
          </a:xfrm>
          <a:prstGeom prst="rect">
            <a:avLst/>
          </a:prstGeom>
          <a:noFill/>
          <a:ln>
            <a:noFill/>
          </a:ln>
        </p:spPr>
        <p:txBody>
          <a:bodyPr wrap="none" lIns="0" tIns="0" rIns="0" bIns="0" anchor="t" anchorCtr="0">
            <a:spAutoFit/>
          </a:bodyPr>
          <a:lstStyle/>
          <a:p>
            <a:pPr algn="l"/>
            <a:r>
              <a:rPr lang="en-US" sz="2250" dirty="0">
                <a:solidFill>
                  <a:srgbClr val="111827"/>
                </a:solidFill>
                <a:latin typeface="Arial"/>
                <a:ea typeface="Arial"/>
                <a:cs typeface="Arial"/>
              </a:rPr>
              <a:t>The plan avoids a broad launch by sequencing markets and volumes.</a:t>
            </a:r>
          </a:p>
        </p:txBody>
      </p:sp>
      <p:sp>
        <p:nvSpPr>
          <p:cNvPr id="5" name="Line 5"/>
          <p:cNvSpPr/>
          <p:nvPr/>
        </p:nvSpPr>
        <p:spPr>
          <a:xfrm>
            <a:off x="533400" y="1619250"/>
            <a:ext cx="11125200" cy="9525"/>
          </a:xfrm>
          <a:custGeom>
            <a:avLst/>
            <a:gdLst/>
            <a:ahLst/>
            <a:cxnLst/>
            <a:rect l="l" t="t" r="r" b="b"/>
            <a:pathLst>
              <a:path w="11125200" h="9525">
                <a:moveTo>
                  <a:pt x="0" y="0"/>
                </a:moveTo>
                <a:lnTo>
                  <a:pt x="11125200" y="0"/>
                </a:lnTo>
              </a:path>
            </a:pathLst>
          </a:custGeom>
          <a:noFill/>
          <a:ln w="9525">
            <a:solidFill>
              <a:srgbClr val="D7DEE8"/>
            </a:solidFill>
          </a:ln>
        </p:spPr>
      </p:sp>
      <p:grpSp>
        <p:nvGrpSpPr>
          <p:cNvPr id="47" name="Group 47"/>
          <p:cNvGrpSpPr/>
          <p:nvPr/>
        </p:nvGrpSpPr>
        <p:grpSpPr>
          <a:xfrm>
            <a:off x="914400" y="1943100"/>
            <a:ext cx="6762750" cy="3143250"/>
            <a:chOff x="914400" y="1943100"/>
            <a:chExt cx="6762750" cy="3143250"/>
          </a:xfrm>
        </p:grpSpPr>
        <p:sp>
          <p:nvSpPr>
            <p:cNvPr id="6" name="Rectangle 6"/>
            <p:cNvSpPr/>
            <p:nvPr/>
          </p:nvSpPr>
          <p:spPr>
            <a:xfrm>
              <a:off x="914400" y="1943100"/>
              <a:ext cx="6762750" cy="3143250"/>
            </a:xfrm>
            <a:prstGeom prst="rect">
              <a:avLst/>
            </a:prstGeom>
            <a:solidFill>
              <a:srgbClr val="FFFFFF"/>
            </a:solidFill>
            <a:ln w="9525">
              <a:solidFill>
                <a:srgbClr val="D7DEE8"/>
              </a:solidFill>
            </a:ln>
          </p:spPr>
        </p:sp>
        <p:sp>
          <p:nvSpPr>
            <p:cNvPr id="7" name="Rectangle 7"/>
            <p:cNvSpPr/>
            <p:nvPr/>
          </p:nvSpPr>
          <p:spPr>
            <a:xfrm>
              <a:off x="914400" y="1943100"/>
              <a:ext cx="6762750" cy="514350"/>
            </a:xfrm>
            <a:prstGeom prst="rect">
              <a:avLst/>
            </a:prstGeom>
            <a:solidFill>
              <a:srgbClr val="0B2E4A"/>
            </a:solidFill>
            <a:ln>
              <a:noFill/>
            </a:ln>
          </p:spPr>
        </p:sp>
        <p:sp>
          <p:nvSpPr>
            <p:cNvPr id="8" name="Line 8"/>
            <p:cNvSpPr/>
            <p:nvPr/>
          </p:nvSpPr>
          <p:spPr>
            <a:xfrm>
              <a:off x="2400300" y="1943100"/>
              <a:ext cx="9525" cy="3143250"/>
            </a:xfrm>
            <a:custGeom>
              <a:avLst/>
              <a:gdLst/>
              <a:ahLst/>
              <a:cxnLst/>
              <a:rect l="l" t="t" r="r" b="b"/>
              <a:pathLst>
                <a:path w="9525" h="3143250">
                  <a:moveTo>
                    <a:pt x="0" y="0"/>
                  </a:moveTo>
                  <a:lnTo>
                    <a:pt x="0" y="3143250"/>
                  </a:lnTo>
                </a:path>
              </a:pathLst>
            </a:custGeom>
            <a:noFill/>
            <a:ln w="9525">
              <a:solidFill>
                <a:srgbClr val="D7DEE8"/>
              </a:solidFill>
            </a:ln>
          </p:spPr>
        </p:sp>
        <p:sp>
          <p:nvSpPr>
            <p:cNvPr id="9" name="Line 9"/>
            <p:cNvSpPr/>
            <p:nvPr/>
          </p:nvSpPr>
          <p:spPr>
            <a:xfrm>
              <a:off x="3886200" y="1943100"/>
              <a:ext cx="9525" cy="3143250"/>
            </a:xfrm>
            <a:custGeom>
              <a:avLst/>
              <a:gdLst/>
              <a:ahLst/>
              <a:cxnLst/>
              <a:rect l="l" t="t" r="r" b="b"/>
              <a:pathLst>
                <a:path w="9525" h="3143250">
                  <a:moveTo>
                    <a:pt x="0" y="0"/>
                  </a:moveTo>
                  <a:lnTo>
                    <a:pt x="0" y="3143250"/>
                  </a:lnTo>
                </a:path>
              </a:pathLst>
            </a:custGeom>
            <a:noFill/>
            <a:ln w="9525">
              <a:solidFill>
                <a:srgbClr val="D7DEE8"/>
              </a:solidFill>
            </a:ln>
          </p:spPr>
        </p:sp>
        <p:sp>
          <p:nvSpPr>
            <p:cNvPr id="10" name="Line 10"/>
            <p:cNvSpPr/>
            <p:nvPr/>
          </p:nvSpPr>
          <p:spPr>
            <a:xfrm>
              <a:off x="5372100" y="1943100"/>
              <a:ext cx="9525" cy="3143250"/>
            </a:xfrm>
            <a:custGeom>
              <a:avLst/>
              <a:gdLst/>
              <a:ahLst/>
              <a:cxnLst/>
              <a:rect l="l" t="t" r="r" b="b"/>
              <a:pathLst>
                <a:path w="9525" h="3143250">
                  <a:moveTo>
                    <a:pt x="0" y="0"/>
                  </a:moveTo>
                  <a:lnTo>
                    <a:pt x="0" y="3143250"/>
                  </a:lnTo>
                </a:path>
              </a:pathLst>
            </a:custGeom>
            <a:noFill/>
            <a:ln w="9525">
              <a:solidFill>
                <a:srgbClr val="D7DEE8"/>
              </a:solidFill>
            </a:ln>
          </p:spPr>
        </p:sp>
        <p:sp>
          <p:nvSpPr>
            <p:cNvPr id="11" name="Line 11"/>
            <p:cNvSpPr/>
            <p:nvPr/>
          </p:nvSpPr>
          <p:spPr>
            <a:xfrm>
              <a:off x="6191250" y="1943100"/>
              <a:ext cx="9525" cy="3143250"/>
            </a:xfrm>
            <a:custGeom>
              <a:avLst/>
              <a:gdLst/>
              <a:ahLst/>
              <a:cxnLst/>
              <a:rect l="l" t="t" r="r" b="b"/>
              <a:pathLst>
                <a:path w="9525" h="3143250">
                  <a:moveTo>
                    <a:pt x="0" y="0"/>
                  </a:moveTo>
                  <a:lnTo>
                    <a:pt x="0" y="3143250"/>
                  </a:lnTo>
                </a:path>
              </a:pathLst>
            </a:custGeom>
            <a:noFill/>
            <a:ln w="9525">
              <a:solidFill>
                <a:srgbClr val="D7DEE8"/>
              </a:solidFill>
            </a:ln>
          </p:spPr>
        </p:sp>
        <p:sp>
          <p:nvSpPr>
            <p:cNvPr id="12" name="Line 12"/>
            <p:cNvSpPr/>
            <p:nvPr/>
          </p:nvSpPr>
          <p:spPr>
            <a:xfrm>
              <a:off x="914400" y="2457450"/>
              <a:ext cx="6762750" cy="9525"/>
            </a:xfrm>
            <a:custGeom>
              <a:avLst/>
              <a:gdLst/>
              <a:ahLst/>
              <a:cxnLst/>
              <a:rect l="l" t="t" r="r" b="b"/>
              <a:pathLst>
                <a:path w="6762750" h="9525">
                  <a:moveTo>
                    <a:pt x="0" y="0"/>
                  </a:moveTo>
                  <a:lnTo>
                    <a:pt x="6762750" y="0"/>
                  </a:lnTo>
                </a:path>
              </a:pathLst>
            </a:custGeom>
            <a:noFill/>
            <a:ln w="9525">
              <a:solidFill>
                <a:srgbClr val="D7DEE8"/>
              </a:solidFill>
            </a:ln>
          </p:spPr>
        </p:sp>
        <p:sp>
          <p:nvSpPr>
            <p:cNvPr id="13" name="Line 13"/>
            <p:cNvSpPr/>
            <p:nvPr/>
          </p:nvSpPr>
          <p:spPr>
            <a:xfrm>
              <a:off x="914400" y="2981325"/>
              <a:ext cx="6762750" cy="9525"/>
            </a:xfrm>
            <a:custGeom>
              <a:avLst/>
              <a:gdLst/>
              <a:ahLst/>
              <a:cxnLst/>
              <a:rect l="l" t="t" r="r" b="b"/>
              <a:pathLst>
                <a:path w="6762750" h="9525">
                  <a:moveTo>
                    <a:pt x="0" y="0"/>
                  </a:moveTo>
                  <a:lnTo>
                    <a:pt x="6762750" y="0"/>
                  </a:lnTo>
                </a:path>
              </a:pathLst>
            </a:custGeom>
            <a:noFill/>
            <a:ln w="9525">
              <a:solidFill>
                <a:srgbClr val="E8EDF3"/>
              </a:solidFill>
            </a:ln>
          </p:spPr>
        </p:sp>
        <p:sp>
          <p:nvSpPr>
            <p:cNvPr id="14" name="Line 14"/>
            <p:cNvSpPr/>
            <p:nvPr/>
          </p:nvSpPr>
          <p:spPr>
            <a:xfrm>
              <a:off x="914400" y="3505200"/>
              <a:ext cx="6762750" cy="9525"/>
            </a:xfrm>
            <a:custGeom>
              <a:avLst/>
              <a:gdLst/>
              <a:ahLst/>
              <a:cxnLst/>
              <a:rect l="l" t="t" r="r" b="b"/>
              <a:pathLst>
                <a:path w="6762750" h="9525">
                  <a:moveTo>
                    <a:pt x="0" y="0"/>
                  </a:moveTo>
                  <a:lnTo>
                    <a:pt x="6762750" y="0"/>
                  </a:lnTo>
                </a:path>
              </a:pathLst>
            </a:custGeom>
            <a:noFill/>
            <a:ln w="9525">
              <a:solidFill>
                <a:srgbClr val="E8EDF3"/>
              </a:solidFill>
            </a:ln>
          </p:spPr>
        </p:sp>
        <p:sp>
          <p:nvSpPr>
            <p:cNvPr id="15" name="Line 15"/>
            <p:cNvSpPr/>
            <p:nvPr/>
          </p:nvSpPr>
          <p:spPr>
            <a:xfrm>
              <a:off x="914400" y="4029075"/>
              <a:ext cx="6762750" cy="9525"/>
            </a:xfrm>
            <a:custGeom>
              <a:avLst/>
              <a:gdLst/>
              <a:ahLst/>
              <a:cxnLst/>
              <a:rect l="l" t="t" r="r" b="b"/>
              <a:pathLst>
                <a:path w="6762750" h="9525">
                  <a:moveTo>
                    <a:pt x="0" y="0"/>
                  </a:moveTo>
                  <a:lnTo>
                    <a:pt x="6762750" y="0"/>
                  </a:lnTo>
                </a:path>
              </a:pathLst>
            </a:custGeom>
            <a:noFill/>
            <a:ln w="9525">
              <a:solidFill>
                <a:srgbClr val="E8EDF3"/>
              </a:solidFill>
            </a:ln>
          </p:spPr>
        </p:sp>
        <p:sp>
          <p:nvSpPr>
            <p:cNvPr id="16" name="Line 16"/>
            <p:cNvSpPr/>
            <p:nvPr/>
          </p:nvSpPr>
          <p:spPr>
            <a:xfrm>
              <a:off x="914400" y="4552950"/>
              <a:ext cx="6762750" cy="9525"/>
            </a:xfrm>
            <a:custGeom>
              <a:avLst/>
              <a:gdLst/>
              <a:ahLst/>
              <a:cxnLst/>
              <a:rect l="l" t="t" r="r" b="b"/>
              <a:pathLst>
                <a:path w="6762750" h="9525">
                  <a:moveTo>
                    <a:pt x="0" y="0"/>
                  </a:moveTo>
                  <a:lnTo>
                    <a:pt x="6762750" y="0"/>
                  </a:lnTo>
                </a:path>
              </a:pathLst>
            </a:custGeom>
            <a:noFill/>
            <a:ln w="9525">
              <a:solidFill>
                <a:srgbClr val="E8EDF3"/>
              </a:solidFill>
            </a:ln>
          </p:spPr>
        </p:sp>
        <p:sp>
          <p:nvSpPr>
            <p:cNvPr id="17" name="TextBox 17"/>
            <p:cNvSpPr txBox="1"/>
            <p:nvPr/>
          </p:nvSpPr>
          <p:spPr>
            <a:xfrm>
              <a:off x="1117854" y="2146935"/>
              <a:ext cx="611467"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Arial"/>
                  <a:ea typeface="Arial"/>
                  <a:cs typeface="Arial"/>
                </a:rPr>
                <a:t>Market</a:t>
              </a:r>
            </a:p>
          </p:txBody>
        </p:sp>
        <p:sp>
          <p:nvSpPr>
            <p:cNvPr id="18" name="TextBox 18"/>
            <p:cNvSpPr txBox="1"/>
            <p:nvPr/>
          </p:nvSpPr>
          <p:spPr>
            <a:xfrm>
              <a:off x="2660904" y="2146935"/>
              <a:ext cx="860298"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Arial"/>
                  <a:ea typeface="Arial"/>
                  <a:cs typeface="Arial"/>
                </a:rPr>
                <a:t>1999 units</a:t>
              </a:r>
            </a:p>
          </p:txBody>
        </p:sp>
        <p:sp>
          <p:nvSpPr>
            <p:cNvPr id="19" name="TextBox 19"/>
            <p:cNvSpPr txBox="1"/>
            <p:nvPr/>
          </p:nvSpPr>
          <p:spPr>
            <a:xfrm>
              <a:off x="4146804" y="2146935"/>
              <a:ext cx="860298"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Arial"/>
                  <a:ea typeface="Arial"/>
                  <a:cs typeface="Arial"/>
                </a:rPr>
                <a:t>2000 units</a:t>
              </a:r>
            </a:p>
          </p:txBody>
        </p:sp>
        <p:sp>
          <p:nvSpPr>
            <p:cNvPr id="20" name="TextBox 20"/>
            <p:cNvSpPr txBox="1"/>
            <p:nvPr/>
          </p:nvSpPr>
          <p:spPr>
            <a:xfrm>
              <a:off x="5632704" y="2146935"/>
              <a:ext cx="860298"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Arial"/>
                  <a:ea typeface="Arial"/>
                  <a:cs typeface="Arial"/>
                </a:rPr>
                <a:t>2001 units</a:t>
              </a:r>
            </a:p>
          </p:txBody>
        </p:sp>
        <p:sp>
          <p:nvSpPr>
            <p:cNvPr id="21" name="TextBox 21"/>
            <p:cNvSpPr txBox="1"/>
            <p:nvPr/>
          </p:nvSpPr>
          <p:spPr>
            <a:xfrm>
              <a:off x="6413754" y="2146935"/>
              <a:ext cx="347634"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Arial"/>
                  <a:ea typeface="Arial"/>
                  <a:cs typeface="Arial"/>
                </a:rPr>
                <a:t>Role</a:t>
              </a:r>
            </a:p>
          </p:txBody>
        </p:sp>
        <p:sp>
          <p:nvSpPr>
            <p:cNvPr id="22" name="TextBox 22"/>
            <p:cNvSpPr txBox="1"/>
            <p:nvPr/>
          </p:nvSpPr>
          <p:spPr>
            <a:xfrm>
              <a:off x="1117092" y="2654618"/>
              <a:ext cx="673260"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Antlers</a:t>
              </a:r>
            </a:p>
          </p:txBody>
        </p:sp>
        <p:sp>
          <p:nvSpPr>
            <p:cNvPr id="23" name="TextBox 23"/>
            <p:cNvSpPr txBox="1"/>
            <p:nvPr/>
          </p:nvSpPr>
          <p:spPr>
            <a:xfrm>
              <a:off x="2698242" y="2654618"/>
              <a:ext cx="613448"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24,000</a:t>
              </a:r>
            </a:p>
          </p:txBody>
        </p:sp>
        <p:sp>
          <p:nvSpPr>
            <p:cNvPr id="24" name="TextBox 24"/>
            <p:cNvSpPr txBox="1"/>
            <p:nvPr/>
          </p:nvSpPr>
          <p:spPr>
            <a:xfrm>
              <a:off x="4184142" y="2654618"/>
              <a:ext cx="613448"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26,400</a:t>
              </a:r>
            </a:p>
          </p:txBody>
        </p:sp>
        <p:sp>
          <p:nvSpPr>
            <p:cNvPr id="25" name="TextBox 25"/>
            <p:cNvSpPr txBox="1"/>
            <p:nvPr/>
          </p:nvSpPr>
          <p:spPr>
            <a:xfrm>
              <a:off x="5670042" y="2654618"/>
              <a:ext cx="613448"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29,040</a:t>
              </a:r>
            </a:p>
          </p:txBody>
        </p:sp>
        <p:sp>
          <p:nvSpPr>
            <p:cNvPr id="26" name="TextBox 26"/>
            <p:cNvSpPr txBox="1"/>
            <p:nvPr/>
          </p:nvSpPr>
          <p:spPr>
            <a:xfrm>
              <a:off x="6412992" y="2654618"/>
              <a:ext cx="876967" cy="264033"/>
            </a:xfrm>
            <a:prstGeom prst="rect">
              <a:avLst/>
            </a:prstGeom>
            <a:noFill/>
            <a:ln>
              <a:noFill/>
            </a:ln>
          </p:spPr>
          <p:txBody>
            <a:bodyPr wrap="none" lIns="0" tIns="0" rIns="0" bIns="0" anchor="t" anchorCtr="0">
              <a:spAutoFit/>
            </a:bodyPr>
            <a:lstStyle/>
            <a:p>
              <a:pPr algn="l"/>
              <a:r>
                <a:rPr lang="en-US" sz="1350" dirty="0">
                  <a:solidFill>
                    <a:srgbClr val="5B677A"/>
                  </a:solidFill>
                  <a:latin typeface="Arial"/>
                  <a:ea typeface="Arial"/>
                  <a:cs typeface="Arial"/>
                </a:rPr>
                <a:t>local base</a:t>
              </a:r>
            </a:p>
          </p:txBody>
        </p:sp>
        <p:sp>
          <p:nvSpPr>
            <p:cNvPr id="27" name="TextBox 27"/>
            <p:cNvSpPr txBox="1"/>
            <p:nvPr/>
          </p:nvSpPr>
          <p:spPr>
            <a:xfrm>
              <a:off x="1117092" y="3178492"/>
              <a:ext cx="419195"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Hugo</a:t>
              </a:r>
            </a:p>
          </p:txBody>
        </p:sp>
        <p:sp>
          <p:nvSpPr>
            <p:cNvPr id="28" name="TextBox 28"/>
            <p:cNvSpPr txBox="1"/>
            <p:nvPr/>
          </p:nvSpPr>
          <p:spPr>
            <a:xfrm>
              <a:off x="2698242" y="3178492"/>
              <a:ext cx="613448"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36,000</a:t>
              </a:r>
            </a:p>
          </p:txBody>
        </p:sp>
        <p:sp>
          <p:nvSpPr>
            <p:cNvPr id="29" name="TextBox 29"/>
            <p:cNvSpPr txBox="1"/>
            <p:nvPr/>
          </p:nvSpPr>
          <p:spPr>
            <a:xfrm>
              <a:off x="4184142" y="3178492"/>
              <a:ext cx="613448"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39,600</a:t>
              </a:r>
            </a:p>
          </p:txBody>
        </p:sp>
        <p:sp>
          <p:nvSpPr>
            <p:cNvPr id="30" name="TextBox 30"/>
            <p:cNvSpPr txBox="1"/>
            <p:nvPr/>
          </p:nvSpPr>
          <p:spPr>
            <a:xfrm>
              <a:off x="5670042" y="3178492"/>
              <a:ext cx="613448"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43,560</a:t>
              </a:r>
            </a:p>
          </p:txBody>
        </p:sp>
        <p:sp>
          <p:nvSpPr>
            <p:cNvPr id="31" name="TextBox 31"/>
            <p:cNvSpPr txBox="1"/>
            <p:nvPr/>
          </p:nvSpPr>
          <p:spPr>
            <a:xfrm>
              <a:off x="6412992" y="3178492"/>
              <a:ext cx="876967" cy="264033"/>
            </a:xfrm>
            <a:prstGeom prst="rect">
              <a:avLst/>
            </a:prstGeom>
            <a:noFill/>
            <a:ln>
              <a:noFill/>
            </a:ln>
          </p:spPr>
          <p:txBody>
            <a:bodyPr wrap="none" lIns="0" tIns="0" rIns="0" bIns="0" anchor="t" anchorCtr="0">
              <a:spAutoFit/>
            </a:bodyPr>
            <a:lstStyle/>
            <a:p>
              <a:pPr algn="l"/>
              <a:r>
                <a:rPr lang="en-US" sz="1350" dirty="0">
                  <a:solidFill>
                    <a:srgbClr val="5B677A"/>
                  </a:solidFill>
                  <a:latin typeface="Arial"/>
                  <a:ea typeface="Arial"/>
                  <a:cs typeface="Arial"/>
                </a:rPr>
                <a:t>local base</a:t>
              </a:r>
            </a:p>
          </p:txBody>
        </p:sp>
        <p:sp>
          <p:nvSpPr>
            <p:cNvPr id="32" name="TextBox 32"/>
            <p:cNvSpPr txBox="1"/>
            <p:nvPr/>
          </p:nvSpPr>
          <p:spPr>
            <a:xfrm>
              <a:off x="1117092" y="3702368"/>
              <a:ext cx="1261186"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Oklahoma City</a:t>
              </a:r>
            </a:p>
          </p:txBody>
        </p:sp>
        <p:sp>
          <p:nvSpPr>
            <p:cNvPr id="33" name="TextBox 33"/>
            <p:cNvSpPr txBox="1"/>
            <p:nvPr/>
          </p:nvSpPr>
          <p:spPr>
            <a:xfrm>
              <a:off x="2698242" y="3702368"/>
              <a:ext cx="613448"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45,000</a:t>
              </a:r>
            </a:p>
          </p:txBody>
        </p:sp>
        <p:sp>
          <p:nvSpPr>
            <p:cNvPr id="34" name="TextBox 34"/>
            <p:cNvSpPr txBox="1"/>
            <p:nvPr/>
          </p:nvSpPr>
          <p:spPr>
            <a:xfrm>
              <a:off x="4184142" y="3702368"/>
              <a:ext cx="713403"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120,000</a:t>
              </a:r>
            </a:p>
          </p:txBody>
        </p:sp>
        <p:sp>
          <p:nvSpPr>
            <p:cNvPr id="35" name="TextBox 35"/>
            <p:cNvSpPr txBox="1"/>
            <p:nvPr/>
          </p:nvSpPr>
          <p:spPr>
            <a:xfrm>
              <a:off x="5670042" y="3702368"/>
              <a:ext cx="713403"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132,000</a:t>
              </a:r>
            </a:p>
          </p:txBody>
        </p:sp>
        <p:sp>
          <p:nvSpPr>
            <p:cNvPr id="36" name="TextBox 36"/>
            <p:cNvSpPr txBox="1"/>
            <p:nvPr/>
          </p:nvSpPr>
          <p:spPr>
            <a:xfrm>
              <a:off x="6412992" y="3702368"/>
              <a:ext cx="1058704" cy="264033"/>
            </a:xfrm>
            <a:prstGeom prst="rect">
              <a:avLst/>
            </a:prstGeom>
            <a:noFill/>
            <a:ln>
              <a:noFill/>
            </a:ln>
          </p:spPr>
          <p:txBody>
            <a:bodyPr wrap="none" lIns="0" tIns="0" rIns="0" bIns="0" anchor="t" anchorCtr="0">
              <a:spAutoFit/>
            </a:bodyPr>
            <a:lstStyle/>
            <a:p>
              <a:pPr algn="l"/>
              <a:r>
                <a:rPr lang="en-US" sz="1350" dirty="0">
                  <a:solidFill>
                    <a:srgbClr val="5B677A"/>
                  </a:solidFill>
                  <a:latin typeface="Arial"/>
                  <a:ea typeface="Arial"/>
                  <a:cs typeface="Arial"/>
                </a:rPr>
                <a:t>metro scale</a:t>
              </a:r>
            </a:p>
          </p:txBody>
        </p:sp>
        <p:sp>
          <p:nvSpPr>
            <p:cNvPr id="37" name="TextBox 37"/>
            <p:cNvSpPr txBox="1"/>
            <p:nvPr/>
          </p:nvSpPr>
          <p:spPr>
            <a:xfrm>
              <a:off x="1117092" y="4226242"/>
              <a:ext cx="473202"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Tulsa</a:t>
              </a:r>
            </a:p>
          </p:txBody>
        </p:sp>
        <p:sp>
          <p:nvSpPr>
            <p:cNvPr id="38" name="TextBox 38"/>
            <p:cNvSpPr txBox="1"/>
            <p:nvPr/>
          </p:nvSpPr>
          <p:spPr>
            <a:xfrm>
              <a:off x="2698242" y="4226242"/>
              <a:ext cx="113671"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0</a:t>
              </a:r>
            </a:p>
          </p:txBody>
        </p:sp>
        <p:sp>
          <p:nvSpPr>
            <p:cNvPr id="39" name="TextBox 39"/>
            <p:cNvSpPr txBox="1"/>
            <p:nvPr/>
          </p:nvSpPr>
          <p:spPr>
            <a:xfrm>
              <a:off x="4184142" y="4226242"/>
              <a:ext cx="113671"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0</a:t>
              </a:r>
            </a:p>
          </p:txBody>
        </p:sp>
        <p:sp>
          <p:nvSpPr>
            <p:cNvPr id="40" name="TextBox 40"/>
            <p:cNvSpPr txBox="1"/>
            <p:nvPr/>
          </p:nvSpPr>
          <p:spPr>
            <a:xfrm>
              <a:off x="5670042" y="4226242"/>
              <a:ext cx="613448"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54,000</a:t>
              </a:r>
            </a:p>
          </p:txBody>
        </p:sp>
        <p:sp>
          <p:nvSpPr>
            <p:cNvPr id="41" name="TextBox 41"/>
            <p:cNvSpPr txBox="1"/>
            <p:nvPr/>
          </p:nvSpPr>
          <p:spPr>
            <a:xfrm>
              <a:off x="6412992" y="4226242"/>
              <a:ext cx="904227" cy="264033"/>
            </a:xfrm>
            <a:prstGeom prst="rect">
              <a:avLst/>
            </a:prstGeom>
            <a:noFill/>
            <a:ln>
              <a:noFill/>
            </a:ln>
          </p:spPr>
          <p:txBody>
            <a:bodyPr wrap="none" lIns="0" tIns="0" rIns="0" bIns="0" anchor="t" anchorCtr="0">
              <a:spAutoFit/>
            </a:bodyPr>
            <a:lstStyle/>
            <a:p>
              <a:pPr algn="l"/>
              <a:r>
                <a:rPr lang="en-US" sz="1350" dirty="0">
                  <a:solidFill>
                    <a:srgbClr val="5B677A"/>
                  </a:solidFill>
                  <a:latin typeface="Arial"/>
                  <a:ea typeface="Arial"/>
                  <a:cs typeface="Arial"/>
                </a:rPr>
                <a:t>new entry</a:t>
              </a:r>
            </a:p>
          </p:txBody>
        </p:sp>
        <p:sp>
          <p:nvSpPr>
            <p:cNvPr id="42" name="TextBox 42"/>
            <p:cNvSpPr txBox="1"/>
            <p:nvPr/>
          </p:nvSpPr>
          <p:spPr>
            <a:xfrm>
              <a:off x="1117092" y="4750118"/>
              <a:ext cx="496176" cy="264033"/>
            </a:xfrm>
            <a:prstGeom prst="rect">
              <a:avLst/>
            </a:prstGeom>
            <a:noFill/>
            <a:ln>
              <a:noFill/>
            </a:ln>
          </p:spPr>
          <p:txBody>
            <a:bodyPr wrap="none" lIns="0" tIns="0" rIns="0" bIns="0" anchor="t" anchorCtr="0">
              <a:spAutoFit/>
            </a:bodyPr>
            <a:lstStyle/>
            <a:p>
              <a:pPr algn="l"/>
              <a:r>
                <a:rPr lang="en-US" sz="1350" b="1" dirty="0">
                  <a:solidFill>
                    <a:srgbClr val="0B2E4A"/>
                  </a:solidFill>
                  <a:latin typeface="Arial"/>
                  <a:ea typeface="Arial"/>
                  <a:cs typeface="Arial"/>
                </a:rPr>
                <a:t>Total</a:t>
              </a:r>
            </a:p>
          </p:txBody>
        </p:sp>
        <p:sp>
          <p:nvSpPr>
            <p:cNvPr id="43" name="TextBox 43"/>
            <p:cNvSpPr txBox="1"/>
            <p:nvPr/>
          </p:nvSpPr>
          <p:spPr>
            <a:xfrm>
              <a:off x="2698242" y="4750118"/>
              <a:ext cx="748388" cy="264033"/>
            </a:xfrm>
            <a:prstGeom prst="rect">
              <a:avLst/>
            </a:prstGeom>
            <a:noFill/>
            <a:ln>
              <a:noFill/>
            </a:ln>
          </p:spPr>
          <p:txBody>
            <a:bodyPr wrap="none" lIns="0" tIns="0" rIns="0" bIns="0" anchor="t" anchorCtr="0">
              <a:spAutoFit/>
            </a:bodyPr>
            <a:lstStyle/>
            <a:p>
              <a:pPr algn="l"/>
              <a:r>
                <a:rPr lang="en-US" sz="1350" b="1" dirty="0">
                  <a:solidFill>
                    <a:srgbClr val="0B2E4A"/>
                  </a:solidFill>
                  <a:latin typeface="Arial"/>
                  <a:ea typeface="Arial"/>
                  <a:cs typeface="Arial"/>
                </a:rPr>
                <a:t>105,000</a:t>
              </a:r>
            </a:p>
          </p:txBody>
        </p:sp>
        <p:sp>
          <p:nvSpPr>
            <p:cNvPr id="44" name="TextBox 44"/>
            <p:cNvSpPr txBox="1"/>
            <p:nvPr/>
          </p:nvSpPr>
          <p:spPr>
            <a:xfrm>
              <a:off x="4184142" y="4750118"/>
              <a:ext cx="748388" cy="264033"/>
            </a:xfrm>
            <a:prstGeom prst="rect">
              <a:avLst/>
            </a:prstGeom>
            <a:noFill/>
            <a:ln>
              <a:noFill/>
            </a:ln>
          </p:spPr>
          <p:txBody>
            <a:bodyPr wrap="none" lIns="0" tIns="0" rIns="0" bIns="0" anchor="t" anchorCtr="0">
              <a:spAutoFit/>
            </a:bodyPr>
            <a:lstStyle/>
            <a:p>
              <a:pPr algn="l"/>
              <a:r>
                <a:rPr lang="en-US" sz="1350" b="1" dirty="0">
                  <a:solidFill>
                    <a:srgbClr val="0B2E4A"/>
                  </a:solidFill>
                  <a:latin typeface="Arial"/>
                  <a:ea typeface="Arial"/>
                  <a:cs typeface="Arial"/>
                </a:rPr>
                <a:t>186,000</a:t>
              </a:r>
            </a:p>
          </p:txBody>
        </p:sp>
        <p:sp>
          <p:nvSpPr>
            <p:cNvPr id="45" name="TextBox 45"/>
            <p:cNvSpPr txBox="1"/>
            <p:nvPr/>
          </p:nvSpPr>
          <p:spPr>
            <a:xfrm>
              <a:off x="5670042" y="4750118"/>
              <a:ext cx="748388" cy="264033"/>
            </a:xfrm>
            <a:prstGeom prst="rect">
              <a:avLst/>
            </a:prstGeom>
            <a:noFill/>
            <a:ln>
              <a:noFill/>
            </a:ln>
          </p:spPr>
          <p:txBody>
            <a:bodyPr wrap="none" lIns="0" tIns="0" rIns="0" bIns="0" anchor="t" anchorCtr="0">
              <a:spAutoFit/>
            </a:bodyPr>
            <a:lstStyle/>
            <a:p>
              <a:pPr algn="l"/>
              <a:r>
                <a:rPr lang="en-US" sz="1350" b="1" dirty="0">
                  <a:solidFill>
                    <a:srgbClr val="0B2E4A"/>
                  </a:solidFill>
                  <a:latin typeface="Arial"/>
                  <a:ea typeface="Arial"/>
                  <a:cs typeface="Arial"/>
                </a:rPr>
                <a:t>258,600</a:t>
              </a:r>
            </a:p>
          </p:txBody>
        </p:sp>
        <p:sp>
          <p:nvSpPr>
            <p:cNvPr id="46" name="TextBox 46"/>
            <p:cNvSpPr txBox="1"/>
            <p:nvPr/>
          </p:nvSpPr>
          <p:spPr>
            <a:xfrm>
              <a:off x="6412992" y="4750118"/>
              <a:ext cx="910588" cy="264033"/>
            </a:xfrm>
            <a:prstGeom prst="rect">
              <a:avLst/>
            </a:prstGeom>
            <a:noFill/>
            <a:ln>
              <a:noFill/>
            </a:ln>
          </p:spPr>
          <p:txBody>
            <a:bodyPr wrap="none" lIns="0" tIns="0" rIns="0" bIns="0" anchor="t" anchorCtr="0">
              <a:spAutoFit/>
            </a:bodyPr>
            <a:lstStyle/>
            <a:p>
              <a:pPr algn="l"/>
              <a:r>
                <a:rPr lang="en-US" sz="1350" b="1" dirty="0">
                  <a:solidFill>
                    <a:srgbClr val="0B2E4A"/>
                  </a:solidFill>
                  <a:latin typeface="Arial"/>
                  <a:ea typeface="Arial"/>
                  <a:cs typeface="Arial"/>
                </a:rPr>
                <a:t>2.5x 1999</a:t>
              </a:r>
            </a:p>
          </p:txBody>
        </p:sp>
      </p:grpSp>
      <p:sp>
        <p:nvSpPr>
          <p:cNvPr id="48" name="Rectangle 48"/>
          <p:cNvSpPr/>
          <p:nvPr/>
        </p:nvSpPr>
        <p:spPr>
          <a:xfrm>
            <a:off x="8286750" y="1943100"/>
            <a:ext cx="2952750" cy="3143250"/>
          </a:xfrm>
          <a:prstGeom prst="rect">
            <a:avLst/>
          </a:prstGeom>
          <a:solidFill>
            <a:srgbClr val="F4F7FA"/>
          </a:solidFill>
          <a:ln w="9525">
            <a:solidFill>
              <a:srgbClr val="D7DEE8"/>
            </a:solidFill>
          </a:ln>
        </p:spPr>
      </p:sp>
      <p:sp>
        <p:nvSpPr>
          <p:cNvPr id="49" name="TextBox 49"/>
          <p:cNvSpPr txBox="1"/>
          <p:nvPr/>
        </p:nvSpPr>
        <p:spPr>
          <a:xfrm>
            <a:off x="8561832" y="2173605"/>
            <a:ext cx="2405634" cy="410718"/>
          </a:xfrm>
          <a:prstGeom prst="rect">
            <a:avLst/>
          </a:prstGeom>
          <a:noFill/>
          <a:ln>
            <a:noFill/>
          </a:ln>
        </p:spPr>
        <p:txBody>
          <a:bodyPr wrap="none" lIns="0" tIns="0" rIns="0" bIns="0" anchor="t" anchorCtr="0">
            <a:spAutoFit/>
          </a:bodyPr>
          <a:lstStyle/>
          <a:p>
            <a:pPr algn="l"/>
            <a:r>
              <a:rPr lang="en-US" sz="2100" b="1" dirty="0">
                <a:solidFill>
                  <a:srgbClr val="0B2E4A"/>
                </a:solidFill>
                <a:latin typeface="Arial"/>
                <a:ea typeface="Arial"/>
                <a:cs typeface="Arial"/>
              </a:rPr>
              <a:t>Launch sequence</a:t>
            </a:r>
          </a:p>
        </p:txBody>
      </p:sp>
      <p:sp>
        <p:nvSpPr>
          <p:cNvPr id="50" name="TextBox 50"/>
          <p:cNvSpPr txBox="1"/>
          <p:nvPr/>
        </p:nvSpPr>
        <p:spPr>
          <a:xfrm>
            <a:off x="8563356" y="2739390"/>
            <a:ext cx="2326691" cy="352044"/>
          </a:xfrm>
          <a:prstGeom prst="rect">
            <a:avLst/>
          </a:prstGeom>
          <a:noFill/>
          <a:ln>
            <a:noFill/>
          </a:ln>
        </p:spPr>
        <p:txBody>
          <a:bodyPr wrap="none" lIns="0" tIns="0" rIns="0" bIns="0" anchor="t" anchorCtr="0">
            <a:spAutoFit/>
          </a:bodyPr>
          <a:lstStyle/>
          <a:p>
            <a:pPr algn="l"/>
            <a:r>
              <a:rPr lang="en-US" sz="1800" dirty="0">
                <a:solidFill>
                  <a:srgbClr val="111827"/>
                </a:solidFill>
                <a:latin typeface="Arial"/>
                <a:ea typeface="Arial"/>
                <a:cs typeface="Arial"/>
              </a:rPr>
              <a:t>1. Antlers and Hugo</a:t>
            </a:r>
          </a:p>
        </p:txBody>
      </p:sp>
      <p:sp>
        <p:nvSpPr>
          <p:cNvPr id="51" name="TextBox 51"/>
          <p:cNvSpPr txBox="1"/>
          <p:nvPr/>
        </p:nvSpPr>
        <p:spPr>
          <a:xfrm>
            <a:off x="8563356" y="3120390"/>
            <a:ext cx="2435322" cy="352044"/>
          </a:xfrm>
          <a:prstGeom prst="rect">
            <a:avLst/>
          </a:prstGeom>
          <a:noFill/>
          <a:ln>
            <a:noFill/>
          </a:ln>
        </p:spPr>
        <p:txBody>
          <a:bodyPr wrap="none" lIns="0" tIns="0" rIns="0" bIns="0" anchor="t" anchorCtr="0">
            <a:spAutoFit/>
          </a:bodyPr>
          <a:lstStyle/>
          <a:p>
            <a:pPr algn="l"/>
            <a:r>
              <a:rPr lang="en-US" sz="1800" dirty="0">
                <a:solidFill>
                  <a:srgbClr val="111827"/>
                </a:solidFill>
                <a:latin typeface="Arial"/>
                <a:ea typeface="Arial"/>
                <a:cs typeface="Arial"/>
              </a:rPr>
              <a:t>2. Oklahoma City via</a:t>
            </a:r>
          </a:p>
        </p:txBody>
      </p:sp>
      <p:sp>
        <p:nvSpPr>
          <p:cNvPr id="52" name="TextBox 52"/>
          <p:cNvSpPr txBox="1"/>
          <p:nvPr/>
        </p:nvSpPr>
        <p:spPr>
          <a:xfrm>
            <a:off x="8830056" y="3425190"/>
            <a:ext cx="2070202" cy="352044"/>
          </a:xfrm>
          <a:prstGeom prst="rect">
            <a:avLst/>
          </a:prstGeom>
          <a:noFill/>
          <a:ln>
            <a:noFill/>
          </a:ln>
        </p:spPr>
        <p:txBody>
          <a:bodyPr wrap="none" lIns="0" tIns="0" rIns="0" bIns="0" anchor="t" anchorCtr="0">
            <a:spAutoFit/>
          </a:bodyPr>
          <a:lstStyle/>
          <a:p>
            <a:pPr algn="l"/>
            <a:r>
              <a:rPr lang="en-US" sz="1800" dirty="0">
                <a:solidFill>
                  <a:srgbClr val="111827"/>
                </a:solidFill>
                <a:latin typeface="Arial"/>
                <a:ea typeface="Arial"/>
                <a:cs typeface="Arial"/>
              </a:rPr>
              <a:t>Made in Oklahoma</a:t>
            </a:r>
          </a:p>
        </p:txBody>
      </p:sp>
      <p:sp>
        <p:nvSpPr>
          <p:cNvPr id="53" name="TextBox 53"/>
          <p:cNvSpPr txBox="1"/>
          <p:nvPr/>
        </p:nvSpPr>
        <p:spPr>
          <a:xfrm>
            <a:off x="8563356" y="3806190"/>
            <a:ext cx="2450592" cy="352044"/>
          </a:xfrm>
          <a:prstGeom prst="rect">
            <a:avLst/>
          </a:prstGeom>
          <a:noFill/>
          <a:ln>
            <a:noFill/>
          </a:ln>
        </p:spPr>
        <p:txBody>
          <a:bodyPr wrap="none" lIns="0" tIns="0" rIns="0" bIns="0" anchor="t" anchorCtr="0">
            <a:spAutoFit/>
          </a:bodyPr>
          <a:lstStyle/>
          <a:p>
            <a:pPr algn="l"/>
            <a:r>
              <a:rPr lang="en-US" sz="1800" dirty="0">
                <a:solidFill>
                  <a:srgbClr val="111827"/>
                </a:solidFill>
                <a:latin typeface="Arial"/>
                <a:ea typeface="Arial"/>
                <a:cs typeface="Arial"/>
              </a:rPr>
              <a:t>3. Tulsa grocery and</a:t>
            </a:r>
          </a:p>
        </p:txBody>
      </p:sp>
      <p:sp>
        <p:nvSpPr>
          <p:cNvPr id="54" name="TextBox 54"/>
          <p:cNvSpPr txBox="1"/>
          <p:nvPr/>
        </p:nvSpPr>
        <p:spPr>
          <a:xfrm>
            <a:off x="8830056" y="4110990"/>
            <a:ext cx="2150669" cy="352044"/>
          </a:xfrm>
          <a:prstGeom prst="rect">
            <a:avLst/>
          </a:prstGeom>
          <a:noFill/>
          <a:ln>
            <a:noFill/>
          </a:ln>
        </p:spPr>
        <p:txBody>
          <a:bodyPr wrap="none" lIns="0" tIns="0" rIns="0" bIns="0" anchor="t" anchorCtr="0">
            <a:spAutoFit/>
          </a:bodyPr>
          <a:lstStyle/>
          <a:p>
            <a:pPr algn="l"/>
            <a:r>
              <a:rPr lang="en-US" sz="1800" dirty="0">
                <a:solidFill>
                  <a:srgbClr val="111827"/>
                </a:solidFill>
                <a:latin typeface="Arial"/>
                <a:ea typeface="Arial"/>
                <a:cs typeface="Arial"/>
              </a:rPr>
              <a:t>specialty markets</a:t>
            </a:r>
          </a:p>
        </p:txBody>
      </p:sp>
      <p:sp>
        <p:nvSpPr>
          <p:cNvPr id="55" name="Line 55"/>
          <p:cNvSpPr/>
          <p:nvPr/>
        </p:nvSpPr>
        <p:spPr>
          <a:xfrm>
            <a:off x="8572500" y="4514850"/>
            <a:ext cx="2362200" cy="9525"/>
          </a:xfrm>
          <a:custGeom>
            <a:avLst/>
            <a:gdLst/>
            <a:ahLst/>
            <a:cxnLst/>
            <a:rect l="l" t="t" r="r" b="b"/>
            <a:pathLst>
              <a:path w="2362200" h="9525">
                <a:moveTo>
                  <a:pt x="0" y="0"/>
                </a:moveTo>
                <a:lnTo>
                  <a:pt x="2362200" y="0"/>
                </a:lnTo>
              </a:path>
            </a:pathLst>
          </a:custGeom>
          <a:noFill/>
          <a:ln w="9525">
            <a:solidFill>
              <a:srgbClr val="D7DEE8"/>
            </a:solidFill>
          </a:ln>
        </p:spPr>
      </p:sp>
      <p:sp>
        <p:nvSpPr>
          <p:cNvPr id="56" name="TextBox 56"/>
          <p:cNvSpPr txBox="1"/>
          <p:nvPr/>
        </p:nvSpPr>
        <p:spPr>
          <a:xfrm>
            <a:off x="8565642" y="4731068"/>
            <a:ext cx="3391281" cy="721233"/>
          </a:xfrm>
          <a:prstGeom prst="rect">
            <a:avLst/>
          </a:prstGeom>
          <a:noFill/>
          <a:ln>
            <a:noFill/>
          </a:ln>
        </p:spPr>
        <p:txBody>
          <a:bodyPr wrap="square" lIns="0" tIns="0" rIns="0" bIns="0" anchor="t" anchorCtr="0"/>
          <a:lstStyle/>
          <a:p>
            <a:pPr algn="l">
              <a:lnSpc>
                <a:spcPts val="1800"/>
              </a:lnSpc>
            </a:pPr>
            <a:r>
              <a:rPr lang="en-US" sz="1350" dirty="0">
                <a:solidFill>
                  <a:srgbClr val="5B677A"/>
                </a:solidFill>
                <a:latin typeface="Arial"/>
                <a:ea typeface="Arial"/>
                <a:cs typeface="Arial"/>
              </a:rPr>
              <a:t xml:space="preserve">Pratt's Foods and Oklahoma Department </a:t>
            </a:r>
            <a:r>
              <a:rPr lang="en-US" sz="1350" dirty="0">
                <a:solidFill>
                  <a:srgbClr val="5B677A"/>
                </a:solidFill>
                <a:latin typeface="Arial"/>
                <a:ea typeface="Arial"/>
                <a:cs typeface="Arial"/>
              </a:rPr>
              <a:t xml:space="preserve">of Agriculture are the named OKC </a:t>
            </a:r>
            <a:r>
              <a:rPr lang="en-US" sz="1350" dirty="0">
                <a:solidFill>
                  <a:srgbClr val="5B677A"/>
                </a:solidFill>
                <a:latin typeface="Arial"/>
                <a:ea typeface="Arial"/>
                <a:cs typeface="Arial"/>
              </a:rPr>
              <a:t>program context.</a:t>
            </a:r>
          </a:p>
        </p:txBody>
      </p:sp>
      <p:sp>
        <p:nvSpPr>
          <p:cNvPr id="57" name="TextBox 57"/>
          <p:cNvSpPr txBox="1"/>
          <p:nvPr/>
        </p:nvSpPr>
        <p:spPr>
          <a:xfrm>
            <a:off x="524256" y="5711190"/>
            <a:ext cx="6653786" cy="352044"/>
          </a:xfrm>
          <a:prstGeom prst="rect">
            <a:avLst/>
          </a:prstGeom>
          <a:noFill/>
          <a:ln>
            <a:noFill/>
          </a:ln>
        </p:spPr>
        <p:txBody>
          <a:bodyPr wrap="none" lIns="0" tIns="0" rIns="0" bIns="0" anchor="t" anchorCtr="0">
            <a:spAutoFit/>
          </a:bodyPr>
          <a:lstStyle/>
          <a:p>
            <a:pPr algn="l"/>
            <a:r>
              <a:rPr lang="en-US" sz="1800" dirty="0">
                <a:solidFill>
                  <a:srgbClr val="111827"/>
                </a:solidFill>
                <a:latin typeface="Arial"/>
                <a:ea typeface="Arial"/>
                <a:cs typeface="Arial"/>
              </a:rPr>
              <a:t>This is a phased channel plan, not a national retail jump.</a:t>
            </a:r>
          </a:p>
        </p:txBody>
      </p:sp>
      <p:sp>
        <p:nvSpPr>
          <p:cNvPr id="58" name="TextBox 58"/>
          <p:cNvSpPr txBox="1"/>
          <p:nvPr/>
        </p:nvSpPr>
        <p:spPr>
          <a:xfrm>
            <a:off x="527685" y="6317456"/>
            <a:ext cx="6599041" cy="220028"/>
          </a:xfrm>
          <a:prstGeom prst="rect">
            <a:avLst/>
          </a:prstGeom>
          <a:noFill/>
          <a:ln>
            <a:noFill/>
          </a:ln>
        </p:spPr>
        <p:txBody>
          <a:bodyPr wrap="none" lIns="0" tIns="0" rIns="0" bIns="0" anchor="t" anchorCtr="0">
            <a:spAutoFit/>
          </a:bodyPr>
          <a:lstStyle/>
          <a:p>
            <a:pPr algn="l"/>
            <a:r>
              <a:rPr lang="en-US" sz="1120" dirty="0">
                <a:solidFill>
                  <a:srgbClr val="5B677A"/>
                </a:solidFill>
                <a:latin typeface="Arial"/>
                <a:ea typeface="Arial"/>
                <a:cs typeface="Arial"/>
              </a:rPr>
              <a:t>Source: PDF marketing strategies and 1999-2001 income statement assumptions / Slide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516636" y="234315"/>
            <a:ext cx="8790623" cy="1121664"/>
          </a:xfrm>
          <a:prstGeom prst="rect">
            <a:avLst/>
          </a:prstGeom>
          <a:noFill/>
          <a:ln>
            <a:noFill/>
          </a:ln>
        </p:spPr>
        <p:txBody>
          <a:bodyPr wrap="square" lIns="0" tIns="0" rIns="0" bIns="0" anchor="t" anchorCtr="0"/>
          <a:lstStyle/>
          <a:p>
            <a:pPr algn="l">
              <a:lnSpc>
                <a:spcPts val="3750"/>
              </a:lnSpc>
            </a:pPr>
            <a:r>
              <a:rPr lang="en-US" sz="3300" b="1" dirty="0">
                <a:solidFill>
                  <a:srgbClr val="0B2E4A"/>
                </a:solidFill>
                <a:latin typeface="Arial"/>
                <a:ea typeface="Arial"/>
                <a:cs typeface="Arial"/>
              </a:rPr>
              <a:t xml:space="preserve">Dual formats cover both buyer behaviors </a:t>
            </a:r>
            <a:r>
              <a:rPr lang="en-US" sz="3300" b="1" dirty="0">
                <a:solidFill>
                  <a:srgbClr val="0B2E4A"/>
                </a:solidFill>
                <a:latin typeface="Arial"/>
                <a:ea typeface="Arial"/>
                <a:cs typeface="Arial"/>
              </a:rPr>
              <a:t>in the whipped topping category</a:t>
            </a:r>
          </a:p>
        </p:txBody>
      </p:sp>
      <p:sp>
        <p:nvSpPr>
          <p:cNvPr id="4" name="TextBox 4"/>
          <p:cNvSpPr txBox="1"/>
          <p:nvPr/>
        </p:nvSpPr>
        <p:spPr>
          <a:xfrm>
            <a:off x="521970" y="1109662"/>
            <a:ext cx="11709631" cy="440055"/>
          </a:xfrm>
          <a:prstGeom prst="rect">
            <a:avLst/>
          </a:prstGeom>
          <a:noFill/>
          <a:ln>
            <a:noFill/>
          </a:ln>
        </p:spPr>
        <p:txBody>
          <a:bodyPr wrap="none" lIns="0" tIns="0" rIns="0" bIns="0" anchor="t" anchorCtr="0">
            <a:spAutoFit/>
          </a:bodyPr>
          <a:lstStyle/>
          <a:p>
            <a:pPr algn="l"/>
            <a:r>
              <a:rPr lang="en-US" sz="2250" dirty="0">
                <a:solidFill>
                  <a:srgbClr val="111827"/>
                </a:solidFill>
                <a:latin typeface="Arial"/>
                <a:ea typeface="Arial"/>
                <a:cs typeface="Arial"/>
              </a:rPr>
              <a:t>Frozen tubs and pressurized cans map directly to the observed purchase split.</a:t>
            </a:r>
          </a:p>
        </p:txBody>
      </p:sp>
      <p:sp>
        <p:nvSpPr>
          <p:cNvPr id="5" name="Line 5"/>
          <p:cNvSpPr/>
          <p:nvPr/>
        </p:nvSpPr>
        <p:spPr>
          <a:xfrm>
            <a:off x="533400" y="1619250"/>
            <a:ext cx="11125200" cy="9525"/>
          </a:xfrm>
          <a:custGeom>
            <a:avLst/>
            <a:gdLst/>
            <a:ahLst/>
            <a:cxnLst/>
            <a:rect l="l" t="t" r="r" b="b"/>
            <a:pathLst>
              <a:path w="11125200" h="9525">
                <a:moveTo>
                  <a:pt x="0" y="0"/>
                </a:moveTo>
                <a:lnTo>
                  <a:pt x="11125200" y="0"/>
                </a:lnTo>
              </a:path>
            </a:pathLst>
          </a:custGeom>
          <a:noFill/>
          <a:ln w="9525">
            <a:solidFill>
              <a:srgbClr val="D7DEE8"/>
            </a:solidFill>
          </a:ln>
        </p:spPr>
      </p:sp>
      <p:grpSp>
        <p:nvGrpSpPr>
          <p:cNvPr id="13" name="Group 13"/>
          <p:cNvGrpSpPr/>
          <p:nvPr/>
        </p:nvGrpSpPr>
        <p:grpSpPr>
          <a:xfrm>
            <a:off x="838200" y="2305050"/>
            <a:ext cx="6693532" cy="1299401"/>
            <a:chOff x="838200" y="2305050"/>
            <a:chExt cx="6693532" cy="1299401"/>
          </a:xfrm>
        </p:grpSpPr>
        <p:sp>
          <p:nvSpPr>
            <p:cNvPr id="6" name="Rectangle 6"/>
            <p:cNvSpPr/>
            <p:nvPr/>
          </p:nvSpPr>
          <p:spPr>
            <a:xfrm>
              <a:off x="838200" y="2305050"/>
              <a:ext cx="6496050" cy="1295400"/>
            </a:xfrm>
            <a:prstGeom prst="rect">
              <a:avLst/>
            </a:prstGeom>
            <a:solidFill>
              <a:srgbClr val="F4F7FA"/>
            </a:solidFill>
            <a:ln w="9525">
              <a:solidFill>
                <a:srgbClr val="D7DEE8"/>
              </a:solidFill>
            </a:ln>
          </p:spPr>
        </p:sp>
        <p:sp>
          <p:nvSpPr>
            <p:cNvPr id="7" name="Rectangle 7"/>
            <p:cNvSpPr/>
            <p:nvPr/>
          </p:nvSpPr>
          <p:spPr>
            <a:xfrm>
              <a:off x="1200150" y="2857500"/>
              <a:ext cx="3752850" cy="381000"/>
            </a:xfrm>
            <a:prstGeom prst="rect">
              <a:avLst/>
            </a:prstGeom>
            <a:solidFill>
              <a:srgbClr val="2C8C6C"/>
            </a:solidFill>
            <a:ln>
              <a:noFill/>
            </a:ln>
          </p:spPr>
        </p:sp>
        <p:sp>
          <p:nvSpPr>
            <p:cNvPr id="8" name="Rectangle 8"/>
            <p:cNvSpPr/>
            <p:nvPr/>
          </p:nvSpPr>
          <p:spPr>
            <a:xfrm>
              <a:off x="4953000" y="2857500"/>
              <a:ext cx="2019300" cy="381000"/>
            </a:xfrm>
            <a:prstGeom prst="rect">
              <a:avLst/>
            </a:prstGeom>
            <a:solidFill>
              <a:srgbClr val="D9A441"/>
            </a:solidFill>
            <a:ln>
              <a:noFill/>
            </a:ln>
          </p:spPr>
        </p:sp>
        <p:sp>
          <p:nvSpPr>
            <p:cNvPr id="9" name="TextBox 9"/>
            <p:cNvSpPr txBox="1"/>
            <p:nvPr/>
          </p:nvSpPr>
          <p:spPr>
            <a:xfrm>
              <a:off x="1189482" y="2516505"/>
              <a:ext cx="570485" cy="410718"/>
            </a:xfrm>
            <a:prstGeom prst="rect">
              <a:avLst/>
            </a:prstGeom>
            <a:noFill/>
            <a:ln>
              <a:noFill/>
            </a:ln>
          </p:spPr>
          <p:txBody>
            <a:bodyPr wrap="none" lIns="0" tIns="0" rIns="0" bIns="0" anchor="t" anchorCtr="0">
              <a:spAutoFit/>
            </a:bodyPr>
            <a:lstStyle/>
            <a:p>
              <a:pPr algn="l"/>
              <a:r>
                <a:rPr lang="en-US" sz="2100" b="1" dirty="0">
                  <a:solidFill>
                    <a:srgbClr val="2C8C6C"/>
                  </a:solidFill>
                  <a:latin typeface="Arial"/>
                  <a:ea typeface="Arial"/>
                  <a:cs typeface="Arial"/>
                </a:rPr>
                <a:t>65%</a:t>
              </a:r>
            </a:p>
          </p:txBody>
        </p:sp>
        <p:sp>
          <p:nvSpPr>
            <p:cNvPr id="10" name="TextBox 10"/>
            <p:cNvSpPr txBox="1"/>
            <p:nvPr/>
          </p:nvSpPr>
          <p:spPr>
            <a:xfrm>
              <a:off x="5837682" y="2516505"/>
              <a:ext cx="570485" cy="410718"/>
            </a:xfrm>
            <a:prstGeom prst="rect">
              <a:avLst/>
            </a:prstGeom>
            <a:noFill/>
            <a:ln>
              <a:noFill/>
            </a:ln>
          </p:spPr>
          <p:txBody>
            <a:bodyPr wrap="none" lIns="0" tIns="0" rIns="0" bIns="0" anchor="t" anchorCtr="0">
              <a:spAutoFit/>
            </a:bodyPr>
            <a:lstStyle/>
            <a:p>
              <a:pPr algn="l"/>
              <a:r>
                <a:rPr lang="en-US" sz="2100" b="1" dirty="0">
                  <a:solidFill>
                    <a:srgbClr val="D9A441"/>
                  </a:solidFill>
                  <a:latin typeface="Arial"/>
                  <a:ea typeface="Arial"/>
                  <a:cs typeface="Arial"/>
                </a:rPr>
                <a:t>35%</a:t>
              </a:r>
            </a:p>
          </p:txBody>
        </p:sp>
        <p:sp>
          <p:nvSpPr>
            <p:cNvPr id="11" name="TextBox 11"/>
            <p:cNvSpPr txBox="1"/>
            <p:nvPr/>
          </p:nvSpPr>
          <p:spPr>
            <a:xfrm>
              <a:off x="1193292" y="3340418"/>
              <a:ext cx="1464816"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Frozen tub form</a:t>
              </a:r>
            </a:p>
          </p:txBody>
        </p:sp>
        <p:sp>
          <p:nvSpPr>
            <p:cNvPr id="12" name="TextBox 12"/>
            <p:cNvSpPr txBox="1"/>
            <p:nvPr/>
          </p:nvSpPr>
          <p:spPr>
            <a:xfrm>
              <a:off x="5612892" y="3340418"/>
              <a:ext cx="1918840"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Pressurized can form</a:t>
              </a:r>
            </a:p>
          </p:txBody>
        </p:sp>
      </p:grpSp>
      <p:sp>
        <p:nvSpPr>
          <p:cNvPr id="14" name="Rectangle 14"/>
          <p:cNvSpPr/>
          <p:nvPr/>
        </p:nvSpPr>
        <p:spPr>
          <a:xfrm>
            <a:off x="838200" y="4095750"/>
            <a:ext cx="6496050" cy="1066800"/>
          </a:xfrm>
          <a:prstGeom prst="rect">
            <a:avLst/>
          </a:prstGeom>
          <a:solidFill>
            <a:srgbClr val="FFFFFF"/>
          </a:solidFill>
          <a:ln w="9525">
            <a:solidFill>
              <a:srgbClr val="D7DEE8"/>
            </a:solidFill>
          </a:ln>
        </p:spPr>
      </p:sp>
      <p:sp>
        <p:nvSpPr>
          <p:cNvPr id="15" name="TextBox 15"/>
          <p:cNvSpPr txBox="1"/>
          <p:nvPr/>
        </p:nvSpPr>
        <p:spPr>
          <a:xfrm>
            <a:off x="1189482" y="4269105"/>
            <a:ext cx="2018804" cy="410718"/>
          </a:xfrm>
          <a:prstGeom prst="rect">
            <a:avLst/>
          </a:prstGeom>
          <a:noFill/>
          <a:ln>
            <a:noFill/>
          </a:ln>
        </p:spPr>
        <p:txBody>
          <a:bodyPr wrap="none" lIns="0" tIns="0" rIns="0" bIns="0" anchor="t" anchorCtr="0">
            <a:spAutoFit/>
          </a:bodyPr>
          <a:lstStyle/>
          <a:p>
            <a:pPr algn="l"/>
            <a:r>
              <a:rPr lang="en-US" sz="2100" b="1" dirty="0">
                <a:solidFill>
                  <a:srgbClr val="0B2E4A"/>
                </a:solidFill>
                <a:latin typeface="Arial"/>
                <a:ea typeface="Arial"/>
                <a:cs typeface="Arial"/>
              </a:rPr>
              <a:t>Price position</a:t>
            </a:r>
          </a:p>
        </p:txBody>
      </p:sp>
      <p:sp>
        <p:nvSpPr>
          <p:cNvPr id="16" name="TextBox 16"/>
          <p:cNvSpPr txBox="1"/>
          <p:nvPr/>
        </p:nvSpPr>
        <p:spPr>
          <a:xfrm>
            <a:off x="1191006" y="4758690"/>
            <a:ext cx="3160250" cy="352044"/>
          </a:xfrm>
          <a:prstGeom prst="rect">
            <a:avLst/>
          </a:prstGeom>
          <a:noFill/>
          <a:ln>
            <a:noFill/>
          </a:ln>
        </p:spPr>
        <p:txBody>
          <a:bodyPr wrap="none" lIns="0" tIns="0" rIns="0" bIns="0" anchor="t" anchorCtr="0">
            <a:spAutoFit/>
          </a:bodyPr>
          <a:lstStyle/>
          <a:p>
            <a:pPr algn="l"/>
            <a:r>
              <a:rPr lang="en-US" sz="1800" dirty="0">
                <a:solidFill>
                  <a:srgbClr val="111827"/>
                </a:solidFill>
                <a:latin typeface="Arial"/>
                <a:ea typeface="Arial"/>
                <a:cs typeface="Arial"/>
              </a:rPr>
              <a:t>Competitors: $1.29-$1.89</a:t>
            </a:r>
          </a:p>
        </p:txBody>
      </p:sp>
      <p:sp>
        <p:nvSpPr>
          <p:cNvPr id="17" name="TextBox 17"/>
          <p:cNvSpPr txBox="1"/>
          <p:nvPr/>
        </p:nvSpPr>
        <p:spPr>
          <a:xfrm>
            <a:off x="4181856" y="4758690"/>
            <a:ext cx="2753550" cy="352044"/>
          </a:xfrm>
          <a:prstGeom prst="rect">
            <a:avLst/>
          </a:prstGeom>
          <a:noFill/>
          <a:ln>
            <a:noFill/>
          </a:ln>
        </p:spPr>
        <p:txBody>
          <a:bodyPr wrap="none" lIns="0" tIns="0" rIns="0" bIns="0" anchor="t" anchorCtr="0">
            <a:spAutoFit/>
          </a:bodyPr>
          <a:lstStyle/>
          <a:p>
            <a:pPr algn="l"/>
            <a:r>
              <a:rPr lang="en-US" sz="1800" b="1" dirty="0">
                <a:solidFill>
                  <a:srgbClr val="2C8C6C"/>
                </a:solidFill>
                <a:latin typeface="Arial"/>
                <a:ea typeface="Arial"/>
                <a:cs typeface="Arial"/>
              </a:rPr>
              <a:t>Whipped Dream: $2.29</a:t>
            </a:r>
          </a:p>
        </p:txBody>
      </p:sp>
      <p:sp>
        <p:nvSpPr>
          <p:cNvPr id="18" name="Rectangle 18"/>
          <p:cNvSpPr/>
          <p:nvPr/>
        </p:nvSpPr>
        <p:spPr>
          <a:xfrm>
            <a:off x="8020050" y="2305050"/>
            <a:ext cx="3219450" cy="2857500"/>
          </a:xfrm>
          <a:prstGeom prst="rect">
            <a:avLst/>
          </a:prstGeom>
          <a:solidFill>
            <a:srgbClr val="F4F7FA"/>
          </a:solidFill>
          <a:ln w="9525">
            <a:solidFill>
              <a:srgbClr val="D7DEE8"/>
            </a:solidFill>
          </a:ln>
        </p:spPr>
      </p:sp>
      <p:sp>
        <p:nvSpPr>
          <p:cNvPr id="19" name="TextBox 19"/>
          <p:cNvSpPr txBox="1"/>
          <p:nvPr/>
        </p:nvSpPr>
        <p:spPr>
          <a:xfrm>
            <a:off x="8295132" y="2554605"/>
            <a:ext cx="3742301" cy="410718"/>
          </a:xfrm>
          <a:prstGeom prst="rect">
            <a:avLst/>
          </a:prstGeom>
          <a:noFill/>
          <a:ln>
            <a:noFill/>
          </a:ln>
        </p:spPr>
        <p:txBody>
          <a:bodyPr wrap="none" lIns="0" tIns="0" rIns="0" bIns="0" anchor="t" anchorCtr="0">
            <a:spAutoFit/>
          </a:bodyPr>
          <a:lstStyle/>
          <a:p>
            <a:pPr algn="l"/>
            <a:r>
              <a:rPr lang="en-US" sz="2100" b="1" dirty="0">
                <a:solidFill>
                  <a:srgbClr val="0B2E4A"/>
                </a:solidFill>
                <a:latin typeface="Arial"/>
                <a:ea typeface="Arial"/>
                <a:cs typeface="Arial"/>
              </a:rPr>
              <a:t>Why both formats matter</a:t>
            </a:r>
          </a:p>
        </p:txBody>
      </p:sp>
      <p:sp>
        <p:nvSpPr>
          <p:cNvPr id="20" name="TextBox 20"/>
          <p:cNvSpPr txBox="1"/>
          <p:nvPr/>
        </p:nvSpPr>
        <p:spPr>
          <a:xfrm>
            <a:off x="8296656" y="3120390"/>
            <a:ext cx="3435858" cy="1647444"/>
          </a:xfrm>
          <a:prstGeom prst="rect">
            <a:avLst/>
          </a:prstGeom>
          <a:noFill/>
          <a:ln>
            <a:noFill/>
          </a:ln>
        </p:spPr>
        <p:txBody>
          <a:bodyPr wrap="square" lIns="0" tIns="0" rIns="0" bIns="0" anchor="t" anchorCtr="0"/>
          <a:lstStyle/>
          <a:p>
            <a:pPr algn="l">
              <a:lnSpc>
                <a:spcPts val="2550"/>
              </a:lnSpc>
            </a:pPr>
            <a:r>
              <a:rPr lang="en-US" sz="1800" dirty="0">
                <a:solidFill>
                  <a:srgbClr val="111827"/>
                </a:solidFill>
                <a:latin typeface="Arial"/>
                <a:ea typeface="Arial"/>
                <a:cs typeface="Arial"/>
              </a:rPr>
              <a:t xml:space="preserve">The PDF shows both habits </a:t>
            </a:r>
            <a:r>
              <a:rPr lang="en-US" sz="1800" dirty="0">
                <a:solidFill>
                  <a:srgbClr val="111827"/>
                </a:solidFill>
                <a:latin typeface="Arial"/>
                <a:ea typeface="Arial"/>
                <a:cs typeface="Arial"/>
              </a:rPr>
              <a:t xml:space="preserve">already exist locally. A dual </a:t>
            </a:r>
            <a:r>
              <a:rPr lang="en-US" sz="1800" dirty="0">
                <a:solidFill>
                  <a:srgbClr val="111827"/>
                </a:solidFill>
                <a:latin typeface="Arial"/>
                <a:ea typeface="Arial"/>
                <a:cs typeface="Arial"/>
              </a:rPr>
              <a:t xml:space="preserve">format plan lets Fancy's avoid </a:t>
            </a:r>
            <a:r>
              <a:rPr lang="en-US" sz="1800" dirty="0">
                <a:solidFill>
                  <a:srgbClr val="111827"/>
                </a:solidFill>
                <a:latin typeface="Arial"/>
                <a:ea typeface="Arial"/>
                <a:cs typeface="Arial"/>
              </a:rPr>
              <a:t xml:space="preserve">choosing one retail behavior </a:t>
            </a:r>
            <a:r>
              <a:rPr lang="en-US" sz="1800" dirty="0">
                <a:solidFill>
                  <a:srgbClr val="111827"/>
                </a:solidFill>
                <a:latin typeface="Arial"/>
                <a:ea typeface="Arial"/>
                <a:cs typeface="Arial"/>
              </a:rPr>
              <a:t>before launch data arrives.</a:t>
            </a:r>
          </a:p>
        </p:txBody>
      </p:sp>
      <p:sp>
        <p:nvSpPr>
          <p:cNvPr id="21" name="Line 21"/>
          <p:cNvSpPr/>
          <p:nvPr/>
        </p:nvSpPr>
        <p:spPr>
          <a:xfrm>
            <a:off x="8305800" y="4667250"/>
            <a:ext cx="2647950" cy="9525"/>
          </a:xfrm>
          <a:custGeom>
            <a:avLst/>
            <a:gdLst/>
            <a:ahLst/>
            <a:cxnLst/>
            <a:rect l="l" t="t" r="r" b="b"/>
            <a:pathLst>
              <a:path w="2647950" h="9525">
                <a:moveTo>
                  <a:pt x="0" y="0"/>
                </a:moveTo>
                <a:lnTo>
                  <a:pt x="2647950" y="0"/>
                </a:lnTo>
              </a:path>
            </a:pathLst>
          </a:custGeom>
          <a:noFill/>
          <a:ln w="9525">
            <a:solidFill>
              <a:srgbClr val="D7DEE8"/>
            </a:solidFill>
          </a:ln>
        </p:spPr>
      </p:sp>
      <p:sp>
        <p:nvSpPr>
          <p:cNvPr id="22" name="TextBox 22"/>
          <p:cNvSpPr txBox="1"/>
          <p:nvPr/>
        </p:nvSpPr>
        <p:spPr>
          <a:xfrm>
            <a:off x="8298942" y="4845368"/>
            <a:ext cx="4620076" cy="264033"/>
          </a:xfrm>
          <a:prstGeom prst="rect">
            <a:avLst/>
          </a:prstGeom>
          <a:noFill/>
          <a:ln>
            <a:noFill/>
          </a:ln>
        </p:spPr>
        <p:txBody>
          <a:bodyPr wrap="none" lIns="0" tIns="0" rIns="0" bIns="0" anchor="t" anchorCtr="0">
            <a:spAutoFit/>
          </a:bodyPr>
          <a:lstStyle/>
          <a:p>
            <a:pPr algn="l"/>
            <a:r>
              <a:rPr lang="en-US" sz="1350" dirty="0">
                <a:solidFill>
                  <a:srgbClr val="5B677A"/>
                </a:solidFill>
                <a:latin typeface="Arial"/>
                <a:ea typeface="Arial"/>
                <a:cs typeface="Arial"/>
              </a:rPr>
              <a:t>Can production is contracted to Farm Fresh on P08.</a:t>
            </a:r>
          </a:p>
        </p:txBody>
      </p:sp>
      <p:sp>
        <p:nvSpPr>
          <p:cNvPr id="23" name="TextBox 23"/>
          <p:cNvSpPr txBox="1"/>
          <p:nvPr/>
        </p:nvSpPr>
        <p:spPr>
          <a:xfrm>
            <a:off x="524256" y="5711190"/>
            <a:ext cx="9295072" cy="352044"/>
          </a:xfrm>
          <a:prstGeom prst="rect">
            <a:avLst/>
          </a:prstGeom>
          <a:noFill/>
          <a:ln>
            <a:noFill/>
          </a:ln>
        </p:spPr>
        <p:txBody>
          <a:bodyPr wrap="none" lIns="0" tIns="0" rIns="0" bIns="0" anchor="t" anchorCtr="0">
            <a:spAutoFit/>
          </a:bodyPr>
          <a:lstStyle/>
          <a:p>
            <a:pPr algn="l"/>
            <a:r>
              <a:rPr lang="en-US" sz="1800" dirty="0">
                <a:solidFill>
                  <a:srgbClr val="111827"/>
                </a:solidFill>
                <a:latin typeface="Arial"/>
                <a:ea typeface="Arial"/>
                <a:cs typeface="Arial"/>
              </a:rPr>
              <a:t>The format strategy is source-backed and directly tied to category behavior.</a:t>
            </a:r>
          </a:p>
        </p:txBody>
      </p:sp>
      <p:sp>
        <p:nvSpPr>
          <p:cNvPr id="24" name="TextBox 24"/>
          <p:cNvSpPr txBox="1"/>
          <p:nvPr/>
        </p:nvSpPr>
        <p:spPr>
          <a:xfrm>
            <a:off x="527685" y="6317456"/>
            <a:ext cx="4944532" cy="220028"/>
          </a:xfrm>
          <a:prstGeom prst="rect">
            <a:avLst/>
          </a:prstGeom>
          <a:noFill/>
          <a:ln>
            <a:noFill/>
          </a:ln>
        </p:spPr>
        <p:txBody>
          <a:bodyPr wrap="none" lIns="0" tIns="0" rIns="0" bIns="0" anchor="t" anchorCtr="0">
            <a:spAutoFit/>
          </a:bodyPr>
          <a:lstStyle/>
          <a:p>
            <a:pPr algn="l"/>
            <a:r>
              <a:rPr lang="en-US" sz="1120" dirty="0">
                <a:solidFill>
                  <a:srgbClr val="5B677A"/>
                </a:solidFill>
                <a:latin typeface="Arial"/>
                <a:ea typeface="Arial"/>
                <a:cs typeface="Arial"/>
              </a:rPr>
              <a:t>Source: PDF competition and marketing strategy sections / Slide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4000500" cy="6858000"/>
          </a:xfrm>
          <a:prstGeom prst="rect">
            <a:avLst/>
          </a:prstGeom>
          <a:solidFill>
            <a:srgbClr val="F4F7FA"/>
          </a:solidFill>
          <a:ln>
            <a:noFill/>
          </a:ln>
        </p:spPr>
      </p:sp>
      <p:sp>
        <p:nvSpPr>
          <p:cNvPr id="4" name="TextBox 4"/>
          <p:cNvSpPr txBox="1"/>
          <p:nvPr/>
        </p:nvSpPr>
        <p:spPr>
          <a:xfrm>
            <a:off x="527685" y="812006"/>
            <a:ext cx="1379280" cy="220028"/>
          </a:xfrm>
          <a:prstGeom prst="rect">
            <a:avLst/>
          </a:prstGeom>
          <a:noFill/>
          <a:ln>
            <a:noFill/>
          </a:ln>
        </p:spPr>
        <p:txBody>
          <a:bodyPr wrap="none" lIns="0" tIns="0" rIns="0" bIns="0" anchor="t" anchorCtr="0">
            <a:spAutoFit/>
          </a:bodyPr>
          <a:lstStyle/>
          <a:p>
            <a:pPr algn="l"/>
            <a:r>
              <a:rPr lang="en-US" sz="1120" dirty="0">
                <a:solidFill>
                  <a:srgbClr val="5B677A"/>
                </a:solidFill>
                <a:latin typeface="Arial"/>
                <a:ea typeface="Arial"/>
                <a:cs typeface="Arial"/>
              </a:rPr>
              <a:t>Competitive wedge</a:t>
            </a:r>
          </a:p>
        </p:txBody>
      </p:sp>
      <p:sp>
        <p:nvSpPr>
          <p:cNvPr id="5" name="TextBox 5"/>
          <p:cNvSpPr txBox="1"/>
          <p:nvPr/>
        </p:nvSpPr>
        <p:spPr>
          <a:xfrm>
            <a:off x="514350" y="1179195"/>
            <a:ext cx="4646676" cy="2609850"/>
          </a:xfrm>
          <a:prstGeom prst="rect">
            <a:avLst/>
          </a:prstGeom>
          <a:noFill/>
          <a:ln>
            <a:noFill/>
          </a:ln>
        </p:spPr>
        <p:txBody>
          <a:bodyPr wrap="square" lIns="0" tIns="0" rIns="0" bIns="0" anchor="t" anchorCtr="0"/>
          <a:lstStyle/>
          <a:p>
            <a:pPr algn="l">
              <a:lnSpc>
                <a:spcPts val="6150"/>
              </a:lnSpc>
            </a:pPr>
            <a:r>
              <a:rPr lang="en-US" sz="5400" b="1" dirty="0">
                <a:solidFill>
                  <a:srgbClr val="0B2E4A"/>
                </a:solidFill>
                <a:latin typeface="Arial"/>
                <a:ea typeface="Arial"/>
                <a:cs typeface="Arial"/>
              </a:rPr>
              <a:t xml:space="preserve">National </a:t>
            </a:r>
            <a:r>
              <a:rPr lang="en-US" sz="5400" b="1" dirty="0">
                <a:solidFill>
                  <a:srgbClr val="0B2E4A"/>
                </a:solidFill>
                <a:latin typeface="Arial"/>
                <a:ea typeface="Arial"/>
                <a:cs typeface="Arial"/>
              </a:rPr>
              <a:t xml:space="preserve">brands own </a:t>
            </a:r>
            <a:r>
              <a:rPr lang="en-US" sz="5400" b="1" dirty="0">
                <a:solidFill>
                  <a:srgbClr val="0B2E4A"/>
                </a:solidFill>
                <a:latin typeface="Arial"/>
                <a:ea typeface="Arial"/>
                <a:cs typeface="Arial"/>
              </a:rPr>
              <a:t>distribution.</a:t>
            </a:r>
          </a:p>
        </p:txBody>
      </p:sp>
      <p:sp>
        <p:nvSpPr>
          <p:cNvPr id="6" name="TextBox 6"/>
          <p:cNvSpPr txBox="1"/>
          <p:nvPr/>
        </p:nvSpPr>
        <p:spPr>
          <a:xfrm>
            <a:off x="4781550" y="1417320"/>
            <a:ext cx="5438775" cy="1828800"/>
          </a:xfrm>
          <a:prstGeom prst="rect">
            <a:avLst/>
          </a:prstGeom>
          <a:noFill/>
          <a:ln>
            <a:noFill/>
          </a:ln>
        </p:spPr>
        <p:txBody>
          <a:bodyPr wrap="square" lIns="0" tIns="0" rIns="0" bIns="0" anchor="t" anchorCtr="0"/>
          <a:lstStyle/>
          <a:p>
            <a:pPr algn="l">
              <a:lnSpc>
                <a:spcPts val="6150"/>
              </a:lnSpc>
            </a:pPr>
            <a:r>
              <a:rPr lang="en-US" sz="5400" b="1" dirty="0">
                <a:solidFill>
                  <a:srgbClr val="2C8C6C"/>
                </a:solidFill>
                <a:latin typeface="Arial"/>
                <a:ea typeface="Arial"/>
                <a:cs typeface="Arial"/>
              </a:rPr>
              <a:t xml:space="preserve">Fancy's owns </a:t>
            </a:r>
            <a:r>
              <a:rPr lang="en-US" sz="5400" b="1" dirty="0">
                <a:solidFill>
                  <a:srgbClr val="2C8C6C"/>
                </a:solidFill>
                <a:latin typeface="Arial"/>
                <a:ea typeface="Arial"/>
                <a:cs typeface="Arial"/>
              </a:rPr>
              <a:t>the flavor gap.</a:t>
            </a:r>
          </a:p>
        </p:txBody>
      </p:sp>
      <p:sp>
        <p:nvSpPr>
          <p:cNvPr id="7" name="Line 7"/>
          <p:cNvSpPr/>
          <p:nvPr/>
        </p:nvSpPr>
        <p:spPr>
          <a:xfrm>
            <a:off x="4800600" y="3733800"/>
            <a:ext cx="5924550" cy="9525"/>
          </a:xfrm>
          <a:custGeom>
            <a:avLst/>
            <a:gdLst/>
            <a:ahLst/>
            <a:cxnLst/>
            <a:rect l="l" t="t" r="r" b="b"/>
            <a:pathLst>
              <a:path w="5924550" h="9525">
                <a:moveTo>
                  <a:pt x="0" y="0"/>
                </a:moveTo>
                <a:lnTo>
                  <a:pt x="5924550" y="0"/>
                </a:lnTo>
              </a:path>
            </a:pathLst>
          </a:custGeom>
          <a:noFill/>
          <a:ln w="19050">
            <a:solidFill>
              <a:srgbClr val="D7DEE8"/>
            </a:solidFill>
          </a:ln>
        </p:spPr>
      </p:sp>
      <p:sp>
        <p:nvSpPr>
          <p:cNvPr id="8" name="TextBox 8"/>
          <p:cNvSpPr txBox="1"/>
          <p:nvPr/>
        </p:nvSpPr>
        <p:spPr>
          <a:xfrm>
            <a:off x="4789170" y="4100512"/>
            <a:ext cx="8023860" cy="1640205"/>
          </a:xfrm>
          <a:prstGeom prst="rect">
            <a:avLst/>
          </a:prstGeom>
          <a:noFill/>
          <a:ln>
            <a:noFill/>
          </a:ln>
        </p:spPr>
        <p:txBody>
          <a:bodyPr wrap="square" lIns="0" tIns="0" rIns="0" bIns="0" anchor="t" anchorCtr="0"/>
          <a:lstStyle/>
          <a:p>
            <a:pPr algn="l">
              <a:lnSpc>
                <a:spcPts val="3150"/>
              </a:lnSpc>
            </a:pPr>
            <a:r>
              <a:rPr lang="en-US" sz="2250" dirty="0">
                <a:solidFill>
                  <a:srgbClr val="111827"/>
                </a:solidFill>
                <a:latin typeface="Arial"/>
                <a:ea typeface="Arial"/>
                <a:cs typeface="Arial"/>
              </a:rPr>
              <a:t xml:space="preserve">The source names Kraft and Sara Lee as mainstream </a:t>
            </a:r>
            <a:r>
              <a:rPr lang="en-US" sz="2250" dirty="0">
                <a:solidFill>
                  <a:srgbClr val="111827"/>
                </a:solidFill>
                <a:latin typeface="Arial"/>
                <a:ea typeface="Arial"/>
                <a:cs typeface="Arial"/>
              </a:rPr>
              <a:t xml:space="preserve">competitors with distribution, but also states that none </a:t>
            </a:r>
            <a:r>
              <a:rPr lang="en-US" sz="2250" dirty="0">
                <a:solidFill>
                  <a:srgbClr val="111827"/>
                </a:solidFill>
                <a:latin typeface="Arial"/>
                <a:ea typeface="Arial"/>
                <a:cs typeface="Arial"/>
              </a:rPr>
              <a:t xml:space="preserve">produce or market a flavored topping and several are not </a:t>
            </a:r>
            <a:r>
              <a:rPr lang="en-US" sz="2250" dirty="0">
                <a:solidFill>
                  <a:srgbClr val="111827"/>
                </a:solidFill>
                <a:latin typeface="Arial"/>
                <a:ea typeface="Arial"/>
                <a:cs typeface="Arial"/>
              </a:rPr>
              <a:t>dairy based.</a:t>
            </a:r>
          </a:p>
        </p:txBody>
      </p:sp>
      <p:sp>
        <p:nvSpPr>
          <p:cNvPr id="9" name="TextBox 9"/>
          <p:cNvSpPr txBox="1"/>
          <p:nvPr/>
        </p:nvSpPr>
        <p:spPr>
          <a:xfrm>
            <a:off x="524256" y="5615940"/>
            <a:ext cx="7276338" cy="675894"/>
          </a:xfrm>
          <a:prstGeom prst="rect">
            <a:avLst/>
          </a:prstGeom>
          <a:noFill/>
          <a:ln>
            <a:noFill/>
          </a:ln>
        </p:spPr>
        <p:txBody>
          <a:bodyPr wrap="square" lIns="0" tIns="0" rIns="0" bIns="0" anchor="t" anchorCtr="0"/>
          <a:lstStyle/>
          <a:p>
            <a:pPr algn="l">
              <a:lnSpc>
                <a:spcPts val="2550"/>
              </a:lnSpc>
            </a:pPr>
            <a:r>
              <a:rPr lang="en-US" sz="1800" dirty="0">
                <a:solidFill>
                  <a:srgbClr val="111827"/>
                </a:solidFill>
                <a:latin typeface="Arial"/>
                <a:ea typeface="Arial"/>
                <a:cs typeface="Arial"/>
              </a:rPr>
              <a:t xml:space="preserve">The defensible first wedge is local trust, real dairy, and flavors </a:t>
            </a:r>
            <a:r>
              <a:rPr lang="en-US" sz="1800" dirty="0">
                <a:solidFill>
                  <a:srgbClr val="111827"/>
                </a:solidFill>
                <a:latin typeface="Arial"/>
                <a:ea typeface="Arial"/>
                <a:cs typeface="Arial"/>
              </a:rPr>
              <a:t>that national prepared toppings do not offer in the source.</a:t>
            </a:r>
          </a:p>
        </p:txBody>
      </p:sp>
      <p:sp>
        <p:nvSpPr>
          <p:cNvPr id="10" name="TextBox 10"/>
          <p:cNvSpPr txBox="1"/>
          <p:nvPr/>
        </p:nvSpPr>
        <p:spPr>
          <a:xfrm>
            <a:off x="527685" y="6317456"/>
            <a:ext cx="3067169" cy="220028"/>
          </a:xfrm>
          <a:prstGeom prst="rect">
            <a:avLst/>
          </a:prstGeom>
          <a:noFill/>
          <a:ln>
            <a:noFill/>
          </a:ln>
        </p:spPr>
        <p:txBody>
          <a:bodyPr wrap="none" lIns="0" tIns="0" rIns="0" bIns="0" anchor="t" anchorCtr="0">
            <a:spAutoFit/>
          </a:bodyPr>
          <a:lstStyle/>
          <a:p>
            <a:pPr algn="l"/>
            <a:r>
              <a:rPr lang="en-US" sz="1120" dirty="0">
                <a:solidFill>
                  <a:srgbClr val="5B677A"/>
                </a:solidFill>
                <a:latin typeface="Arial"/>
                <a:ea typeface="Arial"/>
                <a:cs typeface="Arial"/>
              </a:rPr>
              <a:t>Source: PDF competition section / Slide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516636" y="234315"/>
            <a:ext cx="9384697" cy="1121664"/>
          </a:xfrm>
          <a:prstGeom prst="rect">
            <a:avLst/>
          </a:prstGeom>
          <a:noFill/>
          <a:ln>
            <a:noFill/>
          </a:ln>
        </p:spPr>
        <p:txBody>
          <a:bodyPr wrap="square" lIns="0" tIns="0" rIns="0" bIns="0" anchor="t" anchorCtr="0"/>
          <a:lstStyle/>
          <a:p>
            <a:pPr algn="l">
              <a:lnSpc>
                <a:spcPts val="3750"/>
              </a:lnSpc>
            </a:pPr>
            <a:r>
              <a:rPr lang="en-US" sz="3300" b="1" dirty="0">
                <a:solidFill>
                  <a:srgbClr val="0B2E4A"/>
                </a:solidFill>
                <a:latin typeface="Arial"/>
                <a:ea typeface="Arial"/>
                <a:cs typeface="Arial"/>
              </a:rPr>
              <a:t xml:space="preserve">Manufacturing starts asset-light while can </a:t>
            </a:r>
            <a:r>
              <a:rPr lang="en-US" sz="3300" b="1" dirty="0">
                <a:solidFill>
                  <a:srgbClr val="0B2E4A"/>
                </a:solidFill>
                <a:latin typeface="Arial"/>
                <a:ea typeface="Arial"/>
                <a:cs typeface="Arial"/>
              </a:rPr>
              <a:t>production scales through Farm Fresh</a:t>
            </a:r>
          </a:p>
        </p:txBody>
      </p:sp>
      <p:sp>
        <p:nvSpPr>
          <p:cNvPr id="4" name="TextBox 4"/>
          <p:cNvSpPr txBox="1"/>
          <p:nvPr/>
        </p:nvSpPr>
        <p:spPr>
          <a:xfrm>
            <a:off x="521970" y="1109662"/>
            <a:ext cx="12784906" cy="440055"/>
          </a:xfrm>
          <a:prstGeom prst="rect">
            <a:avLst/>
          </a:prstGeom>
          <a:noFill/>
          <a:ln>
            <a:noFill/>
          </a:ln>
        </p:spPr>
        <p:txBody>
          <a:bodyPr wrap="none" lIns="0" tIns="0" rIns="0" bIns="0" anchor="t" anchorCtr="0">
            <a:spAutoFit/>
          </a:bodyPr>
          <a:lstStyle/>
          <a:p>
            <a:pPr algn="l"/>
            <a:r>
              <a:rPr lang="en-US" sz="2250" dirty="0">
                <a:solidFill>
                  <a:srgbClr val="111827"/>
                </a:solidFill>
                <a:latin typeface="Arial"/>
                <a:ea typeface="Arial"/>
                <a:cs typeface="Arial"/>
              </a:rPr>
              <a:t>Existing equipment supports frozen tubs; a dairy processor covers pressurized cans.</a:t>
            </a:r>
          </a:p>
        </p:txBody>
      </p:sp>
      <p:sp>
        <p:nvSpPr>
          <p:cNvPr id="5" name="Line 5"/>
          <p:cNvSpPr/>
          <p:nvPr/>
        </p:nvSpPr>
        <p:spPr>
          <a:xfrm>
            <a:off x="533400" y="1619250"/>
            <a:ext cx="11125200" cy="9525"/>
          </a:xfrm>
          <a:custGeom>
            <a:avLst/>
            <a:gdLst/>
            <a:ahLst/>
            <a:cxnLst/>
            <a:rect l="l" t="t" r="r" b="b"/>
            <a:pathLst>
              <a:path w="11125200" h="9525">
                <a:moveTo>
                  <a:pt x="0" y="0"/>
                </a:moveTo>
                <a:lnTo>
                  <a:pt x="11125200" y="0"/>
                </a:lnTo>
              </a:path>
            </a:pathLst>
          </a:custGeom>
          <a:noFill/>
          <a:ln w="9525">
            <a:solidFill>
              <a:srgbClr val="D7DEE8"/>
            </a:solidFill>
          </a:ln>
        </p:spPr>
      </p:sp>
      <p:sp>
        <p:nvSpPr>
          <p:cNvPr id="6" name="Rectangle 6"/>
          <p:cNvSpPr/>
          <p:nvPr/>
        </p:nvSpPr>
        <p:spPr>
          <a:xfrm>
            <a:off x="838200" y="2133600"/>
            <a:ext cx="4686300" cy="2762250"/>
          </a:xfrm>
          <a:prstGeom prst="rect">
            <a:avLst/>
          </a:prstGeom>
          <a:solidFill>
            <a:srgbClr val="F4F7FA"/>
          </a:solidFill>
          <a:ln w="9525">
            <a:solidFill>
              <a:srgbClr val="D7DEE8"/>
            </a:solidFill>
          </a:ln>
        </p:spPr>
      </p:sp>
      <p:sp>
        <p:nvSpPr>
          <p:cNvPr id="7" name="TextBox 7"/>
          <p:cNvSpPr txBox="1"/>
          <p:nvPr/>
        </p:nvSpPr>
        <p:spPr>
          <a:xfrm>
            <a:off x="1111758" y="2350770"/>
            <a:ext cx="3513197" cy="469392"/>
          </a:xfrm>
          <a:prstGeom prst="rect">
            <a:avLst/>
          </a:prstGeom>
          <a:noFill/>
          <a:ln>
            <a:noFill/>
          </a:ln>
        </p:spPr>
        <p:txBody>
          <a:bodyPr wrap="none" lIns="0" tIns="0" rIns="0" bIns="0" anchor="t" anchorCtr="0">
            <a:spAutoFit/>
          </a:bodyPr>
          <a:lstStyle/>
          <a:p>
            <a:pPr algn="l"/>
            <a:r>
              <a:rPr lang="en-US" sz="2400" b="1" dirty="0">
                <a:solidFill>
                  <a:srgbClr val="0B2E4A"/>
                </a:solidFill>
                <a:latin typeface="Arial"/>
                <a:ea typeface="Arial"/>
                <a:cs typeface="Arial"/>
              </a:rPr>
              <a:t>In-house frozen tubs</a:t>
            </a:r>
          </a:p>
        </p:txBody>
      </p:sp>
      <p:sp>
        <p:nvSpPr>
          <p:cNvPr id="8" name="Line 8"/>
          <p:cNvSpPr/>
          <p:nvPr/>
        </p:nvSpPr>
        <p:spPr>
          <a:xfrm>
            <a:off x="1123950" y="2876550"/>
            <a:ext cx="4114800" cy="9525"/>
          </a:xfrm>
          <a:custGeom>
            <a:avLst/>
            <a:gdLst/>
            <a:ahLst/>
            <a:cxnLst/>
            <a:rect l="l" t="t" r="r" b="b"/>
            <a:pathLst>
              <a:path w="4114800" h="9525">
                <a:moveTo>
                  <a:pt x="0" y="0"/>
                </a:moveTo>
                <a:lnTo>
                  <a:pt x="4114800" y="0"/>
                </a:lnTo>
              </a:path>
            </a:pathLst>
          </a:custGeom>
          <a:noFill/>
          <a:ln w="9525">
            <a:solidFill>
              <a:srgbClr val="D7DEE8"/>
            </a:solidFill>
          </a:ln>
        </p:spPr>
      </p:sp>
      <p:sp>
        <p:nvSpPr>
          <p:cNvPr id="9" name="TextBox 9"/>
          <p:cNvSpPr txBox="1"/>
          <p:nvPr/>
        </p:nvSpPr>
        <p:spPr>
          <a:xfrm>
            <a:off x="1114806" y="3139440"/>
            <a:ext cx="4167378" cy="1742694"/>
          </a:xfrm>
          <a:prstGeom prst="rect">
            <a:avLst/>
          </a:prstGeom>
          <a:noFill/>
          <a:ln>
            <a:noFill/>
          </a:ln>
        </p:spPr>
        <p:txBody>
          <a:bodyPr wrap="square" lIns="0" tIns="0" rIns="0" bIns="0" anchor="t" anchorCtr="0"/>
          <a:lstStyle/>
          <a:p>
            <a:pPr algn="l">
              <a:lnSpc>
                <a:spcPts val="2400"/>
              </a:lnSpc>
            </a:pPr>
            <a:r>
              <a:rPr lang="en-US" sz="1800" dirty="0">
                <a:solidFill>
                  <a:srgbClr val="111827"/>
                </a:solidFill>
                <a:latin typeface="Arial"/>
                <a:ea typeface="Arial"/>
                <a:cs typeface="Arial"/>
              </a:rPr>
              <a:t>50-gallon high-speed mixer</a:t>
            </a:r>
          </a:p>
          <a:p>
            <a:pPr algn="l">
              <a:lnSpc>
                <a:spcPts val="2400"/>
              </a:lnSpc>
              <a:spcBef>
                <a:spcPts val="450"/>
              </a:spcBef>
            </a:pPr>
            <a:r>
              <a:rPr lang="en-US" sz="1800" dirty="0">
                <a:solidFill>
                  <a:srgbClr val="111827"/>
                </a:solidFill>
                <a:latin typeface="Arial"/>
                <a:ea typeface="Arial"/>
                <a:cs typeface="Arial"/>
              </a:rPr>
              <a:t>Nitrous oxide pressurized tank</a:t>
            </a:r>
          </a:p>
          <a:p>
            <a:pPr algn="l">
              <a:lnSpc>
                <a:spcPts val="2400"/>
              </a:lnSpc>
              <a:spcBef>
                <a:spcPts val="450"/>
              </a:spcBef>
            </a:pPr>
            <a:r>
              <a:rPr lang="en-US" sz="1800" dirty="0">
                <a:solidFill>
                  <a:srgbClr val="111827"/>
                </a:solidFill>
                <a:latin typeface="Arial"/>
                <a:ea typeface="Arial"/>
                <a:cs typeface="Arial"/>
              </a:rPr>
              <a:t>10-foot by 10-foot walk-in freezer</a:t>
            </a:r>
          </a:p>
          <a:p>
            <a:pPr algn="l">
              <a:lnSpc>
                <a:spcPts val="2400"/>
              </a:lnSpc>
              <a:spcBef>
                <a:spcPts val="450"/>
              </a:spcBef>
            </a:pPr>
            <a:r>
              <a:rPr lang="en-US" sz="1800" dirty="0">
                <a:solidFill>
                  <a:srgbClr val="111827"/>
                </a:solidFill>
                <a:latin typeface="Arial"/>
                <a:ea typeface="Arial"/>
                <a:cs typeface="Arial"/>
              </a:rPr>
              <a:t xml:space="preserve">Production allowed when restaurants </a:t>
            </a:r>
            <a:r>
              <a:rPr lang="en-US" sz="1800" dirty="0">
                <a:solidFill>
                  <a:srgbClr val="111827"/>
                </a:solidFill>
                <a:latin typeface="Arial"/>
                <a:ea typeface="Arial"/>
                <a:cs typeface="Arial"/>
              </a:rPr>
              <a:t>are closed to the public</a:t>
            </a:r>
          </a:p>
        </p:txBody>
      </p:sp>
      <p:sp>
        <p:nvSpPr>
          <p:cNvPr id="10" name="Rectangle 10"/>
          <p:cNvSpPr/>
          <p:nvPr/>
        </p:nvSpPr>
        <p:spPr>
          <a:xfrm>
            <a:off x="6667500" y="2133600"/>
            <a:ext cx="4686300" cy="2762250"/>
          </a:xfrm>
          <a:prstGeom prst="rect">
            <a:avLst/>
          </a:prstGeom>
          <a:solidFill>
            <a:srgbClr val="FFFFFF"/>
          </a:solidFill>
          <a:ln w="9525">
            <a:solidFill>
              <a:srgbClr val="D7DEE8"/>
            </a:solidFill>
          </a:ln>
        </p:spPr>
      </p:sp>
      <p:sp>
        <p:nvSpPr>
          <p:cNvPr id="11" name="TextBox 11"/>
          <p:cNvSpPr txBox="1"/>
          <p:nvPr/>
        </p:nvSpPr>
        <p:spPr>
          <a:xfrm>
            <a:off x="6941058" y="2350770"/>
            <a:ext cx="4632431" cy="469392"/>
          </a:xfrm>
          <a:prstGeom prst="rect">
            <a:avLst/>
          </a:prstGeom>
          <a:noFill/>
          <a:ln>
            <a:noFill/>
          </a:ln>
        </p:spPr>
        <p:txBody>
          <a:bodyPr wrap="none" lIns="0" tIns="0" rIns="0" bIns="0" anchor="t" anchorCtr="0">
            <a:spAutoFit/>
          </a:bodyPr>
          <a:lstStyle/>
          <a:p>
            <a:pPr algn="l"/>
            <a:r>
              <a:rPr lang="en-US" sz="2400" b="1" dirty="0">
                <a:solidFill>
                  <a:srgbClr val="0B2E4A"/>
                </a:solidFill>
                <a:latin typeface="Arial"/>
                <a:ea typeface="Arial"/>
                <a:cs typeface="Arial"/>
              </a:rPr>
              <a:t>Co-packed pressurized cans</a:t>
            </a:r>
          </a:p>
        </p:txBody>
      </p:sp>
      <p:sp>
        <p:nvSpPr>
          <p:cNvPr id="12" name="Line 12"/>
          <p:cNvSpPr/>
          <p:nvPr/>
        </p:nvSpPr>
        <p:spPr>
          <a:xfrm>
            <a:off x="6953250" y="2876550"/>
            <a:ext cx="4114800" cy="9525"/>
          </a:xfrm>
          <a:custGeom>
            <a:avLst/>
            <a:gdLst/>
            <a:ahLst/>
            <a:cxnLst/>
            <a:rect l="l" t="t" r="r" b="b"/>
            <a:pathLst>
              <a:path w="4114800" h="9525">
                <a:moveTo>
                  <a:pt x="0" y="0"/>
                </a:moveTo>
                <a:lnTo>
                  <a:pt x="4114800" y="0"/>
                </a:lnTo>
              </a:path>
            </a:pathLst>
          </a:custGeom>
          <a:noFill/>
          <a:ln w="9525">
            <a:solidFill>
              <a:srgbClr val="D7DEE8"/>
            </a:solidFill>
          </a:ln>
        </p:spPr>
      </p:sp>
      <p:sp>
        <p:nvSpPr>
          <p:cNvPr id="13" name="TextBox 13"/>
          <p:cNvSpPr txBox="1"/>
          <p:nvPr/>
        </p:nvSpPr>
        <p:spPr>
          <a:xfrm>
            <a:off x="6944106" y="3139440"/>
            <a:ext cx="5207508" cy="1742694"/>
          </a:xfrm>
          <a:prstGeom prst="rect">
            <a:avLst/>
          </a:prstGeom>
          <a:noFill/>
          <a:ln>
            <a:noFill/>
          </a:ln>
        </p:spPr>
        <p:txBody>
          <a:bodyPr wrap="square" lIns="0" tIns="0" rIns="0" bIns="0" anchor="t" anchorCtr="0"/>
          <a:lstStyle/>
          <a:p>
            <a:pPr algn="l">
              <a:lnSpc>
                <a:spcPts val="2400"/>
              </a:lnSpc>
            </a:pPr>
            <a:r>
              <a:rPr lang="en-US" sz="1800" dirty="0">
                <a:solidFill>
                  <a:srgbClr val="111827"/>
                </a:solidFill>
                <a:latin typeface="Arial"/>
                <a:ea typeface="Arial"/>
                <a:cs typeface="Arial"/>
              </a:rPr>
              <a:t>Six-ounce cans produced with Farm Fresh</a:t>
            </a:r>
          </a:p>
          <a:p>
            <a:pPr algn="l">
              <a:lnSpc>
                <a:spcPts val="2400"/>
              </a:lnSpc>
              <a:spcBef>
                <a:spcPts val="450"/>
              </a:spcBef>
            </a:pPr>
            <a:r>
              <a:rPr lang="en-US" sz="1800" dirty="0">
                <a:solidFill>
                  <a:srgbClr val="111827"/>
                </a:solidFill>
                <a:latin typeface="Arial"/>
                <a:ea typeface="Arial"/>
                <a:cs typeface="Arial"/>
              </a:rPr>
              <a:t>Focus group confirmed can opportunity</a:t>
            </a:r>
          </a:p>
          <a:p>
            <a:pPr algn="l">
              <a:lnSpc>
                <a:spcPts val="2400"/>
              </a:lnSpc>
              <a:spcBef>
                <a:spcPts val="450"/>
              </a:spcBef>
            </a:pPr>
            <a:r>
              <a:rPr lang="en-US" sz="1800" dirty="0">
                <a:solidFill>
                  <a:srgbClr val="111827"/>
                </a:solidFill>
                <a:latin typeface="Arial"/>
                <a:ea typeface="Arial"/>
                <a:cs typeface="Arial"/>
              </a:rPr>
              <a:t xml:space="preserve">Non-competition and non-disclosure </a:t>
            </a:r>
            <a:r>
              <a:rPr lang="en-US" sz="1800" dirty="0">
                <a:solidFill>
                  <a:srgbClr val="111827"/>
                </a:solidFill>
                <a:latin typeface="Arial"/>
                <a:ea typeface="Arial"/>
                <a:cs typeface="Arial"/>
              </a:rPr>
              <a:t>agreement in place</a:t>
            </a:r>
          </a:p>
          <a:p>
            <a:pPr algn="l">
              <a:lnSpc>
                <a:spcPts val="2400"/>
              </a:lnSpc>
              <a:spcBef>
                <a:spcPts val="450"/>
              </a:spcBef>
            </a:pPr>
            <a:r>
              <a:rPr lang="en-US" sz="1800" dirty="0">
                <a:solidFill>
                  <a:srgbClr val="111827"/>
                </a:solidFill>
                <a:latin typeface="Arial"/>
                <a:ea typeface="Arial"/>
                <a:cs typeface="Arial"/>
              </a:rPr>
              <a:t>Higher-volume channel without full plant CAPEX</a:t>
            </a:r>
          </a:p>
        </p:txBody>
      </p:sp>
      <p:sp>
        <p:nvSpPr>
          <p:cNvPr id="14" name="Line 14"/>
          <p:cNvSpPr/>
          <p:nvPr/>
        </p:nvSpPr>
        <p:spPr>
          <a:xfrm>
            <a:off x="5524500" y="3514725"/>
            <a:ext cx="1143000" cy="9525"/>
          </a:xfrm>
          <a:custGeom>
            <a:avLst/>
            <a:gdLst/>
            <a:ahLst/>
            <a:cxnLst/>
            <a:rect l="l" t="t" r="r" b="b"/>
            <a:pathLst>
              <a:path w="1143000" h="9525">
                <a:moveTo>
                  <a:pt x="0" y="0"/>
                </a:moveTo>
                <a:lnTo>
                  <a:pt x="1143000" y="0"/>
                </a:lnTo>
              </a:path>
            </a:pathLst>
          </a:custGeom>
          <a:noFill/>
          <a:ln w="38100">
            <a:solidFill>
              <a:srgbClr val="2C8C6C"/>
            </a:solidFill>
          </a:ln>
        </p:spPr>
      </p:sp>
      <p:sp>
        <p:nvSpPr>
          <p:cNvPr id="15" name="Polygon 15"/>
          <p:cNvSpPr/>
          <p:nvPr/>
        </p:nvSpPr>
        <p:spPr>
          <a:xfrm>
            <a:off x="6438900" y="3381375"/>
            <a:ext cx="228600" cy="266700"/>
          </a:xfrm>
          <a:custGeom>
            <a:avLst/>
            <a:gdLst/>
            <a:ahLst/>
            <a:cxnLst/>
            <a:rect l="l" t="t" r="r" b="b"/>
            <a:pathLst>
              <a:path w="228600" h="266700">
                <a:moveTo>
                  <a:pt x="228600" y="133350"/>
                </a:moveTo>
                <a:lnTo>
                  <a:pt x="0" y="0"/>
                </a:lnTo>
                <a:lnTo>
                  <a:pt x="0" y="266700"/>
                </a:lnTo>
                <a:close/>
              </a:path>
            </a:pathLst>
          </a:custGeom>
          <a:solidFill>
            <a:srgbClr val="2C8C6C"/>
          </a:solidFill>
          <a:ln>
            <a:noFill/>
          </a:ln>
        </p:spPr>
      </p:sp>
      <p:sp>
        <p:nvSpPr>
          <p:cNvPr id="16" name="Rectangle 16"/>
          <p:cNvSpPr/>
          <p:nvPr/>
        </p:nvSpPr>
        <p:spPr>
          <a:xfrm>
            <a:off x="2247900" y="5314950"/>
            <a:ext cx="7696200" cy="781050"/>
          </a:xfrm>
          <a:prstGeom prst="rect">
            <a:avLst/>
          </a:prstGeom>
          <a:solidFill>
            <a:srgbClr val="0B2E4A"/>
          </a:solidFill>
          <a:ln>
            <a:noFill/>
          </a:ln>
        </p:spPr>
      </p:sp>
      <p:sp>
        <p:nvSpPr>
          <p:cNvPr id="17" name="TextBox 17"/>
          <p:cNvSpPr txBox="1"/>
          <p:nvPr/>
        </p:nvSpPr>
        <p:spPr>
          <a:xfrm>
            <a:off x="2505456" y="5444490"/>
            <a:ext cx="7147179" cy="637794"/>
          </a:xfrm>
          <a:prstGeom prst="rect">
            <a:avLst/>
          </a:prstGeom>
          <a:noFill/>
          <a:ln>
            <a:noFill/>
          </a:ln>
        </p:spPr>
        <p:txBody>
          <a:bodyPr wrap="square" lIns="0" tIns="0" rIns="0" bIns="0" anchor="t" anchorCtr="0"/>
          <a:lstStyle/>
          <a:p>
            <a:pPr algn="l">
              <a:lnSpc>
                <a:spcPts val="2250"/>
              </a:lnSpc>
            </a:pPr>
            <a:r>
              <a:rPr lang="en-US" sz="1800" b="1" dirty="0">
                <a:solidFill>
                  <a:srgbClr val="FFFFFF"/>
                </a:solidFill>
                <a:latin typeface="Arial"/>
                <a:ea typeface="Arial"/>
                <a:cs typeface="Arial"/>
              </a:rPr>
              <a:t xml:space="preserve">Investor takeaway: the model uses owned restaurant assets </a:t>
            </a:r>
            <a:r>
              <a:rPr lang="en-US" sz="1800" b="1" dirty="0">
                <a:solidFill>
                  <a:srgbClr val="FFFFFF"/>
                </a:solidFill>
                <a:latin typeface="Arial"/>
                <a:ea typeface="Arial"/>
                <a:cs typeface="Arial"/>
              </a:rPr>
              <a:t>first, then buys scale through a named dairy partner.</a:t>
            </a:r>
          </a:p>
        </p:txBody>
      </p:sp>
      <p:sp>
        <p:nvSpPr>
          <p:cNvPr id="18" name="TextBox 18"/>
          <p:cNvSpPr txBox="1"/>
          <p:nvPr/>
        </p:nvSpPr>
        <p:spPr>
          <a:xfrm>
            <a:off x="527685" y="6317456"/>
            <a:ext cx="3695429" cy="220028"/>
          </a:xfrm>
          <a:prstGeom prst="rect">
            <a:avLst/>
          </a:prstGeom>
          <a:noFill/>
          <a:ln>
            <a:noFill/>
          </a:ln>
        </p:spPr>
        <p:txBody>
          <a:bodyPr wrap="none" lIns="0" tIns="0" rIns="0" bIns="0" anchor="t" anchorCtr="0">
            <a:spAutoFit/>
          </a:bodyPr>
          <a:lstStyle/>
          <a:p>
            <a:pPr algn="l"/>
            <a:r>
              <a:rPr lang="en-US" sz="1120" dirty="0">
                <a:solidFill>
                  <a:srgbClr val="5B677A"/>
                </a:solidFill>
                <a:latin typeface="Arial"/>
                <a:ea typeface="Arial"/>
                <a:cs typeface="Arial"/>
              </a:rPr>
              <a:t>Source: PDF manufacturing plans section / Slide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516636" y="234315"/>
            <a:ext cx="8526590" cy="1121664"/>
          </a:xfrm>
          <a:prstGeom prst="rect">
            <a:avLst/>
          </a:prstGeom>
          <a:noFill/>
          <a:ln>
            <a:noFill/>
          </a:ln>
        </p:spPr>
        <p:txBody>
          <a:bodyPr wrap="square" lIns="0" tIns="0" rIns="0" bIns="0" anchor="t" anchorCtr="0"/>
          <a:lstStyle/>
          <a:p>
            <a:pPr algn="l">
              <a:lnSpc>
                <a:spcPts val="3750"/>
              </a:lnSpc>
            </a:pPr>
            <a:r>
              <a:rPr lang="en-US" sz="3300" b="1" dirty="0">
                <a:solidFill>
                  <a:srgbClr val="0B2E4A"/>
                </a:solidFill>
                <a:latin typeface="Arial"/>
                <a:ea typeface="Arial"/>
                <a:cs typeface="Arial"/>
              </a:rPr>
              <a:t xml:space="preserve">The base case shows profit, cash flow, </a:t>
            </a:r>
            <a:r>
              <a:rPr lang="en-US" sz="3300" b="1" dirty="0">
                <a:solidFill>
                  <a:srgbClr val="0B2E4A"/>
                </a:solidFill>
                <a:latin typeface="Arial"/>
                <a:ea typeface="Arial"/>
                <a:cs typeface="Arial"/>
              </a:rPr>
              <a:t>and rising sales across three years</a:t>
            </a:r>
          </a:p>
        </p:txBody>
      </p:sp>
      <p:sp>
        <p:nvSpPr>
          <p:cNvPr id="4" name="TextBox 4"/>
          <p:cNvSpPr txBox="1"/>
          <p:nvPr/>
        </p:nvSpPr>
        <p:spPr>
          <a:xfrm>
            <a:off x="521970" y="1109662"/>
            <a:ext cx="9473380" cy="440055"/>
          </a:xfrm>
          <a:prstGeom prst="rect">
            <a:avLst/>
          </a:prstGeom>
          <a:noFill/>
          <a:ln>
            <a:noFill/>
          </a:ln>
        </p:spPr>
        <p:txBody>
          <a:bodyPr wrap="none" lIns="0" tIns="0" rIns="0" bIns="0" anchor="t" anchorCtr="0">
            <a:spAutoFit/>
          </a:bodyPr>
          <a:lstStyle/>
          <a:p>
            <a:pPr algn="l"/>
            <a:r>
              <a:rPr lang="en-US" sz="2250" dirty="0">
                <a:solidFill>
                  <a:srgbClr val="111827"/>
                </a:solidFill>
                <a:latin typeface="Arial"/>
                <a:ea typeface="Arial"/>
                <a:cs typeface="Arial"/>
              </a:rPr>
              <a:t>Projections move from $240K net sales in 1999 to $592K in 2001.</a:t>
            </a:r>
          </a:p>
        </p:txBody>
      </p:sp>
      <p:sp>
        <p:nvSpPr>
          <p:cNvPr id="5" name="Line 5"/>
          <p:cNvSpPr/>
          <p:nvPr/>
        </p:nvSpPr>
        <p:spPr>
          <a:xfrm>
            <a:off x="533400" y="1619250"/>
            <a:ext cx="11125200" cy="9525"/>
          </a:xfrm>
          <a:custGeom>
            <a:avLst/>
            <a:gdLst/>
            <a:ahLst/>
            <a:cxnLst/>
            <a:rect l="l" t="t" r="r" b="b"/>
            <a:pathLst>
              <a:path w="11125200" h="9525">
                <a:moveTo>
                  <a:pt x="0" y="0"/>
                </a:moveTo>
                <a:lnTo>
                  <a:pt x="11125200" y="0"/>
                </a:lnTo>
              </a:path>
            </a:pathLst>
          </a:custGeom>
          <a:noFill/>
          <a:ln w="9525">
            <a:solidFill>
              <a:srgbClr val="D7DEE8"/>
            </a:solidFill>
          </a:ln>
        </p:spPr>
      </p:sp>
      <p:grpSp>
        <p:nvGrpSpPr>
          <p:cNvPr id="35" name="Group 35"/>
          <p:cNvGrpSpPr/>
          <p:nvPr/>
        </p:nvGrpSpPr>
        <p:grpSpPr>
          <a:xfrm>
            <a:off x="628650" y="2038350"/>
            <a:ext cx="6248400" cy="2362200"/>
            <a:chOff x="628650" y="2038350"/>
            <a:chExt cx="6248400" cy="2362200"/>
          </a:xfrm>
        </p:grpSpPr>
        <p:sp>
          <p:nvSpPr>
            <p:cNvPr id="6" name="Rectangle 6"/>
            <p:cNvSpPr/>
            <p:nvPr/>
          </p:nvSpPr>
          <p:spPr>
            <a:xfrm>
              <a:off x="628650" y="2038350"/>
              <a:ext cx="6248400" cy="2362200"/>
            </a:xfrm>
            <a:prstGeom prst="rect">
              <a:avLst/>
            </a:prstGeom>
            <a:solidFill>
              <a:srgbClr val="FFFFFF"/>
            </a:solidFill>
            <a:ln w="9525">
              <a:solidFill>
                <a:srgbClr val="D7DEE8"/>
              </a:solidFill>
            </a:ln>
          </p:spPr>
        </p:sp>
        <p:sp>
          <p:nvSpPr>
            <p:cNvPr id="7" name="Rectangle 7"/>
            <p:cNvSpPr/>
            <p:nvPr/>
          </p:nvSpPr>
          <p:spPr>
            <a:xfrm>
              <a:off x="628650" y="2038350"/>
              <a:ext cx="6248400" cy="457200"/>
            </a:xfrm>
            <a:prstGeom prst="rect">
              <a:avLst/>
            </a:prstGeom>
            <a:solidFill>
              <a:srgbClr val="0B2E4A"/>
            </a:solidFill>
            <a:ln>
              <a:noFill/>
            </a:ln>
          </p:spPr>
        </p:sp>
        <p:sp>
          <p:nvSpPr>
            <p:cNvPr id="8" name="Line 8"/>
            <p:cNvSpPr/>
            <p:nvPr/>
          </p:nvSpPr>
          <p:spPr>
            <a:xfrm>
              <a:off x="2190750" y="2038350"/>
              <a:ext cx="9525" cy="2362200"/>
            </a:xfrm>
            <a:custGeom>
              <a:avLst/>
              <a:gdLst/>
              <a:ahLst/>
              <a:cxnLst/>
              <a:rect l="l" t="t" r="r" b="b"/>
              <a:pathLst>
                <a:path w="9525" h="2362200">
                  <a:moveTo>
                    <a:pt x="0" y="0"/>
                  </a:moveTo>
                  <a:lnTo>
                    <a:pt x="0" y="2362200"/>
                  </a:lnTo>
                </a:path>
              </a:pathLst>
            </a:custGeom>
            <a:noFill/>
            <a:ln w="9525">
              <a:solidFill>
                <a:srgbClr val="D7DEE8"/>
              </a:solidFill>
            </a:ln>
          </p:spPr>
        </p:sp>
        <p:sp>
          <p:nvSpPr>
            <p:cNvPr id="9" name="Line 9"/>
            <p:cNvSpPr/>
            <p:nvPr/>
          </p:nvSpPr>
          <p:spPr>
            <a:xfrm>
              <a:off x="3676650" y="2038350"/>
              <a:ext cx="9525" cy="2362200"/>
            </a:xfrm>
            <a:custGeom>
              <a:avLst/>
              <a:gdLst/>
              <a:ahLst/>
              <a:cxnLst/>
              <a:rect l="l" t="t" r="r" b="b"/>
              <a:pathLst>
                <a:path w="9525" h="2362200">
                  <a:moveTo>
                    <a:pt x="0" y="0"/>
                  </a:moveTo>
                  <a:lnTo>
                    <a:pt x="0" y="2362200"/>
                  </a:lnTo>
                </a:path>
              </a:pathLst>
            </a:custGeom>
            <a:noFill/>
            <a:ln w="9525">
              <a:solidFill>
                <a:srgbClr val="D7DEE8"/>
              </a:solidFill>
            </a:ln>
          </p:spPr>
        </p:sp>
        <p:sp>
          <p:nvSpPr>
            <p:cNvPr id="10" name="Line 10"/>
            <p:cNvSpPr/>
            <p:nvPr/>
          </p:nvSpPr>
          <p:spPr>
            <a:xfrm>
              <a:off x="5162550" y="2038350"/>
              <a:ext cx="9525" cy="2362200"/>
            </a:xfrm>
            <a:custGeom>
              <a:avLst/>
              <a:gdLst/>
              <a:ahLst/>
              <a:cxnLst/>
              <a:rect l="l" t="t" r="r" b="b"/>
              <a:pathLst>
                <a:path w="9525" h="2362200">
                  <a:moveTo>
                    <a:pt x="0" y="0"/>
                  </a:moveTo>
                  <a:lnTo>
                    <a:pt x="0" y="2362200"/>
                  </a:lnTo>
                </a:path>
              </a:pathLst>
            </a:custGeom>
            <a:noFill/>
            <a:ln w="9525">
              <a:solidFill>
                <a:srgbClr val="D7DEE8"/>
              </a:solidFill>
            </a:ln>
          </p:spPr>
        </p:sp>
        <p:sp>
          <p:nvSpPr>
            <p:cNvPr id="11" name="Line 11"/>
            <p:cNvSpPr/>
            <p:nvPr/>
          </p:nvSpPr>
          <p:spPr>
            <a:xfrm>
              <a:off x="628650" y="2495550"/>
              <a:ext cx="6248400" cy="9525"/>
            </a:xfrm>
            <a:custGeom>
              <a:avLst/>
              <a:gdLst/>
              <a:ahLst/>
              <a:cxnLst/>
              <a:rect l="l" t="t" r="r" b="b"/>
              <a:pathLst>
                <a:path w="6248400" h="9525">
                  <a:moveTo>
                    <a:pt x="0" y="0"/>
                  </a:moveTo>
                  <a:lnTo>
                    <a:pt x="6248400" y="0"/>
                  </a:lnTo>
                </a:path>
              </a:pathLst>
            </a:custGeom>
            <a:noFill/>
            <a:ln w="9525">
              <a:solidFill>
                <a:srgbClr val="D7DEE8"/>
              </a:solidFill>
            </a:ln>
          </p:spPr>
        </p:sp>
        <p:sp>
          <p:nvSpPr>
            <p:cNvPr id="12" name="Line 12"/>
            <p:cNvSpPr/>
            <p:nvPr/>
          </p:nvSpPr>
          <p:spPr>
            <a:xfrm>
              <a:off x="628650" y="2971800"/>
              <a:ext cx="6248400" cy="9525"/>
            </a:xfrm>
            <a:custGeom>
              <a:avLst/>
              <a:gdLst/>
              <a:ahLst/>
              <a:cxnLst/>
              <a:rect l="l" t="t" r="r" b="b"/>
              <a:pathLst>
                <a:path w="6248400" h="9525">
                  <a:moveTo>
                    <a:pt x="0" y="0"/>
                  </a:moveTo>
                  <a:lnTo>
                    <a:pt x="6248400" y="0"/>
                  </a:lnTo>
                </a:path>
              </a:pathLst>
            </a:custGeom>
            <a:noFill/>
            <a:ln w="9525">
              <a:solidFill>
                <a:srgbClr val="E8EDF3"/>
              </a:solidFill>
            </a:ln>
          </p:spPr>
        </p:sp>
        <p:sp>
          <p:nvSpPr>
            <p:cNvPr id="13" name="Line 13"/>
            <p:cNvSpPr/>
            <p:nvPr/>
          </p:nvSpPr>
          <p:spPr>
            <a:xfrm>
              <a:off x="628650" y="3448050"/>
              <a:ext cx="6248400" cy="9525"/>
            </a:xfrm>
            <a:custGeom>
              <a:avLst/>
              <a:gdLst/>
              <a:ahLst/>
              <a:cxnLst/>
              <a:rect l="l" t="t" r="r" b="b"/>
              <a:pathLst>
                <a:path w="6248400" h="9525">
                  <a:moveTo>
                    <a:pt x="0" y="0"/>
                  </a:moveTo>
                  <a:lnTo>
                    <a:pt x="6248400" y="0"/>
                  </a:lnTo>
                </a:path>
              </a:pathLst>
            </a:custGeom>
            <a:noFill/>
            <a:ln w="9525">
              <a:solidFill>
                <a:srgbClr val="E8EDF3"/>
              </a:solidFill>
            </a:ln>
          </p:spPr>
        </p:sp>
        <p:sp>
          <p:nvSpPr>
            <p:cNvPr id="14" name="Line 14"/>
            <p:cNvSpPr/>
            <p:nvPr/>
          </p:nvSpPr>
          <p:spPr>
            <a:xfrm>
              <a:off x="628650" y="3924300"/>
              <a:ext cx="6248400" cy="9525"/>
            </a:xfrm>
            <a:custGeom>
              <a:avLst/>
              <a:gdLst/>
              <a:ahLst/>
              <a:cxnLst/>
              <a:rect l="l" t="t" r="r" b="b"/>
              <a:pathLst>
                <a:path w="6248400" h="9525">
                  <a:moveTo>
                    <a:pt x="0" y="0"/>
                  </a:moveTo>
                  <a:lnTo>
                    <a:pt x="6248400" y="0"/>
                  </a:lnTo>
                </a:path>
              </a:pathLst>
            </a:custGeom>
            <a:noFill/>
            <a:ln w="9525">
              <a:solidFill>
                <a:srgbClr val="E8EDF3"/>
              </a:solidFill>
            </a:ln>
          </p:spPr>
        </p:sp>
        <p:sp>
          <p:nvSpPr>
            <p:cNvPr id="15" name="TextBox 15"/>
            <p:cNvSpPr txBox="1"/>
            <p:nvPr/>
          </p:nvSpPr>
          <p:spPr>
            <a:xfrm>
              <a:off x="851154" y="2204085"/>
              <a:ext cx="568662"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Arial"/>
                  <a:ea typeface="Arial"/>
                  <a:cs typeface="Arial"/>
                </a:rPr>
                <a:t>Metric</a:t>
              </a:r>
            </a:p>
          </p:txBody>
        </p:sp>
        <p:sp>
          <p:nvSpPr>
            <p:cNvPr id="16" name="TextBox 16"/>
            <p:cNvSpPr txBox="1"/>
            <p:nvPr/>
          </p:nvSpPr>
          <p:spPr>
            <a:xfrm>
              <a:off x="2565654" y="2204085"/>
              <a:ext cx="385359"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Arial"/>
                  <a:ea typeface="Arial"/>
                  <a:cs typeface="Arial"/>
                </a:rPr>
                <a:t>1999</a:t>
              </a:r>
            </a:p>
          </p:txBody>
        </p:sp>
        <p:sp>
          <p:nvSpPr>
            <p:cNvPr id="17" name="TextBox 17"/>
            <p:cNvSpPr txBox="1"/>
            <p:nvPr/>
          </p:nvSpPr>
          <p:spPr>
            <a:xfrm>
              <a:off x="4051554" y="2204085"/>
              <a:ext cx="385359"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Arial"/>
                  <a:ea typeface="Arial"/>
                  <a:cs typeface="Arial"/>
                </a:rPr>
                <a:t>2000</a:t>
              </a:r>
            </a:p>
          </p:txBody>
        </p:sp>
        <p:sp>
          <p:nvSpPr>
            <p:cNvPr id="18" name="TextBox 18"/>
            <p:cNvSpPr txBox="1"/>
            <p:nvPr/>
          </p:nvSpPr>
          <p:spPr>
            <a:xfrm>
              <a:off x="5537454" y="2204085"/>
              <a:ext cx="385359"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Arial"/>
                  <a:ea typeface="Arial"/>
                  <a:cs typeface="Arial"/>
                </a:rPr>
                <a:t>2001</a:t>
              </a:r>
            </a:p>
          </p:txBody>
        </p:sp>
        <p:sp>
          <p:nvSpPr>
            <p:cNvPr id="19" name="TextBox 19"/>
            <p:cNvSpPr txBox="1"/>
            <p:nvPr/>
          </p:nvSpPr>
          <p:spPr>
            <a:xfrm>
              <a:off x="850392" y="2664142"/>
              <a:ext cx="828168"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Net sales</a:t>
              </a:r>
            </a:p>
          </p:txBody>
        </p:sp>
        <p:sp>
          <p:nvSpPr>
            <p:cNvPr id="20" name="TextBox 20"/>
            <p:cNvSpPr txBox="1"/>
            <p:nvPr/>
          </p:nvSpPr>
          <p:spPr>
            <a:xfrm>
              <a:off x="2393442" y="2664142"/>
              <a:ext cx="813359"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$240,450</a:t>
              </a:r>
            </a:p>
          </p:txBody>
        </p:sp>
        <p:sp>
          <p:nvSpPr>
            <p:cNvPr id="21" name="TextBox 21"/>
            <p:cNvSpPr txBox="1"/>
            <p:nvPr/>
          </p:nvSpPr>
          <p:spPr>
            <a:xfrm>
              <a:off x="3879342" y="2664142"/>
              <a:ext cx="813359"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$425,940</a:t>
              </a:r>
            </a:p>
          </p:txBody>
        </p:sp>
        <p:sp>
          <p:nvSpPr>
            <p:cNvPr id="22" name="TextBox 22"/>
            <p:cNvSpPr txBox="1"/>
            <p:nvPr/>
          </p:nvSpPr>
          <p:spPr>
            <a:xfrm>
              <a:off x="5365242" y="2664142"/>
              <a:ext cx="813359"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$592,194</a:t>
              </a:r>
            </a:p>
          </p:txBody>
        </p:sp>
        <p:sp>
          <p:nvSpPr>
            <p:cNvPr id="23" name="TextBox 23"/>
            <p:cNvSpPr txBox="1"/>
            <p:nvPr/>
          </p:nvSpPr>
          <p:spPr>
            <a:xfrm>
              <a:off x="850392" y="3140392"/>
              <a:ext cx="1164551"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Gross income</a:t>
              </a:r>
            </a:p>
          </p:txBody>
        </p:sp>
        <p:sp>
          <p:nvSpPr>
            <p:cNvPr id="24" name="TextBox 24"/>
            <p:cNvSpPr txBox="1"/>
            <p:nvPr/>
          </p:nvSpPr>
          <p:spPr>
            <a:xfrm>
              <a:off x="2393442" y="3140392"/>
              <a:ext cx="713403"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$58,450</a:t>
              </a:r>
            </a:p>
          </p:txBody>
        </p:sp>
        <p:sp>
          <p:nvSpPr>
            <p:cNvPr id="25" name="TextBox 25"/>
            <p:cNvSpPr txBox="1"/>
            <p:nvPr/>
          </p:nvSpPr>
          <p:spPr>
            <a:xfrm>
              <a:off x="3879342" y="3140392"/>
              <a:ext cx="813359"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$107,880</a:t>
              </a:r>
            </a:p>
          </p:txBody>
        </p:sp>
        <p:sp>
          <p:nvSpPr>
            <p:cNvPr id="26" name="TextBox 26"/>
            <p:cNvSpPr txBox="1"/>
            <p:nvPr/>
          </p:nvSpPr>
          <p:spPr>
            <a:xfrm>
              <a:off x="5365242" y="3140392"/>
              <a:ext cx="813359"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$149,988</a:t>
              </a:r>
            </a:p>
          </p:txBody>
        </p:sp>
        <p:sp>
          <p:nvSpPr>
            <p:cNvPr id="27" name="TextBox 27"/>
            <p:cNvSpPr txBox="1"/>
            <p:nvPr/>
          </p:nvSpPr>
          <p:spPr>
            <a:xfrm>
              <a:off x="850392" y="3616642"/>
              <a:ext cx="1873606"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Net income after tax</a:t>
              </a:r>
            </a:p>
          </p:txBody>
        </p:sp>
        <p:sp>
          <p:nvSpPr>
            <p:cNvPr id="28" name="TextBox 28"/>
            <p:cNvSpPr txBox="1"/>
            <p:nvPr/>
          </p:nvSpPr>
          <p:spPr>
            <a:xfrm>
              <a:off x="2393442" y="3616642"/>
              <a:ext cx="713403"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$15,085</a:t>
              </a:r>
            </a:p>
          </p:txBody>
        </p:sp>
        <p:sp>
          <p:nvSpPr>
            <p:cNvPr id="29" name="TextBox 29"/>
            <p:cNvSpPr txBox="1"/>
            <p:nvPr/>
          </p:nvSpPr>
          <p:spPr>
            <a:xfrm>
              <a:off x="3879342" y="3616642"/>
              <a:ext cx="713403"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$35,686</a:t>
              </a:r>
            </a:p>
          </p:txBody>
        </p:sp>
        <p:sp>
          <p:nvSpPr>
            <p:cNvPr id="30" name="TextBox 30"/>
            <p:cNvSpPr txBox="1"/>
            <p:nvPr/>
          </p:nvSpPr>
          <p:spPr>
            <a:xfrm>
              <a:off x="5365242" y="3616642"/>
              <a:ext cx="1013270"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$46,821.60</a:t>
              </a:r>
            </a:p>
          </p:txBody>
        </p:sp>
        <p:sp>
          <p:nvSpPr>
            <p:cNvPr id="31" name="TextBox 31"/>
            <p:cNvSpPr txBox="1"/>
            <p:nvPr/>
          </p:nvSpPr>
          <p:spPr>
            <a:xfrm>
              <a:off x="850392" y="4092892"/>
              <a:ext cx="982374"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Sales units</a:t>
              </a:r>
            </a:p>
          </p:txBody>
        </p:sp>
        <p:sp>
          <p:nvSpPr>
            <p:cNvPr id="32" name="TextBox 32"/>
            <p:cNvSpPr txBox="1"/>
            <p:nvPr/>
          </p:nvSpPr>
          <p:spPr>
            <a:xfrm>
              <a:off x="2393442" y="4092892"/>
              <a:ext cx="713403"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105,000</a:t>
              </a:r>
            </a:p>
          </p:txBody>
        </p:sp>
        <p:sp>
          <p:nvSpPr>
            <p:cNvPr id="33" name="TextBox 33"/>
            <p:cNvSpPr txBox="1"/>
            <p:nvPr/>
          </p:nvSpPr>
          <p:spPr>
            <a:xfrm>
              <a:off x="3879342" y="4092892"/>
              <a:ext cx="713403"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186,000</a:t>
              </a:r>
            </a:p>
          </p:txBody>
        </p:sp>
        <p:sp>
          <p:nvSpPr>
            <p:cNvPr id="34" name="TextBox 34"/>
            <p:cNvSpPr txBox="1"/>
            <p:nvPr/>
          </p:nvSpPr>
          <p:spPr>
            <a:xfrm>
              <a:off x="5365242" y="4092892"/>
              <a:ext cx="713403"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258,600</a:t>
              </a:r>
            </a:p>
          </p:txBody>
        </p:sp>
      </p:grpSp>
      <p:sp>
        <p:nvSpPr>
          <p:cNvPr id="36" name="Rectangle 36"/>
          <p:cNvSpPr/>
          <p:nvPr/>
        </p:nvSpPr>
        <p:spPr>
          <a:xfrm>
            <a:off x="7448550" y="2038350"/>
            <a:ext cx="3886200" cy="2362200"/>
          </a:xfrm>
          <a:prstGeom prst="rect">
            <a:avLst/>
          </a:prstGeom>
          <a:solidFill>
            <a:srgbClr val="F4F7FA"/>
          </a:solidFill>
          <a:ln w="9525">
            <a:solidFill>
              <a:srgbClr val="D7DEE8"/>
            </a:solidFill>
          </a:ln>
        </p:spPr>
      </p:sp>
      <p:sp>
        <p:nvSpPr>
          <p:cNvPr id="37" name="TextBox 37"/>
          <p:cNvSpPr txBox="1"/>
          <p:nvPr/>
        </p:nvSpPr>
        <p:spPr>
          <a:xfrm>
            <a:off x="7723632" y="2211705"/>
            <a:ext cx="2999042" cy="410718"/>
          </a:xfrm>
          <a:prstGeom prst="rect">
            <a:avLst/>
          </a:prstGeom>
          <a:noFill/>
          <a:ln>
            <a:noFill/>
          </a:ln>
        </p:spPr>
        <p:txBody>
          <a:bodyPr wrap="none" lIns="0" tIns="0" rIns="0" bIns="0" anchor="t" anchorCtr="0">
            <a:spAutoFit/>
          </a:bodyPr>
          <a:lstStyle/>
          <a:p>
            <a:pPr algn="l"/>
            <a:r>
              <a:rPr lang="en-US" sz="2100" b="1" dirty="0">
                <a:solidFill>
                  <a:srgbClr val="0B2E4A"/>
                </a:solidFill>
                <a:latin typeface="Arial"/>
                <a:ea typeface="Arial"/>
                <a:cs typeface="Arial"/>
              </a:rPr>
              <a:t>Net sales trajectory</a:t>
            </a:r>
          </a:p>
        </p:txBody>
      </p:sp>
      <p:sp>
        <p:nvSpPr>
          <p:cNvPr id="38" name="Line 38"/>
          <p:cNvSpPr/>
          <p:nvPr/>
        </p:nvSpPr>
        <p:spPr>
          <a:xfrm>
            <a:off x="8020050" y="3924300"/>
            <a:ext cx="2933700" cy="9525"/>
          </a:xfrm>
          <a:custGeom>
            <a:avLst/>
            <a:gdLst/>
            <a:ahLst/>
            <a:cxnLst/>
            <a:rect l="l" t="t" r="r" b="b"/>
            <a:pathLst>
              <a:path w="2933700" h="9525">
                <a:moveTo>
                  <a:pt x="0" y="0"/>
                </a:moveTo>
                <a:lnTo>
                  <a:pt x="2933700" y="0"/>
                </a:lnTo>
              </a:path>
            </a:pathLst>
          </a:custGeom>
          <a:noFill/>
          <a:ln w="19050">
            <a:solidFill>
              <a:srgbClr val="5B677A"/>
            </a:solidFill>
          </a:ln>
        </p:spPr>
      </p:sp>
      <p:sp>
        <p:nvSpPr>
          <p:cNvPr id="39" name="Rectangle 39"/>
          <p:cNvSpPr/>
          <p:nvPr/>
        </p:nvSpPr>
        <p:spPr>
          <a:xfrm>
            <a:off x="8334375" y="3333750"/>
            <a:ext cx="495300" cy="590550"/>
          </a:xfrm>
          <a:prstGeom prst="rect">
            <a:avLst/>
          </a:prstGeom>
          <a:solidFill>
            <a:srgbClr val="2C8C6C"/>
          </a:solidFill>
          <a:ln>
            <a:noFill/>
          </a:ln>
        </p:spPr>
      </p:sp>
      <p:sp>
        <p:nvSpPr>
          <p:cNvPr id="40" name="Rectangle 40"/>
          <p:cNvSpPr/>
          <p:nvPr/>
        </p:nvSpPr>
        <p:spPr>
          <a:xfrm>
            <a:off x="9372600" y="2886075"/>
            <a:ext cx="495300" cy="1038225"/>
          </a:xfrm>
          <a:prstGeom prst="rect">
            <a:avLst/>
          </a:prstGeom>
          <a:solidFill>
            <a:srgbClr val="2C8C6C"/>
          </a:solidFill>
          <a:ln>
            <a:noFill/>
          </a:ln>
        </p:spPr>
      </p:sp>
      <p:sp>
        <p:nvSpPr>
          <p:cNvPr id="41" name="Rectangle 41"/>
          <p:cNvSpPr/>
          <p:nvPr/>
        </p:nvSpPr>
        <p:spPr>
          <a:xfrm>
            <a:off x="10420350" y="2476500"/>
            <a:ext cx="495300" cy="1447800"/>
          </a:xfrm>
          <a:prstGeom prst="rect">
            <a:avLst/>
          </a:prstGeom>
          <a:solidFill>
            <a:srgbClr val="2C8C6C"/>
          </a:solidFill>
          <a:ln>
            <a:noFill/>
          </a:ln>
        </p:spPr>
      </p:sp>
      <p:sp>
        <p:nvSpPr>
          <p:cNvPr id="42" name="TextBox 42"/>
          <p:cNvSpPr txBox="1"/>
          <p:nvPr/>
        </p:nvSpPr>
        <p:spPr>
          <a:xfrm>
            <a:off x="8261604" y="4042410"/>
            <a:ext cx="367589" cy="234696"/>
          </a:xfrm>
          <a:prstGeom prst="rect">
            <a:avLst/>
          </a:prstGeom>
          <a:noFill/>
          <a:ln>
            <a:noFill/>
          </a:ln>
        </p:spPr>
        <p:txBody>
          <a:bodyPr wrap="none" lIns="0" tIns="0" rIns="0" bIns="0" anchor="t" anchorCtr="0">
            <a:spAutoFit/>
          </a:bodyPr>
          <a:lstStyle/>
          <a:p>
            <a:pPr algn="l"/>
            <a:r>
              <a:rPr lang="en-US" sz="1200" dirty="0">
                <a:solidFill>
                  <a:srgbClr val="5B677A"/>
                </a:solidFill>
                <a:latin typeface="Arial"/>
                <a:ea typeface="Arial"/>
                <a:cs typeface="Arial"/>
              </a:rPr>
              <a:t>1999</a:t>
            </a:r>
          </a:p>
        </p:txBody>
      </p:sp>
      <p:sp>
        <p:nvSpPr>
          <p:cNvPr id="43" name="TextBox 43"/>
          <p:cNvSpPr txBox="1"/>
          <p:nvPr/>
        </p:nvSpPr>
        <p:spPr>
          <a:xfrm>
            <a:off x="9299829" y="4042410"/>
            <a:ext cx="367589" cy="234696"/>
          </a:xfrm>
          <a:prstGeom prst="rect">
            <a:avLst/>
          </a:prstGeom>
          <a:noFill/>
          <a:ln>
            <a:noFill/>
          </a:ln>
        </p:spPr>
        <p:txBody>
          <a:bodyPr wrap="none" lIns="0" tIns="0" rIns="0" bIns="0" anchor="t" anchorCtr="0">
            <a:spAutoFit/>
          </a:bodyPr>
          <a:lstStyle/>
          <a:p>
            <a:pPr algn="l"/>
            <a:r>
              <a:rPr lang="en-US" sz="1200" dirty="0">
                <a:solidFill>
                  <a:srgbClr val="5B677A"/>
                </a:solidFill>
                <a:latin typeface="Arial"/>
                <a:ea typeface="Arial"/>
                <a:cs typeface="Arial"/>
              </a:rPr>
              <a:t>2000</a:t>
            </a:r>
          </a:p>
        </p:txBody>
      </p:sp>
      <p:sp>
        <p:nvSpPr>
          <p:cNvPr id="44" name="TextBox 44"/>
          <p:cNvSpPr txBox="1"/>
          <p:nvPr/>
        </p:nvSpPr>
        <p:spPr>
          <a:xfrm>
            <a:off x="10347579" y="4042410"/>
            <a:ext cx="367589" cy="234696"/>
          </a:xfrm>
          <a:prstGeom prst="rect">
            <a:avLst/>
          </a:prstGeom>
          <a:noFill/>
          <a:ln>
            <a:noFill/>
          </a:ln>
        </p:spPr>
        <p:txBody>
          <a:bodyPr wrap="none" lIns="0" tIns="0" rIns="0" bIns="0" anchor="t" anchorCtr="0">
            <a:spAutoFit/>
          </a:bodyPr>
          <a:lstStyle/>
          <a:p>
            <a:pPr algn="l"/>
            <a:r>
              <a:rPr lang="en-US" sz="1200" dirty="0">
                <a:solidFill>
                  <a:srgbClr val="5B677A"/>
                </a:solidFill>
                <a:latin typeface="Arial"/>
                <a:ea typeface="Arial"/>
                <a:cs typeface="Arial"/>
              </a:rPr>
              <a:t>2001</a:t>
            </a:r>
          </a:p>
        </p:txBody>
      </p:sp>
      <p:sp>
        <p:nvSpPr>
          <p:cNvPr id="45" name="TextBox 45"/>
          <p:cNvSpPr txBox="1"/>
          <p:nvPr/>
        </p:nvSpPr>
        <p:spPr>
          <a:xfrm>
            <a:off x="8185404" y="3051810"/>
            <a:ext cx="481584" cy="234696"/>
          </a:xfrm>
          <a:prstGeom prst="rect">
            <a:avLst/>
          </a:prstGeom>
          <a:noFill/>
          <a:ln>
            <a:noFill/>
          </a:ln>
        </p:spPr>
        <p:txBody>
          <a:bodyPr wrap="none" lIns="0" tIns="0" rIns="0" bIns="0" anchor="t" anchorCtr="0">
            <a:spAutoFit/>
          </a:bodyPr>
          <a:lstStyle/>
          <a:p>
            <a:pPr algn="l"/>
            <a:r>
              <a:rPr lang="en-US" sz="1200" dirty="0">
                <a:solidFill>
                  <a:srgbClr val="111827"/>
                </a:solidFill>
                <a:latin typeface="Arial"/>
                <a:ea typeface="Arial"/>
                <a:cs typeface="Arial"/>
              </a:rPr>
              <a:t>$240K</a:t>
            </a:r>
          </a:p>
        </p:txBody>
      </p:sp>
      <p:sp>
        <p:nvSpPr>
          <p:cNvPr id="46" name="TextBox 46"/>
          <p:cNvSpPr txBox="1"/>
          <p:nvPr/>
        </p:nvSpPr>
        <p:spPr>
          <a:xfrm>
            <a:off x="9223629" y="2604135"/>
            <a:ext cx="481584" cy="234696"/>
          </a:xfrm>
          <a:prstGeom prst="rect">
            <a:avLst/>
          </a:prstGeom>
          <a:noFill/>
          <a:ln>
            <a:noFill/>
          </a:ln>
        </p:spPr>
        <p:txBody>
          <a:bodyPr wrap="none" lIns="0" tIns="0" rIns="0" bIns="0" anchor="t" anchorCtr="0">
            <a:spAutoFit/>
          </a:bodyPr>
          <a:lstStyle/>
          <a:p>
            <a:pPr algn="l"/>
            <a:r>
              <a:rPr lang="en-US" sz="1200" dirty="0">
                <a:solidFill>
                  <a:srgbClr val="111827"/>
                </a:solidFill>
                <a:latin typeface="Arial"/>
                <a:ea typeface="Arial"/>
                <a:cs typeface="Arial"/>
              </a:rPr>
              <a:t>$426K</a:t>
            </a:r>
          </a:p>
        </p:txBody>
      </p:sp>
      <p:sp>
        <p:nvSpPr>
          <p:cNvPr id="47" name="TextBox 47"/>
          <p:cNvSpPr txBox="1"/>
          <p:nvPr/>
        </p:nvSpPr>
        <p:spPr>
          <a:xfrm>
            <a:off x="10261854" y="2194560"/>
            <a:ext cx="481584" cy="234696"/>
          </a:xfrm>
          <a:prstGeom prst="rect">
            <a:avLst/>
          </a:prstGeom>
          <a:noFill/>
          <a:ln>
            <a:noFill/>
          </a:ln>
        </p:spPr>
        <p:txBody>
          <a:bodyPr wrap="none" lIns="0" tIns="0" rIns="0" bIns="0" anchor="t" anchorCtr="0">
            <a:spAutoFit/>
          </a:bodyPr>
          <a:lstStyle/>
          <a:p>
            <a:pPr algn="l"/>
            <a:r>
              <a:rPr lang="en-US" sz="1200" dirty="0">
                <a:solidFill>
                  <a:srgbClr val="111827"/>
                </a:solidFill>
                <a:latin typeface="Arial"/>
                <a:ea typeface="Arial"/>
                <a:cs typeface="Arial"/>
              </a:rPr>
              <a:t>$592K</a:t>
            </a:r>
          </a:p>
        </p:txBody>
      </p:sp>
      <p:sp>
        <p:nvSpPr>
          <p:cNvPr id="48" name="Rectangle 48"/>
          <p:cNvSpPr/>
          <p:nvPr/>
        </p:nvSpPr>
        <p:spPr>
          <a:xfrm>
            <a:off x="628650" y="4895850"/>
            <a:ext cx="2419350" cy="781050"/>
          </a:xfrm>
          <a:prstGeom prst="rect">
            <a:avLst/>
          </a:prstGeom>
          <a:solidFill>
            <a:srgbClr val="F4F7FA"/>
          </a:solidFill>
          <a:ln w="9525">
            <a:solidFill>
              <a:srgbClr val="D7DEE8"/>
            </a:solidFill>
          </a:ln>
        </p:spPr>
      </p:sp>
      <p:sp>
        <p:nvSpPr>
          <p:cNvPr id="49" name="TextBox 49"/>
          <p:cNvSpPr txBox="1"/>
          <p:nvPr/>
        </p:nvSpPr>
        <p:spPr>
          <a:xfrm>
            <a:off x="850392" y="5054918"/>
            <a:ext cx="1383944" cy="264033"/>
          </a:xfrm>
          <a:prstGeom prst="rect">
            <a:avLst/>
          </a:prstGeom>
          <a:noFill/>
          <a:ln>
            <a:noFill/>
          </a:ln>
        </p:spPr>
        <p:txBody>
          <a:bodyPr wrap="none" lIns="0" tIns="0" rIns="0" bIns="0" anchor="t" anchorCtr="0">
            <a:spAutoFit/>
          </a:bodyPr>
          <a:lstStyle/>
          <a:p>
            <a:pPr algn="l"/>
            <a:r>
              <a:rPr lang="en-US" sz="1350" dirty="0">
                <a:solidFill>
                  <a:srgbClr val="5B677A"/>
                </a:solidFill>
                <a:latin typeface="Arial"/>
                <a:ea typeface="Arial"/>
                <a:cs typeface="Arial"/>
              </a:rPr>
              <a:t>First-year ROE</a:t>
            </a:r>
          </a:p>
        </p:txBody>
      </p:sp>
      <p:sp>
        <p:nvSpPr>
          <p:cNvPr id="50" name="TextBox 50"/>
          <p:cNvSpPr txBox="1"/>
          <p:nvPr/>
        </p:nvSpPr>
        <p:spPr>
          <a:xfrm>
            <a:off x="838200" y="5128260"/>
            <a:ext cx="2115960" cy="819150"/>
          </a:xfrm>
          <a:prstGeom prst="rect">
            <a:avLst/>
          </a:prstGeom>
          <a:noFill/>
          <a:ln>
            <a:noFill/>
          </a:ln>
        </p:spPr>
        <p:txBody>
          <a:bodyPr wrap="none" lIns="0" tIns="0" rIns="0" bIns="0" anchor="t" anchorCtr="0">
            <a:spAutoFit/>
          </a:bodyPr>
          <a:lstStyle/>
          <a:p>
            <a:pPr algn="l"/>
            <a:r>
              <a:rPr lang="en-US" sz="4200" b="1" dirty="0">
                <a:solidFill>
                  <a:srgbClr val="2C8C6C"/>
                </a:solidFill>
                <a:latin typeface="Arial"/>
                <a:ea typeface="Arial"/>
                <a:cs typeface="Arial"/>
              </a:rPr>
              <a:t>10.88%</a:t>
            </a:r>
          </a:p>
        </p:txBody>
      </p:sp>
      <p:sp>
        <p:nvSpPr>
          <p:cNvPr id="51" name="Rectangle 51"/>
          <p:cNvSpPr/>
          <p:nvPr/>
        </p:nvSpPr>
        <p:spPr>
          <a:xfrm>
            <a:off x="3333750" y="4895850"/>
            <a:ext cx="2419350" cy="781050"/>
          </a:xfrm>
          <a:prstGeom prst="rect">
            <a:avLst/>
          </a:prstGeom>
          <a:solidFill>
            <a:srgbClr val="F4F7FA"/>
          </a:solidFill>
          <a:ln w="9525">
            <a:solidFill>
              <a:srgbClr val="D7DEE8"/>
            </a:solidFill>
          </a:ln>
        </p:spPr>
      </p:sp>
      <p:sp>
        <p:nvSpPr>
          <p:cNvPr id="52" name="TextBox 52"/>
          <p:cNvSpPr txBox="1"/>
          <p:nvPr/>
        </p:nvSpPr>
        <p:spPr>
          <a:xfrm>
            <a:off x="3555492" y="5054918"/>
            <a:ext cx="1227968" cy="264033"/>
          </a:xfrm>
          <a:prstGeom prst="rect">
            <a:avLst/>
          </a:prstGeom>
          <a:noFill/>
          <a:ln>
            <a:noFill/>
          </a:ln>
        </p:spPr>
        <p:txBody>
          <a:bodyPr wrap="none" lIns="0" tIns="0" rIns="0" bIns="0" anchor="t" anchorCtr="0">
            <a:spAutoFit/>
          </a:bodyPr>
          <a:lstStyle/>
          <a:p>
            <a:pPr algn="l"/>
            <a:r>
              <a:rPr lang="en-US" sz="1350" dirty="0">
                <a:solidFill>
                  <a:srgbClr val="5B677A"/>
                </a:solidFill>
                <a:latin typeface="Arial"/>
                <a:ea typeface="Arial"/>
                <a:cs typeface="Arial"/>
              </a:rPr>
              <a:t>Current ratio</a:t>
            </a:r>
          </a:p>
        </p:txBody>
      </p:sp>
      <p:sp>
        <p:nvSpPr>
          <p:cNvPr id="53" name="TextBox 53"/>
          <p:cNvSpPr txBox="1"/>
          <p:nvPr/>
        </p:nvSpPr>
        <p:spPr>
          <a:xfrm>
            <a:off x="3543300" y="5128260"/>
            <a:ext cx="1344183" cy="819150"/>
          </a:xfrm>
          <a:prstGeom prst="rect">
            <a:avLst/>
          </a:prstGeom>
          <a:noFill/>
          <a:ln>
            <a:noFill/>
          </a:ln>
        </p:spPr>
        <p:txBody>
          <a:bodyPr wrap="none" lIns="0" tIns="0" rIns="0" bIns="0" anchor="t" anchorCtr="0">
            <a:spAutoFit/>
          </a:bodyPr>
          <a:lstStyle/>
          <a:p>
            <a:pPr algn="l"/>
            <a:r>
              <a:rPr lang="en-US" sz="4200" b="1" dirty="0">
                <a:solidFill>
                  <a:srgbClr val="0B2E4A"/>
                </a:solidFill>
                <a:latin typeface="Arial"/>
                <a:ea typeface="Arial"/>
                <a:cs typeface="Arial"/>
              </a:rPr>
              <a:t>2.73</a:t>
            </a:r>
          </a:p>
        </p:txBody>
      </p:sp>
      <p:sp>
        <p:nvSpPr>
          <p:cNvPr id="54" name="Rectangle 54"/>
          <p:cNvSpPr/>
          <p:nvPr/>
        </p:nvSpPr>
        <p:spPr>
          <a:xfrm>
            <a:off x="6038850" y="4895850"/>
            <a:ext cx="5295900" cy="781050"/>
          </a:xfrm>
          <a:prstGeom prst="rect">
            <a:avLst/>
          </a:prstGeom>
          <a:solidFill>
            <a:srgbClr val="0B2E4A"/>
          </a:solidFill>
          <a:ln>
            <a:noFill/>
          </a:ln>
        </p:spPr>
      </p:sp>
      <p:sp>
        <p:nvSpPr>
          <p:cNvPr id="55" name="TextBox 55"/>
          <p:cNvSpPr txBox="1"/>
          <p:nvPr/>
        </p:nvSpPr>
        <p:spPr>
          <a:xfrm>
            <a:off x="6277356" y="5044440"/>
            <a:ext cx="7037581"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Arial"/>
                <a:ea typeface="Arial"/>
                <a:cs typeface="Arial"/>
              </a:rPr>
              <a:t>The PDF shows positive cash flow and profit in year one,</a:t>
            </a:r>
          </a:p>
        </p:txBody>
      </p:sp>
      <p:sp>
        <p:nvSpPr>
          <p:cNvPr id="56" name="TextBox 56"/>
          <p:cNvSpPr txBox="1"/>
          <p:nvPr/>
        </p:nvSpPr>
        <p:spPr>
          <a:xfrm>
            <a:off x="6277356" y="5330190"/>
            <a:ext cx="5310469"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Arial"/>
                <a:ea typeface="Arial"/>
                <a:cs typeface="Arial"/>
              </a:rPr>
              <a:t>then rising sales and income through 2001.</a:t>
            </a:r>
          </a:p>
        </p:txBody>
      </p:sp>
      <p:sp>
        <p:nvSpPr>
          <p:cNvPr id="57" name="TextBox 57"/>
          <p:cNvSpPr txBox="1"/>
          <p:nvPr/>
        </p:nvSpPr>
        <p:spPr>
          <a:xfrm>
            <a:off x="527685" y="6317456"/>
            <a:ext cx="6206495" cy="220028"/>
          </a:xfrm>
          <a:prstGeom prst="rect">
            <a:avLst/>
          </a:prstGeom>
          <a:noFill/>
          <a:ln>
            <a:noFill/>
          </a:ln>
        </p:spPr>
        <p:txBody>
          <a:bodyPr wrap="none" lIns="0" tIns="0" rIns="0" bIns="0" anchor="t" anchorCtr="0">
            <a:spAutoFit/>
          </a:bodyPr>
          <a:lstStyle/>
          <a:p>
            <a:pPr algn="l"/>
            <a:r>
              <a:rPr lang="en-US" sz="1120" dirty="0">
                <a:solidFill>
                  <a:srgbClr val="5B677A"/>
                </a:solidFill>
                <a:latin typeface="Arial"/>
                <a:ea typeface="Arial"/>
                <a:cs typeface="Arial"/>
              </a:rPr>
              <a:t>Source: PDF 1999-2001 income statements, cash flow, and financial ratios / Slide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516636" y="234315"/>
            <a:ext cx="9054656" cy="1121664"/>
          </a:xfrm>
          <a:prstGeom prst="rect">
            <a:avLst/>
          </a:prstGeom>
          <a:noFill/>
          <a:ln>
            <a:noFill/>
          </a:ln>
        </p:spPr>
        <p:txBody>
          <a:bodyPr wrap="square" lIns="0" tIns="0" rIns="0" bIns="0" anchor="t" anchorCtr="0"/>
          <a:lstStyle/>
          <a:p>
            <a:pPr algn="l">
              <a:lnSpc>
                <a:spcPts val="3750"/>
              </a:lnSpc>
            </a:pPr>
            <a:r>
              <a:rPr lang="en-US" sz="3300" b="1" dirty="0">
                <a:solidFill>
                  <a:srgbClr val="0B2E4A"/>
                </a:solidFill>
                <a:latin typeface="Arial"/>
                <a:ea typeface="Arial"/>
                <a:cs typeface="Arial"/>
              </a:rPr>
              <a:t xml:space="preserve">The ask should fund controlled expansion, </a:t>
            </a:r>
            <a:r>
              <a:rPr lang="en-US" sz="3300" b="1" dirty="0">
                <a:solidFill>
                  <a:srgbClr val="0B2E4A"/>
                </a:solidFill>
                <a:latin typeface="Arial"/>
                <a:ea typeface="Arial"/>
                <a:cs typeface="Arial"/>
              </a:rPr>
              <a:t>with contingency triggers already defined</a:t>
            </a:r>
          </a:p>
        </p:txBody>
      </p:sp>
      <p:sp>
        <p:nvSpPr>
          <p:cNvPr id="4" name="TextBox 4"/>
          <p:cNvSpPr txBox="1"/>
          <p:nvPr/>
        </p:nvSpPr>
        <p:spPr>
          <a:xfrm>
            <a:off x="521970" y="1109662"/>
            <a:ext cx="10338435" cy="802005"/>
          </a:xfrm>
          <a:prstGeom prst="rect">
            <a:avLst/>
          </a:prstGeom>
          <a:noFill/>
          <a:ln>
            <a:noFill/>
          </a:ln>
        </p:spPr>
        <p:txBody>
          <a:bodyPr wrap="square" lIns="0" tIns="0" rIns="0" bIns="0" anchor="t" anchorCtr="0"/>
          <a:lstStyle/>
          <a:p>
            <a:pPr algn="l">
              <a:lnSpc>
                <a:spcPts val="2850"/>
              </a:lnSpc>
            </a:pPr>
            <a:r>
              <a:rPr lang="en-US" sz="2250" dirty="0">
                <a:solidFill>
                  <a:srgbClr val="111827"/>
                </a:solidFill>
                <a:latin typeface="Arial"/>
                <a:ea typeface="Arial"/>
                <a:cs typeface="Arial"/>
              </a:rPr>
              <a:t xml:space="preserve">The PDF does not state a dollar ask, so this pitch frames partner support </a:t>
            </a:r>
            <a:r>
              <a:rPr lang="en-US" sz="2250" dirty="0">
                <a:solidFill>
                  <a:srgbClr val="111827"/>
                </a:solidFill>
                <a:latin typeface="Arial"/>
                <a:ea typeface="Arial"/>
                <a:cs typeface="Arial"/>
              </a:rPr>
              <a:t>around documented expansion.</a:t>
            </a:r>
          </a:p>
        </p:txBody>
      </p:sp>
      <p:sp>
        <p:nvSpPr>
          <p:cNvPr id="5" name="Line 5"/>
          <p:cNvSpPr/>
          <p:nvPr/>
        </p:nvSpPr>
        <p:spPr>
          <a:xfrm>
            <a:off x="533400" y="1809750"/>
            <a:ext cx="11125200" cy="9525"/>
          </a:xfrm>
          <a:custGeom>
            <a:avLst/>
            <a:gdLst/>
            <a:ahLst/>
            <a:cxnLst/>
            <a:rect l="l" t="t" r="r" b="b"/>
            <a:pathLst>
              <a:path w="11125200" h="9525">
                <a:moveTo>
                  <a:pt x="0" y="0"/>
                </a:moveTo>
                <a:lnTo>
                  <a:pt x="11125200" y="0"/>
                </a:lnTo>
              </a:path>
            </a:pathLst>
          </a:custGeom>
          <a:noFill/>
          <a:ln w="9525">
            <a:solidFill>
              <a:srgbClr val="D7DEE8"/>
            </a:solidFill>
          </a:ln>
        </p:spPr>
      </p:sp>
      <p:grpSp>
        <p:nvGrpSpPr>
          <p:cNvPr id="29" name="Group 29"/>
          <p:cNvGrpSpPr/>
          <p:nvPr/>
        </p:nvGrpSpPr>
        <p:grpSpPr>
          <a:xfrm>
            <a:off x="666750" y="2095500"/>
            <a:ext cx="7429500" cy="3143250"/>
            <a:chOff x="666750" y="2095500"/>
            <a:chExt cx="7429500" cy="3143250"/>
          </a:xfrm>
        </p:grpSpPr>
        <p:sp>
          <p:nvSpPr>
            <p:cNvPr id="6" name="Rectangle 6"/>
            <p:cNvSpPr/>
            <p:nvPr/>
          </p:nvSpPr>
          <p:spPr>
            <a:xfrm>
              <a:off x="666750" y="2095500"/>
              <a:ext cx="7429500" cy="3143250"/>
            </a:xfrm>
            <a:prstGeom prst="rect">
              <a:avLst/>
            </a:prstGeom>
            <a:solidFill>
              <a:srgbClr val="FFFFFF"/>
            </a:solidFill>
            <a:ln w="9525">
              <a:solidFill>
                <a:srgbClr val="D7DEE8"/>
              </a:solidFill>
            </a:ln>
          </p:spPr>
        </p:sp>
        <p:sp>
          <p:nvSpPr>
            <p:cNvPr id="7" name="Rectangle 7"/>
            <p:cNvSpPr/>
            <p:nvPr/>
          </p:nvSpPr>
          <p:spPr>
            <a:xfrm>
              <a:off x="666750" y="2095500"/>
              <a:ext cx="7429500" cy="495300"/>
            </a:xfrm>
            <a:prstGeom prst="rect">
              <a:avLst/>
            </a:prstGeom>
            <a:solidFill>
              <a:srgbClr val="0B2E4A"/>
            </a:solidFill>
            <a:ln>
              <a:noFill/>
            </a:ln>
          </p:spPr>
        </p:sp>
        <p:sp>
          <p:nvSpPr>
            <p:cNvPr id="8" name="Line 8"/>
            <p:cNvSpPr/>
            <p:nvPr/>
          </p:nvSpPr>
          <p:spPr>
            <a:xfrm>
              <a:off x="2247900" y="2095500"/>
              <a:ext cx="9525" cy="3143250"/>
            </a:xfrm>
            <a:custGeom>
              <a:avLst/>
              <a:gdLst/>
              <a:ahLst/>
              <a:cxnLst/>
              <a:rect l="l" t="t" r="r" b="b"/>
              <a:pathLst>
                <a:path w="9525" h="3143250">
                  <a:moveTo>
                    <a:pt x="0" y="0"/>
                  </a:moveTo>
                  <a:lnTo>
                    <a:pt x="0" y="3143250"/>
                  </a:lnTo>
                </a:path>
              </a:pathLst>
            </a:custGeom>
            <a:noFill/>
            <a:ln w="9525">
              <a:solidFill>
                <a:srgbClr val="D7DEE8"/>
              </a:solidFill>
            </a:ln>
          </p:spPr>
        </p:sp>
        <p:sp>
          <p:nvSpPr>
            <p:cNvPr id="9" name="Line 9"/>
            <p:cNvSpPr/>
            <p:nvPr/>
          </p:nvSpPr>
          <p:spPr>
            <a:xfrm>
              <a:off x="4114800" y="2095500"/>
              <a:ext cx="9525" cy="3143250"/>
            </a:xfrm>
            <a:custGeom>
              <a:avLst/>
              <a:gdLst/>
              <a:ahLst/>
              <a:cxnLst/>
              <a:rect l="l" t="t" r="r" b="b"/>
              <a:pathLst>
                <a:path w="9525" h="3143250">
                  <a:moveTo>
                    <a:pt x="0" y="0"/>
                  </a:moveTo>
                  <a:lnTo>
                    <a:pt x="0" y="3143250"/>
                  </a:lnTo>
                </a:path>
              </a:pathLst>
            </a:custGeom>
            <a:noFill/>
            <a:ln w="9525">
              <a:solidFill>
                <a:srgbClr val="D7DEE8"/>
              </a:solidFill>
            </a:ln>
          </p:spPr>
        </p:sp>
        <p:sp>
          <p:nvSpPr>
            <p:cNvPr id="10" name="Line 10"/>
            <p:cNvSpPr/>
            <p:nvPr/>
          </p:nvSpPr>
          <p:spPr>
            <a:xfrm>
              <a:off x="666750" y="2590800"/>
              <a:ext cx="7429500" cy="9525"/>
            </a:xfrm>
            <a:custGeom>
              <a:avLst/>
              <a:gdLst/>
              <a:ahLst/>
              <a:cxnLst/>
              <a:rect l="l" t="t" r="r" b="b"/>
              <a:pathLst>
                <a:path w="7429500" h="9525">
                  <a:moveTo>
                    <a:pt x="0" y="0"/>
                  </a:moveTo>
                  <a:lnTo>
                    <a:pt x="7429500" y="0"/>
                  </a:lnTo>
                </a:path>
              </a:pathLst>
            </a:custGeom>
            <a:noFill/>
            <a:ln w="9525">
              <a:solidFill>
                <a:srgbClr val="D7DEE8"/>
              </a:solidFill>
            </a:ln>
          </p:spPr>
        </p:sp>
        <p:sp>
          <p:nvSpPr>
            <p:cNvPr id="11" name="Line 11"/>
            <p:cNvSpPr/>
            <p:nvPr/>
          </p:nvSpPr>
          <p:spPr>
            <a:xfrm>
              <a:off x="666750" y="3248025"/>
              <a:ext cx="7429500" cy="9525"/>
            </a:xfrm>
            <a:custGeom>
              <a:avLst/>
              <a:gdLst/>
              <a:ahLst/>
              <a:cxnLst/>
              <a:rect l="l" t="t" r="r" b="b"/>
              <a:pathLst>
                <a:path w="7429500" h="9525">
                  <a:moveTo>
                    <a:pt x="0" y="0"/>
                  </a:moveTo>
                  <a:lnTo>
                    <a:pt x="7429500" y="0"/>
                  </a:lnTo>
                </a:path>
              </a:pathLst>
            </a:custGeom>
            <a:noFill/>
            <a:ln w="9525">
              <a:solidFill>
                <a:srgbClr val="E8EDF3"/>
              </a:solidFill>
            </a:ln>
          </p:spPr>
        </p:sp>
        <p:sp>
          <p:nvSpPr>
            <p:cNvPr id="12" name="Line 12"/>
            <p:cNvSpPr/>
            <p:nvPr/>
          </p:nvSpPr>
          <p:spPr>
            <a:xfrm>
              <a:off x="666750" y="3905250"/>
              <a:ext cx="7429500" cy="9525"/>
            </a:xfrm>
            <a:custGeom>
              <a:avLst/>
              <a:gdLst/>
              <a:ahLst/>
              <a:cxnLst/>
              <a:rect l="l" t="t" r="r" b="b"/>
              <a:pathLst>
                <a:path w="7429500" h="9525">
                  <a:moveTo>
                    <a:pt x="0" y="0"/>
                  </a:moveTo>
                  <a:lnTo>
                    <a:pt x="7429500" y="0"/>
                  </a:lnTo>
                </a:path>
              </a:pathLst>
            </a:custGeom>
            <a:noFill/>
            <a:ln w="9525">
              <a:solidFill>
                <a:srgbClr val="E8EDF3"/>
              </a:solidFill>
            </a:ln>
          </p:spPr>
        </p:sp>
        <p:sp>
          <p:nvSpPr>
            <p:cNvPr id="13" name="Line 13"/>
            <p:cNvSpPr/>
            <p:nvPr/>
          </p:nvSpPr>
          <p:spPr>
            <a:xfrm>
              <a:off x="666750" y="4562475"/>
              <a:ext cx="7429500" cy="9525"/>
            </a:xfrm>
            <a:custGeom>
              <a:avLst/>
              <a:gdLst/>
              <a:ahLst/>
              <a:cxnLst/>
              <a:rect l="l" t="t" r="r" b="b"/>
              <a:pathLst>
                <a:path w="7429500" h="9525">
                  <a:moveTo>
                    <a:pt x="0" y="0"/>
                  </a:moveTo>
                  <a:lnTo>
                    <a:pt x="7429500" y="0"/>
                  </a:lnTo>
                </a:path>
              </a:pathLst>
            </a:custGeom>
            <a:noFill/>
            <a:ln w="9525">
              <a:solidFill>
                <a:srgbClr val="E8EDF3"/>
              </a:solidFill>
            </a:ln>
          </p:spPr>
        </p:sp>
        <p:sp>
          <p:nvSpPr>
            <p:cNvPr id="14" name="TextBox 14"/>
            <p:cNvSpPr txBox="1"/>
            <p:nvPr/>
          </p:nvSpPr>
          <p:spPr>
            <a:xfrm>
              <a:off x="889254" y="2289810"/>
              <a:ext cx="1052206"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Arial"/>
                  <a:ea typeface="Arial"/>
                  <a:cs typeface="Arial"/>
                </a:rPr>
                <a:t>Trigger area</a:t>
              </a:r>
            </a:p>
          </p:txBody>
        </p:sp>
        <p:sp>
          <p:nvSpPr>
            <p:cNvPr id="15" name="TextBox 15"/>
            <p:cNvSpPr txBox="1"/>
            <p:nvPr/>
          </p:nvSpPr>
          <p:spPr>
            <a:xfrm>
              <a:off x="2470404" y="2289810"/>
              <a:ext cx="814426"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Arial"/>
                  <a:ea typeface="Arial"/>
                  <a:cs typeface="Arial"/>
                </a:rPr>
                <a:t>Threshold</a:t>
              </a:r>
            </a:p>
          </p:txBody>
        </p:sp>
        <p:sp>
          <p:nvSpPr>
            <p:cNvPr id="16" name="TextBox 16"/>
            <p:cNvSpPr txBox="1"/>
            <p:nvPr/>
          </p:nvSpPr>
          <p:spPr>
            <a:xfrm>
              <a:off x="4337304" y="2289810"/>
              <a:ext cx="2409266"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Arial"/>
                  <a:ea typeface="Arial"/>
                  <a:cs typeface="Arial"/>
                </a:rPr>
                <a:t>Action from contingency plan</a:t>
              </a:r>
            </a:p>
          </p:txBody>
        </p:sp>
        <p:sp>
          <p:nvSpPr>
            <p:cNvPr id="17" name="TextBox 17"/>
            <p:cNvSpPr txBox="1"/>
            <p:nvPr/>
          </p:nvSpPr>
          <p:spPr>
            <a:xfrm>
              <a:off x="888492" y="2845118"/>
              <a:ext cx="1328395"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Year-one sales</a:t>
              </a:r>
            </a:p>
          </p:txBody>
        </p:sp>
        <p:sp>
          <p:nvSpPr>
            <p:cNvPr id="18" name="TextBox 18"/>
            <p:cNvSpPr txBox="1"/>
            <p:nvPr/>
          </p:nvSpPr>
          <p:spPr>
            <a:xfrm>
              <a:off x="2469642" y="2845118"/>
              <a:ext cx="905119"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Below 90%</a:t>
              </a:r>
            </a:p>
          </p:txBody>
        </p:sp>
        <p:sp>
          <p:nvSpPr>
            <p:cNvPr id="19" name="TextBox 19"/>
            <p:cNvSpPr txBox="1"/>
            <p:nvPr/>
          </p:nvSpPr>
          <p:spPr>
            <a:xfrm>
              <a:off x="4336542" y="2711768"/>
              <a:ext cx="2816924" cy="492633"/>
            </a:xfrm>
            <a:prstGeom prst="rect">
              <a:avLst/>
            </a:prstGeom>
            <a:noFill/>
            <a:ln>
              <a:noFill/>
            </a:ln>
          </p:spPr>
          <p:txBody>
            <a:bodyPr wrap="square" lIns="0" tIns="0" rIns="0" bIns="0" anchor="t" anchorCtr="0"/>
            <a:lstStyle/>
            <a:p>
              <a:pPr algn="l">
                <a:lnSpc>
                  <a:spcPts val="1800"/>
                </a:lnSpc>
              </a:pPr>
              <a:r>
                <a:rPr lang="en-US" sz="1350" dirty="0">
                  <a:solidFill>
                    <a:srgbClr val="111827"/>
                  </a:solidFill>
                  <a:latin typeface="Arial"/>
                  <a:ea typeface="Arial"/>
                  <a:cs typeface="Arial"/>
                </a:rPr>
                <a:t xml:space="preserve">Double local in-store promotions; </a:t>
              </a:r>
              <a:r>
                <a:rPr lang="en-US" sz="1350" dirty="0">
                  <a:solidFill>
                    <a:srgbClr val="111827"/>
                  </a:solidFill>
                  <a:latin typeface="Arial"/>
                  <a:ea typeface="Arial"/>
                  <a:cs typeface="Arial"/>
                </a:rPr>
                <a:t>advertise in weekly circulars.</a:t>
              </a:r>
            </a:p>
          </p:txBody>
        </p:sp>
        <p:sp>
          <p:nvSpPr>
            <p:cNvPr id="20" name="TextBox 20"/>
            <p:cNvSpPr txBox="1"/>
            <p:nvPr/>
          </p:nvSpPr>
          <p:spPr>
            <a:xfrm>
              <a:off x="888492" y="3502342"/>
              <a:ext cx="1138119"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OKC or Tulsa</a:t>
              </a:r>
            </a:p>
          </p:txBody>
        </p:sp>
        <p:sp>
          <p:nvSpPr>
            <p:cNvPr id="21" name="TextBox 21"/>
            <p:cNvSpPr txBox="1"/>
            <p:nvPr/>
          </p:nvSpPr>
          <p:spPr>
            <a:xfrm>
              <a:off x="2469642" y="3502342"/>
              <a:ext cx="1394917"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6-month review</a:t>
              </a:r>
            </a:p>
          </p:txBody>
        </p:sp>
        <p:sp>
          <p:nvSpPr>
            <p:cNvPr id="22" name="TextBox 22"/>
            <p:cNvSpPr txBox="1"/>
            <p:nvPr/>
          </p:nvSpPr>
          <p:spPr>
            <a:xfrm>
              <a:off x="4336542" y="3368992"/>
              <a:ext cx="3056953" cy="492633"/>
            </a:xfrm>
            <a:prstGeom prst="rect">
              <a:avLst/>
            </a:prstGeom>
            <a:noFill/>
            <a:ln>
              <a:noFill/>
            </a:ln>
          </p:spPr>
          <p:txBody>
            <a:bodyPr wrap="square" lIns="0" tIns="0" rIns="0" bIns="0" anchor="t" anchorCtr="0"/>
            <a:lstStyle/>
            <a:p>
              <a:pPr algn="l">
                <a:lnSpc>
                  <a:spcPts val="1800"/>
                </a:lnSpc>
              </a:pPr>
              <a:r>
                <a:rPr lang="en-US" sz="1350" dirty="0">
                  <a:solidFill>
                    <a:srgbClr val="111827"/>
                  </a:solidFill>
                  <a:latin typeface="Arial"/>
                  <a:ea typeface="Arial"/>
                  <a:cs typeface="Arial"/>
                </a:rPr>
                <a:t xml:space="preserve">Contract local marketing specialists </a:t>
              </a:r>
              <a:r>
                <a:rPr lang="en-US" sz="1350" dirty="0">
                  <a:solidFill>
                    <a:srgbClr val="111827"/>
                  </a:solidFill>
                  <a:latin typeface="Arial"/>
                  <a:ea typeface="Arial"/>
                  <a:cs typeface="Arial"/>
                </a:rPr>
                <a:t>on commission basis.</a:t>
              </a:r>
            </a:p>
          </p:txBody>
        </p:sp>
        <p:sp>
          <p:nvSpPr>
            <p:cNvPr id="23" name="TextBox 23"/>
            <p:cNvSpPr txBox="1"/>
            <p:nvPr/>
          </p:nvSpPr>
          <p:spPr>
            <a:xfrm>
              <a:off x="888492" y="4159568"/>
              <a:ext cx="781812"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Liquidity</a:t>
              </a:r>
            </a:p>
          </p:txBody>
        </p:sp>
        <p:sp>
          <p:nvSpPr>
            <p:cNvPr id="24" name="TextBox 24"/>
            <p:cNvSpPr txBox="1"/>
            <p:nvPr/>
          </p:nvSpPr>
          <p:spPr>
            <a:xfrm>
              <a:off x="2469642" y="4159568"/>
              <a:ext cx="1227529"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Weak liquidity</a:t>
              </a:r>
            </a:p>
          </p:txBody>
        </p:sp>
        <p:sp>
          <p:nvSpPr>
            <p:cNvPr id="25" name="TextBox 25"/>
            <p:cNvSpPr txBox="1"/>
            <p:nvPr/>
          </p:nvSpPr>
          <p:spPr>
            <a:xfrm>
              <a:off x="4336542" y="4026218"/>
              <a:ext cx="2568321" cy="492633"/>
            </a:xfrm>
            <a:prstGeom prst="rect">
              <a:avLst/>
            </a:prstGeom>
            <a:noFill/>
            <a:ln>
              <a:noFill/>
            </a:ln>
          </p:spPr>
          <p:txBody>
            <a:bodyPr wrap="square" lIns="0" tIns="0" rIns="0" bIns="0" anchor="t" anchorCtr="0"/>
            <a:lstStyle/>
            <a:p>
              <a:pPr algn="l">
                <a:lnSpc>
                  <a:spcPts val="1800"/>
                </a:lnSpc>
              </a:pPr>
              <a:r>
                <a:rPr lang="en-US" sz="1350" dirty="0">
                  <a:solidFill>
                    <a:srgbClr val="111827"/>
                  </a:solidFill>
                  <a:latin typeface="Arial"/>
                  <a:ea typeface="Arial"/>
                  <a:cs typeface="Arial"/>
                </a:rPr>
                <a:t xml:space="preserve">Review receivables procedures </a:t>
              </a:r>
              <a:r>
                <a:rPr lang="en-US" sz="1350" dirty="0">
                  <a:solidFill>
                    <a:srgbClr val="111827"/>
                  </a:solidFill>
                  <a:latin typeface="Arial"/>
                  <a:ea typeface="Arial"/>
                  <a:cs typeface="Arial"/>
                </a:rPr>
                <a:t>and cash-flow projections.</a:t>
              </a:r>
            </a:p>
          </p:txBody>
        </p:sp>
        <p:sp>
          <p:nvSpPr>
            <p:cNvPr id="26" name="TextBox 26"/>
            <p:cNvSpPr txBox="1"/>
            <p:nvPr/>
          </p:nvSpPr>
          <p:spPr>
            <a:xfrm>
              <a:off x="888492" y="4816792"/>
              <a:ext cx="368960"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ROE</a:t>
              </a:r>
            </a:p>
          </p:txBody>
        </p:sp>
        <p:sp>
          <p:nvSpPr>
            <p:cNvPr id="27" name="TextBox 27"/>
            <p:cNvSpPr txBox="1"/>
            <p:nvPr/>
          </p:nvSpPr>
          <p:spPr>
            <a:xfrm>
              <a:off x="2469642" y="4816792"/>
              <a:ext cx="1518704" cy="264033"/>
            </a:xfrm>
            <a:prstGeom prst="rect">
              <a:avLst/>
            </a:prstGeom>
            <a:noFill/>
            <a:ln>
              <a:noFill/>
            </a:ln>
          </p:spPr>
          <p:txBody>
            <a:bodyPr wrap="none" lIns="0" tIns="0" rIns="0" bIns="0" anchor="t" anchorCtr="0">
              <a:spAutoFit/>
            </a:bodyPr>
            <a:lstStyle/>
            <a:p>
              <a:pPr algn="l"/>
              <a:r>
                <a:rPr lang="en-US" sz="1350" dirty="0">
                  <a:solidFill>
                    <a:srgbClr val="111827"/>
                  </a:solidFill>
                  <a:latin typeface="Arial"/>
                  <a:ea typeface="Arial"/>
                  <a:cs typeface="Arial"/>
                </a:rPr>
                <a:t>Below acceptable</a:t>
              </a:r>
            </a:p>
          </p:txBody>
        </p:sp>
        <p:sp>
          <p:nvSpPr>
            <p:cNvPr id="28" name="TextBox 28"/>
            <p:cNvSpPr txBox="1"/>
            <p:nvPr/>
          </p:nvSpPr>
          <p:spPr>
            <a:xfrm>
              <a:off x="4336542" y="4683442"/>
              <a:ext cx="2525459" cy="492633"/>
            </a:xfrm>
            <a:prstGeom prst="rect">
              <a:avLst/>
            </a:prstGeom>
            <a:noFill/>
            <a:ln>
              <a:noFill/>
            </a:ln>
          </p:spPr>
          <p:txBody>
            <a:bodyPr wrap="square" lIns="0" tIns="0" rIns="0" bIns="0" anchor="t" anchorCtr="0"/>
            <a:lstStyle/>
            <a:p>
              <a:pPr algn="l">
                <a:lnSpc>
                  <a:spcPts val="1800"/>
                </a:lnSpc>
              </a:pPr>
              <a:r>
                <a:rPr lang="en-US" sz="1350" dirty="0">
                  <a:solidFill>
                    <a:srgbClr val="111827"/>
                  </a:solidFill>
                  <a:latin typeface="Arial"/>
                  <a:ea typeface="Arial"/>
                  <a:cs typeface="Arial"/>
                </a:rPr>
                <a:t xml:space="preserve">Compare unit costs and price; </a:t>
              </a:r>
              <a:r>
                <a:rPr lang="en-US" sz="1350" dirty="0">
                  <a:solidFill>
                    <a:srgbClr val="111827"/>
                  </a:solidFill>
                  <a:latin typeface="Arial"/>
                  <a:ea typeface="Arial"/>
                  <a:cs typeface="Arial"/>
                </a:rPr>
                <a:t>seek cost minimization.</a:t>
              </a:r>
            </a:p>
          </p:txBody>
        </p:sp>
      </p:grpSp>
      <p:sp>
        <p:nvSpPr>
          <p:cNvPr id="30" name="Rectangle 30"/>
          <p:cNvSpPr/>
          <p:nvPr/>
        </p:nvSpPr>
        <p:spPr>
          <a:xfrm>
            <a:off x="8572500" y="2095500"/>
            <a:ext cx="2857500" cy="3143250"/>
          </a:xfrm>
          <a:prstGeom prst="rect">
            <a:avLst/>
          </a:prstGeom>
          <a:solidFill>
            <a:srgbClr val="F4F7FA"/>
          </a:solidFill>
          <a:ln w="9525">
            <a:solidFill>
              <a:srgbClr val="D7DEE8"/>
            </a:solidFill>
          </a:ln>
        </p:spPr>
      </p:sp>
      <p:sp>
        <p:nvSpPr>
          <p:cNvPr id="31" name="TextBox 31"/>
          <p:cNvSpPr txBox="1"/>
          <p:nvPr/>
        </p:nvSpPr>
        <p:spPr>
          <a:xfrm>
            <a:off x="8847582" y="2345055"/>
            <a:ext cx="1737811" cy="410718"/>
          </a:xfrm>
          <a:prstGeom prst="rect">
            <a:avLst/>
          </a:prstGeom>
          <a:noFill/>
          <a:ln>
            <a:noFill/>
          </a:ln>
        </p:spPr>
        <p:txBody>
          <a:bodyPr wrap="none" lIns="0" tIns="0" rIns="0" bIns="0" anchor="t" anchorCtr="0">
            <a:spAutoFit/>
          </a:bodyPr>
          <a:lstStyle/>
          <a:p>
            <a:pPr algn="l"/>
            <a:r>
              <a:rPr lang="en-US" sz="2100" b="1" dirty="0">
                <a:solidFill>
                  <a:srgbClr val="0B2E4A"/>
                </a:solidFill>
                <a:latin typeface="Arial"/>
                <a:ea typeface="Arial"/>
                <a:cs typeface="Arial"/>
              </a:rPr>
              <a:t>Ask framing</a:t>
            </a:r>
          </a:p>
        </p:txBody>
      </p:sp>
      <p:sp>
        <p:nvSpPr>
          <p:cNvPr id="32" name="TextBox 32"/>
          <p:cNvSpPr txBox="1"/>
          <p:nvPr/>
        </p:nvSpPr>
        <p:spPr>
          <a:xfrm>
            <a:off x="8849106" y="2910840"/>
            <a:ext cx="3367278" cy="1323594"/>
          </a:xfrm>
          <a:prstGeom prst="rect">
            <a:avLst/>
          </a:prstGeom>
          <a:noFill/>
          <a:ln>
            <a:noFill/>
          </a:ln>
        </p:spPr>
        <p:txBody>
          <a:bodyPr wrap="square" lIns="0" tIns="0" rIns="0" bIns="0" anchor="t" anchorCtr="0"/>
          <a:lstStyle/>
          <a:p>
            <a:pPr algn="l">
              <a:lnSpc>
                <a:spcPts val="2550"/>
              </a:lnSpc>
            </a:pPr>
            <a:r>
              <a:rPr lang="en-US" sz="1800" dirty="0">
                <a:solidFill>
                  <a:srgbClr val="111827"/>
                </a:solidFill>
                <a:latin typeface="Arial"/>
                <a:ea typeface="Arial"/>
                <a:cs typeface="Arial"/>
              </a:rPr>
              <a:t xml:space="preserve">Capital or partner support </a:t>
            </a:r>
            <a:r>
              <a:rPr lang="en-US" sz="1800" dirty="0">
                <a:solidFill>
                  <a:srgbClr val="111827"/>
                </a:solidFill>
                <a:latin typeface="Arial"/>
                <a:ea typeface="Arial"/>
                <a:cs typeface="Arial"/>
              </a:rPr>
              <a:t xml:space="preserve">should accelerate Oklahoma </a:t>
            </a:r>
            <a:r>
              <a:rPr lang="en-US" sz="1800" dirty="0">
                <a:solidFill>
                  <a:srgbClr val="111827"/>
                </a:solidFill>
                <a:latin typeface="Arial"/>
                <a:ea typeface="Arial"/>
                <a:cs typeface="Arial"/>
              </a:rPr>
              <a:t xml:space="preserve">City and Tulsa expansion, </a:t>
            </a:r>
            <a:r>
              <a:rPr lang="en-US" sz="1800" dirty="0">
                <a:solidFill>
                  <a:srgbClr val="111827"/>
                </a:solidFill>
                <a:latin typeface="Arial"/>
                <a:ea typeface="Arial"/>
                <a:cs typeface="Arial"/>
              </a:rPr>
              <a:t>plus Farm Fresh can capacity.</a:t>
            </a:r>
          </a:p>
        </p:txBody>
      </p:sp>
      <p:sp>
        <p:nvSpPr>
          <p:cNvPr id="33" name="Line 33"/>
          <p:cNvSpPr/>
          <p:nvPr/>
        </p:nvSpPr>
        <p:spPr>
          <a:xfrm>
            <a:off x="8858250" y="4362450"/>
            <a:ext cx="2286000" cy="9525"/>
          </a:xfrm>
          <a:custGeom>
            <a:avLst/>
            <a:gdLst/>
            <a:ahLst/>
            <a:cxnLst/>
            <a:rect l="l" t="t" r="r" b="b"/>
            <a:pathLst>
              <a:path w="2286000" h="9525">
                <a:moveTo>
                  <a:pt x="0" y="0"/>
                </a:moveTo>
                <a:lnTo>
                  <a:pt x="2286000" y="0"/>
                </a:lnTo>
              </a:path>
            </a:pathLst>
          </a:custGeom>
          <a:noFill/>
          <a:ln w="9525">
            <a:solidFill>
              <a:srgbClr val="D7DEE8"/>
            </a:solidFill>
          </a:ln>
        </p:spPr>
      </p:sp>
      <p:sp>
        <p:nvSpPr>
          <p:cNvPr id="34" name="TextBox 34"/>
          <p:cNvSpPr txBox="1"/>
          <p:nvPr/>
        </p:nvSpPr>
        <p:spPr>
          <a:xfrm>
            <a:off x="8851392" y="4559618"/>
            <a:ext cx="3176968" cy="492633"/>
          </a:xfrm>
          <a:prstGeom prst="rect">
            <a:avLst/>
          </a:prstGeom>
          <a:noFill/>
          <a:ln>
            <a:noFill/>
          </a:ln>
        </p:spPr>
        <p:txBody>
          <a:bodyPr wrap="square" lIns="0" tIns="0" rIns="0" bIns="0" anchor="t" anchorCtr="0"/>
          <a:lstStyle/>
          <a:p>
            <a:pPr algn="l">
              <a:lnSpc>
                <a:spcPts val="1800"/>
              </a:lnSpc>
            </a:pPr>
            <a:r>
              <a:rPr lang="en-US" sz="1350" dirty="0">
                <a:solidFill>
                  <a:srgbClr val="5B677A"/>
                </a:solidFill>
                <a:latin typeface="Arial"/>
                <a:ea typeface="Arial"/>
                <a:cs typeface="Arial"/>
              </a:rPr>
              <a:t xml:space="preserve">No exact investment amount is stated </a:t>
            </a:r>
            <a:r>
              <a:rPr lang="en-US" sz="1350" dirty="0">
                <a:solidFill>
                  <a:srgbClr val="5B677A"/>
                </a:solidFill>
                <a:latin typeface="Arial"/>
                <a:ea typeface="Arial"/>
                <a:cs typeface="Arial"/>
              </a:rPr>
              <a:t>in the PDF, so none is invented.</a:t>
            </a:r>
          </a:p>
        </p:txBody>
      </p:sp>
      <p:sp>
        <p:nvSpPr>
          <p:cNvPr id="35" name="Rectangle 35"/>
          <p:cNvSpPr/>
          <p:nvPr/>
        </p:nvSpPr>
        <p:spPr>
          <a:xfrm>
            <a:off x="666750" y="5638800"/>
            <a:ext cx="10763250" cy="381000"/>
          </a:xfrm>
          <a:prstGeom prst="rect">
            <a:avLst/>
          </a:prstGeom>
          <a:solidFill>
            <a:srgbClr val="0B2E4A"/>
          </a:solidFill>
          <a:ln>
            <a:noFill/>
          </a:ln>
        </p:spPr>
      </p:sp>
      <p:sp>
        <p:nvSpPr>
          <p:cNvPr id="36" name="TextBox 36"/>
          <p:cNvSpPr txBox="1"/>
          <p:nvPr/>
        </p:nvSpPr>
        <p:spPr>
          <a:xfrm>
            <a:off x="886206" y="5701665"/>
            <a:ext cx="10178445"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Arial"/>
                <a:ea typeface="Arial"/>
                <a:cs typeface="Arial"/>
              </a:rPr>
              <a:t>Decision point: back a focused regional launch, not a speculative national rollout.</a:t>
            </a:r>
          </a:p>
        </p:txBody>
      </p:sp>
      <p:sp>
        <p:nvSpPr>
          <p:cNvPr id="37" name="TextBox 37"/>
          <p:cNvSpPr txBox="1"/>
          <p:nvPr/>
        </p:nvSpPr>
        <p:spPr>
          <a:xfrm>
            <a:off x="527685" y="6317456"/>
            <a:ext cx="5906384" cy="220028"/>
          </a:xfrm>
          <a:prstGeom prst="rect">
            <a:avLst/>
          </a:prstGeom>
          <a:noFill/>
          <a:ln>
            <a:noFill/>
          </a:ln>
        </p:spPr>
        <p:txBody>
          <a:bodyPr wrap="none" lIns="0" tIns="0" rIns="0" bIns="0" anchor="t" anchorCtr="0">
            <a:spAutoFit/>
          </a:bodyPr>
          <a:lstStyle/>
          <a:p>
            <a:pPr algn="l"/>
            <a:r>
              <a:rPr lang="en-US" sz="1120" dirty="0">
                <a:solidFill>
                  <a:srgbClr val="5B677A"/>
                </a:solidFill>
                <a:latin typeface="Arial"/>
                <a:ea typeface="Arial"/>
                <a:cs typeface="Arial"/>
              </a:rPr>
              <a:t>Source: PDF contingency plans and marketing/manufacturing sections / Slide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2026-07-02T14:14:45Z</dcterms:created>
  <dcterms:modified xsi:type="dcterms:W3CDTF">2026-07-02T14:14:45Z</dcterms:modified>
  <cp:category/>
  <cp:contentStatus/>
</cp:coreProperties>
</file>